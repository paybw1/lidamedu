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27" showSpecialPlsOnTitleSld="0" embedTrueTypeFonts="1" saveSubsetFonts="1" bookmarkIdSeed="2">
  <p:sldMasterIdLst>
    <p:sldMasterId id="2147483648" r:id="rId1"/>
  </p:sldMasterIdLst>
  <p:notesMasterIdLst>
    <p:notesMasterId r:id="rId112"/>
  </p:notesMasterIdLst>
  <p:handoutMasterIdLst>
    <p:handoutMasterId r:id="rId113"/>
  </p:handoutMasterIdLst>
  <p:sldIdLst>
    <p:sldId id="256" r:id="rId2"/>
    <p:sldId id="2046" r:id="rId3"/>
    <p:sldId id="2047" r:id="rId4"/>
    <p:sldId id="672" r:id="rId5"/>
    <p:sldId id="692" r:id="rId6"/>
    <p:sldId id="691" r:id="rId7"/>
    <p:sldId id="693" r:id="rId8"/>
    <p:sldId id="695" r:id="rId9"/>
    <p:sldId id="697" r:id="rId10"/>
    <p:sldId id="830" r:id="rId11"/>
    <p:sldId id="698" r:id="rId12"/>
    <p:sldId id="2033" r:id="rId13"/>
    <p:sldId id="699" r:id="rId14"/>
    <p:sldId id="2138" r:id="rId15"/>
    <p:sldId id="700" r:id="rId16"/>
    <p:sldId id="781" r:id="rId17"/>
    <p:sldId id="701" r:id="rId18"/>
    <p:sldId id="2029" r:id="rId19"/>
    <p:sldId id="2020" r:id="rId20"/>
    <p:sldId id="2139" r:id="rId21"/>
    <p:sldId id="702" r:id="rId22"/>
    <p:sldId id="703" r:id="rId23"/>
    <p:sldId id="707" r:id="rId24"/>
    <p:sldId id="2144" r:id="rId25"/>
    <p:sldId id="782" r:id="rId26"/>
    <p:sldId id="783" r:id="rId27"/>
    <p:sldId id="822" r:id="rId28"/>
    <p:sldId id="2021" r:id="rId29"/>
    <p:sldId id="2028" r:id="rId30"/>
    <p:sldId id="2041" r:id="rId31"/>
    <p:sldId id="704" r:id="rId32"/>
    <p:sldId id="784" r:id="rId33"/>
    <p:sldId id="785" r:id="rId34"/>
    <p:sldId id="705" r:id="rId35"/>
    <p:sldId id="786" r:id="rId36"/>
    <p:sldId id="708" r:id="rId37"/>
    <p:sldId id="706" r:id="rId38"/>
    <p:sldId id="710" r:id="rId39"/>
    <p:sldId id="711" r:id="rId40"/>
    <p:sldId id="2032" r:id="rId41"/>
    <p:sldId id="2143" r:id="rId42"/>
    <p:sldId id="717" r:id="rId43"/>
    <p:sldId id="2135" r:id="rId44"/>
    <p:sldId id="2019" r:id="rId45"/>
    <p:sldId id="828" r:id="rId46"/>
    <p:sldId id="2136" r:id="rId47"/>
    <p:sldId id="719" r:id="rId48"/>
    <p:sldId id="829" r:id="rId49"/>
    <p:sldId id="827" r:id="rId50"/>
    <p:sldId id="2023" r:id="rId51"/>
    <p:sldId id="823" r:id="rId52"/>
    <p:sldId id="821" r:id="rId53"/>
    <p:sldId id="2149" r:id="rId54"/>
    <p:sldId id="2031" r:id="rId55"/>
    <p:sldId id="720" r:id="rId56"/>
    <p:sldId id="712" r:id="rId57"/>
    <p:sldId id="791" r:id="rId58"/>
    <p:sldId id="2142" r:id="rId59"/>
    <p:sldId id="721" r:id="rId60"/>
    <p:sldId id="2024" r:id="rId61"/>
    <p:sldId id="722" r:id="rId62"/>
    <p:sldId id="725" r:id="rId63"/>
    <p:sldId id="724" r:id="rId64"/>
    <p:sldId id="2030" r:id="rId65"/>
    <p:sldId id="2027" r:id="rId66"/>
    <p:sldId id="2036" r:id="rId67"/>
    <p:sldId id="726" r:id="rId68"/>
    <p:sldId id="792" r:id="rId69"/>
    <p:sldId id="2145" r:id="rId70"/>
    <p:sldId id="2146" r:id="rId71"/>
    <p:sldId id="285" r:id="rId72"/>
    <p:sldId id="790" r:id="rId73"/>
    <p:sldId id="731" r:id="rId74"/>
    <p:sldId id="732" r:id="rId75"/>
    <p:sldId id="733" r:id="rId76"/>
    <p:sldId id="734" r:id="rId77"/>
    <p:sldId id="2141" r:id="rId78"/>
    <p:sldId id="735" r:id="rId79"/>
    <p:sldId id="736" r:id="rId80"/>
    <p:sldId id="738" r:id="rId81"/>
    <p:sldId id="714" r:id="rId82"/>
    <p:sldId id="715" r:id="rId83"/>
    <p:sldId id="713" r:id="rId84"/>
    <p:sldId id="787" r:id="rId85"/>
    <p:sldId id="2148" r:id="rId86"/>
    <p:sldId id="728" r:id="rId87"/>
    <p:sldId id="727" r:id="rId88"/>
    <p:sldId id="2137" r:id="rId89"/>
    <p:sldId id="740" r:id="rId90"/>
    <p:sldId id="741" r:id="rId91"/>
    <p:sldId id="739" r:id="rId92"/>
    <p:sldId id="743" r:id="rId93"/>
    <p:sldId id="2140" r:id="rId94"/>
    <p:sldId id="745" r:id="rId95"/>
    <p:sldId id="746" r:id="rId96"/>
    <p:sldId id="747" r:id="rId97"/>
    <p:sldId id="824" r:id="rId98"/>
    <p:sldId id="748" r:id="rId99"/>
    <p:sldId id="2025" r:id="rId100"/>
    <p:sldId id="825" r:id="rId101"/>
    <p:sldId id="749" r:id="rId102"/>
    <p:sldId id="2034" r:id="rId103"/>
    <p:sldId id="2147" r:id="rId104"/>
    <p:sldId id="2134" r:id="rId105"/>
    <p:sldId id="387" r:id="rId106"/>
    <p:sldId id="2035" r:id="rId107"/>
    <p:sldId id="752" r:id="rId108"/>
    <p:sldId id="2133" r:id="rId109"/>
    <p:sldId id="2037" r:id="rId110"/>
    <p:sldId id="754" r:id="rId111"/>
  </p:sldIdLst>
  <p:sldSz cx="12192000" cy="6858000"/>
  <p:notesSz cx="7104063" cy="10234613"/>
  <p:embeddedFontLst>
    <p:embeddedFont>
      <p:font typeface="Frutiger LT 65 Bold" panose="020B0800000000000000" pitchFamily="34" charset="0"/>
      <p:regular r:id="rId114"/>
    </p:embeddedFont>
    <p:embeddedFont>
      <p:font typeface="Frutiger LT 75 Black" panose="02000A03050000020004" pitchFamily="2" charset="0"/>
      <p:regular r:id="rId115"/>
    </p:embeddedFont>
    <p:embeddedFont>
      <p:font typeface="KoPub바탕체 Medium" panose="00000600000000000000" pitchFamily="2" charset="-127"/>
      <p:regular r:id="rId116"/>
    </p:embeddedFont>
    <p:embeddedFont>
      <p:font typeface="Rix모던고딕 EB" panose="02020603020101020101" pitchFamily="18" charset="-127"/>
      <p:regular r:id="rId117"/>
    </p:embeddedFont>
    <p:embeddedFont>
      <p:font typeface="Rix모던고딕 L" panose="02020603020101020101" pitchFamily="18" charset="-127"/>
      <p:regular r:id="rId118"/>
    </p:embeddedFont>
    <p:embeddedFont>
      <p:font typeface="Rix모던명조 B" panose="02020603020101020101" pitchFamily="18" charset="-127"/>
      <p:regular r:id="rId119"/>
    </p:embeddedFont>
    <p:embeddedFont>
      <p:font typeface="옥션고딕 M" panose="02000000000000000000" pitchFamily="2" charset="-127"/>
      <p:regular r:id="rId12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20" userDrawn="1">
          <p15:clr>
            <a:srgbClr val="A4A3A4"/>
          </p15:clr>
        </p15:guide>
        <p15:guide id="2" pos="5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252"/>
    <a:srgbClr val="CCECFF"/>
    <a:srgbClr val="00B0F0"/>
    <a:srgbClr val="000099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531" autoAdjust="0"/>
    <p:restoredTop sz="83972" autoAdjust="0"/>
  </p:normalViewPr>
  <p:slideViewPr>
    <p:cSldViewPr snapToGrid="0">
      <p:cViewPr varScale="1">
        <p:scale>
          <a:sx n="107" d="100"/>
          <a:sy n="107" d="100"/>
        </p:scale>
        <p:origin x="174" y="102"/>
      </p:cViewPr>
      <p:guideLst>
        <p:guide orient="horz" pos="1820"/>
        <p:guide pos="50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291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font" Target="fonts/font4.fntdata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handoutMaster" Target="handoutMasters/handoutMaster1.xml"/><Relationship Id="rId118" Type="http://schemas.openxmlformats.org/officeDocument/2006/relationships/font" Target="fonts/font5.fntdata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font" Target="fonts/font1.fntdata"/><Relationship Id="rId119" Type="http://schemas.openxmlformats.org/officeDocument/2006/relationships/font" Target="fonts/font6.fntdata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font" Target="fonts/font7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font" Target="fonts/font2.fntdata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163" cy="512763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4313" y="1"/>
            <a:ext cx="3078162" cy="512763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E166825A-ED3C-420C-9327-9C075F47485A}" type="datetimeFigureOut">
              <a:rPr lang="ko-KR" altLang="en-US" smtClean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2026-06-13</a:t>
            </a:fld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8163" cy="512763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4313" y="9721851"/>
            <a:ext cx="3078162" cy="512763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0BFFB8C9-7789-4E6C-9EC5-682E11087327}" type="slidenum">
              <a:rPr lang="ko-KR" altLang="en-US" smtClean="0">
                <a:latin typeface="Rix모던고딕 L" panose="02020603020101020101" pitchFamily="18" charset="-127"/>
                <a:ea typeface="Rix모던고딕 L" panose="02020603020101020101" pitchFamily="18" charset="-127"/>
              </a:rPr>
              <a:t>‹#›</a:t>
            </a:fld>
            <a:endParaRPr lang="ko-KR" altLang="en-US" dirty="0">
              <a:latin typeface="Rix모던고딕 L" panose="02020603020101020101" pitchFamily="18" charset="-127"/>
              <a:ea typeface="Rix모던고딕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013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3078428" cy="513508"/>
          </a:xfrm>
          <a:prstGeom prst="rect">
            <a:avLst/>
          </a:prstGeom>
        </p:spPr>
        <p:txBody>
          <a:bodyPr vert="horz" lIns="94648" tIns="47324" rIns="94648" bIns="47324" rtlCol="0"/>
          <a:lstStyle>
            <a:lvl1pPr algn="l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2"/>
            <a:ext cx="3078428" cy="513508"/>
          </a:xfrm>
          <a:prstGeom prst="rect">
            <a:avLst/>
          </a:prstGeom>
        </p:spPr>
        <p:txBody>
          <a:bodyPr vert="horz" lIns="94648" tIns="47324" rIns="94648" bIns="47324" rtlCol="0"/>
          <a:lstStyle>
            <a:lvl1pPr algn="r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fld id="{782597F2-0C3F-472E-942C-F0680216029B}" type="datetimeFigureOut">
              <a:rPr lang="ko-KR" altLang="en-US" smtClean="0"/>
              <a:pPr/>
              <a:t>2026-06-13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203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48" tIns="47324" rIns="94648" bIns="47324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9"/>
          </a:xfrm>
          <a:prstGeom prst="rect">
            <a:avLst/>
          </a:prstGeom>
        </p:spPr>
        <p:txBody>
          <a:bodyPr vert="horz" lIns="94648" tIns="47324" rIns="94648" bIns="47324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8"/>
            <a:ext cx="3078428" cy="513507"/>
          </a:xfrm>
          <a:prstGeom prst="rect">
            <a:avLst/>
          </a:prstGeom>
        </p:spPr>
        <p:txBody>
          <a:bodyPr vert="horz" lIns="94648" tIns="47324" rIns="94648" bIns="47324" rtlCol="0" anchor="b"/>
          <a:lstStyle>
            <a:lvl1pPr algn="l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8"/>
            <a:ext cx="3078428" cy="513507"/>
          </a:xfrm>
          <a:prstGeom prst="rect">
            <a:avLst/>
          </a:prstGeom>
        </p:spPr>
        <p:txBody>
          <a:bodyPr vert="horz" lIns="94648" tIns="47324" rIns="94648" bIns="47324" rtlCol="0" anchor="b"/>
          <a:lstStyle>
            <a:lvl1pPr algn="r">
              <a:defRPr sz="1200">
                <a:latin typeface="Rix모던고딕 L" panose="02020603020101020101" pitchFamily="18" charset="-127"/>
                <a:ea typeface="Rix모던고딕 L" panose="02020603020101020101" pitchFamily="18" charset="-127"/>
              </a:defRPr>
            </a:lvl1pPr>
          </a:lstStyle>
          <a:p>
            <a:fld id="{30C005C8-BD53-41EA-B159-BC12A6DFFB7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3274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Rix모던고딕 L" panose="02020603020101020101" pitchFamily="18" charset="-127"/>
        <a:ea typeface="Rix모던고딕 L" panose="02020603020101020101" pitchFamily="18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184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363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363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D03F6C-DDD1-4452-B0C1-68DFE0FFD434}" type="slidenum">
              <a:rPr lang="en-US" altLang="ko-KR" smtClean="0"/>
              <a:pPr/>
              <a:t>430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55613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874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0658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7456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745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456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67627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7209" y="4861442"/>
            <a:ext cx="5209647" cy="4605576"/>
          </a:xfrm>
          <a:noFill/>
          <a:ln/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61907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363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363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D03F6C-DDD1-4452-B0C1-68DFE0FFD434}" type="slidenum">
              <a:rPr lang="en-US" altLang="ko-KR" smtClean="0"/>
              <a:pPr/>
              <a:t>518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55613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363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363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D03F6C-DDD1-4452-B0C1-68DFE0FFD434}" type="slidenum">
              <a:rPr lang="en-US" altLang="ko-KR" smtClean="0"/>
              <a:pPr/>
              <a:t>519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41848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535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656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3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363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363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3D03F6C-DDD1-4452-B0C1-68DFE0FFD434}" type="slidenum">
              <a:rPr lang="en-US" altLang="ko-KR" smtClean="0"/>
              <a:pPr/>
              <a:t>536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55613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A7DD7-DB26-4FCE-AACE-551042667409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274320"/>
            <a:ext cx="2708636" cy="398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D14E75-92C3-4B89-BE74-A6BDEFD9235C}"/>
              </a:ext>
            </a:extLst>
          </p:cNvPr>
          <p:cNvSpPr/>
          <p:nvPr userDrawn="1"/>
        </p:nvSpPr>
        <p:spPr>
          <a:xfrm>
            <a:off x="-4710" y="0"/>
            <a:ext cx="2723309" cy="2617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ko-KR" b="1" dirty="0"/>
              <a:t>CASE STUDY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844306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DA44B-A2D0-42D0-A783-E269D72B0B45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0" y="677165"/>
            <a:ext cx="2723308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15053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72F57-DB43-4DCB-86FF-BA45705A01A6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92338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92338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1" y="677165"/>
            <a:ext cx="274295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68736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31B38-D1A6-48DC-8B69-8EB7AE2D1922}" type="datetime1">
              <a:rPr lang="ko-KR" altLang="en-US" smtClean="0"/>
              <a:t>2026-06-13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125200" y="0"/>
            <a:ext cx="1066800" cy="711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86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제목 1"/>
          <p:cNvSpPr txBox="1">
            <a:spLocks/>
          </p:cNvSpPr>
          <p:nvPr/>
        </p:nvSpPr>
        <p:spPr>
          <a:xfrm>
            <a:off x="1961128" y="1991045"/>
            <a:ext cx="7162800" cy="1193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  <a:cs typeface="+mj-cs"/>
              </a:defRPr>
            </a:lvl1pPr>
          </a:lstStyle>
          <a:p>
            <a:r>
              <a:rPr lang="ko-KR" altLang="en-US" sz="8000" dirty="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특허법 강의노트</a:t>
            </a:r>
          </a:p>
        </p:txBody>
      </p:sp>
      <p:sp>
        <p:nvSpPr>
          <p:cNvPr id="20" name="제목 1"/>
          <p:cNvSpPr txBox="1">
            <a:spLocks/>
          </p:cNvSpPr>
          <p:nvPr/>
        </p:nvSpPr>
        <p:spPr>
          <a:xfrm>
            <a:off x="2185246" y="3197545"/>
            <a:ext cx="6684682" cy="10445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540000" tIns="0" rIns="54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endParaRPr lang="ko-KR" altLang="en-US" sz="40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21" name="제목 1"/>
          <p:cNvSpPr txBox="1">
            <a:spLocks/>
          </p:cNvSpPr>
          <p:nvPr/>
        </p:nvSpPr>
        <p:spPr>
          <a:xfrm>
            <a:off x="4565375" y="4873198"/>
            <a:ext cx="1954306" cy="6490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2026</a:t>
            </a:r>
            <a:endParaRPr lang="ko-KR" altLang="en-US" sz="3600" dirty="0">
              <a:solidFill>
                <a:schemeClr val="tx1">
                  <a:lumMod val="50000"/>
                  <a:lumOff val="50000"/>
                </a:schemeClr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22" name="제목 1"/>
          <p:cNvSpPr txBox="1">
            <a:spLocks/>
          </p:cNvSpPr>
          <p:nvPr/>
        </p:nvSpPr>
        <p:spPr>
          <a:xfrm>
            <a:off x="2185246" y="3467433"/>
            <a:ext cx="6684682" cy="5457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Yim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Byung-Woong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All Rights Reserved.</a:t>
            </a:r>
            <a:endParaRPr lang="ko-KR" altLang="en-US" sz="2800" dirty="0">
              <a:solidFill>
                <a:schemeClr val="bg1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11153595" y="44623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총칙</a:t>
            </a:r>
            <a:r>
              <a:rPr lang="en-US" altLang="ko-KR" sz="2000" b="1" dirty="0">
                <a:solidFill>
                  <a:schemeClr val="bg1"/>
                </a:solidFill>
              </a:rPr>
              <a:t>/</a:t>
            </a:r>
          </a:p>
          <a:p>
            <a:pPr algn="ctr"/>
            <a:r>
              <a:rPr lang="ko-KR" altLang="en-US" sz="2000" b="1" dirty="0" err="1">
                <a:solidFill>
                  <a:schemeClr val="bg1"/>
                </a:solidFill>
              </a:rPr>
              <a:t>보칙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1153595" y="1011588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특허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요건</a:t>
            </a:r>
          </a:p>
        </p:txBody>
      </p:sp>
      <p:sp>
        <p:nvSpPr>
          <p:cNvPr id="25" name="직사각형 24"/>
          <p:cNvSpPr/>
          <p:nvPr/>
        </p:nvSpPr>
        <p:spPr>
          <a:xfrm>
            <a:off x="11153595" y="1978552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이익</a:t>
            </a:r>
            <a:endParaRPr lang="en-US" altLang="ko-KR" sz="2000" b="1" dirty="0"/>
          </a:p>
          <a:p>
            <a:pPr algn="ctr"/>
            <a:r>
              <a:rPr lang="ko-KR" altLang="en-US" sz="2000" b="1" dirty="0"/>
              <a:t>제도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11153595" y="2945517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심사</a:t>
            </a:r>
            <a:endParaRPr lang="en-US" altLang="ko-KR" sz="2000" b="1" dirty="0"/>
          </a:p>
          <a:p>
            <a:pPr algn="ctr"/>
            <a:r>
              <a:rPr lang="en-US" altLang="ko-KR" sz="2000" b="1" dirty="0"/>
              <a:t>(</a:t>
            </a:r>
            <a:r>
              <a:rPr lang="ko-KR" altLang="en-US" sz="2000" b="1" dirty="0"/>
              <a:t>제도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  <p:sp>
        <p:nvSpPr>
          <p:cNvPr id="27" name="직사각형 26"/>
          <p:cNvSpPr/>
          <p:nvPr/>
        </p:nvSpPr>
        <p:spPr>
          <a:xfrm>
            <a:off x="11153595" y="3912483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특허권</a:t>
            </a:r>
          </a:p>
        </p:txBody>
      </p:sp>
      <p:sp>
        <p:nvSpPr>
          <p:cNvPr id="28" name="직사각형 27"/>
          <p:cNvSpPr/>
          <p:nvPr/>
        </p:nvSpPr>
        <p:spPr>
          <a:xfrm>
            <a:off x="11153595" y="4879448"/>
            <a:ext cx="1062789" cy="9669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accent4"/>
                </a:solidFill>
              </a:rPr>
              <a:t>심판</a:t>
            </a:r>
            <a:r>
              <a:rPr lang="en-US" altLang="ko-KR" sz="2000" b="1" dirty="0">
                <a:solidFill>
                  <a:schemeClr val="accent4"/>
                </a:solidFill>
              </a:rPr>
              <a:t>/</a:t>
            </a:r>
          </a:p>
          <a:p>
            <a:pPr algn="ctr"/>
            <a:r>
              <a:rPr lang="ko-KR" altLang="en-US" sz="2000" b="1" dirty="0">
                <a:solidFill>
                  <a:schemeClr val="accent4"/>
                </a:solidFill>
              </a:rPr>
              <a:t>소송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11153595" y="5846412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/>
              <a:t>PCT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807436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429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44284" y="2152137"/>
            <a:ext cx="552862" cy="498328"/>
          </a:xfrm>
          <a:prstGeom prst="rect">
            <a:avLst/>
          </a:prstGeom>
          <a:ln w="63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총칙</a:t>
            </a:r>
            <a:r>
              <a:rPr lang="en-US" altLang="ko-KR" sz="1200" dirty="0"/>
              <a:t>/</a:t>
            </a:r>
          </a:p>
          <a:p>
            <a:pPr algn="ctr"/>
            <a:r>
              <a:rPr lang="ko-KR" altLang="en-US" sz="1200" dirty="0" err="1"/>
              <a:t>보칙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2118397" y="99429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목적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118397" y="12362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정의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118397" y="1471128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행위능력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3~5①)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18397" y="1713120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대리인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3②, 5②~10, 12)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118397" y="1945643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복수당사자 대표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118397" y="218763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재외자의</a:t>
            </a:r>
            <a:r>
              <a:rPr lang="ko-KR" altLang="en-US" sz="1000" dirty="0">
                <a:solidFill>
                  <a:schemeClr val="tx1"/>
                </a:solidFill>
              </a:rPr>
              <a:t> 재판관할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118397" y="243841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기일과 기간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14, 15)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118397" y="2670267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특허에 관한 절차 일반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16, 28~28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118397" y="290844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추후보완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17, 67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118397" y="313988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절차의 효력의 승계 및 절차의 속행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18, 19)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118397" y="337173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절차의 정지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20~24, 78, 164)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8" name="꺾인 연결선 17"/>
          <p:cNvCxnSpPr>
            <a:cxnSpLocks/>
            <a:stCxn id="6" idx="3"/>
            <a:endCxn id="7" idx="1"/>
          </p:cNvCxnSpPr>
          <p:nvPr/>
        </p:nvCxnSpPr>
        <p:spPr>
          <a:xfrm flipV="1">
            <a:off x="1797146" y="1085041"/>
            <a:ext cx="321251" cy="131626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cxnSpLocks/>
            <a:stCxn id="6" idx="3"/>
            <a:endCxn id="17" idx="1"/>
          </p:cNvCxnSpPr>
          <p:nvPr/>
        </p:nvCxnSpPr>
        <p:spPr>
          <a:xfrm>
            <a:off x="1797146" y="2401301"/>
            <a:ext cx="321251" cy="106118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cxnSpLocks/>
            <a:stCxn id="6" idx="3"/>
            <a:endCxn id="8" idx="1"/>
          </p:cNvCxnSpPr>
          <p:nvPr/>
        </p:nvCxnSpPr>
        <p:spPr>
          <a:xfrm flipV="1">
            <a:off x="1797146" y="1327033"/>
            <a:ext cx="321251" cy="107426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cxnSpLocks/>
            <a:stCxn id="6" idx="3"/>
            <a:endCxn id="9" idx="1"/>
          </p:cNvCxnSpPr>
          <p:nvPr/>
        </p:nvCxnSpPr>
        <p:spPr>
          <a:xfrm flipV="1">
            <a:off x="1797146" y="1561875"/>
            <a:ext cx="321251" cy="83942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 21"/>
          <p:cNvCxnSpPr>
            <a:cxnSpLocks/>
            <a:stCxn id="6" idx="3"/>
            <a:endCxn id="13" idx="1"/>
          </p:cNvCxnSpPr>
          <p:nvPr/>
        </p:nvCxnSpPr>
        <p:spPr>
          <a:xfrm>
            <a:off x="1797146" y="2401301"/>
            <a:ext cx="321251" cy="12786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cxnSpLocks/>
            <a:stCxn id="6" idx="3"/>
            <a:endCxn id="14" idx="1"/>
          </p:cNvCxnSpPr>
          <p:nvPr/>
        </p:nvCxnSpPr>
        <p:spPr>
          <a:xfrm>
            <a:off x="1797146" y="2401301"/>
            <a:ext cx="321251" cy="359713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cxnSpLocks/>
            <a:stCxn id="6" idx="3"/>
            <a:endCxn id="15" idx="1"/>
          </p:cNvCxnSpPr>
          <p:nvPr/>
        </p:nvCxnSpPr>
        <p:spPr>
          <a:xfrm>
            <a:off x="1797146" y="2401301"/>
            <a:ext cx="321251" cy="5978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cxnSpLocks/>
            <a:stCxn id="6" idx="3"/>
            <a:endCxn id="16" idx="1"/>
          </p:cNvCxnSpPr>
          <p:nvPr/>
        </p:nvCxnSpPr>
        <p:spPr>
          <a:xfrm>
            <a:off x="1797146" y="2401301"/>
            <a:ext cx="321251" cy="82933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cxnSpLocks/>
            <a:stCxn id="6" idx="3"/>
            <a:endCxn id="10" idx="1"/>
          </p:cNvCxnSpPr>
          <p:nvPr/>
        </p:nvCxnSpPr>
        <p:spPr>
          <a:xfrm flipV="1">
            <a:off x="1797146" y="1803867"/>
            <a:ext cx="321251" cy="597434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cxnSpLocks/>
            <a:stCxn id="6" idx="3"/>
            <a:endCxn id="11" idx="1"/>
          </p:cNvCxnSpPr>
          <p:nvPr/>
        </p:nvCxnSpPr>
        <p:spPr>
          <a:xfrm flipV="1">
            <a:off x="1797146" y="2036390"/>
            <a:ext cx="321251" cy="36491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cxnSpLocks/>
            <a:stCxn id="6" idx="3"/>
            <a:endCxn id="12" idx="1"/>
          </p:cNvCxnSpPr>
          <p:nvPr/>
        </p:nvCxnSpPr>
        <p:spPr>
          <a:xfrm flipV="1">
            <a:off x="1797146" y="2278382"/>
            <a:ext cx="321251" cy="122919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/>
          <p:cNvGrpSpPr/>
          <p:nvPr/>
        </p:nvGrpSpPr>
        <p:grpSpPr>
          <a:xfrm>
            <a:off x="6536267" y="1171792"/>
            <a:ext cx="4444979" cy="2279356"/>
            <a:chOff x="3987793" y="1037128"/>
            <a:chExt cx="3733785" cy="1752532"/>
          </a:xfrm>
        </p:grpSpPr>
        <p:sp>
          <p:nvSpPr>
            <p:cNvPr id="30" name="직사각형 29"/>
            <p:cNvSpPr/>
            <p:nvPr/>
          </p:nvSpPr>
          <p:spPr>
            <a:xfrm>
              <a:off x="3987793" y="1888138"/>
              <a:ext cx="398311" cy="385993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/>
                <a:t>특허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요건</a:t>
              </a: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4546567" y="160536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없는 발명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4546568" y="1990474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자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4546567" y="120511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발명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4546568" y="2378317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출원</a:t>
              </a:r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5713090" y="1037128"/>
              <a:ext cx="2008488" cy="1752532"/>
              <a:chOff x="9836379" y="3177270"/>
              <a:chExt cx="2251744" cy="1752532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9" name="직사각형 48"/>
              <p:cNvSpPr/>
              <p:nvPr/>
            </p:nvSpPr>
            <p:spPr>
              <a:xfrm>
                <a:off x="9836379" y="317727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협의의 특허요건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29)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9836379" y="338513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선출원주의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36)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9836379" y="357434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</a:rPr>
                  <a:t>불특허발명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9836379" y="378220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국방상 필요한 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 41, 106)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9836379" y="3969271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출원인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25, 33, 44)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9836379" y="4160199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특허를 받을 수 있는 권리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37, 38)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9836379" y="435867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직무발명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 err="1">
                    <a:solidFill>
                      <a:schemeClr val="tx1"/>
                    </a:solidFill>
                  </a:rPr>
                  <a:t>발진법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2, 10~19, 58)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직사각형 55"/>
              <p:cNvSpPr/>
              <p:nvPr/>
            </p:nvSpPr>
            <p:spPr>
              <a:xfrm>
                <a:off x="9836379" y="4558495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특허출원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42~42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3, 43)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직사각형 56"/>
              <p:cNvSpPr/>
              <p:nvPr/>
            </p:nvSpPr>
            <p:spPr>
              <a:xfrm>
                <a:off x="9836379" y="477390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하나의 특허출원의 범위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45)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6" name="꺾인 연결선 35"/>
            <p:cNvCxnSpPr>
              <a:stCxn id="30" idx="3"/>
              <a:endCxn id="33" idx="1"/>
            </p:cNvCxnSpPr>
            <p:nvPr/>
          </p:nvCxnSpPr>
          <p:spPr>
            <a:xfrm flipV="1">
              <a:off x="4386104" y="1374002"/>
              <a:ext cx="160463" cy="70713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꺾인 연결선 36"/>
            <p:cNvCxnSpPr>
              <a:stCxn id="30" idx="3"/>
              <a:endCxn id="34" idx="1"/>
            </p:cNvCxnSpPr>
            <p:nvPr/>
          </p:nvCxnSpPr>
          <p:spPr>
            <a:xfrm>
              <a:off x="4386104" y="2081135"/>
              <a:ext cx="160464" cy="46607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꺾인 연결선 37"/>
            <p:cNvCxnSpPr>
              <a:stCxn id="30" idx="3"/>
              <a:endCxn id="31" idx="1"/>
            </p:cNvCxnSpPr>
            <p:nvPr/>
          </p:nvCxnSpPr>
          <p:spPr>
            <a:xfrm flipV="1">
              <a:off x="4386104" y="1774252"/>
              <a:ext cx="160463" cy="30688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꺾인 연결선 38"/>
            <p:cNvCxnSpPr>
              <a:stCxn id="30" idx="3"/>
              <a:endCxn id="32" idx="1"/>
            </p:cNvCxnSpPr>
            <p:nvPr/>
          </p:nvCxnSpPr>
          <p:spPr>
            <a:xfrm>
              <a:off x="4386104" y="2081135"/>
              <a:ext cx="160464" cy="7822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꺾인 연결선 39"/>
            <p:cNvCxnSpPr>
              <a:stCxn id="33" idx="3"/>
              <a:endCxn id="49" idx="1"/>
            </p:cNvCxnSpPr>
            <p:nvPr/>
          </p:nvCxnSpPr>
          <p:spPr>
            <a:xfrm flipV="1">
              <a:off x="5496870" y="1115076"/>
              <a:ext cx="216220" cy="25892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꺾인 연결선 40"/>
            <p:cNvCxnSpPr>
              <a:stCxn id="33" idx="3"/>
              <a:endCxn id="50" idx="1"/>
            </p:cNvCxnSpPr>
            <p:nvPr/>
          </p:nvCxnSpPr>
          <p:spPr>
            <a:xfrm flipV="1">
              <a:off x="5496870" y="1322938"/>
              <a:ext cx="216220" cy="5106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꺾인 연결선 41"/>
            <p:cNvCxnSpPr>
              <a:stCxn id="31" idx="3"/>
              <a:endCxn id="51" idx="1"/>
            </p:cNvCxnSpPr>
            <p:nvPr/>
          </p:nvCxnSpPr>
          <p:spPr>
            <a:xfrm flipV="1">
              <a:off x="5496870" y="1512146"/>
              <a:ext cx="216220" cy="26210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꺾인 연결선 42"/>
            <p:cNvCxnSpPr>
              <a:stCxn id="31" idx="3"/>
              <a:endCxn id="52" idx="1"/>
            </p:cNvCxnSpPr>
            <p:nvPr/>
          </p:nvCxnSpPr>
          <p:spPr>
            <a:xfrm flipV="1">
              <a:off x="5496870" y="1720008"/>
              <a:ext cx="216220" cy="5424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꺾인 연결선 43"/>
            <p:cNvCxnSpPr>
              <a:stCxn id="32" idx="3"/>
              <a:endCxn id="53" idx="1"/>
            </p:cNvCxnSpPr>
            <p:nvPr/>
          </p:nvCxnSpPr>
          <p:spPr>
            <a:xfrm flipV="1">
              <a:off x="5496870" y="1907077"/>
              <a:ext cx="216220" cy="252285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꺾인 연결선 44"/>
            <p:cNvCxnSpPr>
              <a:stCxn id="32" idx="3"/>
              <a:endCxn id="54" idx="1"/>
            </p:cNvCxnSpPr>
            <p:nvPr/>
          </p:nvCxnSpPr>
          <p:spPr>
            <a:xfrm flipV="1">
              <a:off x="5496870" y="2098005"/>
              <a:ext cx="216220" cy="6135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꺾인 연결선 45"/>
            <p:cNvCxnSpPr>
              <a:stCxn id="32" idx="3"/>
              <a:endCxn id="55" idx="1"/>
            </p:cNvCxnSpPr>
            <p:nvPr/>
          </p:nvCxnSpPr>
          <p:spPr>
            <a:xfrm>
              <a:off x="5496870" y="2159362"/>
              <a:ext cx="216220" cy="13712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꺾인 연결선 46"/>
            <p:cNvCxnSpPr>
              <a:stCxn id="34" idx="3"/>
              <a:endCxn id="56" idx="1"/>
            </p:cNvCxnSpPr>
            <p:nvPr/>
          </p:nvCxnSpPr>
          <p:spPr>
            <a:xfrm flipV="1">
              <a:off x="5496870" y="2496301"/>
              <a:ext cx="216220" cy="5090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꺾인 연결선 47"/>
            <p:cNvCxnSpPr>
              <a:stCxn id="34" idx="3"/>
              <a:endCxn id="57" idx="1"/>
            </p:cNvCxnSpPr>
            <p:nvPr/>
          </p:nvCxnSpPr>
          <p:spPr>
            <a:xfrm>
              <a:off x="5496870" y="2547205"/>
              <a:ext cx="216220" cy="16450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직사각형 58"/>
          <p:cNvSpPr/>
          <p:nvPr/>
        </p:nvSpPr>
        <p:spPr>
          <a:xfrm>
            <a:off x="906097" y="4898289"/>
            <a:ext cx="472526" cy="503727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이익</a:t>
            </a:r>
            <a:endParaRPr lang="en-US" altLang="ko-KR" sz="1200" dirty="0"/>
          </a:p>
          <a:p>
            <a:pPr algn="ctr"/>
            <a:r>
              <a:rPr lang="ko-KR" altLang="en-US" sz="1200" dirty="0"/>
              <a:t>제도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2487992" y="422619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공지예외적용주장출원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30)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487992" y="4599179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정당한 권리자의 보호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34, 35, 99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487992" y="48704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보정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46, 47, 51)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2487992" y="5446506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분리출원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52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2487992" y="571777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487992" y="60229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조약우선권주장출원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54)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487992" y="6294208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국내우선권주장출원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55, 56)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519197" y="5145136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출원일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소급제도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1519197" y="6056851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판단시점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>
                <a:solidFill>
                  <a:schemeClr val="tx1"/>
                </a:solidFill>
              </a:rPr>
              <a:t>소급제도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63" name="꺾인 연결선 62"/>
          <p:cNvCxnSpPr>
            <a:stCxn id="59" idx="3"/>
            <a:endCxn id="72" idx="1"/>
          </p:cNvCxnSpPr>
          <p:nvPr/>
        </p:nvCxnSpPr>
        <p:spPr>
          <a:xfrm flipV="1">
            <a:off x="1378623" y="4327915"/>
            <a:ext cx="1109369" cy="822238"/>
          </a:xfrm>
          <a:prstGeom prst="bentConnector3">
            <a:avLst>
              <a:gd name="adj1" fmla="val 6212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59" idx="3"/>
            <a:endCxn id="62" idx="1"/>
          </p:cNvCxnSpPr>
          <p:nvPr/>
        </p:nvCxnSpPr>
        <p:spPr>
          <a:xfrm>
            <a:off x="1378623" y="5150153"/>
            <a:ext cx="140574" cy="112710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 64"/>
          <p:cNvCxnSpPr>
            <a:stCxn id="59" idx="3"/>
            <a:endCxn id="61" idx="1"/>
          </p:cNvCxnSpPr>
          <p:nvPr/>
        </p:nvCxnSpPr>
        <p:spPr>
          <a:xfrm>
            <a:off x="1378623" y="5150153"/>
            <a:ext cx="140574" cy="21538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61" idx="3"/>
            <a:endCxn id="73" idx="1"/>
          </p:cNvCxnSpPr>
          <p:nvPr/>
        </p:nvCxnSpPr>
        <p:spPr>
          <a:xfrm flipV="1">
            <a:off x="2241819" y="4700903"/>
            <a:ext cx="246173" cy="664635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61" idx="3"/>
            <a:endCxn id="76" idx="1"/>
          </p:cNvCxnSpPr>
          <p:nvPr/>
        </p:nvCxnSpPr>
        <p:spPr>
          <a:xfrm>
            <a:off x="2241819" y="5365539"/>
            <a:ext cx="246173" cy="453957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61" idx="3"/>
            <a:endCxn id="74" idx="1"/>
          </p:cNvCxnSpPr>
          <p:nvPr/>
        </p:nvCxnSpPr>
        <p:spPr>
          <a:xfrm flipV="1">
            <a:off x="2241819" y="4972167"/>
            <a:ext cx="246173" cy="393371"/>
          </a:xfrm>
          <a:prstGeom prst="bentConnector3">
            <a:avLst>
              <a:gd name="adj1" fmla="val 50001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stCxn id="61" idx="3"/>
            <a:endCxn id="75" idx="1"/>
          </p:cNvCxnSpPr>
          <p:nvPr/>
        </p:nvCxnSpPr>
        <p:spPr>
          <a:xfrm>
            <a:off x="2241819" y="5365539"/>
            <a:ext cx="246173" cy="1826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cxnSpLocks/>
            <a:stCxn id="62" idx="3"/>
            <a:endCxn id="77" idx="1"/>
          </p:cNvCxnSpPr>
          <p:nvPr/>
        </p:nvCxnSpPr>
        <p:spPr>
          <a:xfrm flipV="1">
            <a:off x="2241819" y="6124667"/>
            <a:ext cx="246173" cy="15258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cxnSpLocks/>
            <a:stCxn id="62" idx="3"/>
            <a:endCxn id="78" idx="1"/>
          </p:cNvCxnSpPr>
          <p:nvPr/>
        </p:nvCxnSpPr>
        <p:spPr>
          <a:xfrm>
            <a:off x="2241819" y="6277254"/>
            <a:ext cx="246173" cy="11867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그룹 78"/>
          <p:cNvGrpSpPr/>
          <p:nvPr/>
        </p:nvGrpSpPr>
        <p:grpSpPr>
          <a:xfrm>
            <a:off x="7001934" y="4076201"/>
            <a:ext cx="3979312" cy="2368895"/>
            <a:chOff x="7340600" y="4076201"/>
            <a:chExt cx="3640645" cy="2368895"/>
          </a:xfrm>
        </p:grpSpPr>
        <p:sp>
          <p:nvSpPr>
            <p:cNvPr id="80" name="직사각형 79"/>
            <p:cNvSpPr/>
            <p:nvPr/>
          </p:nvSpPr>
          <p:spPr>
            <a:xfrm>
              <a:off x="7340600" y="5011587"/>
              <a:ext cx="448769" cy="399529"/>
            </a:xfrm>
            <a:prstGeom prst="rect">
              <a:avLst/>
            </a:prstGeom>
            <a:ln w="3175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/>
                <a:t>심사</a:t>
              </a:r>
              <a:endParaRPr lang="en-US" altLang="ko-KR" sz="1200" dirty="0"/>
            </a:p>
            <a:p>
              <a:pPr algn="ctr"/>
              <a:r>
                <a:rPr lang="en-US" altLang="ko-KR" sz="1200" dirty="0"/>
                <a:t>(</a:t>
              </a:r>
              <a:r>
                <a:rPr lang="ko-KR" altLang="en-US" sz="1200" dirty="0"/>
                <a:t>제도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grpSp>
          <p:nvGrpSpPr>
            <p:cNvPr id="81" name="그룹 80"/>
            <p:cNvGrpSpPr/>
            <p:nvPr/>
          </p:nvGrpSpPr>
          <p:grpSpPr>
            <a:xfrm>
              <a:off x="7967112" y="4305504"/>
              <a:ext cx="471444" cy="1770110"/>
              <a:chOff x="2707314" y="4441447"/>
              <a:chExt cx="786730" cy="1770110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2707314" y="4441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주체</a:t>
                </a:r>
              </a:p>
            </p:txBody>
          </p:sp>
          <p:sp>
            <p:nvSpPr>
              <p:cNvPr id="109" name="직사각형 108"/>
              <p:cNvSpPr/>
              <p:nvPr/>
            </p:nvSpPr>
            <p:spPr>
              <a:xfrm>
                <a:off x="2707314" y="4839210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청구</a:t>
                </a:r>
              </a:p>
            </p:txBody>
          </p:sp>
          <p:sp>
            <p:nvSpPr>
              <p:cNvPr id="110" name="직사각형 109"/>
              <p:cNvSpPr/>
              <p:nvPr/>
            </p:nvSpPr>
            <p:spPr>
              <a:xfrm>
                <a:off x="2707314" y="5258685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진행</a:t>
                </a:r>
              </a:p>
            </p:txBody>
          </p:sp>
          <p:sp>
            <p:nvSpPr>
              <p:cNvPr id="111" name="직사각형 110"/>
              <p:cNvSpPr/>
              <p:nvPr/>
            </p:nvSpPr>
            <p:spPr>
              <a:xfrm>
                <a:off x="2707314" y="5656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종료</a:t>
                </a:r>
              </a:p>
            </p:txBody>
          </p:sp>
          <p:sp>
            <p:nvSpPr>
              <p:cNvPr id="112" name="직사각형 111"/>
              <p:cNvSpPr/>
              <p:nvPr/>
            </p:nvSpPr>
            <p:spPr>
              <a:xfrm>
                <a:off x="2707314" y="6036746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관련</a:t>
                </a:r>
              </a:p>
            </p:txBody>
          </p:sp>
        </p:grpSp>
        <p:cxnSp>
          <p:nvCxnSpPr>
            <p:cNvPr id="82" name="꺾인 연결선 81"/>
            <p:cNvCxnSpPr>
              <a:stCxn id="80" idx="3"/>
              <a:endCxn id="108" idx="1"/>
            </p:cNvCxnSpPr>
            <p:nvPr/>
          </p:nvCxnSpPr>
          <p:spPr>
            <a:xfrm flipV="1">
              <a:off x="7789369" y="4392910"/>
              <a:ext cx="177743" cy="81844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꺾인 연결선 82"/>
            <p:cNvCxnSpPr>
              <a:stCxn id="80" idx="3"/>
              <a:endCxn id="112" idx="1"/>
            </p:cNvCxnSpPr>
            <p:nvPr/>
          </p:nvCxnSpPr>
          <p:spPr>
            <a:xfrm>
              <a:off x="7789369" y="5211352"/>
              <a:ext cx="177743" cy="77685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꺾인 연결선 83"/>
            <p:cNvCxnSpPr>
              <a:stCxn id="80" idx="3"/>
              <a:endCxn id="109" idx="1"/>
            </p:cNvCxnSpPr>
            <p:nvPr/>
          </p:nvCxnSpPr>
          <p:spPr>
            <a:xfrm flipV="1">
              <a:off x="7789369" y="4790673"/>
              <a:ext cx="177743" cy="42067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꺾인 연결선 84"/>
            <p:cNvCxnSpPr>
              <a:stCxn id="80" idx="3"/>
              <a:endCxn id="111" idx="1"/>
            </p:cNvCxnSpPr>
            <p:nvPr/>
          </p:nvCxnSpPr>
          <p:spPr>
            <a:xfrm>
              <a:off x="7789369" y="5211352"/>
              <a:ext cx="177743" cy="396558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꺾인 연결선 85"/>
            <p:cNvCxnSpPr>
              <a:stCxn id="80" idx="3"/>
              <a:endCxn id="110" idx="1"/>
            </p:cNvCxnSpPr>
            <p:nvPr/>
          </p:nvCxnSpPr>
          <p:spPr>
            <a:xfrm flipV="1">
              <a:off x="7789369" y="5210148"/>
              <a:ext cx="177743" cy="1204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그룹 86"/>
            <p:cNvGrpSpPr/>
            <p:nvPr/>
          </p:nvGrpSpPr>
          <p:grpSpPr>
            <a:xfrm>
              <a:off x="8563424" y="4076201"/>
              <a:ext cx="2417821" cy="2368895"/>
              <a:chOff x="3618912" y="4212144"/>
              <a:chExt cx="3438525" cy="2368895"/>
            </a:xfrm>
          </p:grpSpPr>
          <p:sp>
            <p:nvSpPr>
              <p:cNvPr id="98" name="직사각형 97"/>
              <p:cNvSpPr/>
              <p:nvPr/>
            </p:nvSpPr>
            <p:spPr>
              <a:xfrm>
                <a:off x="3618912" y="4212144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심사관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57</a:t>
                </a:r>
                <a:r>
                  <a:rPr lang="en-US" altLang="ko-KR" sz="1000">
                    <a:solidFill>
                      <a:schemeClr val="tx1"/>
                    </a:solidFill>
                  </a:rPr>
                  <a:t>, 68)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직사각형 98"/>
              <p:cNvSpPr/>
              <p:nvPr/>
            </p:nvSpPr>
            <p:spPr>
              <a:xfrm>
                <a:off x="3618912" y="4435206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전문기관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58, 58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직사각형 99"/>
              <p:cNvSpPr/>
              <p:nvPr/>
            </p:nvSpPr>
            <p:spPr>
              <a:xfrm>
                <a:off x="3618912" y="547999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출원의 무효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취하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포기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직사각형 100"/>
              <p:cNvSpPr/>
              <p:nvPr/>
            </p:nvSpPr>
            <p:spPr>
              <a:xfrm>
                <a:off x="3618912" y="5703059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특허여부결정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)(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62, 63, 66~67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직사각형 101"/>
              <p:cNvSpPr/>
              <p:nvPr/>
            </p:nvSpPr>
            <p:spPr>
              <a:xfrm>
                <a:off x="3618912" y="466874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심사청구제도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59, 60)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직사각형 102"/>
              <p:cNvSpPr/>
              <p:nvPr/>
            </p:nvSpPr>
            <p:spPr>
              <a:xfrm>
                <a:off x="3618912" y="489180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우선심사제도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61)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직사각형 103"/>
              <p:cNvSpPr/>
              <p:nvPr/>
            </p:nvSpPr>
            <p:spPr>
              <a:xfrm>
                <a:off x="3618912" y="517897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심사의 진행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62, 63, 63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직사각형 104"/>
              <p:cNvSpPr/>
              <p:nvPr/>
            </p:nvSpPr>
            <p:spPr>
              <a:xfrm>
                <a:off x="3618912" y="5955831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정보제공제도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63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직사각형 105"/>
              <p:cNvSpPr/>
              <p:nvPr/>
            </p:nvSpPr>
            <p:spPr>
              <a:xfrm>
                <a:off x="3618912" y="617889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출원공개제도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64, 65)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직사각형 106"/>
              <p:cNvSpPr/>
              <p:nvPr/>
            </p:nvSpPr>
            <p:spPr>
              <a:xfrm>
                <a:off x="3618912" y="640622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</a:rPr>
                  <a:t>타절차와의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 관계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78)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8" name="꺾인 연결선 87"/>
            <p:cNvCxnSpPr>
              <a:stCxn id="108" idx="3"/>
              <a:endCxn id="98" idx="1"/>
            </p:cNvCxnSpPr>
            <p:nvPr/>
          </p:nvCxnSpPr>
          <p:spPr>
            <a:xfrm flipV="1">
              <a:off x="8438556" y="4163607"/>
              <a:ext cx="124868" cy="229303"/>
            </a:xfrm>
            <a:prstGeom prst="bentConnector3">
              <a:avLst>
                <a:gd name="adj1" fmla="val 50000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꺾인 연결선 88"/>
            <p:cNvCxnSpPr>
              <a:stCxn id="108" idx="3"/>
              <a:endCxn id="99" idx="1"/>
            </p:cNvCxnSpPr>
            <p:nvPr/>
          </p:nvCxnSpPr>
          <p:spPr>
            <a:xfrm flipV="1">
              <a:off x="8438556" y="4386669"/>
              <a:ext cx="124868" cy="6241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꺾인 연결선 89"/>
            <p:cNvCxnSpPr>
              <a:stCxn id="109" idx="3"/>
              <a:endCxn id="102" idx="1"/>
            </p:cNvCxnSpPr>
            <p:nvPr/>
          </p:nvCxnSpPr>
          <p:spPr>
            <a:xfrm flipV="1">
              <a:off x="8438556" y="4620206"/>
              <a:ext cx="124868" cy="17046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꺾인 연결선 90"/>
            <p:cNvCxnSpPr>
              <a:stCxn id="109" idx="3"/>
              <a:endCxn id="103" idx="1"/>
            </p:cNvCxnSpPr>
            <p:nvPr/>
          </p:nvCxnSpPr>
          <p:spPr>
            <a:xfrm>
              <a:off x="8438556" y="4790673"/>
              <a:ext cx="124868" cy="5259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꺾인 연결선 91"/>
            <p:cNvCxnSpPr>
              <a:stCxn id="110" idx="3"/>
              <a:endCxn id="104" idx="1"/>
            </p:cNvCxnSpPr>
            <p:nvPr/>
          </p:nvCxnSpPr>
          <p:spPr>
            <a:xfrm flipV="1">
              <a:off x="8438556" y="5130438"/>
              <a:ext cx="124868" cy="79710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꺾인 연결선 92"/>
            <p:cNvCxnSpPr>
              <a:stCxn id="111" idx="3"/>
              <a:endCxn id="100" idx="1"/>
            </p:cNvCxnSpPr>
            <p:nvPr/>
          </p:nvCxnSpPr>
          <p:spPr>
            <a:xfrm flipV="1">
              <a:off x="8438556" y="5431461"/>
              <a:ext cx="124868" cy="17644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꺾인 연결선 93"/>
            <p:cNvCxnSpPr>
              <a:stCxn id="111" idx="3"/>
              <a:endCxn id="101" idx="1"/>
            </p:cNvCxnSpPr>
            <p:nvPr/>
          </p:nvCxnSpPr>
          <p:spPr>
            <a:xfrm>
              <a:off x="8438556" y="5607910"/>
              <a:ext cx="124868" cy="4661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꺾인 연결선 94"/>
            <p:cNvCxnSpPr>
              <a:stCxn id="112" idx="3"/>
              <a:endCxn id="105" idx="1"/>
            </p:cNvCxnSpPr>
            <p:nvPr/>
          </p:nvCxnSpPr>
          <p:spPr>
            <a:xfrm flipV="1">
              <a:off x="8438556" y="5907294"/>
              <a:ext cx="124868" cy="8091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꺾인 연결선 95"/>
            <p:cNvCxnSpPr>
              <a:stCxn id="112" idx="3"/>
              <a:endCxn id="106" idx="1"/>
            </p:cNvCxnSpPr>
            <p:nvPr/>
          </p:nvCxnSpPr>
          <p:spPr>
            <a:xfrm>
              <a:off x="8438556" y="5988209"/>
              <a:ext cx="124868" cy="14214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꺾인 연결선 96"/>
            <p:cNvCxnSpPr>
              <a:stCxn id="112" idx="3"/>
              <a:endCxn id="107" idx="1"/>
            </p:cNvCxnSpPr>
            <p:nvPr/>
          </p:nvCxnSpPr>
          <p:spPr>
            <a:xfrm>
              <a:off x="8438556" y="5988209"/>
              <a:ext cx="124868" cy="36948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직사각형 112"/>
          <p:cNvSpPr/>
          <p:nvPr/>
        </p:nvSpPr>
        <p:spPr>
          <a:xfrm>
            <a:off x="5960556" y="3393490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114" name="타원 113"/>
          <p:cNvSpPr/>
          <p:nvPr/>
        </p:nvSpPr>
        <p:spPr>
          <a:xfrm>
            <a:off x="880857" y="2219587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5" name="타원 114"/>
          <p:cNvSpPr/>
          <p:nvPr/>
        </p:nvSpPr>
        <p:spPr>
          <a:xfrm>
            <a:off x="6163733" y="2366819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16" name="타원 115"/>
          <p:cNvSpPr/>
          <p:nvPr/>
        </p:nvSpPr>
        <p:spPr>
          <a:xfrm>
            <a:off x="542670" y="5005703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17" name="타원 116"/>
          <p:cNvSpPr/>
          <p:nvPr/>
        </p:nvSpPr>
        <p:spPr>
          <a:xfrm>
            <a:off x="6647019" y="5043860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18" name="자유형 117"/>
          <p:cNvSpPr/>
          <p:nvPr/>
        </p:nvSpPr>
        <p:spPr>
          <a:xfrm>
            <a:off x="1049867" y="2582332"/>
            <a:ext cx="4893733" cy="1423457"/>
          </a:xfrm>
          <a:custGeom>
            <a:avLst/>
            <a:gdLst>
              <a:gd name="connsiteX0" fmla="*/ 4893733 w 4893733"/>
              <a:gd name="connsiteY0" fmla="*/ 1295400 h 1295400"/>
              <a:gd name="connsiteX1" fmla="*/ 4893733 w 4893733"/>
              <a:gd name="connsiteY1" fmla="*/ 1295400 h 1295400"/>
              <a:gd name="connsiteX2" fmla="*/ 0 w 4893733"/>
              <a:gd name="connsiteY2" fmla="*/ 1295400 h 1295400"/>
              <a:gd name="connsiteX3" fmla="*/ 0 w 4893733"/>
              <a:gd name="connsiteY3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93733" h="1295400">
                <a:moveTo>
                  <a:pt x="4893733" y="1295400"/>
                </a:moveTo>
                <a:lnTo>
                  <a:pt x="4893733" y="1295400"/>
                </a:lnTo>
                <a:lnTo>
                  <a:pt x="0" y="1295400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자유형 118"/>
          <p:cNvSpPr/>
          <p:nvPr/>
        </p:nvSpPr>
        <p:spPr>
          <a:xfrm>
            <a:off x="718458" y="3993619"/>
            <a:ext cx="5233610" cy="997811"/>
          </a:xfrm>
          <a:custGeom>
            <a:avLst/>
            <a:gdLst>
              <a:gd name="connsiteX0" fmla="*/ 5215467 w 5215467"/>
              <a:gd name="connsiteY0" fmla="*/ 0 h 965200"/>
              <a:gd name="connsiteX1" fmla="*/ 0 w 5215467"/>
              <a:gd name="connsiteY1" fmla="*/ 0 h 965200"/>
              <a:gd name="connsiteX2" fmla="*/ 0 w 5215467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15467" h="965200">
                <a:moveTo>
                  <a:pt x="5215467" y="0"/>
                </a:moveTo>
                <a:lnTo>
                  <a:pt x="0" y="0"/>
                </a:lnTo>
                <a:lnTo>
                  <a:pt x="0" y="9652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자유형 119"/>
          <p:cNvSpPr/>
          <p:nvPr/>
        </p:nvSpPr>
        <p:spPr>
          <a:xfrm>
            <a:off x="6383867" y="2726267"/>
            <a:ext cx="0" cy="668866"/>
          </a:xfrm>
          <a:custGeom>
            <a:avLst/>
            <a:gdLst>
              <a:gd name="connsiteX0" fmla="*/ 0 w 0"/>
              <a:gd name="connsiteY0" fmla="*/ 668866 h 668866"/>
              <a:gd name="connsiteX1" fmla="*/ 0 w 0"/>
              <a:gd name="connsiteY1" fmla="*/ 0 h 66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68866">
                <a:moveTo>
                  <a:pt x="0" y="668866"/>
                </a:move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1" name="직선 연결선 120"/>
          <p:cNvCxnSpPr>
            <a:stCxn id="113" idx="2"/>
            <a:endCxn id="113" idx="2"/>
          </p:cNvCxnSpPr>
          <p:nvPr/>
        </p:nvCxnSpPr>
        <p:spPr>
          <a:xfrm>
            <a:off x="6417756" y="4307890"/>
            <a:ext cx="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자유형 121"/>
          <p:cNvSpPr/>
          <p:nvPr/>
        </p:nvSpPr>
        <p:spPr>
          <a:xfrm>
            <a:off x="6400800" y="4318000"/>
            <a:ext cx="262467" cy="897467"/>
          </a:xfrm>
          <a:custGeom>
            <a:avLst/>
            <a:gdLst>
              <a:gd name="connsiteX0" fmla="*/ 0 w 262467"/>
              <a:gd name="connsiteY0" fmla="*/ 0 h 897467"/>
              <a:gd name="connsiteX1" fmla="*/ 0 w 262467"/>
              <a:gd name="connsiteY1" fmla="*/ 0 h 897467"/>
              <a:gd name="connsiteX2" fmla="*/ 0 w 262467"/>
              <a:gd name="connsiteY2" fmla="*/ 897467 h 897467"/>
              <a:gd name="connsiteX3" fmla="*/ 262467 w 262467"/>
              <a:gd name="connsiteY3" fmla="*/ 897467 h 89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467" h="897467">
                <a:moveTo>
                  <a:pt x="0" y="0"/>
                </a:moveTo>
                <a:lnTo>
                  <a:pt x="0" y="0"/>
                </a:lnTo>
                <a:lnTo>
                  <a:pt x="0" y="897467"/>
                </a:lnTo>
                <a:lnTo>
                  <a:pt x="262467" y="897467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9012F393-65ED-4311-A56D-1073EA0A0D99}"/>
              </a:ext>
            </a:extLst>
          </p:cNvPr>
          <p:cNvSpPr/>
          <p:nvPr/>
        </p:nvSpPr>
        <p:spPr>
          <a:xfrm>
            <a:off x="2487992" y="5160972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분할출원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27" name="꺾인 연결선 67">
            <a:extLst>
              <a:ext uri="{FF2B5EF4-FFF2-40B4-BE49-F238E27FC236}">
                <a16:creationId xmlns:a16="http://schemas.microsoft.com/office/drawing/2014/main" id="{E6B18D36-32CC-497B-A148-E8CED33A916F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68">
            <a:extLst>
              <a:ext uri="{FF2B5EF4-FFF2-40B4-BE49-F238E27FC236}">
                <a16:creationId xmlns:a16="http://schemas.microsoft.com/office/drawing/2014/main" id="{15731FFB-002A-4D1A-B931-E4E3AE5EC565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88952097-4047-B4C7-1974-88AE224120C6}"/>
              </a:ext>
            </a:extLst>
          </p:cNvPr>
          <p:cNvSpPr/>
          <p:nvPr/>
        </p:nvSpPr>
        <p:spPr>
          <a:xfrm>
            <a:off x="2118397" y="36224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보칙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215-224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0070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430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680604" y="2547021"/>
            <a:ext cx="545064" cy="552230"/>
          </a:xfrm>
          <a:prstGeom prst="rect">
            <a:avLst/>
          </a:prstGeom>
          <a:ln w="31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/>
              <a:t>특허권</a:t>
            </a:r>
            <a:endParaRPr lang="ko-KR" altLang="en-US" sz="1200" dirty="0"/>
          </a:p>
        </p:txBody>
      </p:sp>
      <p:sp>
        <p:nvSpPr>
          <p:cNvPr id="125" name="직사각형 124"/>
          <p:cNvSpPr/>
          <p:nvPr/>
        </p:nvSpPr>
        <p:spPr>
          <a:xfrm>
            <a:off x="1383335" y="123999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1383335" y="1789781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효력</a:t>
            </a:r>
          </a:p>
        </p:txBody>
      </p:sp>
      <p:sp>
        <p:nvSpPr>
          <p:cNvPr id="127" name="직사각형 126"/>
          <p:cNvSpPr/>
          <p:nvPr/>
        </p:nvSpPr>
        <p:spPr>
          <a:xfrm>
            <a:off x="1383335" y="2944739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변동</a:t>
            </a:r>
          </a:p>
        </p:txBody>
      </p:sp>
      <p:sp>
        <p:nvSpPr>
          <p:cNvPr id="128" name="직사각형 127"/>
          <p:cNvSpPr/>
          <p:nvPr/>
        </p:nvSpPr>
        <p:spPr>
          <a:xfrm>
            <a:off x="1383335" y="366808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소멸</a:t>
            </a:r>
          </a:p>
        </p:txBody>
      </p:sp>
      <p:sp>
        <p:nvSpPr>
          <p:cNvPr id="129" name="직사각형 128"/>
          <p:cNvSpPr/>
          <p:nvPr/>
        </p:nvSpPr>
        <p:spPr>
          <a:xfrm>
            <a:off x="1383335" y="4175764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관련</a:t>
            </a:r>
          </a:p>
        </p:txBody>
      </p:sp>
      <p:cxnSp>
        <p:nvCxnSpPr>
          <p:cNvPr id="130" name="꺾인 연결선 129"/>
          <p:cNvCxnSpPr>
            <a:stCxn id="124" idx="3"/>
            <a:endCxn id="125" idx="1"/>
          </p:cNvCxnSpPr>
          <p:nvPr/>
        </p:nvCxnSpPr>
        <p:spPr>
          <a:xfrm flipV="1">
            <a:off x="1225668" y="1360804"/>
            <a:ext cx="157667" cy="146233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130"/>
          <p:cNvCxnSpPr>
            <a:stCxn id="124" idx="3"/>
            <a:endCxn id="129" idx="1"/>
          </p:cNvCxnSpPr>
          <p:nvPr/>
        </p:nvCxnSpPr>
        <p:spPr>
          <a:xfrm>
            <a:off x="1225668" y="2823136"/>
            <a:ext cx="157667" cy="147344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124" idx="3"/>
            <a:endCxn id="126" idx="1"/>
          </p:cNvCxnSpPr>
          <p:nvPr/>
        </p:nvCxnSpPr>
        <p:spPr>
          <a:xfrm flipV="1">
            <a:off x="1225668" y="1910593"/>
            <a:ext cx="157667" cy="9125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꺾인 연결선 132"/>
          <p:cNvCxnSpPr>
            <a:stCxn id="124" idx="3"/>
            <a:endCxn id="128" idx="1"/>
          </p:cNvCxnSpPr>
          <p:nvPr/>
        </p:nvCxnSpPr>
        <p:spPr>
          <a:xfrm>
            <a:off x="1225668" y="2823136"/>
            <a:ext cx="157667" cy="96575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/>
          <p:cNvCxnSpPr>
            <a:stCxn id="124" idx="3"/>
            <a:endCxn id="127" idx="1"/>
          </p:cNvCxnSpPr>
          <p:nvPr/>
        </p:nvCxnSpPr>
        <p:spPr>
          <a:xfrm>
            <a:off x="1225668" y="2823136"/>
            <a:ext cx="157667" cy="24241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1927293" y="1027643"/>
            <a:ext cx="1744315" cy="1286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특허료의 납부 등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79~86)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1927294" y="1199840"/>
            <a:ext cx="1744314" cy="146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설정등록 및 등록공고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1927295" y="3385001"/>
            <a:ext cx="991185" cy="1876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질권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121~123)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1931244" y="3908454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효과</a:t>
            </a:r>
          </a:p>
        </p:txBody>
      </p:sp>
      <p:sp>
        <p:nvSpPr>
          <p:cNvPr id="139" name="직사각형 138"/>
          <p:cNvSpPr/>
          <p:nvPr/>
        </p:nvSpPr>
        <p:spPr>
          <a:xfrm>
            <a:off x="1927295" y="1600786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범위</a:t>
            </a:r>
          </a:p>
        </p:txBody>
      </p:sp>
      <p:sp>
        <p:nvSpPr>
          <p:cNvPr id="140" name="직사각형 139"/>
          <p:cNvSpPr/>
          <p:nvPr/>
        </p:nvSpPr>
        <p:spPr>
          <a:xfrm>
            <a:off x="1927295" y="2235641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내용</a:t>
            </a:r>
          </a:p>
        </p:txBody>
      </p:sp>
      <p:sp>
        <p:nvSpPr>
          <p:cNvPr id="141" name="직사각형 140"/>
          <p:cNvSpPr/>
          <p:nvPr/>
        </p:nvSpPr>
        <p:spPr>
          <a:xfrm>
            <a:off x="1927295" y="3187241"/>
            <a:ext cx="99118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000" dirty="0" err="1">
                <a:solidFill>
                  <a:schemeClr val="tx2"/>
                </a:solidFill>
              </a:rPr>
              <a:t>실시권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1926619" y="4143059"/>
            <a:ext cx="1355344" cy="153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실시보고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1926619" y="4320845"/>
            <a:ext cx="1355344" cy="134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집행권원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44" name="꺾인 연결선 143"/>
          <p:cNvCxnSpPr>
            <a:stCxn id="125" idx="3"/>
            <a:endCxn id="135" idx="1"/>
          </p:cNvCxnSpPr>
          <p:nvPr/>
        </p:nvCxnSpPr>
        <p:spPr>
          <a:xfrm flipV="1">
            <a:off x="1774346" y="1091961"/>
            <a:ext cx="152947" cy="26884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stCxn id="125" idx="3"/>
            <a:endCxn id="136" idx="1"/>
          </p:cNvCxnSpPr>
          <p:nvPr/>
        </p:nvCxnSpPr>
        <p:spPr>
          <a:xfrm flipV="1">
            <a:off x="1774346" y="1273240"/>
            <a:ext cx="152948" cy="875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stCxn id="126" idx="3"/>
            <a:endCxn id="139" idx="1"/>
          </p:cNvCxnSpPr>
          <p:nvPr/>
        </p:nvCxnSpPr>
        <p:spPr>
          <a:xfrm flipV="1">
            <a:off x="1774346" y="1680091"/>
            <a:ext cx="152949" cy="2305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stCxn id="126" idx="3"/>
            <a:endCxn id="140" idx="1"/>
          </p:cNvCxnSpPr>
          <p:nvPr/>
        </p:nvCxnSpPr>
        <p:spPr>
          <a:xfrm>
            <a:off x="1774346" y="1910593"/>
            <a:ext cx="152949" cy="4043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/>
          <p:cNvCxnSpPr>
            <a:stCxn id="127" idx="3"/>
            <a:endCxn id="141" idx="1"/>
          </p:cNvCxnSpPr>
          <p:nvPr/>
        </p:nvCxnSpPr>
        <p:spPr>
          <a:xfrm>
            <a:off x="1774346" y="3065551"/>
            <a:ext cx="152949" cy="20099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128" idx="3"/>
            <a:endCxn id="138" idx="1"/>
          </p:cNvCxnSpPr>
          <p:nvPr/>
        </p:nvCxnSpPr>
        <p:spPr>
          <a:xfrm>
            <a:off x="1774346" y="3788895"/>
            <a:ext cx="156898" cy="1988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꺾인 연결선 149"/>
          <p:cNvCxnSpPr>
            <a:stCxn id="129" idx="3"/>
            <a:endCxn id="142" idx="1"/>
          </p:cNvCxnSpPr>
          <p:nvPr/>
        </p:nvCxnSpPr>
        <p:spPr>
          <a:xfrm flipV="1">
            <a:off x="1774346" y="4219817"/>
            <a:ext cx="152273" cy="767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꺾인 연결선 150"/>
          <p:cNvCxnSpPr>
            <a:stCxn id="129" idx="3"/>
            <a:endCxn id="143" idx="1"/>
          </p:cNvCxnSpPr>
          <p:nvPr/>
        </p:nvCxnSpPr>
        <p:spPr>
          <a:xfrm>
            <a:off x="1774346" y="4296575"/>
            <a:ext cx="152273" cy="913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/>
          <p:cNvSpPr/>
          <p:nvPr/>
        </p:nvSpPr>
        <p:spPr>
          <a:xfrm>
            <a:off x="2490834" y="1502332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시간적</a:t>
            </a:r>
          </a:p>
        </p:txBody>
      </p:sp>
      <p:sp>
        <p:nvSpPr>
          <p:cNvPr id="153" name="직사각형 152"/>
          <p:cNvSpPr/>
          <p:nvPr/>
        </p:nvSpPr>
        <p:spPr>
          <a:xfrm>
            <a:off x="2490834" y="1753955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내용적</a:t>
            </a:r>
          </a:p>
        </p:txBody>
      </p:sp>
      <p:sp>
        <p:nvSpPr>
          <p:cNvPr id="154" name="직사각형 153"/>
          <p:cNvSpPr/>
          <p:nvPr/>
        </p:nvSpPr>
        <p:spPr>
          <a:xfrm>
            <a:off x="2490834" y="1966576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지역적</a:t>
            </a:r>
          </a:p>
        </p:txBody>
      </p:sp>
      <p:sp>
        <p:nvSpPr>
          <p:cNvPr id="155" name="직사각형 154"/>
          <p:cNvSpPr/>
          <p:nvPr/>
        </p:nvSpPr>
        <p:spPr>
          <a:xfrm>
            <a:off x="3028012" y="1406769"/>
            <a:ext cx="1665788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3028012" y="1577847"/>
            <a:ext cx="1665790" cy="1492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존속기간의 연장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89~93, 95)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3028012" y="1745004"/>
            <a:ext cx="1665788" cy="1857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청구범위</a:t>
            </a:r>
          </a:p>
        </p:txBody>
      </p:sp>
      <p:sp>
        <p:nvSpPr>
          <p:cNvPr id="158" name="직사각형 157"/>
          <p:cNvSpPr/>
          <p:nvPr/>
        </p:nvSpPr>
        <p:spPr>
          <a:xfrm>
            <a:off x="3028011" y="1966575"/>
            <a:ext cx="1665789" cy="158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속지주의</a:t>
            </a:r>
          </a:p>
        </p:txBody>
      </p:sp>
      <p:sp>
        <p:nvSpPr>
          <p:cNvPr id="159" name="직사각형 158"/>
          <p:cNvSpPr/>
          <p:nvPr/>
        </p:nvSpPr>
        <p:spPr>
          <a:xfrm>
            <a:off x="2500115" y="2247804"/>
            <a:ext cx="41836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의의</a:t>
            </a:r>
          </a:p>
        </p:txBody>
      </p:sp>
      <p:sp>
        <p:nvSpPr>
          <p:cNvPr id="160" name="직사각형 159"/>
          <p:cNvSpPr/>
          <p:nvPr/>
        </p:nvSpPr>
        <p:spPr>
          <a:xfrm>
            <a:off x="2500114" y="2523982"/>
            <a:ext cx="2193687" cy="1634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제한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81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3④, 96, 181/98)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2500114" y="2714241"/>
            <a:ext cx="219368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확장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1927295" y="2927413"/>
            <a:ext cx="1564240" cy="1938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이전 및 공유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99, 99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3109057" y="3518950"/>
            <a:ext cx="2829345" cy="1332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강제실시권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106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2, 107~115, 138)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3109057" y="3339094"/>
            <a:ext cx="2829345" cy="1397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법정실시권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81</a:t>
            </a:r>
            <a:r>
              <a:rPr lang="ko-KR" altLang="en-US" sz="800" dirty="0">
                <a:solidFill>
                  <a:schemeClr val="tx2"/>
                </a:solidFill>
              </a:rPr>
              <a:t>의</a:t>
            </a:r>
            <a:r>
              <a:rPr lang="en-US" altLang="ko-KR" sz="800" dirty="0">
                <a:solidFill>
                  <a:schemeClr val="tx2"/>
                </a:solidFill>
              </a:rPr>
              <a:t>3, 103~105, 122, 182,183, </a:t>
            </a:r>
            <a:r>
              <a:rPr lang="ko-KR" altLang="en-US" sz="800" dirty="0" err="1">
                <a:solidFill>
                  <a:schemeClr val="tx2"/>
                </a:solidFill>
              </a:rPr>
              <a:t>발진법</a:t>
            </a:r>
            <a:r>
              <a:rPr lang="en-US" altLang="ko-KR" sz="800" dirty="0">
                <a:solidFill>
                  <a:schemeClr val="tx2"/>
                </a:solidFill>
              </a:rPr>
              <a:t>10</a:t>
            </a:r>
            <a:r>
              <a:rPr lang="ko-KR" altLang="en-US" sz="800" dirty="0">
                <a:solidFill>
                  <a:schemeClr val="tx2"/>
                </a:solidFill>
              </a:rPr>
              <a:t>①</a:t>
            </a:r>
            <a:r>
              <a:rPr lang="en-US" altLang="ko-KR" sz="800" dirty="0">
                <a:solidFill>
                  <a:schemeClr val="tx2"/>
                </a:solidFill>
              </a:rPr>
              <a:t>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3109057" y="3151440"/>
            <a:ext cx="2829345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일반론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100~102, 118)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1931244" y="3709590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원인</a:t>
            </a:r>
          </a:p>
        </p:txBody>
      </p:sp>
      <p:sp>
        <p:nvSpPr>
          <p:cNvPr id="167" name="직사각형 166"/>
          <p:cNvSpPr/>
          <p:nvPr/>
        </p:nvSpPr>
        <p:spPr>
          <a:xfrm>
            <a:off x="2426794" y="3883877"/>
            <a:ext cx="1721991" cy="209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장래소멸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119, 120, 124)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2426794" y="3698412"/>
            <a:ext cx="1721991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소급소멸</a:t>
            </a:r>
          </a:p>
        </p:txBody>
      </p:sp>
      <p:cxnSp>
        <p:nvCxnSpPr>
          <p:cNvPr id="169" name="꺾인 연결선 168"/>
          <p:cNvCxnSpPr>
            <a:stCxn id="139" idx="3"/>
            <a:endCxn id="152" idx="1"/>
          </p:cNvCxnSpPr>
          <p:nvPr/>
        </p:nvCxnSpPr>
        <p:spPr>
          <a:xfrm flipV="1">
            <a:off x="2314769" y="1581638"/>
            <a:ext cx="176065" cy="984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꺾인 연결선 169"/>
          <p:cNvCxnSpPr>
            <a:stCxn id="139" idx="3"/>
            <a:endCxn id="153" idx="1"/>
          </p:cNvCxnSpPr>
          <p:nvPr/>
        </p:nvCxnSpPr>
        <p:spPr>
          <a:xfrm>
            <a:off x="2314769" y="1680091"/>
            <a:ext cx="176065" cy="15316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꺾인 연결선 170"/>
          <p:cNvCxnSpPr>
            <a:stCxn id="139" idx="3"/>
            <a:endCxn id="154" idx="1"/>
          </p:cNvCxnSpPr>
          <p:nvPr/>
        </p:nvCxnSpPr>
        <p:spPr>
          <a:xfrm>
            <a:off x="2314769" y="1680091"/>
            <a:ext cx="176065" cy="36579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 171"/>
          <p:cNvCxnSpPr>
            <a:stCxn id="152" idx="3"/>
            <a:endCxn id="155" idx="1"/>
          </p:cNvCxnSpPr>
          <p:nvPr/>
        </p:nvCxnSpPr>
        <p:spPr>
          <a:xfrm flipV="1">
            <a:off x="2918481" y="1486075"/>
            <a:ext cx="109531" cy="9556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꺾인 연결선 172"/>
          <p:cNvCxnSpPr>
            <a:stCxn id="152" idx="3"/>
            <a:endCxn id="156" idx="1"/>
          </p:cNvCxnSpPr>
          <p:nvPr/>
        </p:nvCxnSpPr>
        <p:spPr>
          <a:xfrm>
            <a:off x="2918481" y="1581638"/>
            <a:ext cx="109531" cy="7083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/>
          <p:cNvCxnSpPr>
            <a:stCxn id="153" idx="3"/>
            <a:endCxn id="157" idx="1"/>
          </p:cNvCxnSpPr>
          <p:nvPr/>
        </p:nvCxnSpPr>
        <p:spPr>
          <a:xfrm>
            <a:off x="2918481" y="1833260"/>
            <a:ext cx="109531" cy="463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/>
          <p:cNvCxnSpPr>
            <a:stCxn id="154" idx="3"/>
            <a:endCxn id="158" idx="1"/>
          </p:cNvCxnSpPr>
          <p:nvPr/>
        </p:nvCxnSpPr>
        <p:spPr>
          <a:xfrm flipV="1">
            <a:off x="2918481" y="2045880"/>
            <a:ext cx="109530" cy="1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꺾인 연결선 175"/>
          <p:cNvCxnSpPr>
            <a:stCxn id="140" idx="3"/>
            <a:endCxn id="161" idx="1"/>
          </p:cNvCxnSpPr>
          <p:nvPr/>
        </p:nvCxnSpPr>
        <p:spPr>
          <a:xfrm>
            <a:off x="2314769" y="2314946"/>
            <a:ext cx="185345" cy="4786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76"/>
          <p:cNvCxnSpPr>
            <a:stCxn id="140" idx="3"/>
            <a:endCxn id="159" idx="1"/>
          </p:cNvCxnSpPr>
          <p:nvPr/>
        </p:nvCxnSpPr>
        <p:spPr>
          <a:xfrm>
            <a:off x="2314769" y="2314946"/>
            <a:ext cx="185346" cy="1216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 177"/>
          <p:cNvCxnSpPr>
            <a:stCxn id="140" idx="3"/>
            <a:endCxn id="160" idx="1"/>
          </p:cNvCxnSpPr>
          <p:nvPr/>
        </p:nvCxnSpPr>
        <p:spPr>
          <a:xfrm>
            <a:off x="2314769" y="2314946"/>
            <a:ext cx="185345" cy="2907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꺾인 연결선 178"/>
          <p:cNvCxnSpPr>
            <a:stCxn id="127" idx="3"/>
            <a:endCxn id="162" idx="1"/>
          </p:cNvCxnSpPr>
          <p:nvPr/>
        </p:nvCxnSpPr>
        <p:spPr>
          <a:xfrm flipV="1">
            <a:off x="1774346" y="3024355"/>
            <a:ext cx="152949" cy="411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꺾인 연결선 179"/>
          <p:cNvCxnSpPr>
            <a:stCxn id="127" idx="3"/>
            <a:endCxn id="137" idx="1"/>
          </p:cNvCxnSpPr>
          <p:nvPr/>
        </p:nvCxnSpPr>
        <p:spPr>
          <a:xfrm>
            <a:off x="1774346" y="3065551"/>
            <a:ext cx="152949" cy="4132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꺾인 연결선 180"/>
          <p:cNvCxnSpPr>
            <a:stCxn id="141" idx="3"/>
            <a:endCxn id="163" idx="1"/>
          </p:cNvCxnSpPr>
          <p:nvPr/>
        </p:nvCxnSpPr>
        <p:spPr>
          <a:xfrm>
            <a:off x="2918481" y="3266547"/>
            <a:ext cx="190576" cy="31904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꺾인 연결선 181"/>
          <p:cNvCxnSpPr>
            <a:stCxn id="141" idx="3"/>
            <a:endCxn id="165" idx="1"/>
          </p:cNvCxnSpPr>
          <p:nvPr/>
        </p:nvCxnSpPr>
        <p:spPr>
          <a:xfrm flipV="1">
            <a:off x="2918481" y="3230745"/>
            <a:ext cx="190576" cy="3580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182"/>
          <p:cNvCxnSpPr>
            <a:stCxn id="141" idx="3"/>
            <a:endCxn id="164" idx="1"/>
          </p:cNvCxnSpPr>
          <p:nvPr/>
        </p:nvCxnSpPr>
        <p:spPr>
          <a:xfrm>
            <a:off x="2918481" y="3266547"/>
            <a:ext cx="190576" cy="14241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꺾인 연결선 183"/>
          <p:cNvCxnSpPr>
            <a:stCxn id="128" idx="3"/>
            <a:endCxn id="166" idx="1"/>
          </p:cNvCxnSpPr>
          <p:nvPr/>
        </p:nvCxnSpPr>
        <p:spPr>
          <a:xfrm>
            <a:off x="1774346" y="3788895"/>
            <a:ext cx="156898" cy="127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꺾인 연결선 184"/>
          <p:cNvCxnSpPr>
            <a:stCxn id="166" idx="3"/>
            <a:endCxn id="167" idx="1"/>
          </p:cNvCxnSpPr>
          <p:nvPr/>
        </p:nvCxnSpPr>
        <p:spPr>
          <a:xfrm>
            <a:off x="2314770" y="3788895"/>
            <a:ext cx="112024" cy="1996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꺾인 연결선 185"/>
          <p:cNvCxnSpPr>
            <a:stCxn id="166" idx="3"/>
            <a:endCxn id="168" idx="1"/>
          </p:cNvCxnSpPr>
          <p:nvPr/>
        </p:nvCxnSpPr>
        <p:spPr>
          <a:xfrm flipV="1">
            <a:off x="2314770" y="3777717"/>
            <a:ext cx="112024" cy="1117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직사각형 186"/>
          <p:cNvSpPr/>
          <p:nvPr/>
        </p:nvSpPr>
        <p:spPr>
          <a:xfrm>
            <a:off x="3281962" y="2158301"/>
            <a:ext cx="1411839" cy="167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적극적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3281962" y="2341797"/>
            <a:ext cx="1411839" cy="1539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소극적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침해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89" name="꺾인 연결선 188"/>
          <p:cNvCxnSpPr>
            <a:stCxn id="159" idx="3"/>
            <a:endCxn id="188" idx="1"/>
          </p:cNvCxnSpPr>
          <p:nvPr/>
        </p:nvCxnSpPr>
        <p:spPr>
          <a:xfrm>
            <a:off x="2918481" y="2327109"/>
            <a:ext cx="363481" cy="9165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꺾인 연결선 189"/>
          <p:cNvCxnSpPr>
            <a:stCxn id="159" idx="3"/>
            <a:endCxn id="187" idx="1"/>
          </p:cNvCxnSpPr>
          <p:nvPr/>
        </p:nvCxnSpPr>
        <p:spPr>
          <a:xfrm flipV="1">
            <a:off x="2918481" y="2242081"/>
            <a:ext cx="363481" cy="850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직사각형 190"/>
          <p:cNvSpPr/>
          <p:nvPr/>
        </p:nvSpPr>
        <p:spPr>
          <a:xfrm>
            <a:off x="4891070" y="1400340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성립요건</a:t>
            </a:r>
          </a:p>
        </p:txBody>
      </p:sp>
      <p:sp>
        <p:nvSpPr>
          <p:cNvPr id="192" name="직사각형 191"/>
          <p:cNvSpPr/>
          <p:nvPr/>
        </p:nvSpPr>
        <p:spPr>
          <a:xfrm>
            <a:off x="4891070" y="1771241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종류</a:t>
            </a:r>
          </a:p>
        </p:txBody>
      </p:sp>
      <p:sp>
        <p:nvSpPr>
          <p:cNvPr id="193" name="직사각형 192"/>
          <p:cNvSpPr/>
          <p:nvPr/>
        </p:nvSpPr>
        <p:spPr>
          <a:xfrm>
            <a:off x="4891070" y="2381537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조치</a:t>
            </a:r>
          </a:p>
        </p:txBody>
      </p:sp>
      <p:cxnSp>
        <p:nvCxnSpPr>
          <p:cNvPr id="194" name="꺾인 연결선 193"/>
          <p:cNvCxnSpPr>
            <a:stCxn id="188" idx="3"/>
            <a:endCxn id="191" idx="1"/>
          </p:cNvCxnSpPr>
          <p:nvPr/>
        </p:nvCxnSpPr>
        <p:spPr>
          <a:xfrm flipV="1">
            <a:off x="4693801" y="1479645"/>
            <a:ext cx="197269" cy="939118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꺾인 연결선 194"/>
          <p:cNvCxnSpPr>
            <a:stCxn id="188" idx="3"/>
            <a:endCxn id="193" idx="1"/>
          </p:cNvCxnSpPr>
          <p:nvPr/>
        </p:nvCxnSpPr>
        <p:spPr>
          <a:xfrm>
            <a:off x="4693801" y="2418763"/>
            <a:ext cx="197269" cy="42079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꺾인 연결선 195"/>
          <p:cNvCxnSpPr>
            <a:stCxn id="188" idx="3"/>
            <a:endCxn id="192" idx="1"/>
          </p:cNvCxnSpPr>
          <p:nvPr/>
        </p:nvCxnSpPr>
        <p:spPr>
          <a:xfrm flipV="1">
            <a:off x="4693801" y="1850546"/>
            <a:ext cx="197269" cy="56821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직사각형 196"/>
          <p:cNvSpPr/>
          <p:nvPr/>
        </p:nvSpPr>
        <p:spPr>
          <a:xfrm>
            <a:off x="5586610" y="1528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직접침해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97, 98)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5586610" y="1904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간접침해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99" name="꺾인 연결선 198"/>
          <p:cNvCxnSpPr>
            <a:stCxn id="192" idx="3"/>
            <a:endCxn id="197" idx="1"/>
          </p:cNvCxnSpPr>
          <p:nvPr/>
        </p:nvCxnSpPr>
        <p:spPr>
          <a:xfrm flipV="1">
            <a:off x="5452482" y="1689718"/>
            <a:ext cx="134128" cy="1608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꺾인 연결선 199"/>
          <p:cNvCxnSpPr>
            <a:stCxn id="192" idx="3"/>
            <a:endCxn id="198" idx="1"/>
          </p:cNvCxnSpPr>
          <p:nvPr/>
        </p:nvCxnSpPr>
        <p:spPr>
          <a:xfrm>
            <a:off x="5452482" y="1850546"/>
            <a:ext cx="134128" cy="21517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모서리가 둥근 직사각형 200"/>
          <p:cNvSpPr/>
          <p:nvPr/>
        </p:nvSpPr>
        <p:spPr>
          <a:xfrm>
            <a:off x="5586610" y="2318465"/>
            <a:ext cx="833380" cy="30082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민사적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126-132)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5586609" y="2663316"/>
            <a:ext cx="833381" cy="34182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형사적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225-232)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203" name="꺾인 연결선 202"/>
          <p:cNvCxnSpPr>
            <a:stCxn id="193" idx="3"/>
            <a:endCxn id="201" idx="1"/>
          </p:cNvCxnSpPr>
          <p:nvPr/>
        </p:nvCxnSpPr>
        <p:spPr>
          <a:xfrm>
            <a:off x="5452482" y="2460843"/>
            <a:ext cx="134128" cy="803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꺾인 연결선 203"/>
          <p:cNvCxnSpPr>
            <a:stCxn id="193" idx="3"/>
            <a:endCxn id="202" idx="1"/>
          </p:cNvCxnSpPr>
          <p:nvPr/>
        </p:nvCxnSpPr>
        <p:spPr>
          <a:xfrm>
            <a:off x="5452482" y="2460843"/>
            <a:ext cx="134127" cy="37338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직사각형 204"/>
          <p:cNvSpPr/>
          <p:nvPr/>
        </p:nvSpPr>
        <p:spPr>
          <a:xfrm>
            <a:off x="7780806" y="2184608"/>
            <a:ext cx="555844" cy="61064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심판절차 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일반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총론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6" name="직사각형 205"/>
          <p:cNvSpPr/>
          <p:nvPr/>
        </p:nvSpPr>
        <p:spPr>
          <a:xfrm>
            <a:off x="7780806" y="4163272"/>
            <a:ext cx="555844" cy="6106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종류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각론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7" name="직사각형 206"/>
          <p:cNvSpPr/>
          <p:nvPr/>
        </p:nvSpPr>
        <p:spPr>
          <a:xfrm>
            <a:off x="8500191" y="131308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/>
              <a:t>주체</a:t>
            </a:r>
            <a:endParaRPr lang="ko-KR" altLang="en-US" sz="1000" dirty="0"/>
          </a:p>
        </p:txBody>
      </p:sp>
      <p:sp>
        <p:nvSpPr>
          <p:cNvPr id="208" name="직사각형 207"/>
          <p:cNvSpPr/>
          <p:nvPr/>
        </p:nvSpPr>
        <p:spPr>
          <a:xfrm>
            <a:off x="8500191" y="180459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청구</a:t>
            </a:r>
          </a:p>
        </p:txBody>
      </p:sp>
      <p:sp>
        <p:nvSpPr>
          <p:cNvPr id="209" name="직사각형 208"/>
          <p:cNvSpPr/>
          <p:nvPr/>
        </p:nvSpPr>
        <p:spPr>
          <a:xfrm>
            <a:off x="8500191" y="2449052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진행</a:t>
            </a:r>
          </a:p>
        </p:txBody>
      </p:sp>
      <p:sp>
        <p:nvSpPr>
          <p:cNvPr id="210" name="직사각형 209"/>
          <p:cNvSpPr/>
          <p:nvPr/>
        </p:nvSpPr>
        <p:spPr>
          <a:xfrm>
            <a:off x="8500191" y="2977875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종료</a:t>
            </a:r>
          </a:p>
        </p:txBody>
      </p:sp>
      <p:sp>
        <p:nvSpPr>
          <p:cNvPr id="211" name="직사각형 210"/>
          <p:cNvSpPr/>
          <p:nvPr/>
        </p:nvSpPr>
        <p:spPr>
          <a:xfrm>
            <a:off x="9363869" y="8056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16, 143~153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2" name="직사각형 211"/>
          <p:cNvSpPr/>
          <p:nvPr/>
        </p:nvSpPr>
        <p:spPr>
          <a:xfrm>
            <a:off x="9363869" y="9962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당사자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139)</a:t>
            </a:r>
            <a:endParaRPr lang="ko-KR" altLang="en-US" sz="1000" dirty="0"/>
          </a:p>
        </p:txBody>
      </p:sp>
      <p:sp>
        <p:nvSpPr>
          <p:cNvPr id="213" name="직사각형 212"/>
          <p:cNvSpPr/>
          <p:nvPr/>
        </p:nvSpPr>
        <p:spPr>
          <a:xfrm>
            <a:off x="9363869" y="118351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참가인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155, 156)</a:t>
            </a:r>
            <a:endParaRPr lang="ko-KR" altLang="en-US" sz="1000" dirty="0"/>
          </a:p>
        </p:txBody>
      </p:sp>
      <p:sp>
        <p:nvSpPr>
          <p:cNvPr id="214" name="직사각형 213"/>
          <p:cNvSpPr/>
          <p:nvPr/>
        </p:nvSpPr>
        <p:spPr>
          <a:xfrm>
            <a:off x="9363869" y="1703773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청구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140, 140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5" name="직사각형 214"/>
          <p:cNvSpPr/>
          <p:nvPr/>
        </p:nvSpPr>
        <p:spPr>
          <a:xfrm>
            <a:off x="9363869" y="18943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심판청구서의 보정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140②, 140</a:t>
            </a:r>
            <a:r>
              <a:rPr lang="ko-KR" altLang="en-US" sz="1000" dirty="0"/>
              <a:t>의</a:t>
            </a:r>
            <a:r>
              <a:rPr lang="en-US" altLang="ko-KR" sz="1000" dirty="0"/>
              <a:t>2②)</a:t>
            </a:r>
          </a:p>
        </p:txBody>
      </p:sp>
      <p:sp>
        <p:nvSpPr>
          <p:cNvPr id="216" name="직사각형 215"/>
          <p:cNvSpPr/>
          <p:nvPr/>
        </p:nvSpPr>
        <p:spPr>
          <a:xfrm>
            <a:off x="9363869" y="22698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방식심리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141)</a:t>
            </a:r>
            <a:endParaRPr lang="ko-KR" altLang="en-US" sz="1000" dirty="0"/>
          </a:p>
        </p:txBody>
      </p:sp>
      <p:sp>
        <p:nvSpPr>
          <p:cNvPr id="217" name="직사각형 216"/>
          <p:cNvSpPr/>
          <p:nvPr/>
        </p:nvSpPr>
        <p:spPr>
          <a:xfrm>
            <a:off x="9363869" y="245801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적법성 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142)</a:t>
            </a:r>
            <a:endParaRPr lang="ko-KR" altLang="en-US" sz="1000" dirty="0"/>
          </a:p>
        </p:txBody>
      </p:sp>
      <p:sp>
        <p:nvSpPr>
          <p:cNvPr id="218" name="직사각형 217"/>
          <p:cNvSpPr/>
          <p:nvPr/>
        </p:nvSpPr>
        <p:spPr>
          <a:xfrm>
            <a:off x="9363869" y="264666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본안심리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154, 157-160)</a:t>
            </a:r>
            <a:endParaRPr lang="ko-KR" altLang="en-US" sz="1000" dirty="0"/>
          </a:p>
        </p:txBody>
      </p:sp>
      <p:sp>
        <p:nvSpPr>
          <p:cNvPr id="219" name="직사각형 218"/>
          <p:cNvSpPr/>
          <p:nvPr/>
        </p:nvSpPr>
        <p:spPr>
          <a:xfrm>
            <a:off x="9363869" y="288449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심판청구의 취하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161)</a:t>
            </a:r>
            <a:endParaRPr lang="ko-KR" altLang="en-US" sz="1000" dirty="0"/>
          </a:p>
        </p:txBody>
      </p:sp>
      <p:sp>
        <p:nvSpPr>
          <p:cNvPr id="220" name="직사각형 219"/>
          <p:cNvSpPr/>
          <p:nvPr/>
        </p:nvSpPr>
        <p:spPr>
          <a:xfrm>
            <a:off x="9363869" y="307268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심결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162, 163)</a:t>
            </a:r>
            <a:endParaRPr lang="ko-KR" altLang="en-US" sz="1000" dirty="0"/>
          </a:p>
        </p:txBody>
      </p:sp>
      <p:sp>
        <p:nvSpPr>
          <p:cNvPr id="221" name="직사각형 220"/>
          <p:cNvSpPr/>
          <p:nvPr/>
        </p:nvSpPr>
        <p:spPr>
          <a:xfrm>
            <a:off x="8500191" y="4104276"/>
            <a:ext cx="710030" cy="1710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결정계</a:t>
            </a:r>
            <a:r>
              <a:rPr lang="ko-KR" altLang="en-US" sz="1000" dirty="0"/>
              <a:t> 심판</a:t>
            </a:r>
          </a:p>
        </p:txBody>
      </p:sp>
      <p:sp>
        <p:nvSpPr>
          <p:cNvPr id="222" name="직사각형 221"/>
          <p:cNvSpPr/>
          <p:nvPr/>
        </p:nvSpPr>
        <p:spPr>
          <a:xfrm>
            <a:off x="8500191" y="4475324"/>
            <a:ext cx="710030" cy="3642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당사자계 </a:t>
            </a:r>
            <a:endParaRPr lang="en-US" altLang="ko-KR" sz="1000" dirty="0"/>
          </a:p>
          <a:p>
            <a:pPr algn="ctr"/>
            <a:r>
              <a:rPr lang="ko-KR" altLang="en-US" sz="1000" dirty="0"/>
              <a:t>심판</a:t>
            </a:r>
          </a:p>
        </p:txBody>
      </p:sp>
      <p:sp>
        <p:nvSpPr>
          <p:cNvPr id="223" name="직사각형 222"/>
          <p:cNvSpPr/>
          <p:nvPr/>
        </p:nvSpPr>
        <p:spPr>
          <a:xfrm>
            <a:off x="8500189" y="5251229"/>
            <a:ext cx="1308145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재심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178~185)</a:t>
            </a:r>
            <a:endParaRPr lang="ko-KR" altLang="en-US" sz="1000" dirty="0"/>
          </a:p>
        </p:txBody>
      </p:sp>
      <p:sp>
        <p:nvSpPr>
          <p:cNvPr id="224" name="직사각형 223"/>
          <p:cNvSpPr/>
          <p:nvPr/>
        </p:nvSpPr>
        <p:spPr>
          <a:xfrm>
            <a:off x="9363869" y="401219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거절결정불복심판</a:t>
            </a:r>
            <a:r>
              <a:rPr lang="en-US" altLang="ko-KR" sz="900" dirty="0"/>
              <a:t>(</a:t>
            </a:r>
            <a:r>
              <a:rPr lang="ko-KR" altLang="en-US" sz="900" dirty="0"/>
              <a:t>法 </a:t>
            </a:r>
            <a:r>
              <a:rPr lang="en-US" altLang="ko-KR" sz="900" dirty="0"/>
              <a:t>132</a:t>
            </a:r>
            <a:r>
              <a:rPr lang="ko-KR" altLang="en-US" sz="900" dirty="0"/>
              <a:t>의</a:t>
            </a:r>
            <a:r>
              <a:rPr lang="en-US" altLang="ko-KR" sz="900" dirty="0"/>
              <a:t>17, 170~172, 176)</a:t>
            </a:r>
            <a:endParaRPr lang="ko-KR" altLang="en-US" sz="900" dirty="0"/>
          </a:p>
        </p:txBody>
      </p:sp>
      <p:sp>
        <p:nvSpPr>
          <p:cNvPr id="225" name="직사각형 224"/>
          <p:cNvSpPr/>
          <p:nvPr/>
        </p:nvSpPr>
        <p:spPr>
          <a:xfrm>
            <a:off x="9363869" y="420277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정정심판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136)</a:t>
            </a:r>
            <a:endParaRPr lang="ko-KR" altLang="en-US" sz="1000" dirty="0"/>
          </a:p>
        </p:txBody>
      </p:sp>
      <p:sp>
        <p:nvSpPr>
          <p:cNvPr id="226" name="직사각형 225"/>
          <p:cNvSpPr/>
          <p:nvPr/>
        </p:nvSpPr>
        <p:spPr>
          <a:xfrm>
            <a:off x="9363869" y="438375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무효심판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133, 134, 137)</a:t>
            </a:r>
            <a:endParaRPr lang="ko-KR" altLang="en-US" sz="1000" dirty="0"/>
          </a:p>
        </p:txBody>
      </p:sp>
      <p:sp>
        <p:nvSpPr>
          <p:cNvPr id="227" name="직사각형 226"/>
          <p:cNvSpPr/>
          <p:nvPr/>
        </p:nvSpPr>
        <p:spPr>
          <a:xfrm>
            <a:off x="9363869" y="457975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권리범위확인심판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135)</a:t>
            </a:r>
            <a:endParaRPr lang="ko-KR" altLang="en-US" sz="1000" dirty="0"/>
          </a:p>
        </p:txBody>
      </p:sp>
      <p:sp>
        <p:nvSpPr>
          <p:cNvPr id="228" name="직사각형 227"/>
          <p:cNvSpPr/>
          <p:nvPr/>
        </p:nvSpPr>
        <p:spPr>
          <a:xfrm>
            <a:off x="9363869" y="477033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통상실시권허락심판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138)</a:t>
            </a:r>
            <a:endParaRPr lang="ko-KR" altLang="en-US" sz="1000" dirty="0"/>
          </a:p>
        </p:txBody>
      </p:sp>
      <p:cxnSp>
        <p:nvCxnSpPr>
          <p:cNvPr id="229" name="꺾인 연결선 228"/>
          <p:cNvCxnSpPr>
            <a:stCxn id="205" idx="1"/>
            <a:endCxn id="252" idx="3"/>
          </p:cNvCxnSpPr>
          <p:nvPr/>
        </p:nvCxnSpPr>
        <p:spPr>
          <a:xfrm rot="10800000" flipV="1">
            <a:off x="7557110" y="2489931"/>
            <a:ext cx="223697" cy="34727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꺾인 연결선 229"/>
          <p:cNvCxnSpPr>
            <a:stCxn id="205" idx="3"/>
            <a:endCxn id="207" idx="1"/>
          </p:cNvCxnSpPr>
          <p:nvPr/>
        </p:nvCxnSpPr>
        <p:spPr>
          <a:xfrm flipV="1">
            <a:off x="8336650" y="1398592"/>
            <a:ext cx="163541" cy="10913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꺾인 연결선 230"/>
          <p:cNvCxnSpPr>
            <a:stCxn id="205" idx="3"/>
            <a:endCxn id="210" idx="1"/>
          </p:cNvCxnSpPr>
          <p:nvPr/>
        </p:nvCxnSpPr>
        <p:spPr>
          <a:xfrm>
            <a:off x="8336650" y="2489931"/>
            <a:ext cx="163541" cy="573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꺾인 연결선 231"/>
          <p:cNvCxnSpPr>
            <a:stCxn id="205" idx="3"/>
            <a:endCxn id="208" idx="1"/>
          </p:cNvCxnSpPr>
          <p:nvPr/>
        </p:nvCxnSpPr>
        <p:spPr>
          <a:xfrm flipV="1">
            <a:off x="8336650" y="1890102"/>
            <a:ext cx="163541" cy="5998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꺾인 연결선 232"/>
          <p:cNvCxnSpPr>
            <a:stCxn id="205" idx="3"/>
            <a:endCxn id="209" idx="1"/>
          </p:cNvCxnSpPr>
          <p:nvPr/>
        </p:nvCxnSpPr>
        <p:spPr>
          <a:xfrm>
            <a:off x="8336650" y="2489931"/>
            <a:ext cx="163541" cy="446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꺾인 연결선 233"/>
          <p:cNvCxnSpPr>
            <a:stCxn id="207" idx="3"/>
            <a:endCxn id="211" idx="1"/>
          </p:cNvCxnSpPr>
          <p:nvPr/>
        </p:nvCxnSpPr>
        <p:spPr>
          <a:xfrm flipV="1">
            <a:off x="9210221" y="874930"/>
            <a:ext cx="153648" cy="52366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꺾인 연결선 234"/>
          <p:cNvCxnSpPr>
            <a:stCxn id="207" idx="3"/>
            <a:endCxn id="213" idx="1"/>
          </p:cNvCxnSpPr>
          <p:nvPr/>
        </p:nvCxnSpPr>
        <p:spPr>
          <a:xfrm flipV="1">
            <a:off x="9210221" y="1252790"/>
            <a:ext cx="153648" cy="1458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꺾인 연결선 235"/>
          <p:cNvCxnSpPr>
            <a:cxnSpLocks/>
            <a:stCxn id="207" idx="3"/>
            <a:endCxn id="288" idx="1"/>
          </p:cNvCxnSpPr>
          <p:nvPr/>
        </p:nvCxnSpPr>
        <p:spPr>
          <a:xfrm>
            <a:off x="9210221" y="1398592"/>
            <a:ext cx="148622" cy="1108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꺾인 연결선 236"/>
          <p:cNvCxnSpPr>
            <a:stCxn id="208" idx="3"/>
            <a:endCxn id="214" idx="1"/>
          </p:cNvCxnSpPr>
          <p:nvPr/>
        </p:nvCxnSpPr>
        <p:spPr>
          <a:xfrm flipV="1">
            <a:off x="9210221" y="1773052"/>
            <a:ext cx="153648" cy="1170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꺾인 연결선 237"/>
          <p:cNvCxnSpPr>
            <a:stCxn id="208" idx="3"/>
            <a:endCxn id="215" idx="1"/>
          </p:cNvCxnSpPr>
          <p:nvPr/>
        </p:nvCxnSpPr>
        <p:spPr>
          <a:xfrm>
            <a:off x="9210221" y="1890102"/>
            <a:ext cx="153648" cy="735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꺾인 연결선 238"/>
          <p:cNvCxnSpPr>
            <a:stCxn id="209" idx="3"/>
            <a:endCxn id="216" idx="1"/>
          </p:cNvCxnSpPr>
          <p:nvPr/>
        </p:nvCxnSpPr>
        <p:spPr>
          <a:xfrm flipV="1">
            <a:off x="9210221" y="2339108"/>
            <a:ext cx="153648" cy="195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꺾인 연결선 239"/>
          <p:cNvCxnSpPr>
            <a:stCxn id="209" idx="3"/>
            <a:endCxn id="218" idx="1"/>
          </p:cNvCxnSpPr>
          <p:nvPr/>
        </p:nvCxnSpPr>
        <p:spPr>
          <a:xfrm>
            <a:off x="9210221" y="2534560"/>
            <a:ext cx="153648" cy="18138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꺾인 연결선 240"/>
          <p:cNvCxnSpPr>
            <a:stCxn id="209" idx="3"/>
            <a:endCxn id="217" idx="1"/>
          </p:cNvCxnSpPr>
          <p:nvPr/>
        </p:nvCxnSpPr>
        <p:spPr>
          <a:xfrm flipV="1">
            <a:off x="9210221" y="2527293"/>
            <a:ext cx="153648" cy="726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꺾인 연결선 241"/>
          <p:cNvCxnSpPr>
            <a:stCxn id="221" idx="1"/>
            <a:endCxn id="206" idx="3"/>
          </p:cNvCxnSpPr>
          <p:nvPr/>
        </p:nvCxnSpPr>
        <p:spPr>
          <a:xfrm rot="10800000" flipV="1">
            <a:off x="8336651" y="4189783"/>
            <a:ext cx="163541" cy="2788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꺾인 연결선 242"/>
          <p:cNvCxnSpPr>
            <a:stCxn id="206" idx="3"/>
            <a:endCxn id="223" idx="1"/>
          </p:cNvCxnSpPr>
          <p:nvPr/>
        </p:nvCxnSpPr>
        <p:spPr>
          <a:xfrm>
            <a:off x="8336650" y="4468595"/>
            <a:ext cx="163539" cy="86197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꺾인 연결선 243"/>
          <p:cNvCxnSpPr>
            <a:stCxn id="206" idx="3"/>
            <a:endCxn id="222" idx="1"/>
          </p:cNvCxnSpPr>
          <p:nvPr/>
        </p:nvCxnSpPr>
        <p:spPr>
          <a:xfrm>
            <a:off x="8336650" y="4468595"/>
            <a:ext cx="163541" cy="1888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꺾인 연결선 244"/>
          <p:cNvCxnSpPr>
            <a:stCxn id="210" idx="3"/>
            <a:endCxn id="219" idx="1"/>
          </p:cNvCxnSpPr>
          <p:nvPr/>
        </p:nvCxnSpPr>
        <p:spPr>
          <a:xfrm flipV="1">
            <a:off x="9210221" y="2953778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꺾인 연결선 245"/>
          <p:cNvCxnSpPr>
            <a:stCxn id="210" idx="3"/>
            <a:endCxn id="220" idx="1"/>
          </p:cNvCxnSpPr>
          <p:nvPr/>
        </p:nvCxnSpPr>
        <p:spPr>
          <a:xfrm>
            <a:off x="9210221" y="3063383"/>
            <a:ext cx="153648" cy="7858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꺾인 연결선 246"/>
          <p:cNvCxnSpPr>
            <a:stCxn id="221" idx="3"/>
            <a:endCxn id="224" idx="1"/>
          </p:cNvCxnSpPr>
          <p:nvPr/>
        </p:nvCxnSpPr>
        <p:spPr>
          <a:xfrm flipV="1">
            <a:off x="9210221" y="4081472"/>
            <a:ext cx="153648" cy="10831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꺾인 연결선 247"/>
          <p:cNvCxnSpPr>
            <a:stCxn id="221" idx="3"/>
            <a:endCxn id="225" idx="1"/>
          </p:cNvCxnSpPr>
          <p:nvPr/>
        </p:nvCxnSpPr>
        <p:spPr>
          <a:xfrm>
            <a:off x="9210221" y="4189784"/>
            <a:ext cx="153648" cy="8226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꺾인 연결선 248"/>
          <p:cNvCxnSpPr>
            <a:stCxn id="222" idx="3"/>
            <a:endCxn id="226" idx="1"/>
          </p:cNvCxnSpPr>
          <p:nvPr/>
        </p:nvCxnSpPr>
        <p:spPr>
          <a:xfrm flipV="1">
            <a:off x="9210221" y="4453030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꺾인 연결선 249"/>
          <p:cNvCxnSpPr>
            <a:stCxn id="222" idx="3"/>
            <a:endCxn id="227" idx="1"/>
          </p:cNvCxnSpPr>
          <p:nvPr/>
        </p:nvCxnSpPr>
        <p:spPr>
          <a:xfrm flipV="1">
            <a:off x="9210221" y="4649032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꺾인 연결선 250"/>
          <p:cNvCxnSpPr>
            <a:stCxn id="222" idx="3"/>
            <a:endCxn id="228" idx="1"/>
          </p:cNvCxnSpPr>
          <p:nvPr/>
        </p:nvCxnSpPr>
        <p:spPr>
          <a:xfrm>
            <a:off x="9210221" y="4657467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직사각형 251"/>
          <p:cNvSpPr/>
          <p:nvPr/>
        </p:nvSpPr>
        <p:spPr>
          <a:xfrm>
            <a:off x="7136327" y="2620124"/>
            <a:ext cx="420782" cy="43416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심판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제도</a:t>
            </a:r>
          </a:p>
        </p:txBody>
      </p:sp>
      <p:cxnSp>
        <p:nvCxnSpPr>
          <p:cNvPr id="253" name="꺾인 연결선 252"/>
          <p:cNvCxnSpPr>
            <a:stCxn id="252" idx="3"/>
            <a:endCxn id="206" idx="1"/>
          </p:cNvCxnSpPr>
          <p:nvPr/>
        </p:nvCxnSpPr>
        <p:spPr>
          <a:xfrm>
            <a:off x="7557109" y="2837207"/>
            <a:ext cx="223697" cy="163138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직사각형 253"/>
          <p:cNvSpPr/>
          <p:nvPr/>
        </p:nvSpPr>
        <p:spPr>
          <a:xfrm>
            <a:off x="8500189" y="5000342"/>
            <a:ext cx="2075729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특허취소신청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2~132</a:t>
            </a:r>
            <a:r>
              <a:rPr lang="ko-KR" altLang="en-US" sz="1000" dirty="0"/>
              <a:t>의</a:t>
            </a:r>
            <a:r>
              <a:rPr lang="en-US" altLang="ko-KR" sz="1000" dirty="0"/>
              <a:t>15)</a:t>
            </a:r>
            <a:endParaRPr lang="ko-KR" altLang="en-US" sz="1000" dirty="0"/>
          </a:p>
        </p:txBody>
      </p:sp>
      <p:cxnSp>
        <p:nvCxnSpPr>
          <p:cNvPr id="255" name="꺾인 연결선 254"/>
          <p:cNvCxnSpPr>
            <a:stCxn id="206" idx="3"/>
            <a:endCxn id="254" idx="1"/>
          </p:cNvCxnSpPr>
          <p:nvPr/>
        </p:nvCxnSpPr>
        <p:spPr>
          <a:xfrm>
            <a:off x="8336650" y="4468595"/>
            <a:ext cx="163539" cy="6110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직사각형 255"/>
          <p:cNvSpPr/>
          <p:nvPr/>
        </p:nvSpPr>
        <p:spPr>
          <a:xfrm>
            <a:off x="9363869" y="2079620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중복심판청구금지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154⑧ </a:t>
            </a:r>
            <a:r>
              <a:rPr lang="ko-KR" altLang="en-US" sz="1000" dirty="0"/>
              <a:t>준용</a:t>
            </a:r>
            <a:r>
              <a:rPr lang="en-US" altLang="ko-KR" sz="1000" dirty="0"/>
              <a:t> </a:t>
            </a:r>
            <a:r>
              <a:rPr lang="ko-KR" altLang="en-US" sz="1000" dirty="0"/>
              <a:t>민소</a:t>
            </a:r>
            <a:r>
              <a:rPr lang="en-US" altLang="ko-KR" sz="1000" dirty="0"/>
              <a:t>259)</a:t>
            </a:r>
          </a:p>
        </p:txBody>
      </p:sp>
      <p:sp>
        <p:nvSpPr>
          <p:cNvPr id="257" name="직사각형 256"/>
          <p:cNvSpPr/>
          <p:nvPr/>
        </p:nvSpPr>
        <p:spPr>
          <a:xfrm>
            <a:off x="8237008" y="5752000"/>
            <a:ext cx="420212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PCT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58" name="직사각형 257"/>
          <p:cNvSpPr/>
          <p:nvPr/>
        </p:nvSpPr>
        <p:spPr>
          <a:xfrm>
            <a:off x="8810868" y="566042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특허출원절차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192~198)</a:t>
            </a:r>
            <a:endParaRPr lang="ko-KR" altLang="en-US" sz="1000" dirty="0"/>
          </a:p>
        </p:txBody>
      </p:sp>
      <p:sp>
        <p:nvSpPr>
          <p:cNvPr id="259" name="직사각형 258"/>
          <p:cNvSpPr/>
          <p:nvPr/>
        </p:nvSpPr>
        <p:spPr>
          <a:xfrm>
            <a:off x="8810868" y="5856429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국제조사 및 국제예비심사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198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60" name="직사각형 259"/>
          <p:cNvSpPr/>
          <p:nvPr/>
        </p:nvSpPr>
        <p:spPr>
          <a:xfrm>
            <a:off x="8810868" y="604700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국제특허출원에 관한 특례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199~214)</a:t>
            </a:r>
            <a:endParaRPr lang="ko-KR" altLang="en-US" sz="1000" dirty="0"/>
          </a:p>
        </p:txBody>
      </p:sp>
      <p:cxnSp>
        <p:nvCxnSpPr>
          <p:cNvPr id="261" name="꺾인 연결선 260"/>
          <p:cNvCxnSpPr>
            <a:stCxn id="257" idx="3"/>
            <a:endCxn id="258" idx="1"/>
          </p:cNvCxnSpPr>
          <p:nvPr/>
        </p:nvCxnSpPr>
        <p:spPr>
          <a:xfrm flipV="1">
            <a:off x="8657220" y="5729706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꺾인 연결선 261"/>
          <p:cNvCxnSpPr>
            <a:stCxn id="257" idx="3"/>
            <a:endCxn id="259" idx="1"/>
          </p:cNvCxnSpPr>
          <p:nvPr/>
        </p:nvCxnSpPr>
        <p:spPr>
          <a:xfrm flipV="1">
            <a:off x="8657220" y="5925708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꺾인 연결선 262"/>
          <p:cNvCxnSpPr>
            <a:stCxn id="257" idx="3"/>
            <a:endCxn id="260" idx="1"/>
          </p:cNvCxnSpPr>
          <p:nvPr/>
        </p:nvCxnSpPr>
        <p:spPr>
          <a:xfrm>
            <a:off x="8657220" y="5934143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꺾인 연결선 263"/>
          <p:cNvCxnSpPr>
            <a:stCxn id="273" idx="3"/>
            <a:endCxn id="295" idx="1"/>
          </p:cNvCxnSpPr>
          <p:nvPr/>
        </p:nvCxnSpPr>
        <p:spPr>
          <a:xfrm flipV="1">
            <a:off x="4278775" y="4164703"/>
            <a:ext cx="168733" cy="44072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꺾인 연결선 264"/>
          <p:cNvCxnSpPr>
            <a:stCxn id="273" idx="3"/>
            <a:endCxn id="296" idx="1"/>
          </p:cNvCxnSpPr>
          <p:nvPr/>
        </p:nvCxnSpPr>
        <p:spPr>
          <a:xfrm flipV="1">
            <a:off x="4278775" y="4328505"/>
            <a:ext cx="168733" cy="27692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직사각형 265"/>
          <p:cNvSpPr/>
          <p:nvPr/>
        </p:nvSpPr>
        <p:spPr>
          <a:xfrm>
            <a:off x="612833" y="5324052"/>
            <a:ext cx="355015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소송</a:t>
            </a:r>
          </a:p>
        </p:txBody>
      </p:sp>
      <p:sp>
        <p:nvSpPr>
          <p:cNvPr id="267" name="직사각형 266"/>
          <p:cNvSpPr/>
          <p:nvPr/>
        </p:nvSpPr>
        <p:spPr>
          <a:xfrm>
            <a:off x="1121497" y="523247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 err="1"/>
              <a:t>심결취소소송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186~189)</a:t>
            </a:r>
            <a:endParaRPr lang="ko-KR" altLang="en-US" sz="1000" dirty="0"/>
          </a:p>
        </p:txBody>
      </p:sp>
      <p:sp>
        <p:nvSpPr>
          <p:cNvPr id="268" name="직사각형 267"/>
          <p:cNvSpPr/>
          <p:nvPr/>
        </p:nvSpPr>
        <p:spPr>
          <a:xfrm>
            <a:off x="1121497" y="5428481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보상금</a:t>
            </a:r>
            <a:r>
              <a:rPr lang="en-US" altLang="ko-KR" sz="1000" dirty="0"/>
              <a:t>/</a:t>
            </a:r>
            <a:r>
              <a:rPr lang="ko-KR" altLang="en-US" sz="1000" dirty="0"/>
              <a:t>대가에 대한 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190, 191)</a:t>
            </a:r>
            <a:endParaRPr lang="ko-KR" altLang="en-US" sz="1000" dirty="0"/>
          </a:p>
        </p:txBody>
      </p:sp>
      <p:sp>
        <p:nvSpPr>
          <p:cNvPr id="269" name="직사각형 268"/>
          <p:cNvSpPr/>
          <p:nvPr/>
        </p:nvSpPr>
        <p:spPr>
          <a:xfrm>
            <a:off x="1121497" y="561905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변리사 보수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191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cxnSp>
        <p:nvCxnSpPr>
          <p:cNvPr id="270" name="꺾인 연결선 269"/>
          <p:cNvCxnSpPr>
            <a:stCxn id="266" idx="3"/>
            <a:endCxn id="267" idx="1"/>
          </p:cNvCxnSpPr>
          <p:nvPr/>
        </p:nvCxnSpPr>
        <p:spPr>
          <a:xfrm flipV="1">
            <a:off x="967848" y="5301758"/>
            <a:ext cx="153649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꺾인 연결선 270"/>
          <p:cNvCxnSpPr>
            <a:stCxn id="266" idx="3"/>
            <a:endCxn id="268" idx="1"/>
          </p:cNvCxnSpPr>
          <p:nvPr/>
        </p:nvCxnSpPr>
        <p:spPr>
          <a:xfrm flipV="1">
            <a:off x="967848" y="5497760"/>
            <a:ext cx="153649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꺾인 연결선 271"/>
          <p:cNvCxnSpPr>
            <a:stCxn id="266" idx="3"/>
            <a:endCxn id="269" idx="1"/>
          </p:cNvCxnSpPr>
          <p:nvPr/>
        </p:nvCxnSpPr>
        <p:spPr>
          <a:xfrm>
            <a:off x="967848" y="5506195"/>
            <a:ext cx="153649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직사각형 272"/>
          <p:cNvSpPr/>
          <p:nvPr/>
        </p:nvSpPr>
        <p:spPr>
          <a:xfrm>
            <a:off x="3609544" y="4480740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accent3">
                    <a:lumMod val="50000"/>
                  </a:schemeClr>
                </a:solidFill>
              </a:rPr>
              <a:t>소송요건</a:t>
            </a:r>
            <a:endParaRPr lang="en-US" altLang="ko-KR" sz="1000" dirty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ko-KR" altLang="en-US" sz="700" dirty="0">
                <a:solidFill>
                  <a:schemeClr val="accent3">
                    <a:lumMod val="50000"/>
                  </a:schemeClr>
                </a:solidFill>
              </a:rPr>
              <a:t>法 </a:t>
            </a:r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186, 187)</a:t>
            </a:r>
            <a:endParaRPr lang="ko-KR" altLang="en-US" sz="7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3609544" y="5109654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소송제기</a:t>
            </a:r>
          </a:p>
        </p:txBody>
      </p:sp>
      <p:sp>
        <p:nvSpPr>
          <p:cNvPr id="275" name="직사각형 274"/>
          <p:cNvSpPr/>
          <p:nvPr/>
        </p:nvSpPr>
        <p:spPr>
          <a:xfrm>
            <a:off x="3609544" y="5640678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소송심리</a:t>
            </a:r>
          </a:p>
        </p:txBody>
      </p:sp>
      <p:sp>
        <p:nvSpPr>
          <p:cNvPr id="276" name="직사각형 275"/>
          <p:cNvSpPr/>
          <p:nvPr/>
        </p:nvSpPr>
        <p:spPr>
          <a:xfrm>
            <a:off x="3609544" y="6249551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소송종료</a:t>
            </a:r>
          </a:p>
        </p:txBody>
      </p:sp>
      <p:cxnSp>
        <p:nvCxnSpPr>
          <p:cNvPr id="277" name="꺾인 연결선 276"/>
          <p:cNvCxnSpPr>
            <a:stCxn id="267" idx="3"/>
            <a:endCxn id="273" idx="1"/>
          </p:cNvCxnSpPr>
          <p:nvPr/>
        </p:nvCxnSpPr>
        <p:spPr>
          <a:xfrm flipV="1">
            <a:off x="3454709" y="4605428"/>
            <a:ext cx="154835" cy="69633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꺾인 연결선 277"/>
          <p:cNvCxnSpPr>
            <a:stCxn id="267" idx="3"/>
            <a:endCxn id="276" idx="1"/>
          </p:cNvCxnSpPr>
          <p:nvPr/>
        </p:nvCxnSpPr>
        <p:spPr>
          <a:xfrm>
            <a:off x="3454709" y="5301758"/>
            <a:ext cx="154835" cy="107248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꺾인 연결선 278"/>
          <p:cNvCxnSpPr>
            <a:stCxn id="267" idx="3"/>
            <a:endCxn id="274" idx="1"/>
          </p:cNvCxnSpPr>
          <p:nvPr/>
        </p:nvCxnSpPr>
        <p:spPr>
          <a:xfrm flipV="1">
            <a:off x="3454709" y="5234342"/>
            <a:ext cx="154835" cy="6741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꺾인 연결선 279"/>
          <p:cNvCxnSpPr>
            <a:stCxn id="267" idx="3"/>
            <a:endCxn id="275" idx="1"/>
          </p:cNvCxnSpPr>
          <p:nvPr/>
        </p:nvCxnSpPr>
        <p:spPr>
          <a:xfrm>
            <a:off x="3454709" y="5301758"/>
            <a:ext cx="154835" cy="46360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꺾인 연결선 280"/>
          <p:cNvCxnSpPr>
            <a:stCxn id="273" idx="3"/>
            <a:endCxn id="297" idx="1"/>
          </p:cNvCxnSpPr>
          <p:nvPr/>
        </p:nvCxnSpPr>
        <p:spPr>
          <a:xfrm flipV="1">
            <a:off x="4278775" y="4489475"/>
            <a:ext cx="168733" cy="1159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꺾인 연결선 281"/>
          <p:cNvCxnSpPr>
            <a:stCxn id="274" idx="3"/>
            <a:endCxn id="298" idx="1"/>
          </p:cNvCxnSpPr>
          <p:nvPr/>
        </p:nvCxnSpPr>
        <p:spPr>
          <a:xfrm flipV="1">
            <a:off x="4278775" y="5070329"/>
            <a:ext cx="168733" cy="16401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꺾인 연결선 282"/>
          <p:cNvCxnSpPr>
            <a:stCxn id="274" idx="3"/>
            <a:endCxn id="299" idx="1"/>
          </p:cNvCxnSpPr>
          <p:nvPr/>
        </p:nvCxnSpPr>
        <p:spPr>
          <a:xfrm flipV="1">
            <a:off x="4278775" y="5234131"/>
            <a:ext cx="168733" cy="2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꺾인 연결선 283"/>
          <p:cNvCxnSpPr>
            <a:stCxn id="275" idx="3"/>
            <a:endCxn id="300" idx="1"/>
          </p:cNvCxnSpPr>
          <p:nvPr/>
        </p:nvCxnSpPr>
        <p:spPr>
          <a:xfrm flipV="1">
            <a:off x="4278775" y="5762383"/>
            <a:ext cx="168733" cy="298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꺾인 연결선 284"/>
          <p:cNvCxnSpPr>
            <a:cxnSpLocks/>
            <a:stCxn id="275" idx="3"/>
            <a:endCxn id="301" idx="1"/>
          </p:cNvCxnSpPr>
          <p:nvPr/>
        </p:nvCxnSpPr>
        <p:spPr>
          <a:xfrm>
            <a:off x="4278775" y="5765366"/>
            <a:ext cx="168733" cy="2485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꺾인 연결선 285"/>
          <p:cNvCxnSpPr>
            <a:stCxn id="276" idx="3"/>
            <a:endCxn id="302" idx="1"/>
          </p:cNvCxnSpPr>
          <p:nvPr/>
        </p:nvCxnSpPr>
        <p:spPr>
          <a:xfrm flipV="1">
            <a:off x="4278775" y="6284664"/>
            <a:ext cx="168733" cy="895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꺾인 연결선 286"/>
          <p:cNvCxnSpPr>
            <a:cxnSpLocks/>
            <a:stCxn id="276" idx="3"/>
            <a:endCxn id="303" idx="1"/>
          </p:cNvCxnSpPr>
          <p:nvPr/>
        </p:nvCxnSpPr>
        <p:spPr>
          <a:xfrm>
            <a:off x="4278775" y="6374239"/>
            <a:ext cx="168733" cy="17444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직사각형 288"/>
          <p:cNvSpPr/>
          <p:nvPr/>
        </p:nvSpPr>
        <p:spPr>
          <a:xfrm>
            <a:off x="5954614" y="5228714"/>
            <a:ext cx="1396961" cy="328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변론주의 원칙</a:t>
            </a:r>
            <a:endParaRPr lang="en-US" altLang="ko-KR" sz="1000" dirty="0"/>
          </a:p>
          <a:p>
            <a:pPr algn="ctr"/>
            <a:r>
              <a:rPr lang="en-US" altLang="ko-KR" sz="1000" dirty="0"/>
              <a:t>(</a:t>
            </a:r>
            <a:r>
              <a:rPr lang="ko-KR" altLang="en-US" sz="1000" dirty="0"/>
              <a:t>직권주의 가미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290" name="직사각형 289"/>
          <p:cNvSpPr/>
          <p:nvPr/>
        </p:nvSpPr>
        <p:spPr>
          <a:xfrm>
            <a:off x="5954614" y="5591097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위법판단의 기준시점</a:t>
            </a:r>
          </a:p>
        </p:txBody>
      </p:sp>
      <p:sp>
        <p:nvSpPr>
          <p:cNvPr id="291" name="직사각형 290"/>
          <p:cNvSpPr/>
          <p:nvPr/>
        </p:nvSpPr>
        <p:spPr>
          <a:xfrm>
            <a:off x="5954614" y="575324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심리범위</a:t>
            </a:r>
          </a:p>
        </p:txBody>
      </p:sp>
      <p:sp>
        <p:nvSpPr>
          <p:cNvPr id="292" name="직사각형 291"/>
          <p:cNvSpPr/>
          <p:nvPr/>
        </p:nvSpPr>
        <p:spPr>
          <a:xfrm>
            <a:off x="5954614" y="591100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주장증명책임</a:t>
            </a:r>
          </a:p>
        </p:txBody>
      </p:sp>
      <p:sp>
        <p:nvSpPr>
          <p:cNvPr id="293" name="직사각형 292"/>
          <p:cNvSpPr/>
          <p:nvPr/>
        </p:nvSpPr>
        <p:spPr>
          <a:xfrm>
            <a:off x="5954614" y="6071372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자백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4447508" y="410052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소송물</a:t>
            </a:r>
            <a:endParaRPr lang="ko-KR" altLang="en-US" sz="1000" dirty="0"/>
          </a:p>
        </p:txBody>
      </p:sp>
      <p:sp>
        <p:nvSpPr>
          <p:cNvPr id="296" name="직사각형 295"/>
          <p:cNvSpPr/>
          <p:nvPr/>
        </p:nvSpPr>
        <p:spPr>
          <a:xfrm>
            <a:off x="4447508" y="426432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소의 이익</a:t>
            </a:r>
          </a:p>
        </p:txBody>
      </p:sp>
      <p:sp>
        <p:nvSpPr>
          <p:cNvPr id="297" name="직사각형 296"/>
          <p:cNvSpPr/>
          <p:nvPr/>
        </p:nvSpPr>
        <p:spPr>
          <a:xfrm>
            <a:off x="4447508" y="442529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관할</a:t>
            </a:r>
          </a:p>
        </p:txBody>
      </p:sp>
      <p:sp>
        <p:nvSpPr>
          <p:cNvPr id="298" name="직사각형 297"/>
          <p:cNvSpPr/>
          <p:nvPr/>
        </p:nvSpPr>
        <p:spPr>
          <a:xfrm>
            <a:off x="4447508" y="5006153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제출</a:t>
            </a:r>
          </a:p>
        </p:txBody>
      </p:sp>
      <p:sp>
        <p:nvSpPr>
          <p:cNvPr id="299" name="직사각형 298"/>
          <p:cNvSpPr/>
          <p:nvPr/>
        </p:nvSpPr>
        <p:spPr>
          <a:xfrm>
            <a:off x="4447508" y="516995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심판원장에게 통지</a:t>
            </a:r>
            <a:r>
              <a:rPr lang="en-US" altLang="ko-KR" sz="600" dirty="0">
                <a:solidFill>
                  <a:schemeClr val="tx1"/>
                </a:solidFill>
              </a:rPr>
              <a:t>(</a:t>
            </a:r>
            <a:r>
              <a:rPr lang="ko-KR" altLang="en-US" sz="600" dirty="0">
                <a:solidFill>
                  <a:schemeClr val="tx1"/>
                </a:solidFill>
              </a:rPr>
              <a:t>法 </a:t>
            </a:r>
            <a:r>
              <a:rPr lang="en-US" altLang="ko-KR" sz="600" dirty="0">
                <a:solidFill>
                  <a:schemeClr val="tx1"/>
                </a:solidFill>
              </a:rPr>
              <a:t>188)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00" name="직사각형 299"/>
          <p:cNvSpPr/>
          <p:nvPr/>
        </p:nvSpPr>
        <p:spPr>
          <a:xfrm>
            <a:off x="4447508" y="569820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본안심리</a:t>
            </a:r>
            <a:endParaRPr lang="ko-KR" altLang="en-US" sz="1000" dirty="0"/>
          </a:p>
        </p:txBody>
      </p:sp>
      <p:sp>
        <p:nvSpPr>
          <p:cNvPr id="301" name="직사각형 300"/>
          <p:cNvSpPr/>
          <p:nvPr/>
        </p:nvSpPr>
        <p:spPr>
          <a:xfrm>
            <a:off x="4447508" y="5859952"/>
            <a:ext cx="1380067" cy="3080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기술심리관의 관여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188</a:t>
            </a:r>
            <a:r>
              <a:rPr lang="ko-KR" altLang="en-US" sz="800" dirty="0">
                <a:solidFill>
                  <a:schemeClr val="tx1"/>
                </a:solidFill>
              </a:rPr>
              <a:t>의</a:t>
            </a:r>
            <a:r>
              <a:rPr lang="en-US" altLang="ko-KR" sz="8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2" name="직사각형 301"/>
          <p:cNvSpPr/>
          <p:nvPr/>
        </p:nvSpPr>
        <p:spPr>
          <a:xfrm>
            <a:off x="4447508" y="622048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당사자에 의한 종결</a:t>
            </a:r>
          </a:p>
        </p:txBody>
      </p:sp>
      <p:sp>
        <p:nvSpPr>
          <p:cNvPr id="303" name="직사각형 302"/>
          <p:cNvSpPr/>
          <p:nvPr/>
        </p:nvSpPr>
        <p:spPr>
          <a:xfrm>
            <a:off x="4447508" y="6382234"/>
            <a:ext cx="1380067" cy="3328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종국판결에 의한 종결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4447508" y="459403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</a:t>
            </a:r>
          </a:p>
        </p:txBody>
      </p:sp>
      <p:sp>
        <p:nvSpPr>
          <p:cNvPr id="305" name="직사각형 304"/>
          <p:cNvSpPr/>
          <p:nvPr/>
        </p:nvSpPr>
        <p:spPr>
          <a:xfrm>
            <a:off x="4447508" y="554183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소송요건의 심리</a:t>
            </a:r>
            <a:endParaRPr lang="en-US" altLang="ko-KR" sz="1000" dirty="0"/>
          </a:p>
        </p:txBody>
      </p:sp>
      <p:sp>
        <p:nvSpPr>
          <p:cNvPr id="306" name="직사각형 305"/>
          <p:cNvSpPr/>
          <p:nvPr/>
        </p:nvSpPr>
        <p:spPr>
          <a:xfrm>
            <a:off x="4447508" y="5338441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심사</a:t>
            </a:r>
            <a:endParaRPr lang="en-US" altLang="ko-KR" sz="1000" dirty="0"/>
          </a:p>
        </p:txBody>
      </p:sp>
      <p:sp>
        <p:nvSpPr>
          <p:cNvPr id="307" name="직사각형 306"/>
          <p:cNvSpPr/>
          <p:nvPr/>
        </p:nvSpPr>
        <p:spPr>
          <a:xfrm>
            <a:off x="4447508" y="476412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제소기간</a:t>
            </a:r>
          </a:p>
        </p:txBody>
      </p:sp>
      <p:cxnSp>
        <p:nvCxnSpPr>
          <p:cNvPr id="309" name="꺾인 연결선 308"/>
          <p:cNvCxnSpPr>
            <a:stCxn id="273" idx="3"/>
            <a:endCxn id="304" idx="1"/>
          </p:cNvCxnSpPr>
          <p:nvPr/>
        </p:nvCxnSpPr>
        <p:spPr>
          <a:xfrm>
            <a:off x="4278775" y="4605428"/>
            <a:ext cx="168733" cy="527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꺾인 연결선 309"/>
          <p:cNvCxnSpPr>
            <a:stCxn id="273" idx="3"/>
            <a:endCxn id="307" idx="1"/>
          </p:cNvCxnSpPr>
          <p:nvPr/>
        </p:nvCxnSpPr>
        <p:spPr>
          <a:xfrm>
            <a:off x="4278775" y="4605428"/>
            <a:ext cx="168733" cy="2228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꺾인 연결선 310"/>
          <p:cNvCxnSpPr>
            <a:stCxn id="274" idx="3"/>
            <a:endCxn id="306" idx="1"/>
          </p:cNvCxnSpPr>
          <p:nvPr/>
        </p:nvCxnSpPr>
        <p:spPr>
          <a:xfrm>
            <a:off x="4278775" y="5234342"/>
            <a:ext cx="168733" cy="1682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꺾인 연결선 311"/>
          <p:cNvCxnSpPr>
            <a:stCxn id="275" idx="3"/>
            <a:endCxn id="305" idx="1"/>
          </p:cNvCxnSpPr>
          <p:nvPr/>
        </p:nvCxnSpPr>
        <p:spPr>
          <a:xfrm flipV="1">
            <a:off x="4278775" y="5606011"/>
            <a:ext cx="168733" cy="15935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꺾인 연결선 312"/>
          <p:cNvCxnSpPr>
            <a:stCxn id="300" idx="3"/>
            <a:endCxn id="289" idx="1"/>
          </p:cNvCxnSpPr>
          <p:nvPr/>
        </p:nvCxnSpPr>
        <p:spPr>
          <a:xfrm flipV="1">
            <a:off x="5827575" y="5393209"/>
            <a:ext cx="127039" cy="36917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꺾인 연결선 313"/>
          <p:cNvCxnSpPr>
            <a:stCxn id="300" idx="3"/>
            <a:endCxn id="290" idx="1"/>
          </p:cNvCxnSpPr>
          <p:nvPr/>
        </p:nvCxnSpPr>
        <p:spPr>
          <a:xfrm flipV="1">
            <a:off x="5827575" y="5655273"/>
            <a:ext cx="127039" cy="10711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꺾인 연결선 314"/>
          <p:cNvCxnSpPr>
            <a:stCxn id="300" idx="3"/>
            <a:endCxn id="291" idx="1"/>
          </p:cNvCxnSpPr>
          <p:nvPr/>
        </p:nvCxnSpPr>
        <p:spPr>
          <a:xfrm>
            <a:off x="5827575" y="5762383"/>
            <a:ext cx="127039" cy="5503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꺾인 연결선 315"/>
          <p:cNvCxnSpPr>
            <a:stCxn id="300" idx="3"/>
            <a:endCxn id="292" idx="1"/>
          </p:cNvCxnSpPr>
          <p:nvPr/>
        </p:nvCxnSpPr>
        <p:spPr>
          <a:xfrm>
            <a:off x="5827575" y="5762383"/>
            <a:ext cx="127039" cy="21279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꺾인 연결선 316"/>
          <p:cNvCxnSpPr>
            <a:endCxn id="293" idx="1"/>
          </p:cNvCxnSpPr>
          <p:nvPr/>
        </p:nvCxnSpPr>
        <p:spPr>
          <a:xfrm rot="16200000" flipH="1">
            <a:off x="5802218" y="5983152"/>
            <a:ext cx="293982" cy="10810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직사각형 317"/>
          <p:cNvSpPr/>
          <p:nvPr/>
        </p:nvSpPr>
        <p:spPr>
          <a:xfrm>
            <a:off x="6103431" y="3574465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319" name="타원 318"/>
          <p:cNvSpPr/>
          <p:nvPr/>
        </p:nvSpPr>
        <p:spPr>
          <a:xfrm>
            <a:off x="322118" y="268689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20" name="타원 319"/>
          <p:cNvSpPr/>
          <p:nvPr/>
        </p:nvSpPr>
        <p:spPr>
          <a:xfrm>
            <a:off x="262164" y="5316045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321" name="타원 320"/>
          <p:cNvSpPr/>
          <p:nvPr/>
        </p:nvSpPr>
        <p:spPr>
          <a:xfrm>
            <a:off x="7873581" y="5757616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322" name="타원 321"/>
          <p:cNvSpPr/>
          <p:nvPr/>
        </p:nvSpPr>
        <p:spPr>
          <a:xfrm>
            <a:off x="6772900" y="266696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23" name="자유형 322"/>
          <p:cNvSpPr/>
          <p:nvPr/>
        </p:nvSpPr>
        <p:spPr>
          <a:xfrm>
            <a:off x="523875" y="3059642"/>
            <a:ext cx="5571067" cy="1845733"/>
          </a:xfrm>
          <a:custGeom>
            <a:avLst/>
            <a:gdLst>
              <a:gd name="connsiteX0" fmla="*/ 5571067 w 5571067"/>
              <a:gd name="connsiteY0" fmla="*/ 872066 h 1845733"/>
              <a:gd name="connsiteX1" fmla="*/ 3708400 w 5571067"/>
              <a:gd name="connsiteY1" fmla="*/ 872066 h 1845733"/>
              <a:gd name="connsiteX2" fmla="*/ 3708400 w 5571067"/>
              <a:gd name="connsiteY2" fmla="*/ 1244600 h 1845733"/>
              <a:gd name="connsiteX3" fmla="*/ 2853267 w 5571067"/>
              <a:gd name="connsiteY3" fmla="*/ 1244600 h 1845733"/>
              <a:gd name="connsiteX4" fmla="*/ 2853267 w 5571067"/>
              <a:gd name="connsiteY4" fmla="*/ 1845733 h 1845733"/>
              <a:gd name="connsiteX5" fmla="*/ 0 w 5571067"/>
              <a:gd name="connsiteY5" fmla="*/ 1845733 h 1845733"/>
              <a:gd name="connsiteX6" fmla="*/ 0 w 5571067"/>
              <a:gd name="connsiteY6" fmla="*/ 0 h 1845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1067" h="1845733">
                <a:moveTo>
                  <a:pt x="5571067" y="872066"/>
                </a:moveTo>
                <a:lnTo>
                  <a:pt x="3708400" y="872066"/>
                </a:lnTo>
                <a:lnTo>
                  <a:pt x="3708400" y="1244600"/>
                </a:lnTo>
                <a:lnTo>
                  <a:pt x="2853267" y="1244600"/>
                </a:lnTo>
                <a:lnTo>
                  <a:pt x="2853267" y="1845733"/>
                </a:lnTo>
                <a:lnTo>
                  <a:pt x="0" y="1845733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자유형 323"/>
          <p:cNvSpPr/>
          <p:nvPr/>
        </p:nvSpPr>
        <p:spPr>
          <a:xfrm>
            <a:off x="422275" y="4905375"/>
            <a:ext cx="84667" cy="397933"/>
          </a:xfrm>
          <a:custGeom>
            <a:avLst/>
            <a:gdLst>
              <a:gd name="connsiteX0" fmla="*/ 84667 w 84667"/>
              <a:gd name="connsiteY0" fmla="*/ 0 h 397933"/>
              <a:gd name="connsiteX1" fmla="*/ 0 w 84667"/>
              <a:gd name="connsiteY1" fmla="*/ 0 h 397933"/>
              <a:gd name="connsiteX2" fmla="*/ 0 w 84667"/>
              <a:gd name="connsiteY2" fmla="*/ 397933 h 397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67" h="397933">
                <a:moveTo>
                  <a:pt x="84667" y="0"/>
                </a:moveTo>
                <a:lnTo>
                  <a:pt x="0" y="0"/>
                </a:lnTo>
                <a:lnTo>
                  <a:pt x="0" y="397933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5" name="자유형 324"/>
          <p:cNvSpPr/>
          <p:nvPr/>
        </p:nvSpPr>
        <p:spPr>
          <a:xfrm>
            <a:off x="6569075" y="2839508"/>
            <a:ext cx="186267" cy="745067"/>
          </a:xfrm>
          <a:custGeom>
            <a:avLst/>
            <a:gdLst>
              <a:gd name="connsiteX0" fmla="*/ 0 w 186267"/>
              <a:gd name="connsiteY0" fmla="*/ 745067 h 745067"/>
              <a:gd name="connsiteX1" fmla="*/ 0 w 186267"/>
              <a:gd name="connsiteY1" fmla="*/ 745067 h 745067"/>
              <a:gd name="connsiteX2" fmla="*/ 0 w 186267"/>
              <a:gd name="connsiteY2" fmla="*/ 0 h 745067"/>
              <a:gd name="connsiteX3" fmla="*/ 186267 w 186267"/>
              <a:gd name="connsiteY3" fmla="*/ 0 h 74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267" h="745067">
                <a:moveTo>
                  <a:pt x="0" y="745067"/>
                </a:moveTo>
                <a:lnTo>
                  <a:pt x="0" y="745067"/>
                </a:lnTo>
                <a:lnTo>
                  <a:pt x="0" y="0"/>
                </a:lnTo>
                <a:lnTo>
                  <a:pt x="186267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6" name="자유형 325"/>
          <p:cNvSpPr/>
          <p:nvPr/>
        </p:nvSpPr>
        <p:spPr>
          <a:xfrm>
            <a:off x="6577542" y="4498975"/>
            <a:ext cx="1498600" cy="1244600"/>
          </a:xfrm>
          <a:custGeom>
            <a:avLst/>
            <a:gdLst>
              <a:gd name="connsiteX0" fmla="*/ 0 w 1498600"/>
              <a:gd name="connsiteY0" fmla="*/ 0 h 1244600"/>
              <a:gd name="connsiteX1" fmla="*/ 0 w 1498600"/>
              <a:gd name="connsiteY1" fmla="*/ 423333 h 1244600"/>
              <a:gd name="connsiteX2" fmla="*/ 1498600 w 1498600"/>
              <a:gd name="connsiteY2" fmla="*/ 423333 h 1244600"/>
              <a:gd name="connsiteX3" fmla="*/ 1498600 w 1498600"/>
              <a:gd name="connsiteY3" fmla="*/ 1244600 h 124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8600" h="1244600">
                <a:moveTo>
                  <a:pt x="0" y="0"/>
                </a:moveTo>
                <a:lnTo>
                  <a:pt x="0" y="423333"/>
                </a:lnTo>
                <a:lnTo>
                  <a:pt x="1498600" y="423333"/>
                </a:lnTo>
                <a:lnTo>
                  <a:pt x="1498600" y="12446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9B6DE0DF-BFFF-497F-9FD1-C58A8CA97621}"/>
              </a:ext>
            </a:extLst>
          </p:cNvPr>
          <p:cNvSpPr/>
          <p:nvPr/>
        </p:nvSpPr>
        <p:spPr>
          <a:xfrm>
            <a:off x="8500191" y="3384273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관련</a:t>
            </a:r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A6BC253F-D9C4-4A98-984C-D8D62D28E8E9}"/>
              </a:ext>
            </a:extLst>
          </p:cNvPr>
          <p:cNvSpPr/>
          <p:nvPr/>
        </p:nvSpPr>
        <p:spPr>
          <a:xfrm>
            <a:off x="9363869" y="3290897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타절차와의 관계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164)</a:t>
            </a:r>
            <a:endParaRPr lang="ko-KR" altLang="en-US" sz="1000" dirty="0"/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855EA2A3-2862-42AE-AC8B-FB8E8761530B}"/>
              </a:ext>
            </a:extLst>
          </p:cNvPr>
          <p:cNvSpPr/>
          <p:nvPr/>
        </p:nvSpPr>
        <p:spPr>
          <a:xfrm>
            <a:off x="9363869" y="372062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심판비용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165, 166)</a:t>
            </a:r>
            <a:endParaRPr lang="ko-KR" altLang="en-US" sz="1000" dirty="0"/>
          </a:p>
        </p:txBody>
      </p:sp>
      <p:cxnSp>
        <p:nvCxnSpPr>
          <p:cNvPr id="329" name="꺾인 연결선 244">
            <a:extLst>
              <a:ext uri="{FF2B5EF4-FFF2-40B4-BE49-F238E27FC236}">
                <a16:creationId xmlns:a16="http://schemas.microsoft.com/office/drawing/2014/main" id="{A54F89B3-B4E9-4E0A-BB23-C1DB0F7A25D8}"/>
              </a:ext>
            </a:extLst>
          </p:cNvPr>
          <p:cNvCxnSpPr>
            <a:cxnSpLocks/>
            <a:stCxn id="294" idx="3"/>
            <a:endCxn id="308" idx="1"/>
          </p:cNvCxnSpPr>
          <p:nvPr/>
        </p:nvCxnSpPr>
        <p:spPr>
          <a:xfrm>
            <a:off x="9210221" y="3469781"/>
            <a:ext cx="151225" cy="1077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꺾인 연결선 245">
            <a:extLst>
              <a:ext uri="{FF2B5EF4-FFF2-40B4-BE49-F238E27FC236}">
                <a16:creationId xmlns:a16="http://schemas.microsoft.com/office/drawing/2014/main" id="{48543D6B-7C92-4D3D-B213-6D84DC780C17}"/>
              </a:ext>
            </a:extLst>
          </p:cNvPr>
          <p:cNvCxnSpPr>
            <a:cxnSpLocks/>
            <a:stCxn id="294" idx="3"/>
            <a:endCxn id="328" idx="1"/>
          </p:cNvCxnSpPr>
          <p:nvPr/>
        </p:nvCxnSpPr>
        <p:spPr>
          <a:xfrm>
            <a:off x="9210221" y="3469781"/>
            <a:ext cx="153648" cy="32012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B370871F-6F80-4244-8543-0634A44D09BD}"/>
              </a:ext>
            </a:extLst>
          </p:cNvPr>
          <p:cNvCxnSpPr>
            <a:stCxn id="205" idx="3"/>
            <a:endCxn id="294" idx="1"/>
          </p:cNvCxnSpPr>
          <p:nvPr/>
        </p:nvCxnSpPr>
        <p:spPr>
          <a:xfrm>
            <a:off x="8336650" y="2489931"/>
            <a:ext cx="163541" cy="9798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CCF75EB5-ACDA-45AD-A3D7-EAD9647556E3}"/>
              </a:ext>
            </a:extLst>
          </p:cNvPr>
          <p:cNvSpPr/>
          <p:nvPr/>
        </p:nvSpPr>
        <p:spPr>
          <a:xfrm>
            <a:off x="9358843" y="1365202"/>
            <a:ext cx="2333212" cy="2884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국선대리인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전문심리위원 및 참고인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法 </a:t>
            </a:r>
            <a:r>
              <a:rPr lang="en-US" altLang="ko-KR" sz="900" dirty="0">
                <a:solidFill>
                  <a:schemeClr val="tx1"/>
                </a:solidFill>
              </a:rPr>
              <a:t>139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3)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FBCE5317-4D8A-4C1C-92B6-ECD14431C289}"/>
              </a:ext>
            </a:extLst>
          </p:cNvPr>
          <p:cNvSpPr/>
          <p:nvPr/>
        </p:nvSpPr>
        <p:spPr>
          <a:xfrm>
            <a:off x="9361446" y="3486404"/>
            <a:ext cx="2330609" cy="1822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조정위원회 회부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31" name="꺾인 연결선 245">
            <a:extLst>
              <a:ext uri="{FF2B5EF4-FFF2-40B4-BE49-F238E27FC236}">
                <a16:creationId xmlns:a16="http://schemas.microsoft.com/office/drawing/2014/main" id="{8272E89B-C399-461C-82CA-028F1E621707}"/>
              </a:ext>
            </a:extLst>
          </p:cNvPr>
          <p:cNvCxnSpPr>
            <a:cxnSpLocks/>
            <a:stCxn id="294" idx="3"/>
            <a:endCxn id="327" idx="1"/>
          </p:cNvCxnSpPr>
          <p:nvPr/>
        </p:nvCxnSpPr>
        <p:spPr>
          <a:xfrm flipV="1">
            <a:off x="9210221" y="3360176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183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제목 4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7" name="텍스트 개체 틀 4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심판</a:t>
            </a:r>
            <a:r>
              <a:rPr lang="en-US" altLang="ko-KR" dirty="0"/>
              <a:t>(</a:t>
            </a:r>
            <a:r>
              <a:rPr lang="ko-KR" altLang="en-US" dirty="0"/>
              <a:t>제도</a:t>
            </a:r>
            <a:r>
              <a:rPr lang="en-US" altLang="ko-KR" dirty="0"/>
              <a:t>)</a:t>
            </a:r>
            <a:r>
              <a:rPr lang="ko-KR" altLang="en-US" dirty="0"/>
              <a:t> 체계</a:t>
            </a:r>
            <a:r>
              <a:rPr lang="en-US" altLang="ko-KR" dirty="0"/>
              <a:t>: </a:t>
            </a:r>
            <a:r>
              <a:rPr lang="ko-KR" altLang="en-US" dirty="0"/>
              <a:t>제</a:t>
            </a:r>
            <a:r>
              <a:rPr lang="en-US" altLang="ko-KR" dirty="0"/>
              <a:t>6</a:t>
            </a:r>
            <a:r>
              <a:rPr lang="ko-KR" altLang="en-US" dirty="0"/>
              <a:t>장의</a:t>
            </a:r>
            <a:r>
              <a:rPr lang="en-US" altLang="ko-KR" dirty="0"/>
              <a:t>2, </a:t>
            </a:r>
            <a:r>
              <a:rPr lang="ko-KR" altLang="en-US" dirty="0"/>
              <a:t>제</a:t>
            </a:r>
            <a:r>
              <a:rPr lang="en-US" altLang="ko-KR" dirty="0"/>
              <a:t>7</a:t>
            </a:r>
            <a:r>
              <a:rPr lang="ko-KR" altLang="en-US" dirty="0"/>
              <a:t>장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8</a:t>
            </a:r>
            <a:r>
              <a:rPr lang="ko-KR" altLang="en-US" dirty="0"/>
              <a:t>장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431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1622738" y="2309240"/>
            <a:ext cx="930679" cy="827526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심판절차 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일반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총론</a:t>
            </a:r>
            <a:r>
              <a:rPr lang="en-US" altLang="ko-KR" sz="1600" dirty="0">
                <a:solidFill>
                  <a:schemeClr val="bg1"/>
                </a:solidFill>
              </a:rPr>
              <a:t>)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1622738" y="5080432"/>
            <a:ext cx="930679" cy="827526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심판의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종류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각론</a:t>
            </a:r>
            <a:r>
              <a:rPr lang="en-US" altLang="ko-KR" sz="1600" dirty="0">
                <a:solidFill>
                  <a:schemeClr val="bg1"/>
                </a:solidFill>
              </a:rPr>
              <a:t>)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067099" y="1425191"/>
            <a:ext cx="1194356" cy="231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주체</a:t>
            </a:r>
            <a:endParaRPr lang="ko-KR" altLang="en-US" sz="1100" dirty="0"/>
          </a:p>
        </p:txBody>
      </p:sp>
      <p:sp>
        <p:nvSpPr>
          <p:cNvPr id="13" name="직사각형 12"/>
          <p:cNvSpPr/>
          <p:nvPr/>
        </p:nvSpPr>
        <p:spPr>
          <a:xfrm>
            <a:off x="3067099" y="2208909"/>
            <a:ext cx="1194356" cy="231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청구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3067099" y="3126269"/>
            <a:ext cx="1194356" cy="231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진행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3067099" y="3788268"/>
            <a:ext cx="1194356" cy="231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종료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4663630" y="1181829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심판의 당사자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139)</a:t>
            </a:r>
            <a:endParaRPr lang="ko-KR" altLang="en-US" sz="1100" dirty="0"/>
          </a:p>
        </p:txBody>
      </p:sp>
      <p:sp>
        <p:nvSpPr>
          <p:cNvPr id="23" name="직사각형 22"/>
          <p:cNvSpPr/>
          <p:nvPr/>
        </p:nvSpPr>
        <p:spPr>
          <a:xfrm>
            <a:off x="4663630" y="1440094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심판의 참가인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155, 156)</a:t>
            </a:r>
            <a:endParaRPr lang="ko-KR" altLang="en-US" sz="1100" dirty="0"/>
          </a:p>
        </p:txBody>
      </p:sp>
      <p:sp>
        <p:nvSpPr>
          <p:cNvPr id="24" name="직사각형 23"/>
          <p:cNvSpPr/>
          <p:nvPr/>
        </p:nvSpPr>
        <p:spPr>
          <a:xfrm>
            <a:off x="4663630" y="1693892"/>
            <a:ext cx="2737833" cy="31309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국선대리인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전문심리위원 및 참고인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法 </a:t>
            </a:r>
            <a:r>
              <a:rPr lang="en-US" altLang="ko-KR" sz="900" dirty="0">
                <a:solidFill>
                  <a:schemeClr val="tx1"/>
                </a:solidFill>
              </a:rPr>
              <a:t>139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3)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4663630" y="2072344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심판의 청구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140, 140</a:t>
            </a:r>
            <a:r>
              <a:rPr lang="ko-KR" altLang="en-US" sz="1100" dirty="0"/>
              <a:t>의</a:t>
            </a:r>
            <a:r>
              <a:rPr lang="en-US" altLang="ko-KR" sz="1100" dirty="0"/>
              <a:t>2)</a:t>
            </a:r>
            <a:endParaRPr lang="ko-KR" altLang="en-US" sz="1100" dirty="0"/>
          </a:p>
        </p:txBody>
      </p:sp>
      <p:sp>
        <p:nvSpPr>
          <p:cNvPr id="27" name="직사각형 26"/>
          <p:cNvSpPr/>
          <p:nvPr/>
        </p:nvSpPr>
        <p:spPr>
          <a:xfrm>
            <a:off x="4663630" y="2330609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심판청구서의 보정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140②, 140</a:t>
            </a:r>
            <a:r>
              <a:rPr lang="ko-KR" altLang="en-US" sz="1100" dirty="0"/>
              <a:t>의</a:t>
            </a:r>
            <a:r>
              <a:rPr lang="en-US" altLang="ko-KR" sz="1100" dirty="0"/>
              <a:t>2②)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4663630" y="2883458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방식심리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141)</a:t>
            </a:r>
            <a:endParaRPr lang="ko-KR" altLang="en-US" sz="1100" dirty="0"/>
          </a:p>
        </p:txBody>
      </p:sp>
      <p:sp>
        <p:nvSpPr>
          <p:cNvPr id="30" name="직사각형 29"/>
          <p:cNvSpPr/>
          <p:nvPr/>
        </p:nvSpPr>
        <p:spPr>
          <a:xfrm>
            <a:off x="4663630" y="3138480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적법성 심리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142)</a:t>
            </a:r>
            <a:endParaRPr lang="ko-KR" altLang="en-US" sz="1100" dirty="0"/>
          </a:p>
        </p:txBody>
      </p:sp>
      <p:sp>
        <p:nvSpPr>
          <p:cNvPr id="31" name="직사각형 30"/>
          <p:cNvSpPr/>
          <p:nvPr/>
        </p:nvSpPr>
        <p:spPr>
          <a:xfrm>
            <a:off x="4663630" y="3394129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본안심리</a:t>
            </a:r>
            <a:endParaRPr lang="ko-KR" altLang="en-US" sz="1100" dirty="0"/>
          </a:p>
        </p:txBody>
      </p:sp>
      <p:sp>
        <p:nvSpPr>
          <p:cNvPr id="32" name="직사각형 31"/>
          <p:cNvSpPr/>
          <p:nvPr/>
        </p:nvSpPr>
        <p:spPr>
          <a:xfrm>
            <a:off x="4663630" y="3661793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심판청구의 취하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161)</a:t>
            </a:r>
            <a:endParaRPr lang="ko-KR" altLang="en-US" sz="1100" dirty="0"/>
          </a:p>
        </p:txBody>
      </p:sp>
      <p:sp>
        <p:nvSpPr>
          <p:cNvPr id="33" name="직사각형 32"/>
          <p:cNvSpPr/>
          <p:nvPr/>
        </p:nvSpPr>
        <p:spPr>
          <a:xfrm>
            <a:off x="4663630" y="3916815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심결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162, 163)</a:t>
            </a:r>
            <a:endParaRPr lang="ko-KR" altLang="en-US" sz="1100" dirty="0"/>
          </a:p>
        </p:txBody>
      </p:sp>
      <p:sp>
        <p:nvSpPr>
          <p:cNvPr id="35" name="직사각형 34"/>
          <p:cNvSpPr/>
          <p:nvPr/>
        </p:nvSpPr>
        <p:spPr>
          <a:xfrm>
            <a:off x="3067099" y="5075838"/>
            <a:ext cx="1194356" cy="2317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결정계</a:t>
            </a:r>
            <a:r>
              <a:rPr lang="ko-KR" altLang="en-US" sz="1100" dirty="0"/>
              <a:t> 심판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3067099" y="5738492"/>
            <a:ext cx="1194356" cy="2317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당사자계 심판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3067099" y="6561293"/>
            <a:ext cx="1194356" cy="2317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재심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178~185)</a:t>
            </a:r>
            <a:endParaRPr lang="ko-KR" altLang="en-US" sz="1100" dirty="0"/>
          </a:p>
        </p:txBody>
      </p:sp>
      <p:sp>
        <p:nvSpPr>
          <p:cNvPr id="39" name="직사각형 38"/>
          <p:cNvSpPr/>
          <p:nvPr/>
        </p:nvSpPr>
        <p:spPr>
          <a:xfrm>
            <a:off x="4663630" y="4951113"/>
            <a:ext cx="2737833" cy="2023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거절결정불복심판</a:t>
            </a:r>
            <a:r>
              <a:rPr lang="en-US" altLang="ko-KR" sz="900" dirty="0"/>
              <a:t>(</a:t>
            </a:r>
            <a:r>
              <a:rPr lang="ko-KR" altLang="en-US" sz="900" dirty="0"/>
              <a:t>法 </a:t>
            </a:r>
            <a:r>
              <a:rPr lang="en-US" altLang="ko-KR" sz="900" dirty="0"/>
              <a:t>132</a:t>
            </a:r>
            <a:r>
              <a:rPr lang="ko-KR" altLang="en-US" sz="900" dirty="0"/>
              <a:t>의</a:t>
            </a:r>
            <a:r>
              <a:rPr lang="en-US" altLang="ko-KR" sz="900" dirty="0"/>
              <a:t>17, 170~172, 176)</a:t>
            </a:r>
            <a:endParaRPr lang="ko-KR" altLang="en-US" sz="900" dirty="0"/>
          </a:p>
        </p:txBody>
      </p:sp>
      <p:sp>
        <p:nvSpPr>
          <p:cNvPr id="40" name="직사각형 39"/>
          <p:cNvSpPr/>
          <p:nvPr/>
        </p:nvSpPr>
        <p:spPr>
          <a:xfrm>
            <a:off x="4663630" y="5209379"/>
            <a:ext cx="2737833" cy="2023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정정심판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136)</a:t>
            </a:r>
            <a:endParaRPr lang="ko-KR" altLang="en-US" sz="1100" dirty="0"/>
          </a:p>
        </p:txBody>
      </p:sp>
      <p:sp>
        <p:nvSpPr>
          <p:cNvPr id="41" name="직사각형 40"/>
          <p:cNvSpPr/>
          <p:nvPr/>
        </p:nvSpPr>
        <p:spPr>
          <a:xfrm>
            <a:off x="4663630" y="5483504"/>
            <a:ext cx="2737833" cy="2023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무효심판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4663630" y="5749120"/>
            <a:ext cx="2737833" cy="2023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권리범위확인심판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135)</a:t>
            </a:r>
            <a:endParaRPr lang="ko-KR" altLang="en-US" sz="1100" dirty="0"/>
          </a:p>
        </p:txBody>
      </p:sp>
      <p:sp>
        <p:nvSpPr>
          <p:cNvPr id="43" name="직사각형 42"/>
          <p:cNvSpPr/>
          <p:nvPr/>
        </p:nvSpPr>
        <p:spPr>
          <a:xfrm>
            <a:off x="4663630" y="6007385"/>
            <a:ext cx="2737833" cy="20230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통상실시권허락심판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138)</a:t>
            </a:r>
            <a:endParaRPr lang="ko-KR" altLang="en-US" sz="1100" dirty="0"/>
          </a:p>
        </p:txBody>
      </p:sp>
      <p:sp>
        <p:nvSpPr>
          <p:cNvPr id="49" name="직사각형 48"/>
          <p:cNvSpPr/>
          <p:nvPr/>
        </p:nvSpPr>
        <p:spPr>
          <a:xfrm>
            <a:off x="7559373" y="5214151"/>
            <a:ext cx="2016224" cy="2023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특허무효심판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133, 133</a:t>
            </a:r>
            <a:r>
              <a:rPr lang="ko-KR" altLang="en-US" sz="1100" dirty="0"/>
              <a:t>의</a:t>
            </a:r>
            <a:r>
              <a:rPr lang="en-US" altLang="ko-KR" sz="1100" dirty="0"/>
              <a:t>2)</a:t>
            </a:r>
            <a:endParaRPr lang="ko-KR" altLang="en-US" sz="1100" dirty="0"/>
          </a:p>
        </p:txBody>
      </p:sp>
      <p:sp>
        <p:nvSpPr>
          <p:cNvPr id="50" name="직사각형 49"/>
          <p:cNvSpPr/>
          <p:nvPr/>
        </p:nvSpPr>
        <p:spPr>
          <a:xfrm>
            <a:off x="7559373" y="5486636"/>
            <a:ext cx="2016224" cy="2023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연장등록무효심판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134)</a:t>
            </a:r>
            <a:endParaRPr lang="ko-KR" altLang="en-US" sz="1100" dirty="0"/>
          </a:p>
        </p:txBody>
      </p:sp>
      <p:sp>
        <p:nvSpPr>
          <p:cNvPr id="51" name="직사각형 50"/>
          <p:cNvSpPr/>
          <p:nvPr/>
        </p:nvSpPr>
        <p:spPr>
          <a:xfrm>
            <a:off x="7559373" y="5744902"/>
            <a:ext cx="2016224" cy="2023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정정무효심판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137)</a:t>
            </a:r>
            <a:endParaRPr lang="ko-KR" altLang="en-US" sz="1100" dirty="0"/>
          </a:p>
        </p:txBody>
      </p:sp>
      <p:cxnSp>
        <p:nvCxnSpPr>
          <p:cNvPr id="5" name="꺾인 연결선 4"/>
          <p:cNvCxnSpPr>
            <a:cxnSpLocks/>
            <a:stCxn id="3" idx="1"/>
            <a:endCxn id="80" idx="3"/>
          </p:cNvCxnSpPr>
          <p:nvPr/>
        </p:nvCxnSpPr>
        <p:spPr>
          <a:xfrm rot="10800000" flipV="1">
            <a:off x="1314152" y="2723003"/>
            <a:ext cx="308587" cy="1199535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꺾인 연결선 6"/>
          <p:cNvCxnSpPr>
            <a:cxnSpLocks/>
            <a:stCxn id="3" idx="3"/>
            <a:endCxn id="12" idx="1"/>
          </p:cNvCxnSpPr>
          <p:nvPr/>
        </p:nvCxnSpPr>
        <p:spPr>
          <a:xfrm flipV="1">
            <a:off x="2553417" y="1541068"/>
            <a:ext cx="513682" cy="11819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꺾인 연결선 8"/>
          <p:cNvCxnSpPr>
            <a:cxnSpLocks/>
            <a:stCxn id="3" idx="3"/>
            <a:endCxn id="21" idx="1"/>
          </p:cNvCxnSpPr>
          <p:nvPr/>
        </p:nvCxnSpPr>
        <p:spPr>
          <a:xfrm>
            <a:off x="2553417" y="2723003"/>
            <a:ext cx="513682" cy="118114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51"/>
          <p:cNvCxnSpPr>
            <a:cxnSpLocks/>
            <a:stCxn id="3" idx="3"/>
            <a:endCxn id="13" idx="1"/>
          </p:cNvCxnSpPr>
          <p:nvPr/>
        </p:nvCxnSpPr>
        <p:spPr>
          <a:xfrm flipV="1">
            <a:off x="2553417" y="2324786"/>
            <a:ext cx="513682" cy="39821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cxnSpLocks/>
            <a:stCxn id="3" idx="3"/>
            <a:endCxn id="20" idx="1"/>
          </p:cNvCxnSpPr>
          <p:nvPr/>
        </p:nvCxnSpPr>
        <p:spPr>
          <a:xfrm>
            <a:off x="2553417" y="2723003"/>
            <a:ext cx="513682" cy="519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55"/>
          <p:cNvCxnSpPr>
            <a:cxnSpLocks/>
            <a:stCxn id="12" idx="3"/>
            <a:endCxn id="22" idx="1"/>
          </p:cNvCxnSpPr>
          <p:nvPr/>
        </p:nvCxnSpPr>
        <p:spPr>
          <a:xfrm flipV="1">
            <a:off x="4261455" y="1282981"/>
            <a:ext cx="402175" cy="25808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57"/>
          <p:cNvCxnSpPr>
            <a:cxnSpLocks/>
            <a:stCxn id="12" idx="3"/>
            <a:endCxn id="24" idx="1"/>
          </p:cNvCxnSpPr>
          <p:nvPr/>
        </p:nvCxnSpPr>
        <p:spPr>
          <a:xfrm>
            <a:off x="4261455" y="1541068"/>
            <a:ext cx="402175" cy="30937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꺾인 연결선 59"/>
          <p:cNvCxnSpPr>
            <a:cxnSpLocks/>
            <a:stCxn id="12" idx="3"/>
            <a:endCxn id="23" idx="1"/>
          </p:cNvCxnSpPr>
          <p:nvPr/>
        </p:nvCxnSpPr>
        <p:spPr>
          <a:xfrm>
            <a:off x="4261455" y="1541068"/>
            <a:ext cx="402175" cy="17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연결선 61"/>
          <p:cNvCxnSpPr>
            <a:cxnSpLocks/>
            <a:stCxn id="13" idx="3"/>
            <a:endCxn id="26" idx="1"/>
          </p:cNvCxnSpPr>
          <p:nvPr/>
        </p:nvCxnSpPr>
        <p:spPr>
          <a:xfrm flipV="1">
            <a:off x="4261455" y="2173496"/>
            <a:ext cx="402175" cy="15129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cxnSpLocks/>
            <a:stCxn id="13" idx="3"/>
            <a:endCxn id="27" idx="1"/>
          </p:cNvCxnSpPr>
          <p:nvPr/>
        </p:nvCxnSpPr>
        <p:spPr>
          <a:xfrm>
            <a:off x="4261455" y="2324786"/>
            <a:ext cx="402175" cy="1069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cxnSpLocks/>
            <a:stCxn id="20" idx="3"/>
            <a:endCxn id="29" idx="1"/>
          </p:cNvCxnSpPr>
          <p:nvPr/>
        </p:nvCxnSpPr>
        <p:spPr>
          <a:xfrm flipV="1">
            <a:off x="4261455" y="2984610"/>
            <a:ext cx="402175" cy="25753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cxnSpLocks/>
            <a:stCxn id="20" idx="3"/>
            <a:endCxn id="31" idx="1"/>
          </p:cNvCxnSpPr>
          <p:nvPr/>
        </p:nvCxnSpPr>
        <p:spPr>
          <a:xfrm>
            <a:off x="4261455" y="3242146"/>
            <a:ext cx="402175" cy="2531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cxnSpLocks/>
            <a:stCxn id="20" idx="3"/>
            <a:endCxn id="30" idx="1"/>
          </p:cNvCxnSpPr>
          <p:nvPr/>
        </p:nvCxnSpPr>
        <p:spPr>
          <a:xfrm flipV="1">
            <a:off x="4261455" y="3239632"/>
            <a:ext cx="402175" cy="251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꺾인 연결선 72"/>
          <p:cNvCxnSpPr>
            <a:cxnSpLocks/>
            <a:stCxn id="35" idx="1"/>
            <a:endCxn id="11" idx="3"/>
          </p:cNvCxnSpPr>
          <p:nvPr/>
        </p:nvCxnSpPr>
        <p:spPr>
          <a:xfrm rot="10800000" flipV="1">
            <a:off x="2553417" y="5191715"/>
            <a:ext cx="513682" cy="30248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꺾인 연결선 74"/>
          <p:cNvCxnSpPr>
            <a:cxnSpLocks/>
            <a:stCxn id="11" idx="3"/>
            <a:endCxn id="37" idx="1"/>
          </p:cNvCxnSpPr>
          <p:nvPr/>
        </p:nvCxnSpPr>
        <p:spPr>
          <a:xfrm>
            <a:off x="2553417" y="5494195"/>
            <a:ext cx="513682" cy="11829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76"/>
          <p:cNvCxnSpPr>
            <a:cxnSpLocks/>
            <a:stCxn id="11" idx="3"/>
            <a:endCxn id="36" idx="1"/>
          </p:cNvCxnSpPr>
          <p:nvPr/>
        </p:nvCxnSpPr>
        <p:spPr>
          <a:xfrm>
            <a:off x="2553417" y="5494195"/>
            <a:ext cx="513682" cy="36017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78"/>
          <p:cNvCxnSpPr>
            <a:cxnSpLocks/>
            <a:stCxn id="21" idx="3"/>
            <a:endCxn id="32" idx="1"/>
          </p:cNvCxnSpPr>
          <p:nvPr/>
        </p:nvCxnSpPr>
        <p:spPr>
          <a:xfrm flipV="1">
            <a:off x="4261455" y="3762945"/>
            <a:ext cx="402175" cy="1412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꺾인 연결선 80"/>
          <p:cNvCxnSpPr>
            <a:cxnSpLocks/>
            <a:stCxn id="21" idx="3"/>
            <a:endCxn id="33" idx="1"/>
          </p:cNvCxnSpPr>
          <p:nvPr/>
        </p:nvCxnSpPr>
        <p:spPr>
          <a:xfrm>
            <a:off x="4261455" y="3904145"/>
            <a:ext cx="402175" cy="11382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꺾인 연결선 82"/>
          <p:cNvCxnSpPr>
            <a:cxnSpLocks/>
            <a:stCxn id="35" idx="3"/>
            <a:endCxn id="39" idx="1"/>
          </p:cNvCxnSpPr>
          <p:nvPr/>
        </p:nvCxnSpPr>
        <p:spPr>
          <a:xfrm flipV="1">
            <a:off x="4261455" y="5052265"/>
            <a:ext cx="402175" cy="1394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꺾인 연결선 84"/>
          <p:cNvCxnSpPr>
            <a:cxnSpLocks/>
            <a:stCxn id="35" idx="3"/>
            <a:endCxn id="40" idx="1"/>
          </p:cNvCxnSpPr>
          <p:nvPr/>
        </p:nvCxnSpPr>
        <p:spPr>
          <a:xfrm>
            <a:off x="4261455" y="5191715"/>
            <a:ext cx="402175" cy="11881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꺾인 연결선 86"/>
          <p:cNvCxnSpPr>
            <a:cxnSpLocks/>
            <a:stCxn id="36" idx="3"/>
            <a:endCxn id="41" idx="1"/>
          </p:cNvCxnSpPr>
          <p:nvPr/>
        </p:nvCxnSpPr>
        <p:spPr>
          <a:xfrm flipV="1">
            <a:off x="4261455" y="5584656"/>
            <a:ext cx="402175" cy="26971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꺾인 연결선 88"/>
          <p:cNvCxnSpPr>
            <a:cxnSpLocks/>
            <a:stCxn id="36" idx="3"/>
            <a:endCxn id="42" idx="1"/>
          </p:cNvCxnSpPr>
          <p:nvPr/>
        </p:nvCxnSpPr>
        <p:spPr>
          <a:xfrm flipV="1">
            <a:off x="4261455" y="5850272"/>
            <a:ext cx="402175" cy="409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꺾인 연결선 90"/>
          <p:cNvCxnSpPr>
            <a:cxnSpLocks/>
            <a:stCxn id="36" idx="3"/>
            <a:endCxn id="43" idx="1"/>
          </p:cNvCxnSpPr>
          <p:nvPr/>
        </p:nvCxnSpPr>
        <p:spPr>
          <a:xfrm>
            <a:off x="4261455" y="5854369"/>
            <a:ext cx="402175" cy="25416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꺾인 연결선 92"/>
          <p:cNvCxnSpPr>
            <a:cxnSpLocks/>
            <a:stCxn id="41" idx="3"/>
            <a:endCxn id="49" idx="1"/>
          </p:cNvCxnSpPr>
          <p:nvPr/>
        </p:nvCxnSpPr>
        <p:spPr>
          <a:xfrm flipV="1">
            <a:off x="7401463" y="5315336"/>
            <a:ext cx="157910" cy="26932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>
            <a:cxnSpLocks/>
            <a:stCxn id="41" idx="3"/>
            <a:endCxn id="51" idx="1"/>
          </p:cNvCxnSpPr>
          <p:nvPr/>
        </p:nvCxnSpPr>
        <p:spPr>
          <a:xfrm>
            <a:off x="7401463" y="5584656"/>
            <a:ext cx="157910" cy="26143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 96"/>
          <p:cNvCxnSpPr>
            <a:cxnSpLocks/>
            <a:stCxn id="41" idx="3"/>
            <a:endCxn id="50" idx="1"/>
          </p:cNvCxnSpPr>
          <p:nvPr/>
        </p:nvCxnSpPr>
        <p:spPr>
          <a:xfrm>
            <a:off x="7401463" y="5584656"/>
            <a:ext cx="157910" cy="316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/>
          <p:cNvSpPr/>
          <p:nvPr/>
        </p:nvSpPr>
        <p:spPr>
          <a:xfrm>
            <a:off x="7559373" y="3246491"/>
            <a:ext cx="2016224" cy="202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심리방식의 선택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154)</a:t>
            </a:r>
            <a:endParaRPr lang="ko-KR" altLang="en-US" sz="1100" dirty="0"/>
          </a:p>
        </p:txBody>
      </p:sp>
      <p:sp>
        <p:nvSpPr>
          <p:cNvPr id="100" name="직사각형 99"/>
          <p:cNvSpPr/>
          <p:nvPr/>
        </p:nvSpPr>
        <p:spPr>
          <a:xfrm>
            <a:off x="7559373" y="3541087"/>
            <a:ext cx="2016224" cy="202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직권주의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157-160)</a:t>
            </a:r>
            <a:r>
              <a:rPr lang="ko-KR" altLang="en-US" sz="1100" dirty="0"/>
              <a:t> </a:t>
            </a:r>
          </a:p>
        </p:txBody>
      </p:sp>
      <p:cxnSp>
        <p:nvCxnSpPr>
          <p:cNvPr id="102" name="꺾인 연결선 101"/>
          <p:cNvCxnSpPr>
            <a:cxnSpLocks/>
            <a:stCxn id="31" idx="3"/>
            <a:endCxn id="99" idx="1"/>
          </p:cNvCxnSpPr>
          <p:nvPr/>
        </p:nvCxnSpPr>
        <p:spPr>
          <a:xfrm flipV="1">
            <a:off x="7401463" y="3347676"/>
            <a:ext cx="157910" cy="147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꺾인 연결선 103"/>
          <p:cNvCxnSpPr>
            <a:cxnSpLocks/>
            <a:stCxn id="31" idx="3"/>
            <a:endCxn id="100" idx="1"/>
          </p:cNvCxnSpPr>
          <p:nvPr/>
        </p:nvCxnSpPr>
        <p:spPr>
          <a:xfrm>
            <a:off x="7401463" y="3495281"/>
            <a:ext cx="157910" cy="14699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/>
          <p:cNvSpPr/>
          <p:nvPr/>
        </p:nvSpPr>
        <p:spPr>
          <a:xfrm>
            <a:off x="7559373" y="1299559"/>
            <a:ext cx="2016224" cy="202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당사자 참가인</a:t>
            </a:r>
          </a:p>
        </p:txBody>
      </p:sp>
      <p:sp>
        <p:nvSpPr>
          <p:cNvPr id="106" name="직사각형 105"/>
          <p:cNvSpPr/>
          <p:nvPr/>
        </p:nvSpPr>
        <p:spPr>
          <a:xfrm>
            <a:off x="7559373" y="1594156"/>
            <a:ext cx="2016224" cy="202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보조 참가인</a:t>
            </a:r>
          </a:p>
        </p:txBody>
      </p:sp>
      <p:cxnSp>
        <p:nvCxnSpPr>
          <p:cNvPr id="107" name="꺾인 연결선 106"/>
          <p:cNvCxnSpPr>
            <a:cxnSpLocks/>
            <a:stCxn id="23" idx="3"/>
            <a:endCxn id="105" idx="1"/>
          </p:cNvCxnSpPr>
          <p:nvPr/>
        </p:nvCxnSpPr>
        <p:spPr>
          <a:xfrm flipV="1">
            <a:off x="7401463" y="1400744"/>
            <a:ext cx="157910" cy="1405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107"/>
          <p:cNvCxnSpPr>
            <a:cxnSpLocks/>
            <a:stCxn id="23" idx="3"/>
            <a:endCxn id="106" idx="1"/>
          </p:cNvCxnSpPr>
          <p:nvPr/>
        </p:nvCxnSpPr>
        <p:spPr>
          <a:xfrm>
            <a:off x="7401463" y="1541246"/>
            <a:ext cx="157910" cy="15409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/>
          <p:cNvSpPr/>
          <p:nvPr/>
        </p:nvSpPr>
        <p:spPr>
          <a:xfrm>
            <a:off x="186728" y="3508776"/>
            <a:ext cx="1127423" cy="827526"/>
          </a:xfrm>
          <a:prstGeom prst="rect">
            <a:avLst/>
          </a:prstGeom>
          <a:solidFill>
            <a:schemeClr val="accent2">
              <a:lumMod val="50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</a:rPr>
              <a:t>심판</a:t>
            </a:r>
            <a:endParaRPr lang="en-US" altLang="ko-KR" sz="2400" dirty="0">
              <a:solidFill>
                <a:schemeClr val="bg1"/>
              </a:solidFill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</a:rPr>
              <a:t>제도</a:t>
            </a:r>
          </a:p>
        </p:txBody>
      </p:sp>
      <p:cxnSp>
        <p:nvCxnSpPr>
          <p:cNvPr id="45" name="꺾인 연결선 44"/>
          <p:cNvCxnSpPr>
            <a:cxnSpLocks/>
            <a:stCxn id="80" idx="3"/>
            <a:endCxn id="11" idx="1"/>
          </p:cNvCxnSpPr>
          <p:nvPr/>
        </p:nvCxnSpPr>
        <p:spPr>
          <a:xfrm>
            <a:off x="1314151" y="3922540"/>
            <a:ext cx="308587" cy="157165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직사각형 108"/>
          <p:cNvSpPr/>
          <p:nvPr/>
        </p:nvSpPr>
        <p:spPr>
          <a:xfrm>
            <a:off x="3067099" y="6272183"/>
            <a:ext cx="2285206" cy="23175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fontAlgn="base"/>
            <a:r>
              <a:rPr lang="ko-KR" altLang="en-US" sz="1100" dirty="0"/>
              <a:t>특허취소신청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132</a:t>
            </a:r>
            <a:r>
              <a:rPr lang="ko-KR" altLang="en-US" sz="1100" dirty="0"/>
              <a:t>의</a:t>
            </a:r>
            <a:r>
              <a:rPr lang="en-US" altLang="ko-KR" sz="1100" dirty="0"/>
              <a:t>2~132</a:t>
            </a:r>
            <a:r>
              <a:rPr lang="ko-KR" altLang="en-US" sz="1100" dirty="0"/>
              <a:t>의</a:t>
            </a:r>
            <a:r>
              <a:rPr lang="en-US" altLang="ko-KR" sz="1100" dirty="0"/>
              <a:t>15)</a:t>
            </a:r>
            <a:endParaRPr lang="ko-KR" altLang="en-US" sz="1100" dirty="0"/>
          </a:p>
        </p:txBody>
      </p:sp>
      <p:cxnSp>
        <p:nvCxnSpPr>
          <p:cNvPr id="111" name="꺾인 연결선 110"/>
          <p:cNvCxnSpPr>
            <a:cxnSpLocks/>
            <a:stCxn id="11" idx="3"/>
            <a:endCxn id="109" idx="1"/>
          </p:cNvCxnSpPr>
          <p:nvPr/>
        </p:nvCxnSpPr>
        <p:spPr>
          <a:xfrm>
            <a:off x="2553417" y="5494195"/>
            <a:ext cx="513682" cy="89386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/>
          <p:cNvSpPr/>
          <p:nvPr/>
        </p:nvSpPr>
        <p:spPr>
          <a:xfrm>
            <a:off x="4663630" y="2616103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중복심판청구금지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154⑧ </a:t>
            </a:r>
            <a:r>
              <a:rPr lang="ko-KR" altLang="en-US" sz="1100" dirty="0"/>
              <a:t>준용</a:t>
            </a:r>
            <a:r>
              <a:rPr lang="en-US" altLang="ko-KR" sz="1100" dirty="0"/>
              <a:t> </a:t>
            </a:r>
            <a:r>
              <a:rPr lang="ko-KR" altLang="en-US" sz="1100" dirty="0"/>
              <a:t>민소</a:t>
            </a:r>
            <a:r>
              <a:rPr lang="en-US" altLang="ko-KR" sz="1100" dirty="0"/>
              <a:t>259)</a:t>
            </a:r>
          </a:p>
        </p:txBody>
      </p:sp>
      <p:cxnSp>
        <p:nvCxnSpPr>
          <p:cNvPr id="71" name="꺾인 연결선 70"/>
          <p:cNvCxnSpPr>
            <a:cxnSpLocks/>
            <a:stCxn id="13" idx="3"/>
            <a:endCxn id="114" idx="1"/>
          </p:cNvCxnSpPr>
          <p:nvPr/>
        </p:nvCxnSpPr>
        <p:spPr>
          <a:xfrm>
            <a:off x="4261455" y="2324786"/>
            <a:ext cx="402175" cy="39246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8534246-C26B-4211-906E-FCD7EB006C54}"/>
              </a:ext>
            </a:extLst>
          </p:cNvPr>
          <p:cNvSpPr/>
          <p:nvPr/>
        </p:nvSpPr>
        <p:spPr>
          <a:xfrm>
            <a:off x="3067099" y="4296090"/>
            <a:ext cx="1194356" cy="2317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관련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E911655-5932-426B-881A-55F3376FB16D}"/>
              </a:ext>
            </a:extLst>
          </p:cNvPr>
          <p:cNvSpPr/>
          <p:nvPr/>
        </p:nvSpPr>
        <p:spPr>
          <a:xfrm>
            <a:off x="4663630" y="4169615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타절차와의 관계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164)</a:t>
            </a:r>
            <a:endParaRPr lang="ko-KR" altLang="en-US" sz="1100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A4E7CC56-8959-4245-B069-E648D0FEBB98}"/>
              </a:ext>
            </a:extLst>
          </p:cNvPr>
          <p:cNvSpPr/>
          <p:nvPr/>
        </p:nvSpPr>
        <p:spPr>
          <a:xfrm>
            <a:off x="4663630" y="4416579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조정위원회 회부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164</a:t>
            </a:r>
            <a:r>
              <a:rPr lang="ko-KR" altLang="en-US" sz="1100" dirty="0">
                <a:solidFill>
                  <a:schemeClr val="tx1"/>
                </a:solidFill>
              </a:rPr>
              <a:t>의</a:t>
            </a:r>
            <a:r>
              <a:rPr lang="en-US" altLang="ko-KR" sz="1100" dirty="0">
                <a:solidFill>
                  <a:schemeClr val="tx1"/>
                </a:solidFill>
              </a:rPr>
              <a:t>2)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82" name="꺾인 연결선 78">
            <a:extLst>
              <a:ext uri="{FF2B5EF4-FFF2-40B4-BE49-F238E27FC236}">
                <a16:creationId xmlns:a16="http://schemas.microsoft.com/office/drawing/2014/main" id="{C1CE6BA2-2AEF-4C2D-9F9F-35F9F52666F1}"/>
              </a:ext>
            </a:extLst>
          </p:cNvPr>
          <p:cNvCxnSpPr>
            <a:cxnSpLocks/>
            <a:stCxn id="74" idx="3"/>
            <a:endCxn id="76" idx="1"/>
          </p:cNvCxnSpPr>
          <p:nvPr/>
        </p:nvCxnSpPr>
        <p:spPr>
          <a:xfrm flipV="1">
            <a:off x="4261455" y="4270767"/>
            <a:ext cx="402175" cy="1412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 80">
            <a:extLst>
              <a:ext uri="{FF2B5EF4-FFF2-40B4-BE49-F238E27FC236}">
                <a16:creationId xmlns:a16="http://schemas.microsoft.com/office/drawing/2014/main" id="{B27D790B-532A-46AD-9B78-F6B79E7DD7E9}"/>
              </a:ext>
            </a:extLst>
          </p:cNvPr>
          <p:cNvCxnSpPr>
            <a:cxnSpLocks/>
            <a:stCxn id="74" idx="3"/>
            <a:endCxn id="78" idx="1"/>
          </p:cNvCxnSpPr>
          <p:nvPr/>
        </p:nvCxnSpPr>
        <p:spPr>
          <a:xfrm>
            <a:off x="4261455" y="4411967"/>
            <a:ext cx="402175" cy="1057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12D46862-8392-41EB-8330-D73C494F4882}"/>
              </a:ext>
            </a:extLst>
          </p:cNvPr>
          <p:cNvCxnSpPr>
            <a:cxnSpLocks/>
            <a:stCxn id="3" idx="3"/>
            <a:endCxn id="74" idx="1"/>
          </p:cNvCxnSpPr>
          <p:nvPr/>
        </p:nvCxnSpPr>
        <p:spPr>
          <a:xfrm>
            <a:off x="2553417" y="2723003"/>
            <a:ext cx="513682" cy="168896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3E818AD2-E450-4C69-93B6-F741F4EB0A9B}"/>
              </a:ext>
            </a:extLst>
          </p:cNvPr>
          <p:cNvSpPr/>
          <p:nvPr/>
        </p:nvSpPr>
        <p:spPr>
          <a:xfrm>
            <a:off x="9800979" y="3541900"/>
            <a:ext cx="2250668" cy="202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직권진행주의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158, 158</a:t>
            </a:r>
            <a:r>
              <a:rPr lang="ko-KR" altLang="en-US" sz="1100" dirty="0">
                <a:solidFill>
                  <a:schemeClr val="tx1"/>
                </a:solidFill>
              </a:rPr>
              <a:t>의</a:t>
            </a:r>
            <a:r>
              <a:rPr lang="en-US" altLang="ko-KR" sz="1100" dirty="0">
                <a:solidFill>
                  <a:schemeClr val="tx1"/>
                </a:solidFill>
              </a:rPr>
              <a:t>2, 160)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3A545FA4-B5DB-4C98-85D7-145890921977}"/>
              </a:ext>
            </a:extLst>
          </p:cNvPr>
          <p:cNvSpPr/>
          <p:nvPr/>
        </p:nvSpPr>
        <p:spPr>
          <a:xfrm>
            <a:off x="9800979" y="3828560"/>
            <a:ext cx="2250668" cy="202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직권탐지주의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157, 159)</a:t>
            </a:r>
            <a:r>
              <a:rPr lang="ko-KR" altLang="en-US" sz="1100" dirty="0"/>
              <a:t> </a:t>
            </a:r>
          </a:p>
        </p:txBody>
      </p: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4C8B1F63-EAE0-45EA-A141-06561B1B86D9}"/>
              </a:ext>
            </a:extLst>
          </p:cNvPr>
          <p:cNvCxnSpPr>
            <a:cxnSpLocks/>
            <a:stCxn id="100" idx="3"/>
            <a:endCxn id="86" idx="1"/>
          </p:cNvCxnSpPr>
          <p:nvPr/>
        </p:nvCxnSpPr>
        <p:spPr>
          <a:xfrm>
            <a:off x="9575597" y="3642272"/>
            <a:ext cx="225382" cy="81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0ADED95E-3C68-4589-855C-6AE8A8B3E7FB}"/>
              </a:ext>
            </a:extLst>
          </p:cNvPr>
          <p:cNvCxnSpPr>
            <a:cxnSpLocks/>
            <a:stCxn id="100" idx="3"/>
            <a:endCxn id="110" idx="1"/>
          </p:cNvCxnSpPr>
          <p:nvPr/>
        </p:nvCxnSpPr>
        <p:spPr>
          <a:xfrm>
            <a:off x="9575597" y="3642272"/>
            <a:ext cx="225382" cy="28747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B28DB34C-A0EA-47EE-88CA-E988607A7999}"/>
              </a:ext>
            </a:extLst>
          </p:cNvPr>
          <p:cNvSpPr/>
          <p:nvPr/>
        </p:nvSpPr>
        <p:spPr>
          <a:xfrm>
            <a:off x="4663630" y="4657705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심판비용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165, 166)</a:t>
            </a:r>
            <a:endParaRPr lang="ko-KR" altLang="en-US" sz="1100" dirty="0"/>
          </a:p>
        </p:txBody>
      </p:sp>
      <p:cxnSp>
        <p:nvCxnSpPr>
          <p:cNvPr id="112" name="꺾인 연결선 80">
            <a:extLst>
              <a:ext uri="{FF2B5EF4-FFF2-40B4-BE49-F238E27FC236}">
                <a16:creationId xmlns:a16="http://schemas.microsoft.com/office/drawing/2014/main" id="{2C9C259E-AACB-41FF-AA4B-EE689F4F9D04}"/>
              </a:ext>
            </a:extLst>
          </p:cNvPr>
          <p:cNvCxnSpPr>
            <a:cxnSpLocks/>
            <a:stCxn id="74" idx="3"/>
            <a:endCxn id="101" idx="1"/>
          </p:cNvCxnSpPr>
          <p:nvPr/>
        </p:nvCxnSpPr>
        <p:spPr>
          <a:xfrm>
            <a:off x="4261455" y="4411967"/>
            <a:ext cx="402175" cy="34689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63F24DF-9262-41E6-A7EC-2D7EC5CBADCE}"/>
              </a:ext>
            </a:extLst>
          </p:cNvPr>
          <p:cNvSpPr/>
          <p:nvPr/>
        </p:nvSpPr>
        <p:spPr>
          <a:xfrm>
            <a:off x="4663630" y="940279"/>
            <a:ext cx="2737833" cy="2023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132</a:t>
            </a:r>
            <a:r>
              <a:rPr lang="ko-KR" altLang="en-US" sz="1100" dirty="0"/>
              <a:t>의</a:t>
            </a:r>
            <a:r>
              <a:rPr lang="en-US" altLang="ko-KR" sz="1100" dirty="0"/>
              <a:t>16, 143~153</a:t>
            </a:r>
            <a:r>
              <a:rPr lang="ko-KR" altLang="en-US" sz="1100" dirty="0"/>
              <a:t>의</a:t>
            </a:r>
            <a:r>
              <a:rPr lang="en-US" altLang="ko-KR" sz="1100" dirty="0"/>
              <a:t>2)</a:t>
            </a:r>
            <a:endParaRPr lang="ko-KR" altLang="en-US" sz="1100" dirty="0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D5FC8B1B-E4E6-4470-981F-980E0800BF07}"/>
              </a:ext>
            </a:extLst>
          </p:cNvPr>
          <p:cNvSpPr/>
          <p:nvPr/>
        </p:nvSpPr>
        <p:spPr>
          <a:xfrm>
            <a:off x="7559373" y="721935"/>
            <a:ext cx="2016224" cy="202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심판원의 조직과 구성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A94C8C3-2CB2-48EE-92A8-95BE934A8A46}"/>
              </a:ext>
            </a:extLst>
          </p:cNvPr>
          <p:cNvSpPr/>
          <p:nvPr/>
        </p:nvSpPr>
        <p:spPr>
          <a:xfrm>
            <a:off x="7559373" y="1016532"/>
            <a:ext cx="2016224" cy="202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심판관의 제척</a:t>
            </a:r>
            <a:r>
              <a:rPr lang="en-US" altLang="ko-KR" sz="1100" dirty="0"/>
              <a:t>, </a:t>
            </a:r>
            <a:r>
              <a:rPr lang="ko-KR" altLang="en-US" sz="1100" dirty="0"/>
              <a:t>기피 및 회피</a:t>
            </a:r>
          </a:p>
        </p:txBody>
      </p:sp>
      <p:cxnSp>
        <p:nvCxnSpPr>
          <p:cNvPr id="92" name="꺾인 연결선 106">
            <a:extLst>
              <a:ext uri="{FF2B5EF4-FFF2-40B4-BE49-F238E27FC236}">
                <a16:creationId xmlns:a16="http://schemas.microsoft.com/office/drawing/2014/main" id="{561F52D8-6A8E-4E97-80B6-8E1CD356757F}"/>
              </a:ext>
            </a:extLst>
          </p:cNvPr>
          <p:cNvCxnSpPr>
            <a:cxnSpLocks/>
            <a:stCxn id="113" idx="3"/>
            <a:endCxn id="88" idx="1"/>
          </p:cNvCxnSpPr>
          <p:nvPr/>
        </p:nvCxnSpPr>
        <p:spPr>
          <a:xfrm flipV="1">
            <a:off x="7401463" y="823120"/>
            <a:ext cx="157910" cy="2183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107">
            <a:extLst>
              <a:ext uri="{FF2B5EF4-FFF2-40B4-BE49-F238E27FC236}">
                <a16:creationId xmlns:a16="http://schemas.microsoft.com/office/drawing/2014/main" id="{349CB056-CEAC-4F11-8A0B-11FDF5A78A5F}"/>
              </a:ext>
            </a:extLst>
          </p:cNvPr>
          <p:cNvCxnSpPr>
            <a:cxnSpLocks/>
            <a:stCxn id="113" idx="3"/>
            <a:endCxn id="90" idx="1"/>
          </p:cNvCxnSpPr>
          <p:nvPr/>
        </p:nvCxnSpPr>
        <p:spPr>
          <a:xfrm>
            <a:off x="7401463" y="1041431"/>
            <a:ext cx="157910" cy="762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4030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특허심판 </a:t>
            </a:r>
            <a:r>
              <a:rPr lang="en-US" altLang="ko-KR" dirty="0"/>
              <a:t>vs </a:t>
            </a:r>
            <a:r>
              <a:rPr lang="ko-KR" altLang="en-US" dirty="0"/>
              <a:t>민사소송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78822"/>
              </p:ext>
            </p:extLst>
          </p:nvPr>
        </p:nvGraphicFramePr>
        <p:xfrm>
          <a:off x="952501" y="2009777"/>
          <a:ext cx="10096500" cy="3714752"/>
        </p:xfrm>
        <a:graphic>
          <a:graphicData uri="http://schemas.openxmlformats.org/drawingml/2006/table">
            <a:tbl>
              <a:tblPr firstCol="1">
                <a:tableStyleId>{8799B23B-EC83-4686-B30A-512413B5E67A}</a:tableStyleId>
              </a:tblPr>
              <a:tblGrid>
                <a:gridCol w="2133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24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43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구분</a:t>
                      </a:r>
                    </a:p>
                  </a:txBody>
                  <a:tcPr marL="121919" marR="121919" marT="45709" marB="4570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민사소송</a:t>
                      </a:r>
                    </a:p>
                  </a:txBody>
                  <a:tcPr marL="121919" marR="121919" marT="45709" marB="4570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특허심판</a:t>
                      </a:r>
                    </a:p>
                  </a:txBody>
                  <a:tcPr marL="121919" marR="121919" marT="45709" marB="45709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3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관할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민사법원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특허심판원</a:t>
                      </a:r>
                    </a:p>
                  </a:txBody>
                  <a:tcPr marL="121919" marR="121919" marT="45709" marB="45709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3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직무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산업재산권 관련 침해금지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손해배상소송 등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산업재산권의 발생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변경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소멸 및 그 효력범위에 관한 분쟁</a:t>
                      </a:r>
                    </a:p>
                  </a:txBody>
                  <a:tcPr marL="121919" marR="121919" marT="45709" marB="45709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3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신분보장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신분상 </a:t>
                      </a:r>
                      <a:r>
                        <a:rPr lang="en-US" altLang="ko-KR" sz="1200" dirty="0"/>
                        <a:t>+ </a:t>
                      </a:r>
                      <a:r>
                        <a:rPr lang="ko-KR" altLang="en-US" sz="1200" dirty="0"/>
                        <a:t>직무상 독립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직무상 독립</a:t>
                      </a:r>
                    </a:p>
                  </a:txBody>
                  <a:tcPr marL="121919" marR="121919" marT="45709" marB="45709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34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심리방법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변론주의</a:t>
                      </a:r>
                      <a:r>
                        <a:rPr lang="en-US" altLang="ko-KR" sz="1200" dirty="0"/>
                        <a:t>*</a:t>
                      </a:r>
                      <a:endParaRPr lang="ko-KR" altLang="en-US" sz="1200" dirty="0"/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직권주의</a:t>
                      </a:r>
                      <a:r>
                        <a:rPr lang="en-US" altLang="ko-KR" sz="1200" dirty="0"/>
                        <a:t>**</a:t>
                      </a:r>
                      <a:endParaRPr lang="ko-KR" altLang="en-US" sz="1200" dirty="0"/>
                    </a:p>
                  </a:txBody>
                  <a:tcPr marL="121919" marR="121919" marT="45709" marB="45709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3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심리진행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구술심리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구술심리 </a:t>
                      </a:r>
                      <a:r>
                        <a:rPr lang="en-US" altLang="ko-KR" sz="1200" dirty="0"/>
                        <a:t>+ </a:t>
                      </a:r>
                      <a:r>
                        <a:rPr lang="ko-KR" altLang="en-US" sz="1200" dirty="0"/>
                        <a:t>서면심리</a:t>
                      </a:r>
                    </a:p>
                  </a:txBody>
                  <a:tcPr marL="121919" marR="121919" marT="45709" marB="45709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4344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기속력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당사자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당사자 </a:t>
                      </a:r>
                      <a:r>
                        <a:rPr lang="en-US" altLang="ko-KR" sz="1200" dirty="0"/>
                        <a:t>+ 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자</a:t>
                      </a:r>
                    </a:p>
                  </a:txBody>
                  <a:tcPr marL="121919" marR="121919" marT="45709" marB="45709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43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재판상 화해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포기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 err="1"/>
                        <a:t>인락</a:t>
                      </a:r>
                      <a:endParaRPr lang="ko-KR" altLang="en-US" sz="1200" dirty="0"/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인정</a:t>
                      </a:r>
                    </a:p>
                  </a:txBody>
                  <a:tcPr marL="121919" marR="121919" marT="45709" marB="45709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/>
                        <a:t>불인정</a:t>
                      </a:r>
                    </a:p>
                  </a:txBody>
                  <a:tcPr marL="121919" marR="121919" marT="45709" marB="45709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38478" y="5888886"/>
            <a:ext cx="10158147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" indent="-85725">
              <a:spcBef>
                <a:spcPts val="600"/>
              </a:spcBef>
              <a:defRPr/>
            </a:pP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소송자료</a:t>
            </a: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즉</a:t>
            </a: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사실과 증거의 수집 및 제출의 책임을 당사자에게 맡기고 당사자가 수집</a:t>
            </a: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제출한 소송자료만을 재판의 기초로 삼아야 한다는 원칙</a:t>
            </a:r>
            <a:endParaRPr lang="en-US" altLang="ko-KR" sz="1200" dirty="0">
              <a:solidFill>
                <a:schemeClr val="accent2">
                  <a:lumMod val="75000"/>
                </a:schemeClr>
              </a:solidFill>
              <a:latin typeface="+mn-ea"/>
              <a:ea typeface="+mn-ea"/>
            </a:endParaRPr>
          </a:p>
          <a:p>
            <a:pPr>
              <a:spcBef>
                <a:spcPts val="600"/>
              </a:spcBef>
              <a:defRPr/>
            </a:pP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** </a:t>
            </a:r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당사자가 신청하지 아니한 이유에 대해서도 직권심리</a:t>
            </a: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 &amp; </a:t>
            </a:r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직권으로 증거조사</a:t>
            </a:r>
            <a:r>
              <a:rPr lang="en-US" altLang="ko-KR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200" dirty="0">
                <a:solidFill>
                  <a:schemeClr val="accent2">
                    <a:lumMod val="75000"/>
                  </a:schemeClr>
                </a:solidFill>
                <a:latin typeface="+mn-ea"/>
                <a:ea typeface="+mn-ea"/>
              </a:rPr>
              <a:t>증거보전 가능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77875" y="150012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875" y="976902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/>
              <a:t>심판절차는 형식적으로는 특허에 관한 분쟁을 해결하기 위하여 특허심판원의 심판관합의체에 의하여 </a:t>
            </a:r>
            <a:r>
              <a:rPr lang="ko-KR" altLang="en-US" sz="1400" dirty="0" err="1"/>
              <a:t>심리ㆍ결정되는</a:t>
            </a:r>
            <a:r>
              <a:rPr lang="ko-KR" altLang="en-US" sz="1400" dirty="0"/>
              <a:t> 행정상의 쟁송절차라 할 수 있지만</a:t>
            </a:r>
            <a:r>
              <a:rPr lang="en-US" altLang="ko-KR" sz="1400" dirty="0"/>
              <a:t>, </a:t>
            </a:r>
            <a:r>
              <a:rPr lang="ko-KR" altLang="en-US" sz="1400" dirty="0"/>
              <a:t>사실상 특허법원의 전심절차로서 민사소송에 준하는 엄격한 절차를 거쳐 판단되는 </a:t>
            </a:r>
            <a:r>
              <a:rPr lang="ko-KR" altLang="en-US" sz="1400" dirty="0" err="1"/>
              <a:t>준사법적</a:t>
            </a:r>
            <a:r>
              <a:rPr lang="ko-KR" altLang="en-US" sz="1400" dirty="0"/>
              <a:t> 성질을 가진다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8" name="슬라이드 번호 개체 틀 7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432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8138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심판절차 일반</a:t>
            </a:r>
          </a:p>
        </p:txBody>
      </p:sp>
      <p:sp>
        <p:nvSpPr>
          <p:cNvPr id="4" name="모서리가 둥근 직사각형 3"/>
          <p:cNvSpPr/>
          <p:nvPr/>
        </p:nvSpPr>
        <p:spPr>
          <a:xfrm>
            <a:off x="10515600" y="1123950"/>
            <a:ext cx="12001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피청구인</a:t>
            </a:r>
          </a:p>
        </p:txBody>
      </p:sp>
      <p:cxnSp>
        <p:nvCxnSpPr>
          <p:cNvPr id="5" name="직선 연결선 4"/>
          <p:cNvCxnSpPr>
            <a:stCxn id="4" idx="2"/>
          </p:cNvCxnSpPr>
          <p:nvPr/>
        </p:nvCxnSpPr>
        <p:spPr>
          <a:xfrm>
            <a:off x="11115675" y="1447800"/>
            <a:ext cx="0" cy="50863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모서리가 둥근 직사각형 6"/>
          <p:cNvSpPr/>
          <p:nvPr/>
        </p:nvSpPr>
        <p:spPr>
          <a:xfrm>
            <a:off x="8353425" y="1123950"/>
            <a:ext cx="12001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심판원장</a:t>
            </a:r>
          </a:p>
        </p:txBody>
      </p:sp>
      <p:cxnSp>
        <p:nvCxnSpPr>
          <p:cNvPr id="8" name="직선 연결선 7"/>
          <p:cNvCxnSpPr>
            <a:stCxn id="7" idx="2"/>
          </p:cNvCxnSpPr>
          <p:nvPr/>
        </p:nvCxnSpPr>
        <p:spPr>
          <a:xfrm>
            <a:off x="8953500" y="1447800"/>
            <a:ext cx="0" cy="50863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모서리가 둥근 직사각형 8"/>
          <p:cNvSpPr/>
          <p:nvPr/>
        </p:nvSpPr>
        <p:spPr>
          <a:xfrm>
            <a:off x="6200775" y="1123950"/>
            <a:ext cx="12001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청구인</a:t>
            </a:r>
          </a:p>
        </p:txBody>
      </p:sp>
      <p:cxnSp>
        <p:nvCxnSpPr>
          <p:cNvPr id="10" name="직선 연결선 9"/>
          <p:cNvCxnSpPr>
            <a:stCxn id="9" idx="2"/>
          </p:cNvCxnSpPr>
          <p:nvPr/>
        </p:nvCxnSpPr>
        <p:spPr>
          <a:xfrm>
            <a:off x="6800850" y="1447800"/>
            <a:ext cx="0" cy="50863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모서리가 둥근 직사각형 10"/>
          <p:cNvSpPr/>
          <p:nvPr/>
        </p:nvSpPr>
        <p:spPr>
          <a:xfrm>
            <a:off x="8353425" y="1876425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방식심사</a:t>
            </a:r>
          </a:p>
        </p:txBody>
      </p:sp>
      <p:sp>
        <p:nvSpPr>
          <p:cNvPr id="12" name="모서리가 둥근 직사각형 11"/>
          <p:cNvSpPr/>
          <p:nvPr/>
        </p:nvSpPr>
        <p:spPr>
          <a:xfrm>
            <a:off x="8353425" y="5095878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본안심리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/>
          <p:cNvSpPr/>
          <p:nvPr/>
        </p:nvSpPr>
        <p:spPr>
          <a:xfrm>
            <a:off x="8353425" y="5610228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심결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4" name="직선 연결선 13"/>
          <p:cNvCxnSpPr/>
          <p:nvPr/>
        </p:nvCxnSpPr>
        <p:spPr>
          <a:xfrm>
            <a:off x="6800850" y="1738889"/>
            <a:ext cx="21526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모서리가 둥근 직사각형 14"/>
          <p:cNvSpPr/>
          <p:nvPr/>
        </p:nvSpPr>
        <p:spPr>
          <a:xfrm>
            <a:off x="7248525" y="1419225"/>
            <a:ext cx="104775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심판청구</a:t>
            </a:r>
          </a:p>
        </p:txBody>
      </p:sp>
      <p:cxnSp>
        <p:nvCxnSpPr>
          <p:cNvPr id="16" name="직선 연결선 15"/>
          <p:cNvCxnSpPr/>
          <p:nvPr/>
        </p:nvCxnSpPr>
        <p:spPr>
          <a:xfrm>
            <a:off x="8953500" y="4000500"/>
            <a:ext cx="21621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모서리가 둥근 직사각형 16"/>
          <p:cNvSpPr/>
          <p:nvPr/>
        </p:nvSpPr>
        <p:spPr>
          <a:xfrm>
            <a:off x="8810627" y="3467099"/>
            <a:ext cx="2371724" cy="485775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청구서 부본 송달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무효심판의 경우 등록권리자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에게 취지통지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8" name="직선 연결선 17"/>
          <p:cNvCxnSpPr/>
          <p:nvPr/>
        </p:nvCxnSpPr>
        <p:spPr>
          <a:xfrm>
            <a:off x="8953500" y="4333875"/>
            <a:ext cx="21621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모서리가 둥근 직사각형 18"/>
          <p:cNvSpPr/>
          <p:nvPr/>
        </p:nvSpPr>
        <p:spPr>
          <a:xfrm>
            <a:off x="9220200" y="4343400"/>
            <a:ext cx="139065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답변서 제출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6800850" y="4457700"/>
            <a:ext cx="21526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모서리가 둥근 직사각형 20"/>
          <p:cNvSpPr/>
          <p:nvPr/>
        </p:nvSpPr>
        <p:spPr>
          <a:xfrm>
            <a:off x="6800850" y="4467224"/>
            <a:ext cx="1495425" cy="523875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답변서 부본 송달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당사자 심문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314325" y="3555038"/>
            <a:ext cx="1031825" cy="9144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심판절차 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일반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</a:rPr>
              <a:t>(</a:t>
            </a:r>
            <a:r>
              <a:rPr lang="ko-KR" altLang="en-US" sz="1600" dirty="0">
                <a:solidFill>
                  <a:schemeClr val="bg1"/>
                </a:solidFill>
              </a:rPr>
              <a:t>총론</a:t>
            </a:r>
            <a:r>
              <a:rPr lang="en-US" altLang="ko-KR" sz="1600" dirty="0">
                <a:solidFill>
                  <a:schemeClr val="bg1"/>
                </a:solidFill>
              </a:rPr>
              <a:t>)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1666875" y="1559002"/>
            <a:ext cx="554782" cy="256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주체</a:t>
            </a:r>
            <a:endParaRPr lang="ko-KR" altLang="en-US" sz="1100" dirty="0"/>
          </a:p>
        </p:txBody>
      </p:sp>
      <p:sp>
        <p:nvSpPr>
          <p:cNvPr id="31" name="직사각형 30"/>
          <p:cNvSpPr/>
          <p:nvPr/>
        </p:nvSpPr>
        <p:spPr>
          <a:xfrm>
            <a:off x="1666875" y="2995508"/>
            <a:ext cx="554782" cy="256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청구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1666875" y="4173248"/>
            <a:ext cx="554782" cy="256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진행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1666875" y="5183396"/>
            <a:ext cx="554782" cy="256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종료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2533303" y="1575398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심판의 당사자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139)</a:t>
            </a:r>
            <a:endParaRPr lang="ko-KR" altLang="en-US" sz="1100" dirty="0"/>
          </a:p>
        </p:txBody>
      </p:sp>
      <p:sp>
        <p:nvSpPr>
          <p:cNvPr id="35" name="직사각형 34"/>
          <p:cNvSpPr/>
          <p:nvPr/>
        </p:nvSpPr>
        <p:spPr>
          <a:xfrm>
            <a:off x="2533303" y="1855840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심판의 참가인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155, 156)</a:t>
            </a:r>
            <a:endParaRPr lang="ko-KR" altLang="en-US" sz="1100" dirty="0"/>
          </a:p>
        </p:txBody>
      </p:sp>
      <p:sp>
        <p:nvSpPr>
          <p:cNvPr id="36" name="직사각형 35"/>
          <p:cNvSpPr/>
          <p:nvPr/>
        </p:nvSpPr>
        <p:spPr>
          <a:xfrm>
            <a:off x="2533303" y="2723762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심판의 청구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140, 140</a:t>
            </a:r>
            <a:r>
              <a:rPr lang="ko-KR" altLang="en-US" sz="1100" dirty="0"/>
              <a:t>의</a:t>
            </a:r>
            <a:r>
              <a:rPr lang="en-US" altLang="ko-KR" sz="1100" dirty="0"/>
              <a:t>2)</a:t>
            </a:r>
            <a:endParaRPr lang="ko-KR" altLang="en-US" sz="1100" dirty="0"/>
          </a:p>
        </p:txBody>
      </p:sp>
      <p:sp>
        <p:nvSpPr>
          <p:cNvPr id="37" name="직사각형 36"/>
          <p:cNvSpPr/>
          <p:nvPr/>
        </p:nvSpPr>
        <p:spPr>
          <a:xfrm>
            <a:off x="2533303" y="3009140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심판청구서의 보정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140②, 140</a:t>
            </a:r>
            <a:r>
              <a:rPr lang="ko-KR" altLang="en-US" sz="1100" dirty="0"/>
              <a:t>의</a:t>
            </a:r>
            <a:r>
              <a:rPr lang="en-US" altLang="ko-KR" sz="1100" dirty="0"/>
              <a:t>2②)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2533303" y="3904874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방식심리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141)</a:t>
            </a:r>
            <a:endParaRPr lang="ko-KR" altLang="en-US" sz="1100" dirty="0"/>
          </a:p>
        </p:txBody>
      </p:sp>
      <p:sp>
        <p:nvSpPr>
          <p:cNvPr id="39" name="직사각형 38"/>
          <p:cNvSpPr/>
          <p:nvPr/>
        </p:nvSpPr>
        <p:spPr>
          <a:xfrm>
            <a:off x="2533303" y="4186668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적법성 심리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142)</a:t>
            </a:r>
            <a:endParaRPr lang="ko-KR" altLang="en-US" sz="1100" dirty="0"/>
          </a:p>
        </p:txBody>
      </p:sp>
      <p:sp>
        <p:nvSpPr>
          <p:cNvPr id="40" name="직사각형 39"/>
          <p:cNvSpPr/>
          <p:nvPr/>
        </p:nvSpPr>
        <p:spPr>
          <a:xfrm>
            <a:off x="2533303" y="4469156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본안심리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154, 157-160)</a:t>
            </a:r>
            <a:endParaRPr lang="ko-KR" altLang="en-US" sz="1100" dirty="0"/>
          </a:p>
        </p:txBody>
      </p:sp>
      <p:sp>
        <p:nvSpPr>
          <p:cNvPr id="41" name="직사각형 40"/>
          <p:cNvSpPr/>
          <p:nvPr/>
        </p:nvSpPr>
        <p:spPr>
          <a:xfrm>
            <a:off x="2533303" y="5043572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심판청구의 취하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161)</a:t>
            </a:r>
            <a:endParaRPr lang="ko-KR" altLang="en-US" sz="1100" dirty="0"/>
          </a:p>
        </p:txBody>
      </p:sp>
      <p:sp>
        <p:nvSpPr>
          <p:cNvPr id="42" name="직사각형 41"/>
          <p:cNvSpPr/>
          <p:nvPr/>
        </p:nvSpPr>
        <p:spPr>
          <a:xfrm>
            <a:off x="2533303" y="5325366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심결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162, 163)</a:t>
            </a:r>
            <a:endParaRPr lang="ko-KR" altLang="en-US" sz="1100" dirty="0"/>
          </a:p>
        </p:txBody>
      </p:sp>
      <p:cxnSp>
        <p:nvCxnSpPr>
          <p:cNvPr id="43" name="꺾인 연결선 42"/>
          <p:cNvCxnSpPr>
            <a:cxnSpLocks/>
            <a:stCxn id="29" idx="3"/>
            <a:endCxn id="30" idx="1"/>
          </p:cNvCxnSpPr>
          <p:nvPr/>
        </p:nvCxnSpPr>
        <p:spPr>
          <a:xfrm flipV="1">
            <a:off x="1346150" y="1687044"/>
            <a:ext cx="320725" cy="232519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꺾인 연결선 43"/>
          <p:cNvCxnSpPr>
            <a:cxnSpLocks/>
            <a:stCxn id="29" idx="3"/>
            <a:endCxn id="33" idx="1"/>
          </p:cNvCxnSpPr>
          <p:nvPr/>
        </p:nvCxnSpPr>
        <p:spPr>
          <a:xfrm>
            <a:off x="1346150" y="4012238"/>
            <a:ext cx="320725" cy="12992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cxnSpLocks/>
            <a:stCxn id="29" idx="3"/>
            <a:endCxn id="31" idx="1"/>
          </p:cNvCxnSpPr>
          <p:nvPr/>
        </p:nvCxnSpPr>
        <p:spPr>
          <a:xfrm flipV="1">
            <a:off x="1346150" y="3123550"/>
            <a:ext cx="320725" cy="88868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>
            <a:cxnSpLocks/>
            <a:stCxn id="29" idx="3"/>
            <a:endCxn id="32" idx="1"/>
          </p:cNvCxnSpPr>
          <p:nvPr/>
        </p:nvCxnSpPr>
        <p:spPr>
          <a:xfrm>
            <a:off x="1346150" y="4012238"/>
            <a:ext cx="320725" cy="2890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꺾인 연결선 46"/>
          <p:cNvCxnSpPr>
            <a:stCxn id="30" idx="3"/>
            <a:endCxn id="66" idx="1"/>
          </p:cNvCxnSpPr>
          <p:nvPr/>
        </p:nvCxnSpPr>
        <p:spPr>
          <a:xfrm flipV="1">
            <a:off x="2221657" y="1401827"/>
            <a:ext cx="311646" cy="28521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30" idx="3"/>
            <a:endCxn id="35" idx="1"/>
          </p:cNvCxnSpPr>
          <p:nvPr/>
        </p:nvCxnSpPr>
        <p:spPr>
          <a:xfrm>
            <a:off x="2221657" y="1687044"/>
            <a:ext cx="311646" cy="28060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30" idx="3"/>
            <a:endCxn id="34" idx="1"/>
          </p:cNvCxnSpPr>
          <p:nvPr/>
        </p:nvCxnSpPr>
        <p:spPr>
          <a:xfrm>
            <a:off x="2221657" y="1687044"/>
            <a:ext cx="311646" cy="16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9"/>
          <p:cNvCxnSpPr>
            <a:stCxn id="31" idx="3"/>
            <a:endCxn id="36" idx="1"/>
          </p:cNvCxnSpPr>
          <p:nvPr/>
        </p:nvCxnSpPr>
        <p:spPr>
          <a:xfrm flipV="1">
            <a:off x="2221657" y="2835569"/>
            <a:ext cx="311646" cy="28798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 50"/>
          <p:cNvCxnSpPr>
            <a:stCxn id="31" idx="3"/>
            <a:endCxn id="37" idx="1"/>
          </p:cNvCxnSpPr>
          <p:nvPr/>
        </p:nvCxnSpPr>
        <p:spPr>
          <a:xfrm flipV="1">
            <a:off x="2221657" y="3120947"/>
            <a:ext cx="311646" cy="260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51"/>
          <p:cNvCxnSpPr>
            <a:stCxn id="32" idx="3"/>
            <a:endCxn id="38" idx="1"/>
          </p:cNvCxnSpPr>
          <p:nvPr/>
        </p:nvCxnSpPr>
        <p:spPr>
          <a:xfrm flipV="1">
            <a:off x="2221657" y="4016681"/>
            <a:ext cx="311646" cy="28460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 52"/>
          <p:cNvCxnSpPr>
            <a:stCxn id="32" idx="3"/>
            <a:endCxn id="40" idx="1"/>
          </p:cNvCxnSpPr>
          <p:nvPr/>
        </p:nvCxnSpPr>
        <p:spPr>
          <a:xfrm>
            <a:off x="2221657" y="4301290"/>
            <a:ext cx="311646" cy="27967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32" idx="3"/>
            <a:endCxn id="39" idx="1"/>
          </p:cNvCxnSpPr>
          <p:nvPr/>
        </p:nvCxnSpPr>
        <p:spPr>
          <a:xfrm flipV="1">
            <a:off x="2221657" y="4298475"/>
            <a:ext cx="311646" cy="281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54"/>
          <p:cNvCxnSpPr>
            <a:stCxn id="33" idx="3"/>
            <a:endCxn id="41" idx="1"/>
          </p:cNvCxnSpPr>
          <p:nvPr/>
        </p:nvCxnSpPr>
        <p:spPr>
          <a:xfrm flipV="1">
            <a:off x="2221657" y="5155379"/>
            <a:ext cx="311646" cy="15605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55"/>
          <p:cNvCxnSpPr>
            <a:stCxn id="33" idx="3"/>
            <a:endCxn id="42" idx="1"/>
          </p:cNvCxnSpPr>
          <p:nvPr/>
        </p:nvCxnSpPr>
        <p:spPr>
          <a:xfrm>
            <a:off x="2221657" y="5311438"/>
            <a:ext cx="311646" cy="1257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/>
          <p:cNvSpPr/>
          <p:nvPr/>
        </p:nvSpPr>
        <p:spPr>
          <a:xfrm>
            <a:off x="2533303" y="3324605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중복심판청구금지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154⑧ </a:t>
            </a:r>
            <a:r>
              <a:rPr lang="ko-KR" altLang="en-US" sz="1100" dirty="0"/>
              <a:t>준용</a:t>
            </a:r>
            <a:r>
              <a:rPr lang="en-US" altLang="ko-KR" sz="1100" dirty="0"/>
              <a:t> </a:t>
            </a:r>
            <a:r>
              <a:rPr lang="ko-KR" altLang="en-US" sz="1100" dirty="0"/>
              <a:t>민소</a:t>
            </a:r>
            <a:r>
              <a:rPr lang="en-US" altLang="ko-KR" sz="1100" dirty="0"/>
              <a:t>259)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2533303" y="1290020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심판원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132</a:t>
            </a:r>
            <a:r>
              <a:rPr lang="ko-KR" altLang="en-US" sz="1100" dirty="0"/>
              <a:t>의</a:t>
            </a:r>
            <a:r>
              <a:rPr lang="en-US" altLang="ko-KR" sz="1100" dirty="0"/>
              <a:t>16, 143~153</a:t>
            </a:r>
            <a:r>
              <a:rPr lang="ko-KR" altLang="en-US" sz="1100" dirty="0"/>
              <a:t>의</a:t>
            </a:r>
            <a:r>
              <a:rPr lang="en-US" altLang="ko-KR" sz="1100" dirty="0"/>
              <a:t>2)</a:t>
            </a:r>
            <a:endParaRPr lang="ko-KR" altLang="en-US" sz="1100" dirty="0"/>
          </a:p>
        </p:txBody>
      </p:sp>
      <p:sp>
        <p:nvSpPr>
          <p:cNvPr id="90" name="모서리가 둥근 직사각형 89"/>
          <p:cNvSpPr/>
          <p:nvPr/>
        </p:nvSpPr>
        <p:spPr>
          <a:xfrm>
            <a:off x="8353425" y="2461386"/>
            <a:ext cx="1200150" cy="423639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심판관합의체</a:t>
            </a:r>
            <a:endParaRPr lang="en-US" altLang="ko-KR" sz="12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심판장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8810626" y="2165182"/>
            <a:ext cx="68580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지정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5" name="모서리가 둥근 직사각형 94"/>
          <p:cNvSpPr/>
          <p:nvPr/>
        </p:nvSpPr>
        <p:spPr>
          <a:xfrm>
            <a:off x="8353425" y="3059737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방식심리</a:t>
            </a:r>
          </a:p>
        </p:txBody>
      </p:sp>
      <p:cxnSp>
        <p:nvCxnSpPr>
          <p:cNvPr id="102" name="직선 연결선 101"/>
          <p:cNvCxnSpPr/>
          <p:nvPr/>
        </p:nvCxnSpPr>
        <p:spPr>
          <a:xfrm>
            <a:off x="8953500" y="6305553"/>
            <a:ext cx="21621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연결선 102"/>
          <p:cNvCxnSpPr/>
          <p:nvPr/>
        </p:nvCxnSpPr>
        <p:spPr>
          <a:xfrm>
            <a:off x="6800850" y="6296028"/>
            <a:ext cx="21526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모서리가 둥근 직사각형 23"/>
          <p:cNvSpPr/>
          <p:nvPr/>
        </p:nvSpPr>
        <p:spPr>
          <a:xfrm>
            <a:off x="8353425" y="6143628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등본송달</a:t>
            </a:r>
          </a:p>
        </p:txBody>
      </p:sp>
      <p:sp>
        <p:nvSpPr>
          <p:cNvPr id="104" name="모서리가 둥근 직사각형 103"/>
          <p:cNvSpPr/>
          <p:nvPr/>
        </p:nvSpPr>
        <p:spPr>
          <a:xfrm>
            <a:off x="7772400" y="3633730"/>
            <a:ext cx="838200" cy="53822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적법성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심리</a:t>
            </a:r>
          </a:p>
        </p:txBody>
      </p:sp>
      <p:cxnSp>
        <p:nvCxnSpPr>
          <p:cNvPr id="106" name="꺾인 연결선 105"/>
          <p:cNvCxnSpPr>
            <a:stCxn id="95" idx="1"/>
            <a:endCxn id="104" idx="0"/>
          </p:cNvCxnSpPr>
          <p:nvPr/>
        </p:nvCxnSpPr>
        <p:spPr>
          <a:xfrm rot="10800000" flipV="1">
            <a:off x="8191501" y="3221662"/>
            <a:ext cx="161925" cy="41206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꺾인 연결선 107"/>
          <p:cNvCxnSpPr>
            <a:stCxn id="104" idx="2"/>
            <a:endCxn id="12" idx="1"/>
          </p:cNvCxnSpPr>
          <p:nvPr/>
        </p:nvCxnSpPr>
        <p:spPr>
          <a:xfrm rot="16200000" flipH="1">
            <a:off x="7729536" y="4633913"/>
            <a:ext cx="1085853" cy="16192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모서리가 둥근 직사각형 109"/>
          <p:cNvSpPr/>
          <p:nvPr/>
        </p:nvSpPr>
        <p:spPr>
          <a:xfrm>
            <a:off x="6200775" y="2031037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</a:p>
        </p:txBody>
      </p:sp>
      <p:sp>
        <p:nvSpPr>
          <p:cNvPr id="111" name="모서리가 둥근 직사각형 110"/>
          <p:cNvSpPr/>
          <p:nvPr/>
        </p:nvSpPr>
        <p:spPr>
          <a:xfrm>
            <a:off x="6200775" y="2670937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취하</a:t>
            </a:r>
          </a:p>
        </p:txBody>
      </p:sp>
      <p:cxnSp>
        <p:nvCxnSpPr>
          <p:cNvPr id="112" name="직선 연결선 111"/>
          <p:cNvCxnSpPr>
            <a:cxnSpLocks/>
          </p:cNvCxnSpPr>
          <p:nvPr/>
        </p:nvCxnSpPr>
        <p:spPr>
          <a:xfrm flipV="1">
            <a:off x="5650441" y="1285876"/>
            <a:ext cx="0" cy="508824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433</a:t>
            </a:r>
            <a:endParaRPr lang="ko-KR" altLang="en-US" dirty="0"/>
          </a:p>
        </p:txBody>
      </p:sp>
      <p:cxnSp>
        <p:nvCxnSpPr>
          <p:cNvPr id="64" name="꺾인 연결선 63"/>
          <p:cNvCxnSpPr>
            <a:stCxn id="31" idx="3"/>
            <a:endCxn id="65" idx="1"/>
          </p:cNvCxnSpPr>
          <p:nvPr/>
        </p:nvCxnSpPr>
        <p:spPr>
          <a:xfrm>
            <a:off x="2221657" y="3123550"/>
            <a:ext cx="311646" cy="31286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C62D0864-260F-4C01-8EC9-CF447B07AD85}"/>
              </a:ext>
            </a:extLst>
          </p:cNvPr>
          <p:cNvSpPr/>
          <p:nvPr/>
        </p:nvSpPr>
        <p:spPr>
          <a:xfrm>
            <a:off x="1666875" y="6120345"/>
            <a:ext cx="554782" cy="2560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관련</a:t>
            </a: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74F9624-29FA-4F84-95C3-67334599717B}"/>
              </a:ext>
            </a:extLst>
          </p:cNvPr>
          <p:cNvSpPr/>
          <p:nvPr/>
        </p:nvSpPr>
        <p:spPr>
          <a:xfrm>
            <a:off x="2533303" y="5851128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타절차와의 관계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164)</a:t>
            </a:r>
            <a:endParaRPr lang="ko-KR" altLang="en-US" sz="1100" dirty="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681944BF-01AB-473C-B749-69A17267367D}"/>
              </a:ext>
            </a:extLst>
          </p:cNvPr>
          <p:cNvSpPr/>
          <p:nvPr/>
        </p:nvSpPr>
        <p:spPr>
          <a:xfrm>
            <a:off x="2533303" y="6125129"/>
            <a:ext cx="2568674" cy="25728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조정위원회 회부</a:t>
            </a:r>
            <a:r>
              <a:rPr lang="en-US" altLang="ko-KR" sz="1100" dirty="0">
                <a:solidFill>
                  <a:schemeClr val="tx1"/>
                </a:solidFill>
              </a:rPr>
              <a:t>(</a:t>
            </a:r>
            <a:r>
              <a:rPr lang="ko-KR" altLang="en-US" sz="1100" dirty="0">
                <a:solidFill>
                  <a:schemeClr val="tx1"/>
                </a:solidFill>
              </a:rPr>
              <a:t>法 </a:t>
            </a:r>
            <a:r>
              <a:rPr lang="en-US" altLang="ko-KR" sz="1100" dirty="0">
                <a:solidFill>
                  <a:schemeClr val="tx1"/>
                </a:solidFill>
              </a:rPr>
              <a:t>164</a:t>
            </a:r>
            <a:r>
              <a:rPr lang="ko-KR" altLang="en-US" sz="1100" dirty="0">
                <a:solidFill>
                  <a:schemeClr val="tx1"/>
                </a:solidFill>
              </a:rPr>
              <a:t>의</a:t>
            </a:r>
            <a:r>
              <a:rPr lang="en-US" altLang="ko-KR" sz="1100" dirty="0">
                <a:solidFill>
                  <a:schemeClr val="tx1"/>
                </a:solidFill>
              </a:rPr>
              <a:t>2)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70" name="꺾인 연결선 54">
            <a:extLst>
              <a:ext uri="{FF2B5EF4-FFF2-40B4-BE49-F238E27FC236}">
                <a16:creationId xmlns:a16="http://schemas.microsoft.com/office/drawing/2014/main" id="{E88353C7-90C3-4B31-9D09-55D1BD563C5C}"/>
              </a:ext>
            </a:extLst>
          </p:cNvPr>
          <p:cNvCxnSpPr>
            <a:stCxn id="67" idx="3"/>
            <a:endCxn id="68" idx="1"/>
          </p:cNvCxnSpPr>
          <p:nvPr/>
        </p:nvCxnSpPr>
        <p:spPr>
          <a:xfrm flipV="1">
            <a:off x="2221657" y="5962935"/>
            <a:ext cx="311646" cy="285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55">
            <a:extLst>
              <a:ext uri="{FF2B5EF4-FFF2-40B4-BE49-F238E27FC236}">
                <a16:creationId xmlns:a16="http://schemas.microsoft.com/office/drawing/2014/main" id="{A1E4ED58-5E42-4BC7-90FD-E7165A70A955}"/>
              </a:ext>
            </a:extLst>
          </p:cNvPr>
          <p:cNvCxnSpPr>
            <a:cxnSpLocks/>
            <a:stCxn id="67" idx="3"/>
            <a:endCxn id="69" idx="1"/>
          </p:cNvCxnSpPr>
          <p:nvPr/>
        </p:nvCxnSpPr>
        <p:spPr>
          <a:xfrm>
            <a:off x="2221657" y="6248387"/>
            <a:ext cx="311646" cy="538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6CCFF1FD-147D-40EB-8FFF-0888239AFA87}"/>
              </a:ext>
            </a:extLst>
          </p:cNvPr>
          <p:cNvCxnSpPr>
            <a:stCxn id="29" idx="3"/>
            <a:endCxn id="67" idx="1"/>
          </p:cNvCxnSpPr>
          <p:nvPr/>
        </p:nvCxnSpPr>
        <p:spPr>
          <a:xfrm>
            <a:off x="1346150" y="4012238"/>
            <a:ext cx="320725" cy="2236149"/>
          </a:xfrm>
          <a:prstGeom prst="bentConnector3">
            <a:avLst/>
          </a:prstGeom>
          <a:ln w="12700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8726C85C-EFBB-45F7-995D-080DC358AA16}"/>
              </a:ext>
            </a:extLst>
          </p:cNvPr>
          <p:cNvCxnSpPr>
            <a:cxnSpLocks/>
          </p:cNvCxnSpPr>
          <p:nvPr/>
        </p:nvCxnSpPr>
        <p:spPr>
          <a:xfrm flipH="1">
            <a:off x="8953500" y="4833936"/>
            <a:ext cx="21621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모서리가 둥근 직사각형 20">
            <a:extLst>
              <a:ext uri="{FF2B5EF4-FFF2-40B4-BE49-F238E27FC236}">
                <a16:creationId xmlns:a16="http://schemas.microsoft.com/office/drawing/2014/main" id="{B2432F6C-D417-47D7-8F90-B83493261492}"/>
              </a:ext>
            </a:extLst>
          </p:cNvPr>
          <p:cNvSpPr/>
          <p:nvPr/>
        </p:nvSpPr>
        <p:spPr>
          <a:xfrm>
            <a:off x="9448801" y="4738683"/>
            <a:ext cx="1495425" cy="523875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당사자 심문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3EBBC62-002A-4DB9-8D63-9937BDCC84CA}"/>
              </a:ext>
            </a:extLst>
          </p:cNvPr>
          <p:cNvSpPr/>
          <p:nvPr/>
        </p:nvSpPr>
        <p:spPr>
          <a:xfrm>
            <a:off x="2533304" y="6431968"/>
            <a:ext cx="2568674" cy="20337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심판비용</a:t>
            </a:r>
            <a:r>
              <a:rPr lang="en-US" altLang="ko-KR" sz="1100" dirty="0"/>
              <a:t>(</a:t>
            </a:r>
            <a:r>
              <a:rPr lang="ko-KR" altLang="en-US" sz="1100" dirty="0"/>
              <a:t>法 </a:t>
            </a:r>
            <a:r>
              <a:rPr lang="en-US" altLang="ko-KR" sz="1100" dirty="0"/>
              <a:t>165, 166)</a:t>
            </a:r>
            <a:endParaRPr lang="ko-KR" altLang="en-US" sz="1100" dirty="0">
              <a:solidFill>
                <a:srgbClr val="FF0000"/>
              </a:solidFill>
            </a:endParaRPr>
          </a:p>
        </p:txBody>
      </p:sp>
      <p:cxnSp>
        <p:nvCxnSpPr>
          <p:cNvPr id="75" name="꺾인 연결선 55">
            <a:extLst>
              <a:ext uri="{FF2B5EF4-FFF2-40B4-BE49-F238E27FC236}">
                <a16:creationId xmlns:a16="http://schemas.microsoft.com/office/drawing/2014/main" id="{2AE81EA6-CDC7-428D-8533-85EEA17C099A}"/>
              </a:ext>
            </a:extLst>
          </p:cNvPr>
          <p:cNvCxnSpPr>
            <a:cxnSpLocks/>
            <a:stCxn id="67" idx="3"/>
            <a:endCxn id="73" idx="1"/>
          </p:cNvCxnSpPr>
          <p:nvPr/>
        </p:nvCxnSpPr>
        <p:spPr>
          <a:xfrm>
            <a:off x="2221657" y="6248387"/>
            <a:ext cx="311647" cy="28526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FB63ECBC-A087-4B9E-8A7E-3B55C00CFCF7}"/>
              </a:ext>
            </a:extLst>
          </p:cNvPr>
          <p:cNvSpPr/>
          <p:nvPr/>
        </p:nvSpPr>
        <p:spPr>
          <a:xfrm>
            <a:off x="2533304" y="2126544"/>
            <a:ext cx="2566804" cy="32129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국선대리인</a:t>
            </a:r>
            <a:r>
              <a:rPr lang="en-US" altLang="ko-KR" sz="1100" dirty="0">
                <a:solidFill>
                  <a:schemeClr val="tx1"/>
                </a:solidFill>
              </a:rPr>
              <a:t>, </a:t>
            </a:r>
            <a:r>
              <a:rPr lang="ko-KR" altLang="en-US" sz="1100" dirty="0">
                <a:solidFill>
                  <a:schemeClr val="tx1"/>
                </a:solidFill>
              </a:rPr>
              <a:t>전문심리위원 및 참고인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法 </a:t>
            </a:r>
            <a:r>
              <a:rPr lang="en-US" altLang="ko-KR" sz="900" dirty="0">
                <a:solidFill>
                  <a:schemeClr val="tx1"/>
                </a:solidFill>
              </a:rPr>
              <a:t>139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3)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80" name="꺾인 연결선 48">
            <a:extLst>
              <a:ext uri="{FF2B5EF4-FFF2-40B4-BE49-F238E27FC236}">
                <a16:creationId xmlns:a16="http://schemas.microsoft.com/office/drawing/2014/main" id="{643411E8-4B4E-45FC-B6FB-DC47D6682C4B}"/>
              </a:ext>
            </a:extLst>
          </p:cNvPr>
          <p:cNvCxnSpPr>
            <a:cxnSpLocks/>
            <a:stCxn id="30" idx="3"/>
            <a:endCxn id="79" idx="1"/>
          </p:cNvCxnSpPr>
          <p:nvPr/>
        </p:nvCxnSpPr>
        <p:spPr>
          <a:xfrm>
            <a:off x="2221657" y="1687044"/>
            <a:ext cx="311647" cy="600148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26F7FCC-7763-C900-FD3D-0798AFE78BD4}"/>
              </a:ext>
            </a:extLst>
          </p:cNvPr>
          <p:cNvSpPr txBox="1"/>
          <p:nvPr/>
        </p:nvSpPr>
        <p:spPr>
          <a:xfrm>
            <a:off x="7221506" y="1714987"/>
            <a:ext cx="13260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140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140</a:t>
            </a:r>
            <a:r>
              <a:rPr lang="ko-KR" altLang="en-US" sz="1000" dirty="0">
                <a:solidFill>
                  <a:srgbClr val="FF0000"/>
                </a:solidFill>
              </a:rPr>
              <a:t>조의</a:t>
            </a:r>
            <a:r>
              <a:rPr lang="en-US" altLang="ko-KR" sz="1000" dirty="0">
                <a:solidFill>
                  <a:srgbClr val="FF0000"/>
                </a:solidFill>
              </a:rPr>
              <a:t>2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61E84B-AB49-69F1-21DA-28E46EAB9121}"/>
              </a:ext>
            </a:extLst>
          </p:cNvPr>
          <p:cNvSpPr txBox="1"/>
          <p:nvPr/>
        </p:nvSpPr>
        <p:spPr>
          <a:xfrm>
            <a:off x="9333487" y="1920076"/>
            <a:ext cx="149592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16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시행규칙 제</a:t>
            </a:r>
            <a:r>
              <a:rPr lang="en-US" altLang="ko-KR" sz="1000" dirty="0">
                <a:solidFill>
                  <a:srgbClr val="FF0000"/>
                </a:solidFill>
              </a:rPr>
              <a:t>11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27E149-ECC7-CB83-13B2-9420395294EB}"/>
              </a:ext>
            </a:extLst>
          </p:cNvPr>
          <p:cNvSpPr txBox="1"/>
          <p:nvPr/>
        </p:nvSpPr>
        <p:spPr>
          <a:xfrm>
            <a:off x="6049747" y="2327513"/>
            <a:ext cx="19287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140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2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140</a:t>
            </a:r>
            <a:r>
              <a:rPr lang="ko-KR" altLang="en-US" sz="1000" dirty="0">
                <a:solidFill>
                  <a:srgbClr val="FF0000"/>
                </a:solidFill>
              </a:rPr>
              <a:t>조의</a:t>
            </a:r>
            <a:r>
              <a:rPr lang="en-US" altLang="ko-KR" sz="1000" dirty="0">
                <a:solidFill>
                  <a:srgbClr val="FF0000"/>
                </a:solidFill>
              </a:rPr>
              <a:t>2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2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3ED517-99DE-B1C2-F46A-B12ACA4573BA}"/>
              </a:ext>
            </a:extLst>
          </p:cNvPr>
          <p:cNvSpPr txBox="1"/>
          <p:nvPr/>
        </p:nvSpPr>
        <p:spPr>
          <a:xfrm>
            <a:off x="6507095" y="2997833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161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477F91-A115-FD8B-B41A-DA80CEC462A7}"/>
              </a:ext>
            </a:extLst>
          </p:cNvPr>
          <p:cNvSpPr txBox="1"/>
          <p:nvPr/>
        </p:nvSpPr>
        <p:spPr>
          <a:xfrm>
            <a:off x="9291086" y="3100692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141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CB87668-DBFA-BB48-D969-47801A7D7BA1}"/>
              </a:ext>
            </a:extLst>
          </p:cNvPr>
          <p:cNvSpPr txBox="1"/>
          <p:nvPr/>
        </p:nvSpPr>
        <p:spPr>
          <a:xfrm>
            <a:off x="7315720" y="3828010"/>
            <a:ext cx="6270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142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5B97612-AA27-6531-EBBE-5731781AF9AC}"/>
              </a:ext>
            </a:extLst>
          </p:cNvPr>
          <p:cNvSpPr txBox="1"/>
          <p:nvPr/>
        </p:nvSpPr>
        <p:spPr>
          <a:xfrm>
            <a:off x="10515861" y="3320176"/>
            <a:ext cx="9284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147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59967FF-99BC-1C8A-70D5-5B4D1435D94E}"/>
              </a:ext>
            </a:extLst>
          </p:cNvPr>
          <p:cNvSpPr txBox="1"/>
          <p:nvPr/>
        </p:nvSpPr>
        <p:spPr>
          <a:xfrm>
            <a:off x="10344149" y="4397437"/>
            <a:ext cx="9284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147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286DB46-8092-3EAF-1942-A62E2F98145A}"/>
              </a:ext>
            </a:extLst>
          </p:cNvPr>
          <p:cNvSpPr txBox="1"/>
          <p:nvPr/>
        </p:nvSpPr>
        <p:spPr>
          <a:xfrm>
            <a:off x="6153530" y="4494195"/>
            <a:ext cx="9284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147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2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56469E4-6F56-89C9-D08A-ECF0B4D20175}"/>
              </a:ext>
            </a:extLst>
          </p:cNvPr>
          <p:cNvSpPr txBox="1"/>
          <p:nvPr/>
        </p:nvSpPr>
        <p:spPr>
          <a:xfrm>
            <a:off x="7084332" y="4903017"/>
            <a:ext cx="9284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147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3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79B7241-B403-CD6F-E198-5527253CEDDB}"/>
              </a:ext>
            </a:extLst>
          </p:cNvPr>
          <p:cNvSpPr txBox="1"/>
          <p:nvPr/>
        </p:nvSpPr>
        <p:spPr>
          <a:xfrm>
            <a:off x="9744074" y="5114889"/>
            <a:ext cx="9284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147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3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A3037F-F7BD-7D71-ACF2-204361A573C1}"/>
              </a:ext>
            </a:extLst>
          </p:cNvPr>
          <p:cNvSpPr txBox="1"/>
          <p:nvPr/>
        </p:nvSpPr>
        <p:spPr>
          <a:xfrm>
            <a:off x="8289759" y="5377645"/>
            <a:ext cx="162576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154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157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r>
              <a:rPr lang="en-US" altLang="ko-KR" sz="1000" dirty="0">
                <a:solidFill>
                  <a:srgbClr val="FF0000"/>
                </a:solidFill>
              </a:rPr>
              <a:t>-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160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8A83439-D3B4-E3AC-0474-392B2DB75982}"/>
              </a:ext>
            </a:extLst>
          </p:cNvPr>
          <p:cNvSpPr txBox="1"/>
          <p:nvPr/>
        </p:nvSpPr>
        <p:spPr>
          <a:xfrm>
            <a:off x="8520342" y="5900735"/>
            <a:ext cx="11400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162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163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A177FFF-2002-EED2-AF4B-9D00CB290548}"/>
              </a:ext>
            </a:extLst>
          </p:cNvPr>
          <p:cNvSpPr txBox="1"/>
          <p:nvPr/>
        </p:nvSpPr>
        <p:spPr>
          <a:xfrm>
            <a:off x="8610600" y="6492654"/>
            <a:ext cx="9284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162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6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5E55BE4-1FB9-A8AE-DF62-361FD500903C}"/>
              </a:ext>
            </a:extLst>
          </p:cNvPr>
          <p:cNvSpPr txBox="1"/>
          <p:nvPr/>
        </p:nvSpPr>
        <p:spPr>
          <a:xfrm>
            <a:off x="10570712" y="3760690"/>
            <a:ext cx="9284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133</a:t>
            </a:r>
            <a:r>
              <a:rPr lang="ko-KR" altLang="en-US" sz="1000" dirty="0">
                <a:solidFill>
                  <a:srgbClr val="FF0000"/>
                </a:solidFill>
              </a:rPr>
              <a:t>조제</a:t>
            </a:r>
            <a:r>
              <a:rPr lang="en-US" altLang="ko-KR" sz="1000" dirty="0">
                <a:solidFill>
                  <a:srgbClr val="FF0000"/>
                </a:solidFill>
              </a:rPr>
              <a:t>4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</a:p>
        </p:txBody>
      </p:sp>
    </p:spTree>
    <p:extLst>
      <p:ext uri="{BB962C8B-B14F-4D97-AF65-F5344CB8AC3E}">
        <p14:creationId xmlns:p14="http://schemas.microsoft.com/office/powerpoint/2010/main" val="1985222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6" name="직선 연결선 115"/>
          <p:cNvCxnSpPr/>
          <p:nvPr/>
        </p:nvCxnSpPr>
        <p:spPr>
          <a:xfrm>
            <a:off x="6845109" y="3522559"/>
            <a:ext cx="0" cy="154730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/>
          <p:cNvCxnSpPr/>
          <p:nvPr/>
        </p:nvCxnSpPr>
        <p:spPr>
          <a:xfrm>
            <a:off x="8123809" y="3522559"/>
            <a:ext cx="0" cy="154730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양쪽 모서리가 둥근 사각형 109"/>
          <p:cNvSpPr/>
          <p:nvPr/>
        </p:nvSpPr>
        <p:spPr>
          <a:xfrm>
            <a:off x="9372772" y="2974645"/>
            <a:ext cx="1284802" cy="552566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4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148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149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심판관의 제척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95260" y="1123104"/>
            <a:ext cx="1481140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 err="1">
                <a:solidFill>
                  <a:schemeClr val="bg1"/>
                </a:solidFill>
                <a:latin typeface="+mj-ea"/>
                <a:ea typeface="+mj-ea"/>
              </a:rPr>
              <a:t>전심관여</a:t>
            </a:r>
            <a:endParaRPr lang="ko-KR" altLang="en-US" sz="16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319578" y="2889143"/>
            <a:ext cx="547740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4"/>
          <p:cNvSpPr>
            <a:spLocks noChangeArrowheads="1"/>
          </p:cNvSpPr>
          <p:nvPr/>
        </p:nvSpPr>
        <p:spPr bwMode="auto">
          <a:xfrm flipV="1">
            <a:off x="661217" y="281261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3836" y="3365179"/>
            <a:ext cx="101181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/>
              <a:t>거절결정불복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심판청구</a:t>
            </a:r>
          </a:p>
        </p:txBody>
      </p:sp>
      <p:cxnSp>
        <p:nvCxnSpPr>
          <p:cNvPr id="13" name="직선 연결선 12"/>
          <p:cNvCxnSpPr>
            <a:stCxn id="11" idx="0"/>
            <a:endCxn id="10" idx="0"/>
          </p:cNvCxnSpPr>
          <p:nvPr/>
        </p:nvCxnSpPr>
        <p:spPr>
          <a:xfrm flipV="1">
            <a:off x="729744" y="2965674"/>
            <a:ext cx="2911" cy="3995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>
            <a:spLocks noChangeArrowheads="1"/>
          </p:cNvSpPr>
          <p:nvPr/>
        </p:nvSpPr>
        <p:spPr bwMode="auto">
          <a:xfrm flipV="1">
            <a:off x="1177239" y="2812612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6451" y="2336577"/>
            <a:ext cx="1058630" cy="2463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합의체 심리</a:t>
            </a:r>
          </a:p>
        </p:txBody>
      </p:sp>
      <p:cxnSp>
        <p:nvCxnSpPr>
          <p:cNvPr id="17" name="직선 연결선 16"/>
          <p:cNvCxnSpPr>
            <a:stCxn id="16" idx="2"/>
            <a:endCxn id="15" idx="4"/>
          </p:cNvCxnSpPr>
          <p:nvPr/>
        </p:nvCxnSpPr>
        <p:spPr>
          <a:xfrm>
            <a:off x="1245766" y="2582882"/>
            <a:ext cx="2911" cy="22973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6451" y="1835683"/>
            <a:ext cx="1058630" cy="454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, </a:t>
            </a:r>
            <a:r>
              <a:rPr lang="ko-KR" altLang="en-US" sz="1200" dirty="0"/>
              <a:t>丙</a:t>
            </a: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 flipV="1">
            <a:off x="2336875" y="2812612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876087" y="2336577"/>
            <a:ext cx="1058630" cy="2463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인용심결</a:t>
            </a:r>
            <a:endParaRPr lang="ko-KR" altLang="en-US" sz="1200" dirty="0"/>
          </a:p>
        </p:txBody>
      </p:sp>
      <p:cxnSp>
        <p:nvCxnSpPr>
          <p:cNvPr id="30" name="직선 연결선 29"/>
          <p:cNvCxnSpPr>
            <a:stCxn id="29" idx="2"/>
            <a:endCxn id="28" idx="4"/>
          </p:cNvCxnSpPr>
          <p:nvPr/>
        </p:nvCxnSpPr>
        <p:spPr>
          <a:xfrm>
            <a:off x="2405402" y="2582882"/>
            <a:ext cx="2911" cy="22973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76087" y="1835683"/>
            <a:ext cx="1058630" cy="454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거절결정</a:t>
            </a:r>
            <a:r>
              <a:rPr lang="ko-KR" altLang="en-US" sz="1200" dirty="0"/>
              <a:t> 취소 </a:t>
            </a:r>
            <a:r>
              <a:rPr lang="en-US" altLang="ko-KR" sz="1200" dirty="0"/>
              <a:t>&amp; </a:t>
            </a:r>
            <a:r>
              <a:rPr lang="ko-KR" altLang="en-US" sz="1200" dirty="0" err="1"/>
              <a:t>특허결정</a:t>
            </a:r>
            <a:endParaRPr lang="ko-KR" altLang="en-US" sz="1200" dirty="0"/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 flipV="1">
            <a:off x="2970107" y="281261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2532726" y="3365179"/>
            <a:ext cx="101181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 err="1"/>
              <a:t>특허료납부</a:t>
            </a:r>
            <a:r>
              <a:rPr lang="ko-KR" altLang="en-US" sz="1200" dirty="0"/>
              <a:t> </a:t>
            </a:r>
            <a:r>
              <a:rPr lang="en-US" altLang="ko-KR" sz="1200" dirty="0"/>
              <a:t>&amp; </a:t>
            </a:r>
            <a:r>
              <a:rPr lang="ko-KR" altLang="en-US" sz="1200" dirty="0" err="1"/>
              <a:t>설정등록</a:t>
            </a:r>
            <a:endParaRPr lang="ko-KR" altLang="en-US" sz="1200" dirty="0"/>
          </a:p>
        </p:txBody>
      </p:sp>
      <p:cxnSp>
        <p:nvCxnSpPr>
          <p:cNvPr id="36" name="직선 연결선 35"/>
          <p:cNvCxnSpPr>
            <a:stCxn id="35" idx="0"/>
            <a:endCxn id="34" idx="0"/>
          </p:cNvCxnSpPr>
          <p:nvPr/>
        </p:nvCxnSpPr>
        <p:spPr>
          <a:xfrm flipV="1">
            <a:off x="3038634" y="2965674"/>
            <a:ext cx="2911" cy="3995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4"/>
          <p:cNvSpPr>
            <a:spLocks noChangeArrowheads="1"/>
          </p:cNvSpPr>
          <p:nvPr/>
        </p:nvSpPr>
        <p:spPr bwMode="auto">
          <a:xfrm flipV="1">
            <a:off x="4096484" y="281261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59103" y="3365179"/>
            <a:ext cx="101181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 err="1"/>
              <a:t>특허무효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심판청구</a:t>
            </a:r>
          </a:p>
        </p:txBody>
      </p:sp>
      <p:cxnSp>
        <p:nvCxnSpPr>
          <p:cNvPr id="43" name="직선 연결선 42"/>
          <p:cNvCxnSpPr>
            <a:stCxn id="42" idx="0"/>
            <a:endCxn id="41" idx="0"/>
          </p:cNvCxnSpPr>
          <p:nvPr/>
        </p:nvCxnSpPr>
        <p:spPr>
          <a:xfrm flipV="1">
            <a:off x="4165011" y="2965674"/>
            <a:ext cx="2911" cy="3995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14"/>
          <p:cNvSpPr>
            <a:spLocks noChangeArrowheads="1"/>
          </p:cNvSpPr>
          <p:nvPr/>
        </p:nvSpPr>
        <p:spPr bwMode="auto">
          <a:xfrm flipV="1">
            <a:off x="4526781" y="2812612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065993" y="2336577"/>
            <a:ext cx="1058630" cy="2463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합의체 심리</a:t>
            </a:r>
          </a:p>
        </p:txBody>
      </p:sp>
      <p:cxnSp>
        <p:nvCxnSpPr>
          <p:cNvPr id="46" name="직선 연결선 45"/>
          <p:cNvCxnSpPr>
            <a:stCxn id="45" idx="2"/>
            <a:endCxn id="44" idx="4"/>
          </p:cNvCxnSpPr>
          <p:nvPr/>
        </p:nvCxnSpPr>
        <p:spPr>
          <a:xfrm>
            <a:off x="4595308" y="2582882"/>
            <a:ext cx="2911" cy="22973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065993" y="1835683"/>
            <a:ext cx="1058630" cy="454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, </a:t>
            </a:r>
            <a:r>
              <a:rPr lang="ko-KR" altLang="en-US" sz="1200" dirty="0"/>
              <a:t>丁</a:t>
            </a:r>
            <a:r>
              <a:rPr lang="en-US" altLang="ko-KR" sz="1200" dirty="0"/>
              <a:t>, </a:t>
            </a:r>
            <a:r>
              <a:rPr lang="ko-KR" altLang="en-US" sz="1200" dirty="0"/>
              <a:t>戊</a:t>
            </a:r>
          </a:p>
        </p:txBody>
      </p:sp>
      <p:cxnSp>
        <p:nvCxnSpPr>
          <p:cNvPr id="48" name="직선 연결선 47"/>
          <p:cNvCxnSpPr/>
          <p:nvPr/>
        </p:nvCxnSpPr>
        <p:spPr>
          <a:xfrm>
            <a:off x="6076950" y="1000125"/>
            <a:ext cx="0" cy="566517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타원 49"/>
          <p:cNvSpPr/>
          <p:nvPr/>
        </p:nvSpPr>
        <p:spPr>
          <a:xfrm>
            <a:off x="4201748" y="1876760"/>
            <a:ext cx="325033" cy="325033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3455755" y="1371935"/>
            <a:ext cx="601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교체</a:t>
            </a:r>
          </a:p>
        </p:txBody>
      </p:sp>
      <p:cxnSp>
        <p:nvCxnSpPr>
          <p:cNvPr id="53" name="직선 연결선 52"/>
          <p:cNvCxnSpPr>
            <a:stCxn id="50" idx="1"/>
          </p:cNvCxnSpPr>
          <p:nvPr/>
        </p:nvCxnSpPr>
        <p:spPr>
          <a:xfrm flipH="1" flipV="1">
            <a:off x="3952876" y="1652584"/>
            <a:ext cx="296472" cy="271776"/>
          </a:xfrm>
          <a:prstGeom prst="line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319578" y="5449267"/>
            <a:ext cx="547740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14"/>
          <p:cNvSpPr>
            <a:spLocks noChangeArrowheads="1"/>
          </p:cNvSpPr>
          <p:nvPr/>
        </p:nvSpPr>
        <p:spPr bwMode="auto">
          <a:xfrm flipV="1">
            <a:off x="661217" y="5372736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23836" y="5925303"/>
            <a:ext cx="101181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/>
              <a:t>정정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심판청구</a:t>
            </a:r>
          </a:p>
        </p:txBody>
      </p:sp>
      <p:cxnSp>
        <p:nvCxnSpPr>
          <p:cNvPr id="57" name="직선 연결선 56"/>
          <p:cNvCxnSpPr>
            <a:stCxn id="56" idx="0"/>
            <a:endCxn id="55" idx="0"/>
          </p:cNvCxnSpPr>
          <p:nvPr/>
        </p:nvCxnSpPr>
        <p:spPr>
          <a:xfrm flipV="1">
            <a:off x="729744" y="5525798"/>
            <a:ext cx="2911" cy="3995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14"/>
          <p:cNvSpPr>
            <a:spLocks noChangeArrowheads="1"/>
          </p:cNvSpPr>
          <p:nvPr/>
        </p:nvSpPr>
        <p:spPr bwMode="auto">
          <a:xfrm flipV="1">
            <a:off x="1177239" y="5372736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16451" y="4896701"/>
            <a:ext cx="1058630" cy="2463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합의체 심리</a:t>
            </a:r>
          </a:p>
        </p:txBody>
      </p:sp>
      <p:cxnSp>
        <p:nvCxnSpPr>
          <p:cNvPr id="60" name="직선 연결선 59"/>
          <p:cNvCxnSpPr>
            <a:stCxn id="59" idx="2"/>
            <a:endCxn id="58" idx="4"/>
          </p:cNvCxnSpPr>
          <p:nvPr/>
        </p:nvCxnSpPr>
        <p:spPr>
          <a:xfrm>
            <a:off x="1245766" y="5143006"/>
            <a:ext cx="2911" cy="22973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16451" y="4395807"/>
            <a:ext cx="1058630" cy="454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, </a:t>
            </a:r>
            <a:r>
              <a:rPr lang="ko-KR" altLang="en-US" sz="1200" dirty="0"/>
              <a:t>丙</a:t>
            </a:r>
          </a:p>
        </p:txBody>
      </p:sp>
      <p:sp>
        <p:nvSpPr>
          <p:cNvPr id="62" name="Rectangle 14"/>
          <p:cNvSpPr>
            <a:spLocks noChangeArrowheads="1"/>
          </p:cNvSpPr>
          <p:nvPr/>
        </p:nvSpPr>
        <p:spPr bwMode="auto">
          <a:xfrm flipV="1">
            <a:off x="2336875" y="5372736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876087" y="4896701"/>
            <a:ext cx="1058630" cy="2463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인용심결</a:t>
            </a:r>
            <a:endParaRPr lang="ko-KR" altLang="en-US" sz="1200" dirty="0"/>
          </a:p>
        </p:txBody>
      </p:sp>
      <p:cxnSp>
        <p:nvCxnSpPr>
          <p:cNvPr id="64" name="직선 연결선 63"/>
          <p:cNvCxnSpPr>
            <a:stCxn id="63" idx="2"/>
            <a:endCxn id="62" idx="4"/>
          </p:cNvCxnSpPr>
          <p:nvPr/>
        </p:nvCxnSpPr>
        <p:spPr>
          <a:xfrm>
            <a:off x="2405402" y="5143006"/>
            <a:ext cx="2911" cy="22973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14"/>
          <p:cNvSpPr>
            <a:spLocks noChangeArrowheads="1"/>
          </p:cNvSpPr>
          <p:nvPr/>
        </p:nvSpPr>
        <p:spPr bwMode="auto">
          <a:xfrm flipV="1">
            <a:off x="4096484" y="5372736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3659103" y="5925303"/>
            <a:ext cx="101181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sz="1200" dirty="0" err="1"/>
              <a:t>정정무효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심판청구</a:t>
            </a:r>
          </a:p>
        </p:txBody>
      </p:sp>
      <p:cxnSp>
        <p:nvCxnSpPr>
          <p:cNvPr id="71" name="직선 연결선 70"/>
          <p:cNvCxnSpPr>
            <a:stCxn id="70" idx="0"/>
            <a:endCxn id="69" idx="0"/>
          </p:cNvCxnSpPr>
          <p:nvPr/>
        </p:nvCxnSpPr>
        <p:spPr>
          <a:xfrm flipV="1">
            <a:off x="4165011" y="5525798"/>
            <a:ext cx="2911" cy="3995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14"/>
          <p:cNvSpPr>
            <a:spLocks noChangeArrowheads="1"/>
          </p:cNvSpPr>
          <p:nvPr/>
        </p:nvSpPr>
        <p:spPr bwMode="auto">
          <a:xfrm flipV="1">
            <a:off x="4526781" y="5372736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065993" y="4896701"/>
            <a:ext cx="1058630" cy="2463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합의체 심리</a:t>
            </a:r>
          </a:p>
        </p:txBody>
      </p:sp>
      <p:cxnSp>
        <p:nvCxnSpPr>
          <p:cNvPr id="74" name="직선 연결선 73"/>
          <p:cNvCxnSpPr>
            <a:stCxn id="73" idx="2"/>
            <a:endCxn id="72" idx="4"/>
          </p:cNvCxnSpPr>
          <p:nvPr/>
        </p:nvCxnSpPr>
        <p:spPr>
          <a:xfrm>
            <a:off x="4595308" y="5143006"/>
            <a:ext cx="2911" cy="22973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065993" y="4395807"/>
            <a:ext cx="1058630" cy="454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甲</a:t>
            </a:r>
            <a:r>
              <a:rPr lang="en-US" altLang="ko-KR" sz="1200" dirty="0"/>
              <a:t>, </a:t>
            </a:r>
            <a:r>
              <a:rPr lang="ko-KR" altLang="en-US" sz="1200" dirty="0"/>
              <a:t>丁</a:t>
            </a:r>
            <a:r>
              <a:rPr lang="en-US" altLang="ko-KR" sz="1200" dirty="0"/>
              <a:t>, </a:t>
            </a:r>
            <a:r>
              <a:rPr lang="ko-KR" altLang="en-US" sz="1200" dirty="0"/>
              <a:t>戊</a:t>
            </a:r>
          </a:p>
        </p:txBody>
      </p:sp>
      <p:sp>
        <p:nvSpPr>
          <p:cNvPr id="76" name="타원 75"/>
          <p:cNvSpPr/>
          <p:nvPr/>
        </p:nvSpPr>
        <p:spPr>
          <a:xfrm>
            <a:off x="4201748" y="4436884"/>
            <a:ext cx="325033" cy="325033"/>
          </a:xfrm>
          <a:prstGeom prst="ellipse">
            <a:avLst/>
          </a:prstGeom>
          <a:solidFill>
            <a:srgbClr val="FF0000">
              <a:alpha val="5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/>
          <p:cNvSpPr txBox="1"/>
          <p:nvPr/>
        </p:nvSpPr>
        <p:spPr>
          <a:xfrm>
            <a:off x="3330535" y="4221391"/>
            <a:ext cx="601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교체</a:t>
            </a:r>
          </a:p>
        </p:txBody>
      </p:sp>
      <p:cxnSp>
        <p:nvCxnSpPr>
          <p:cNvPr id="78" name="직선 연결선 77"/>
          <p:cNvCxnSpPr>
            <a:stCxn id="76" idx="1"/>
            <a:endCxn id="77" idx="3"/>
          </p:cNvCxnSpPr>
          <p:nvPr/>
        </p:nvCxnSpPr>
        <p:spPr>
          <a:xfrm flipH="1" flipV="1">
            <a:off x="3931982" y="4406057"/>
            <a:ext cx="317366" cy="78427"/>
          </a:xfrm>
          <a:prstGeom prst="line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Rectangle 5"/>
          <p:cNvSpPr>
            <a:spLocks noChangeArrowheads="1"/>
          </p:cNvSpPr>
          <p:nvPr/>
        </p:nvSpPr>
        <p:spPr bwMode="auto">
          <a:xfrm>
            <a:off x="6317284" y="1123104"/>
            <a:ext cx="1481140" cy="34810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600" b="0" dirty="0">
                <a:solidFill>
                  <a:schemeClr val="bg1"/>
                </a:solidFill>
                <a:latin typeface="+mj-ea"/>
                <a:ea typeface="+mj-ea"/>
              </a:rPr>
              <a:t>시  기</a:t>
            </a:r>
          </a:p>
        </p:txBody>
      </p:sp>
      <p:cxnSp>
        <p:nvCxnSpPr>
          <p:cNvPr id="83" name="직선 연결선 82"/>
          <p:cNvCxnSpPr/>
          <p:nvPr/>
        </p:nvCxnSpPr>
        <p:spPr>
          <a:xfrm>
            <a:off x="6434944" y="3522559"/>
            <a:ext cx="547740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6339202" y="3361397"/>
            <a:ext cx="1011815" cy="322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심판청구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617902" y="3361397"/>
            <a:ext cx="1011815" cy="322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심결</a:t>
            </a:r>
            <a:endParaRPr lang="ko-KR" altLang="en-US" sz="1200" dirty="0"/>
          </a:p>
        </p:txBody>
      </p:sp>
      <p:sp>
        <p:nvSpPr>
          <p:cNvPr id="109" name="TextBox 108"/>
          <p:cNvSpPr txBox="1"/>
          <p:nvPr/>
        </p:nvSpPr>
        <p:spPr>
          <a:xfrm>
            <a:off x="8812981" y="3361397"/>
            <a:ext cx="1011815" cy="322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/>
              <a:t>등본송달</a:t>
            </a:r>
            <a:endParaRPr lang="ko-KR" altLang="en-US" sz="1200" dirty="0"/>
          </a:p>
        </p:txBody>
      </p:sp>
      <p:sp>
        <p:nvSpPr>
          <p:cNvPr id="112" name="TextBox 111"/>
          <p:cNvSpPr txBox="1"/>
          <p:nvPr/>
        </p:nvSpPr>
        <p:spPr>
          <a:xfrm>
            <a:off x="9552591" y="2742738"/>
            <a:ext cx="1058630" cy="24630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30</a:t>
            </a:r>
            <a:r>
              <a:rPr lang="ko-KR" altLang="en-US" sz="1200" dirty="0"/>
              <a:t>일</a:t>
            </a:r>
          </a:p>
        </p:txBody>
      </p:sp>
      <p:cxnSp>
        <p:nvCxnSpPr>
          <p:cNvPr id="115" name="직선 연결선 114"/>
          <p:cNvCxnSpPr/>
          <p:nvPr/>
        </p:nvCxnSpPr>
        <p:spPr>
          <a:xfrm>
            <a:off x="10657574" y="3522559"/>
            <a:ext cx="0" cy="1547301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/>
          <p:cNvCxnSpPr/>
          <p:nvPr/>
        </p:nvCxnSpPr>
        <p:spPr>
          <a:xfrm>
            <a:off x="6845109" y="4152900"/>
            <a:ext cx="1278700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126"/>
          <p:cNvCxnSpPr/>
          <p:nvPr/>
        </p:nvCxnSpPr>
        <p:spPr>
          <a:xfrm>
            <a:off x="8123809" y="4152900"/>
            <a:ext cx="248741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화살표 연결선 128"/>
          <p:cNvCxnSpPr/>
          <p:nvPr/>
        </p:nvCxnSpPr>
        <p:spPr>
          <a:xfrm>
            <a:off x="10657574" y="4152900"/>
            <a:ext cx="1243706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6967723" y="4229427"/>
            <a:ext cx="11560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제척신청시기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626050" y="4229427"/>
            <a:ext cx="1479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심결취소소송제기</a:t>
            </a:r>
            <a:endParaRPr lang="ko-KR" altLang="en-US" sz="1400" dirty="0"/>
          </a:p>
        </p:txBody>
      </p:sp>
      <p:sp>
        <p:nvSpPr>
          <p:cNvPr id="133" name="TextBox 132"/>
          <p:cNvSpPr txBox="1"/>
          <p:nvPr/>
        </p:nvSpPr>
        <p:spPr>
          <a:xfrm>
            <a:off x="10815988" y="4229427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재심청구</a:t>
            </a:r>
            <a:endParaRPr lang="ko-KR" altLang="en-US" sz="1400" dirty="0"/>
          </a:p>
        </p:txBody>
      </p:sp>
      <p:sp>
        <p:nvSpPr>
          <p:cNvPr id="135" name="Rectangle 14"/>
          <p:cNvSpPr>
            <a:spLocks noChangeArrowheads="1"/>
          </p:cNvSpPr>
          <p:nvPr/>
        </p:nvSpPr>
        <p:spPr bwMode="auto">
          <a:xfrm flipV="1">
            <a:off x="10586137" y="344602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36" name="모서리가 둥근 사각형 설명선 135"/>
          <p:cNvSpPr/>
          <p:nvPr/>
        </p:nvSpPr>
        <p:spPr>
          <a:xfrm>
            <a:off x="11020425" y="2702620"/>
            <a:ext cx="781050" cy="405491"/>
          </a:xfrm>
          <a:prstGeom prst="wedgeRoundRectCallout">
            <a:avLst>
              <a:gd name="adj1" fmla="val -86687"/>
              <a:gd name="adj2" fmla="val 123574"/>
              <a:gd name="adj3" fmla="val 16667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434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0493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139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심판의 당사자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5925" y="1409700"/>
            <a:ext cx="809837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출원인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827783" y="1337191"/>
            <a:ext cx="809837" cy="369332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algn="ctr"/>
            <a:r>
              <a:rPr lang="ko-KR" altLang="en-US" dirty="0"/>
              <a:t>당사자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86075" y="1409700"/>
            <a:ext cx="2857500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권리능력자</a:t>
            </a:r>
            <a:r>
              <a:rPr lang="ko-KR" altLang="en-US" sz="1400" dirty="0"/>
              <a:t> 中 </a:t>
            </a:r>
            <a:r>
              <a:rPr lang="ko-KR" altLang="en-US" sz="1400" dirty="0" err="1"/>
              <a:t>권리적격자</a:t>
            </a:r>
            <a:endParaRPr lang="ko-KR" altLang="en-US" sz="1400" dirty="0"/>
          </a:p>
        </p:txBody>
      </p:sp>
      <p:cxnSp>
        <p:nvCxnSpPr>
          <p:cNvPr id="12" name="직선 화살표 연결선 11"/>
          <p:cNvCxnSpPr>
            <a:stCxn id="4" idx="3"/>
            <a:endCxn id="81" idx="1"/>
          </p:cNvCxnSpPr>
          <p:nvPr/>
        </p:nvCxnSpPr>
        <p:spPr>
          <a:xfrm>
            <a:off x="2495762" y="1594366"/>
            <a:ext cx="390313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9027933" y="1337191"/>
            <a:ext cx="2857500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당사자능력자 中 당사자적격자</a:t>
            </a:r>
          </a:p>
        </p:txBody>
      </p:sp>
      <p:cxnSp>
        <p:nvCxnSpPr>
          <p:cNvPr id="19" name="직선 화살표 연결선 18"/>
          <p:cNvCxnSpPr>
            <a:stCxn id="79" idx="3"/>
            <a:endCxn id="82" idx="1"/>
          </p:cNvCxnSpPr>
          <p:nvPr/>
        </p:nvCxnSpPr>
        <p:spPr>
          <a:xfrm>
            <a:off x="8637620" y="1521857"/>
            <a:ext cx="390313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사각형 설명선 19"/>
          <p:cNvSpPr/>
          <p:nvPr/>
        </p:nvSpPr>
        <p:spPr>
          <a:xfrm>
            <a:off x="247650" y="1152525"/>
            <a:ext cx="1085850" cy="441841"/>
          </a:xfrm>
          <a:prstGeom prst="wedgeRoundRectCallout">
            <a:avLst>
              <a:gd name="adj1" fmla="val 80044"/>
              <a:gd name="adj2" fmla="val 4094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실체법적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측면</a:t>
            </a:r>
          </a:p>
        </p:txBody>
      </p:sp>
      <p:sp>
        <p:nvSpPr>
          <p:cNvPr id="84" name="모서리가 둥근 사각형 설명선 83"/>
          <p:cNvSpPr/>
          <p:nvPr/>
        </p:nvSpPr>
        <p:spPr>
          <a:xfrm>
            <a:off x="6410326" y="1337191"/>
            <a:ext cx="1085850" cy="441841"/>
          </a:xfrm>
          <a:prstGeom prst="wedgeRoundRectCallout">
            <a:avLst>
              <a:gd name="adj1" fmla="val 79167"/>
              <a:gd name="adj2" fmla="val -4313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절차법적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측면</a:t>
            </a:r>
          </a:p>
        </p:txBody>
      </p:sp>
      <p:cxnSp>
        <p:nvCxnSpPr>
          <p:cNvPr id="86" name="직선 연결선 85"/>
          <p:cNvCxnSpPr/>
          <p:nvPr/>
        </p:nvCxnSpPr>
        <p:spPr>
          <a:xfrm>
            <a:off x="6076950" y="1000125"/>
            <a:ext cx="0" cy="566517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936687" y="2748177"/>
            <a:ext cx="1063563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권리능력자</a:t>
            </a:r>
            <a:endParaRPr lang="ko-KR" altLang="en-US" sz="1400" dirty="0"/>
          </a:p>
        </p:txBody>
      </p:sp>
      <p:sp>
        <p:nvSpPr>
          <p:cNvPr id="88" name="TextBox 87"/>
          <p:cNvSpPr txBox="1"/>
          <p:nvPr/>
        </p:nvSpPr>
        <p:spPr>
          <a:xfrm>
            <a:off x="936687" y="4274374"/>
            <a:ext cx="1063563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bg1"/>
                </a:solidFill>
              </a:rPr>
              <a:t>권리적격자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252768" y="2290977"/>
            <a:ext cx="16570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/>
              <a:t>내국인</a:t>
            </a:r>
            <a:endParaRPr lang="ko-KR" altLang="en-US" sz="1400" dirty="0"/>
          </a:p>
        </p:txBody>
      </p:sp>
      <p:sp>
        <p:nvSpPr>
          <p:cNvPr id="90" name="TextBox 89"/>
          <p:cNvSpPr txBox="1"/>
          <p:nvPr/>
        </p:nvSpPr>
        <p:spPr>
          <a:xfrm>
            <a:off x="2252768" y="3043452"/>
            <a:ext cx="16570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/>
              <a:t>외국인</a:t>
            </a:r>
            <a:endParaRPr lang="ko-KR" altLang="en-US" sz="1400" dirty="0"/>
          </a:p>
        </p:txBody>
      </p:sp>
      <p:sp>
        <p:nvSpPr>
          <p:cNvPr id="91" name="TextBox 90"/>
          <p:cNvSpPr txBox="1"/>
          <p:nvPr/>
        </p:nvSpPr>
        <p:spPr>
          <a:xfrm>
            <a:off x="4317248" y="2748177"/>
            <a:ext cx="16570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재내자</a:t>
            </a:r>
            <a:endParaRPr lang="ko-KR" altLang="en-US" sz="1400" dirty="0"/>
          </a:p>
        </p:txBody>
      </p:sp>
      <p:sp>
        <p:nvSpPr>
          <p:cNvPr id="92" name="TextBox 91"/>
          <p:cNvSpPr txBox="1"/>
          <p:nvPr/>
        </p:nvSpPr>
        <p:spPr>
          <a:xfrm>
            <a:off x="4317248" y="3329202"/>
            <a:ext cx="165708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재외자</a:t>
            </a:r>
            <a:endParaRPr lang="ko-KR" altLang="en-US" sz="1400" dirty="0"/>
          </a:p>
        </p:txBody>
      </p:sp>
      <p:sp>
        <p:nvSpPr>
          <p:cNvPr id="93" name="TextBox 92"/>
          <p:cNvSpPr txBox="1"/>
          <p:nvPr/>
        </p:nvSpPr>
        <p:spPr>
          <a:xfrm>
            <a:off x="2252768" y="3891231"/>
            <a:ext cx="203907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발명자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252768" y="4459040"/>
            <a:ext cx="2039072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/>
              <a:t>승계인</a:t>
            </a:r>
            <a:endParaRPr lang="ko-KR" altLang="en-US" sz="1400" dirty="0"/>
          </a:p>
        </p:txBody>
      </p:sp>
      <p:cxnSp>
        <p:nvCxnSpPr>
          <p:cNvPr id="23" name="꺾인 연결선 22"/>
          <p:cNvCxnSpPr>
            <a:stCxn id="87" idx="1"/>
            <a:endCxn id="88" idx="1"/>
          </p:cNvCxnSpPr>
          <p:nvPr/>
        </p:nvCxnSpPr>
        <p:spPr>
          <a:xfrm rot="10800000" flipV="1">
            <a:off x="936687" y="2932842"/>
            <a:ext cx="12700" cy="1526197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자유형 23"/>
          <p:cNvSpPr/>
          <p:nvPr/>
        </p:nvSpPr>
        <p:spPr>
          <a:xfrm>
            <a:off x="546461" y="1781175"/>
            <a:ext cx="3663589" cy="1933575"/>
          </a:xfrm>
          <a:custGeom>
            <a:avLst/>
            <a:gdLst>
              <a:gd name="connsiteX0" fmla="*/ 190500 w 3981450"/>
              <a:gd name="connsiteY0" fmla="*/ 1933575 h 1933575"/>
              <a:gd name="connsiteX1" fmla="*/ 0 w 3981450"/>
              <a:gd name="connsiteY1" fmla="*/ 1933575 h 1933575"/>
              <a:gd name="connsiteX2" fmla="*/ 0 w 3981450"/>
              <a:gd name="connsiteY2" fmla="*/ 219075 h 1933575"/>
              <a:gd name="connsiteX3" fmla="*/ 3981450 w 3981450"/>
              <a:gd name="connsiteY3" fmla="*/ 219075 h 1933575"/>
              <a:gd name="connsiteX4" fmla="*/ 3981450 w 3981450"/>
              <a:gd name="connsiteY4" fmla="*/ 0 h 193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81450" h="1933575">
                <a:moveTo>
                  <a:pt x="190500" y="1933575"/>
                </a:moveTo>
                <a:lnTo>
                  <a:pt x="0" y="1933575"/>
                </a:lnTo>
                <a:lnTo>
                  <a:pt x="0" y="219075"/>
                </a:lnTo>
                <a:lnTo>
                  <a:pt x="3981450" y="219075"/>
                </a:lnTo>
                <a:lnTo>
                  <a:pt x="3981450" y="0"/>
                </a:lnTo>
              </a:path>
            </a:pathLst>
          </a:cu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꺾인 연결선 25"/>
          <p:cNvCxnSpPr>
            <a:stCxn id="87" idx="3"/>
            <a:endCxn id="89" idx="1"/>
          </p:cNvCxnSpPr>
          <p:nvPr/>
        </p:nvCxnSpPr>
        <p:spPr>
          <a:xfrm flipV="1">
            <a:off x="2000250" y="2475643"/>
            <a:ext cx="252518" cy="4572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꺾인 연결선 32"/>
          <p:cNvCxnSpPr>
            <a:stCxn id="87" idx="3"/>
            <a:endCxn id="90" idx="1"/>
          </p:cNvCxnSpPr>
          <p:nvPr/>
        </p:nvCxnSpPr>
        <p:spPr>
          <a:xfrm>
            <a:off x="2000250" y="2932843"/>
            <a:ext cx="252518" cy="29527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37"/>
          <p:cNvCxnSpPr>
            <a:stCxn id="90" idx="3"/>
            <a:endCxn id="91" idx="1"/>
          </p:cNvCxnSpPr>
          <p:nvPr/>
        </p:nvCxnSpPr>
        <p:spPr>
          <a:xfrm flipV="1">
            <a:off x="3909848" y="2932843"/>
            <a:ext cx="407400" cy="29527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꺾인 연결선 39"/>
          <p:cNvCxnSpPr>
            <a:stCxn id="90" idx="3"/>
            <a:endCxn id="92" idx="1"/>
          </p:cNvCxnSpPr>
          <p:nvPr/>
        </p:nvCxnSpPr>
        <p:spPr>
          <a:xfrm>
            <a:off x="3909848" y="3228118"/>
            <a:ext cx="407400" cy="28575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51"/>
          <p:cNvCxnSpPr>
            <a:cxnSpLocks/>
            <a:stCxn id="88" idx="3"/>
            <a:endCxn id="93" idx="1"/>
          </p:cNvCxnSpPr>
          <p:nvPr/>
        </p:nvCxnSpPr>
        <p:spPr>
          <a:xfrm flipV="1">
            <a:off x="2000250" y="4075897"/>
            <a:ext cx="252518" cy="38314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cxnSpLocks/>
            <a:stCxn id="88" idx="3"/>
            <a:endCxn id="94" idx="1"/>
          </p:cNvCxnSpPr>
          <p:nvPr/>
        </p:nvCxnSpPr>
        <p:spPr>
          <a:xfrm>
            <a:off x="2000250" y="4459040"/>
            <a:ext cx="252518" cy="18466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/>
          <p:cNvSpPr txBox="1"/>
          <p:nvPr/>
        </p:nvSpPr>
        <p:spPr>
          <a:xfrm>
            <a:off x="6657975" y="2748177"/>
            <a:ext cx="132878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당사자능력자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657975" y="3338299"/>
            <a:ext cx="1328781" cy="36933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당자자적격자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111987" y="2747962"/>
            <a:ext cx="339421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권리능력자</a:t>
            </a:r>
            <a:r>
              <a:rPr lang="ko-KR" altLang="en-US" sz="1400" dirty="0"/>
              <a:t> </a:t>
            </a:r>
            <a:r>
              <a:rPr lang="en-US" altLang="ko-KR" sz="1400" dirty="0"/>
              <a:t>+ </a:t>
            </a:r>
            <a:r>
              <a:rPr lang="ko-KR" altLang="en-US" sz="1400" dirty="0"/>
              <a:t>비법인 사단</a:t>
            </a:r>
            <a:r>
              <a:rPr lang="en-US" altLang="ko-KR" sz="1400" dirty="0"/>
              <a:t>/</a:t>
            </a:r>
            <a:r>
              <a:rPr lang="ko-KR" altLang="en-US" sz="1400" dirty="0"/>
              <a:t>재단</a:t>
            </a:r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4)</a:t>
            </a:r>
            <a:endParaRPr lang="ko-KR" altLang="en-US" sz="1400" dirty="0"/>
          </a:p>
        </p:txBody>
      </p:sp>
      <p:cxnSp>
        <p:nvCxnSpPr>
          <p:cNvPr id="130" name="꺾인 연결선 129"/>
          <p:cNvCxnSpPr>
            <a:stCxn id="117" idx="1"/>
            <a:endCxn id="118" idx="1"/>
          </p:cNvCxnSpPr>
          <p:nvPr/>
        </p:nvCxnSpPr>
        <p:spPr>
          <a:xfrm rot="10800000" flipV="1">
            <a:off x="6657975" y="2932843"/>
            <a:ext cx="12700" cy="590122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/>
          <p:cNvCxnSpPr>
            <a:stCxn id="117" idx="3"/>
            <a:endCxn id="119" idx="1"/>
          </p:cNvCxnSpPr>
          <p:nvPr/>
        </p:nvCxnSpPr>
        <p:spPr>
          <a:xfrm flipV="1">
            <a:off x="7986756" y="2932628"/>
            <a:ext cx="125231" cy="21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936687" y="5788893"/>
            <a:ext cx="1063563" cy="369332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복수 출원인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657975" y="3864120"/>
            <a:ext cx="1328781" cy="369332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복수 당사자</a:t>
            </a:r>
          </a:p>
        </p:txBody>
      </p:sp>
      <p:cxnSp>
        <p:nvCxnSpPr>
          <p:cNvPr id="155" name="꺾인 연결선 154"/>
          <p:cNvCxnSpPr>
            <a:stCxn id="148" idx="1"/>
            <a:endCxn id="117" idx="1"/>
          </p:cNvCxnSpPr>
          <p:nvPr/>
        </p:nvCxnSpPr>
        <p:spPr>
          <a:xfrm rot="10800000">
            <a:off x="6657975" y="2932844"/>
            <a:ext cx="12700" cy="1115943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꺾인 연결선 156"/>
          <p:cNvCxnSpPr>
            <a:stCxn id="87" idx="1"/>
            <a:endCxn id="145" idx="1"/>
          </p:cNvCxnSpPr>
          <p:nvPr/>
        </p:nvCxnSpPr>
        <p:spPr>
          <a:xfrm rot="10800000" flipV="1">
            <a:off x="936687" y="2932843"/>
            <a:ext cx="12700" cy="3040716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/>
          <p:cNvSpPr/>
          <p:nvPr/>
        </p:nvSpPr>
        <p:spPr>
          <a:xfrm>
            <a:off x="8341567" y="4464358"/>
            <a:ext cx="1352095" cy="2491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심판청구 및 소송</a:t>
            </a:r>
          </a:p>
        </p:txBody>
      </p:sp>
      <p:sp>
        <p:nvSpPr>
          <p:cNvPr id="161" name="직사각형 160"/>
          <p:cNvSpPr/>
          <p:nvPr/>
        </p:nvSpPr>
        <p:spPr>
          <a:xfrm>
            <a:off x="8341567" y="5799149"/>
            <a:ext cx="1352095" cy="2491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그 밖의 절차</a:t>
            </a:r>
          </a:p>
        </p:txBody>
      </p:sp>
      <p:sp>
        <p:nvSpPr>
          <p:cNvPr id="162" name="직사각형 161"/>
          <p:cNvSpPr/>
          <p:nvPr/>
        </p:nvSpPr>
        <p:spPr>
          <a:xfrm>
            <a:off x="9964607" y="4464358"/>
            <a:ext cx="1705690" cy="2491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44, 90, 92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9964607" y="4819419"/>
            <a:ext cx="1705690" cy="2491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심판청구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139)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9964607" y="5799149"/>
            <a:ext cx="1705690" cy="2491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대표자 </a:t>
            </a:r>
            <a:r>
              <a:rPr lang="ko-KR" altLang="en-US" sz="1000" dirty="0" err="1">
                <a:solidFill>
                  <a:schemeClr val="tx1"/>
                </a:solidFill>
              </a:rPr>
              <a:t>不선정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11①</a:t>
            </a:r>
            <a:r>
              <a:rPr lang="ko-KR" altLang="en-US" sz="1000" dirty="0">
                <a:solidFill>
                  <a:schemeClr val="tx1"/>
                </a:solidFill>
              </a:rPr>
              <a:t>본문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9964607" y="6154210"/>
            <a:ext cx="1705690" cy="2491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대표자 선정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11①</a:t>
            </a:r>
            <a:r>
              <a:rPr lang="ko-KR" altLang="en-US" sz="1000" dirty="0">
                <a:solidFill>
                  <a:schemeClr val="tx1"/>
                </a:solidFill>
              </a:rPr>
              <a:t>단서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8111987" y="3994732"/>
            <a:ext cx="3928533" cy="27513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ko-KR" dirty="0">
              <a:solidFill>
                <a:schemeClr val="accent2">
                  <a:lumMod val="50000"/>
                </a:schemeClr>
              </a:solidFill>
            </a:endParaRPr>
          </a:p>
        </p:txBody>
      </p:sp>
      <p:cxnSp>
        <p:nvCxnSpPr>
          <p:cNvPr id="167" name="꺾인 연결선 166"/>
          <p:cNvCxnSpPr>
            <a:cxnSpLocks/>
            <a:stCxn id="160" idx="1"/>
            <a:endCxn id="161" idx="1"/>
          </p:cNvCxnSpPr>
          <p:nvPr/>
        </p:nvCxnSpPr>
        <p:spPr>
          <a:xfrm rot="10800000" flipV="1">
            <a:off x="8341567" y="4588957"/>
            <a:ext cx="12700" cy="1334791"/>
          </a:xfrm>
          <a:prstGeom prst="bentConnector3">
            <a:avLst>
              <a:gd name="adj1" fmla="val 113878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꺾인 연결선 167"/>
          <p:cNvCxnSpPr>
            <a:cxnSpLocks/>
            <a:stCxn id="160" idx="3"/>
            <a:endCxn id="162" idx="1"/>
          </p:cNvCxnSpPr>
          <p:nvPr/>
        </p:nvCxnSpPr>
        <p:spPr>
          <a:xfrm>
            <a:off x="9693662" y="4588958"/>
            <a:ext cx="270945" cy="127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꺾인 연결선 168"/>
          <p:cNvCxnSpPr>
            <a:cxnSpLocks/>
            <a:stCxn id="160" idx="3"/>
            <a:endCxn id="163" idx="1"/>
          </p:cNvCxnSpPr>
          <p:nvPr/>
        </p:nvCxnSpPr>
        <p:spPr>
          <a:xfrm>
            <a:off x="9693662" y="4588958"/>
            <a:ext cx="270945" cy="35506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꺾인 연결선 169"/>
          <p:cNvCxnSpPr>
            <a:cxnSpLocks/>
            <a:stCxn id="161" idx="3"/>
            <a:endCxn id="164" idx="1"/>
          </p:cNvCxnSpPr>
          <p:nvPr/>
        </p:nvCxnSpPr>
        <p:spPr>
          <a:xfrm>
            <a:off x="9693662" y="5923749"/>
            <a:ext cx="270945" cy="127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꺾인 연결선 170"/>
          <p:cNvCxnSpPr>
            <a:cxnSpLocks/>
            <a:stCxn id="161" idx="3"/>
            <a:endCxn id="165" idx="1"/>
          </p:cNvCxnSpPr>
          <p:nvPr/>
        </p:nvCxnSpPr>
        <p:spPr>
          <a:xfrm>
            <a:off x="9693662" y="5923749"/>
            <a:ext cx="270945" cy="35506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직선 화살표 연결선 172"/>
          <p:cNvCxnSpPr>
            <a:stCxn id="145" idx="3"/>
          </p:cNvCxnSpPr>
          <p:nvPr/>
        </p:nvCxnSpPr>
        <p:spPr>
          <a:xfrm>
            <a:off x="2000250" y="5973559"/>
            <a:ext cx="6111737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꺾인 연결선 174"/>
          <p:cNvCxnSpPr>
            <a:stCxn id="148" idx="2"/>
            <a:endCxn id="166" idx="1"/>
          </p:cNvCxnSpPr>
          <p:nvPr/>
        </p:nvCxnSpPr>
        <p:spPr>
          <a:xfrm rot="16200000" flipH="1">
            <a:off x="7148693" y="4407124"/>
            <a:ext cx="1136967" cy="789621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435</a:t>
            </a:r>
            <a:endParaRPr lang="ko-KR" alt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2252768" y="5017220"/>
            <a:ext cx="2039076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지식재산처</a:t>
            </a:r>
            <a:r>
              <a:rPr lang="en-US" altLang="ko-KR" sz="1400" dirty="0"/>
              <a:t>/</a:t>
            </a:r>
            <a:r>
              <a:rPr lang="ko-KR" altLang="en-US" sz="1400" dirty="0"/>
              <a:t>심판원 직원</a:t>
            </a:r>
          </a:p>
        </p:txBody>
      </p:sp>
      <p:cxnSp>
        <p:nvCxnSpPr>
          <p:cNvPr id="64" name="꺾인 연결선 63"/>
          <p:cNvCxnSpPr>
            <a:cxnSpLocks/>
            <a:stCxn id="88" idx="3"/>
            <a:endCxn id="54" idx="1"/>
          </p:cNvCxnSpPr>
          <p:nvPr/>
        </p:nvCxnSpPr>
        <p:spPr>
          <a:xfrm>
            <a:off x="2000250" y="4459040"/>
            <a:ext cx="252518" cy="74284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D7172C9-1F43-457A-9066-8BAA7937D22E}"/>
              </a:ext>
            </a:extLst>
          </p:cNvPr>
          <p:cNvSpPr/>
          <p:nvPr/>
        </p:nvSpPr>
        <p:spPr>
          <a:xfrm>
            <a:off x="9964607" y="5194889"/>
            <a:ext cx="1705690" cy="249199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소송</a:t>
            </a:r>
          </a:p>
        </p:txBody>
      </p:sp>
      <p:cxnSp>
        <p:nvCxnSpPr>
          <p:cNvPr id="57" name="꺾인 연결선 168">
            <a:extLst>
              <a:ext uri="{FF2B5EF4-FFF2-40B4-BE49-F238E27FC236}">
                <a16:creationId xmlns:a16="http://schemas.microsoft.com/office/drawing/2014/main" id="{8C6021F3-07E4-4057-BF7F-4EB5018355E3}"/>
              </a:ext>
            </a:extLst>
          </p:cNvPr>
          <p:cNvCxnSpPr>
            <a:cxnSpLocks/>
            <a:stCxn id="160" idx="3"/>
            <a:endCxn id="56" idx="1"/>
          </p:cNvCxnSpPr>
          <p:nvPr/>
        </p:nvCxnSpPr>
        <p:spPr>
          <a:xfrm>
            <a:off x="9693662" y="4588958"/>
            <a:ext cx="270945" cy="73053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6077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139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심판의 당사자 中 당사자적격자</a:t>
            </a:r>
          </a:p>
        </p:txBody>
      </p:sp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235877"/>
              </p:ext>
            </p:extLst>
          </p:nvPr>
        </p:nvGraphicFramePr>
        <p:xfrm>
          <a:off x="335360" y="1143318"/>
          <a:ext cx="11521280" cy="539861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9786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3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780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50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9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구 분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청구인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피청구인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9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거절결정불복심판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法 </a:t>
                      </a:r>
                      <a:r>
                        <a:rPr lang="en-US" altLang="ko-KR" sz="1200" dirty="0">
                          <a:effectLst/>
                        </a:rPr>
                        <a:t>132</a:t>
                      </a:r>
                      <a:r>
                        <a:rPr lang="ko-KR" altLang="en-US" sz="1200" dirty="0">
                          <a:effectLst/>
                        </a:rPr>
                        <a:t>의</a:t>
                      </a:r>
                      <a:r>
                        <a:rPr lang="en-US" altLang="ko-KR" sz="1200" dirty="0">
                          <a:effectLst/>
                        </a:rPr>
                        <a:t>17)</a:t>
                      </a:r>
                      <a:endParaRPr lang="en-US" altLang="ko-KR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출원인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9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정정심판</a:t>
                      </a: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法 </a:t>
                      </a:r>
                      <a:r>
                        <a:rPr lang="en-US" altLang="ko-KR" sz="1200" dirty="0">
                          <a:effectLst/>
                        </a:rPr>
                        <a:t>136)</a:t>
                      </a:r>
                      <a:endParaRPr lang="en-US" altLang="ko-KR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>
                          <a:effectLst/>
                        </a:rPr>
                        <a:t>특허권자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-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3738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무효심판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>
                          <a:effectLst/>
                        </a:rPr>
                        <a:t>(</a:t>
                      </a:r>
                      <a:r>
                        <a:rPr lang="ko-KR" altLang="en-US" sz="1200">
                          <a:effectLst/>
                        </a:rPr>
                        <a:t>法 </a:t>
                      </a:r>
                      <a:r>
                        <a:rPr lang="en-US" altLang="ko-KR" sz="1200">
                          <a:effectLst/>
                        </a:rPr>
                        <a:t>133, 134, 137)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이해관계인 또는 심사관</a:t>
                      </a:r>
                    </a:p>
                    <a:p>
                      <a:pPr fontAlgn="base" latinLnBrk="1"/>
                      <a:r>
                        <a:rPr lang="en-US" altLang="ko-KR" sz="1200" kern="1200" dirty="0">
                          <a:effectLst/>
                        </a:rPr>
                        <a:t>(</a:t>
                      </a:r>
                      <a:r>
                        <a:rPr lang="ko-KR" altLang="en-US" sz="1200" kern="1200" dirty="0">
                          <a:effectLst/>
                        </a:rPr>
                        <a:t>다만</a:t>
                      </a:r>
                      <a:r>
                        <a:rPr lang="en-US" altLang="ko-KR" sz="1200" kern="1200" dirty="0">
                          <a:effectLst/>
                        </a:rPr>
                        <a:t>, </a:t>
                      </a:r>
                      <a:r>
                        <a:rPr lang="ko-KR" altLang="en-US" sz="1200" kern="1200" dirty="0">
                          <a:effectLst/>
                        </a:rPr>
                        <a:t>특허를 받을 수 있는 권리를 가지지 아니하여 제</a:t>
                      </a:r>
                      <a:r>
                        <a:rPr lang="en-US" altLang="ko-KR" sz="1200" kern="1200" dirty="0">
                          <a:effectLst/>
                        </a:rPr>
                        <a:t>33</a:t>
                      </a:r>
                      <a:r>
                        <a:rPr lang="ko-KR" altLang="en-US" sz="1200" kern="1200" dirty="0">
                          <a:effectLst/>
                        </a:rPr>
                        <a:t>조 제</a:t>
                      </a:r>
                      <a:r>
                        <a:rPr lang="en-US" altLang="ko-KR" sz="1200" kern="1200" dirty="0">
                          <a:effectLst/>
                        </a:rPr>
                        <a:t>1</a:t>
                      </a:r>
                      <a:r>
                        <a:rPr lang="ko-KR" altLang="en-US" sz="1200" kern="1200" dirty="0">
                          <a:effectLst/>
                        </a:rPr>
                        <a:t>항 본문을 위반한 경우나 특허를 받을 수 있는 권리가 공유인데 공동출원하지 아니하여 제</a:t>
                      </a:r>
                      <a:r>
                        <a:rPr lang="en-US" altLang="ko-KR" sz="1200" kern="1200" dirty="0">
                          <a:effectLst/>
                        </a:rPr>
                        <a:t>44</a:t>
                      </a:r>
                      <a:r>
                        <a:rPr lang="ko-KR" altLang="en-US" sz="1200" kern="1200" dirty="0">
                          <a:effectLst/>
                        </a:rPr>
                        <a:t>조를 위반한 경우에는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</a:rPr>
                        <a:t>심사관 또는 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</a:rPr>
                        <a:t>특허를 받을 수 있는 권리를 가진 자</a:t>
                      </a:r>
                      <a:r>
                        <a:rPr lang="ko-KR" altLang="en-US" sz="1200" kern="1200" dirty="0">
                          <a:effectLst/>
                        </a:rPr>
                        <a:t>가 특허무효심판</a:t>
                      </a:r>
                      <a:r>
                        <a:rPr lang="en-US" altLang="ko-KR" sz="1200" kern="1200" dirty="0">
                          <a:effectLst/>
                        </a:rPr>
                        <a:t>(</a:t>
                      </a:r>
                      <a:r>
                        <a:rPr lang="ko-KR" altLang="en-US" sz="1200" kern="1200" dirty="0">
                          <a:effectLst/>
                        </a:rPr>
                        <a:t>法 </a:t>
                      </a:r>
                      <a:r>
                        <a:rPr lang="en-US" altLang="ko-KR" sz="1200" kern="1200" dirty="0">
                          <a:effectLst/>
                        </a:rPr>
                        <a:t>133) </a:t>
                      </a:r>
                      <a:r>
                        <a:rPr lang="ko-KR" altLang="en-US" sz="1200" kern="1200" dirty="0">
                          <a:effectLst/>
                        </a:rPr>
                        <a:t>청구 가능</a:t>
                      </a:r>
                      <a:r>
                        <a:rPr lang="en-US" altLang="ko-KR" sz="1200" kern="1200" dirty="0">
                          <a:effectLst/>
                        </a:rPr>
                        <a:t>) 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>
                          <a:effectLst/>
                        </a:rPr>
                        <a:t>특허권자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89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권리범위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확인심판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法 </a:t>
                      </a:r>
                      <a:r>
                        <a:rPr lang="en-US" altLang="ko-KR" sz="1200" dirty="0">
                          <a:effectLst/>
                        </a:rPr>
                        <a:t>135)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적극적 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>
                          <a:effectLst/>
                        </a:rPr>
                        <a:t>특허권자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 err="1">
                          <a:effectLst/>
                        </a:rPr>
                        <a:t>전용실시권자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과거에 확인대상발명을 실시한 적이 있거나 </a:t>
                      </a:r>
                      <a:endParaRPr lang="en-US" altLang="ko-KR" sz="1200" dirty="0">
                        <a:effectLst/>
                      </a:endParaRPr>
                    </a:p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현재 실시하고 있는 이해관계인</a:t>
                      </a:r>
                      <a:endParaRPr lang="en-US" altLang="ko-KR" sz="1200" dirty="0">
                        <a:effectLst/>
                      </a:endParaRPr>
                    </a:p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실시할 예정이 있는 이해관계인 제외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373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소극적 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과거에 확인대상발명을 실시한 적이 있거나 현재 실시하고 있는 자뿐만 아니라 실시할 예정이 있는 이해관계인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>
                          <a:effectLst/>
                        </a:rPr>
                        <a:t>특허권자</a:t>
                      </a:r>
                      <a:endParaRPr lang="en-US" altLang="ko-KR" sz="1200" dirty="0">
                        <a:effectLst/>
                      </a:endParaRPr>
                    </a:p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전용실시권자 제외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89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>
                          <a:effectLst/>
                        </a:rPr>
                        <a:t>통상실시권</a:t>
                      </a:r>
                      <a:endParaRPr lang="ko-KR" altLang="en-US" sz="12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허락심판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effectLst/>
                        </a:rPr>
                        <a:t>(</a:t>
                      </a:r>
                      <a:r>
                        <a:rPr lang="ko-KR" altLang="en-US" sz="1200" dirty="0">
                          <a:effectLst/>
                        </a:rPr>
                        <a:t>法 </a:t>
                      </a:r>
                      <a:r>
                        <a:rPr lang="en-US" altLang="ko-KR" sz="1200" dirty="0">
                          <a:effectLst/>
                        </a:rPr>
                        <a:t>138)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>
                          <a:effectLst/>
                        </a:rPr>
                        <a:t>일반적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>
                          <a:effectLst/>
                        </a:rPr>
                        <a:t>후출원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  <a:r>
                        <a:rPr lang="ko-KR" altLang="en-US" sz="1200" dirty="0" err="1">
                          <a:effectLst/>
                        </a:rPr>
                        <a:t>특허권자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 err="1">
                          <a:effectLst/>
                        </a:rPr>
                        <a:t>전용실시권자</a:t>
                      </a:r>
                      <a:r>
                        <a:rPr lang="ko-KR" altLang="en-US" sz="1200" dirty="0">
                          <a:effectLst/>
                        </a:rPr>
                        <a:t> 또는 </a:t>
                      </a:r>
                      <a:r>
                        <a:rPr lang="ko-KR" altLang="en-US" sz="1200" dirty="0" err="1">
                          <a:effectLst/>
                        </a:rPr>
                        <a:t>통상실시권자</a:t>
                      </a:r>
                      <a:endParaRPr lang="ko-KR" altLang="en-US" sz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>
                          <a:effectLst/>
                        </a:rPr>
                        <a:t>선출원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  <a:r>
                        <a:rPr lang="ko-KR" altLang="en-US" sz="1200" dirty="0" err="1">
                          <a:effectLst/>
                        </a:rPr>
                        <a:t>특허권자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 err="1">
                          <a:effectLst/>
                        </a:rPr>
                        <a:t>전용실시권자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실용신안권자 또는 </a:t>
                      </a:r>
                      <a:r>
                        <a:rPr lang="ko-KR" altLang="en-US" sz="1200" dirty="0" err="1">
                          <a:effectLst/>
                        </a:rPr>
                        <a:t>디자인권자</a:t>
                      </a:r>
                      <a:endParaRPr lang="en-US" altLang="ko-KR" sz="1200" dirty="0">
                        <a:effectLst/>
                      </a:endParaRPr>
                    </a:p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 err="1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상표권자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제외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138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CROSS-</a:t>
                      </a:r>
                    </a:p>
                    <a:p>
                      <a:pPr marL="0" marR="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LICENSE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>
                          <a:effectLst/>
                        </a:rPr>
                        <a:t>선출원 특허권자</a:t>
                      </a:r>
                      <a:r>
                        <a:rPr lang="en-US" altLang="ko-KR" sz="1200">
                          <a:effectLst/>
                        </a:rPr>
                        <a:t>, </a:t>
                      </a:r>
                      <a:r>
                        <a:rPr lang="ko-KR" altLang="en-US" sz="1200">
                          <a:effectLst/>
                        </a:rPr>
                        <a:t>전용실시권자</a:t>
                      </a:r>
                      <a:r>
                        <a:rPr lang="en-US" altLang="ko-KR" sz="1200">
                          <a:effectLst/>
                        </a:rPr>
                        <a:t>, </a:t>
                      </a:r>
                      <a:r>
                        <a:rPr lang="ko-KR" altLang="en-US" sz="1200">
                          <a:effectLst/>
                        </a:rPr>
                        <a:t>실용신안권자 또는 디자인권자</a:t>
                      </a:r>
                      <a:endParaRPr lang="ko-KR" altLang="en-US" sz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dirty="0" err="1">
                          <a:effectLst/>
                        </a:rPr>
                        <a:t>후출원</a:t>
                      </a:r>
                      <a:r>
                        <a:rPr lang="ko-KR" altLang="en-US" sz="1200" dirty="0">
                          <a:effectLst/>
                        </a:rPr>
                        <a:t> </a:t>
                      </a:r>
                      <a:r>
                        <a:rPr lang="ko-KR" altLang="en-US" sz="1200" dirty="0" err="1">
                          <a:effectLst/>
                        </a:rPr>
                        <a:t>특허권자</a:t>
                      </a:r>
                      <a:r>
                        <a:rPr lang="en-US" altLang="ko-KR" sz="1200" dirty="0">
                          <a:effectLst/>
                        </a:rPr>
                        <a:t>, </a:t>
                      </a:r>
                      <a:r>
                        <a:rPr lang="ko-KR" altLang="en-US" sz="1200" dirty="0">
                          <a:effectLst/>
                        </a:rPr>
                        <a:t>전용실시권자</a:t>
                      </a:r>
                      <a:endParaRPr lang="en-US" altLang="ko-KR" sz="1200" dirty="0">
                        <a:effectLst/>
                      </a:endParaRPr>
                    </a:p>
                    <a:p>
                      <a:pPr marL="35560" marR="35560" algn="ctr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통상실시권자 제외</a:t>
                      </a:r>
                      <a:r>
                        <a:rPr lang="en-US" altLang="ko-KR" sz="12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436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45A292-EDD6-DCFB-E63B-83080F4D3851}"/>
              </a:ext>
            </a:extLst>
          </p:cNvPr>
          <p:cNvSpPr txBox="1"/>
          <p:nvPr/>
        </p:nvSpPr>
        <p:spPr>
          <a:xfrm>
            <a:off x="5513295" y="1595735"/>
            <a:ext cx="3236259" cy="612934"/>
          </a:xfrm>
          <a:prstGeom prst="wedgeRoundRectCallout">
            <a:avLst>
              <a:gd name="adj1" fmla="val -65985"/>
              <a:gd name="adj2" fmla="val 81514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dirty="0"/>
              <a:t>당해 특허발명의 </a:t>
            </a:r>
            <a:r>
              <a:rPr lang="ko-KR" altLang="en-US" sz="1000" dirty="0" err="1"/>
              <a:t>권리존속으로</a:t>
            </a:r>
            <a:r>
              <a:rPr lang="ko-KR" altLang="en-US" sz="1000" dirty="0"/>
              <a:t> 인하여 법률상 어떠한 불이익을 받거나 받을 우려가 있어 그 소멸에 관하여 직접적이고도 현실적인 이해관계를 가진 사람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2861BD-0EB2-66A2-30B7-BA7C69074271}"/>
              </a:ext>
            </a:extLst>
          </p:cNvPr>
          <p:cNvSpPr txBox="1"/>
          <p:nvPr/>
        </p:nvSpPr>
        <p:spPr>
          <a:xfrm>
            <a:off x="7440705" y="4160571"/>
            <a:ext cx="3236259" cy="442674"/>
          </a:xfrm>
          <a:prstGeom prst="wedgeRoundRectCallout">
            <a:avLst>
              <a:gd name="adj1" fmla="val -74573"/>
              <a:gd name="adj2" fmla="val 89164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dirty="0"/>
              <a:t>특허권자 등으로부터 권리의 대항을 받아 업무상 손해를 받고 있거나 손해를 받을 염려가 있는 사람</a:t>
            </a:r>
          </a:p>
        </p:txBody>
      </p:sp>
    </p:spTree>
    <p:extLst>
      <p:ext uri="{BB962C8B-B14F-4D97-AF65-F5344CB8AC3E}">
        <p14:creationId xmlns:p14="http://schemas.microsoft.com/office/powerpoint/2010/main" val="2929362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139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실시권자의</a:t>
            </a:r>
            <a:r>
              <a:rPr lang="ko-KR" altLang="en-US" dirty="0"/>
              <a:t> 무효심판청구인 적격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633144-1F17-4C2E-8824-17E357746EC1}"/>
              </a:ext>
            </a:extLst>
          </p:cNvPr>
          <p:cNvSpPr txBox="1"/>
          <p:nvPr/>
        </p:nvSpPr>
        <p:spPr>
          <a:xfrm>
            <a:off x="77875" y="1341693"/>
            <a:ext cx="119363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/>
              <a:t>구 특허법</a:t>
            </a:r>
            <a:r>
              <a:rPr lang="en-US" altLang="ko-KR" sz="1400" dirty="0"/>
              <a:t>(2013. 3. 22.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11654</a:t>
            </a:r>
            <a:r>
              <a:rPr lang="ko-KR" altLang="en-US" sz="1400" dirty="0"/>
              <a:t>호로 개정되기 전의 것</a:t>
            </a:r>
            <a:r>
              <a:rPr lang="en-US" altLang="ko-KR" sz="1400" dirty="0"/>
              <a:t>, </a:t>
            </a:r>
            <a:r>
              <a:rPr lang="ko-KR" altLang="en-US" sz="1400" dirty="0"/>
              <a:t>이하 같다</a:t>
            </a:r>
            <a:r>
              <a:rPr lang="en-US" altLang="ko-KR" sz="1400" dirty="0"/>
              <a:t>) </a:t>
            </a:r>
            <a:r>
              <a:rPr lang="ko-KR" altLang="en-US" sz="1400" dirty="0"/>
              <a:t>제</a:t>
            </a:r>
            <a:r>
              <a:rPr lang="en-US" altLang="ko-KR" sz="1400" dirty="0"/>
              <a:t>133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 전문은 “이해관계인 또는 심사관은 특허가 다음 각 호의 어느 하나에 해당하는 경우에는 무효심판을 청구할 수 있다</a:t>
            </a:r>
            <a:r>
              <a:rPr lang="en-US" altLang="ko-KR" sz="1400" dirty="0"/>
              <a:t>.”</a:t>
            </a:r>
            <a:r>
              <a:rPr lang="ko-KR" altLang="en-US" sz="1400" dirty="0"/>
              <a:t>라고 규정하고 있다</a:t>
            </a:r>
            <a:r>
              <a:rPr lang="en-US" altLang="ko-KR" sz="1400" dirty="0"/>
              <a:t>. </a:t>
            </a:r>
            <a:r>
              <a:rPr lang="ko-KR" altLang="en-US" sz="1400" dirty="0"/>
              <a:t>여기서 말하는 </a:t>
            </a:r>
            <a:r>
              <a:rPr lang="ko-KR" altLang="en-US" sz="1400" dirty="0" err="1"/>
              <a:t>이해관계인이란</a:t>
            </a:r>
            <a:r>
              <a:rPr lang="ko-KR" altLang="en-US" sz="1400" dirty="0"/>
              <a:t> 당해 특허발명의 </a:t>
            </a:r>
            <a:r>
              <a:rPr lang="ko-KR" altLang="en-US" sz="1400" dirty="0" err="1"/>
              <a:t>권리존속으로</a:t>
            </a:r>
            <a:r>
              <a:rPr lang="ko-KR" altLang="en-US" sz="1400" dirty="0"/>
              <a:t> 인하여 법률상 어떠한 불이익을 받거나 받을 우려가 있어 그 소멸에 관하여 직접적이고도 현실적인 이해관계를 가진 사람을 말하고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이에는 당해 특허발명과 같은 종류의 물품을 제조</a:t>
            </a:r>
            <a:r>
              <a:rPr lang="en-US" altLang="ko-KR" sz="1400" dirty="0">
                <a:highlight>
                  <a:srgbClr val="FFFF00"/>
                </a:highlight>
              </a:rPr>
              <a:t>·</a:t>
            </a:r>
            <a:r>
              <a:rPr lang="ko-KR" altLang="en-US" sz="1400" dirty="0">
                <a:highlight>
                  <a:srgbClr val="FFFF00"/>
                </a:highlight>
              </a:rPr>
              <a:t>판매하거나 제조</a:t>
            </a:r>
            <a:r>
              <a:rPr lang="en-US" altLang="ko-KR" sz="1400" dirty="0">
                <a:highlight>
                  <a:srgbClr val="FFFF00"/>
                </a:highlight>
              </a:rPr>
              <a:t>·</a:t>
            </a:r>
            <a:r>
              <a:rPr lang="ko-KR" altLang="en-US" sz="1400" dirty="0">
                <a:highlight>
                  <a:srgbClr val="FFFF00"/>
                </a:highlight>
              </a:rPr>
              <a:t>판매할 사람도 포함된다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이러한 법리에 의하면 특별한 사정이 없는 한 특허권의 </a:t>
            </a:r>
            <a:r>
              <a:rPr lang="ko-KR" altLang="en-US" sz="1400" dirty="0" err="1">
                <a:highlight>
                  <a:srgbClr val="FFFF00"/>
                </a:highlight>
              </a:rPr>
              <a:t>실시권자가</a:t>
            </a:r>
            <a:r>
              <a:rPr lang="ko-KR" altLang="en-US" sz="1400" dirty="0">
                <a:highlight>
                  <a:srgbClr val="FFFF00"/>
                </a:highlight>
              </a:rPr>
              <a:t> 특허권자로부터 권리의 대항을 받거나 받을 염려가 없다는 이유만으로 무효심판을 청구할 수 있는 이해관계가 소멸되었다고 볼 수 없다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</a:p>
          <a:p>
            <a:pPr fontAlgn="base"/>
            <a:r>
              <a:rPr lang="ko-KR" altLang="en-US" sz="1400" dirty="0"/>
              <a:t>그 이유는 다음과 같다</a:t>
            </a:r>
            <a:r>
              <a:rPr lang="en-US" altLang="ko-KR" sz="1400" dirty="0"/>
              <a:t>. </a:t>
            </a:r>
            <a:r>
              <a:rPr lang="ko-KR" altLang="en-US" sz="1400" dirty="0">
                <a:highlight>
                  <a:srgbClr val="CCECFF"/>
                </a:highlight>
              </a:rPr>
              <a:t>특허권의 </a:t>
            </a:r>
            <a:r>
              <a:rPr lang="ko-KR" altLang="en-US" sz="1400" dirty="0" err="1">
                <a:highlight>
                  <a:srgbClr val="CCECFF"/>
                </a:highlight>
              </a:rPr>
              <a:t>실시권자에게는</a:t>
            </a:r>
            <a:r>
              <a:rPr lang="ko-KR" altLang="en-US" sz="1400" dirty="0">
                <a:highlight>
                  <a:srgbClr val="CCECFF"/>
                </a:highlight>
              </a:rPr>
              <a:t> </a:t>
            </a:r>
            <a:r>
              <a:rPr lang="ko-KR" altLang="en-US" sz="1400" dirty="0" err="1">
                <a:highlight>
                  <a:srgbClr val="CCECFF"/>
                </a:highlight>
              </a:rPr>
              <a:t>실시료</a:t>
            </a:r>
            <a:r>
              <a:rPr lang="ko-KR" altLang="en-US" sz="1400" dirty="0">
                <a:highlight>
                  <a:srgbClr val="CCECFF"/>
                </a:highlight>
              </a:rPr>
              <a:t> 지급이나 실시 범위 등 여러 제한 사항이 부가되는 것이 일반적이므로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 err="1">
                <a:highlight>
                  <a:srgbClr val="CCECFF"/>
                </a:highlight>
              </a:rPr>
              <a:t>실시권자는</a:t>
            </a:r>
            <a:r>
              <a:rPr lang="ko-KR" altLang="en-US" sz="1400" dirty="0">
                <a:highlight>
                  <a:srgbClr val="CCECFF"/>
                </a:highlight>
              </a:rPr>
              <a:t> 무효심판을 통해 특허에 대한 </a:t>
            </a:r>
            <a:r>
              <a:rPr lang="ko-KR" altLang="en-US" sz="1400" dirty="0" err="1">
                <a:highlight>
                  <a:srgbClr val="CCECFF"/>
                </a:highlight>
              </a:rPr>
              <a:t>무효심결을</a:t>
            </a:r>
            <a:r>
              <a:rPr lang="ko-KR" altLang="en-US" sz="1400" dirty="0">
                <a:highlight>
                  <a:srgbClr val="CCECFF"/>
                </a:highlight>
              </a:rPr>
              <a:t> 받음으로써 이러한 제약에서 벗어날 수 있다</a:t>
            </a:r>
            <a:r>
              <a:rPr lang="en-US" altLang="ko-KR" sz="1400" dirty="0">
                <a:highlight>
                  <a:srgbClr val="CCECFF"/>
                </a:highlight>
              </a:rPr>
              <a:t>.</a:t>
            </a:r>
            <a:r>
              <a:rPr lang="en-US" altLang="ko-KR" sz="1400" dirty="0"/>
              <a:t> </a:t>
            </a:r>
            <a:r>
              <a:rPr lang="ko-KR" altLang="en-US" sz="1400" dirty="0"/>
              <a:t>그리고 특허에 무효사유가 존재하더라도 그에 대한 </a:t>
            </a:r>
            <a:r>
              <a:rPr lang="ko-KR" altLang="en-US" sz="1400" dirty="0" err="1"/>
              <a:t>무효심결이</a:t>
            </a:r>
            <a:r>
              <a:rPr lang="ko-KR" altLang="en-US" sz="1400" dirty="0"/>
              <a:t> 확정되기까지는 그 특허권은 유효하게 존속하고 함부로 그 존재를 부정할 수 없으며</a:t>
            </a:r>
            <a:r>
              <a:rPr lang="en-US" altLang="ko-KR" sz="1400" dirty="0"/>
              <a:t>, </a:t>
            </a:r>
            <a:r>
              <a:rPr lang="ko-KR" altLang="en-US" sz="1400" dirty="0"/>
              <a:t>무효심판을 청구하더라도 </a:t>
            </a:r>
            <a:r>
              <a:rPr lang="ko-KR" altLang="en-US" sz="1400" dirty="0" err="1"/>
              <a:t>무효심결이</a:t>
            </a:r>
            <a:r>
              <a:rPr lang="ko-KR" altLang="en-US" sz="1400" dirty="0"/>
              <a:t> 확정되기까지는 상당한 시간과 비용이 소요된다</a:t>
            </a:r>
            <a:r>
              <a:rPr lang="en-US" altLang="ko-KR" sz="1400" dirty="0"/>
              <a:t>. </a:t>
            </a:r>
            <a:r>
              <a:rPr lang="ko-KR" altLang="en-US" sz="1400" dirty="0"/>
              <a:t>이러한 이유로 특허권에 대한 실시권을 </a:t>
            </a:r>
            <a:r>
              <a:rPr lang="ko-KR" altLang="en-US" sz="1400" dirty="0" err="1"/>
              <a:t>설정받지</a:t>
            </a:r>
            <a:r>
              <a:rPr lang="ko-KR" altLang="en-US" sz="1400" dirty="0"/>
              <a:t> 않고 실시하고 싶은 사람이라도 우선 특허권자로부터 실시권을 </a:t>
            </a:r>
            <a:r>
              <a:rPr lang="ko-KR" altLang="en-US" sz="1400" dirty="0" err="1"/>
              <a:t>설정받아</a:t>
            </a:r>
            <a:r>
              <a:rPr lang="ko-KR" altLang="en-US" sz="1400" dirty="0"/>
              <a:t> 특허발명을 실시하고 그 무효 여부에 대한 다툼을 추후로 미루어 둘 수 있으므로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00FFFF"/>
                </a:highlight>
              </a:rPr>
              <a:t>실시권을 </a:t>
            </a:r>
            <a:r>
              <a:rPr lang="ko-KR" altLang="en-US" sz="1400" dirty="0" err="1">
                <a:highlight>
                  <a:srgbClr val="00FFFF"/>
                </a:highlight>
              </a:rPr>
              <a:t>설정받았다는</a:t>
            </a:r>
            <a:r>
              <a:rPr lang="ko-KR" altLang="en-US" sz="1400" dirty="0">
                <a:highlight>
                  <a:srgbClr val="00FFFF"/>
                </a:highlight>
              </a:rPr>
              <a:t> 이유로 특허의 무효 여부를 다투지 않겠다는 의사를 표시하였다고 단정할 수도 없다</a:t>
            </a:r>
            <a:r>
              <a:rPr lang="en-US" altLang="ko-KR" sz="1400" dirty="0">
                <a:highlight>
                  <a:srgbClr val="00FFFF"/>
                </a:highlight>
              </a:rPr>
              <a:t>.</a:t>
            </a:r>
          </a:p>
          <a:p>
            <a:pPr fontAlgn="base"/>
            <a:r>
              <a:rPr lang="ko-KR" altLang="en-US" sz="1400" dirty="0"/>
              <a:t>이와 달리 </a:t>
            </a:r>
            <a:r>
              <a:rPr lang="ko-KR" altLang="en-US" sz="1400" dirty="0" err="1"/>
              <a:t>실시권자라는</a:t>
            </a:r>
            <a:r>
              <a:rPr lang="ko-KR" altLang="en-US" sz="1400" dirty="0"/>
              <a:t> 이유만으로 무효심판을 청구할 수 있는 이해관계인에 해당하지 않는다는 취지로 판시한 대법원 </a:t>
            </a:r>
            <a:r>
              <a:rPr lang="en-US" altLang="ko-KR" sz="1400" dirty="0"/>
              <a:t>1977. 3. 22. </a:t>
            </a:r>
            <a:r>
              <a:rPr lang="ko-KR" altLang="en-US" sz="1400" dirty="0"/>
              <a:t>선고 </a:t>
            </a:r>
            <a:r>
              <a:rPr lang="en-US" altLang="ko-KR" sz="1400" dirty="0"/>
              <a:t>76</a:t>
            </a:r>
            <a:r>
              <a:rPr lang="ko-KR" altLang="en-US" sz="1400" dirty="0"/>
              <a:t>후</a:t>
            </a:r>
            <a:r>
              <a:rPr lang="en-US" altLang="ko-KR" sz="1400" dirty="0"/>
              <a:t>7 </a:t>
            </a:r>
            <a:r>
              <a:rPr lang="ko-KR" altLang="en-US" sz="1400" dirty="0"/>
              <a:t>판결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1983. 12. 27. </a:t>
            </a:r>
            <a:r>
              <a:rPr lang="ko-KR" altLang="en-US" sz="1400" dirty="0"/>
              <a:t>선고 </a:t>
            </a:r>
            <a:r>
              <a:rPr lang="en-US" altLang="ko-KR" sz="1400" dirty="0"/>
              <a:t>82</a:t>
            </a:r>
            <a:r>
              <a:rPr lang="ko-KR" altLang="en-US" sz="1400" dirty="0"/>
              <a:t>후</a:t>
            </a:r>
            <a:r>
              <a:rPr lang="en-US" altLang="ko-KR" sz="1400" dirty="0"/>
              <a:t>58 </a:t>
            </a:r>
            <a:r>
              <a:rPr lang="ko-KR" altLang="en-US" sz="1400" dirty="0"/>
              <a:t>판결을 비롯한 같은 취지의 판결들은 이 판결의 견해에 배치되는 범위 내에서 이를 모두 변경하기로 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13051FA-C7B1-44EA-A927-EDC425AECEAE}"/>
              </a:ext>
            </a:extLst>
          </p:cNvPr>
          <p:cNvSpPr/>
          <p:nvPr/>
        </p:nvSpPr>
        <p:spPr>
          <a:xfrm>
            <a:off x="113937" y="964867"/>
            <a:ext cx="6586024" cy="346234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600" dirty="0"/>
              <a:t>대법원 </a:t>
            </a:r>
            <a:r>
              <a:rPr lang="en-US" altLang="ko-KR" sz="1600" dirty="0"/>
              <a:t>2019. 2. 21. </a:t>
            </a:r>
            <a:r>
              <a:rPr lang="ko-KR" altLang="en-US" sz="1600" dirty="0"/>
              <a:t>선고 </a:t>
            </a:r>
            <a:r>
              <a:rPr lang="en-US" altLang="ko-KR" sz="1600" dirty="0"/>
              <a:t>2017</a:t>
            </a:r>
            <a:r>
              <a:rPr lang="ko-KR" altLang="en-US" sz="1600" dirty="0"/>
              <a:t>후</a:t>
            </a:r>
            <a:r>
              <a:rPr lang="en-US" altLang="ko-KR" sz="1600" dirty="0"/>
              <a:t>2819 </a:t>
            </a:r>
            <a:r>
              <a:rPr lang="ko-KR" altLang="en-US" sz="1600" dirty="0"/>
              <a:t>전원합의체 판결 </a:t>
            </a:r>
            <a:r>
              <a:rPr lang="en-US" altLang="ko-KR" sz="1600" dirty="0"/>
              <a:t>【</a:t>
            </a:r>
            <a:r>
              <a:rPr lang="ko-KR" altLang="en-US" sz="1600" dirty="0"/>
              <a:t>등록무효</a:t>
            </a:r>
            <a:r>
              <a:rPr lang="en-US" altLang="ko-KR" sz="1600" dirty="0"/>
              <a:t>(</a:t>
            </a:r>
            <a:r>
              <a:rPr lang="ko-KR" altLang="en-US" sz="1600" dirty="0" err="1"/>
              <a:t>특</a:t>
            </a:r>
            <a:r>
              <a:rPr lang="en-US" altLang="ko-KR" sz="1600" dirty="0"/>
              <a:t>)】</a:t>
            </a:r>
            <a:endParaRPr lang="ko-KR" altLang="en-US" sz="1600" dirty="0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351D280-3160-4D5A-A51C-928A06A27310}"/>
              </a:ext>
            </a:extLst>
          </p:cNvPr>
          <p:cNvCxnSpPr/>
          <p:nvPr/>
        </p:nvCxnSpPr>
        <p:spPr>
          <a:xfrm>
            <a:off x="0" y="4019656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6563C31-B4F3-4389-85CA-EB8B300B305A}"/>
              </a:ext>
            </a:extLst>
          </p:cNvPr>
          <p:cNvCxnSpPr>
            <a:cxnSpLocks/>
          </p:cNvCxnSpPr>
          <p:nvPr/>
        </p:nvCxnSpPr>
        <p:spPr>
          <a:xfrm>
            <a:off x="215660" y="5242801"/>
            <a:ext cx="1167154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4">
            <a:extLst>
              <a:ext uri="{FF2B5EF4-FFF2-40B4-BE49-F238E27FC236}">
                <a16:creationId xmlns:a16="http://schemas.microsoft.com/office/drawing/2014/main" id="{3CE609FF-1071-469C-9293-AF84D6347FA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426631" y="51662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1D522C-E29E-4724-9F6C-ABA1C6A91996}"/>
              </a:ext>
            </a:extLst>
          </p:cNvPr>
          <p:cNvSpPr txBox="1"/>
          <p:nvPr/>
        </p:nvSpPr>
        <p:spPr>
          <a:xfrm>
            <a:off x="1049372" y="4459402"/>
            <a:ext cx="89157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altLang="ko-KR" sz="1200" dirty="0"/>
          </a:p>
          <a:p>
            <a:pPr algn="ctr"/>
            <a:r>
              <a:rPr lang="ko-KR" altLang="en-US" sz="1200" dirty="0" err="1"/>
              <a:t>원출원</a:t>
            </a:r>
            <a:r>
              <a:rPr lang="en-US" altLang="ko-KR" sz="1200" dirty="0"/>
              <a:t>(X)</a:t>
            </a:r>
          </a:p>
          <a:p>
            <a:pPr algn="ctr"/>
            <a:r>
              <a:rPr lang="en-US" altLang="ko-KR" sz="1200" dirty="0"/>
              <a:t>2011.8.29</a:t>
            </a:r>
          </a:p>
          <a:p>
            <a:pPr algn="ctr"/>
            <a:endParaRPr lang="ko-KR" altLang="en-US" sz="1200" dirty="0"/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09A060BA-7C15-453B-8277-BAE2125E5D94}"/>
              </a:ext>
            </a:extLst>
          </p:cNvPr>
          <p:cNvCxnSpPr>
            <a:cxnSpLocks/>
            <a:stCxn id="11" idx="2"/>
            <a:endCxn id="10" idx="4"/>
          </p:cNvCxnSpPr>
          <p:nvPr/>
        </p:nvCxnSpPr>
        <p:spPr>
          <a:xfrm>
            <a:off x="1495158" y="4921067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4">
            <a:extLst>
              <a:ext uri="{FF2B5EF4-FFF2-40B4-BE49-F238E27FC236}">
                <a16:creationId xmlns:a16="http://schemas.microsoft.com/office/drawing/2014/main" id="{61E65B9D-80B0-4346-9F78-D6D3E458413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108539" y="51662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B50E7E7-DD46-44CD-9A20-CC7AEEDBB1EA}"/>
              </a:ext>
            </a:extLst>
          </p:cNvPr>
          <p:cNvSpPr txBox="1"/>
          <p:nvPr/>
        </p:nvSpPr>
        <p:spPr>
          <a:xfrm>
            <a:off x="1680683" y="5564537"/>
            <a:ext cx="1011815" cy="26946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선행출원</a:t>
            </a:r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FA748A94-0B08-4719-AC43-70C57F2C326D}"/>
              </a:ext>
            </a:extLst>
          </p:cNvPr>
          <p:cNvCxnSpPr>
            <a:cxnSpLocks/>
            <a:stCxn id="17" idx="0"/>
            <a:endCxn id="16" idx="0"/>
          </p:cNvCxnSpPr>
          <p:nvPr/>
        </p:nvCxnSpPr>
        <p:spPr>
          <a:xfrm flipH="1" flipV="1">
            <a:off x="2179977" y="5319332"/>
            <a:ext cx="6614" cy="2452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14">
            <a:extLst>
              <a:ext uri="{FF2B5EF4-FFF2-40B4-BE49-F238E27FC236}">
                <a16:creationId xmlns:a16="http://schemas.microsoft.com/office/drawing/2014/main" id="{8D053D61-F5E4-478B-AB55-4FCEBB189CA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132113" y="51662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7C235F1-667B-448A-8894-76C897C7DEFE}"/>
              </a:ext>
            </a:extLst>
          </p:cNvPr>
          <p:cNvSpPr txBox="1"/>
          <p:nvPr/>
        </p:nvSpPr>
        <p:spPr>
          <a:xfrm>
            <a:off x="2754854" y="4459402"/>
            <a:ext cx="8915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altLang="ko-KR" sz="1200" dirty="0"/>
          </a:p>
          <a:p>
            <a:pPr algn="ctr"/>
            <a:r>
              <a:rPr lang="en-US" altLang="ko-KR" sz="1200" dirty="0"/>
              <a:t>PCT</a:t>
            </a:r>
            <a:r>
              <a:rPr lang="ko-KR" altLang="en-US" sz="1200" dirty="0"/>
              <a:t>출원</a:t>
            </a:r>
            <a:r>
              <a:rPr lang="en-US" altLang="ko-KR" sz="1200" dirty="0"/>
              <a:t>(Y)</a:t>
            </a:r>
          </a:p>
          <a:p>
            <a:pPr algn="ctr"/>
            <a:r>
              <a:rPr lang="en-US" altLang="ko-KR" sz="1200" dirty="0"/>
              <a:t>2012.1.20</a:t>
            </a:r>
          </a:p>
          <a:p>
            <a:pPr algn="ctr"/>
            <a:endParaRPr lang="ko-KR" altLang="en-US" sz="1200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CA5401D-ED08-4BF1-AAF7-90F9B9544DC4}"/>
              </a:ext>
            </a:extLst>
          </p:cNvPr>
          <p:cNvCxnSpPr>
            <a:cxnSpLocks/>
            <a:stCxn id="22" idx="2"/>
            <a:endCxn id="21" idx="4"/>
          </p:cNvCxnSpPr>
          <p:nvPr/>
        </p:nvCxnSpPr>
        <p:spPr>
          <a:xfrm>
            <a:off x="3200640" y="4921067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A6E0D9F-C629-48CB-83BB-C37397DD0B81}"/>
              </a:ext>
            </a:extLst>
          </p:cNvPr>
          <p:cNvSpPr txBox="1"/>
          <p:nvPr/>
        </p:nvSpPr>
        <p:spPr>
          <a:xfrm>
            <a:off x="2754854" y="4207508"/>
            <a:ext cx="891572" cy="2518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X</a:t>
            </a:r>
            <a:r>
              <a:rPr lang="ko-KR" altLang="en-US" sz="1200" dirty="0"/>
              <a:t>기초 우주</a:t>
            </a:r>
          </a:p>
        </p:txBody>
      </p:sp>
      <p:sp>
        <p:nvSpPr>
          <p:cNvPr id="26" name="Rectangle 14">
            <a:extLst>
              <a:ext uri="{FF2B5EF4-FFF2-40B4-BE49-F238E27FC236}">
                <a16:creationId xmlns:a16="http://schemas.microsoft.com/office/drawing/2014/main" id="{12F6D2A0-F328-4859-9AB9-7D9FE356954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83794" y="51662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5734BA0-7A3D-4E89-8616-B9ADFA3C942B}"/>
              </a:ext>
            </a:extLst>
          </p:cNvPr>
          <p:cNvSpPr txBox="1"/>
          <p:nvPr/>
        </p:nvSpPr>
        <p:spPr>
          <a:xfrm>
            <a:off x="5406535" y="4207508"/>
            <a:ext cx="891572" cy="71355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altLang="ko-KR" sz="1200" dirty="0"/>
          </a:p>
          <a:p>
            <a:pPr algn="ctr"/>
            <a:r>
              <a:rPr lang="en-US" altLang="ko-KR" sz="1200" dirty="0"/>
              <a:t>Y</a:t>
            </a:r>
            <a:r>
              <a:rPr lang="ko-KR" altLang="en-US" sz="1200" dirty="0"/>
              <a:t>기초</a:t>
            </a:r>
            <a:endParaRPr lang="en-US" altLang="ko-KR" sz="1200" dirty="0"/>
          </a:p>
          <a:p>
            <a:pPr algn="ctr"/>
            <a:r>
              <a:rPr lang="ko-KR" altLang="en-US" sz="1200" dirty="0"/>
              <a:t>분할출원</a:t>
            </a:r>
            <a:r>
              <a:rPr lang="en-US" altLang="ko-KR" sz="1200" dirty="0"/>
              <a:t>(Z)</a:t>
            </a:r>
          </a:p>
          <a:p>
            <a:pPr algn="ctr"/>
            <a:r>
              <a:rPr lang="en-US" altLang="ko-KR" sz="1200" dirty="0"/>
              <a:t>2012.3.16</a:t>
            </a:r>
          </a:p>
          <a:p>
            <a:pPr algn="ctr"/>
            <a:endParaRPr lang="ko-KR" altLang="en-US" sz="1200" dirty="0"/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4DA5A13C-2D6D-4FAC-A7E1-48C38153736B}"/>
              </a:ext>
            </a:extLst>
          </p:cNvPr>
          <p:cNvCxnSpPr>
            <a:cxnSpLocks/>
            <a:stCxn id="27" idx="2"/>
            <a:endCxn id="26" idx="4"/>
          </p:cNvCxnSpPr>
          <p:nvPr/>
        </p:nvCxnSpPr>
        <p:spPr>
          <a:xfrm>
            <a:off x="5852321" y="4921067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14">
            <a:extLst>
              <a:ext uri="{FF2B5EF4-FFF2-40B4-BE49-F238E27FC236}">
                <a16:creationId xmlns:a16="http://schemas.microsoft.com/office/drawing/2014/main" id="{4EE1DF9C-B5C4-436C-B8AE-8D5CE5E4160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503033" y="51662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E55449-6500-40BA-8AF7-7DAE9798EDB4}"/>
              </a:ext>
            </a:extLst>
          </p:cNvPr>
          <p:cNvSpPr txBox="1"/>
          <p:nvPr/>
        </p:nvSpPr>
        <p:spPr>
          <a:xfrm>
            <a:off x="4125774" y="4459402"/>
            <a:ext cx="89157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altLang="ko-KR" sz="1200" dirty="0"/>
          </a:p>
          <a:p>
            <a:pPr algn="ctr"/>
            <a:r>
              <a:rPr lang="ko-KR" altLang="en-US" sz="1200" dirty="0"/>
              <a:t>제</a:t>
            </a:r>
            <a:r>
              <a:rPr lang="en-US" altLang="ko-KR" sz="1200" dirty="0"/>
              <a:t>203</a:t>
            </a:r>
            <a:r>
              <a:rPr lang="ko-KR" altLang="en-US" sz="1200" dirty="0"/>
              <a:t>조</a:t>
            </a:r>
            <a:endParaRPr lang="en-US" altLang="ko-KR" sz="1200" dirty="0"/>
          </a:p>
          <a:p>
            <a:pPr algn="ctr"/>
            <a:r>
              <a:rPr lang="ko-KR" altLang="en-US" sz="1200" dirty="0"/>
              <a:t>서면제출</a:t>
            </a:r>
            <a:r>
              <a:rPr lang="en-US" altLang="ko-KR" sz="1200" dirty="0"/>
              <a:t>(Y)</a:t>
            </a:r>
          </a:p>
          <a:p>
            <a:pPr algn="ctr"/>
            <a:endParaRPr lang="ko-KR" altLang="en-US" sz="1200" dirty="0"/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E9BD0054-BCDF-4D79-A982-94EABC7C52DC}"/>
              </a:ext>
            </a:extLst>
          </p:cNvPr>
          <p:cNvCxnSpPr>
            <a:cxnSpLocks/>
            <a:stCxn id="32" idx="2"/>
            <a:endCxn id="31" idx="4"/>
          </p:cNvCxnSpPr>
          <p:nvPr/>
        </p:nvCxnSpPr>
        <p:spPr>
          <a:xfrm>
            <a:off x="4571560" y="4921067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14">
            <a:extLst>
              <a:ext uri="{FF2B5EF4-FFF2-40B4-BE49-F238E27FC236}">
                <a16:creationId xmlns:a16="http://schemas.microsoft.com/office/drawing/2014/main" id="{B50E55E5-B56D-4301-9700-FD03AC1FEB2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184193" y="51662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684EA47-FD04-4EB6-8B03-1685684E4E5E}"/>
              </a:ext>
            </a:extLst>
          </p:cNvPr>
          <p:cNvSpPr txBox="1"/>
          <p:nvPr/>
        </p:nvSpPr>
        <p:spPr>
          <a:xfrm>
            <a:off x="7806934" y="4669430"/>
            <a:ext cx="891572" cy="25163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등록</a:t>
            </a:r>
            <a:r>
              <a:rPr lang="en-US" altLang="ko-KR" sz="1200" dirty="0"/>
              <a:t>(W)</a:t>
            </a:r>
            <a:endParaRPr lang="ko-KR" altLang="en-US" sz="1200" dirty="0"/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F58E34F-463F-41B5-88FF-B9C1C5A9D075}"/>
              </a:ext>
            </a:extLst>
          </p:cNvPr>
          <p:cNvCxnSpPr>
            <a:cxnSpLocks/>
            <a:stCxn id="37" idx="2"/>
            <a:endCxn id="36" idx="4"/>
          </p:cNvCxnSpPr>
          <p:nvPr/>
        </p:nvCxnSpPr>
        <p:spPr>
          <a:xfrm>
            <a:off x="8252720" y="4921067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4">
            <a:extLst>
              <a:ext uri="{FF2B5EF4-FFF2-40B4-BE49-F238E27FC236}">
                <a16:creationId xmlns:a16="http://schemas.microsoft.com/office/drawing/2014/main" id="{29C62620-AFCB-4DB8-B709-87201C2971E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294091" y="51662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10F4126-FF7F-400B-8A53-E015BCB4373A}"/>
              </a:ext>
            </a:extLst>
          </p:cNvPr>
          <p:cNvSpPr txBox="1"/>
          <p:nvPr/>
        </p:nvSpPr>
        <p:spPr>
          <a:xfrm>
            <a:off x="8916832" y="4459402"/>
            <a:ext cx="891572" cy="46166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MPEG LA</a:t>
            </a:r>
          </a:p>
          <a:p>
            <a:pPr algn="ctr"/>
            <a:r>
              <a:rPr lang="ko-KR" altLang="en-US" sz="1200" dirty="0"/>
              <a:t>등재</a:t>
            </a:r>
            <a:r>
              <a:rPr lang="en-US" altLang="ko-KR" sz="1200" dirty="0"/>
              <a:t>(W)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509CF33-4407-4446-9B73-C3D788335AFD}"/>
              </a:ext>
            </a:extLst>
          </p:cNvPr>
          <p:cNvCxnSpPr>
            <a:cxnSpLocks/>
            <a:stCxn id="41" idx="2"/>
            <a:endCxn id="40" idx="4"/>
          </p:cNvCxnSpPr>
          <p:nvPr/>
        </p:nvCxnSpPr>
        <p:spPr>
          <a:xfrm>
            <a:off x="9362618" y="4921067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14">
            <a:extLst>
              <a:ext uri="{FF2B5EF4-FFF2-40B4-BE49-F238E27FC236}">
                <a16:creationId xmlns:a16="http://schemas.microsoft.com/office/drawing/2014/main" id="{114C4356-3C88-4108-8FD5-23AE8736DEF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0008254" y="51662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E37B632-9634-45C8-86EE-71A6703BA305}"/>
              </a:ext>
            </a:extLst>
          </p:cNvPr>
          <p:cNvSpPr txBox="1"/>
          <p:nvPr/>
        </p:nvSpPr>
        <p:spPr>
          <a:xfrm>
            <a:off x="9532213" y="5564537"/>
            <a:ext cx="1108186" cy="269460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실시권</a:t>
            </a:r>
            <a:r>
              <a:rPr lang="ko-KR" altLang="en-US" sz="1400" dirty="0"/>
              <a:t> 허락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2CC8D034-8B33-4B78-94DB-77ED3083A8D4}"/>
              </a:ext>
            </a:extLst>
          </p:cNvPr>
          <p:cNvCxnSpPr>
            <a:cxnSpLocks/>
            <a:stCxn id="46" idx="0"/>
            <a:endCxn id="45" idx="0"/>
          </p:cNvCxnSpPr>
          <p:nvPr/>
        </p:nvCxnSpPr>
        <p:spPr>
          <a:xfrm flipH="1" flipV="1">
            <a:off x="10079692" y="5319332"/>
            <a:ext cx="6614" cy="2452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14">
            <a:extLst>
              <a:ext uri="{FF2B5EF4-FFF2-40B4-BE49-F238E27FC236}">
                <a16:creationId xmlns:a16="http://schemas.microsoft.com/office/drawing/2014/main" id="{684329BD-425F-4A82-B43B-7846B4A26A9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275442" y="51662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3709A0-C09D-493A-9DA9-87D5B9D25BEC}"/>
              </a:ext>
            </a:extLst>
          </p:cNvPr>
          <p:cNvSpPr txBox="1"/>
          <p:nvPr/>
        </p:nvSpPr>
        <p:spPr>
          <a:xfrm>
            <a:off x="10710531" y="5564536"/>
            <a:ext cx="1285926" cy="538189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무효심판청구</a:t>
            </a:r>
            <a:endParaRPr lang="en-US" altLang="ko-KR" sz="1400" dirty="0"/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29</a:t>
            </a:r>
            <a:r>
              <a:rPr lang="ko-KR" altLang="en-US" sz="1400" dirty="0"/>
              <a:t>조제</a:t>
            </a:r>
            <a:r>
              <a:rPr lang="en-US" altLang="ko-KR" sz="1400" dirty="0"/>
              <a:t>3</a:t>
            </a:r>
            <a:r>
              <a:rPr lang="ko-KR" altLang="en-US" sz="1400" dirty="0"/>
              <a:t>항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42CF6358-4EF3-483D-9D19-7C5FC6F14D80}"/>
              </a:ext>
            </a:extLst>
          </p:cNvPr>
          <p:cNvCxnSpPr>
            <a:cxnSpLocks/>
            <a:stCxn id="50" idx="0"/>
            <a:endCxn id="49" idx="0"/>
          </p:cNvCxnSpPr>
          <p:nvPr/>
        </p:nvCxnSpPr>
        <p:spPr>
          <a:xfrm flipH="1" flipV="1">
            <a:off x="11346880" y="5319332"/>
            <a:ext cx="6614" cy="2452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말풍선: 사각형 53">
            <a:extLst>
              <a:ext uri="{FF2B5EF4-FFF2-40B4-BE49-F238E27FC236}">
                <a16:creationId xmlns:a16="http://schemas.microsoft.com/office/drawing/2014/main" id="{D2D90C2E-DBA0-4838-A365-248C5348EB50}"/>
              </a:ext>
            </a:extLst>
          </p:cNvPr>
          <p:cNvSpPr/>
          <p:nvPr/>
        </p:nvSpPr>
        <p:spPr>
          <a:xfrm>
            <a:off x="2797061" y="5512779"/>
            <a:ext cx="6639668" cy="1015663"/>
          </a:xfrm>
          <a:prstGeom prst="wedgeRectCallout">
            <a:avLst>
              <a:gd name="adj1" fmla="val 14376"/>
              <a:gd name="adj2" fmla="val -69147"/>
            </a:avLst>
          </a:prstGeom>
          <a:ln>
            <a:solidFill>
              <a:schemeClr val="bg2">
                <a:lumMod val="9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자출원</a:t>
            </a:r>
            <a:r>
              <a:rPr lang="en-US" altLang="ko-KR" sz="1200" dirty="0"/>
              <a:t>(Z) </a:t>
            </a:r>
            <a:r>
              <a:rPr lang="ko-KR" altLang="en-US" sz="1200" dirty="0"/>
              <a:t>및 이 사건 출원</a:t>
            </a:r>
            <a:r>
              <a:rPr lang="en-US" altLang="ko-KR" sz="1200" dirty="0"/>
              <a:t>(W)</a:t>
            </a:r>
            <a:r>
              <a:rPr lang="ko-KR" altLang="en-US" sz="1200" dirty="0"/>
              <a:t>의 </a:t>
            </a:r>
            <a:r>
              <a:rPr lang="ko-KR" altLang="en-US" sz="1200" dirty="0" err="1"/>
              <a:t>특허출원서에</a:t>
            </a:r>
            <a:r>
              <a:rPr lang="ko-KR" altLang="en-US" sz="1200" dirty="0"/>
              <a:t> ‘우선권 주장의 취지 및 이 사건 선출원의 </a:t>
            </a:r>
            <a:r>
              <a:rPr lang="ko-KR" altLang="en-US" sz="1200" dirty="0" err="1"/>
              <a:t>표시’가</a:t>
            </a:r>
            <a:r>
              <a:rPr lang="ko-KR" altLang="en-US" sz="1200" dirty="0"/>
              <a:t> 기재되지 아니한 사실이 인정된다</a:t>
            </a:r>
            <a:r>
              <a:rPr lang="en-US" altLang="ko-KR" sz="1200" dirty="0"/>
              <a:t>. </a:t>
            </a:r>
            <a:r>
              <a:rPr lang="ko-KR" altLang="en-US" sz="1200" dirty="0"/>
              <a:t>이러한 인정사실을 위 법리에 비추어 보면</a:t>
            </a:r>
            <a:r>
              <a:rPr lang="en-US" altLang="ko-KR" sz="1200" dirty="0"/>
              <a:t>, </a:t>
            </a:r>
            <a:r>
              <a:rPr lang="ko-KR" altLang="en-US" sz="1200" dirty="0"/>
              <a:t>이 사건 특허발명에 대하여 구 특허법 제</a:t>
            </a:r>
            <a:r>
              <a:rPr lang="en-US" altLang="ko-KR" sz="1200" dirty="0"/>
              <a:t>55</a:t>
            </a:r>
            <a:r>
              <a:rPr lang="ko-KR" altLang="en-US" sz="1200" dirty="0"/>
              <a:t>조에 따른 우선권 주장의 효력이 인정될 수는 없으므로</a:t>
            </a:r>
            <a:r>
              <a:rPr lang="en-US" altLang="ko-KR" sz="1200" dirty="0"/>
              <a:t>, </a:t>
            </a:r>
            <a:r>
              <a:rPr lang="ko-KR" altLang="en-US" sz="1200" dirty="0"/>
              <a:t>결국 이 사건 특허발명에 대하여 구 특허법 제</a:t>
            </a:r>
            <a:r>
              <a:rPr lang="en-US" altLang="ko-KR" sz="1200" dirty="0"/>
              <a:t>29</a:t>
            </a:r>
            <a:r>
              <a:rPr lang="ko-KR" altLang="en-US" sz="1200" dirty="0"/>
              <a:t>조 제</a:t>
            </a:r>
            <a:r>
              <a:rPr lang="en-US" altLang="ko-KR" sz="1200" dirty="0"/>
              <a:t>2</a:t>
            </a:r>
            <a:r>
              <a:rPr lang="ko-KR" altLang="en-US" sz="1200" dirty="0"/>
              <a:t>항 또는 제</a:t>
            </a:r>
            <a:r>
              <a:rPr lang="en-US" altLang="ko-KR" sz="1200" dirty="0"/>
              <a:t>29</a:t>
            </a:r>
            <a:r>
              <a:rPr lang="ko-KR" altLang="en-US" sz="1200" dirty="0"/>
              <a:t>조 제</a:t>
            </a:r>
            <a:r>
              <a:rPr lang="en-US" altLang="ko-KR" sz="1200" dirty="0"/>
              <a:t>3</a:t>
            </a:r>
            <a:r>
              <a:rPr lang="ko-KR" altLang="en-US" sz="1200" dirty="0"/>
              <a:t>항 본문의 규정을 적용할 때에는 구 특허법 제</a:t>
            </a:r>
            <a:r>
              <a:rPr lang="en-US" altLang="ko-KR" sz="1200" dirty="0"/>
              <a:t>52</a:t>
            </a:r>
            <a:r>
              <a:rPr lang="ko-KR" altLang="en-US" sz="1200" dirty="0"/>
              <a:t>조 제</a:t>
            </a:r>
            <a:r>
              <a:rPr lang="en-US" altLang="ko-KR" sz="1200" dirty="0"/>
              <a:t>2</a:t>
            </a:r>
            <a:r>
              <a:rPr lang="ko-KR" altLang="en-US" sz="1200" dirty="0"/>
              <a:t>항 본문에 따라 모출원의 국제출원일인 </a:t>
            </a:r>
            <a:r>
              <a:rPr lang="en-US" altLang="ko-KR" sz="1200" dirty="0"/>
              <a:t>2012. 1. 20.</a:t>
            </a:r>
            <a:r>
              <a:rPr lang="ko-KR" altLang="en-US" sz="1200" dirty="0"/>
              <a:t>에 출원된 것으로 보아야 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58" name="Rectangle 14">
            <a:extLst>
              <a:ext uri="{FF2B5EF4-FFF2-40B4-BE49-F238E27FC236}">
                <a16:creationId xmlns:a16="http://schemas.microsoft.com/office/drawing/2014/main" id="{6FBE3508-F2EE-4BC0-A6D3-7C47B97C9FD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971140" y="51662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07D88BF-D93F-4979-9C30-E8515D70E564}"/>
              </a:ext>
            </a:extLst>
          </p:cNvPr>
          <p:cNvSpPr txBox="1"/>
          <p:nvPr/>
        </p:nvSpPr>
        <p:spPr>
          <a:xfrm>
            <a:off x="6503377" y="4207508"/>
            <a:ext cx="1072580" cy="71355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endParaRPr lang="en-US" altLang="ko-KR" sz="1200" dirty="0"/>
          </a:p>
          <a:p>
            <a:pPr algn="ctr"/>
            <a:r>
              <a:rPr lang="en-US" altLang="ko-KR" sz="1200" dirty="0"/>
              <a:t>Z</a:t>
            </a:r>
            <a:r>
              <a:rPr lang="ko-KR" altLang="en-US" sz="1200" dirty="0"/>
              <a:t>기초</a:t>
            </a:r>
            <a:endParaRPr lang="en-US" altLang="ko-KR" sz="1200" dirty="0"/>
          </a:p>
          <a:p>
            <a:pPr algn="ctr"/>
            <a:r>
              <a:rPr lang="ko-KR" altLang="en-US" sz="1200" dirty="0"/>
              <a:t>분할출원</a:t>
            </a:r>
            <a:r>
              <a:rPr lang="en-US" altLang="ko-KR" sz="1200" dirty="0"/>
              <a:t>(W)</a:t>
            </a:r>
          </a:p>
          <a:p>
            <a:pPr algn="ctr"/>
            <a:r>
              <a:rPr lang="en-US" altLang="ko-KR" sz="1200" dirty="0"/>
              <a:t>2014.4.25</a:t>
            </a:r>
          </a:p>
          <a:p>
            <a:pPr algn="ctr"/>
            <a:endParaRPr lang="ko-KR" altLang="en-US" sz="1200" dirty="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24D6B18B-B1A9-459B-9504-BC6D225463D2}"/>
              </a:ext>
            </a:extLst>
          </p:cNvPr>
          <p:cNvCxnSpPr>
            <a:cxnSpLocks/>
            <a:stCxn id="59" idx="2"/>
            <a:endCxn id="58" idx="4"/>
          </p:cNvCxnSpPr>
          <p:nvPr/>
        </p:nvCxnSpPr>
        <p:spPr>
          <a:xfrm>
            <a:off x="7039667" y="4921067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972C9AD-4B5F-4276-9491-89E78CD2CA95}"/>
              </a:ext>
            </a:extLst>
          </p:cNvPr>
          <p:cNvSpPr txBox="1"/>
          <p:nvPr/>
        </p:nvSpPr>
        <p:spPr>
          <a:xfrm>
            <a:off x="2754854" y="6521420"/>
            <a:ext cx="45817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* </a:t>
            </a:r>
            <a:r>
              <a:rPr lang="ko-KR" altLang="en-US" sz="1200" dirty="0">
                <a:solidFill>
                  <a:srgbClr val="FF0000"/>
                </a:solidFill>
              </a:rPr>
              <a:t>단</a:t>
            </a:r>
            <a:r>
              <a:rPr lang="en-US" altLang="ko-KR" sz="1200" dirty="0">
                <a:solidFill>
                  <a:srgbClr val="FF0000"/>
                </a:solidFill>
              </a:rPr>
              <a:t>, 2022.4.20. </a:t>
            </a:r>
            <a:r>
              <a:rPr lang="ko-KR" altLang="en-US" sz="1200" dirty="0">
                <a:solidFill>
                  <a:srgbClr val="FF0000"/>
                </a:solidFill>
              </a:rPr>
              <a:t>시행되는 개정법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</a:rPr>
              <a:t>18505</a:t>
            </a:r>
            <a:r>
              <a:rPr lang="ko-KR" altLang="en-US" sz="1200" dirty="0">
                <a:solidFill>
                  <a:srgbClr val="FF0000"/>
                </a:solidFill>
              </a:rPr>
              <a:t>호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r>
              <a:rPr lang="ko-KR" altLang="en-US" sz="1200" dirty="0">
                <a:solidFill>
                  <a:srgbClr val="FF0000"/>
                </a:solidFill>
              </a:rPr>
              <a:t>에 의하면 자동주장간주</a:t>
            </a:r>
          </a:p>
        </p:txBody>
      </p:sp>
    </p:spTree>
    <p:extLst>
      <p:ext uri="{BB962C8B-B14F-4D97-AF65-F5344CB8AC3E}">
        <p14:creationId xmlns:p14="http://schemas.microsoft.com/office/powerpoint/2010/main" val="35379151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139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이해관계의 </a:t>
            </a:r>
            <a:r>
              <a:rPr lang="ko-KR" altLang="en-US" dirty="0" err="1"/>
              <a:t>판단시점</a:t>
            </a:r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86840" y="468539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76902"/>
            <a:ext cx="1202728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/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*</a:t>
            </a:r>
            <a:r>
              <a:rPr lang="ko-KR" altLang="en-US" sz="1400" dirty="0">
                <a:solidFill>
                  <a:schemeClr val="tx2"/>
                </a:solidFill>
              </a:rPr>
              <a:t>를 기준으로 이해관계의 </a:t>
            </a:r>
            <a:r>
              <a:rPr lang="ko-KR" altLang="en-US" sz="1400" dirty="0" err="1">
                <a:solidFill>
                  <a:schemeClr val="tx2"/>
                </a:solidFill>
              </a:rPr>
              <a:t>존부를</a:t>
            </a:r>
            <a:r>
              <a:rPr lang="ko-KR" altLang="en-US" sz="1400" dirty="0">
                <a:solidFill>
                  <a:schemeClr val="tx2"/>
                </a:solidFill>
              </a:rPr>
              <a:t> 판단한다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심판청구 당시에는 이해관계가 없는 경우라도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시에 이해관계가 있으면 적법한 심판청구로 인정되며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심판청구 시에는 이해관계가 성립되었던 심판청구도 그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시에 이해관계가 소멸된 경우에는 </a:t>
            </a:r>
            <a:r>
              <a:rPr lang="ko-KR" altLang="en-US" sz="1400" dirty="0" err="1">
                <a:solidFill>
                  <a:schemeClr val="tx2"/>
                </a:solidFill>
              </a:rPr>
              <a:t>부적법한</a:t>
            </a:r>
            <a:r>
              <a:rPr lang="ko-KR" altLang="en-US" sz="1400" dirty="0">
                <a:solidFill>
                  <a:schemeClr val="tx2"/>
                </a:solidFill>
              </a:rPr>
              <a:t> 심판청구로서 </a:t>
            </a:r>
            <a:r>
              <a:rPr lang="ko-KR" altLang="en-US" sz="1400" dirty="0" err="1">
                <a:solidFill>
                  <a:schemeClr val="tx2"/>
                </a:solidFill>
              </a:rPr>
              <a:t>심결각하된다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예를 들어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심판계속</a:t>
            </a:r>
            <a:r>
              <a:rPr lang="ko-KR" altLang="en-US" sz="1400" dirty="0">
                <a:solidFill>
                  <a:schemeClr val="tx2"/>
                </a:solidFill>
              </a:rPr>
              <a:t> 중에 당사자의 합의가 있거나 화해를 한 경우 또는 청구인이 심판의 대상인 권리를 양도받음으로써 혼동이 있는 경우에는 이해관계가 소멸된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 합의가 있었다는 사실만으로 곧바로 이해관계가 소멸하였다고 볼 수는 없고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각각의 심판별로 합의에 이르게 된 경위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합의의 내용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합의 후의 사정 등을 종합하여 이해관계의 소멸 여부를 판단하여야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합의의 내용을 일례로 들면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</a:rPr>
              <a:t>1979. 3. 13.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77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50 </a:t>
            </a:r>
            <a:r>
              <a:rPr lang="ko-KR" altLang="en-US" sz="1400" dirty="0">
                <a:solidFill>
                  <a:schemeClr val="tx2"/>
                </a:solidFill>
              </a:rPr>
              <a:t>판결에서는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“특정의 이해관계인이 특허권리자와 간에 특허에 관한 분쟁을 일체 아니하기로 화해한 경우에는 무효심판을 청구할 이해관계인의 지위를 상실한 결과가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된다”</a:t>
            </a:r>
            <a:r>
              <a:rPr lang="ko-KR" altLang="en-US" sz="1400" dirty="0" err="1">
                <a:solidFill>
                  <a:schemeClr val="tx2"/>
                </a:solidFill>
              </a:rPr>
              <a:t>라고</a:t>
            </a:r>
            <a:r>
              <a:rPr lang="ko-KR" altLang="en-US" sz="1400" dirty="0">
                <a:solidFill>
                  <a:schemeClr val="tx2"/>
                </a:solidFill>
              </a:rPr>
              <a:t> 판시하였고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</a:rPr>
              <a:t>1996. 12. 6.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95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1050 </a:t>
            </a:r>
            <a:r>
              <a:rPr lang="ko-KR" altLang="en-US" sz="1400" dirty="0">
                <a:solidFill>
                  <a:schemeClr val="tx2"/>
                </a:solidFill>
              </a:rPr>
              <a:t>판결에서는 “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등록고안의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실용신안권자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甲과 그로부터 실용신안권 침해의 고소를 당한 乙 사이에 乙이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그 등록고안의 권리를 인정하고 그 권리에 위반되는 행위를 하지 않는다는 내용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의 약정을 하였다 하더라도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문언상으로는 그 합의의 취지를 乙이 甲의 등록고안에 대한 정당한 권리를 인정하고 그 권리에 위반되는 행위를 하지 아니하기로 한 것으로 볼 수 있을 뿐이어서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그 합의로써 곧바로 乙이 자신이 실시했던 특정 고안이 그 등록고안의 권리범위에 속함을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인정하였다거나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그 등록고안의 권리범위를 확인하는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심판청구권까지를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포기하기로 한 것으로 볼 수 없으므로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그와 같은 합의가 있었다는 사정만으로 심판청구인의 권리범위확인심판에 관한 이해관계가 소멸하였다고 할 수는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없다</a:t>
            </a:r>
            <a:r>
              <a:rPr lang="ko-KR" altLang="en-US" sz="1400" dirty="0" err="1">
                <a:solidFill>
                  <a:schemeClr val="tx2"/>
                </a:solidFill>
              </a:rPr>
              <a:t>”라고</a:t>
            </a:r>
            <a:r>
              <a:rPr lang="ko-KR" altLang="en-US" sz="1400" dirty="0">
                <a:solidFill>
                  <a:schemeClr val="tx2"/>
                </a:solidFill>
              </a:rPr>
              <a:t> 하여 단순히 상대방의 권리를 인정하는 내용의 합의로는 권리범위확인심판청구의 이해관계가 소멸하지 않는다고 하였다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또한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</a:rPr>
              <a:t>2001. 6. 29.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99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1331 </a:t>
            </a:r>
            <a:r>
              <a:rPr lang="ko-KR" altLang="en-US" sz="1400" dirty="0">
                <a:solidFill>
                  <a:schemeClr val="tx2"/>
                </a:solidFill>
              </a:rPr>
              <a:t>판결에서는 “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등록디자인의 </a:t>
            </a:r>
            <a:r>
              <a:rPr lang="ko-KR" altLang="en-US" sz="1400" dirty="0" err="1">
                <a:solidFill>
                  <a:srgbClr val="FF0000"/>
                </a:solidFill>
                <a:highlight>
                  <a:srgbClr val="FFFF00"/>
                </a:highlight>
              </a:rPr>
              <a:t>디자인권자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 甲과 그로부터 디자인권 침해의 고소를 당한 乙 사이의 합의서에 乙이 디자인등록 제품을 제작한 것에 대하여 사과하고</a:t>
            </a:r>
            <a:r>
              <a:rPr lang="en-US" altLang="ko-KR" sz="1400" dirty="0">
                <a:solidFill>
                  <a:srgbClr val="FF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추후 디자인등록 제품을 제작하지 않겠으며</a:t>
            </a:r>
            <a:r>
              <a:rPr lang="en-US" altLang="ko-KR" sz="1400" dirty="0">
                <a:solidFill>
                  <a:srgbClr val="FF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highlight>
                  <a:srgbClr val="FFFF00"/>
                </a:highlight>
              </a:rPr>
              <a:t>기존 디자인등록 제품을 폐기하겠다는 내용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만 포함되어 있을 뿐 당시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계속중이던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디자인등록 무효심판청구사건의 처리에 관하여는 아무런 기재가 없는 경우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위 합의의 내용과 경위를 고려할 때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위 합의는 乙이 자신이 제작하였던 물품이 甲의 등록디자인권의 권리범위에 속한다는 사실을 인정한 것일 뿐 그 등록디자인권의 효력에 대하여도 무효심판절차를 통하여 일체 다투지 않겠다는 취지까지 포함된 것으로 보기 어렵고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디자인등록의 무효심판의 공익적 성격을 고려하여 위와 같은 합의만으로 그 무효심판을 유지할 이해관계가 소멸하였다고 단정할 수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없다</a:t>
            </a:r>
            <a:r>
              <a:rPr lang="ko-KR" altLang="en-US" sz="1400" dirty="0" err="1">
                <a:solidFill>
                  <a:schemeClr val="tx2"/>
                </a:solidFill>
              </a:rPr>
              <a:t>”라고</a:t>
            </a:r>
            <a:r>
              <a:rPr lang="ko-KR" altLang="en-US" sz="1400" dirty="0">
                <a:solidFill>
                  <a:schemeClr val="tx2"/>
                </a:solidFill>
              </a:rPr>
              <a:t> 하여 권리범위에 속함을 인정한다는 합의는 권리범위확인심판에서의 이해관계를 소멸시키지만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이것이 특허무효심판의 이해관계까지 소멸시킨다고 볼 수는 없다고 하였다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512670" y="5767101"/>
            <a:ext cx="1089660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4"/>
          <p:cNvSpPr>
            <a:spLocks noChangeArrowheads="1"/>
          </p:cNvSpPr>
          <p:nvPr/>
        </p:nvSpPr>
        <p:spPr bwMode="auto">
          <a:xfrm flipV="1">
            <a:off x="1624364" y="56905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6983" y="5064387"/>
            <a:ext cx="101181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심판청구</a:t>
            </a:r>
          </a:p>
        </p:txBody>
      </p:sp>
      <p:cxnSp>
        <p:nvCxnSpPr>
          <p:cNvPr id="10" name="직선 연결선 9"/>
          <p:cNvCxnSpPr>
            <a:cxnSpLocks/>
            <a:endCxn id="8" idx="4"/>
          </p:cNvCxnSpPr>
          <p:nvPr/>
        </p:nvCxnSpPr>
        <p:spPr>
          <a:xfrm>
            <a:off x="1692891" y="5445367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14"/>
          <p:cNvSpPr>
            <a:spLocks noChangeArrowheads="1"/>
          </p:cNvSpPr>
          <p:nvPr/>
        </p:nvSpPr>
        <p:spPr bwMode="auto">
          <a:xfrm flipV="1">
            <a:off x="8984947" y="56905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47566" y="5064387"/>
            <a:ext cx="101181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심결시</a:t>
            </a:r>
            <a:endParaRPr lang="ko-KR" altLang="en-US" sz="1400" dirty="0"/>
          </a:p>
        </p:txBody>
      </p:sp>
      <p:cxnSp>
        <p:nvCxnSpPr>
          <p:cNvPr id="40" name="직선 연결선 39"/>
          <p:cNvCxnSpPr>
            <a:cxnSpLocks/>
            <a:endCxn id="38" idx="4"/>
          </p:cNvCxnSpPr>
          <p:nvPr/>
        </p:nvCxnSpPr>
        <p:spPr>
          <a:xfrm>
            <a:off x="9053474" y="5445367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4"/>
          <p:cNvSpPr>
            <a:spLocks noChangeArrowheads="1"/>
          </p:cNvSpPr>
          <p:nvPr/>
        </p:nvSpPr>
        <p:spPr bwMode="auto">
          <a:xfrm flipV="1">
            <a:off x="3918396" y="569057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490540" y="6088836"/>
            <a:ext cx="1011815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합의</a:t>
            </a:r>
          </a:p>
        </p:txBody>
      </p:sp>
      <p:cxnSp>
        <p:nvCxnSpPr>
          <p:cNvPr id="43" name="직선 연결선 42"/>
          <p:cNvCxnSpPr>
            <a:stCxn id="42" idx="0"/>
            <a:endCxn id="41" idx="0"/>
          </p:cNvCxnSpPr>
          <p:nvPr/>
        </p:nvCxnSpPr>
        <p:spPr>
          <a:xfrm flipH="1" flipV="1">
            <a:off x="3989834" y="5843632"/>
            <a:ext cx="6614" cy="2452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211455" y="6042704"/>
            <a:ext cx="3916367" cy="5487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합의에 이르게 된 경위</a:t>
            </a:r>
            <a:r>
              <a:rPr lang="en-US" altLang="ko-KR" sz="1400" dirty="0"/>
              <a:t>, </a:t>
            </a:r>
            <a:r>
              <a:rPr lang="ko-KR" altLang="en-US" sz="1400" dirty="0"/>
              <a:t>합의의 내용</a:t>
            </a:r>
            <a:r>
              <a:rPr lang="en-US" altLang="ko-KR" sz="1400" dirty="0"/>
              <a:t>, </a:t>
            </a:r>
            <a:r>
              <a:rPr lang="ko-KR" altLang="en-US" sz="1400" dirty="0"/>
              <a:t>합의 후의 사정 등을 종합하여 이해관계의 소멸 여부를 판단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DBE35D-415B-2F34-542E-D8003867701B}"/>
              </a:ext>
            </a:extLst>
          </p:cNvPr>
          <p:cNvSpPr txBox="1"/>
          <p:nvPr/>
        </p:nvSpPr>
        <p:spPr>
          <a:xfrm>
            <a:off x="8965" y="4697518"/>
            <a:ext cx="9144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*</a:t>
            </a:r>
            <a:r>
              <a:rPr lang="ko-KR" altLang="en-US" sz="1000" dirty="0">
                <a:latin typeface="+mn-ea"/>
              </a:rPr>
              <a:t>제</a:t>
            </a:r>
            <a:r>
              <a:rPr lang="en-US" altLang="ko-KR" sz="1000" dirty="0">
                <a:latin typeface="+mn-ea"/>
              </a:rPr>
              <a:t>133</a:t>
            </a:r>
            <a:r>
              <a:rPr lang="ko-KR" altLang="en-US" sz="1000" dirty="0">
                <a:latin typeface="+mn-ea"/>
              </a:rPr>
              <a:t>조 특허무효심판의 특허를 받을 수 있는 권리를 가진 자인지 여부도 </a:t>
            </a:r>
            <a:r>
              <a:rPr lang="ko-KR" altLang="en-US" sz="1000" dirty="0" err="1">
                <a:latin typeface="+mn-ea"/>
              </a:rPr>
              <a:t>심결시</a:t>
            </a:r>
            <a:r>
              <a:rPr lang="ko-KR" altLang="en-US" sz="1000" dirty="0">
                <a:latin typeface="+mn-ea"/>
              </a:rPr>
              <a:t> 기준</a:t>
            </a:r>
            <a:r>
              <a:rPr lang="en-US" altLang="ko-KR" sz="1000" dirty="0">
                <a:latin typeface="+mn-ea"/>
              </a:rPr>
              <a:t>(</a:t>
            </a:r>
            <a:r>
              <a:rPr lang="ko-KR" altLang="en-US" sz="1000" kern="0" spc="-30" dirty="0">
                <a:solidFill>
                  <a:srgbClr val="000000"/>
                </a:solidFill>
                <a:effectLst/>
                <a:latin typeface="+mn-ea"/>
              </a:rPr>
              <a:t>대법원 </a:t>
            </a:r>
            <a:r>
              <a:rPr lang="en-US" altLang="ko-KR" sz="1000" kern="0" spc="-30" dirty="0">
                <a:solidFill>
                  <a:srgbClr val="000000"/>
                </a:solidFill>
                <a:effectLst/>
                <a:latin typeface="+mn-ea"/>
              </a:rPr>
              <a:t>2025. 1. 9. </a:t>
            </a:r>
            <a:r>
              <a:rPr lang="ko-KR" altLang="en-US" sz="1000" kern="0" spc="-30" dirty="0">
                <a:solidFill>
                  <a:srgbClr val="000000"/>
                </a:solidFill>
                <a:effectLst/>
                <a:latin typeface="+mn-ea"/>
              </a:rPr>
              <a:t>선고 </a:t>
            </a:r>
            <a:r>
              <a:rPr lang="en-US" altLang="ko-KR" sz="1000" kern="0" spc="-30" dirty="0">
                <a:solidFill>
                  <a:srgbClr val="000000"/>
                </a:solidFill>
                <a:effectLst/>
                <a:latin typeface="+mn-ea"/>
              </a:rPr>
              <a:t>2022</a:t>
            </a:r>
            <a:r>
              <a:rPr lang="ko-KR" altLang="en-US" sz="1000" kern="0" spc="-30" dirty="0">
                <a:solidFill>
                  <a:srgbClr val="000000"/>
                </a:solidFill>
                <a:effectLst/>
                <a:latin typeface="+mn-ea"/>
              </a:rPr>
              <a:t>후</a:t>
            </a:r>
            <a:r>
              <a:rPr lang="en-US" altLang="ko-KR" sz="1000" kern="0" spc="-30" dirty="0">
                <a:solidFill>
                  <a:srgbClr val="000000"/>
                </a:solidFill>
                <a:effectLst/>
                <a:latin typeface="+mn-ea"/>
              </a:rPr>
              <a:t>10814</a:t>
            </a:r>
            <a:r>
              <a:rPr lang="en-US" altLang="ko-KR" sz="1000" dirty="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3FB804BD-65EF-52B8-ADAD-FCB66BB1BCCB}"/>
              </a:ext>
            </a:extLst>
          </p:cNvPr>
          <p:cNvCxnSpPr>
            <a:cxnSpLocks/>
            <a:stCxn id="42" idx="3"/>
            <a:endCxn id="48" idx="1"/>
          </p:cNvCxnSpPr>
          <p:nvPr/>
        </p:nvCxnSpPr>
        <p:spPr>
          <a:xfrm flipV="1">
            <a:off x="4502355" y="6317062"/>
            <a:ext cx="709100" cy="260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06669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이해관계의 판단시점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: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다툼이 없는 경우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672B6BB-2D77-4E43-8B42-06D030FA91F0}"/>
              </a:ext>
            </a:extLst>
          </p:cNvPr>
          <p:cNvCxnSpPr/>
          <p:nvPr/>
        </p:nvCxnSpPr>
        <p:spPr>
          <a:xfrm>
            <a:off x="0" y="2311114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5ED18D-A35C-4094-A735-ACF778B95324}"/>
              </a:ext>
            </a:extLst>
          </p:cNvPr>
          <p:cNvSpPr/>
          <p:nvPr/>
        </p:nvSpPr>
        <p:spPr>
          <a:xfrm>
            <a:off x="232372" y="1357007"/>
            <a:ext cx="1168198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400" dirty="0"/>
              <a:t>소극적 권리범위확인심판에서는 현재 실시하는 것만이 아니라 장래 실시 예정인 것도 심판대상으로 삼을 수 있다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그러나 당사자 사이에 심판청구인이 현재 실시하고 있는 기술이 특허권의 권리범위에 속하는지에 관하여만 다툼이 있을 뿐이고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심판청구인이 장래 실시할 예정이라고 주장하면서 심판대상으로 특정한 확인대상발명이 특허권의 권리범위에 속하지 않는다는 점에 관하여는 아무런 다툼이 없는 경우라면</a:t>
            </a:r>
            <a:r>
              <a:rPr lang="en-US" altLang="ko-KR" sz="1400" dirty="0"/>
              <a:t>, </a:t>
            </a:r>
            <a:r>
              <a:rPr lang="ko-KR" altLang="en-US" sz="1400" dirty="0"/>
              <a:t>그러한 확인대상발명을 심판대상으로 하는 소극적 권리범위확인심판은 심판청구의 이익이 없어 허용되지 않는다</a:t>
            </a:r>
            <a:r>
              <a:rPr lang="en-US" altLang="ko-KR" sz="1400" dirty="0"/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7" name="모서리가 둥근 직사각형 10">
            <a:extLst>
              <a:ext uri="{FF2B5EF4-FFF2-40B4-BE49-F238E27FC236}">
                <a16:creationId xmlns:a16="http://schemas.microsoft.com/office/drawing/2014/main" id="{45EA68D6-B151-4236-8FC3-05A69090F573}"/>
              </a:ext>
            </a:extLst>
          </p:cNvPr>
          <p:cNvSpPr/>
          <p:nvPr/>
        </p:nvSpPr>
        <p:spPr bwMode="auto">
          <a:xfrm>
            <a:off x="378418" y="1002199"/>
            <a:ext cx="5180410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2016. 9. 30.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2014</a:t>
            </a:r>
            <a:r>
              <a:rPr lang="ko-KR" altLang="en-US" sz="1400" dirty="0"/>
              <a:t>후</a:t>
            </a:r>
            <a:r>
              <a:rPr lang="en-US" altLang="ko-KR" sz="1400" dirty="0"/>
              <a:t>2849 </a:t>
            </a:r>
            <a:r>
              <a:rPr lang="ko-KR" altLang="en-US" sz="1400" dirty="0"/>
              <a:t>판결</a:t>
            </a:r>
            <a:r>
              <a:rPr lang="en-US" altLang="ko-KR" sz="1400" dirty="0"/>
              <a:t>【</a:t>
            </a:r>
            <a:r>
              <a:rPr lang="ko-KR" altLang="en-US" sz="1400" dirty="0"/>
              <a:t>권리범위확인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109" name="말풍선: 사각형 108">
            <a:extLst>
              <a:ext uri="{FF2B5EF4-FFF2-40B4-BE49-F238E27FC236}">
                <a16:creationId xmlns:a16="http://schemas.microsoft.com/office/drawing/2014/main" id="{2437D58D-9EF6-4D64-94D7-37F9FDDEDBF2}"/>
              </a:ext>
            </a:extLst>
          </p:cNvPr>
          <p:cNvSpPr/>
          <p:nvPr/>
        </p:nvSpPr>
        <p:spPr>
          <a:xfrm>
            <a:off x="7539392" y="3497678"/>
            <a:ext cx="4474909" cy="1446550"/>
          </a:xfrm>
          <a:prstGeom prst="wedgeRectCallout">
            <a:avLst>
              <a:gd name="adj1" fmla="val -56111"/>
              <a:gd name="adj2" fmla="val 73234"/>
            </a:avLst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100" dirty="0"/>
              <a:t>대법원 </a:t>
            </a:r>
            <a:r>
              <a:rPr lang="en-US" altLang="ko-KR" sz="1100" dirty="0"/>
              <a:t>2016. 9. 30.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2014</a:t>
            </a:r>
            <a:r>
              <a:rPr lang="ko-KR" altLang="en-US" sz="1100" dirty="0"/>
              <a:t>후</a:t>
            </a:r>
            <a:r>
              <a:rPr lang="en-US" altLang="ko-KR" sz="1100" dirty="0"/>
              <a:t>2849 </a:t>
            </a:r>
            <a:r>
              <a:rPr lang="ko-KR" altLang="en-US" sz="1100" dirty="0">
                <a:solidFill>
                  <a:srgbClr val="FF0000"/>
                </a:solidFill>
              </a:rPr>
              <a:t>판결에서는 특허권자가 확인대상발명에 대해서는 특허권 침해를 주장한 적이 없고</a:t>
            </a:r>
            <a:r>
              <a:rPr lang="en-US" altLang="ko-KR" sz="1100" dirty="0">
                <a:solidFill>
                  <a:srgbClr val="FF0000"/>
                </a:solidFill>
              </a:rPr>
              <a:t>, </a:t>
            </a:r>
            <a:r>
              <a:rPr lang="ko-KR" altLang="en-US" sz="1100" dirty="0">
                <a:solidFill>
                  <a:srgbClr val="FF0000"/>
                </a:solidFill>
              </a:rPr>
              <a:t>향후에도 이를 주장할 의사가 없다고 진술한 점</a:t>
            </a:r>
            <a:r>
              <a:rPr lang="ko-KR" altLang="en-US" sz="1100" dirty="0"/>
              <a:t>을 들어 당사자 사이에 다툼이 없는 경우에 해당하기 때문에 심판청구의 이익이 없다고 판단하였다</a:t>
            </a:r>
            <a:r>
              <a:rPr lang="en-US" altLang="ko-KR" sz="1100" dirty="0"/>
              <a:t>. </a:t>
            </a:r>
            <a:r>
              <a:rPr lang="ko-KR" altLang="en-US" sz="1100" dirty="0"/>
              <a:t>그러나 심판실무는 다투지 않는 것이 명백한 경우를 제외하고는 본안심리를 하고 있다</a:t>
            </a:r>
            <a:r>
              <a:rPr lang="en-US" altLang="ko-KR" sz="1100" dirty="0"/>
              <a:t>. </a:t>
            </a:r>
            <a:r>
              <a:rPr lang="ko-KR" altLang="en-US" sz="1100" dirty="0"/>
              <a:t>예를 들어 </a:t>
            </a:r>
            <a:r>
              <a:rPr lang="en-US" altLang="ko-KR" sz="1100" dirty="0"/>
              <a:t>ⅰ) </a:t>
            </a:r>
            <a:r>
              <a:rPr lang="ko-KR" altLang="en-US" sz="1100" dirty="0"/>
              <a:t>과거 다툰 사실이 있으나 다투지 않는다는 의사표시를 한 경우</a:t>
            </a:r>
            <a:r>
              <a:rPr lang="en-US" altLang="ko-KR" sz="1100" dirty="0"/>
              <a:t>, ⅱ) </a:t>
            </a:r>
            <a:r>
              <a:rPr lang="ko-KR" altLang="en-US" sz="1100" dirty="0"/>
              <a:t>피청구인</a:t>
            </a:r>
            <a:r>
              <a:rPr lang="en-US" altLang="ko-KR" sz="1100" dirty="0"/>
              <a:t>(</a:t>
            </a:r>
            <a:r>
              <a:rPr lang="ko-KR" altLang="en-US" sz="1100" dirty="0"/>
              <a:t>권리자</a:t>
            </a:r>
            <a:r>
              <a:rPr lang="en-US" altLang="ko-KR" sz="1100" dirty="0"/>
              <a:t>)</a:t>
            </a:r>
            <a:r>
              <a:rPr lang="ko-KR" altLang="en-US" sz="1100" dirty="0"/>
              <a:t>으로부터 대응이 없는 경우</a:t>
            </a:r>
            <a:r>
              <a:rPr lang="en-US" altLang="ko-KR" sz="1100" dirty="0"/>
              <a:t>(</a:t>
            </a:r>
            <a:r>
              <a:rPr lang="ko-KR" altLang="en-US" sz="1100" dirty="0"/>
              <a:t>다투지 않는다는 의사를 확인할 수 없으면</a:t>
            </a:r>
            <a:r>
              <a:rPr lang="en-US" altLang="ko-KR" sz="1100" dirty="0"/>
              <a:t>, </a:t>
            </a:r>
            <a:r>
              <a:rPr lang="ko-KR" altLang="en-US" sz="1100" dirty="0"/>
              <a:t>심판에서는 자백 간주가 적용되지 않음</a:t>
            </a:r>
            <a:r>
              <a:rPr lang="en-US" altLang="ko-KR" sz="1100" dirty="0"/>
              <a:t>)</a:t>
            </a:r>
            <a:r>
              <a:rPr lang="ko-KR" altLang="en-US" sz="1100" dirty="0"/>
              <a:t>에는 본안심리를 한다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CB1FBE08-E1D4-4EB3-B691-A93C51C9D4A3}"/>
              </a:ext>
            </a:extLst>
          </p:cNvPr>
          <p:cNvCxnSpPr/>
          <p:nvPr/>
        </p:nvCxnSpPr>
        <p:spPr>
          <a:xfrm>
            <a:off x="485775" y="3318044"/>
            <a:ext cx="1089660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14">
            <a:extLst>
              <a:ext uri="{FF2B5EF4-FFF2-40B4-BE49-F238E27FC236}">
                <a16:creationId xmlns:a16="http://schemas.microsoft.com/office/drawing/2014/main" id="{5E5AC403-C466-44FA-97FA-75A9643B387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185091" y="3241513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F134407-0272-409C-AC2B-1D794FDC8C0F}"/>
              </a:ext>
            </a:extLst>
          </p:cNvPr>
          <p:cNvSpPr txBox="1"/>
          <p:nvPr/>
        </p:nvSpPr>
        <p:spPr>
          <a:xfrm>
            <a:off x="747710" y="2534645"/>
            <a:ext cx="1011815" cy="3096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심판청구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B1A3A5B8-B50C-4DD0-A27C-431003EB6C98}"/>
              </a:ext>
            </a:extLst>
          </p:cNvPr>
          <p:cNvCxnSpPr>
            <a:cxnSpLocks/>
            <a:stCxn id="51" idx="2"/>
            <a:endCxn id="50" idx="4"/>
          </p:cNvCxnSpPr>
          <p:nvPr/>
        </p:nvCxnSpPr>
        <p:spPr>
          <a:xfrm>
            <a:off x="1253618" y="2844248"/>
            <a:ext cx="2911" cy="3972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14">
            <a:extLst>
              <a:ext uri="{FF2B5EF4-FFF2-40B4-BE49-F238E27FC236}">
                <a16:creationId xmlns:a16="http://schemas.microsoft.com/office/drawing/2014/main" id="{B2869F5F-EA66-4E8C-9192-BCBD12B2313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290616" y="3241513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E1D9300-406B-43F2-AD77-4C1D0E6716BC}"/>
              </a:ext>
            </a:extLst>
          </p:cNvPr>
          <p:cNvSpPr txBox="1"/>
          <p:nvPr/>
        </p:nvSpPr>
        <p:spPr>
          <a:xfrm>
            <a:off x="6853235" y="2534645"/>
            <a:ext cx="1011815" cy="30960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심결시</a:t>
            </a:r>
            <a:endParaRPr lang="ko-KR" altLang="en-US" sz="1400" dirty="0"/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8B339828-E831-486C-8D06-BDF80C382157}"/>
              </a:ext>
            </a:extLst>
          </p:cNvPr>
          <p:cNvCxnSpPr>
            <a:cxnSpLocks/>
            <a:stCxn id="54" idx="2"/>
            <a:endCxn id="53" idx="4"/>
          </p:cNvCxnSpPr>
          <p:nvPr/>
        </p:nvCxnSpPr>
        <p:spPr>
          <a:xfrm>
            <a:off x="7359143" y="2844248"/>
            <a:ext cx="2911" cy="39726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14">
            <a:extLst>
              <a:ext uri="{FF2B5EF4-FFF2-40B4-BE49-F238E27FC236}">
                <a16:creationId xmlns:a16="http://schemas.microsoft.com/office/drawing/2014/main" id="{E2D5E1F1-06F9-4818-950C-6FA64198DF0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880539" y="3241513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C76C7C-CB73-4C5A-9C53-564DCB8ACD84}"/>
              </a:ext>
            </a:extLst>
          </p:cNvPr>
          <p:cNvSpPr txBox="1"/>
          <p:nvPr/>
        </p:nvSpPr>
        <p:spPr>
          <a:xfrm>
            <a:off x="3192492" y="3639779"/>
            <a:ext cx="1532198" cy="30960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다툼이 없는 경우</a:t>
            </a: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CD0B08AD-9D21-480D-9F45-57B0645E286C}"/>
              </a:ext>
            </a:extLst>
          </p:cNvPr>
          <p:cNvCxnSpPr>
            <a:cxnSpLocks/>
            <a:stCxn id="57" idx="0"/>
            <a:endCxn id="56" idx="0"/>
          </p:cNvCxnSpPr>
          <p:nvPr/>
        </p:nvCxnSpPr>
        <p:spPr>
          <a:xfrm flipH="1" flipV="1">
            <a:off x="3951977" y="3394575"/>
            <a:ext cx="6614" cy="2452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52F251E-F397-417F-901B-CF9AC0A452AB}"/>
              </a:ext>
            </a:extLst>
          </p:cNvPr>
          <p:cNvSpPr txBox="1"/>
          <p:nvPr/>
        </p:nvSpPr>
        <p:spPr>
          <a:xfrm>
            <a:off x="646982" y="4068051"/>
            <a:ext cx="6625087" cy="143294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just"/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원심판결 이유와 원심이 적법하게 채택한 증거에 의하면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, ①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피고가 특정한 이 사건 확인대상발명은 약쑥 및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+mn-ea"/>
              </a:rPr>
              <a:t>참나무숯을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 사용하지 않고 부유물이 부착되지 않은 훈연제로서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,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원고가 주장하는 피고 실시제품과는 구성상 차이가 있는 점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, ②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피고는 현재 이 사건 확인대상발명을 실시하고 있지는 않지만 향후 이 사건 확인대상발명을 실시할 계획이라고 주장하는 점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, </a:t>
            </a:r>
            <a:r>
              <a:rPr lang="en-US" altLang="ko-KR" sz="1200" b="0" i="0" dirty="0">
                <a:solidFill>
                  <a:srgbClr val="FF0000"/>
                </a:solidFill>
                <a:effectLst/>
                <a:latin typeface="+mn-ea"/>
              </a:rPr>
              <a:t>③ </a:t>
            </a:r>
            <a:r>
              <a:rPr lang="ko-KR" altLang="en-US" sz="1200" b="0" i="0" dirty="0">
                <a:solidFill>
                  <a:srgbClr val="FF0000"/>
                </a:solidFill>
                <a:effectLst/>
                <a:latin typeface="+mn-ea"/>
              </a:rPr>
              <a:t>원고는 원고가 주장하는 피고 실시제품에 대해서는 피고에게 경고장을 보내고 형사고소를 하는 등 이 사건 특허발명</a:t>
            </a:r>
            <a:r>
              <a:rPr lang="en-US" altLang="ko-KR" sz="1200" b="0" i="0" dirty="0">
                <a:solidFill>
                  <a:srgbClr val="FF0000"/>
                </a:solidFill>
                <a:effectLst/>
                <a:latin typeface="+mn-ea"/>
              </a:rPr>
              <a:t>(</a:t>
            </a:r>
            <a:r>
              <a:rPr lang="ko-KR" altLang="en-US" sz="1200" b="0" i="0" dirty="0">
                <a:solidFill>
                  <a:srgbClr val="FF0000"/>
                </a:solidFill>
                <a:effectLst/>
                <a:latin typeface="+mn-ea"/>
              </a:rPr>
              <a:t>특허등록번호 생략</a:t>
            </a:r>
            <a:r>
              <a:rPr lang="en-US" altLang="ko-KR" sz="1200" b="0" i="0" dirty="0">
                <a:solidFill>
                  <a:srgbClr val="FF0000"/>
                </a:solidFill>
                <a:effectLst/>
                <a:latin typeface="+mn-ea"/>
              </a:rPr>
              <a:t>)</a:t>
            </a:r>
            <a:r>
              <a:rPr lang="ko-KR" altLang="en-US" sz="1200" b="0" i="0" dirty="0">
                <a:solidFill>
                  <a:srgbClr val="FF0000"/>
                </a:solidFill>
                <a:effectLst/>
                <a:latin typeface="+mn-ea"/>
              </a:rPr>
              <a:t>의 특허권 침해를 주장하면서 다투고 있는 반면</a:t>
            </a:r>
            <a:r>
              <a:rPr lang="en-US" altLang="ko-KR" sz="1200" b="0" i="0" dirty="0">
                <a:solidFill>
                  <a:srgbClr val="FF0000"/>
                </a:solidFill>
                <a:effectLst/>
                <a:latin typeface="+mn-ea"/>
              </a:rPr>
              <a:t>, </a:t>
            </a:r>
            <a:r>
              <a:rPr lang="ko-KR" altLang="en-US" sz="1200" b="0" i="0" dirty="0">
                <a:solidFill>
                  <a:srgbClr val="FF0000"/>
                </a:solidFill>
                <a:effectLst/>
                <a:latin typeface="+mn-ea"/>
              </a:rPr>
              <a:t>이 사건 확인대상발명에 대해서는 특허권 침해를 주장한 적이 없고</a:t>
            </a:r>
            <a:r>
              <a:rPr lang="en-US" altLang="ko-KR" sz="1200" b="0" i="0" dirty="0">
                <a:solidFill>
                  <a:srgbClr val="FF0000"/>
                </a:solidFill>
                <a:effectLst/>
                <a:latin typeface="+mn-ea"/>
              </a:rPr>
              <a:t>, </a:t>
            </a:r>
            <a:r>
              <a:rPr lang="ko-KR" altLang="en-US" sz="1200" b="0" i="0" dirty="0">
                <a:solidFill>
                  <a:srgbClr val="FF0000"/>
                </a:solidFill>
                <a:effectLst/>
                <a:latin typeface="+mn-ea"/>
              </a:rPr>
              <a:t>향후에도 이를 주장할 의사가 없다고 진술한 점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 등을 알 수 있다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.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8089DB67-ECF8-404C-B5A1-9EA3ED2C72CA}"/>
              </a:ext>
            </a:extLst>
          </p:cNvPr>
          <p:cNvCxnSpPr>
            <a:cxnSpLocks/>
            <a:stCxn id="59" idx="0"/>
            <a:endCxn id="57" idx="2"/>
          </p:cNvCxnSpPr>
          <p:nvPr/>
        </p:nvCxnSpPr>
        <p:spPr>
          <a:xfrm flipH="1" flipV="1">
            <a:off x="3958591" y="3949382"/>
            <a:ext cx="935" cy="1186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F607447-0FAD-5A2D-B355-46EFAC33185A}"/>
              </a:ext>
            </a:extLst>
          </p:cNvPr>
          <p:cNvSpPr txBox="1"/>
          <p:nvPr/>
        </p:nvSpPr>
        <p:spPr>
          <a:xfrm>
            <a:off x="178581" y="5673452"/>
            <a:ext cx="1183572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(</a:t>
            </a:r>
            <a:r>
              <a:rPr lang="ko-KR" altLang="en-US" sz="1400" dirty="0"/>
              <a:t>비판견해</a:t>
            </a:r>
            <a:r>
              <a:rPr lang="en-US" altLang="ko-KR" sz="1400" dirty="0"/>
              <a:t>)</a:t>
            </a:r>
            <a:r>
              <a:rPr lang="en-US" altLang="ko-KR" sz="1200" dirty="0"/>
              <a:t> </a:t>
            </a:r>
            <a:r>
              <a:rPr lang="ko-KR" altLang="en-US" sz="1200" dirty="0"/>
              <a:t>민사소송의 확인의 소에서는 피고가 원고의 청구 취지에 대한 주장을 그대로 인정하는 경우에는 인용 판결의 효력을 갖는 인낙조서를 작성하여 소를 </a:t>
            </a:r>
            <a:r>
              <a:rPr lang="ko-KR" altLang="en-US" sz="1200" dirty="0" err="1"/>
              <a:t>종결시키는데</a:t>
            </a:r>
            <a:r>
              <a:rPr lang="ko-KR" altLang="en-US" sz="1200" dirty="0"/>
              <a:t> 비해</a:t>
            </a:r>
            <a:r>
              <a:rPr lang="en-US" altLang="ko-KR" sz="1200" dirty="0"/>
              <a:t>, </a:t>
            </a:r>
            <a:r>
              <a:rPr lang="ko-KR" altLang="en-US" sz="1200" dirty="0"/>
              <a:t>특허법원 판결은 소극적 권리범위 확인심판에서 당사자 간 다툼이 없는 경우에는 심판 청구인의 법적 불안이 없는 것이어서 확인의 이익이 없다고 판단하였다</a:t>
            </a:r>
            <a:r>
              <a:rPr lang="en-US" altLang="ko-KR" sz="1200" dirty="0"/>
              <a:t>. </a:t>
            </a:r>
            <a:r>
              <a:rPr lang="ko-KR" altLang="en-US" sz="1200" dirty="0"/>
              <a:t>그러나</a:t>
            </a:r>
            <a:r>
              <a:rPr lang="en-US" altLang="ko-KR" sz="1200" dirty="0"/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심판 피청구인이 심판 청구인의 주장을 그대로 인정한다고 하더라도 추후 심판 피청구인은 자신의 주장을 번복하여 적극적 권리범위확인심판을 청구할 수 있는데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일사부재리 효력을 갖지 아니한 </a:t>
            </a:r>
            <a:r>
              <a:rPr lang="ko-KR" altLang="en-US" sz="1200" dirty="0" err="1">
                <a:highlight>
                  <a:srgbClr val="FFFF00"/>
                </a:highlight>
              </a:rPr>
              <a:t>각하심결로는</a:t>
            </a:r>
            <a:r>
              <a:rPr lang="ko-KR" altLang="en-US" sz="1200" dirty="0">
                <a:highlight>
                  <a:srgbClr val="FFFF00"/>
                </a:highlight>
              </a:rPr>
              <a:t> 심판 피청구인의 심판 청구를 막을 수 없어 심판 청구인은 </a:t>
            </a:r>
            <a:r>
              <a:rPr lang="ko-KR" altLang="en-US" sz="1200" dirty="0" err="1">
                <a:highlight>
                  <a:srgbClr val="FFFF00"/>
                </a:highlight>
              </a:rPr>
              <a:t>불측의</a:t>
            </a:r>
            <a:r>
              <a:rPr lang="ko-KR" altLang="en-US" sz="1200" dirty="0">
                <a:highlight>
                  <a:srgbClr val="FFFF00"/>
                </a:highlight>
              </a:rPr>
              <a:t> 피해를 볼 수 있으므로</a:t>
            </a:r>
            <a:r>
              <a:rPr lang="ko-KR" altLang="en-US" sz="1200" dirty="0"/>
              <a:t> 당사자 간 다툼이 없다는 사실만으로는 심판 청구인의 법적 불안이 없다고 볼 수 없고</a:t>
            </a:r>
            <a:r>
              <a:rPr lang="en-US" altLang="ko-KR" sz="1200" dirty="0"/>
              <a:t>, </a:t>
            </a:r>
            <a:r>
              <a:rPr lang="ko-KR" altLang="en-US" sz="1200" dirty="0"/>
              <a:t>따라서 확인의 이익을 부정해서는 안된다</a:t>
            </a:r>
            <a:r>
              <a:rPr lang="en-US" altLang="ko-KR" sz="1200" dirty="0"/>
              <a:t>(</a:t>
            </a:r>
            <a:r>
              <a:rPr lang="ko-KR" altLang="en-US" sz="1200" dirty="0" err="1"/>
              <a:t>김병필</a:t>
            </a:r>
            <a:r>
              <a:rPr lang="en-US" altLang="ko-KR" sz="1200" dirty="0"/>
              <a:t>, “</a:t>
            </a:r>
            <a:r>
              <a:rPr lang="ko-KR" altLang="en-US" sz="1200" dirty="0"/>
              <a:t>특허심판에서 당사자 간 다툼이 없는 경우 확인의 이익</a:t>
            </a:r>
            <a:r>
              <a:rPr lang="en-US" altLang="ko-KR" sz="1200" dirty="0"/>
              <a:t>–</a:t>
            </a:r>
            <a:r>
              <a:rPr lang="ko-KR" altLang="en-US" sz="1200" dirty="0"/>
              <a:t>소극적 권리범위확인심판을 중심으로</a:t>
            </a:r>
            <a:r>
              <a:rPr lang="en-US" altLang="ko-KR" sz="1200" dirty="0"/>
              <a:t>-”, </a:t>
            </a:r>
            <a:r>
              <a:rPr lang="ko-KR" altLang="en-US" sz="1200" dirty="0" err="1"/>
              <a:t>지식과권리</a:t>
            </a:r>
            <a:r>
              <a:rPr lang="en-US" altLang="ko-KR" sz="1200" dirty="0"/>
              <a:t>(</a:t>
            </a:r>
            <a:r>
              <a:rPr lang="ko-KR" altLang="en-US" sz="1200" dirty="0"/>
              <a:t>제</a:t>
            </a:r>
            <a:r>
              <a:rPr lang="en-US" altLang="ko-KR" sz="1200" dirty="0"/>
              <a:t>16</a:t>
            </a:r>
            <a:r>
              <a:rPr lang="ko-KR" altLang="en-US" sz="1200" dirty="0"/>
              <a:t>호</a:t>
            </a:r>
            <a:r>
              <a:rPr lang="en-US" altLang="ko-KR" sz="1200" dirty="0"/>
              <a:t>), 2013, </a:t>
            </a:r>
            <a:r>
              <a:rPr lang="ko-KR" altLang="en-US" sz="1200" dirty="0" err="1"/>
              <a:t>대한변리사회</a:t>
            </a:r>
            <a:r>
              <a:rPr lang="en-US" altLang="ko-KR" sz="1200" dirty="0"/>
              <a:t>, 74-89</a:t>
            </a:r>
            <a:r>
              <a:rPr lang="ko-KR" altLang="en-US" sz="1200" dirty="0"/>
              <a:t>면 요약</a:t>
            </a:r>
            <a:r>
              <a:rPr lang="en-US" altLang="ko-KR" sz="1200" dirty="0"/>
              <a:t>).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1384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155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156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당사자 참가의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77875" y="214464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76902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「당사자 </a:t>
            </a:r>
            <a:r>
              <a:rPr lang="ko-KR" altLang="en-US" sz="1400" dirty="0" err="1">
                <a:solidFill>
                  <a:schemeClr val="tx2"/>
                </a:solidFill>
              </a:rPr>
              <a:t>참가」란</a:t>
            </a:r>
            <a:r>
              <a:rPr lang="ko-KR" altLang="en-US" sz="1400" dirty="0">
                <a:solidFill>
                  <a:schemeClr val="tx2"/>
                </a:solidFill>
              </a:rPr>
              <a:t> 제</a:t>
            </a:r>
            <a:r>
              <a:rPr lang="en-US" altLang="ko-KR" sz="1400" dirty="0">
                <a:solidFill>
                  <a:schemeClr val="tx2"/>
                </a:solidFill>
              </a:rPr>
              <a:t>139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공동으로 심판을 청구할 수 있는 자가 타인간의 계속 중인 심판에 참가하는 것을 말하며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심판청구인</a:t>
            </a:r>
            <a:r>
              <a:rPr lang="ko-KR" altLang="en-US" sz="1400" dirty="0">
                <a:solidFill>
                  <a:schemeClr val="tx2"/>
                </a:solidFill>
              </a:rPr>
              <a:t> 측에만 참가할 수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155①).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특허무효심판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133), </a:t>
            </a:r>
            <a:r>
              <a:rPr lang="ko-KR" altLang="en-US" sz="1400" dirty="0">
                <a:solidFill>
                  <a:schemeClr val="tx2"/>
                </a:solidFill>
              </a:rPr>
              <a:t>특허권의 </a:t>
            </a:r>
            <a:r>
              <a:rPr lang="ko-KR" altLang="en-US" sz="1400" dirty="0" err="1">
                <a:solidFill>
                  <a:schemeClr val="tx2"/>
                </a:solidFill>
              </a:rPr>
              <a:t>존속기간연장등록무효심판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134), </a:t>
            </a:r>
            <a:r>
              <a:rPr lang="ko-KR" altLang="en-US" sz="1400" dirty="0">
                <a:solidFill>
                  <a:schemeClr val="tx2"/>
                </a:solidFill>
              </a:rPr>
              <a:t>정정무효심판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137), </a:t>
            </a:r>
            <a:r>
              <a:rPr lang="ko-KR" altLang="en-US" sz="1400" dirty="0">
                <a:solidFill>
                  <a:schemeClr val="tx2"/>
                </a:solidFill>
              </a:rPr>
              <a:t>권리범위확인심판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135)</a:t>
            </a:r>
            <a:r>
              <a:rPr lang="ko-KR" altLang="en-US" sz="1400" dirty="0">
                <a:solidFill>
                  <a:schemeClr val="tx2"/>
                </a:solidFill>
              </a:rPr>
              <a:t>을 청구하는 </a:t>
            </a:r>
            <a:r>
              <a:rPr lang="ko-KR" altLang="en-US" sz="1400" dirty="0"/>
              <a:t>자가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highlight>
                  <a:srgbClr val="FFFF00"/>
                </a:highlight>
              </a:rPr>
              <a:t>2</a:t>
            </a:r>
            <a:r>
              <a:rPr lang="ko-KR" altLang="en-US" sz="1400" dirty="0">
                <a:highlight>
                  <a:srgbClr val="FFFF00"/>
                </a:highlight>
              </a:rPr>
              <a:t>명 이상이면 모두가 공동으로 심판을 청구할 수도 있으나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일부만이 심판을 청구할 수도 있다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이 경우에 당사자적격이 있는 나머지 사람은 당사자로서 그 심판에 참가할 수 있다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아래의 예시에서 이해관계인 甲과 乙은 공동으로 심판을 청구할 수도 있고</a:t>
            </a:r>
            <a:r>
              <a:rPr lang="en-US" altLang="ko-KR" sz="1400" dirty="0">
                <a:solidFill>
                  <a:schemeClr val="tx2"/>
                </a:solidFill>
              </a:rPr>
              <a:t>(1), </a:t>
            </a:r>
            <a:r>
              <a:rPr lang="ko-KR" altLang="en-US" sz="1400" dirty="0">
                <a:solidFill>
                  <a:schemeClr val="tx2"/>
                </a:solidFill>
              </a:rPr>
              <a:t>각자가 심판을 청구할 수도 있다</a:t>
            </a:r>
            <a:r>
              <a:rPr lang="en-US" altLang="ko-KR" sz="1400" dirty="0">
                <a:solidFill>
                  <a:schemeClr val="tx2"/>
                </a:solidFill>
              </a:rPr>
              <a:t>(2, 3). </a:t>
            </a:r>
            <a:r>
              <a:rPr lang="ko-KR" altLang="en-US" sz="1400" dirty="0">
                <a:solidFill>
                  <a:schemeClr val="tx2"/>
                </a:solidFill>
              </a:rPr>
              <a:t>또한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일부만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甲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이 심판을 청구하고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심판을 청구하지 아니한 다른 당사자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乙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은 그 심판에 참가할 수 있다</a:t>
            </a:r>
            <a:r>
              <a:rPr lang="en-US" altLang="ko-KR" sz="1400" dirty="0">
                <a:solidFill>
                  <a:schemeClr val="tx2"/>
                </a:solidFill>
              </a:rPr>
              <a:t>(4).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19" name="순서도: 처리 18"/>
          <p:cNvSpPr/>
          <p:nvPr/>
        </p:nvSpPr>
        <p:spPr>
          <a:xfrm>
            <a:off x="999936" y="3318304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甲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0" name="순서도: 처리 19"/>
          <p:cNvSpPr/>
          <p:nvPr/>
        </p:nvSpPr>
        <p:spPr>
          <a:xfrm>
            <a:off x="3861332" y="3318304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피청구인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1" name="순서도: 처리 20"/>
          <p:cNvSpPr/>
          <p:nvPr/>
        </p:nvSpPr>
        <p:spPr>
          <a:xfrm>
            <a:off x="2460354" y="3318304"/>
            <a:ext cx="1740204" cy="288032"/>
          </a:xfrm>
          <a:prstGeom prst="flowChartProcess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vs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순서도: 처리 21"/>
          <p:cNvSpPr/>
          <p:nvPr/>
        </p:nvSpPr>
        <p:spPr>
          <a:xfrm>
            <a:off x="999936" y="4012828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甲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3" name="순서도: 처리 22"/>
          <p:cNvSpPr/>
          <p:nvPr/>
        </p:nvSpPr>
        <p:spPr>
          <a:xfrm>
            <a:off x="3861332" y="4012828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피청구인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4" name="순서도: 처리 23"/>
          <p:cNvSpPr/>
          <p:nvPr/>
        </p:nvSpPr>
        <p:spPr>
          <a:xfrm>
            <a:off x="2460354" y="4012828"/>
            <a:ext cx="1740204" cy="288032"/>
          </a:xfrm>
          <a:prstGeom prst="flowChartProcess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vs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순서도: 처리 24"/>
          <p:cNvSpPr/>
          <p:nvPr/>
        </p:nvSpPr>
        <p:spPr>
          <a:xfrm>
            <a:off x="999936" y="4444876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6" name="순서도: 처리 25"/>
          <p:cNvSpPr/>
          <p:nvPr/>
        </p:nvSpPr>
        <p:spPr>
          <a:xfrm>
            <a:off x="3861332" y="4444876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피청구인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7" name="순서도: 처리 26"/>
          <p:cNvSpPr/>
          <p:nvPr/>
        </p:nvSpPr>
        <p:spPr>
          <a:xfrm>
            <a:off x="2460354" y="4444876"/>
            <a:ext cx="1740204" cy="288032"/>
          </a:xfrm>
          <a:prstGeom prst="flowChartProcess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vs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8" name="순서도: 처리 27"/>
          <p:cNvSpPr/>
          <p:nvPr/>
        </p:nvSpPr>
        <p:spPr>
          <a:xfrm>
            <a:off x="999936" y="5173464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甲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9" name="순서도: 처리 28"/>
          <p:cNvSpPr/>
          <p:nvPr/>
        </p:nvSpPr>
        <p:spPr>
          <a:xfrm>
            <a:off x="3861332" y="5173464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피청구인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0" name="순서도: 처리 29"/>
          <p:cNvSpPr/>
          <p:nvPr/>
        </p:nvSpPr>
        <p:spPr>
          <a:xfrm>
            <a:off x="2460354" y="5173464"/>
            <a:ext cx="1740204" cy="288032"/>
          </a:xfrm>
          <a:prstGeom prst="flowChartProcess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vs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1" name="순서도: 처리 30"/>
          <p:cNvSpPr/>
          <p:nvPr/>
        </p:nvSpPr>
        <p:spPr>
          <a:xfrm>
            <a:off x="999936" y="5779120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참가인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2" name="순서도: 처리 31"/>
          <p:cNvSpPr/>
          <p:nvPr/>
        </p:nvSpPr>
        <p:spPr>
          <a:xfrm>
            <a:off x="477384" y="3315990"/>
            <a:ext cx="435051" cy="288032"/>
          </a:xfrm>
          <a:prstGeom prst="flowChartProcess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1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3" name="순서도: 처리 32"/>
          <p:cNvSpPr/>
          <p:nvPr/>
        </p:nvSpPr>
        <p:spPr>
          <a:xfrm>
            <a:off x="477384" y="4012828"/>
            <a:ext cx="435051" cy="288032"/>
          </a:xfrm>
          <a:prstGeom prst="flowChartProcess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2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4" name="순서도: 처리 33"/>
          <p:cNvSpPr/>
          <p:nvPr/>
        </p:nvSpPr>
        <p:spPr>
          <a:xfrm>
            <a:off x="477384" y="4444876"/>
            <a:ext cx="435051" cy="288032"/>
          </a:xfrm>
          <a:prstGeom prst="flowChartProcess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3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5" name="순서도: 처리 34"/>
          <p:cNvSpPr/>
          <p:nvPr/>
        </p:nvSpPr>
        <p:spPr>
          <a:xfrm>
            <a:off x="477384" y="5187181"/>
            <a:ext cx="435051" cy="288032"/>
          </a:xfrm>
          <a:prstGeom prst="flowChartProcess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4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36" name="직선 화살표 연결선 35"/>
          <p:cNvCxnSpPr>
            <a:stCxn id="31" idx="0"/>
            <a:endCxn id="28" idx="2"/>
          </p:cNvCxnSpPr>
          <p:nvPr/>
        </p:nvCxnSpPr>
        <p:spPr>
          <a:xfrm flipV="1">
            <a:off x="1870038" y="5461496"/>
            <a:ext cx="0" cy="317624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266700" y="2408541"/>
            <a:ext cx="5549900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甲</a:t>
            </a:r>
            <a:r>
              <a:rPr lang="en-US" altLang="ko-KR" sz="1600" dirty="0"/>
              <a:t>, </a:t>
            </a:r>
            <a:r>
              <a:rPr lang="ko-KR" altLang="en-US" sz="1600" dirty="0"/>
              <a:t>乙 </a:t>
            </a:r>
            <a:r>
              <a:rPr lang="en-US" altLang="ko-KR" sz="1600" dirty="0"/>
              <a:t>: </a:t>
            </a:r>
            <a:r>
              <a:rPr lang="ko-KR" altLang="en-US" sz="1600" dirty="0"/>
              <a:t>이해관계인 </a:t>
            </a:r>
            <a:r>
              <a:rPr lang="en-US" altLang="ko-KR" sz="1600" dirty="0"/>
              <a:t>, </a:t>
            </a:r>
            <a:r>
              <a:rPr lang="ko-KR" altLang="en-US" sz="1600" dirty="0"/>
              <a:t>丙 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특허권자</a:t>
            </a:r>
            <a:r>
              <a:rPr lang="ko-KR" altLang="en-US" sz="1600" dirty="0"/>
              <a:t> 일 때 甲과 乙이 무효심판을 </a:t>
            </a:r>
            <a:endParaRPr lang="en-US" altLang="ko-KR" sz="1600" dirty="0"/>
          </a:p>
          <a:p>
            <a:r>
              <a:rPr lang="ko-KR" altLang="en-US" sz="1600" dirty="0"/>
              <a:t>청구할 수 있는 방법은</a:t>
            </a:r>
            <a:r>
              <a:rPr lang="en-US" altLang="ko-KR" sz="1600" dirty="0"/>
              <a:t>?</a:t>
            </a:r>
            <a:endParaRPr lang="ko-KR" altLang="en-US" sz="1600" dirty="0"/>
          </a:p>
        </p:txBody>
      </p:sp>
      <p:sp>
        <p:nvSpPr>
          <p:cNvPr id="11" name="직사각형 10"/>
          <p:cNvSpPr/>
          <p:nvPr/>
        </p:nvSpPr>
        <p:spPr>
          <a:xfrm>
            <a:off x="266700" y="3136900"/>
            <a:ext cx="5549900" cy="660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/>
          <p:cNvSpPr/>
          <p:nvPr/>
        </p:nvSpPr>
        <p:spPr>
          <a:xfrm>
            <a:off x="266700" y="3869492"/>
            <a:ext cx="5549900" cy="100730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/>
          <p:cNvSpPr/>
          <p:nvPr/>
        </p:nvSpPr>
        <p:spPr>
          <a:xfrm>
            <a:off x="266700" y="4996190"/>
            <a:ext cx="5549900" cy="123950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7" name="직선 연결선 46"/>
          <p:cNvCxnSpPr/>
          <p:nvPr/>
        </p:nvCxnSpPr>
        <p:spPr>
          <a:xfrm>
            <a:off x="6076950" y="2383141"/>
            <a:ext cx="0" cy="425675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stCxn id="46" idx="3"/>
          </p:cNvCxnSpPr>
          <p:nvPr/>
        </p:nvCxnSpPr>
        <p:spPr>
          <a:xfrm flipV="1">
            <a:off x="5816600" y="3840710"/>
            <a:ext cx="762000" cy="1775235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순서도: 처리 50"/>
          <p:cNvSpPr/>
          <p:nvPr/>
        </p:nvSpPr>
        <p:spPr>
          <a:xfrm>
            <a:off x="7070537" y="3318304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甲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2" name="순서도: 처리 51"/>
          <p:cNvSpPr/>
          <p:nvPr/>
        </p:nvSpPr>
        <p:spPr>
          <a:xfrm>
            <a:off x="9931933" y="3318304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피청구인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3" name="순서도: 처리 52"/>
          <p:cNvSpPr/>
          <p:nvPr/>
        </p:nvSpPr>
        <p:spPr>
          <a:xfrm>
            <a:off x="8530955" y="3318304"/>
            <a:ext cx="1740204" cy="288032"/>
          </a:xfrm>
          <a:prstGeom prst="flowChartProcess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vs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4" name="순서도: 처리 53"/>
          <p:cNvSpPr/>
          <p:nvPr/>
        </p:nvSpPr>
        <p:spPr>
          <a:xfrm>
            <a:off x="6547985" y="3315990"/>
            <a:ext cx="435051" cy="288032"/>
          </a:xfrm>
          <a:prstGeom prst="flowChartProcess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1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6337301" y="3136900"/>
            <a:ext cx="5549900" cy="660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순서도: 처리 55"/>
          <p:cNvSpPr/>
          <p:nvPr/>
        </p:nvSpPr>
        <p:spPr>
          <a:xfrm>
            <a:off x="7070537" y="4969151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7" name="순서도: 처리 56"/>
          <p:cNvSpPr/>
          <p:nvPr/>
        </p:nvSpPr>
        <p:spPr>
          <a:xfrm>
            <a:off x="9931933" y="4969151"/>
            <a:ext cx="1740204" cy="288032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丙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피청구인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8" name="순서도: 처리 57"/>
          <p:cNvSpPr/>
          <p:nvPr/>
        </p:nvSpPr>
        <p:spPr>
          <a:xfrm>
            <a:off x="8530955" y="4969151"/>
            <a:ext cx="1740204" cy="288032"/>
          </a:xfrm>
          <a:prstGeom prst="flowChartProcess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vs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6337301" y="4787747"/>
            <a:ext cx="5549900" cy="660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순서도: 처리 60"/>
          <p:cNvSpPr/>
          <p:nvPr/>
        </p:nvSpPr>
        <p:spPr>
          <a:xfrm>
            <a:off x="6559914" y="4966837"/>
            <a:ext cx="435051" cy="288032"/>
          </a:xfrm>
          <a:prstGeom prst="flowChartProcess">
            <a:avLst/>
          </a:prstGeom>
          <a:solidFill>
            <a:schemeClr val="accent3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3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62" name="순서도: 처리 61"/>
          <p:cNvSpPr/>
          <p:nvPr/>
        </p:nvSpPr>
        <p:spPr>
          <a:xfrm>
            <a:off x="1920314" y="5476726"/>
            <a:ext cx="1740204" cy="288032"/>
          </a:xfrm>
          <a:prstGeom prst="flowChartProcess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당사자 참가</a:t>
            </a:r>
          </a:p>
        </p:txBody>
      </p:sp>
      <p:sp>
        <p:nvSpPr>
          <p:cNvPr id="63" name="순서도: 처리 62"/>
          <p:cNvSpPr/>
          <p:nvPr/>
        </p:nvSpPr>
        <p:spPr>
          <a:xfrm>
            <a:off x="7575549" y="4140511"/>
            <a:ext cx="1740204" cy="288032"/>
          </a:xfrm>
          <a:prstGeom prst="flowChartProcess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甲 심판청구 취하</a:t>
            </a:r>
          </a:p>
        </p:txBody>
      </p:sp>
      <p:cxnSp>
        <p:nvCxnSpPr>
          <p:cNvPr id="64" name="직선 연결선 63"/>
          <p:cNvCxnSpPr/>
          <p:nvPr/>
        </p:nvCxnSpPr>
        <p:spPr>
          <a:xfrm flipH="1">
            <a:off x="7480864" y="3602217"/>
            <a:ext cx="808" cy="136462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440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7406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제</a:t>
            </a:r>
            <a:r>
              <a:rPr lang="en-US" altLang="ko-KR" sz="2000" dirty="0"/>
              <a:t>140</a:t>
            </a:r>
            <a:r>
              <a:rPr lang="ko-KR" altLang="en-US" sz="2000" dirty="0"/>
              <a:t>조</a:t>
            </a:r>
            <a:r>
              <a:rPr lang="en-US" altLang="ko-KR" sz="2000" dirty="0"/>
              <a:t>, </a:t>
            </a:r>
            <a:r>
              <a:rPr lang="ko-KR" altLang="en-US" sz="2000" dirty="0"/>
              <a:t>제</a:t>
            </a:r>
            <a:r>
              <a:rPr lang="en-US" altLang="ko-KR" sz="2000" dirty="0"/>
              <a:t>140</a:t>
            </a:r>
            <a:r>
              <a:rPr lang="ko-KR" altLang="en-US" sz="2000" dirty="0"/>
              <a:t>조의</a:t>
            </a:r>
            <a:r>
              <a:rPr lang="en-US" altLang="ko-KR" sz="2000" dirty="0"/>
              <a:t>2</a:t>
            </a:r>
            <a:endParaRPr lang="ko-KR" altLang="en-US" sz="200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심판청구서의 기재사항과 보정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441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3CFA0B9-8640-1786-296B-E048D43B31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2876591"/>
              </p:ext>
            </p:extLst>
          </p:nvPr>
        </p:nvGraphicFramePr>
        <p:xfrm>
          <a:off x="286871" y="1055538"/>
          <a:ext cx="11600331" cy="272301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95123">
                  <a:extLst>
                    <a:ext uri="{9D8B030D-6E8A-4147-A177-3AD203B41FA5}">
                      <a16:colId xmlns:a16="http://schemas.microsoft.com/office/drawing/2014/main" val="3795079333"/>
                    </a:ext>
                  </a:extLst>
                </a:gridCol>
                <a:gridCol w="1062066">
                  <a:extLst>
                    <a:ext uri="{9D8B030D-6E8A-4147-A177-3AD203B41FA5}">
                      <a16:colId xmlns:a16="http://schemas.microsoft.com/office/drawing/2014/main" val="515513968"/>
                    </a:ext>
                  </a:extLst>
                </a:gridCol>
                <a:gridCol w="3918858">
                  <a:extLst>
                    <a:ext uri="{9D8B030D-6E8A-4147-A177-3AD203B41FA5}">
                      <a16:colId xmlns:a16="http://schemas.microsoft.com/office/drawing/2014/main" val="840813719"/>
                    </a:ext>
                  </a:extLst>
                </a:gridCol>
                <a:gridCol w="6024284">
                  <a:extLst>
                    <a:ext uri="{9D8B030D-6E8A-4147-A177-3AD203B41FA5}">
                      <a16:colId xmlns:a16="http://schemas.microsoft.com/office/drawing/2014/main" val="3284973997"/>
                    </a:ext>
                  </a:extLst>
                </a:gridCol>
              </a:tblGrid>
              <a:tr h="113241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심판의 분류</a:t>
                      </a: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공통기재사항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추가 기재사항 및 첨부사항</a:t>
                      </a: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415782"/>
                  </a:ext>
                </a:extLst>
              </a:tr>
              <a:tr h="323807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결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</a:t>
                      </a:r>
                    </a:p>
                  </a:txBody>
                  <a:tcPr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거절결정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불복심판</a:t>
                      </a:r>
                    </a:p>
                  </a:txBody>
                  <a:tcPr marL="64770" marR="64770" marT="17907" marB="17907" anchor="ctr"/>
                </a:tc>
                <a:tc rowSpan="5">
                  <a:txBody>
                    <a:bodyPr/>
                    <a:lstStyle/>
                    <a:p>
                      <a:pPr marL="134938" marR="17780" indent="-134938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당사자의 성명 및 주소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법인인 경우에는 그 명칭 및 영업소의 소재지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34938" marR="17780" indent="-134938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-­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대리인이 있는 경우에는 그 대리인의 성명 및 주소나 영업소의 소재지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대리인이 특허법인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특허법인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유한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 경우에는 그 명칭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사무소의 소재지 및 지정된 변리사의 성명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34938" marR="17780" indent="-134938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-­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심판사건의 표시</a:t>
                      </a:r>
                      <a:endParaRPr lang="en-US" altLang="ko-KR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34938" marR="17780" indent="-134938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-­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청구의 취지 및 그 이유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99060" marR="17780" indent="-990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출원일 및 출원번호</a:t>
                      </a:r>
                    </a:p>
                    <a:p>
                      <a:pPr marL="99060" marR="17780" indent="-990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발명의 명칭</a:t>
                      </a:r>
                    </a:p>
                    <a:p>
                      <a:pPr marL="99060" marR="17780" indent="-990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­- </a:t>
                      </a:r>
                      <a:r>
                        <a:rPr lang="ko-KR" altLang="en-US" sz="12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특허거절결정일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764121341"/>
                  </a:ext>
                </a:extLst>
              </a:tr>
              <a:tr h="1132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정정심판</a:t>
                      </a: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9060" marR="17780" indent="-990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­- 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정정한 명세서 또는 도면을 첨부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233803339"/>
                  </a:ext>
                </a:extLst>
              </a:tr>
              <a:tr h="113241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당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</a:t>
                      </a:r>
                    </a:p>
                  </a:txBody>
                  <a:tcPr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무효심판</a:t>
                      </a: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508652994"/>
                  </a:ext>
                </a:extLst>
              </a:tr>
              <a:tr h="2185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권리범위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확인심판</a:t>
                      </a: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9060" marR="17780" indent="-990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­-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확인대상발명의 설명서 및 필요한 도면을 첨부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520128057"/>
                  </a:ext>
                </a:extLst>
              </a:tr>
              <a:tr h="4290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통상실시권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허락심판</a:t>
                      </a:r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99060" marR="17780" indent="-9906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­-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실시하려는 자기의 특허의 번호 및 명칭</a:t>
                      </a:r>
                    </a:p>
                    <a:p>
                      <a:pPr marL="107950" marR="17780" indent="-10795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­-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실시되어야 할 타인의 특허발명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등록실용신안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또는 등록디자인의 번호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명칭 및 특허나 등록 연월일</a:t>
                      </a:r>
                    </a:p>
                    <a:p>
                      <a:pPr marL="90170" marR="17780" indent="-9017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-­ 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특허발명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kern="0" spc="-5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등록실용신안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또는 등록디자인의 통상실시권의 범위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기간 및 대가</a:t>
                      </a: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93700540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9A0F6BC3-F588-AE75-C67E-79B2C3F1DF16}"/>
              </a:ext>
            </a:extLst>
          </p:cNvPr>
          <p:cNvSpPr txBox="1"/>
          <p:nvPr/>
        </p:nvSpPr>
        <p:spPr>
          <a:xfrm>
            <a:off x="1541932" y="3836831"/>
            <a:ext cx="5585011" cy="297004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100" dirty="0"/>
              <a:t>【</a:t>
            </a:r>
            <a:r>
              <a:rPr lang="ko-KR" altLang="en-US" sz="1100" dirty="0"/>
              <a:t>청구의 취지</a:t>
            </a:r>
            <a:r>
              <a:rPr lang="en-US" altLang="ko-KR" sz="1100" dirty="0"/>
              <a:t>】</a:t>
            </a:r>
          </a:p>
          <a:p>
            <a:r>
              <a:rPr lang="en-US" altLang="ko-KR" sz="1100" dirty="0"/>
              <a:t>1. </a:t>
            </a:r>
            <a:r>
              <a:rPr lang="ko-KR" altLang="en-US" sz="1100" dirty="0"/>
              <a:t>확인대상발명 </a:t>
            </a:r>
            <a:r>
              <a:rPr lang="en-US" altLang="ko-KR" sz="1100" dirty="0"/>
              <a:t>"</a:t>
            </a:r>
            <a:r>
              <a:rPr lang="ko-KR" altLang="en-US" sz="1100" dirty="0" err="1"/>
              <a:t>피사계</a:t>
            </a:r>
            <a:r>
              <a:rPr lang="ko-KR" altLang="en-US" sz="1100" dirty="0"/>
              <a:t> 심도 효과를 제공하는 아이폰 </a:t>
            </a:r>
            <a:r>
              <a:rPr lang="en-US" altLang="ko-KR" sz="1100" dirty="0"/>
              <a:t>12 </a:t>
            </a:r>
            <a:r>
              <a:rPr lang="ko-KR" altLang="en-US" sz="1100" dirty="0"/>
              <a:t>프로</a:t>
            </a:r>
            <a:r>
              <a:rPr lang="en-US" altLang="ko-KR" sz="1100" dirty="0"/>
              <a:t>"</a:t>
            </a:r>
            <a:r>
              <a:rPr lang="ko-KR" altLang="en-US" sz="1100" dirty="0"/>
              <a:t>는 특허등록 제</a:t>
            </a:r>
            <a:r>
              <a:rPr lang="en-US" altLang="ko-KR" sz="1100" dirty="0"/>
              <a:t>10-0822832</a:t>
            </a:r>
            <a:r>
              <a:rPr lang="ko-KR" altLang="en-US" sz="1100" dirty="0"/>
              <a:t>호의 제</a:t>
            </a:r>
            <a:r>
              <a:rPr lang="en-US" altLang="ko-KR" sz="1100" dirty="0"/>
              <a:t>1</a:t>
            </a:r>
            <a:r>
              <a:rPr lang="ko-KR" altLang="en-US" sz="1100" dirty="0"/>
              <a:t>항</a:t>
            </a:r>
            <a:r>
              <a:rPr lang="en-US" altLang="ko-KR" sz="1100" dirty="0"/>
              <a:t>, </a:t>
            </a:r>
            <a:r>
              <a:rPr lang="ko-KR" altLang="en-US" sz="1100" dirty="0"/>
              <a:t>제</a:t>
            </a:r>
            <a:r>
              <a:rPr lang="en-US" altLang="ko-KR" sz="1100" dirty="0"/>
              <a:t>3</a:t>
            </a:r>
            <a:r>
              <a:rPr lang="ko-KR" altLang="en-US" sz="1100" dirty="0"/>
              <a:t>항</a:t>
            </a:r>
            <a:r>
              <a:rPr lang="en-US" altLang="ko-KR" sz="1100" dirty="0"/>
              <a:t>, </a:t>
            </a:r>
            <a:r>
              <a:rPr lang="ko-KR" altLang="en-US" sz="1100" dirty="0"/>
              <a:t>제</a:t>
            </a:r>
            <a:r>
              <a:rPr lang="en-US" altLang="ko-KR" sz="1100" dirty="0"/>
              <a:t>6</a:t>
            </a:r>
            <a:r>
              <a:rPr lang="ko-KR" altLang="en-US" sz="1100" dirty="0"/>
              <a:t>항 및 제</a:t>
            </a:r>
            <a:r>
              <a:rPr lang="en-US" altLang="ko-KR" sz="1100" dirty="0"/>
              <a:t>7</a:t>
            </a:r>
            <a:r>
              <a:rPr lang="ko-KR" altLang="en-US" sz="1100" dirty="0"/>
              <a:t>항의 권리범위에 속한다</a:t>
            </a:r>
            <a:r>
              <a:rPr lang="en-US" altLang="ko-KR" sz="1100" dirty="0"/>
              <a:t>.</a:t>
            </a:r>
          </a:p>
          <a:p>
            <a:r>
              <a:rPr lang="en-US" altLang="ko-KR" sz="1100" dirty="0"/>
              <a:t>2. </a:t>
            </a:r>
            <a:r>
              <a:rPr lang="ko-KR" altLang="en-US" sz="1100" dirty="0"/>
              <a:t>심판비용은 피청구인의 부담으로 한다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라는 </a:t>
            </a:r>
            <a:r>
              <a:rPr lang="ko-KR" altLang="en-US" sz="1100" dirty="0" err="1"/>
              <a:t>심결을</a:t>
            </a:r>
            <a:r>
              <a:rPr lang="ko-KR" altLang="en-US" sz="1100" dirty="0"/>
              <a:t> 구합니다</a:t>
            </a:r>
            <a:r>
              <a:rPr lang="en-US" altLang="ko-KR" sz="1100" dirty="0"/>
              <a:t>. </a:t>
            </a:r>
          </a:p>
          <a:p>
            <a:r>
              <a:rPr lang="en-US" altLang="ko-KR" sz="1100" dirty="0"/>
              <a:t>【</a:t>
            </a:r>
            <a:r>
              <a:rPr lang="ko-KR" altLang="en-US" sz="1100" dirty="0"/>
              <a:t>청구의 이유</a:t>
            </a:r>
            <a:r>
              <a:rPr lang="en-US" altLang="ko-KR" sz="1100" dirty="0"/>
              <a:t>】</a:t>
            </a:r>
          </a:p>
          <a:p>
            <a:r>
              <a:rPr lang="en-US" altLang="ko-KR" sz="1100" dirty="0"/>
              <a:t>1. </a:t>
            </a:r>
            <a:r>
              <a:rPr lang="ko-KR" altLang="en-US" sz="1100" dirty="0"/>
              <a:t>심판청구의 적법성</a:t>
            </a:r>
            <a:r>
              <a:rPr lang="en-US" altLang="ko-KR" sz="1100" dirty="0"/>
              <a:t>(</a:t>
            </a:r>
            <a:r>
              <a:rPr lang="ko-KR" altLang="en-US" sz="1100" dirty="0"/>
              <a:t>이해관계 여부</a:t>
            </a:r>
            <a:r>
              <a:rPr lang="en-US" altLang="ko-KR" sz="1100" dirty="0"/>
              <a:t>)</a:t>
            </a:r>
            <a:endParaRPr lang="ko-KR" altLang="en-US" sz="1100" dirty="0"/>
          </a:p>
          <a:p>
            <a:r>
              <a:rPr lang="en-US" altLang="ko-KR" sz="1100" dirty="0"/>
              <a:t>2. </a:t>
            </a:r>
            <a:r>
              <a:rPr lang="ko-KR" altLang="en-US" sz="1100" dirty="0"/>
              <a:t>이 사건 특허의 요지</a:t>
            </a:r>
            <a:endParaRPr lang="en-US" altLang="ko-KR" sz="1100" dirty="0"/>
          </a:p>
          <a:p>
            <a:r>
              <a:rPr lang="en-US" altLang="ko-KR" sz="1100" dirty="0"/>
              <a:t>3. </a:t>
            </a:r>
            <a:r>
              <a:rPr lang="ko-KR" altLang="en-US" sz="1100" dirty="0"/>
              <a:t>확인대상발명의 요지</a:t>
            </a:r>
            <a:endParaRPr lang="en-US" altLang="ko-KR" sz="1100" dirty="0"/>
          </a:p>
          <a:p>
            <a:r>
              <a:rPr lang="en-US" altLang="ko-KR" sz="1100" dirty="0"/>
              <a:t>4. </a:t>
            </a:r>
            <a:r>
              <a:rPr lang="ko-KR" altLang="en-US" sz="1100" dirty="0"/>
              <a:t>권리범위에 속하는지 판단</a:t>
            </a:r>
            <a:endParaRPr lang="en-US" altLang="ko-KR" sz="1100" dirty="0"/>
          </a:p>
          <a:p>
            <a:r>
              <a:rPr lang="en-US" altLang="ko-KR" sz="1100" dirty="0"/>
              <a:t>  </a:t>
            </a:r>
            <a:r>
              <a:rPr lang="ko-KR" altLang="en-US" sz="1100" dirty="0"/>
              <a:t>가</a:t>
            </a:r>
            <a:r>
              <a:rPr lang="en-US" altLang="ko-KR" sz="1100" dirty="0"/>
              <a:t>. </a:t>
            </a:r>
            <a:r>
              <a:rPr lang="ko-KR" altLang="en-US" sz="1100" dirty="0"/>
              <a:t>청구항 제</a:t>
            </a:r>
            <a:r>
              <a:rPr lang="en-US" altLang="ko-KR" sz="1100" dirty="0"/>
              <a:t>1</a:t>
            </a:r>
            <a:r>
              <a:rPr lang="ko-KR" altLang="en-US" sz="1100" dirty="0"/>
              <a:t>항의 판단</a:t>
            </a:r>
            <a:endParaRPr lang="en-US" altLang="ko-KR" sz="1100" dirty="0"/>
          </a:p>
          <a:p>
            <a:r>
              <a:rPr lang="en-US" altLang="ko-KR" sz="1100" dirty="0"/>
              <a:t>  </a:t>
            </a:r>
            <a:r>
              <a:rPr lang="ko-KR" altLang="en-US" sz="1100" dirty="0"/>
              <a:t>나</a:t>
            </a:r>
            <a:r>
              <a:rPr lang="en-US" altLang="ko-KR" sz="1100" dirty="0"/>
              <a:t>. </a:t>
            </a:r>
            <a:r>
              <a:rPr lang="ko-KR" altLang="en-US" sz="1100" dirty="0"/>
              <a:t>청구항 제</a:t>
            </a:r>
            <a:r>
              <a:rPr lang="en-US" altLang="ko-KR" sz="1100" dirty="0"/>
              <a:t>3</a:t>
            </a:r>
            <a:r>
              <a:rPr lang="ko-KR" altLang="en-US" sz="1100" dirty="0"/>
              <a:t>항의 판단</a:t>
            </a:r>
            <a:endParaRPr lang="en-US" altLang="ko-KR" sz="1100" dirty="0"/>
          </a:p>
          <a:p>
            <a:r>
              <a:rPr lang="en-US" altLang="ko-KR" sz="1100" dirty="0"/>
              <a:t>  </a:t>
            </a:r>
            <a:r>
              <a:rPr lang="ko-KR" altLang="en-US" sz="1100" dirty="0"/>
              <a:t>다</a:t>
            </a:r>
            <a:r>
              <a:rPr lang="en-US" altLang="ko-KR" sz="1100" dirty="0"/>
              <a:t>. </a:t>
            </a:r>
            <a:r>
              <a:rPr lang="ko-KR" altLang="en-US" sz="1100" dirty="0"/>
              <a:t>청구항 제</a:t>
            </a:r>
            <a:r>
              <a:rPr lang="en-US" altLang="ko-KR" sz="1100" dirty="0"/>
              <a:t>6</a:t>
            </a:r>
            <a:r>
              <a:rPr lang="ko-KR" altLang="en-US" sz="1100" dirty="0"/>
              <a:t>항의 판단</a:t>
            </a:r>
            <a:endParaRPr lang="en-US" altLang="ko-KR" sz="1100" dirty="0"/>
          </a:p>
          <a:p>
            <a:r>
              <a:rPr lang="en-US" altLang="ko-KR" sz="1100" dirty="0"/>
              <a:t>  </a:t>
            </a:r>
            <a:r>
              <a:rPr lang="ko-KR" altLang="en-US" sz="1100" dirty="0"/>
              <a:t>라</a:t>
            </a:r>
            <a:r>
              <a:rPr lang="en-US" altLang="ko-KR" sz="1100" dirty="0"/>
              <a:t>. </a:t>
            </a:r>
            <a:r>
              <a:rPr lang="ko-KR" altLang="en-US" sz="1100" dirty="0"/>
              <a:t>청구항 제</a:t>
            </a:r>
            <a:r>
              <a:rPr lang="en-US" altLang="ko-KR" sz="1100" dirty="0"/>
              <a:t>7</a:t>
            </a:r>
            <a:r>
              <a:rPr lang="ko-KR" altLang="en-US" sz="1100" dirty="0"/>
              <a:t>항의 판단</a:t>
            </a:r>
            <a:endParaRPr lang="en-US" altLang="ko-KR" sz="1100" dirty="0"/>
          </a:p>
          <a:p>
            <a:r>
              <a:rPr lang="en-US" altLang="ko-KR" sz="1100" dirty="0"/>
              <a:t>5. </a:t>
            </a:r>
            <a:r>
              <a:rPr lang="ko-KR" altLang="en-US" sz="1100" dirty="0"/>
              <a:t>결론</a:t>
            </a:r>
            <a:endParaRPr lang="en-US" altLang="ko-KR" sz="1100" dirty="0"/>
          </a:p>
          <a:p>
            <a:r>
              <a:rPr lang="ko-KR" altLang="en-US" sz="1100" dirty="0"/>
              <a:t>이상에서 살펴본 바와 같이</a:t>
            </a:r>
            <a:r>
              <a:rPr lang="en-US" altLang="ko-KR" sz="1100" dirty="0"/>
              <a:t>, </a:t>
            </a:r>
            <a:r>
              <a:rPr lang="ko-KR" altLang="en-US" sz="1100" dirty="0"/>
              <a:t>확인대상발명은 이 건 특허의 권리범위에 속한다고 할 것입니다</a:t>
            </a:r>
            <a:r>
              <a:rPr lang="en-US" altLang="ko-KR" sz="1100" dirty="0"/>
              <a:t>. </a:t>
            </a:r>
            <a:r>
              <a:rPr lang="ko-KR" altLang="en-US" sz="1100" dirty="0"/>
              <a:t>따라서 심판관님께서는 부디 청구취지와 같은 </a:t>
            </a:r>
            <a:r>
              <a:rPr lang="ko-KR" altLang="en-US" sz="1100" dirty="0" err="1"/>
              <a:t>심결을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내려주시기</a:t>
            </a:r>
            <a:r>
              <a:rPr lang="ko-KR" altLang="en-US" sz="1100" dirty="0"/>
              <a:t> 바랍니다</a:t>
            </a:r>
            <a:r>
              <a:rPr lang="en-US" altLang="ko-KR" sz="1100" dirty="0"/>
              <a:t>.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5AD877-2BCD-F051-0C5B-9ACA3C0DB1AE}"/>
              </a:ext>
            </a:extLst>
          </p:cNvPr>
          <p:cNvSpPr/>
          <p:nvPr/>
        </p:nvSpPr>
        <p:spPr>
          <a:xfrm>
            <a:off x="1757085" y="4052047"/>
            <a:ext cx="806823" cy="1674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CFFACB8-6FCA-9FD8-0812-62EFE68CB75E}"/>
              </a:ext>
            </a:extLst>
          </p:cNvPr>
          <p:cNvCxnSpPr>
            <a:stCxn id="19" idx="3"/>
          </p:cNvCxnSpPr>
          <p:nvPr/>
        </p:nvCxnSpPr>
        <p:spPr>
          <a:xfrm>
            <a:off x="2563908" y="4135785"/>
            <a:ext cx="4948518" cy="212098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981E95D-6AB7-0370-99F9-C94E9DC18C4F}"/>
              </a:ext>
            </a:extLst>
          </p:cNvPr>
          <p:cNvSpPr txBox="1"/>
          <p:nvPr/>
        </p:nvSpPr>
        <p:spPr>
          <a:xfrm>
            <a:off x="7512426" y="4171643"/>
            <a:ext cx="4414991" cy="954107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* 청구취지의 일부를 구성</a:t>
            </a:r>
            <a:endParaRPr lang="en-US" altLang="ko-KR" sz="1400" dirty="0"/>
          </a:p>
          <a:p>
            <a:r>
              <a:rPr lang="en-US" altLang="ko-KR" sz="1400" dirty="0"/>
              <a:t> - </a:t>
            </a:r>
            <a:r>
              <a:rPr lang="ko-KR" altLang="en-US" sz="1400" dirty="0"/>
              <a:t>확인대상발명의 보정은 요지변경 불가</a:t>
            </a:r>
            <a:endParaRPr lang="en-US" altLang="ko-KR" sz="1400" dirty="0"/>
          </a:p>
          <a:p>
            <a:r>
              <a:rPr lang="ko-KR" altLang="en-US" sz="1400" dirty="0"/>
              <a:t> </a:t>
            </a:r>
            <a:r>
              <a:rPr lang="en-US" altLang="ko-KR" sz="1400" dirty="0"/>
              <a:t>- </a:t>
            </a:r>
            <a:r>
              <a:rPr lang="ko-KR" altLang="en-US" sz="1400" dirty="0"/>
              <a:t>일사부재리의 효력이 미치는 영역을 명확히 하기 위하여 </a:t>
            </a:r>
            <a:endParaRPr lang="en-US" altLang="ko-KR" sz="1400" dirty="0"/>
          </a:p>
          <a:p>
            <a:r>
              <a:rPr lang="en-US" altLang="ko-KR" sz="1400" dirty="0"/>
              <a:t>   </a:t>
            </a:r>
            <a:r>
              <a:rPr lang="ko-KR" altLang="en-US" sz="1400" dirty="0"/>
              <a:t>사회통념상 다른 것과 구별될 수 있도록 특정 필요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E0427A4-4297-76E2-CEF3-3F6BB849274B}"/>
              </a:ext>
            </a:extLst>
          </p:cNvPr>
          <p:cNvSpPr/>
          <p:nvPr/>
        </p:nvSpPr>
        <p:spPr>
          <a:xfrm>
            <a:off x="1757085" y="5217362"/>
            <a:ext cx="806823" cy="1674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87B128A-FA1D-2B54-B553-730E71D03264}"/>
              </a:ext>
            </a:extLst>
          </p:cNvPr>
          <p:cNvCxnSpPr/>
          <p:nvPr/>
        </p:nvCxnSpPr>
        <p:spPr>
          <a:xfrm>
            <a:off x="2563908" y="5365281"/>
            <a:ext cx="4948518" cy="212098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BB9F340-C8FE-1E75-CC73-C4E6AC63E0E9}"/>
              </a:ext>
            </a:extLst>
          </p:cNvPr>
          <p:cNvSpPr txBox="1"/>
          <p:nvPr/>
        </p:nvSpPr>
        <p:spPr>
          <a:xfrm>
            <a:off x="7512426" y="5471330"/>
            <a:ext cx="4414991" cy="52322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* 청구원인의 일부를 구성</a:t>
            </a:r>
            <a:endParaRPr lang="en-US" altLang="ko-KR" sz="1400" dirty="0"/>
          </a:p>
          <a:p>
            <a:r>
              <a:rPr lang="en-US" altLang="ko-KR" sz="1400" dirty="0"/>
              <a:t> - </a:t>
            </a:r>
            <a:r>
              <a:rPr lang="ko-KR" altLang="en-US" sz="1400" dirty="0"/>
              <a:t>특허발명과 서로 대비할 수 있을 정도로 특정 필요 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A676D6E6-9F58-A84D-6EEB-8F7BC7CC91D5}"/>
              </a:ext>
            </a:extLst>
          </p:cNvPr>
          <p:cNvSpPr/>
          <p:nvPr/>
        </p:nvSpPr>
        <p:spPr>
          <a:xfrm>
            <a:off x="264583" y="4632395"/>
            <a:ext cx="1227917" cy="1295573"/>
          </a:xfrm>
          <a:prstGeom prst="roundRect">
            <a:avLst>
              <a:gd name="adj" fmla="val 24057"/>
            </a:avLst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/>
              <a:t>적극적 </a:t>
            </a:r>
            <a:endParaRPr lang="en-US" altLang="ko-KR" sz="1600" dirty="0"/>
          </a:p>
          <a:p>
            <a:pPr algn="ctr"/>
            <a:r>
              <a:rPr lang="ko-KR" altLang="en-US" sz="1600" dirty="0"/>
              <a:t>권리범위</a:t>
            </a:r>
            <a:endParaRPr lang="en-US" altLang="ko-KR" sz="1600" dirty="0"/>
          </a:p>
          <a:p>
            <a:pPr algn="ctr"/>
            <a:r>
              <a:rPr lang="ko-KR" altLang="en-US" sz="1600" dirty="0"/>
              <a:t>확인심판의 </a:t>
            </a:r>
            <a:endParaRPr lang="en-US" altLang="ko-KR" sz="1600" dirty="0"/>
          </a:p>
          <a:p>
            <a:pPr algn="ctr"/>
            <a:r>
              <a:rPr lang="ko-KR" altLang="en-US" sz="1600" dirty="0"/>
              <a:t>청구취지와 </a:t>
            </a:r>
            <a:endParaRPr lang="en-US" altLang="ko-KR" sz="1600" dirty="0"/>
          </a:p>
          <a:p>
            <a:pPr algn="ctr"/>
            <a:r>
              <a:rPr lang="ko-KR" altLang="en-US" sz="1600" dirty="0"/>
              <a:t>그 이유</a:t>
            </a:r>
          </a:p>
        </p:txBody>
      </p:sp>
    </p:spTree>
    <p:extLst>
      <p:ext uri="{BB962C8B-B14F-4D97-AF65-F5344CB8AC3E}">
        <p14:creationId xmlns:p14="http://schemas.microsoft.com/office/powerpoint/2010/main" val="4160397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제</a:t>
            </a:r>
            <a:r>
              <a:rPr lang="en-US" altLang="ko-KR" sz="2000" dirty="0"/>
              <a:t>140</a:t>
            </a:r>
            <a:r>
              <a:rPr lang="ko-KR" altLang="en-US" sz="2000" dirty="0"/>
              <a:t>조</a:t>
            </a:r>
            <a:r>
              <a:rPr lang="en-US" altLang="ko-KR" sz="2000" dirty="0"/>
              <a:t>, </a:t>
            </a:r>
            <a:r>
              <a:rPr lang="ko-KR" altLang="en-US" sz="2000" dirty="0"/>
              <a:t>제</a:t>
            </a:r>
            <a:r>
              <a:rPr lang="en-US" altLang="ko-KR" sz="2000" dirty="0"/>
              <a:t>140</a:t>
            </a:r>
            <a:r>
              <a:rPr lang="ko-KR" altLang="en-US" sz="2000" dirty="0"/>
              <a:t>조의</a:t>
            </a:r>
            <a:r>
              <a:rPr lang="en-US" altLang="ko-KR" sz="2000" dirty="0"/>
              <a:t>2</a:t>
            </a:r>
            <a:endParaRPr lang="ko-KR" altLang="en-US" sz="200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심판청구서의 보정</a:t>
            </a:r>
            <a:r>
              <a:rPr lang="en-US" altLang="ko-KR" dirty="0"/>
              <a:t>: </a:t>
            </a:r>
            <a:r>
              <a:rPr lang="ko-KR" altLang="en-US" dirty="0"/>
              <a:t>특허권자</a:t>
            </a:r>
            <a:r>
              <a:rPr lang="en-US" altLang="ko-KR" dirty="0"/>
              <a:t>(</a:t>
            </a:r>
            <a:r>
              <a:rPr lang="ko-KR" altLang="en-US" dirty="0"/>
              <a:t>출원인</a:t>
            </a:r>
            <a:r>
              <a:rPr lang="en-US" altLang="ko-KR" dirty="0"/>
              <a:t>)</a:t>
            </a:r>
            <a:r>
              <a:rPr lang="ko-KR" altLang="en-US" dirty="0"/>
              <a:t>의 추가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77875" y="172661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76902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심판청구인의 실수로 인해 심판이 각하되는 사례를 방지하기 위해 심판의 당사자 중 특허권자나 거절결정불복심판의 청구인 기재에 대한 보정을 자유롭게 허용하고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140②Ⅰ, 140</a:t>
            </a:r>
            <a:r>
              <a:rPr lang="ko-KR" altLang="en-US" sz="1400" dirty="0">
                <a:solidFill>
                  <a:schemeClr val="tx2"/>
                </a:solidFill>
              </a:rPr>
              <a:t>의②</a:t>
            </a:r>
            <a:r>
              <a:rPr lang="en-US" altLang="ko-KR" sz="1400" dirty="0">
                <a:solidFill>
                  <a:schemeClr val="tx2"/>
                </a:solidFill>
              </a:rPr>
              <a:t>Ⅰ).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특허권 또는 특허를 받을 수 있는 권리의 공유자가 그 공유인 권리에 관하여 심판을 청구할 때에는 공유자 모두가 공동으로 청구하여야 하는데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highlight>
                  <a:srgbClr val="FFFF00"/>
                </a:highlight>
              </a:rPr>
              <a:t>139③) </a:t>
            </a:r>
            <a:r>
              <a:rPr lang="ko-KR" altLang="en-US" sz="1400" dirty="0">
                <a:highlight>
                  <a:srgbClr val="FFFF00"/>
                </a:highlight>
              </a:rPr>
              <a:t>단독으로 심판을 청구했다면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사후적으로라도</a:t>
            </a:r>
            <a:r>
              <a:rPr lang="ko-KR" altLang="en-US" sz="1400" dirty="0">
                <a:solidFill>
                  <a:schemeClr val="tx2"/>
                </a:solidFill>
              </a:rPr>
              <a:t> 다른 공유자의 동의가 있는 경우에 한해 추가할 수 있도록 제한하고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14300" y="2073111"/>
            <a:ext cx="11899898" cy="116955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제139조(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공동심판의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 청구 등)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① 동일한 특허권에 관하여 제133조제1항, 제134조제1항ㆍ제2항 또는 제137조제1항의 무효심판이나 제135조제1항ㆍ제2항의 권리범위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확인심판을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청구하는 자가 2인 이상이면 모두가 공동으로 심판을 청구할 수 있다.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rgbClr val="444444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② 공유인 특허권의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특허권자에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대하여 심판을 청구할 때에는 공유자 모두를 피청구인으로 하여야 한다.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③ 특허권 또는 특허를 받을 수 있는 권리의 공유자가 그 공유인 권리에 관하여 심판을 청구할 때에는 공유자 모두가 공동으로 청구하여야 한다.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④ 제1항 또는 제3항에 따른 청구인이나 제2항에 따른 피청구인 중 1인에게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심판절차의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중단 또는 중지의 원인이 있으면 모두에게 그 효력이 발생한다.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84150" y="3437241"/>
            <a:ext cx="3206750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甲</a:t>
            </a:r>
            <a:r>
              <a:rPr lang="en-US" altLang="ko-KR" sz="1600" dirty="0"/>
              <a:t>, </a:t>
            </a:r>
            <a:r>
              <a:rPr lang="ko-KR" altLang="en-US" sz="1600" dirty="0"/>
              <a:t>乙 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특허권자</a:t>
            </a:r>
            <a:r>
              <a:rPr lang="ko-KR" altLang="en-US" sz="1600" dirty="0"/>
              <a:t> </a:t>
            </a:r>
            <a:r>
              <a:rPr lang="en-US" altLang="ko-KR" sz="1600" dirty="0"/>
              <a:t>, </a:t>
            </a:r>
            <a:r>
              <a:rPr lang="ko-KR" altLang="en-US" sz="1600" dirty="0"/>
              <a:t>丙 </a:t>
            </a:r>
            <a:r>
              <a:rPr lang="en-US" altLang="ko-KR" sz="1600" dirty="0"/>
              <a:t>: </a:t>
            </a:r>
            <a:r>
              <a:rPr lang="ko-KR" altLang="en-US" sz="1600" dirty="0"/>
              <a:t>이해관계인</a:t>
            </a:r>
          </a:p>
        </p:txBody>
      </p:sp>
      <p:cxnSp>
        <p:nvCxnSpPr>
          <p:cNvPr id="49" name="직선 연결선 48"/>
          <p:cNvCxnSpPr/>
          <p:nvPr/>
        </p:nvCxnSpPr>
        <p:spPr>
          <a:xfrm>
            <a:off x="485775" y="4773509"/>
            <a:ext cx="48863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14"/>
          <p:cNvSpPr>
            <a:spLocks noChangeArrowheads="1"/>
          </p:cNvSpPr>
          <p:nvPr/>
        </p:nvSpPr>
        <p:spPr bwMode="auto">
          <a:xfrm flipV="1">
            <a:off x="1185091" y="4696978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75236" y="3990110"/>
            <a:ext cx="155676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甲</a:t>
            </a:r>
            <a:r>
              <a:rPr lang="en-US" altLang="ko-KR" sz="1400" dirty="0"/>
              <a:t>, </a:t>
            </a:r>
            <a:r>
              <a:rPr lang="ko-KR" altLang="en-US" sz="1400" dirty="0"/>
              <a:t>乙 사전합의</a:t>
            </a:r>
          </a:p>
        </p:txBody>
      </p:sp>
      <p:cxnSp>
        <p:nvCxnSpPr>
          <p:cNvPr id="65" name="직선 연결선 64"/>
          <p:cNvCxnSpPr>
            <a:stCxn id="59" idx="2"/>
            <a:endCxn id="50" idx="4"/>
          </p:cNvCxnSpPr>
          <p:nvPr/>
        </p:nvCxnSpPr>
        <p:spPr>
          <a:xfrm>
            <a:off x="1253618" y="4451775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2425700" y="3990110"/>
            <a:ext cx="20828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甲</a:t>
            </a:r>
            <a:r>
              <a:rPr lang="en-US" altLang="ko-KR" sz="1400" dirty="0"/>
              <a:t>, </a:t>
            </a:r>
            <a:r>
              <a:rPr lang="ko-KR" altLang="en-US" sz="1400" dirty="0"/>
              <a:t>乙 적극적권리범위</a:t>
            </a:r>
            <a:endParaRPr lang="en-US" altLang="ko-KR" sz="1400" dirty="0"/>
          </a:p>
          <a:p>
            <a:pPr algn="ctr"/>
            <a:r>
              <a:rPr lang="ko-KR" altLang="en-US" sz="1400" dirty="0"/>
              <a:t>확인심판청구</a:t>
            </a:r>
            <a:r>
              <a:rPr lang="en-US" altLang="ko-KR" sz="1400" dirty="0"/>
              <a:t>(</a:t>
            </a:r>
            <a:r>
              <a:rPr lang="ko-KR" altLang="en-US" sz="1400" dirty="0"/>
              <a:t>丙 피청구인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74" name="직선 연결선 73"/>
          <p:cNvCxnSpPr>
            <a:stCxn id="73" idx="2"/>
          </p:cNvCxnSpPr>
          <p:nvPr/>
        </p:nvCxnSpPr>
        <p:spPr>
          <a:xfrm>
            <a:off x="3467100" y="4451775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>
            <a:off x="485775" y="6323790"/>
            <a:ext cx="48863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14"/>
          <p:cNvSpPr>
            <a:spLocks noChangeArrowheads="1"/>
          </p:cNvSpPr>
          <p:nvPr/>
        </p:nvSpPr>
        <p:spPr bwMode="auto">
          <a:xfrm flipV="1">
            <a:off x="1524456" y="624725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78" name="직선 연결선 77"/>
          <p:cNvCxnSpPr>
            <a:endCxn id="76" idx="4"/>
          </p:cNvCxnSpPr>
          <p:nvPr/>
        </p:nvCxnSpPr>
        <p:spPr>
          <a:xfrm>
            <a:off x="1592983" y="6002056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469901" y="5540391"/>
            <a:ext cx="229516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甲 적극적권리범위</a:t>
            </a:r>
            <a:endParaRPr lang="en-US" altLang="ko-KR" sz="1400" dirty="0"/>
          </a:p>
          <a:p>
            <a:pPr algn="ctr"/>
            <a:r>
              <a:rPr lang="ko-KR" altLang="en-US" sz="1400" dirty="0"/>
              <a:t>확인심판청구</a:t>
            </a:r>
            <a:r>
              <a:rPr lang="en-US" altLang="ko-KR" sz="1400" dirty="0"/>
              <a:t> (</a:t>
            </a:r>
            <a:r>
              <a:rPr lang="ko-KR" altLang="en-US" sz="1400" dirty="0"/>
              <a:t>丙 피청구인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82" name="Rectangle 14"/>
          <p:cNvSpPr>
            <a:spLocks noChangeArrowheads="1"/>
          </p:cNvSpPr>
          <p:nvPr/>
        </p:nvSpPr>
        <p:spPr bwMode="auto">
          <a:xfrm flipV="1">
            <a:off x="3400180" y="4696978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3" name="Rectangle 14"/>
          <p:cNvSpPr>
            <a:spLocks noChangeArrowheads="1"/>
          </p:cNvSpPr>
          <p:nvPr/>
        </p:nvSpPr>
        <p:spPr bwMode="auto">
          <a:xfrm flipV="1">
            <a:off x="4063565" y="624725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84" name="직선 연결선 83"/>
          <p:cNvCxnSpPr>
            <a:endCxn id="83" idx="4"/>
          </p:cNvCxnSpPr>
          <p:nvPr/>
        </p:nvCxnSpPr>
        <p:spPr>
          <a:xfrm>
            <a:off x="4132092" y="6002056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2987040" y="5540391"/>
            <a:ext cx="2339104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乙의 동의가 있는 경우에 甲이 乙을 추가하는 </a:t>
            </a:r>
            <a:r>
              <a:rPr lang="ko-KR" altLang="en-US" sz="1400" dirty="0" err="1"/>
              <a:t>보정가능</a:t>
            </a:r>
            <a:endParaRPr lang="ko-KR" altLang="en-US" sz="1400" dirty="0"/>
          </a:p>
        </p:txBody>
      </p:sp>
      <p:cxnSp>
        <p:nvCxnSpPr>
          <p:cNvPr id="86" name="직선 연결선 85"/>
          <p:cNvCxnSpPr/>
          <p:nvPr/>
        </p:nvCxnSpPr>
        <p:spPr>
          <a:xfrm>
            <a:off x="6076950" y="3775795"/>
            <a:ext cx="0" cy="286410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/>
          <p:cNvCxnSpPr/>
          <p:nvPr/>
        </p:nvCxnSpPr>
        <p:spPr>
          <a:xfrm>
            <a:off x="6647633" y="4773509"/>
            <a:ext cx="48863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14"/>
          <p:cNvSpPr>
            <a:spLocks noChangeArrowheads="1"/>
          </p:cNvSpPr>
          <p:nvPr/>
        </p:nvSpPr>
        <p:spPr bwMode="auto">
          <a:xfrm flipV="1">
            <a:off x="7346949" y="4696978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637094" y="3990110"/>
            <a:ext cx="1556764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甲</a:t>
            </a:r>
            <a:r>
              <a:rPr lang="en-US" altLang="ko-KR" sz="1400" dirty="0"/>
              <a:t>, </a:t>
            </a:r>
            <a:r>
              <a:rPr lang="ko-KR" altLang="en-US" sz="1400" dirty="0"/>
              <a:t>乙 사전합의</a:t>
            </a:r>
            <a:endParaRPr lang="en-US" altLang="ko-KR" sz="1400" dirty="0"/>
          </a:p>
          <a:p>
            <a:pPr algn="ctr"/>
            <a:r>
              <a:rPr lang="ko-KR" altLang="en-US" sz="1400" dirty="0"/>
              <a:t>不要</a:t>
            </a:r>
          </a:p>
        </p:txBody>
      </p:sp>
      <p:cxnSp>
        <p:nvCxnSpPr>
          <p:cNvPr id="90" name="직선 연결선 89"/>
          <p:cNvCxnSpPr>
            <a:stCxn id="89" idx="2"/>
            <a:endCxn id="88" idx="4"/>
          </p:cNvCxnSpPr>
          <p:nvPr/>
        </p:nvCxnSpPr>
        <p:spPr>
          <a:xfrm>
            <a:off x="7415476" y="4451775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8431982" y="3990110"/>
            <a:ext cx="239395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丙 소극적권리범위</a:t>
            </a:r>
            <a:endParaRPr lang="en-US" altLang="ko-KR" sz="1400" dirty="0"/>
          </a:p>
          <a:p>
            <a:pPr algn="ctr"/>
            <a:r>
              <a:rPr lang="ko-KR" altLang="en-US" sz="1400" dirty="0"/>
              <a:t>확인심판청구</a:t>
            </a:r>
            <a:r>
              <a:rPr lang="en-US" altLang="ko-KR" sz="1400" dirty="0"/>
              <a:t>(</a:t>
            </a:r>
            <a:r>
              <a:rPr lang="ko-KR" altLang="en-US" sz="1400" dirty="0"/>
              <a:t>甲</a:t>
            </a:r>
            <a:r>
              <a:rPr lang="en-US" altLang="ko-KR" sz="1400" dirty="0"/>
              <a:t>, </a:t>
            </a:r>
            <a:r>
              <a:rPr lang="ko-KR" altLang="en-US" sz="1400" dirty="0"/>
              <a:t>乙 피청구인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92" name="직선 연결선 91"/>
          <p:cNvCxnSpPr>
            <a:stCxn id="91" idx="2"/>
          </p:cNvCxnSpPr>
          <p:nvPr/>
        </p:nvCxnSpPr>
        <p:spPr>
          <a:xfrm>
            <a:off x="9628958" y="4451775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14"/>
          <p:cNvSpPr>
            <a:spLocks noChangeArrowheads="1"/>
          </p:cNvSpPr>
          <p:nvPr/>
        </p:nvSpPr>
        <p:spPr bwMode="auto">
          <a:xfrm flipV="1">
            <a:off x="9562038" y="4696978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94" name="직선 연결선 93"/>
          <p:cNvCxnSpPr/>
          <p:nvPr/>
        </p:nvCxnSpPr>
        <p:spPr>
          <a:xfrm>
            <a:off x="6659196" y="6323790"/>
            <a:ext cx="48863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Rectangle 14"/>
          <p:cNvSpPr>
            <a:spLocks noChangeArrowheads="1"/>
          </p:cNvSpPr>
          <p:nvPr/>
        </p:nvSpPr>
        <p:spPr bwMode="auto">
          <a:xfrm flipV="1">
            <a:off x="7697877" y="624725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96" name="직선 연결선 95"/>
          <p:cNvCxnSpPr>
            <a:endCxn id="95" idx="4"/>
          </p:cNvCxnSpPr>
          <p:nvPr/>
        </p:nvCxnSpPr>
        <p:spPr>
          <a:xfrm>
            <a:off x="7766404" y="6002056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6643322" y="5540391"/>
            <a:ext cx="229516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丙 소극적권리범위</a:t>
            </a:r>
            <a:endParaRPr lang="en-US" altLang="ko-KR" sz="1400" dirty="0"/>
          </a:p>
          <a:p>
            <a:pPr algn="ctr"/>
            <a:r>
              <a:rPr lang="ko-KR" altLang="en-US" sz="1400" dirty="0"/>
              <a:t>확인심판청구</a:t>
            </a:r>
            <a:r>
              <a:rPr lang="en-US" altLang="ko-KR" sz="1400" dirty="0"/>
              <a:t> (</a:t>
            </a:r>
            <a:r>
              <a:rPr lang="ko-KR" altLang="en-US" sz="1400" dirty="0"/>
              <a:t>甲 피청구인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98" name="Rectangle 14"/>
          <p:cNvSpPr>
            <a:spLocks noChangeArrowheads="1"/>
          </p:cNvSpPr>
          <p:nvPr/>
        </p:nvSpPr>
        <p:spPr bwMode="auto">
          <a:xfrm flipV="1">
            <a:off x="10236986" y="624725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99" name="직선 연결선 98"/>
          <p:cNvCxnSpPr>
            <a:endCxn id="98" idx="4"/>
          </p:cNvCxnSpPr>
          <p:nvPr/>
        </p:nvCxnSpPr>
        <p:spPr>
          <a:xfrm>
            <a:off x="10305513" y="6002056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9160461" y="5540391"/>
            <a:ext cx="2339104" cy="4616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乙의 동의없이 丙이 乙을 추가하는 </a:t>
            </a:r>
            <a:r>
              <a:rPr lang="ko-KR" altLang="en-US" sz="1400" dirty="0" err="1"/>
              <a:t>보정가능</a:t>
            </a:r>
            <a:endParaRPr lang="ko-KR" altLang="en-US" sz="1400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442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439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제</a:t>
            </a:r>
            <a:r>
              <a:rPr lang="en-US" altLang="ko-KR" sz="2000" dirty="0"/>
              <a:t>140</a:t>
            </a:r>
            <a:r>
              <a:rPr lang="ko-KR" altLang="en-US" sz="2000" dirty="0"/>
              <a:t>조</a:t>
            </a:r>
            <a:r>
              <a:rPr lang="en-US" altLang="ko-KR" sz="2000" dirty="0"/>
              <a:t>, </a:t>
            </a:r>
            <a:r>
              <a:rPr lang="ko-KR" altLang="en-US" sz="2000" dirty="0"/>
              <a:t>제</a:t>
            </a:r>
            <a:r>
              <a:rPr lang="en-US" altLang="ko-KR" sz="2000" dirty="0"/>
              <a:t>140</a:t>
            </a:r>
            <a:r>
              <a:rPr lang="ko-KR" altLang="en-US" sz="2000" dirty="0"/>
              <a:t>조의</a:t>
            </a:r>
            <a:r>
              <a:rPr lang="en-US" altLang="ko-KR" sz="2000" dirty="0"/>
              <a:t>2</a:t>
            </a:r>
            <a:endParaRPr lang="ko-KR" altLang="en-US" sz="200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확인대상발명의 보정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80" name="TextBox 79"/>
          <p:cNvSpPr txBox="1"/>
          <p:nvPr/>
        </p:nvSpPr>
        <p:spPr>
          <a:xfrm>
            <a:off x="469901" y="1402950"/>
            <a:ext cx="2295164" cy="368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/>
              <a:t>적극적 권리범위확인심판</a:t>
            </a:r>
            <a:endParaRPr lang="ko-KR" altLang="en-US" sz="14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A2BED3F-4861-42BC-AF12-783D38E017BB}"/>
              </a:ext>
            </a:extLst>
          </p:cNvPr>
          <p:cNvSpPr txBox="1"/>
          <p:nvPr/>
        </p:nvSpPr>
        <p:spPr>
          <a:xfrm>
            <a:off x="469901" y="2211990"/>
            <a:ext cx="2295164" cy="368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소극적 권리범위확인심판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CC403A-F7EF-4512-86AA-A4E0E28ABB0B}"/>
              </a:ext>
            </a:extLst>
          </p:cNvPr>
          <p:cNvSpPr txBox="1"/>
          <p:nvPr/>
        </p:nvSpPr>
        <p:spPr>
          <a:xfrm>
            <a:off x="3085303" y="1166590"/>
            <a:ext cx="662834" cy="301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/>
              <a:t>원칙</a:t>
            </a:r>
            <a:endParaRPr lang="ko-KR" alt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8B63623-5473-467D-8924-1507EAA1BC26}"/>
              </a:ext>
            </a:extLst>
          </p:cNvPr>
          <p:cNvSpPr txBox="1"/>
          <p:nvPr/>
        </p:nvSpPr>
        <p:spPr>
          <a:xfrm>
            <a:off x="3938395" y="1166590"/>
            <a:ext cx="3204786" cy="3014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400" dirty="0"/>
              <a:t>요지변경이 되지 아니한  범위 내에서 가능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3143C1-BB4A-472A-9EC1-9CAEA1343677}"/>
              </a:ext>
            </a:extLst>
          </p:cNvPr>
          <p:cNvSpPr txBox="1"/>
          <p:nvPr/>
        </p:nvSpPr>
        <p:spPr>
          <a:xfrm>
            <a:off x="3085303" y="1675254"/>
            <a:ext cx="662834" cy="301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예외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C34B6E-9E6E-4128-AE45-12E290767ADE}"/>
              </a:ext>
            </a:extLst>
          </p:cNvPr>
          <p:cNvSpPr txBox="1"/>
          <p:nvPr/>
        </p:nvSpPr>
        <p:spPr>
          <a:xfrm>
            <a:off x="3938395" y="1676620"/>
            <a:ext cx="3204786" cy="3014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400" dirty="0"/>
              <a:t>실시주장발명과 일치시키기 위한 보정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B71E35-63CA-47DC-8018-D93A109C0EAA}"/>
              </a:ext>
            </a:extLst>
          </p:cNvPr>
          <p:cNvSpPr txBox="1"/>
          <p:nvPr/>
        </p:nvSpPr>
        <p:spPr>
          <a:xfrm>
            <a:off x="3938395" y="2252485"/>
            <a:ext cx="3204786" cy="30143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400" dirty="0"/>
              <a:t>요지변경이 되지 아니한  범위 내에서 가능</a:t>
            </a: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A78EAE65-59BE-4E20-A024-DA57EB262592}"/>
              </a:ext>
            </a:extLst>
          </p:cNvPr>
          <p:cNvCxnSpPr>
            <a:stCxn id="80" idx="3"/>
            <a:endCxn id="39" idx="1"/>
          </p:cNvCxnSpPr>
          <p:nvPr/>
        </p:nvCxnSpPr>
        <p:spPr>
          <a:xfrm flipV="1">
            <a:off x="2765065" y="1317305"/>
            <a:ext cx="320238" cy="26976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967A1DF1-4DCE-4CE7-BDB0-27B33D5A467C}"/>
              </a:ext>
            </a:extLst>
          </p:cNvPr>
          <p:cNvCxnSpPr>
            <a:stCxn id="80" idx="3"/>
            <a:endCxn id="41" idx="1"/>
          </p:cNvCxnSpPr>
          <p:nvPr/>
        </p:nvCxnSpPr>
        <p:spPr>
          <a:xfrm>
            <a:off x="2765065" y="1587070"/>
            <a:ext cx="320238" cy="23889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D348DF9-5056-404F-BC36-0F7D2FDF34F6}"/>
              </a:ext>
            </a:extLst>
          </p:cNvPr>
          <p:cNvCxnSpPr>
            <a:stCxn id="38" idx="3"/>
            <a:endCxn id="43" idx="1"/>
          </p:cNvCxnSpPr>
          <p:nvPr/>
        </p:nvCxnSpPr>
        <p:spPr>
          <a:xfrm>
            <a:off x="2765065" y="2396110"/>
            <a:ext cx="1173330" cy="70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DD789E96-CDDF-4FE8-B429-502EB3E995EA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3748137" y="1317305"/>
            <a:ext cx="19025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2E0BAC8-CE7D-4703-8D19-2C46BBAE20ED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3748137" y="1825969"/>
            <a:ext cx="190258" cy="13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E1193FF-BCE4-400A-A29E-26EC292DDE4E}"/>
              </a:ext>
            </a:extLst>
          </p:cNvPr>
          <p:cNvSpPr txBox="1"/>
          <p:nvPr/>
        </p:nvSpPr>
        <p:spPr>
          <a:xfrm>
            <a:off x="930149" y="3220457"/>
            <a:ext cx="662834" cy="30143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판단</a:t>
            </a:r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40F323A3-1C60-4C50-8322-30C27929A8E8}"/>
              </a:ext>
            </a:extLst>
          </p:cNvPr>
          <p:cNvCxnSpPr>
            <a:stCxn id="40" idx="3"/>
            <a:endCxn id="58" idx="0"/>
          </p:cNvCxnSpPr>
          <p:nvPr/>
        </p:nvCxnSpPr>
        <p:spPr>
          <a:xfrm flipH="1">
            <a:off x="1261566" y="1317305"/>
            <a:ext cx="5881615" cy="1903152"/>
          </a:xfrm>
          <a:prstGeom prst="bentConnector4">
            <a:avLst>
              <a:gd name="adj1" fmla="val -3887"/>
              <a:gd name="adj2" fmla="val 82027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571EF72B-EF53-4224-B076-AE87B2B81084}"/>
              </a:ext>
            </a:extLst>
          </p:cNvPr>
          <p:cNvCxnSpPr>
            <a:stCxn id="43" idx="3"/>
            <a:endCxn id="58" idx="0"/>
          </p:cNvCxnSpPr>
          <p:nvPr/>
        </p:nvCxnSpPr>
        <p:spPr>
          <a:xfrm flipH="1">
            <a:off x="1261566" y="2403200"/>
            <a:ext cx="5881615" cy="817257"/>
          </a:xfrm>
          <a:prstGeom prst="bentConnector4">
            <a:avLst>
              <a:gd name="adj1" fmla="val -3887"/>
              <a:gd name="adj2" fmla="val 59221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0061727-10E9-4474-AF10-71C20696FD9A}"/>
              </a:ext>
            </a:extLst>
          </p:cNvPr>
          <p:cNvSpPr/>
          <p:nvPr/>
        </p:nvSpPr>
        <p:spPr>
          <a:xfrm>
            <a:off x="316871" y="3521887"/>
            <a:ext cx="11588436" cy="28931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/>
              <a:t>확인대상발명의 보정은 </a:t>
            </a:r>
            <a:r>
              <a:rPr lang="ko-KR" altLang="en-US" sz="1400" dirty="0">
                <a:highlight>
                  <a:srgbClr val="FFFF00"/>
                </a:highlight>
              </a:rPr>
              <a:t>심판절차의 지연을 초래하거나 피청구인의 </a:t>
            </a:r>
            <a:r>
              <a:rPr lang="ko-KR" altLang="en-US" sz="1400" dirty="0" err="1">
                <a:highlight>
                  <a:srgbClr val="FFFF00"/>
                </a:highlight>
              </a:rPr>
              <a:t>방어권행사를</a:t>
            </a:r>
            <a:r>
              <a:rPr lang="ko-KR" altLang="en-US" sz="1400" dirty="0">
                <a:highlight>
                  <a:srgbClr val="FFFF00"/>
                </a:highlight>
              </a:rPr>
              <a:t> 곤란케 할 염려가 없는 </a:t>
            </a:r>
            <a:r>
              <a:rPr lang="ko-KR" altLang="en-US" sz="1400" dirty="0"/>
              <a:t>경우로서 </a:t>
            </a:r>
            <a:r>
              <a:rPr lang="en-US" altLang="ko-KR" sz="1400" dirty="0">
                <a:solidFill>
                  <a:srgbClr val="FF0000"/>
                </a:solidFill>
              </a:rPr>
              <a:t>ⅰ) </a:t>
            </a:r>
            <a:r>
              <a:rPr lang="ko-KR" altLang="en-US" sz="1400" dirty="0">
                <a:solidFill>
                  <a:srgbClr val="FF0000"/>
                </a:solidFill>
              </a:rPr>
              <a:t>심판청구서에 첨부된 확인대상발명의 불명확한 부분을 구체화</a:t>
            </a:r>
            <a:r>
              <a:rPr lang="ko-KR" altLang="en-US" sz="1400" dirty="0"/>
              <a:t>하는 것이거나</a:t>
            </a:r>
            <a:r>
              <a:rPr lang="en-US" altLang="ko-KR" sz="1400" dirty="0"/>
              <a:t>, </a:t>
            </a:r>
            <a:r>
              <a:rPr lang="en-US" altLang="ko-KR" sz="1400" dirty="0">
                <a:solidFill>
                  <a:srgbClr val="FF0000"/>
                </a:solidFill>
              </a:rPr>
              <a:t>ⅱ) </a:t>
            </a:r>
            <a:r>
              <a:rPr lang="ko-KR" altLang="en-US" sz="1400" dirty="0">
                <a:solidFill>
                  <a:srgbClr val="FF0000"/>
                </a:solidFill>
              </a:rPr>
              <a:t>처음부터 당연히 있어야 할 구성부분을 부가한 것에 지나지 아니하여 </a:t>
            </a:r>
            <a:r>
              <a:rPr lang="ko-KR" altLang="en-US" sz="1400" dirty="0"/>
              <a:t>심판청구의 전체적인 취지에 비추어 볼 때 그 발명의 동일성이 유지되는 것이라면 요지변경에 해당되지 아니한다</a:t>
            </a:r>
            <a:r>
              <a:rPr lang="en-US" altLang="ko-KR" sz="1400" dirty="0"/>
              <a:t>. </a:t>
            </a:r>
            <a:r>
              <a:rPr lang="ko-KR" altLang="en-US" sz="1400" dirty="0"/>
              <a:t>확인대상발명의 보정의 한계를 정하는 기능을 하는 “동일성” 개념은 심판절차의 지연을 초래하거나 피청구인의 </a:t>
            </a:r>
            <a:r>
              <a:rPr lang="ko-KR" altLang="en-US" sz="1400" dirty="0" err="1"/>
              <a:t>방어권</a:t>
            </a:r>
            <a:r>
              <a:rPr lang="ko-KR" altLang="en-US" sz="1400" dirty="0"/>
              <a:t> 행사를 곤란케 할 염려가 있는가라고 하는 견지에서 파악되는 것으로서</a:t>
            </a:r>
            <a:r>
              <a:rPr lang="en-US" altLang="ko-KR" sz="1400" dirty="0"/>
              <a:t>, </a:t>
            </a:r>
            <a:r>
              <a:rPr lang="ko-KR" altLang="en-US" sz="1400" dirty="0"/>
              <a:t>신규성</a:t>
            </a:r>
            <a:r>
              <a:rPr lang="en-US" altLang="ko-KR" sz="1400" dirty="0"/>
              <a:t>, </a:t>
            </a:r>
            <a:r>
              <a:rPr lang="ko-KR" altLang="en-US" sz="1400" dirty="0"/>
              <a:t>선출원주의 등의 특허요건에서의 개념과는 그 고찰의 근거가 다르다</a:t>
            </a:r>
            <a:r>
              <a:rPr lang="en-US" altLang="ko-KR" sz="1400" dirty="0"/>
              <a:t>. </a:t>
            </a:r>
            <a:r>
              <a:rPr lang="ko-KR" altLang="en-US" sz="1400" dirty="0"/>
              <a:t>예를 들어</a:t>
            </a:r>
            <a:r>
              <a:rPr lang="en-US" altLang="ko-KR" sz="1400" dirty="0"/>
              <a:t>, </a:t>
            </a:r>
            <a:r>
              <a:rPr lang="ko-KR" altLang="en-US" sz="1400" dirty="0"/>
              <a:t>권리범위확인심판에서 심판청구서의 </a:t>
            </a:r>
            <a:r>
              <a:rPr lang="ko-KR" altLang="en-US" sz="1400" dirty="0" err="1"/>
              <a:t>설명란에</a:t>
            </a:r>
            <a:r>
              <a:rPr lang="ko-KR" altLang="en-US" sz="1400" dirty="0"/>
              <a:t> 확인대상발명의 작동에 중요한 부분을 이루는 구성에 관한 기재가 생략되었거나 확인대상발명과 대비되는 특허발명의 청구범위에 기재되어 있는 구성요소에 상응하는 구성에 대한 발명의 설명이 없었음에도</a:t>
            </a:r>
            <a:r>
              <a:rPr lang="en-US" altLang="ko-KR" sz="1400" dirty="0"/>
              <a:t>, </a:t>
            </a:r>
            <a:r>
              <a:rPr lang="ko-KR" altLang="en-US" sz="1400" dirty="0"/>
              <a:t>이러한 구성에 관한 기재를 추가하거나 변경하는 보정은</a:t>
            </a:r>
            <a:r>
              <a:rPr lang="en-US" altLang="ko-KR" sz="1400" dirty="0"/>
              <a:t>, </a:t>
            </a:r>
            <a:r>
              <a:rPr lang="ko-KR" altLang="en-US" sz="1400" dirty="0"/>
              <a:t>설사 특허요건에서의 발명의 동일성의 범위를 벗어나거나</a:t>
            </a:r>
            <a:r>
              <a:rPr lang="en-US" altLang="ko-KR" sz="1400" dirty="0"/>
              <a:t>, </a:t>
            </a:r>
            <a:r>
              <a:rPr lang="ko-KR" altLang="en-US" sz="1400" dirty="0"/>
              <a:t>보정이나 정정요건에서의 신규사항을 추가하는 것이라고 하더라도</a:t>
            </a:r>
            <a:r>
              <a:rPr lang="en-US" altLang="ko-KR" sz="1400" dirty="0"/>
              <a:t>, </a:t>
            </a:r>
            <a:r>
              <a:rPr lang="ko-KR" altLang="en-US" sz="1400" dirty="0"/>
              <a:t>심판절차의 지연을 초래하거나 피청구인의 </a:t>
            </a:r>
            <a:r>
              <a:rPr lang="ko-KR" altLang="en-US" sz="1400" dirty="0" err="1"/>
              <a:t>방어권</a:t>
            </a:r>
            <a:r>
              <a:rPr lang="ko-KR" altLang="en-US" sz="1400" dirty="0"/>
              <a:t> 행사를 곤란케 할 염려가 없는 경우에는 심판청구서에 첨부된 도면 및 설명서에 표현된 구조의 불명확한 부분을 구체화하는 것 또는 처음부터 당연히 있어야 할 구성부분을 부가한 것에 지나지 아니하여 심판청구의 전체적인 취지에 비추어 볼 때 그 발명의 동일성이 유지되는 것으로서 요지변경에 해당되지 아니한다고 할 것이다</a:t>
            </a:r>
            <a:r>
              <a:rPr lang="en-US" altLang="ko-KR" sz="1400" dirty="0"/>
              <a:t>(</a:t>
            </a:r>
            <a:r>
              <a:rPr lang="ko-KR" altLang="en-US" sz="1400" dirty="0"/>
              <a:t>특허법원 </a:t>
            </a:r>
            <a:r>
              <a:rPr lang="en-US" altLang="ko-KR" sz="1400" dirty="0"/>
              <a:t>2007. 6. 1.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2006</a:t>
            </a:r>
            <a:r>
              <a:rPr lang="ko-KR" altLang="en-US" sz="1400" dirty="0"/>
              <a:t>허</a:t>
            </a:r>
            <a:r>
              <a:rPr lang="en-US" altLang="ko-KR" sz="1400" dirty="0"/>
              <a:t>010661). </a:t>
            </a:r>
            <a:r>
              <a:rPr lang="ko-KR" altLang="en-US" sz="1400" dirty="0">
                <a:highlight>
                  <a:srgbClr val="FFFF00"/>
                </a:highlight>
              </a:rPr>
              <a:t>결국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심판단계에서 확인대상발명의 보정이 이루어진 경우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그 보정이 요지의 변경에 </a:t>
            </a:r>
            <a:r>
              <a:rPr lang="ko-KR" altLang="en-US" sz="1400" dirty="0" err="1">
                <a:highlight>
                  <a:srgbClr val="FFFF00"/>
                </a:highlight>
              </a:rPr>
              <a:t>해당하는지의</a:t>
            </a:r>
            <a:r>
              <a:rPr lang="ko-KR" altLang="en-US" sz="1400" dirty="0">
                <a:highlight>
                  <a:srgbClr val="FFFF00"/>
                </a:highlight>
              </a:rPr>
              <a:t> 여부는 보정 전후 확인대상발명에서 변경된 구성요소의 중요도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보정의 경위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보정의 시기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보정명령에 따른 것인지</a:t>
            </a:r>
            <a:r>
              <a:rPr lang="en-US" altLang="ko-KR" sz="1400" dirty="0">
                <a:highlight>
                  <a:srgbClr val="FFFF00"/>
                </a:highlight>
              </a:rPr>
              <a:t>), </a:t>
            </a:r>
            <a:r>
              <a:rPr lang="ko-KR" altLang="en-US" sz="1400" dirty="0">
                <a:highlight>
                  <a:srgbClr val="FFFF00"/>
                </a:highlight>
              </a:rPr>
              <a:t>보정 후 피심판청구인이 방어권을 행사하였는가 등의 여러 사정을 고려하여 규범적으로 판단하여야 할 것이다</a:t>
            </a:r>
            <a:r>
              <a:rPr lang="en-US" altLang="ko-KR" sz="1400" dirty="0"/>
              <a:t>(</a:t>
            </a:r>
            <a:r>
              <a:rPr lang="ko-KR" altLang="en-US" sz="1400" dirty="0"/>
              <a:t>한동수</a:t>
            </a:r>
            <a:r>
              <a:rPr lang="en-US" altLang="ko-KR" sz="1400" dirty="0"/>
              <a:t>, “</a:t>
            </a:r>
            <a:r>
              <a:rPr lang="ko-KR" altLang="en-US" sz="1400" dirty="0"/>
              <a:t>확인대상고안의 </a:t>
            </a:r>
            <a:r>
              <a:rPr lang="ko-KR" altLang="en-US" sz="1400" dirty="0" err="1"/>
              <a:t>보정시</a:t>
            </a:r>
            <a:r>
              <a:rPr lang="ko-KR" altLang="en-US" sz="1400" dirty="0"/>
              <a:t> 요지변경의 의미”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한국특허법학회</a:t>
            </a:r>
            <a:r>
              <a:rPr lang="ko-KR" altLang="en-US" sz="1400" dirty="0"/>
              <a:t> 편</a:t>
            </a:r>
            <a:r>
              <a:rPr lang="en-US" altLang="ko-KR" sz="1400" dirty="0"/>
              <a:t>, </a:t>
            </a:r>
            <a:r>
              <a:rPr lang="ko-KR" altLang="en-US" sz="1400" dirty="0"/>
              <a:t>「</a:t>
            </a:r>
            <a:r>
              <a:rPr lang="ko-KR" altLang="en-US" sz="1400" dirty="0" err="1"/>
              <a:t>특허판례연구</a:t>
            </a:r>
            <a:r>
              <a:rPr lang="ko-KR" altLang="en-US" sz="1400" dirty="0"/>
              <a:t>」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박영사</a:t>
            </a:r>
            <a:r>
              <a:rPr lang="en-US" altLang="ko-KR" sz="1400" dirty="0"/>
              <a:t>, 2009, 616</a:t>
            </a:r>
            <a:r>
              <a:rPr lang="ko-KR" altLang="en-US" sz="1400" dirty="0"/>
              <a:t>면</a:t>
            </a:r>
            <a:r>
              <a:rPr lang="en-US" altLang="ko-KR" sz="1400" dirty="0"/>
              <a:t>).</a:t>
            </a:r>
            <a:endParaRPr lang="ko-KR" altLang="en-US" sz="1400" dirty="0"/>
          </a:p>
        </p:txBody>
      </p:sp>
      <p:sp>
        <p:nvSpPr>
          <p:cNvPr id="30" name="말풍선: 모서리가 둥근 사각형 29">
            <a:extLst>
              <a:ext uri="{FF2B5EF4-FFF2-40B4-BE49-F238E27FC236}">
                <a16:creationId xmlns:a16="http://schemas.microsoft.com/office/drawing/2014/main" id="{213BD427-2632-4CB4-A6A4-D82BB5F6B255}"/>
              </a:ext>
            </a:extLst>
          </p:cNvPr>
          <p:cNvSpPr/>
          <p:nvPr/>
        </p:nvSpPr>
        <p:spPr>
          <a:xfrm>
            <a:off x="7568697" y="1260812"/>
            <a:ext cx="4089903" cy="1940957"/>
          </a:xfrm>
          <a:prstGeom prst="wedgeRoundRectCallout">
            <a:avLst>
              <a:gd name="adj1" fmla="val -8111"/>
              <a:gd name="adj2" fmla="val 67564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US" altLang="ko-KR" sz="1200" dirty="0">
                <a:solidFill>
                  <a:schemeClr val="tx1"/>
                </a:solidFill>
              </a:rPr>
              <a:t>ⅰ) </a:t>
            </a:r>
            <a:r>
              <a:rPr lang="ko-KR" altLang="en-US" sz="1200" dirty="0">
                <a:solidFill>
                  <a:schemeClr val="tx1"/>
                </a:solidFill>
              </a:rPr>
              <a:t>도면에 도시된 구성을 설명서에 부가하는 경우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대법원 </a:t>
            </a:r>
            <a:r>
              <a:rPr lang="en-US" altLang="ko-KR" sz="1200" dirty="0">
                <a:solidFill>
                  <a:schemeClr val="tx1"/>
                </a:solidFill>
              </a:rPr>
              <a:t>2012. 5. 24. </a:t>
            </a:r>
            <a:r>
              <a:rPr lang="ko-KR" altLang="en-US" sz="1200" dirty="0">
                <a:solidFill>
                  <a:schemeClr val="tx1"/>
                </a:solidFill>
              </a:rPr>
              <a:t>선고 </a:t>
            </a:r>
            <a:r>
              <a:rPr lang="en-US" altLang="ko-KR" sz="1200" dirty="0">
                <a:solidFill>
                  <a:schemeClr val="tx1"/>
                </a:solidFill>
              </a:rPr>
              <a:t>2012</a:t>
            </a:r>
            <a:r>
              <a:rPr lang="ko-KR" altLang="en-US" sz="1200" dirty="0">
                <a:solidFill>
                  <a:schemeClr val="tx1"/>
                </a:solidFill>
              </a:rPr>
              <a:t>후</a:t>
            </a:r>
            <a:r>
              <a:rPr lang="en-US" altLang="ko-KR" sz="1200" dirty="0">
                <a:solidFill>
                  <a:schemeClr val="tx1"/>
                </a:solidFill>
              </a:rPr>
              <a:t>344), </a:t>
            </a:r>
          </a:p>
          <a:p>
            <a:pPr algn="just"/>
            <a:r>
              <a:rPr lang="en-US" altLang="ko-KR" sz="1200" dirty="0"/>
              <a:t>ⅱ) </a:t>
            </a:r>
            <a:r>
              <a:rPr lang="ko-KR" altLang="en-US" sz="1200" dirty="0"/>
              <a:t>특허발명과 대비될 수 있는 구성의 부가하는 경우</a:t>
            </a:r>
            <a:r>
              <a:rPr lang="en-US" altLang="ko-KR" sz="1200" dirty="0"/>
              <a:t>(</a:t>
            </a:r>
            <a:r>
              <a:rPr lang="ko-KR" altLang="en-US" sz="1200" dirty="0"/>
              <a:t>특허법원 </a:t>
            </a:r>
            <a:r>
              <a:rPr lang="en-US" altLang="ko-KR" sz="1200" dirty="0"/>
              <a:t>2008. 5. 2.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2007</a:t>
            </a:r>
            <a:r>
              <a:rPr lang="ko-KR" altLang="en-US" sz="1200" dirty="0"/>
              <a:t>허</a:t>
            </a:r>
            <a:r>
              <a:rPr lang="en-US" altLang="ko-KR" sz="1200" dirty="0"/>
              <a:t>8252), </a:t>
            </a:r>
          </a:p>
          <a:p>
            <a:pPr algn="just"/>
            <a:r>
              <a:rPr lang="en-US" altLang="ko-KR" sz="1200" dirty="0"/>
              <a:t>ⅲ) </a:t>
            </a:r>
            <a:r>
              <a:rPr lang="ko-KR" altLang="en-US" sz="1200" dirty="0"/>
              <a:t>확인대상발명에 상품명 </a:t>
            </a:r>
            <a:r>
              <a:rPr lang="ko-KR" altLang="en-US" sz="1200" dirty="0" err="1"/>
              <a:t>ㆍ</a:t>
            </a:r>
            <a:r>
              <a:rPr lang="ko-KR" altLang="en-US" sz="1200" dirty="0"/>
              <a:t> 제품번호 또는 실물사진이 제출되었는데 그와 동일하게 보정하는 경우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2011. 9. 8.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2010</a:t>
            </a:r>
            <a:r>
              <a:rPr lang="ko-KR" altLang="en-US" sz="1200" dirty="0"/>
              <a:t>후</a:t>
            </a:r>
            <a:r>
              <a:rPr lang="en-US" altLang="ko-KR" sz="1200" dirty="0"/>
              <a:t>3356), </a:t>
            </a:r>
          </a:p>
          <a:p>
            <a:pPr algn="just"/>
            <a:r>
              <a:rPr lang="en-US" altLang="ko-KR" sz="1200" dirty="0"/>
              <a:t>ⅳ) </a:t>
            </a:r>
            <a:r>
              <a:rPr lang="ko-KR" altLang="en-US" sz="1200" dirty="0"/>
              <a:t>청구이유 및 심판청구서에 첨부된 증거자료에 기재된 구성의 부가하는 경우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2014. 2. 13.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2012</a:t>
            </a:r>
            <a:r>
              <a:rPr lang="ko-KR" altLang="en-US" sz="1200" dirty="0"/>
              <a:t>후</a:t>
            </a:r>
            <a:r>
              <a:rPr lang="en-US" altLang="ko-KR" sz="1200" dirty="0"/>
              <a:t>61)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49170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154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중복심판청구금지 원칙의</a:t>
            </a:r>
            <a:r>
              <a:rPr lang="en-US" altLang="ko-KR" dirty="0"/>
              <a:t> CASE</a:t>
            </a:r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77875" y="172661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76902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특허심판이</a:t>
            </a:r>
            <a:r>
              <a:rPr lang="ko-KR" altLang="en-US" sz="1400" dirty="0">
                <a:solidFill>
                  <a:schemeClr val="tx2"/>
                </a:solidFill>
              </a:rPr>
              <a:t> 계속 중인 사건에 대하여 당사자는 다시 심판을 청구하지 못한다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154⑧ </a:t>
            </a:r>
            <a:r>
              <a:rPr lang="ko-KR" altLang="en-US" sz="1400" dirty="0">
                <a:solidFill>
                  <a:schemeClr val="tx2"/>
                </a:solidFill>
              </a:rPr>
              <a:t>준용 民訴 </a:t>
            </a:r>
            <a:r>
              <a:rPr lang="en-US" altLang="ko-KR" sz="1400" dirty="0">
                <a:solidFill>
                  <a:schemeClr val="tx2"/>
                </a:solidFill>
              </a:rPr>
              <a:t>259). </a:t>
            </a:r>
            <a:r>
              <a:rPr lang="ko-KR" altLang="en-US" sz="1400" dirty="0">
                <a:solidFill>
                  <a:schemeClr val="tx2"/>
                </a:solidFill>
              </a:rPr>
              <a:t>이미 계속되고 있는 사건에 대하여 다시 심판 청구를 </a:t>
            </a:r>
            <a:r>
              <a:rPr lang="ko-KR" altLang="en-US" sz="1400" dirty="0" err="1">
                <a:solidFill>
                  <a:schemeClr val="tx2"/>
                </a:solidFill>
              </a:rPr>
              <a:t>허용함은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심판제도의</a:t>
            </a:r>
            <a:r>
              <a:rPr lang="ko-KR" altLang="en-US" sz="1400" dirty="0">
                <a:solidFill>
                  <a:schemeClr val="tx2"/>
                </a:solidFill>
              </a:rPr>
              <a:t> 남용이고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심판원이나 당사자에게 </a:t>
            </a:r>
            <a:r>
              <a:rPr lang="ko-KR" altLang="en-US" sz="1400" dirty="0" err="1">
                <a:solidFill>
                  <a:schemeClr val="tx2"/>
                </a:solidFill>
              </a:rPr>
              <a:t>시간ㆍ노력ㆍ비용을</a:t>
            </a:r>
            <a:r>
              <a:rPr lang="ko-KR" altLang="en-US" sz="1400" dirty="0">
                <a:solidFill>
                  <a:schemeClr val="tx2"/>
                </a:solidFill>
              </a:rPr>
              <a:t> 이중으로 </a:t>
            </a:r>
            <a:r>
              <a:rPr lang="ko-KR" altLang="en-US" sz="1400" dirty="0" err="1">
                <a:solidFill>
                  <a:schemeClr val="tx2"/>
                </a:solidFill>
              </a:rPr>
              <a:t>낭비시키는</a:t>
            </a:r>
            <a:r>
              <a:rPr lang="ko-KR" altLang="en-US" sz="1400" dirty="0">
                <a:solidFill>
                  <a:schemeClr val="tx2"/>
                </a:solidFill>
              </a:rPr>
              <a:t> 것이어서 </a:t>
            </a:r>
            <a:r>
              <a:rPr lang="ko-KR" altLang="en-US" sz="1400" dirty="0" err="1">
                <a:solidFill>
                  <a:schemeClr val="tx2"/>
                </a:solidFill>
              </a:rPr>
              <a:t>심판경제상</a:t>
            </a:r>
            <a:r>
              <a:rPr lang="ko-KR" altLang="en-US" sz="1400" dirty="0">
                <a:solidFill>
                  <a:schemeClr val="tx2"/>
                </a:solidFill>
              </a:rPr>
              <a:t> 바람직하지 않고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서로 </a:t>
            </a:r>
            <a:r>
              <a:rPr lang="ko-KR" altLang="en-US" sz="1400" dirty="0" err="1">
                <a:solidFill>
                  <a:schemeClr val="tx2"/>
                </a:solidFill>
              </a:rPr>
              <a:t>모순ㆍ저촉될</a:t>
            </a:r>
            <a:r>
              <a:rPr lang="ko-KR" altLang="en-US" sz="1400" dirty="0">
                <a:solidFill>
                  <a:schemeClr val="tx2"/>
                </a:solidFill>
              </a:rPr>
              <a:t> 염려가 있기 때문이다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49" name="직선 연결선 48"/>
          <p:cNvCxnSpPr/>
          <p:nvPr/>
        </p:nvCxnSpPr>
        <p:spPr>
          <a:xfrm>
            <a:off x="513016" y="4736630"/>
            <a:ext cx="1135869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14"/>
          <p:cNvSpPr>
            <a:spLocks noChangeArrowheads="1"/>
          </p:cNvSpPr>
          <p:nvPr/>
        </p:nvSpPr>
        <p:spPr bwMode="auto">
          <a:xfrm flipV="1">
            <a:off x="1420561" y="466009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56879" y="3953231"/>
            <a:ext cx="208850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甲 특허무효심판청구</a:t>
            </a:r>
            <a:r>
              <a:rPr lang="en-US" altLang="ko-KR" sz="1400" dirty="0"/>
              <a:t>(X)</a:t>
            </a:r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피청구인</a:t>
            </a:r>
            <a:r>
              <a:rPr lang="en-US" altLang="ko-KR" sz="1400" dirty="0"/>
              <a:t>: </a:t>
            </a:r>
            <a:r>
              <a:rPr lang="ko-KR" altLang="en-US" sz="1400" dirty="0"/>
              <a:t>乙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65" name="직선 연결선 64"/>
          <p:cNvCxnSpPr>
            <a:stCxn id="59" idx="2"/>
            <a:endCxn id="50" idx="4"/>
          </p:cNvCxnSpPr>
          <p:nvPr/>
        </p:nvCxnSpPr>
        <p:spPr>
          <a:xfrm>
            <a:off x="1489088" y="4414896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연결선 73"/>
          <p:cNvCxnSpPr>
            <a:stCxn id="39" idx="0"/>
            <a:endCxn id="82" idx="0"/>
          </p:cNvCxnSpPr>
          <p:nvPr/>
        </p:nvCxnSpPr>
        <p:spPr>
          <a:xfrm flipH="1" flipV="1">
            <a:off x="3279784" y="4813161"/>
            <a:ext cx="5476" cy="59558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14"/>
          <p:cNvSpPr>
            <a:spLocks noChangeArrowheads="1"/>
          </p:cNvSpPr>
          <p:nvPr/>
        </p:nvSpPr>
        <p:spPr bwMode="auto">
          <a:xfrm flipV="1">
            <a:off x="3208346" y="466009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267264" y="5408743"/>
            <a:ext cx="203599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丙 특허무효심판청구</a:t>
            </a:r>
            <a:r>
              <a:rPr lang="en-US" altLang="ko-KR" sz="1400" dirty="0"/>
              <a:t>(Y)</a:t>
            </a:r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피청구인</a:t>
            </a:r>
            <a:r>
              <a:rPr lang="en-US" altLang="ko-KR" sz="1400" dirty="0"/>
              <a:t>: </a:t>
            </a:r>
            <a:r>
              <a:rPr lang="ko-KR" altLang="en-US" sz="1400" dirty="0"/>
              <a:t>乙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40" name="Rectangle 14"/>
          <p:cNvSpPr>
            <a:spLocks noChangeArrowheads="1"/>
          </p:cNvSpPr>
          <p:nvPr/>
        </p:nvSpPr>
        <p:spPr bwMode="auto">
          <a:xfrm flipV="1">
            <a:off x="4836903" y="466009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802307" y="3218289"/>
            <a:ext cx="2208146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甲 특허무효심판청구</a:t>
            </a:r>
            <a:r>
              <a:rPr lang="en-US" altLang="ko-KR" sz="1400" dirty="0"/>
              <a:t>(Z)</a:t>
            </a:r>
          </a:p>
          <a:p>
            <a:pPr algn="ctr"/>
            <a:r>
              <a:rPr lang="en-US" altLang="ko-KR" sz="1400" dirty="0"/>
              <a:t>(</a:t>
            </a:r>
            <a:r>
              <a:rPr lang="ko-KR" altLang="en-US" sz="1400" dirty="0"/>
              <a:t>피청구인</a:t>
            </a:r>
            <a:r>
              <a:rPr lang="en-US" altLang="ko-KR" sz="1400" dirty="0"/>
              <a:t>: </a:t>
            </a:r>
            <a:r>
              <a:rPr lang="ko-KR" altLang="en-US" sz="1400" dirty="0"/>
              <a:t>乙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42" name="직선 연결선 41"/>
          <p:cNvCxnSpPr>
            <a:stCxn id="41" idx="2"/>
            <a:endCxn id="40" idx="4"/>
          </p:cNvCxnSpPr>
          <p:nvPr/>
        </p:nvCxnSpPr>
        <p:spPr>
          <a:xfrm>
            <a:off x="4906380" y="3679954"/>
            <a:ext cx="1961" cy="9801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14"/>
          <p:cNvSpPr>
            <a:spLocks noChangeArrowheads="1"/>
          </p:cNvSpPr>
          <p:nvPr/>
        </p:nvSpPr>
        <p:spPr bwMode="auto">
          <a:xfrm flipV="1">
            <a:off x="7118927" y="466009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55245" y="3953231"/>
            <a:ext cx="2088506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기각심결확정</a:t>
            </a:r>
            <a:r>
              <a:rPr lang="en-US" altLang="ko-KR" sz="1400" dirty="0"/>
              <a:t>(X)</a:t>
            </a:r>
            <a:endParaRPr lang="ko-KR" altLang="en-US" sz="1400" dirty="0"/>
          </a:p>
        </p:txBody>
      </p:sp>
      <p:cxnSp>
        <p:nvCxnSpPr>
          <p:cNvPr id="46" name="직선 연결선 45"/>
          <p:cNvCxnSpPr>
            <a:stCxn id="45" idx="2"/>
            <a:endCxn id="44" idx="4"/>
          </p:cNvCxnSpPr>
          <p:nvPr/>
        </p:nvCxnSpPr>
        <p:spPr>
          <a:xfrm>
            <a:off x="7187454" y="4414896"/>
            <a:ext cx="2911" cy="2452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14"/>
          <p:cNvSpPr>
            <a:spLocks noChangeArrowheads="1"/>
          </p:cNvSpPr>
          <p:nvPr/>
        </p:nvSpPr>
        <p:spPr bwMode="auto">
          <a:xfrm flipV="1">
            <a:off x="9557164" y="466009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522568" y="3218289"/>
            <a:ext cx="2208146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심결시</a:t>
            </a:r>
            <a:r>
              <a:rPr lang="en-US" altLang="ko-KR" sz="1400" dirty="0"/>
              <a:t>(Z)</a:t>
            </a:r>
          </a:p>
        </p:txBody>
      </p:sp>
      <p:cxnSp>
        <p:nvCxnSpPr>
          <p:cNvPr id="53" name="직선 연결선 52"/>
          <p:cNvCxnSpPr>
            <a:stCxn id="52" idx="2"/>
            <a:endCxn id="51" idx="4"/>
          </p:cNvCxnSpPr>
          <p:nvPr/>
        </p:nvCxnSpPr>
        <p:spPr>
          <a:xfrm>
            <a:off x="9626641" y="3679954"/>
            <a:ext cx="1961" cy="9801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모서리가 둥근 사각형 설명선 10"/>
          <p:cNvSpPr/>
          <p:nvPr/>
        </p:nvSpPr>
        <p:spPr>
          <a:xfrm>
            <a:off x="4991953" y="5727208"/>
            <a:ext cx="3351798" cy="695325"/>
          </a:xfrm>
          <a:prstGeom prst="wedgeRoundRectCallout">
            <a:avLst>
              <a:gd name="adj1" fmla="val -69113"/>
              <a:gd name="adj2" fmla="val -64311"/>
              <a:gd name="adj3" fmla="val 1666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중복심판청구금지 원칙 </a:t>
            </a:r>
            <a:r>
              <a:rPr lang="ko-KR" altLang="en-US" dirty="0" err="1">
                <a:solidFill>
                  <a:srgbClr val="FF0000"/>
                </a:solidFill>
              </a:rPr>
              <a:t>부적용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동일 당사자</a:t>
            </a:r>
            <a:r>
              <a:rPr lang="en-US" altLang="ko-KR" dirty="0">
                <a:solidFill>
                  <a:srgbClr val="FF0000"/>
                </a:solidFill>
              </a:rPr>
              <a:t>×)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4" name="모서리가 둥근 사각형 설명선 53"/>
          <p:cNvSpPr/>
          <p:nvPr/>
        </p:nvSpPr>
        <p:spPr>
          <a:xfrm>
            <a:off x="5325782" y="2112915"/>
            <a:ext cx="3351798" cy="695325"/>
          </a:xfrm>
          <a:prstGeom prst="wedgeRoundRectCallout">
            <a:avLst>
              <a:gd name="adj1" fmla="val 50836"/>
              <a:gd name="adj2" fmla="val 108944"/>
              <a:gd name="adj3" fmla="val 16667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0000"/>
                </a:solidFill>
              </a:rPr>
              <a:t>중복심판청구금지 원칙 </a:t>
            </a:r>
            <a:r>
              <a:rPr lang="ko-KR" altLang="en-US" dirty="0" err="1">
                <a:solidFill>
                  <a:srgbClr val="FF0000"/>
                </a:solidFill>
              </a:rPr>
              <a:t>부적용</a:t>
            </a:r>
            <a:endParaRPr lang="en-US" altLang="ko-KR" dirty="0">
              <a:solidFill>
                <a:srgbClr val="FF0000"/>
              </a:solidFill>
            </a:endParaRPr>
          </a:p>
          <a:p>
            <a:pPr algn="ctr"/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 err="1">
                <a:solidFill>
                  <a:srgbClr val="FF0000"/>
                </a:solidFill>
              </a:rPr>
              <a:t>특허심판</a:t>
            </a:r>
            <a:r>
              <a:rPr lang="ko-KR" altLang="en-US" dirty="0">
                <a:solidFill>
                  <a:srgbClr val="FF0000"/>
                </a:solidFill>
              </a:rPr>
              <a:t> 계속 中</a:t>
            </a:r>
            <a:r>
              <a:rPr lang="en-US" altLang="ko-KR" dirty="0">
                <a:solidFill>
                  <a:srgbClr val="FF0000"/>
                </a:solidFill>
              </a:rPr>
              <a:t>×)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444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3028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154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중복심판청구금지 원칙의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31" name="모서리가 둥근 직사각형 10">
            <a:extLst>
              <a:ext uri="{FF2B5EF4-FFF2-40B4-BE49-F238E27FC236}">
                <a16:creationId xmlns:a16="http://schemas.microsoft.com/office/drawing/2014/main" id="{83E8DC17-A890-4A8F-8AF6-87049ACC89A5}"/>
              </a:ext>
            </a:extLst>
          </p:cNvPr>
          <p:cNvSpPr/>
          <p:nvPr/>
        </p:nvSpPr>
        <p:spPr bwMode="auto">
          <a:xfrm>
            <a:off x="378418" y="1002199"/>
            <a:ext cx="5714410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2020. 4. 29.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2016</a:t>
            </a:r>
            <a:r>
              <a:rPr lang="ko-KR" altLang="en-US" sz="1400" dirty="0"/>
              <a:t>후</a:t>
            </a:r>
            <a:r>
              <a:rPr lang="en-US" altLang="ko-KR" sz="1400" dirty="0"/>
              <a:t>2317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016C75-8430-4388-9E51-7B3101DE3CF1}"/>
              </a:ext>
            </a:extLst>
          </p:cNvPr>
          <p:cNvSpPr/>
          <p:nvPr/>
        </p:nvSpPr>
        <p:spPr>
          <a:xfrm>
            <a:off x="232372" y="1333658"/>
            <a:ext cx="11681987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/>
              <a:t>민사소송법 제</a:t>
            </a:r>
            <a:r>
              <a:rPr lang="en-US" altLang="ko-KR" sz="1400" dirty="0"/>
              <a:t>259</a:t>
            </a:r>
            <a:r>
              <a:rPr lang="ko-KR" altLang="en-US" sz="1400" dirty="0"/>
              <a:t>조는 “법원에 계속되어 있는 사건에 대하여 당사자는 다시 소를 제기하지 못한다</a:t>
            </a:r>
            <a:r>
              <a:rPr lang="en-US" altLang="ko-KR" sz="1400" dirty="0"/>
              <a:t>.”</a:t>
            </a:r>
            <a:r>
              <a:rPr lang="ko-KR" altLang="en-US" sz="1400" dirty="0"/>
              <a:t>라고 규정하고</a:t>
            </a:r>
            <a:r>
              <a:rPr lang="en-US" altLang="ko-KR" sz="1400" dirty="0"/>
              <a:t>, 2006. 3. 3.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7871</a:t>
            </a:r>
            <a:r>
              <a:rPr lang="ko-KR" altLang="en-US" sz="1400" dirty="0"/>
              <a:t>호로 개정된 특허법 제</a:t>
            </a:r>
            <a:r>
              <a:rPr lang="en-US" altLang="ko-KR" sz="1400" dirty="0"/>
              <a:t>154</a:t>
            </a:r>
            <a:r>
              <a:rPr lang="ko-KR" altLang="en-US" sz="1400" dirty="0"/>
              <a:t>조 제</a:t>
            </a:r>
            <a:r>
              <a:rPr lang="en-US" altLang="ko-KR" sz="1400" dirty="0"/>
              <a:t>8</a:t>
            </a:r>
            <a:r>
              <a:rPr lang="ko-KR" altLang="en-US" sz="1400" dirty="0"/>
              <a:t>항은 심판에 관하여 민사소송법 제</a:t>
            </a:r>
            <a:r>
              <a:rPr lang="en-US" altLang="ko-KR" sz="1400" dirty="0"/>
              <a:t>259</a:t>
            </a:r>
            <a:r>
              <a:rPr lang="ko-KR" altLang="en-US" sz="1400" dirty="0"/>
              <a:t>조를 준용하고 있다</a:t>
            </a:r>
            <a:r>
              <a:rPr lang="en-US" altLang="ko-KR" sz="1400" dirty="0"/>
              <a:t>. </a:t>
            </a:r>
            <a:r>
              <a:rPr lang="ko-KR" altLang="en-US" sz="1400" dirty="0"/>
              <a:t>이러한 관련 법령의 내용에 다음의 사정을 고려하면</a:t>
            </a:r>
            <a:r>
              <a:rPr lang="en-US" altLang="ko-KR" sz="1400" dirty="0"/>
              <a:t>, </a:t>
            </a:r>
            <a:r>
              <a:rPr lang="ko-KR" altLang="en-US" sz="1400" dirty="0"/>
              <a:t>특허심판원에 계속 중인 심판</a:t>
            </a:r>
            <a:r>
              <a:rPr lang="en-US" altLang="ko-KR" sz="1400" dirty="0"/>
              <a:t>(</a:t>
            </a:r>
            <a:r>
              <a:rPr lang="ko-KR" altLang="en-US" sz="1400" dirty="0"/>
              <a:t>이하 ‘</a:t>
            </a:r>
            <a:r>
              <a:rPr lang="ko-KR" altLang="en-US" sz="1400" dirty="0" err="1"/>
              <a:t>전심판’이라</a:t>
            </a:r>
            <a:r>
              <a:rPr lang="ko-KR" altLang="en-US" sz="1400" dirty="0"/>
              <a:t> 한다</a:t>
            </a:r>
            <a:r>
              <a:rPr lang="en-US" altLang="ko-KR" sz="1400" dirty="0"/>
              <a:t>)</a:t>
            </a:r>
            <a:r>
              <a:rPr lang="ko-KR" altLang="en-US" sz="1400" dirty="0"/>
              <a:t>에 대하여 동일한 당사자가 동일한 심판을 다시 청구한 경우</a:t>
            </a:r>
            <a:r>
              <a:rPr lang="en-US" altLang="ko-KR" sz="1400" dirty="0"/>
              <a:t>(</a:t>
            </a:r>
            <a:r>
              <a:rPr lang="ko-KR" altLang="en-US" sz="1400" dirty="0"/>
              <a:t>이하 ‘</a:t>
            </a:r>
            <a:r>
              <a:rPr lang="ko-KR" altLang="en-US" sz="1400" dirty="0" err="1"/>
              <a:t>후심판’이라</a:t>
            </a:r>
            <a:r>
              <a:rPr lang="ko-KR" altLang="en-US" sz="1400" dirty="0"/>
              <a:t> 한다</a:t>
            </a:r>
            <a:r>
              <a:rPr lang="en-US" altLang="ko-KR" sz="1400" dirty="0"/>
              <a:t>), </a:t>
            </a:r>
            <a:r>
              <a:rPr lang="ko-KR" altLang="en-US" sz="1400" dirty="0"/>
              <a:t>후심판의 </a:t>
            </a:r>
            <a:r>
              <a:rPr lang="ko-KR" altLang="en-US" sz="1400" dirty="0" err="1"/>
              <a:t>심결</a:t>
            </a:r>
            <a:r>
              <a:rPr lang="ko-KR" altLang="en-US" sz="1400" dirty="0"/>
              <a:t> 시를 기준으로 한 전심판의 </a:t>
            </a:r>
            <a:r>
              <a:rPr lang="ko-KR" altLang="en-US" sz="1400" dirty="0" err="1"/>
              <a:t>심판계속</a:t>
            </a:r>
            <a:r>
              <a:rPr lang="ko-KR" altLang="en-US" sz="1400" dirty="0"/>
              <a:t> 여부에 따라 후심판의 적법 여부를 판단하여야 한다</a:t>
            </a:r>
            <a:r>
              <a:rPr lang="en-US" altLang="ko-KR" sz="1400" dirty="0"/>
              <a:t>.</a:t>
            </a:r>
          </a:p>
          <a:p>
            <a:pPr algn="just"/>
            <a:r>
              <a:rPr lang="en-US" altLang="ko-KR" sz="1400" dirty="0"/>
              <a:t>  1) </a:t>
            </a:r>
            <a:r>
              <a:rPr lang="ko-KR" altLang="en-US" sz="1400" dirty="0"/>
              <a:t>민사소송에서 중복제소금지는 소송요건에 관한 것으로서 사실심의 변론종결시를 기준으로 판단하여야 하므로</a:t>
            </a:r>
            <a:r>
              <a:rPr lang="en-US" altLang="ko-KR" sz="1400" dirty="0"/>
              <a:t>, </a:t>
            </a:r>
            <a:r>
              <a:rPr lang="ko-KR" altLang="en-US" sz="1400" dirty="0"/>
              <a:t>전소가 </a:t>
            </a:r>
            <a:r>
              <a:rPr lang="ko-KR" altLang="en-US" sz="1400" dirty="0" err="1"/>
              <a:t>후소의</a:t>
            </a:r>
            <a:r>
              <a:rPr lang="ko-KR" altLang="en-US" sz="1400" dirty="0"/>
              <a:t> 변론종결시까지 취하</a:t>
            </a:r>
            <a:r>
              <a:rPr lang="en-US" altLang="ko-KR" sz="1400" dirty="0"/>
              <a:t>·</a:t>
            </a:r>
            <a:r>
              <a:rPr lang="ko-KR" altLang="en-US" sz="1400" dirty="0"/>
              <a:t>각하 등에 의하여 </a:t>
            </a:r>
            <a:r>
              <a:rPr lang="ko-KR" altLang="en-US" sz="1400" dirty="0" err="1"/>
              <a:t>소송계속이</a:t>
            </a:r>
            <a:r>
              <a:rPr lang="ko-KR" altLang="en-US" sz="1400" dirty="0"/>
              <a:t> 소멸되면 </a:t>
            </a:r>
            <a:r>
              <a:rPr lang="ko-KR" altLang="en-US" sz="1400" dirty="0" err="1"/>
              <a:t>후소는</a:t>
            </a:r>
            <a:r>
              <a:rPr lang="ko-KR" altLang="en-US" sz="1400" dirty="0"/>
              <a:t> 중복제소금지에 위반되지 않는다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1998. 2. 27. </a:t>
            </a:r>
            <a:r>
              <a:rPr lang="ko-KR" altLang="en-US" sz="1400" dirty="0"/>
              <a:t>선고 </a:t>
            </a:r>
            <a:r>
              <a:rPr lang="en-US" altLang="ko-KR" sz="1400" dirty="0"/>
              <a:t>97</a:t>
            </a:r>
            <a:r>
              <a:rPr lang="ko-KR" altLang="en-US" sz="1400" dirty="0"/>
              <a:t>다</a:t>
            </a:r>
            <a:r>
              <a:rPr lang="en-US" altLang="ko-KR" sz="1400" dirty="0"/>
              <a:t>45532 </a:t>
            </a:r>
            <a:r>
              <a:rPr lang="ko-KR" altLang="en-US" sz="1400" dirty="0"/>
              <a:t>판결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2017. 11. 14.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2017</a:t>
            </a:r>
            <a:r>
              <a:rPr lang="ko-KR" altLang="en-US" sz="1400" dirty="0"/>
              <a:t>다</a:t>
            </a:r>
            <a:r>
              <a:rPr lang="en-US" altLang="ko-KR" sz="1400" dirty="0"/>
              <a:t>23066 </a:t>
            </a:r>
            <a:r>
              <a:rPr lang="ko-KR" altLang="en-US" sz="1400" dirty="0"/>
              <a:t>판결 등 참조</a:t>
            </a:r>
            <a:r>
              <a:rPr lang="en-US" altLang="ko-KR" sz="1400" dirty="0"/>
              <a:t>). </a:t>
            </a:r>
            <a:r>
              <a:rPr lang="ko-KR" altLang="en-US" sz="1400" dirty="0"/>
              <a:t>마찬가지로 특허심판에서 중복심판청구 금지는 심판청구의 적법요건으로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심결</a:t>
            </a:r>
            <a:r>
              <a:rPr lang="ko-KR" altLang="en-US" sz="1400" dirty="0"/>
              <a:t> 시를 기준으로 전심판의 </a:t>
            </a:r>
            <a:r>
              <a:rPr lang="ko-KR" altLang="en-US" sz="1400" dirty="0" err="1"/>
              <a:t>심판계속이</a:t>
            </a:r>
            <a:r>
              <a:rPr lang="ko-KR" altLang="en-US" sz="1400" dirty="0"/>
              <a:t> 소멸되면 후심판은 중복심판청구 금지에 위반되지 않는다고 보아야 한다</a:t>
            </a:r>
            <a:r>
              <a:rPr lang="en-US" altLang="ko-KR" sz="1400" dirty="0"/>
              <a:t>.</a:t>
            </a:r>
          </a:p>
          <a:p>
            <a:pPr algn="just"/>
            <a:r>
              <a:rPr lang="en-US" altLang="ko-KR" sz="1400" dirty="0"/>
              <a:t>  2)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2012. 1. 19.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2009</a:t>
            </a:r>
            <a:r>
              <a:rPr lang="ko-KR" altLang="en-US" sz="1400" dirty="0"/>
              <a:t>후</a:t>
            </a:r>
            <a:r>
              <a:rPr lang="en-US" altLang="ko-KR" sz="1400" dirty="0"/>
              <a:t>2234 </a:t>
            </a:r>
            <a:r>
              <a:rPr lang="ko-KR" altLang="en-US" sz="1400" dirty="0"/>
              <a:t>전원합의체 판결은 ‘특허법 제</a:t>
            </a:r>
            <a:r>
              <a:rPr lang="en-US" altLang="ko-KR" sz="1400" dirty="0"/>
              <a:t>163</a:t>
            </a:r>
            <a:r>
              <a:rPr lang="ko-KR" altLang="en-US" sz="1400" dirty="0"/>
              <a:t>조의 일사부재리의 원칙에 따라 심판청구가 </a:t>
            </a:r>
            <a:r>
              <a:rPr lang="ko-KR" altLang="en-US" sz="1400" dirty="0" err="1"/>
              <a:t>부적법하게</a:t>
            </a:r>
            <a:r>
              <a:rPr lang="ko-KR" altLang="en-US" sz="1400" dirty="0"/>
              <a:t> 되는지 여부를 판단하는 기준 시점은 심판청구를 제기하던 당시로 보아야 </a:t>
            </a:r>
            <a:r>
              <a:rPr lang="ko-KR" altLang="en-US" sz="1400" dirty="0" err="1"/>
              <a:t>한다’고</a:t>
            </a:r>
            <a:r>
              <a:rPr lang="ko-KR" altLang="en-US" sz="1400" dirty="0"/>
              <a:t> 하였는데</a:t>
            </a:r>
            <a:r>
              <a:rPr lang="en-US" altLang="ko-KR" sz="1400" dirty="0"/>
              <a:t>, </a:t>
            </a:r>
            <a:r>
              <a:rPr lang="ko-KR" altLang="en-US" sz="1400" dirty="0"/>
              <a:t>이는 선행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확정을 판단하는 기준 시점이 쟁점이 된 사안에서 특허법상 일사부재리 원칙의 대세효로 인한 제</a:t>
            </a:r>
            <a:r>
              <a:rPr lang="en-US" altLang="ko-KR" sz="1400" dirty="0"/>
              <a:t>3</a:t>
            </a:r>
            <a:r>
              <a:rPr lang="ko-KR" altLang="en-US" sz="1400" dirty="0"/>
              <a:t>자의 권리 제한을 최소화하기 위하여 부득이하게 일사부재리 원칙의 요건 중 선행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확정과 관련해서만 그 기준 시점을 </a:t>
            </a:r>
            <a:r>
              <a:rPr lang="ko-KR" altLang="en-US" sz="1400" dirty="0" err="1"/>
              <a:t>심결</a:t>
            </a:r>
            <a:r>
              <a:rPr lang="ko-KR" altLang="en-US" sz="1400" dirty="0"/>
              <a:t> 시에서 심판청구 시로 변경한 것이다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2020. 4. 9.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2018</a:t>
            </a:r>
            <a:r>
              <a:rPr lang="ko-KR" altLang="en-US" sz="1400" dirty="0"/>
              <a:t>후</a:t>
            </a:r>
            <a:r>
              <a:rPr lang="en-US" altLang="ko-KR" sz="1400" dirty="0"/>
              <a:t>11360 </a:t>
            </a:r>
            <a:r>
              <a:rPr lang="ko-KR" altLang="en-US" sz="1400" dirty="0"/>
              <a:t>판결 참조</a:t>
            </a:r>
            <a:r>
              <a:rPr lang="en-US" altLang="ko-KR" sz="1400" dirty="0"/>
              <a:t>). </a:t>
            </a:r>
            <a:r>
              <a:rPr lang="ko-KR" altLang="en-US" sz="1400" dirty="0">
                <a:solidFill>
                  <a:srgbClr val="FF0000"/>
                </a:solidFill>
              </a:rPr>
              <a:t>중복심판청구 금지는 동일 당사자에 의한 심판청구권 남용을 방지함으로써 </a:t>
            </a:r>
            <a:r>
              <a:rPr lang="ko-KR" altLang="en-US" sz="1400" dirty="0" err="1">
                <a:solidFill>
                  <a:srgbClr val="FF0000"/>
                </a:solidFill>
              </a:rPr>
              <a:t>심결의</a:t>
            </a:r>
            <a:r>
              <a:rPr lang="ko-KR" altLang="en-US" sz="1400" dirty="0">
                <a:solidFill>
                  <a:srgbClr val="FF0000"/>
                </a:solidFill>
              </a:rPr>
              <a:t> 모순</a:t>
            </a:r>
            <a:r>
              <a:rPr lang="en-US" altLang="ko-KR" sz="1400" dirty="0">
                <a:solidFill>
                  <a:srgbClr val="FF0000"/>
                </a:solidFill>
              </a:rPr>
              <a:t>·</a:t>
            </a:r>
            <a:r>
              <a:rPr lang="ko-KR" altLang="en-US" sz="1400" dirty="0">
                <a:solidFill>
                  <a:srgbClr val="FF0000"/>
                </a:solidFill>
              </a:rPr>
              <a:t>저촉을 방지하고 심판절차의 경제를 꾀하기 위한 것이어서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일사부재리 원칙과 일부 취지를 같이 하지만 그 요건 및 적용범위에 차이가 있으므로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후심판이 중복심판청구에 해당하는지 여부까지 위 전원합의체 판결을 들어 후심판청구 시를 기준으로 판단할 것은 아니다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42" name="Line 5">
            <a:extLst>
              <a:ext uri="{FF2B5EF4-FFF2-40B4-BE49-F238E27FC236}">
                <a16:creationId xmlns:a16="http://schemas.microsoft.com/office/drawing/2014/main" id="{C3D521F3-C89A-4691-A233-1BC4F6DB6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6169843"/>
            <a:ext cx="11530012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0F57E0-0C93-429E-B52D-950B18A62824}"/>
              </a:ext>
            </a:extLst>
          </p:cNvPr>
          <p:cNvSpPr txBox="1"/>
          <p:nvPr/>
        </p:nvSpPr>
        <p:spPr>
          <a:xfrm>
            <a:off x="291912" y="6434650"/>
            <a:ext cx="1229454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무효심판청구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E416A6A-17E0-4A3B-8C28-9560A00280A4}"/>
              </a:ext>
            </a:extLst>
          </p:cNvPr>
          <p:cNvSpPr/>
          <p:nvPr/>
        </p:nvSpPr>
        <p:spPr>
          <a:xfrm>
            <a:off x="829269" y="608454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4B9FD84-6472-4A38-96A7-0961D12BE1A4}"/>
              </a:ext>
            </a:extLst>
          </p:cNvPr>
          <p:cNvCxnSpPr>
            <a:cxnSpLocks/>
            <a:stCxn id="44" idx="0"/>
            <a:endCxn id="47" idx="4"/>
          </p:cNvCxnSpPr>
          <p:nvPr/>
        </p:nvCxnSpPr>
        <p:spPr>
          <a:xfrm flipH="1" flipV="1">
            <a:off x="906638" y="624587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93DE314-156B-4AE0-A6A1-A3E38D2DAD5E}"/>
              </a:ext>
            </a:extLst>
          </p:cNvPr>
          <p:cNvSpPr txBox="1"/>
          <p:nvPr/>
        </p:nvSpPr>
        <p:spPr>
          <a:xfrm>
            <a:off x="1620234" y="6434650"/>
            <a:ext cx="803324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F25F9F4-5090-4DB9-9E09-63BBFFE26323}"/>
              </a:ext>
            </a:extLst>
          </p:cNvPr>
          <p:cNvSpPr/>
          <p:nvPr/>
        </p:nvSpPr>
        <p:spPr>
          <a:xfrm>
            <a:off x="1944526" y="608454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0124424-B4CE-4C83-9036-BBB347007F6C}"/>
              </a:ext>
            </a:extLst>
          </p:cNvPr>
          <p:cNvCxnSpPr>
            <a:cxnSpLocks/>
            <a:stCxn id="28" idx="0"/>
            <a:endCxn id="29" idx="4"/>
          </p:cNvCxnSpPr>
          <p:nvPr/>
        </p:nvCxnSpPr>
        <p:spPr>
          <a:xfrm flipH="1" flipV="1">
            <a:off x="2021895" y="624587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E752647-CA77-4730-9828-80C4ADAC153D}"/>
              </a:ext>
            </a:extLst>
          </p:cNvPr>
          <p:cNvSpPr txBox="1"/>
          <p:nvPr/>
        </p:nvSpPr>
        <p:spPr>
          <a:xfrm>
            <a:off x="4123755" y="6434650"/>
            <a:ext cx="68801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CA50C72E-8883-4BC0-9B5A-9B09990D79CD}"/>
              </a:ext>
            </a:extLst>
          </p:cNvPr>
          <p:cNvSpPr/>
          <p:nvPr/>
        </p:nvSpPr>
        <p:spPr>
          <a:xfrm>
            <a:off x="4390391" y="608454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52B3968F-EB0B-4EEB-88EC-8B7FF3F3AE32}"/>
              </a:ext>
            </a:extLst>
          </p:cNvPr>
          <p:cNvCxnSpPr>
            <a:cxnSpLocks/>
            <a:stCxn id="55" idx="0"/>
            <a:endCxn id="56" idx="4"/>
          </p:cNvCxnSpPr>
          <p:nvPr/>
        </p:nvCxnSpPr>
        <p:spPr>
          <a:xfrm flipH="1" flipV="1">
            <a:off x="4467760" y="624587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2870961-7113-44E7-A09D-EB1E428958DF}"/>
              </a:ext>
            </a:extLst>
          </p:cNvPr>
          <p:cNvSpPr txBox="1"/>
          <p:nvPr/>
        </p:nvSpPr>
        <p:spPr>
          <a:xfrm>
            <a:off x="2493708" y="6434650"/>
            <a:ext cx="655168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 제기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C4D937AA-A7B0-40AE-B45B-7C6574C2C3AA}"/>
              </a:ext>
            </a:extLst>
          </p:cNvPr>
          <p:cNvSpPr/>
          <p:nvPr/>
        </p:nvSpPr>
        <p:spPr>
          <a:xfrm>
            <a:off x="2743922" y="608454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0D91A23-6C4C-4D4B-9AA8-C9707D9C82DF}"/>
              </a:ext>
            </a:extLst>
          </p:cNvPr>
          <p:cNvCxnSpPr>
            <a:cxnSpLocks/>
            <a:stCxn id="40" idx="0"/>
            <a:endCxn id="41" idx="4"/>
          </p:cNvCxnSpPr>
          <p:nvPr/>
        </p:nvCxnSpPr>
        <p:spPr>
          <a:xfrm flipH="1" flipV="1">
            <a:off x="2821291" y="624587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A4CB4C9-0D8E-4EA5-A875-8F3EE3A47E86}"/>
              </a:ext>
            </a:extLst>
          </p:cNvPr>
          <p:cNvSpPr txBox="1"/>
          <p:nvPr/>
        </p:nvSpPr>
        <p:spPr>
          <a:xfrm>
            <a:off x="3249107" y="6434650"/>
            <a:ext cx="772178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4212CB8D-340A-4481-AD0F-E12545400930}"/>
              </a:ext>
            </a:extLst>
          </p:cNvPr>
          <p:cNvSpPr/>
          <p:nvPr/>
        </p:nvSpPr>
        <p:spPr>
          <a:xfrm>
            <a:off x="3557826" y="608454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6B69D885-7404-4F57-AE60-4ED6ED792BA7}"/>
              </a:ext>
            </a:extLst>
          </p:cNvPr>
          <p:cNvCxnSpPr>
            <a:cxnSpLocks/>
            <a:stCxn id="64" idx="0"/>
            <a:endCxn id="65" idx="4"/>
          </p:cNvCxnSpPr>
          <p:nvPr/>
        </p:nvCxnSpPr>
        <p:spPr>
          <a:xfrm flipH="1" flipV="1">
            <a:off x="3635195" y="624587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DFFD9B4-DD50-4A0C-A73F-3AF78BD49A1A}"/>
              </a:ext>
            </a:extLst>
          </p:cNvPr>
          <p:cNvSpPr txBox="1"/>
          <p:nvPr/>
        </p:nvSpPr>
        <p:spPr>
          <a:xfrm>
            <a:off x="5082106" y="6434650"/>
            <a:ext cx="1139398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기각판결선고</a:t>
            </a: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F6981AD-C0F2-4BBA-9AB4-2E780FD953DA}"/>
              </a:ext>
            </a:extLst>
          </p:cNvPr>
          <p:cNvSpPr/>
          <p:nvPr/>
        </p:nvSpPr>
        <p:spPr>
          <a:xfrm>
            <a:off x="5574435" y="608454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50F8C75E-9430-42C0-9132-FBDADFA56BD2}"/>
              </a:ext>
            </a:extLst>
          </p:cNvPr>
          <p:cNvCxnSpPr>
            <a:cxnSpLocks/>
            <a:stCxn id="73" idx="0"/>
            <a:endCxn id="75" idx="4"/>
          </p:cNvCxnSpPr>
          <p:nvPr/>
        </p:nvCxnSpPr>
        <p:spPr>
          <a:xfrm flipH="1" flipV="1">
            <a:off x="5651804" y="624587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EBEB81B-2590-4C97-916A-77B3A16D975F}"/>
              </a:ext>
            </a:extLst>
          </p:cNvPr>
          <p:cNvCxnSpPr/>
          <p:nvPr/>
        </p:nvCxnSpPr>
        <p:spPr>
          <a:xfrm>
            <a:off x="0" y="4481362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EDAE12B-1A11-4CFB-8440-7897C4C97254}"/>
              </a:ext>
            </a:extLst>
          </p:cNvPr>
          <p:cNvSpPr txBox="1"/>
          <p:nvPr/>
        </p:nvSpPr>
        <p:spPr>
          <a:xfrm>
            <a:off x="3957882" y="4890170"/>
            <a:ext cx="1693922" cy="830997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甲으로부터 심판청구와 관련된 일체의 권리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의무를 양수한 乙이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무효심판청구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90B849F-8937-47A8-B2B3-49AFD8C47749}"/>
              </a:ext>
            </a:extLst>
          </p:cNvPr>
          <p:cNvSpPr/>
          <p:nvPr/>
        </p:nvSpPr>
        <p:spPr>
          <a:xfrm>
            <a:off x="4727474" y="6097806"/>
            <a:ext cx="154738" cy="161338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4FBAC46A-2942-453E-91A7-4F468753B279}"/>
              </a:ext>
            </a:extLst>
          </p:cNvPr>
          <p:cNvCxnSpPr>
            <a:cxnSpLocks/>
            <a:stCxn id="38" idx="2"/>
            <a:endCxn id="50" idx="0"/>
          </p:cNvCxnSpPr>
          <p:nvPr/>
        </p:nvCxnSpPr>
        <p:spPr>
          <a:xfrm>
            <a:off x="4804843" y="5721167"/>
            <a:ext cx="0" cy="37663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3A39314E-FC3B-4289-9657-6304CD4CAA4E}"/>
              </a:ext>
            </a:extLst>
          </p:cNvPr>
          <p:cNvSpPr txBox="1"/>
          <p:nvPr/>
        </p:nvSpPr>
        <p:spPr>
          <a:xfrm>
            <a:off x="5960867" y="4579618"/>
            <a:ext cx="5798216" cy="138499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➀ 이 사건과 같이 전심판의 계속 중 후심판이 청구되었는데 후심판의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심결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시에는 전심판이 확정되어 중복상태가 해소된 경우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중복심판청구에 해당하지 않고 일사부재리 원칙도 적용되지 않아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심결의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모순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저촉이 발생할 여지가 생기는 것은 일사부재리의 판단기준시를 심판청구 시로 보게 됨으로써 발생하는 불가피한 공백이다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 ➁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이러한 공백을 메우기 위하여 중복심판청구의 판단기준 시점을 심판청구 시로 볼 이익이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그로 인해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전심판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계속 중 동일 당사자에 의한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후심판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청구가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심결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전에는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전심판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계속이 소멸될 여지가 있음에도 전면적으로 제한되는 문제보다 크다고 할 수 없다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 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0009FD59-6146-4CA0-8F22-56CE7AB598C0}"/>
              </a:ext>
            </a:extLst>
          </p:cNvPr>
          <p:cNvSpPr/>
          <p:nvPr/>
        </p:nvSpPr>
        <p:spPr>
          <a:xfrm>
            <a:off x="9741507" y="6097806"/>
            <a:ext cx="154738" cy="161338"/>
          </a:xfrm>
          <a:prstGeom prst="ellipse">
            <a:avLst/>
          </a:prstGeom>
          <a:solidFill>
            <a:schemeClr val="bg2">
              <a:lumMod val="1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44E2F0F8-8310-4A42-BE2C-785C7C078C0A}"/>
              </a:ext>
            </a:extLst>
          </p:cNvPr>
          <p:cNvCxnSpPr>
            <a:stCxn id="58" idx="2"/>
            <a:endCxn id="59" idx="0"/>
          </p:cNvCxnSpPr>
          <p:nvPr/>
        </p:nvCxnSpPr>
        <p:spPr>
          <a:xfrm rot="16200000" flipH="1">
            <a:off x="9272829" y="5551758"/>
            <a:ext cx="133193" cy="95890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FE68AC8F-2392-411A-94DD-1D69A7327AD5}"/>
              </a:ext>
            </a:extLst>
          </p:cNvPr>
          <p:cNvCxnSpPr/>
          <p:nvPr/>
        </p:nvCxnSpPr>
        <p:spPr>
          <a:xfrm>
            <a:off x="514351" y="5028191"/>
            <a:ext cx="297934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DC1C46B-18CC-492C-989A-D110052B8516}"/>
              </a:ext>
            </a:extLst>
          </p:cNvPr>
          <p:cNvSpPr txBox="1"/>
          <p:nvPr/>
        </p:nvSpPr>
        <p:spPr>
          <a:xfrm>
            <a:off x="458931" y="5254977"/>
            <a:ext cx="895416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전심판청구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B38FBF64-5F19-4B39-8EF4-B31F1678E3C9}"/>
              </a:ext>
            </a:extLst>
          </p:cNvPr>
          <p:cNvSpPr/>
          <p:nvPr/>
        </p:nvSpPr>
        <p:spPr>
          <a:xfrm>
            <a:off x="829269" y="4947998"/>
            <a:ext cx="154738" cy="161338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A2262894-2D59-4375-A267-7F7E68911BAF}"/>
              </a:ext>
            </a:extLst>
          </p:cNvPr>
          <p:cNvCxnSpPr>
            <a:cxnSpLocks/>
            <a:stCxn id="37" idx="0"/>
            <a:endCxn id="45" idx="4"/>
          </p:cNvCxnSpPr>
          <p:nvPr/>
        </p:nvCxnSpPr>
        <p:spPr>
          <a:xfrm flipH="1" flipV="1">
            <a:off x="906638" y="5109336"/>
            <a:ext cx="1" cy="14564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6D05EB6-E882-4B28-9E24-51D4A69DBB97}"/>
              </a:ext>
            </a:extLst>
          </p:cNvPr>
          <p:cNvSpPr txBox="1"/>
          <p:nvPr/>
        </p:nvSpPr>
        <p:spPr>
          <a:xfrm>
            <a:off x="1172526" y="4583896"/>
            <a:ext cx="895416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후심판청구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ED5FFE6E-8851-4C11-BC95-2F9A882FC8C9}"/>
              </a:ext>
            </a:extLst>
          </p:cNvPr>
          <p:cNvSpPr/>
          <p:nvPr/>
        </p:nvSpPr>
        <p:spPr>
          <a:xfrm>
            <a:off x="1542865" y="4947998"/>
            <a:ext cx="154738" cy="161338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C3ABAB03-320A-430A-84C0-6384B5F19C02}"/>
              </a:ext>
            </a:extLst>
          </p:cNvPr>
          <p:cNvCxnSpPr>
            <a:cxnSpLocks/>
            <a:stCxn id="49" idx="2"/>
            <a:endCxn id="51" idx="0"/>
          </p:cNvCxnSpPr>
          <p:nvPr/>
        </p:nvCxnSpPr>
        <p:spPr>
          <a:xfrm>
            <a:off x="1620234" y="4830117"/>
            <a:ext cx="0" cy="11788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CA81192-035C-4292-82C7-6C65E229385B}"/>
              </a:ext>
            </a:extLst>
          </p:cNvPr>
          <p:cNvSpPr txBox="1"/>
          <p:nvPr/>
        </p:nvSpPr>
        <p:spPr>
          <a:xfrm>
            <a:off x="1848506" y="5254977"/>
            <a:ext cx="895416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심결확정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2D99A7BE-E10C-4F43-A048-C0C2B009DE74}"/>
              </a:ext>
            </a:extLst>
          </p:cNvPr>
          <p:cNvSpPr/>
          <p:nvPr/>
        </p:nvSpPr>
        <p:spPr>
          <a:xfrm>
            <a:off x="2218844" y="4947998"/>
            <a:ext cx="154738" cy="161338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AB2CFA75-73A6-4150-B502-3E1F2C6DB7CE}"/>
              </a:ext>
            </a:extLst>
          </p:cNvPr>
          <p:cNvCxnSpPr>
            <a:cxnSpLocks/>
            <a:stCxn id="53" idx="0"/>
            <a:endCxn id="60" idx="4"/>
          </p:cNvCxnSpPr>
          <p:nvPr/>
        </p:nvCxnSpPr>
        <p:spPr>
          <a:xfrm flipH="1" flipV="1">
            <a:off x="2296213" y="5109336"/>
            <a:ext cx="1" cy="14564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136A165-26ED-47E2-B3A5-C9DD069777BE}"/>
              </a:ext>
            </a:extLst>
          </p:cNvPr>
          <p:cNvSpPr txBox="1"/>
          <p:nvPr/>
        </p:nvSpPr>
        <p:spPr>
          <a:xfrm>
            <a:off x="2535469" y="4583896"/>
            <a:ext cx="895416" cy="2462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심결시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6B2A0977-4B59-4A82-B2DE-50E69897F928}"/>
              </a:ext>
            </a:extLst>
          </p:cNvPr>
          <p:cNvSpPr/>
          <p:nvPr/>
        </p:nvSpPr>
        <p:spPr>
          <a:xfrm>
            <a:off x="2905808" y="4947998"/>
            <a:ext cx="154738" cy="161338"/>
          </a:xfrm>
          <a:prstGeom prst="ellipse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DB66E660-6826-4FFE-A3D8-CF7CE6E850D1}"/>
              </a:ext>
            </a:extLst>
          </p:cNvPr>
          <p:cNvCxnSpPr>
            <a:cxnSpLocks/>
            <a:stCxn id="62" idx="2"/>
            <a:endCxn id="63" idx="0"/>
          </p:cNvCxnSpPr>
          <p:nvPr/>
        </p:nvCxnSpPr>
        <p:spPr>
          <a:xfrm>
            <a:off x="2983177" y="4830117"/>
            <a:ext cx="0" cy="11788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5BB076A-D18A-468B-8245-96F319D0CC67}"/>
              </a:ext>
            </a:extLst>
          </p:cNvPr>
          <p:cNvSpPr/>
          <p:nvPr/>
        </p:nvSpPr>
        <p:spPr>
          <a:xfrm>
            <a:off x="291912" y="4514238"/>
            <a:ext cx="3343283" cy="106961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895D426E-EAD6-4E5A-BD65-5B946A2425C8}"/>
              </a:ext>
            </a:extLst>
          </p:cNvPr>
          <p:cNvSpPr/>
          <p:nvPr/>
        </p:nvSpPr>
        <p:spPr>
          <a:xfrm>
            <a:off x="5874589" y="4528868"/>
            <a:ext cx="5978105" cy="828136"/>
          </a:xfrm>
          <a:custGeom>
            <a:avLst/>
            <a:gdLst>
              <a:gd name="connsiteX0" fmla="*/ 129396 w 5978105"/>
              <a:gd name="connsiteY0" fmla="*/ 0 h 828136"/>
              <a:gd name="connsiteX1" fmla="*/ 5978105 w 5978105"/>
              <a:gd name="connsiteY1" fmla="*/ 0 h 828136"/>
              <a:gd name="connsiteX2" fmla="*/ 5978105 w 5978105"/>
              <a:gd name="connsiteY2" fmla="*/ 603849 h 828136"/>
              <a:gd name="connsiteX3" fmla="*/ 5840083 w 5978105"/>
              <a:gd name="connsiteY3" fmla="*/ 629728 h 828136"/>
              <a:gd name="connsiteX4" fmla="*/ 3312543 w 5978105"/>
              <a:gd name="connsiteY4" fmla="*/ 629728 h 828136"/>
              <a:gd name="connsiteX5" fmla="*/ 3312543 w 5978105"/>
              <a:gd name="connsiteY5" fmla="*/ 828136 h 828136"/>
              <a:gd name="connsiteX6" fmla="*/ 0 w 5978105"/>
              <a:gd name="connsiteY6" fmla="*/ 828136 h 828136"/>
              <a:gd name="connsiteX7" fmla="*/ 0 w 5978105"/>
              <a:gd name="connsiteY7" fmla="*/ 0 h 828136"/>
              <a:gd name="connsiteX8" fmla="*/ 310551 w 5978105"/>
              <a:gd name="connsiteY8" fmla="*/ 0 h 828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78105" h="828136">
                <a:moveTo>
                  <a:pt x="129396" y="0"/>
                </a:moveTo>
                <a:lnTo>
                  <a:pt x="5978105" y="0"/>
                </a:lnTo>
                <a:lnTo>
                  <a:pt x="5978105" y="603849"/>
                </a:lnTo>
                <a:cubicBezTo>
                  <a:pt x="5857557" y="631668"/>
                  <a:pt x="5904325" y="629728"/>
                  <a:pt x="5840083" y="629728"/>
                </a:cubicBezTo>
                <a:lnTo>
                  <a:pt x="3312543" y="629728"/>
                </a:lnTo>
                <a:lnTo>
                  <a:pt x="3312543" y="828136"/>
                </a:lnTo>
                <a:lnTo>
                  <a:pt x="0" y="828136"/>
                </a:lnTo>
                <a:lnTo>
                  <a:pt x="0" y="0"/>
                </a:lnTo>
                <a:lnTo>
                  <a:pt x="310551" y="0"/>
                </a:ln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57150">
                <a:solidFill>
                  <a:srgbClr val="FF0000"/>
                </a:solidFill>
              </a:ln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BCC1253-C3D9-4815-9A87-77AC338DEA32}"/>
              </a:ext>
            </a:extLst>
          </p:cNvPr>
          <p:cNvCxnSpPr/>
          <p:nvPr/>
        </p:nvCxnSpPr>
        <p:spPr>
          <a:xfrm flipH="1">
            <a:off x="3635195" y="4735902"/>
            <a:ext cx="223939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stealth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3670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141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142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심판의 진행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446</a:t>
            </a:r>
            <a:endParaRPr lang="ko-KR" altLang="en-US" dirty="0"/>
          </a:p>
        </p:txBody>
      </p:sp>
      <p:sp>
        <p:nvSpPr>
          <p:cNvPr id="51" name="모서리가 둥근 직사각형 3">
            <a:extLst>
              <a:ext uri="{FF2B5EF4-FFF2-40B4-BE49-F238E27FC236}">
                <a16:creationId xmlns:a16="http://schemas.microsoft.com/office/drawing/2014/main" id="{C6A52660-E50F-4327-BC75-66CAD5BD3C8B}"/>
              </a:ext>
            </a:extLst>
          </p:cNvPr>
          <p:cNvSpPr/>
          <p:nvPr/>
        </p:nvSpPr>
        <p:spPr>
          <a:xfrm>
            <a:off x="4729163" y="1123950"/>
            <a:ext cx="12001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피청구인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A3374DE8-C61B-4BAA-92B9-A67A843706CF}"/>
              </a:ext>
            </a:extLst>
          </p:cNvPr>
          <p:cNvCxnSpPr>
            <a:stCxn id="51" idx="2"/>
          </p:cNvCxnSpPr>
          <p:nvPr/>
        </p:nvCxnSpPr>
        <p:spPr>
          <a:xfrm>
            <a:off x="5329238" y="1447800"/>
            <a:ext cx="0" cy="50863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모서리가 둥근 직사각형 6">
            <a:extLst>
              <a:ext uri="{FF2B5EF4-FFF2-40B4-BE49-F238E27FC236}">
                <a16:creationId xmlns:a16="http://schemas.microsoft.com/office/drawing/2014/main" id="{01BB3979-5E2E-430F-8C59-18F74B3F1202}"/>
              </a:ext>
            </a:extLst>
          </p:cNvPr>
          <p:cNvSpPr/>
          <p:nvPr/>
        </p:nvSpPr>
        <p:spPr>
          <a:xfrm>
            <a:off x="2566988" y="1123950"/>
            <a:ext cx="12001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심판원장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45B9B0B5-020E-4975-A380-4E3E1EC990FA}"/>
              </a:ext>
            </a:extLst>
          </p:cNvPr>
          <p:cNvCxnSpPr>
            <a:stCxn id="53" idx="2"/>
          </p:cNvCxnSpPr>
          <p:nvPr/>
        </p:nvCxnSpPr>
        <p:spPr>
          <a:xfrm>
            <a:off x="3167063" y="1447800"/>
            <a:ext cx="0" cy="50863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모서리가 둥근 직사각형 8">
            <a:extLst>
              <a:ext uri="{FF2B5EF4-FFF2-40B4-BE49-F238E27FC236}">
                <a16:creationId xmlns:a16="http://schemas.microsoft.com/office/drawing/2014/main" id="{9D1F8D01-D1B9-438D-8AD7-B19543490687}"/>
              </a:ext>
            </a:extLst>
          </p:cNvPr>
          <p:cNvSpPr/>
          <p:nvPr/>
        </p:nvSpPr>
        <p:spPr>
          <a:xfrm>
            <a:off x="414338" y="1123950"/>
            <a:ext cx="1200150" cy="323850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청구인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397BBF41-E3E0-469A-B377-D8730794467D}"/>
              </a:ext>
            </a:extLst>
          </p:cNvPr>
          <p:cNvCxnSpPr>
            <a:stCxn id="55" idx="2"/>
          </p:cNvCxnSpPr>
          <p:nvPr/>
        </p:nvCxnSpPr>
        <p:spPr>
          <a:xfrm>
            <a:off x="1014413" y="1447800"/>
            <a:ext cx="0" cy="50863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모서리가 둥근 직사각형 10">
            <a:extLst>
              <a:ext uri="{FF2B5EF4-FFF2-40B4-BE49-F238E27FC236}">
                <a16:creationId xmlns:a16="http://schemas.microsoft.com/office/drawing/2014/main" id="{32CA5353-C800-42E8-950A-C902533D3C69}"/>
              </a:ext>
            </a:extLst>
          </p:cNvPr>
          <p:cNvSpPr/>
          <p:nvPr/>
        </p:nvSpPr>
        <p:spPr>
          <a:xfrm>
            <a:off x="2566988" y="1876425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방식심사</a:t>
            </a:r>
          </a:p>
        </p:txBody>
      </p:sp>
      <p:sp>
        <p:nvSpPr>
          <p:cNvPr id="58" name="모서리가 둥근 직사각형 11">
            <a:extLst>
              <a:ext uri="{FF2B5EF4-FFF2-40B4-BE49-F238E27FC236}">
                <a16:creationId xmlns:a16="http://schemas.microsoft.com/office/drawing/2014/main" id="{2B8D2324-9717-4C0F-BFA2-BAED5E42B63A}"/>
              </a:ext>
            </a:extLst>
          </p:cNvPr>
          <p:cNvSpPr/>
          <p:nvPr/>
        </p:nvSpPr>
        <p:spPr>
          <a:xfrm>
            <a:off x="2566988" y="5095878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accent1">
                    <a:lumMod val="20000"/>
                    <a:lumOff val="80000"/>
                  </a:schemeClr>
                </a:solidFill>
              </a:rPr>
              <a:t>본안심리</a:t>
            </a:r>
            <a:endParaRPr lang="ko-KR" altLang="en-US" sz="1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9" name="모서리가 둥근 직사각형 12">
            <a:extLst>
              <a:ext uri="{FF2B5EF4-FFF2-40B4-BE49-F238E27FC236}">
                <a16:creationId xmlns:a16="http://schemas.microsoft.com/office/drawing/2014/main" id="{10DD23CE-1D44-4C1B-A6EB-30F7EE97B657}"/>
              </a:ext>
            </a:extLst>
          </p:cNvPr>
          <p:cNvSpPr/>
          <p:nvPr/>
        </p:nvSpPr>
        <p:spPr>
          <a:xfrm>
            <a:off x="2566988" y="5610228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심결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C69D7F8A-7BD8-4852-B747-311C292F88BE}"/>
              </a:ext>
            </a:extLst>
          </p:cNvPr>
          <p:cNvCxnSpPr/>
          <p:nvPr/>
        </p:nvCxnSpPr>
        <p:spPr>
          <a:xfrm>
            <a:off x="1014413" y="1738889"/>
            <a:ext cx="21526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모서리가 둥근 직사각형 14">
            <a:extLst>
              <a:ext uri="{FF2B5EF4-FFF2-40B4-BE49-F238E27FC236}">
                <a16:creationId xmlns:a16="http://schemas.microsoft.com/office/drawing/2014/main" id="{AE035CA4-E543-48FB-ACAD-DEA198B477A4}"/>
              </a:ext>
            </a:extLst>
          </p:cNvPr>
          <p:cNvSpPr/>
          <p:nvPr/>
        </p:nvSpPr>
        <p:spPr>
          <a:xfrm>
            <a:off x="1462088" y="1419225"/>
            <a:ext cx="104775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심판청구</a:t>
            </a: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7B03347-7878-41AF-A227-7A1CBE4496E3}"/>
              </a:ext>
            </a:extLst>
          </p:cNvPr>
          <p:cNvCxnSpPr/>
          <p:nvPr/>
        </p:nvCxnSpPr>
        <p:spPr>
          <a:xfrm>
            <a:off x="3167063" y="4000500"/>
            <a:ext cx="21621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16">
            <a:extLst>
              <a:ext uri="{FF2B5EF4-FFF2-40B4-BE49-F238E27FC236}">
                <a16:creationId xmlns:a16="http://schemas.microsoft.com/office/drawing/2014/main" id="{0AF99D10-D167-4A07-A0D0-46CA227387DB}"/>
              </a:ext>
            </a:extLst>
          </p:cNvPr>
          <p:cNvSpPr/>
          <p:nvPr/>
        </p:nvSpPr>
        <p:spPr>
          <a:xfrm>
            <a:off x="3024190" y="3467099"/>
            <a:ext cx="2371724" cy="485775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청구서 부본 송달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무효심판의 경우 등록권리자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에게 취지통지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E02073C7-2396-47C6-9D27-3A8212330CD9}"/>
              </a:ext>
            </a:extLst>
          </p:cNvPr>
          <p:cNvCxnSpPr/>
          <p:nvPr/>
        </p:nvCxnSpPr>
        <p:spPr>
          <a:xfrm>
            <a:off x="3167063" y="4333875"/>
            <a:ext cx="21621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모서리가 둥근 직사각형 18">
            <a:extLst>
              <a:ext uri="{FF2B5EF4-FFF2-40B4-BE49-F238E27FC236}">
                <a16:creationId xmlns:a16="http://schemas.microsoft.com/office/drawing/2014/main" id="{B42E2695-3773-4233-979B-B3D0745B0D15}"/>
              </a:ext>
            </a:extLst>
          </p:cNvPr>
          <p:cNvSpPr/>
          <p:nvPr/>
        </p:nvSpPr>
        <p:spPr>
          <a:xfrm>
            <a:off x="3433763" y="4343400"/>
            <a:ext cx="139065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답변서 제출</a:t>
            </a: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71AE3843-4D45-435A-A7D6-029192C4FE77}"/>
              </a:ext>
            </a:extLst>
          </p:cNvPr>
          <p:cNvCxnSpPr/>
          <p:nvPr/>
        </p:nvCxnSpPr>
        <p:spPr>
          <a:xfrm>
            <a:off x="1014413" y="4457700"/>
            <a:ext cx="21526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모서리가 둥근 직사각형 20">
            <a:extLst>
              <a:ext uri="{FF2B5EF4-FFF2-40B4-BE49-F238E27FC236}">
                <a16:creationId xmlns:a16="http://schemas.microsoft.com/office/drawing/2014/main" id="{7C2C3861-BF58-4BAD-903D-114BBEA0293C}"/>
              </a:ext>
            </a:extLst>
          </p:cNvPr>
          <p:cNvSpPr/>
          <p:nvPr/>
        </p:nvSpPr>
        <p:spPr>
          <a:xfrm>
            <a:off x="1014413" y="4467224"/>
            <a:ext cx="1495425" cy="523875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답변서 부본 송달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당사자 심문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8" name="모서리가 둥근 직사각형 89">
            <a:extLst>
              <a:ext uri="{FF2B5EF4-FFF2-40B4-BE49-F238E27FC236}">
                <a16:creationId xmlns:a16="http://schemas.microsoft.com/office/drawing/2014/main" id="{6929623E-FBE5-4114-A9FD-24105966107F}"/>
              </a:ext>
            </a:extLst>
          </p:cNvPr>
          <p:cNvSpPr/>
          <p:nvPr/>
        </p:nvSpPr>
        <p:spPr>
          <a:xfrm>
            <a:off x="2566988" y="2461386"/>
            <a:ext cx="1200150" cy="423639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심판관합의체</a:t>
            </a:r>
            <a:endParaRPr lang="en-US" altLang="ko-KR" sz="1200" dirty="0">
              <a:solidFill>
                <a:schemeClr val="bg1">
                  <a:lumMod val="95000"/>
                </a:schemeClr>
              </a:solidFill>
            </a:endParaRPr>
          </a:p>
          <a:p>
            <a:pPr algn="ctr"/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</a:rPr>
              <a:t>심판장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</a:rPr>
              <a:t>)</a:t>
            </a:r>
            <a:endParaRPr lang="ko-KR" alt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9" name="모서리가 둥근 직사각형 93">
            <a:extLst>
              <a:ext uri="{FF2B5EF4-FFF2-40B4-BE49-F238E27FC236}">
                <a16:creationId xmlns:a16="http://schemas.microsoft.com/office/drawing/2014/main" id="{8117D8EA-65FE-41DD-B24C-191CBA557681}"/>
              </a:ext>
            </a:extLst>
          </p:cNvPr>
          <p:cNvSpPr/>
          <p:nvPr/>
        </p:nvSpPr>
        <p:spPr>
          <a:xfrm>
            <a:off x="3024189" y="2165182"/>
            <a:ext cx="685800" cy="323850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지정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0" name="모서리가 둥근 직사각형 94">
            <a:extLst>
              <a:ext uri="{FF2B5EF4-FFF2-40B4-BE49-F238E27FC236}">
                <a16:creationId xmlns:a16="http://schemas.microsoft.com/office/drawing/2014/main" id="{E0E5273F-8E08-4474-B76A-432D1D113533}"/>
              </a:ext>
            </a:extLst>
          </p:cNvPr>
          <p:cNvSpPr/>
          <p:nvPr/>
        </p:nvSpPr>
        <p:spPr>
          <a:xfrm>
            <a:off x="2566988" y="3059737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방식심리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0AF151E4-68B2-4990-A497-24BF8EB71097}"/>
              </a:ext>
            </a:extLst>
          </p:cNvPr>
          <p:cNvCxnSpPr/>
          <p:nvPr/>
        </p:nvCxnSpPr>
        <p:spPr>
          <a:xfrm>
            <a:off x="3167063" y="6305553"/>
            <a:ext cx="21621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4BBFF211-D35C-4120-8692-E2EC05D7839C}"/>
              </a:ext>
            </a:extLst>
          </p:cNvPr>
          <p:cNvCxnSpPr/>
          <p:nvPr/>
        </p:nvCxnSpPr>
        <p:spPr>
          <a:xfrm>
            <a:off x="1014413" y="6296028"/>
            <a:ext cx="215265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모서리가 둥근 직사각형 23">
            <a:extLst>
              <a:ext uri="{FF2B5EF4-FFF2-40B4-BE49-F238E27FC236}">
                <a16:creationId xmlns:a16="http://schemas.microsoft.com/office/drawing/2014/main" id="{C9061FD9-B995-475D-99C3-C92967BD1733}"/>
              </a:ext>
            </a:extLst>
          </p:cNvPr>
          <p:cNvSpPr/>
          <p:nvPr/>
        </p:nvSpPr>
        <p:spPr>
          <a:xfrm>
            <a:off x="2566988" y="6143628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등본송달</a:t>
            </a:r>
          </a:p>
        </p:txBody>
      </p:sp>
      <p:sp>
        <p:nvSpPr>
          <p:cNvPr id="74" name="모서리가 둥근 직사각형 103">
            <a:extLst>
              <a:ext uri="{FF2B5EF4-FFF2-40B4-BE49-F238E27FC236}">
                <a16:creationId xmlns:a16="http://schemas.microsoft.com/office/drawing/2014/main" id="{34FFF81E-7817-4B40-9A40-7B62427B8C28}"/>
              </a:ext>
            </a:extLst>
          </p:cNvPr>
          <p:cNvSpPr/>
          <p:nvPr/>
        </p:nvSpPr>
        <p:spPr>
          <a:xfrm>
            <a:off x="1985963" y="3633730"/>
            <a:ext cx="838200" cy="538220"/>
          </a:xfrm>
          <a:prstGeom prst="roundRect">
            <a:avLst>
              <a:gd name="adj" fmla="val 5882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적법성</a:t>
            </a:r>
            <a:endParaRPr lang="en-US" altLang="ko-KR" sz="16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ko-KR" altLang="en-US" sz="16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심리</a:t>
            </a:r>
          </a:p>
        </p:txBody>
      </p:sp>
      <p:cxnSp>
        <p:nvCxnSpPr>
          <p:cNvPr id="75" name="꺾인 연결선 105">
            <a:extLst>
              <a:ext uri="{FF2B5EF4-FFF2-40B4-BE49-F238E27FC236}">
                <a16:creationId xmlns:a16="http://schemas.microsoft.com/office/drawing/2014/main" id="{35F4F519-D96A-4958-A640-483AA3AC3891}"/>
              </a:ext>
            </a:extLst>
          </p:cNvPr>
          <p:cNvCxnSpPr>
            <a:stCxn id="70" idx="1"/>
            <a:endCxn id="74" idx="0"/>
          </p:cNvCxnSpPr>
          <p:nvPr/>
        </p:nvCxnSpPr>
        <p:spPr>
          <a:xfrm rot="10800000" flipV="1">
            <a:off x="2405064" y="3221662"/>
            <a:ext cx="161925" cy="41206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꺾인 연결선 107">
            <a:extLst>
              <a:ext uri="{FF2B5EF4-FFF2-40B4-BE49-F238E27FC236}">
                <a16:creationId xmlns:a16="http://schemas.microsoft.com/office/drawing/2014/main" id="{29C5397B-467A-4001-B617-CBCF8B1F9D4F}"/>
              </a:ext>
            </a:extLst>
          </p:cNvPr>
          <p:cNvCxnSpPr>
            <a:stCxn id="74" idx="2"/>
            <a:endCxn id="58" idx="1"/>
          </p:cNvCxnSpPr>
          <p:nvPr/>
        </p:nvCxnSpPr>
        <p:spPr>
          <a:xfrm rot="16200000" flipH="1">
            <a:off x="1943099" y="4633913"/>
            <a:ext cx="1085853" cy="16192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모서리가 둥근 직사각형 109">
            <a:extLst>
              <a:ext uri="{FF2B5EF4-FFF2-40B4-BE49-F238E27FC236}">
                <a16:creationId xmlns:a16="http://schemas.microsoft.com/office/drawing/2014/main" id="{5C3C5029-F18F-45CC-AD59-BB381BB642FE}"/>
              </a:ext>
            </a:extLst>
          </p:cNvPr>
          <p:cNvSpPr/>
          <p:nvPr/>
        </p:nvSpPr>
        <p:spPr>
          <a:xfrm>
            <a:off x="414338" y="2031037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</a:p>
        </p:txBody>
      </p:sp>
      <p:sp>
        <p:nvSpPr>
          <p:cNvPr id="78" name="모서리가 둥근 직사각형 110">
            <a:extLst>
              <a:ext uri="{FF2B5EF4-FFF2-40B4-BE49-F238E27FC236}">
                <a16:creationId xmlns:a16="http://schemas.microsoft.com/office/drawing/2014/main" id="{0398F545-092D-4D66-8575-88D53449FA73}"/>
              </a:ext>
            </a:extLst>
          </p:cNvPr>
          <p:cNvSpPr/>
          <p:nvPr/>
        </p:nvSpPr>
        <p:spPr>
          <a:xfrm>
            <a:off x="414338" y="2670937"/>
            <a:ext cx="1200150" cy="323850"/>
          </a:xfrm>
          <a:prstGeom prst="roundRect">
            <a:avLst>
              <a:gd name="adj" fmla="val 5882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취하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8D462B16-2ECA-4033-9675-0AC5B66390F2}"/>
              </a:ext>
            </a:extLst>
          </p:cNvPr>
          <p:cNvCxnSpPr>
            <a:cxnSpLocks/>
          </p:cNvCxnSpPr>
          <p:nvPr/>
        </p:nvCxnSpPr>
        <p:spPr>
          <a:xfrm flipH="1">
            <a:off x="3167063" y="4833936"/>
            <a:ext cx="216217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모서리가 둥근 직사각형 20">
            <a:extLst>
              <a:ext uri="{FF2B5EF4-FFF2-40B4-BE49-F238E27FC236}">
                <a16:creationId xmlns:a16="http://schemas.microsoft.com/office/drawing/2014/main" id="{75E30072-C324-440D-917C-AF5394D5BE83}"/>
              </a:ext>
            </a:extLst>
          </p:cNvPr>
          <p:cNvSpPr/>
          <p:nvPr/>
        </p:nvSpPr>
        <p:spPr>
          <a:xfrm>
            <a:off x="3662364" y="4738683"/>
            <a:ext cx="1495425" cy="523875"/>
          </a:xfrm>
          <a:prstGeom prst="roundRect">
            <a:avLst>
              <a:gd name="adj" fmla="val 5882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당사자 심문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75C2AB-478C-4512-870F-39612E2150D6}"/>
              </a:ext>
            </a:extLst>
          </p:cNvPr>
          <p:cNvSpPr txBox="1"/>
          <p:nvPr/>
        </p:nvSpPr>
        <p:spPr>
          <a:xfrm>
            <a:off x="6197600" y="1684369"/>
            <a:ext cx="5625116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288000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 dirty="0"/>
              <a:t>심판장이 심판청구의 형식</a:t>
            </a:r>
            <a:r>
              <a:rPr lang="en-US" altLang="ko-KR" sz="1600" dirty="0"/>
              <a:t>(</a:t>
            </a:r>
            <a:r>
              <a:rPr lang="ko-KR" altLang="en-US" sz="1600" dirty="0"/>
              <a:t>심판청구서</a:t>
            </a:r>
            <a:r>
              <a:rPr lang="en-US" altLang="ko-KR" sz="1600" dirty="0"/>
              <a:t>)</a:t>
            </a:r>
            <a:r>
              <a:rPr lang="ko-KR" altLang="en-US" sz="1600" dirty="0"/>
              <a:t>이 본안심리 받기에 적절한지 여부를 검토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위반시 심판장이 심판청구서를 </a:t>
            </a:r>
            <a:r>
              <a:rPr lang="ko-KR" altLang="en-US" sz="1600" dirty="0" err="1"/>
              <a:t>결정각하</a:t>
            </a:r>
            <a:endParaRPr lang="ko-KR" altLang="en-US" sz="16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9396668-DCF1-4B8F-B182-0D114D626AA1}"/>
              </a:ext>
            </a:extLst>
          </p:cNvPr>
          <p:cNvSpPr txBox="1"/>
          <p:nvPr/>
        </p:nvSpPr>
        <p:spPr>
          <a:xfrm>
            <a:off x="6197600" y="2827158"/>
            <a:ext cx="5625117" cy="20621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288000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 dirty="0"/>
              <a:t>심판관합의체가 심판청구의 내용</a:t>
            </a:r>
            <a:r>
              <a:rPr lang="en-US" altLang="ko-KR" sz="1600" dirty="0"/>
              <a:t>(</a:t>
            </a:r>
            <a:r>
              <a:rPr lang="ko-KR" altLang="en-US" sz="1600" dirty="0"/>
              <a:t>심판청구</a:t>
            </a:r>
            <a:r>
              <a:rPr lang="en-US" altLang="ko-KR" sz="1600" dirty="0"/>
              <a:t>)</a:t>
            </a:r>
            <a:r>
              <a:rPr lang="ko-KR" altLang="en-US" sz="1600" dirty="0"/>
              <a:t>이 본안심리 받기에 적절한지 여부를 검토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위반시 심판관합의체가 심판청구를 </a:t>
            </a:r>
            <a:r>
              <a:rPr lang="ko-KR" altLang="en-US" sz="1600" dirty="0" err="1"/>
              <a:t>심결각하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방식심리에서 </a:t>
            </a:r>
            <a:r>
              <a:rPr lang="ko-KR" altLang="en-US" sz="1600" dirty="0" err="1"/>
              <a:t>본안심리하는</a:t>
            </a:r>
            <a:r>
              <a:rPr lang="ko-KR" altLang="en-US" sz="1600" dirty="0"/>
              <a:t> 과정에서 적법성 심리를 함</a:t>
            </a:r>
            <a:endParaRPr lang="en-US" altLang="ko-KR" sz="1600" dirty="0"/>
          </a:p>
          <a:p>
            <a:pPr marL="261938" indent="-261938"/>
            <a:r>
              <a:rPr lang="en-US" altLang="ko-KR" sz="1600" dirty="0"/>
              <a:t>     (</a:t>
            </a:r>
            <a:r>
              <a:rPr lang="ko-KR" altLang="en-US" sz="1600" dirty="0"/>
              <a:t>일반적으로 피청구인에게 </a:t>
            </a:r>
            <a:r>
              <a:rPr lang="ko-KR" altLang="en-US" sz="1600" dirty="0" err="1"/>
              <a:t>부본송달하여</a:t>
            </a:r>
            <a:r>
              <a:rPr lang="ko-KR" altLang="en-US" sz="1600" dirty="0"/>
              <a:t> 답변서 제출기회를 준 후 </a:t>
            </a:r>
            <a:r>
              <a:rPr lang="ko-KR" altLang="en-US" sz="1600" dirty="0" err="1"/>
              <a:t>본안심리하는</a:t>
            </a:r>
            <a:r>
              <a:rPr lang="ko-KR" altLang="en-US" sz="1600" dirty="0"/>
              <a:t> 과정에서 적법성 심리를 하여 </a:t>
            </a:r>
            <a:r>
              <a:rPr lang="ko-KR" altLang="en-US" sz="1600" dirty="0" err="1"/>
              <a:t>심결각하하나</a:t>
            </a:r>
            <a:r>
              <a:rPr lang="en-US" altLang="ko-KR" sz="1600" dirty="0"/>
              <a:t>, </a:t>
            </a:r>
            <a:r>
              <a:rPr lang="ko-KR" altLang="en-US" sz="1600" dirty="0"/>
              <a:t>피청구인에게 답변서 제출기회를 주지 않고 </a:t>
            </a:r>
            <a:r>
              <a:rPr lang="ko-KR" altLang="en-US" sz="1600" dirty="0" err="1"/>
              <a:t>방식심리하는</a:t>
            </a:r>
            <a:r>
              <a:rPr lang="ko-KR" altLang="en-US" sz="1600" dirty="0"/>
              <a:t> 과정에서 적법성 심리를 하여 </a:t>
            </a:r>
            <a:r>
              <a:rPr lang="ko-KR" altLang="en-US" sz="1600" dirty="0" err="1"/>
              <a:t>심결각하할</a:t>
            </a:r>
            <a:r>
              <a:rPr lang="ko-KR" altLang="en-US" sz="1600" dirty="0"/>
              <a:t> 수 있음</a:t>
            </a:r>
            <a:r>
              <a:rPr lang="en-US" altLang="ko-KR" sz="1600" dirty="0"/>
              <a:t>)</a:t>
            </a:r>
            <a:r>
              <a:rPr lang="ko-KR" altLang="en-US" sz="1600" dirty="0"/>
              <a:t> 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A6F1629-EE2B-4E00-A58C-BBC9103F9DC8}"/>
              </a:ext>
            </a:extLst>
          </p:cNvPr>
          <p:cNvSpPr txBox="1"/>
          <p:nvPr/>
        </p:nvSpPr>
        <p:spPr>
          <a:xfrm>
            <a:off x="6197600" y="5238698"/>
            <a:ext cx="5625117" cy="10772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lIns="288000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600" dirty="0"/>
              <a:t>심판관합의체가 심판청구의 내용</a:t>
            </a:r>
            <a:r>
              <a:rPr lang="en-US" altLang="ko-KR" sz="1600" dirty="0"/>
              <a:t>(</a:t>
            </a:r>
            <a:r>
              <a:rPr lang="ko-KR" altLang="en-US" sz="1600" dirty="0"/>
              <a:t>심판청구</a:t>
            </a:r>
            <a:r>
              <a:rPr lang="en-US" altLang="ko-KR" sz="1600" dirty="0"/>
              <a:t>)</a:t>
            </a:r>
            <a:r>
              <a:rPr lang="ko-KR" altLang="en-US" sz="1600" dirty="0"/>
              <a:t>이 타당한지</a:t>
            </a:r>
            <a:r>
              <a:rPr lang="en-US" altLang="ko-KR" sz="1600" dirty="0"/>
              <a:t>(</a:t>
            </a:r>
            <a:r>
              <a:rPr lang="ko-KR" altLang="en-US" sz="1600" dirty="0" err="1"/>
              <a:t>이유있는지</a:t>
            </a:r>
            <a:r>
              <a:rPr lang="en-US" altLang="ko-KR" sz="1600" dirty="0"/>
              <a:t>)</a:t>
            </a:r>
            <a:r>
              <a:rPr lang="ko-KR" altLang="en-US" sz="1600" dirty="0"/>
              <a:t> 여부를 검토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심판관합의체는 심판청구를 </a:t>
            </a:r>
            <a:r>
              <a:rPr lang="ko-KR" altLang="en-US" sz="1600" dirty="0" err="1"/>
              <a:t>인용심결</a:t>
            </a:r>
            <a:r>
              <a:rPr lang="en-US" altLang="ko-KR" sz="1600" dirty="0"/>
              <a:t>(</a:t>
            </a:r>
            <a:r>
              <a:rPr lang="ko-KR" altLang="en-US" sz="1600" dirty="0"/>
              <a:t>타당</a:t>
            </a:r>
            <a:r>
              <a:rPr lang="en-US" altLang="ko-KR" sz="1600" dirty="0"/>
              <a:t>O)</a:t>
            </a:r>
            <a:r>
              <a:rPr lang="ko-KR" altLang="en-US" sz="1600" dirty="0"/>
              <a:t> 또는 </a:t>
            </a:r>
            <a:r>
              <a:rPr lang="ko-KR" altLang="en-US" sz="1600" dirty="0" err="1"/>
              <a:t>기각심결</a:t>
            </a:r>
            <a:r>
              <a:rPr lang="en-US" altLang="ko-KR" sz="1600" dirty="0"/>
              <a:t>(</a:t>
            </a:r>
            <a:r>
              <a:rPr lang="ko-KR" altLang="en-US" sz="1600" dirty="0"/>
              <a:t>타당</a:t>
            </a:r>
            <a:r>
              <a:rPr lang="en-US" altLang="ko-KR" sz="1600" dirty="0"/>
              <a:t>X)</a:t>
            </a:r>
            <a:endParaRPr lang="ko-KR" altLang="en-US" sz="1600" dirty="0"/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0E529F63-42A2-40DB-AC7F-E854A4017041}"/>
              </a:ext>
            </a:extLst>
          </p:cNvPr>
          <p:cNvSpPr/>
          <p:nvPr/>
        </p:nvSpPr>
        <p:spPr>
          <a:xfrm>
            <a:off x="5653317" y="1797971"/>
            <a:ext cx="682168" cy="603791"/>
          </a:xfrm>
          <a:prstGeom prst="roundRect">
            <a:avLst>
              <a:gd name="adj" fmla="val 945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dirty="0"/>
              <a:t>방식</a:t>
            </a:r>
            <a:endParaRPr lang="en-US" altLang="ko-KR" dirty="0"/>
          </a:p>
          <a:p>
            <a:pPr algn="ctr"/>
            <a:r>
              <a:rPr lang="ko-KR" altLang="en-US" dirty="0"/>
              <a:t>심리</a:t>
            </a:r>
          </a:p>
        </p:txBody>
      </p:sp>
      <p:sp>
        <p:nvSpPr>
          <p:cNvPr id="87" name="사각형: 둥근 모서리 86">
            <a:extLst>
              <a:ext uri="{FF2B5EF4-FFF2-40B4-BE49-F238E27FC236}">
                <a16:creationId xmlns:a16="http://schemas.microsoft.com/office/drawing/2014/main" id="{B582EB0E-0A4F-4CFB-86A3-00EB3236E6DB}"/>
              </a:ext>
            </a:extLst>
          </p:cNvPr>
          <p:cNvSpPr/>
          <p:nvPr/>
        </p:nvSpPr>
        <p:spPr>
          <a:xfrm>
            <a:off x="5653317" y="3532064"/>
            <a:ext cx="682168" cy="603791"/>
          </a:xfrm>
          <a:prstGeom prst="roundRect">
            <a:avLst>
              <a:gd name="adj" fmla="val 9455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dirty="0"/>
              <a:t>적법성</a:t>
            </a:r>
            <a:endParaRPr lang="en-US" altLang="ko-KR" dirty="0"/>
          </a:p>
          <a:p>
            <a:pPr algn="ctr"/>
            <a:r>
              <a:rPr lang="ko-KR" altLang="en-US" dirty="0"/>
              <a:t>심리</a:t>
            </a:r>
          </a:p>
        </p:txBody>
      </p: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35A5B89E-A118-4EC0-B562-62935F6C1635}"/>
              </a:ext>
            </a:extLst>
          </p:cNvPr>
          <p:cNvSpPr/>
          <p:nvPr/>
        </p:nvSpPr>
        <p:spPr>
          <a:xfrm>
            <a:off x="5653317" y="5475411"/>
            <a:ext cx="682168" cy="603791"/>
          </a:xfrm>
          <a:prstGeom prst="roundRect">
            <a:avLst>
              <a:gd name="adj" fmla="val 9455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dirty="0"/>
              <a:t>본안</a:t>
            </a:r>
            <a:endParaRPr lang="en-US" altLang="ko-KR" dirty="0"/>
          </a:p>
          <a:p>
            <a:pPr algn="ctr"/>
            <a:r>
              <a:rPr lang="ko-KR" altLang="en-US" dirty="0"/>
              <a:t>심리</a:t>
            </a:r>
          </a:p>
        </p:txBody>
      </p:sp>
    </p:spTree>
    <p:extLst>
      <p:ext uri="{BB962C8B-B14F-4D97-AF65-F5344CB8AC3E}">
        <p14:creationId xmlns:p14="http://schemas.microsoft.com/office/powerpoint/2010/main" val="3524235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447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141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직권보정의 비교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860B343E-4BE8-EDF0-6F94-B280E7CD5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4756907"/>
              </p:ext>
            </p:extLst>
          </p:nvPr>
        </p:nvGraphicFramePr>
        <p:xfrm>
          <a:off x="184728" y="973051"/>
          <a:ext cx="11810047" cy="35356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942320">
                  <a:extLst>
                    <a:ext uri="{9D8B030D-6E8A-4147-A177-3AD203B41FA5}">
                      <a16:colId xmlns:a16="http://schemas.microsoft.com/office/drawing/2014/main" val="3715525229"/>
                    </a:ext>
                  </a:extLst>
                </a:gridCol>
                <a:gridCol w="5867727">
                  <a:extLst>
                    <a:ext uri="{9D8B030D-6E8A-4147-A177-3AD203B41FA5}">
                      <a16:colId xmlns:a16="http://schemas.microsoft.com/office/drawing/2014/main" val="141959867"/>
                    </a:ext>
                  </a:extLst>
                </a:gridCol>
              </a:tblGrid>
              <a:tr h="2037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심사단계에서의 직권보정</a:t>
                      </a:r>
                      <a:r>
                        <a:rPr lang="en-US" altLang="ko-KR" sz="1000" kern="0" spc="-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0" spc="-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66</a:t>
                      </a:r>
                      <a:r>
                        <a:rPr lang="ko-KR" altLang="en-US" sz="1000" kern="0" spc="-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00" kern="0" spc="-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2)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심판단계에서의 직권보정</a:t>
                      </a:r>
                      <a:r>
                        <a:rPr lang="en-US" altLang="ko-KR" sz="1000" kern="0" spc="-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0" spc="-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141</a:t>
                      </a:r>
                      <a:r>
                        <a:rPr lang="ko-KR" altLang="en-US" sz="1000" kern="0" spc="-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조</a:t>
                      </a:r>
                      <a:r>
                        <a:rPr lang="en-US" altLang="ko-KR" sz="1000" kern="0" spc="-100" dirty="0">
                          <a:solidFill>
                            <a:schemeClr val="accent3">
                              <a:lumMod val="50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33114"/>
                  </a:ext>
                </a:extLst>
              </a:tr>
              <a:tr h="3064689">
                <a:tc>
                  <a:txBody>
                    <a:bodyPr/>
                    <a:lstStyle/>
                    <a:p>
                      <a:pPr algn="just" fontAlgn="base" latinLnBrk="0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직권보정 등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①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심사관은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조에 따른 특허결정을 할 때에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특허출원서에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첨부된 명세서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도면 또는 요약서에 적힌 사항이 명백히 잘못된 경우에는 직권으로 보정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이하 “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직권보정”이라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할 수 있다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직권보정은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범위에서 하여야 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심사관이 직권보정을 하려면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특허결정의 등본 송달과 함께 그 직권보정 사항을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특허출원인에게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알려야 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특허출원인은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직권보정 사항의 전부 또는 일부를 받아들일 수 없으면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특허료를 낼 때까지 그 직권보정 사항에 대한 의견서를 지식재산처장에게 제출하여야 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특허출원인이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의견서를 제출한 경우 해당 직권보정 사항의 전부 또는 일부는 처음부터 없었던 것으로 본다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그 특허결정도 함께 취소된 것으로 본다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특허출원서에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첨부된 요약서에 관한 직권보정 사항의 전부 또는 일부만 처음부터 없었던 것으로 보는 경우에는 그러하지 아니하다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삭제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⑥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직권보정이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범위를 벗어나거나 명백히 잘못되지 아니한 사항을 직권보정한 경우 그 직권보정은 처음부터 없었던 것으로 본다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 fontAlgn="base" latinLnBrk="0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심판청구서 등의 각하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①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심판장은 다음 각 호의 어느 하나에 해당하는 경우에는 기간을 정하여 그 보정을 명하여야 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보정할 사항이 경미하고 명확한 경우에는 직권으로 보정할 수 있다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심판청구서가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 또는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위반한 경우</a:t>
                      </a: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심판에 관한 절차가 다음 각 목의 어느 하나에 해당하는 경우</a:t>
                      </a:r>
                    </a:p>
                    <a:p>
                      <a:pPr algn="just" fontAlgn="base" latinLnBrk="0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가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조를 위반한 경우</a:t>
                      </a:r>
                    </a:p>
                    <a:p>
                      <a:pPr algn="just" fontAlgn="base" latinLnBrk="0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조에 따라 내야 할 수수료를 내지 아니한 경우</a:t>
                      </a:r>
                    </a:p>
                    <a:p>
                      <a:pPr algn="just" fontAlgn="base" latinLnBrk="0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법 또는 이 법에 따른 명령으로 정하는 방식을 위반한 경우</a:t>
                      </a:r>
                    </a:p>
                    <a:p>
                      <a:pPr algn="just" fontAlgn="base" latinLnBrk="0"/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심판장은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본문에 따른 보정명령을 받은 자가 지정된 기간에 보정을 하지 아니하거나 보정한 사항이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위반한 경우에는 심판청구서 또는 해당 절차와 관련된 청구나 신청 등을 결정으로 각하하여야 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결정은 서면으로 하여야 하며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 이유를 붙여야 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심판장은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단서에 따라 직권보정을 하려면 그 직권보정 사항을 청구인에게 통지하여야 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청구인은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단서에 따른 직권보정 사항을 받아들일 수 없으면 직권보정 사항의 통지를 받은 날부터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 이내에 그 직권보정 사항에 대한 의견서를 심판장에게 제출하여야 한다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⑥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청구인이 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의견서를 제출한 경우에는 해당 직권보정 사항은 처음부터 없었던 것으로 본다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endParaRPr lang="en-US" altLang="ko-KR" sz="10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just" fontAlgn="base" latinLnBrk="0"/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⑦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단서에 따른 직권보정이 명백히 잘못된 경우 그 직권보정은 처음부터 없었던 것으로 본다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305079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7670EB8-03FB-359B-E97C-F983FB7CA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296722"/>
              </p:ext>
            </p:extLst>
          </p:nvPr>
        </p:nvGraphicFramePr>
        <p:xfrm>
          <a:off x="184729" y="4615415"/>
          <a:ext cx="11810046" cy="2124456"/>
        </p:xfrm>
        <a:graphic>
          <a:graphicData uri="http://schemas.openxmlformats.org/drawingml/2006/table">
            <a:tbl>
              <a:tblPr/>
              <a:tblGrid>
                <a:gridCol w="722144">
                  <a:extLst>
                    <a:ext uri="{9D8B030D-6E8A-4147-A177-3AD203B41FA5}">
                      <a16:colId xmlns:a16="http://schemas.microsoft.com/office/drawing/2014/main" val="2108517430"/>
                    </a:ext>
                  </a:extLst>
                </a:gridCol>
                <a:gridCol w="5216021">
                  <a:extLst>
                    <a:ext uri="{9D8B030D-6E8A-4147-A177-3AD203B41FA5}">
                      <a16:colId xmlns:a16="http://schemas.microsoft.com/office/drawing/2014/main" val="2127402726"/>
                    </a:ext>
                  </a:extLst>
                </a:gridCol>
                <a:gridCol w="5871881">
                  <a:extLst>
                    <a:ext uri="{9D8B030D-6E8A-4147-A177-3AD203B41FA5}">
                      <a16:colId xmlns:a16="http://schemas.microsoft.com/office/drawing/2014/main" val="4078270188"/>
                    </a:ext>
                  </a:extLst>
                </a:gridCol>
              </a:tblGrid>
              <a:tr h="17348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제도</a:t>
                      </a: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심사단계에서의 직권보정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66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심판단계에서의 직권보정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141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778266"/>
                  </a:ext>
                </a:extLst>
              </a:tr>
              <a:tr h="17348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요건</a:t>
                      </a: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특허결정을 할 때에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특허출원서에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첨부된 명세서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도면 또는 요약서에 적힌 사항이 명백히 잘못된 경우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신규사항이 추가되지 아니한 범위에서 가능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심판청구서의 보정할 사항이 경미하고 명확한 경우</a:t>
                      </a:r>
                    </a:p>
                  </a:txBody>
                  <a:tcPr marL="17907" marR="17907" marT="17907" marB="17907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116586"/>
                  </a:ext>
                </a:extLst>
              </a:tr>
              <a:tr h="17348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절차</a:t>
                      </a: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25730" marR="17780" indent="-12573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심사관이 직권보정을 하려면 특허결정의 등본 송달과 함께 출원인에게 통지</a:t>
                      </a:r>
                    </a:p>
                    <a:p>
                      <a:pPr marL="115570" marR="17780" indent="-1155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특허출원인은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직권보정 사항의 일부 또는 전부를 받아들일 수 없으면 특허료를 낼 때까지 그 직권보정 사항에 대한 의견서를 지식재산처장에게 제출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심판장이 청구인에게 통지</a:t>
                      </a:r>
                    </a:p>
                    <a:p>
                      <a:pPr marL="134620" marR="17780" indent="-1346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청구인이 받아들일 수 없으면 통지를 받은 날로부터 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일 이내 의견서를 심판장에게 제출</a:t>
                      </a:r>
                    </a:p>
                  </a:txBody>
                  <a:tcPr marL="17907" marR="17907" marT="17907" marB="17907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811015"/>
                  </a:ext>
                </a:extLst>
              </a:tr>
              <a:tr h="17348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효과</a:t>
                      </a:r>
                    </a:p>
                  </a:txBody>
                  <a:tcPr marL="17907" marR="17907" marT="17907" marB="17907" anchor="ctr">
                    <a:lnL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4E4"/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의견서 제출한 경우 </a:t>
                      </a:r>
                    </a:p>
                    <a:p>
                      <a:pPr marL="199390" marR="17780" indent="-1993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① 해당 직권보정사항은 처음부터 없었던 것으로 간주 </a:t>
                      </a:r>
                    </a:p>
                    <a:p>
                      <a:pPr marL="134938" marR="17780" indent="-13493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② 그 특허결정도 함께 취소된 것으로 간주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요약서에 관한 직권보정 사항만 처음부터 없었던 것으로 보는 경우는 제외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의견서를 제출하지 않은 경우 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직권보정 수용한 것으로 취급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직권보정사항이 신규사항을 추가하거나 명백히 잘못되지 아니한 사항을 직권보정한 경우 처음부터 없었던 것으로 간주</a:t>
                      </a:r>
                    </a:p>
                  </a:txBody>
                  <a:tcPr marL="17907" marR="17907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의견서 제출한 경우 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해당 직권보정사항은 처음부터 없었던 것으로 간주 </a:t>
                      </a:r>
                      <a:endParaRPr lang="en-US" altLang="ko-KR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의견서를 제출하지 않은 경우 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직권보정 수용한 것으로 취급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단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직권보정사항이 명백히 잘못된 경우 처음부터 없었던 것으로 간주</a:t>
                      </a:r>
                    </a:p>
                  </a:txBody>
                  <a:tcPr marL="17907" marR="17907" marT="17907" marB="17907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4597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5660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154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심리방식의</a:t>
            </a:r>
            <a:r>
              <a:rPr lang="ko-KR" altLang="en-US" dirty="0"/>
              <a:t> 선택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77875" y="367153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76902"/>
            <a:ext cx="119363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b="1" dirty="0">
                <a:solidFill>
                  <a:srgbClr val="151594"/>
                </a:solidFill>
                <a:latin typeface="+mn-ea"/>
              </a:rPr>
              <a:t>제154조(심리 등)</a:t>
            </a: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 ① 심판은 구술심리 또는 </a:t>
            </a:r>
            <a:r>
              <a:rPr lang="ko-KR" altLang="ko-KR" sz="1400" dirty="0" err="1">
                <a:solidFill>
                  <a:srgbClr val="444444"/>
                </a:solidFill>
                <a:latin typeface="+mn-ea"/>
              </a:rPr>
              <a:t>서면심리로</a:t>
            </a: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 한다. 다만, 당사자가 구술심리를 신청하였을 때에는 서면심리만으로 결정할 수 있다고 인정되는 경우 외에는 구술심리를 하여야 한다. </a:t>
            </a:r>
            <a:endParaRPr lang="ko-KR" altLang="ko-KR" sz="120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② 삭제  </a:t>
            </a:r>
            <a:endParaRPr lang="ko-KR" altLang="ko-KR" sz="120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③ </a:t>
            </a:r>
            <a:r>
              <a:rPr lang="ko-KR" altLang="ko-KR" sz="1400" dirty="0" err="1">
                <a:solidFill>
                  <a:srgbClr val="444444"/>
                </a:solidFill>
                <a:latin typeface="+mn-ea"/>
              </a:rPr>
              <a:t>구술심리는</a:t>
            </a: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 공개하여야 한다. 다만, 공공의 질서 또는 선량한 풍속에 어긋날 우려가 있으면 그러하지 아니하다. </a:t>
            </a:r>
            <a:endParaRPr lang="en-US" altLang="ko-KR" sz="1400" dirty="0">
              <a:solidFill>
                <a:srgbClr val="444444"/>
              </a:solidFill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④ 심판장은 제1항에 따라 </a:t>
            </a:r>
            <a:r>
              <a:rPr lang="ko-KR" altLang="ko-KR" sz="1400" dirty="0" err="1">
                <a:solidFill>
                  <a:srgbClr val="444444"/>
                </a:solidFill>
                <a:latin typeface="+mn-ea"/>
              </a:rPr>
              <a:t>구술심리로</a:t>
            </a: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 심판을 할 경우에는 그 기일 및 장소를 정하고, 그 취지를 적은 서면을 당사자 및 참가인에게 송달하여야 한다. 다만, 해당 사건의 이전 심리에 출석한 당사자 및 참가인에게 알렸을 때에는 그러하지 아니하다.</a:t>
            </a:r>
            <a:endParaRPr lang="ko-KR" altLang="ko-KR" sz="120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⑤ 심판장은 제1항에 따라 </a:t>
            </a:r>
            <a:r>
              <a:rPr lang="ko-KR" altLang="ko-KR" sz="1400" dirty="0" err="1">
                <a:solidFill>
                  <a:srgbClr val="444444"/>
                </a:solidFill>
                <a:latin typeface="+mn-ea"/>
              </a:rPr>
              <a:t>구술심리로</a:t>
            </a: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 심판을 할 경우에는 특허심판원장이 지정한 직원에게 기일마다 심리의 요지와 그 밖에 필요한 사항을 적은 조서를 작성하게 하여야 한다.  </a:t>
            </a:r>
            <a:endParaRPr lang="ko-KR" altLang="ko-KR" sz="120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⑥ 제5항의 조서에는 심판의 심판장 및 조서를 작성한 직원이 기명날인하여야 한다.</a:t>
            </a:r>
            <a:endParaRPr lang="ko-KR" altLang="ko-KR" sz="120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⑦ 제5항의 조서에 관하여는 「민사소송법」 제153조ㆍ제154조 및 제156조부터 제160조까지의 규정을 준용한다</a:t>
            </a:r>
            <a:endParaRPr lang="ko-KR" altLang="ko-KR" sz="120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⑧ 심판에 관하여는 「민사소송법」 제143조ㆍ</a:t>
            </a:r>
            <a:r>
              <a:rPr lang="ko-KR" altLang="ko-KR" sz="1400" dirty="0">
                <a:solidFill>
                  <a:srgbClr val="FF0000"/>
                </a:solidFill>
                <a:latin typeface="+mn-ea"/>
              </a:rPr>
              <a:t>제259조</a:t>
            </a: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ㆍ제299조 및 제367조를 준용한다.</a:t>
            </a:r>
            <a:endParaRPr lang="ko-KR" altLang="ko-KR" sz="1200" dirty="0">
              <a:latin typeface="+mn-ea"/>
            </a:endParaRPr>
          </a:p>
          <a:p>
            <a:pPr lvl="0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⑨ 심판장은 구술심리 중 </a:t>
            </a:r>
            <a:r>
              <a:rPr lang="ko-KR" altLang="ko-KR" sz="1400" dirty="0" err="1">
                <a:solidFill>
                  <a:srgbClr val="444444"/>
                </a:solidFill>
                <a:latin typeface="+mn-ea"/>
              </a:rPr>
              <a:t>심판정</a:t>
            </a:r>
            <a:r>
              <a:rPr lang="ko-KR" altLang="ko-KR" sz="1400" dirty="0">
                <a:solidFill>
                  <a:srgbClr val="444444"/>
                </a:solidFill>
                <a:latin typeface="+mn-ea"/>
              </a:rPr>
              <a:t> 내의 질서를 유지한다.  </a:t>
            </a:r>
            <a:endParaRPr lang="ko-KR" altLang="ko-KR" sz="36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 bwMode="auto">
          <a:xfrm>
            <a:off x="244474" y="4066837"/>
            <a:ext cx="5429251" cy="258070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90000" tIns="46800" rIns="90000" bIns="46800"/>
          <a:lstStyle/>
          <a:p>
            <a:pPr algn="ctr">
              <a:buFont typeface="Wingdings" pitchFamily="2" charset="2"/>
              <a:buNone/>
              <a:defRPr/>
            </a:pPr>
            <a:endParaRPr lang="ko-KR" altLang="en-US" sz="3600">
              <a:solidFill>
                <a:srgbClr val="1C1C1C"/>
              </a:solidFill>
              <a:latin typeface="+mn-ea"/>
            </a:endParaRPr>
          </a:p>
        </p:txBody>
      </p:sp>
      <p:sp>
        <p:nvSpPr>
          <p:cNvPr id="29" name="모서리가 둥근 직사각형 28"/>
          <p:cNvSpPr/>
          <p:nvPr/>
        </p:nvSpPr>
        <p:spPr bwMode="auto">
          <a:xfrm>
            <a:off x="388709" y="3913902"/>
            <a:ext cx="1333500" cy="354434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2000" dirty="0" err="1">
                <a:solidFill>
                  <a:schemeClr val="bg1"/>
                </a:solidFill>
                <a:latin typeface="+mn-ea"/>
              </a:rPr>
              <a:t>심판정</a:t>
            </a:r>
            <a:endParaRPr lang="ko-KR" altLang="en-US" sz="2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1482725" y="4374857"/>
            <a:ext cx="952500" cy="23190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심판관</a:t>
            </a:r>
          </a:p>
        </p:txBody>
      </p:sp>
      <p:sp>
        <p:nvSpPr>
          <p:cNvPr id="31" name="직사각형 30"/>
          <p:cNvSpPr/>
          <p:nvPr/>
        </p:nvSpPr>
        <p:spPr bwMode="auto">
          <a:xfrm>
            <a:off x="2435225" y="4374857"/>
            <a:ext cx="952500" cy="23190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심판장</a:t>
            </a:r>
          </a:p>
        </p:txBody>
      </p:sp>
      <p:sp>
        <p:nvSpPr>
          <p:cNvPr id="32" name="직사각형 31"/>
          <p:cNvSpPr/>
          <p:nvPr/>
        </p:nvSpPr>
        <p:spPr bwMode="auto">
          <a:xfrm>
            <a:off x="3387725" y="4374857"/>
            <a:ext cx="952500" cy="23190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심판관</a:t>
            </a:r>
          </a:p>
        </p:txBody>
      </p:sp>
      <p:sp>
        <p:nvSpPr>
          <p:cNvPr id="33" name="직사각형 32"/>
          <p:cNvSpPr/>
          <p:nvPr/>
        </p:nvSpPr>
        <p:spPr bwMode="auto">
          <a:xfrm>
            <a:off x="1646050" y="5373300"/>
            <a:ext cx="1103488" cy="2319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400">
                <a:solidFill>
                  <a:schemeClr val="tx1"/>
                </a:solidFill>
                <a:latin typeface="+mn-ea"/>
              </a:rPr>
              <a:t>대리인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직사각형 33"/>
          <p:cNvSpPr/>
          <p:nvPr/>
        </p:nvSpPr>
        <p:spPr bwMode="auto">
          <a:xfrm>
            <a:off x="720725" y="4842692"/>
            <a:ext cx="952500" cy="2319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400">
                <a:solidFill>
                  <a:schemeClr val="tx1"/>
                </a:solidFill>
                <a:latin typeface="+mn-ea"/>
              </a:rPr>
              <a:t>직원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직사각형 34"/>
          <p:cNvSpPr/>
          <p:nvPr/>
        </p:nvSpPr>
        <p:spPr bwMode="auto">
          <a:xfrm>
            <a:off x="2435225" y="5902428"/>
            <a:ext cx="952500" cy="2319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400">
                <a:solidFill>
                  <a:schemeClr val="tx1"/>
                </a:solidFill>
                <a:latin typeface="+mn-ea"/>
              </a:rPr>
              <a:t>증언대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 bwMode="auto">
          <a:xfrm>
            <a:off x="1387474" y="6227099"/>
            <a:ext cx="3048000" cy="231906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방청석</a:t>
            </a:r>
          </a:p>
        </p:txBody>
      </p:sp>
      <p:sp>
        <p:nvSpPr>
          <p:cNvPr id="37" name="직사각형 36"/>
          <p:cNvSpPr/>
          <p:nvPr/>
        </p:nvSpPr>
        <p:spPr bwMode="auto">
          <a:xfrm>
            <a:off x="527874" y="5373300"/>
            <a:ext cx="1103488" cy="2319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청구인</a:t>
            </a:r>
          </a:p>
        </p:txBody>
      </p:sp>
      <p:sp>
        <p:nvSpPr>
          <p:cNvPr id="38" name="직사각형 37"/>
          <p:cNvSpPr/>
          <p:nvPr/>
        </p:nvSpPr>
        <p:spPr bwMode="auto">
          <a:xfrm>
            <a:off x="4241050" y="5373300"/>
            <a:ext cx="1103488" cy="2319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피청구인</a:t>
            </a:r>
          </a:p>
        </p:txBody>
      </p:sp>
      <p:sp>
        <p:nvSpPr>
          <p:cNvPr id="43" name="직사각형 42"/>
          <p:cNvSpPr/>
          <p:nvPr/>
        </p:nvSpPr>
        <p:spPr bwMode="auto">
          <a:xfrm>
            <a:off x="3113821" y="5373300"/>
            <a:ext cx="1103488" cy="2319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0000" tIns="46800" rIns="90000" bIns="46800" anchor="ctr"/>
          <a:lstStyle/>
          <a:p>
            <a:pPr algn="ctr">
              <a:buFont typeface="Wingdings" pitchFamily="2" charset="2"/>
              <a:buNone/>
              <a:defRPr/>
            </a:pP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대리인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4052778"/>
              </p:ext>
            </p:extLst>
          </p:nvPr>
        </p:nvGraphicFramePr>
        <p:xfrm>
          <a:off x="6255657" y="4066837"/>
          <a:ext cx="5631543" cy="258070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45900">
                  <a:extLst>
                    <a:ext uri="{9D8B030D-6E8A-4147-A177-3AD203B41FA5}">
                      <a16:colId xmlns:a16="http://schemas.microsoft.com/office/drawing/2014/main" val="4263390905"/>
                    </a:ext>
                  </a:extLst>
                </a:gridCol>
                <a:gridCol w="2579884">
                  <a:extLst>
                    <a:ext uri="{9D8B030D-6E8A-4147-A177-3AD203B41FA5}">
                      <a16:colId xmlns:a16="http://schemas.microsoft.com/office/drawing/2014/main" val="20485101"/>
                    </a:ext>
                  </a:extLst>
                </a:gridCol>
                <a:gridCol w="2305759">
                  <a:extLst>
                    <a:ext uri="{9D8B030D-6E8A-4147-A177-3AD203B41FA5}">
                      <a16:colId xmlns:a16="http://schemas.microsoft.com/office/drawing/2014/main" val="2463989972"/>
                    </a:ext>
                  </a:extLst>
                </a:gridCol>
              </a:tblGrid>
              <a:tr h="506021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구술심리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기술설명회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178946"/>
                  </a:ext>
                </a:extLst>
              </a:tr>
              <a:tr h="50602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대상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무효심판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권리범위확인심판 등</a:t>
                      </a:r>
                      <a:endParaRPr lang="en-US" altLang="ko-K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주로 기술분야 </a:t>
                      </a:r>
                      <a:r>
                        <a:rPr lang="ko-KR" altLang="en-US" sz="1400" dirty="0" err="1"/>
                        <a:t>특허사건</a:t>
                      </a:r>
                      <a:endParaRPr lang="en-US" altLang="ko-K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833196"/>
                  </a:ext>
                </a:extLst>
              </a:tr>
              <a:tr h="156866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절차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2" indent="0" algn="l">
                        <a:defRPr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공개주의</a:t>
                      </a:r>
                      <a:endParaRPr lang="en-US" altLang="ko-KR" sz="1400" dirty="0"/>
                    </a:p>
                    <a:p>
                      <a:pPr marL="0" lvl="2" indent="0" algn="l">
                        <a:defRPr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기일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장소 통지</a:t>
                      </a:r>
                      <a:endParaRPr lang="en-US" altLang="ko-KR" sz="1400" dirty="0"/>
                    </a:p>
                    <a:p>
                      <a:pPr marL="0" lvl="2" indent="0" algn="l">
                        <a:defRPr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조서 작성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기명날인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marL="0" lvl="2" indent="0" algn="l">
                        <a:defRPr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/>
                        <a:t>속기 또는 </a:t>
                      </a:r>
                      <a:r>
                        <a:rPr lang="ko-KR" altLang="en-US" sz="1400" dirty="0" err="1"/>
                        <a:t>녹취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조서의 일부</a:t>
                      </a:r>
                      <a:r>
                        <a:rPr lang="en-US" altLang="ko-KR" sz="14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2" indent="0" algn="l">
                        <a:defRPr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 err="1"/>
                        <a:t>비공개원칙</a:t>
                      </a:r>
                      <a:endParaRPr lang="en-US" altLang="ko-KR" sz="1400" dirty="0"/>
                    </a:p>
                    <a:p>
                      <a:pPr marL="0" lvl="2" indent="0" algn="l">
                        <a:defRPr/>
                      </a:pPr>
                      <a:r>
                        <a:rPr lang="en-US" altLang="ko-KR" sz="1400" dirty="0"/>
                        <a:t>- </a:t>
                      </a:r>
                      <a:r>
                        <a:rPr lang="ko-KR" altLang="en-US" sz="1400" dirty="0" err="1"/>
                        <a:t>쟁점정리</a:t>
                      </a:r>
                      <a:endParaRPr lang="en-US" altLang="ko-KR" sz="1400" dirty="0"/>
                    </a:p>
                    <a:p>
                      <a:pPr algn="l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9765590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448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21481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157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160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직권주의에 의한 심리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438596" y="2499624"/>
            <a:ext cx="788336" cy="688636"/>
          </a:xfrm>
          <a:prstGeom prst="rect">
            <a:avLst/>
          </a:prstGeom>
          <a:solidFill>
            <a:schemeClr val="accent2">
              <a:lumMod val="5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직권</a:t>
            </a:r>
            <a:endParaRPr lang="en-US" altLang="ko-KR" sz="14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주의</a:t>
            </a:r>
            <a:endParaRPr lang="en-US" altLang="ko-KR" sz="1400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1709357" y="1328850"/>
            <a:ext cx="1249743" cy="4144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직권진행주의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709357" y="4758302"/>
            <a:ext cx="1249743" cy="4144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직권탐지주의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7" name="Rectangle 1"/>
          <p:cNvSpPr>
            <a:spLocks noChangeArrowheads="1"/>
          </p:cNvSpPr>
          <p:nvPr/>
        </p:nvSpPr>
        <p:spPr bwMode="auto">
          <a:xfrm>
            <a:off x="3233357" y="4271039"/>
            <a:ext cx="8628443" cy="2515286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000" tIns="72000" rIns="72000" bIns="7200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제157조(증거조사 및 증거보전)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① 심판에서는 당사자, 참가인 또는 이해관계인의 신청에 의하여 또는 직권으로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증거조사나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증거보전을 할 수 있다.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② 제1항에 따른 증거조사 및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증거보전에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관하여는 「민사소송법」 중 증거조사 및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증거보전에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관한 규정을 준용한다. 다만, 심판관은 다음 각 호의 행위는 하지 못한다.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1. 과태료의 결정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2. 구인(拘引)을 명하는 행위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3. 보증금을 공탁하게 하는 행위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③ 증거보전신청은 심판청구 전에는 특허심판원장에게 하고,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심판계속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중에는 그 사건의 심판장에게 하여야 한다.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④ 특허심판원장은 심판청구 전에 제1항에 따른 증거보전신청이 있으면 그 신청에 관여할 심판관을 지정한다.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⑤ 심판장은 제1항에 따라 직권으로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증거조사나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증거보전을 하였을 때에는 그 결과를 당사자, 참가인 또는 이해관계인에게 통지하고, 기간을 정하여 의견서를 제출할 수 있는 기회를 주어야 한다.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 dirty="0">
              <a:ln>
                <a:noFill/>
              </a:ln>
              <a:solidFill>
                <a:srgbClr val="444444"/>
              </a:solidFill>
              <a:effectLst/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제159조(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직권심리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)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① 심판에서는 당사자 또는 참가인이 신청하지 아니한 이유에 대해서도 심리할 수 있다. 이 경우 당사자 및 참가인에게 기간을 정하여 그 이유에 대하여 의견을 진술할 수 있는 기회를 주어야 한다.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② 심판에서는 청구인이 신청하지 아니한 청구의 취지에 대해서는 심리할 수 없다.</a:t>
            </a:r>
          </a:p>
        </p:txBody>
      </p:sp>
      <p:sp>
        <p:nvSpPr>
          <p:cNvPr id="50" name="Rectangle 1"/>
          <p:cNvSpPr>
            <a:spLocks noChangeArrowheads="1"/>
          </p:cNvSpPr>
          <p:nvPr/>
        </p:nvSpPr>
        <p:spPr bwMode="auto">
          <a:xfrm>
            <a:off x="3233357" y="711201"/>
            <a:ext cx="8628443" cy="352101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  <a:effectLst/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  <a:no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제158조(심판의 진행)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심판장은 당사자 또는 참가인이 법정기간 또는 지정기간에 절차를 밟지 아니하거나 제154조제4항에 따른 기일에 출석하지 아니하여도 심판을 진행할 수 있다.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</a:t>
            </a:r>
            <a:endParaRPr kumimoji="0" lang="en-US" altLang="ko-KR" sz="1100" b="0" i="0" u="none" strike="noStrike" cap="none" normalizeH="0" baseline="0" dirty="0">
              <a:ln>
                <a:noFill/>
              </a:ln>
              <a:solidFill>
                <a:srgbClr val="444444"/>
              </a:solidFill>
              <a:effectLst/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100" dirty="0">
              <a:solidFill>
                <a:srgbClr val="000099"/>
              </a:solidFill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100" b="1" i="0" u="none" strike="noStrike" cap="none" normalizeH="0" baseline="0" dirty="0">
                <a:ln>
                  <a:noFill/>
                </a:ln>
                <a:solidFill>
                  <a:srgbClr val="000099"/>
                </a:solidFill>
                <a:effectLst/>
                <a:latin typeface="+mn-ea"/>
              </a:rPr>
              <a:t>제</a:t>
            </a:r>
            <a:r>
              <a:rPr kumimoji="0" lang="en-US" altLang="ko-KR" sz="1100" b="1" i="0" u="none" strike="noStrike" cap="none" normalizeH="0" baseline="0" dirty="0">
                <a:ln>
                  <a:noFill/>
                </a:ln>
                <a:solidFill>
                  <a:srgbClr val="000099"/>
                </a:solidFill>
                <a:effectLst/>
                <a:latin typeface="+mn-ea"/>
              </a:rPr>
              <a:t>158</a:t>
            </a:r>
            <a:r>
              <a:rPr kumimoji="0" lang="ko-KR" altLang="en-US" sz="1100" b="1" i="0" u="none" strike="noStrike" cap="none" normalizeH="0" baseline="0" dirty="0">
                <a:ln>
                  <a:noFill/>
                </a:ln>
                <a:solidFill>
                  <a:srgbClr val="000099"/>
                </a:solidFill>
                <a:effectLst/>
                <a:latin typeface="+mn-ea"/>
              </a:rPr>
              <a:t>조의</a:t>
            </a:r>
            <a:r>
              <a:rPr kumimoji="0" lang="en-US" altLang="ko-KR" sz="1100" b="1" i="0" u="none" strike="noStrike" cap="none" normalizeH="0" baseline="0" dirty="0">
                <a:ln>
                  <a:noFill/>
                </a:ln>
                <a:solidFill>
                  <a:srgbClr val="000099"/>
                </a:solidFill>
                <a:effectLst/>
                <a:latin typeface="+mn-ea"/>
              </a:rPr>
              <a:t>2(</a:t>
            </a:r>
            <a:r>
              <a:rPr kumimoji="0" lang="ko-KR" altLang="en-US" sz="1100" b="1" i="0" u="none" strike="noStrike" cap="none" normalizeH="0" baseline="0" dirty="0">
                <a:ln>
                  <a:noFill/>
                </a:ln>
                <a:solidFill>
                  <a:srgbClr val="000099"/>
                </a:solidFill>
                <a:effectLst/>
                <a:latin typeface="+mn-ea"/>
              </a:rPr>
              <a:t>적시제출주의</a:t>
            </a:r>
            <a:r>
              <a:rPr kumimoji="0" lang="en-US" altLang="ko-KR" sz="1100" b="1" i="0" u="none" strike="noStrike" cap="none" normalizeH="0" baseline="0" dirty="0">
                <a:ln>
                  <a:noFill/>
                </a:ln>
                <a:solidFill>
                  <a:srgbClr val="000099"/>
                </a:solidFill>
                <a:effectLst/>
                <a:latin typeface="+mn-ea"/>
              </a:rPr>
              <a:t>) 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심판절차에서의 주장이나 증거의 제출에 관하여는 「민사소송법」 제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146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조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, 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제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147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조 및 제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149</a:t>
            </a:r>
            <a:r>
              <a:rPr kumimoji="0" lang="ko-KR" altLang="en-US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조를 준용한다</a:t>
            </a:r>
            <a:r>
              <a:rPr kumimoji="0" lang="en-US" altLang="ko-KR" sz="1100" b="0" i="0" u="none" strike="noStrike" cap="none" normalizeH="0" baseline="0" dirty="0">
                <a:ln>
                  <a:noFill/>
                </a:ln>
                <a:effectLst/>
                <a:latin typeface="+mn-ea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100" dirty="0">
              <a:solidFill>
                <a:srgbClr val="FF0000"/>
              </a:solidFill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1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100" b="0" i="0" u="none" strike="noStrike" cap="none" normalizeH="0" baseline="0" dirty="0">
              <a:ln>
                <a:noFill/>
              </a:ln>
              <a:solidFill>
                <a:srgbClr val="444444"/>
              </a:solidFill>
              <a:effectLst/>
              <a:latin typeface="+mn-ea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제160조(</a:t>
            </a:r>
            <a:r>
              <a:rPr kumimoji="0" lang="ko-KR" altLang="ko-KR" sz="1100" b="1" i="0" u="none" strike="noStrike" cap="none" normalizeH="0" baseline="0" dirty="0" err="1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심리ㆍ심결의</a:t>
            </a:r>
            <a:r>
              <a:rPr kumimoji="0" lang="ko-KR" altLang="ko-KR" sz="1100" b="1" i="0" u="none" strike="noStrike" cap="none" normalizeH="0" baseline="0" dirty="0">
                <a:ln>
                  <a:noFill/>
                </a:ln>
                <a:solidFill>
                  <a:srgbClr val="151594"/>
                </a:solidFill>
                <a:effectLst/>
                <a:latin typeface="+mn-ea"/>
              </a:rPr>
              <a:t> 병합 또는 분리)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 심판관은 당사자 양쪽 또는 어느 한쪽이 동일한 둘 이상의 심판에 대하여 심리 또는 </a:t>
            </a:r>
            <a:r>
              <a:rPr kumimoji="0" lang="ko-KR" altLang="ko-KR" sz="1100" b="0" i="0" u="none" strike="noStrike" cap="none" normalizeH="0" baseline="0" dirty="0" err="1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심결을</a:t>
            </a:r>
            <a:r>
              <a:rPr kumimoji="0" lang="ko-KR" altLang="ko-KR" sz="11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+mn-ea"/>
              </a:rPr>
              <a:t> 병합하거나 분리할 수 있다.</a:t>
            </a:r>
          </a:p>
        </p:txBody>
      </p:sp>
      <p:cxnSp>
        <p:nvCxnSpPr>
          <p:cNvPr id="45" name="직선 연결선 44"/>
          <p:cNvCxnSpPr>
            <a:stCxn id="39" idx="3"/>
          </p:cNvCxnSpPr>
          <p:nvPr/>
        </p:nvCxnSpPr>
        <p:spPr>
          <a:xfrm>
            <a:off x="2959100" y="1536096"/>
            <a:ext cx="274257" cy="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>
            <a:stCxn id="41" idx="3"/>
          </p:cNvCxnSpPr>
          <p:nvPr/>
        </p:nvCxnSpPr>
        <p:spPr>
          <a:xfrm>
            <a:off x="2959100" y="4965548"/>
            <a:ext cx="27425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 50"/>
          <p:cNvCxnSpPr>
            <a:stCxn id="24" idx="3"/>
            <a:endCxn id="39" idx="1"/>
          </p:cNvCxnSpPr>
          <p:nvPr/>
        </p:nvCxnSpPr>
        <p:spPr>
          <a:xfrm flipV="1">
            <a:off x="1226932" y="1536096"/>
            <a:ext cx="482425" cy="130784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 52"/>
          <p:cNvCxnSpPr>
            <a:stCxn id="24" idx="3"/>
            <a:endCxn id="41" idx="1"/>
          </p:cNvCxnSpPr>
          <p:nvPr/>
        </p:nvCxnSpPr>
        <p:spPr>
          <a:xfrm>
            <a:off x="1226932" y="2843942"/>
            <a:ext cx="482425" cy="212160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449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63A850E-EF34-41AF-AF9A-14107C9F1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7802120"/>
              </p:ext>
            </p:extLst>
          </p:nvPr>
        </p:nvGraphicFramePr>
        <p:xfrm>
          <a:off x="3326084" y="1602960"/>
          <a:ext cx="8427320" cy="2078228"/>
        </p:xfrm>
        <a:graphic>
          <a:graphicData uri="http://schemas.openxmlformats.org/drawingml/2006/table">
            <a:tbl>
              <a:tblPr/>
              <a:tblGrid>
                <a:gridCol w="4381920">
                  <a:extLst>
                    <a:ext uri="{9D8B030D-6E8A-4147-A177-3AD203B41FA5}">
                      <a16:colId xmlns:a16="http://schemas.microsoft.com/office/drawing/2014/main" val="755012989"/>
                    </a:ext>
                  </a:extLst>
                </a:gridCol>
                <a:gridCol w="4045400">
                  <a:extLst>
                    <a:ext uri="{9D8B030D-6E8A-4147-A177-3AD203B41FA5}">
                      <a16:colId xmlns:a16="http://schemas.microsoft.com/office/drawing/2014/main" val="1700793237"/>
                    </a:ext>
                  </a:extLst>
                </a:gridCol>
              </a:tblGrid>
              <a:tr h="11331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tabLst>
                          <a:tab pos="227330" algn="l"/>
                          <a:tab pos="434340" algn="l"/>
                          <a:tab pos="563880" algn="l"/>
                          <a:tab pos="72263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</a:tabLst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민사소송법 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146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147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및 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149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 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tabLst>
                          <a:tab pos="227330" algn="l"/>
                          <a:tab pos="434340" algn="l"/>
                          <a:tab pos="563880" algn="l"/>
                          <a:tab pos="72263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</a:tabLst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376906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tabLst>
                          <a:tab pos="227330" algn="l"/>
                          <a:tab pos="434340" algn="l"/>
                          <a:tab pos="563880" algn="l"/>
                          <a:tab pos="72263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</a:tabLst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146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적시제출주의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tabLst>
                          <a:tab pos="227330" algn="l"/>
                          <a:tab pos="434340" algn="l"/>
                          <a:tab pos="563880" algn="l"/>
                          <a:tab pos="72263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</a:tabLst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공격 또는 방어의 방법은 소송의 정도에 따라 적절한 시기에 제출하여야 한다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tabLst>
                          <a:tab pos="227330" algn="l"/>
                          <a:tab pos="434340" algn="l"/>
                          <a:tab pos="563880" algn="l"/>
                          <a:tab pos="72263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</a:tabLst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147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제출기간의 제한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8590" marR="0" indent="-14859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tabLst>
                          <a:tab pos="227330" algn="l"/>
                          <a:tab pos="434340" algn="l"/>
                          <a:tab pos="563880" algn="l"/>
                          <a:tab pos="72263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</a:tabLst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① 재판장은 당사자의 의견을 들어 한 쪽 또는 양 쪽 당사자에 대하여 특정한 사항에 관하여 주장을 제출하거나 증거를 신청할 기간을 정할 수 있다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4780" marR="0" indent="-1447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tabLst>
                          <a:tab pos="227330" algn="l"/>
                          <a:tab pos="434340" algn="l"/>
                          <a:tab pos="563880" algn="l"/>
                          <a:tab pos="72263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</a:tabLst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② 당사자가 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항의 기간을 넘긴 때에는 주장을 제출하거나 증거를 신청할 수 없다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다만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당사자가 정당한 사유로 그 기간 이내에 제출 또는 신청하지 못하였다는 것을 소명한 경우에는 그러하지 아니하다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tabLst>
                          <a:tab pos="227330" algn="l"/>
                          <a:tab pos="434340" algn="l"/>
                          <a:tab pos="563880" algn="l"/>
                          <a:tab pos="72263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</a:tabLst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149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실기한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공격ㆍ방어방법의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각하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7320" marR="0" indent="-1473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tabLst>
                          <a:tab pos="227330" algn="l"/>
                          <a:tab pos="434340" algn="l"/>
                          <a:tab pos="563880" algn="l"/>
                          <a:tab pos="72263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</a:tabLst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① 당사자가 제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146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조의 규정을 어기어 고의 또는 중대한 과실로 공격 또는 방어방법을 뒤늦게 제출함으로써 소송의 완결을 지연시키게 하는 것으로 인정할 때에는 법원은 직권으로 또는 상대방의 신청에 따라 결정으로 이를 각하할 수 있다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47320" marR="0" indent="-1473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tabLst>
                          <a:tab pos="227330" algn="l"/>
                          <a:tab pos="434340" algn="l"/>
                          <a:tab pos="563880" algn="l"/>
                          <a:tab pos="72263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</a:tabLst>
                      </a:pP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② 당사자가 제출한 공격 또는 방어방법의 취지가 분명하지 아니한 경우에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당사자가 필요한 설명을 하지 아니하거나 설명할 기일에 출석하지 아니한 때에는 법원은 직권으로 또는 상대방의 신청에 따라 결정으로 이를 각하할 수 있다</a:t>
                      </a:r>
                      <a:r>
                        <a:rPr kumimoji="0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444444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0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444444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5720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0298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159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직권심리의</a:t>
            </a:r>
            <a:r>
              <a:rPr lang="ko-KR" altLang="en-US" dirty="0"/>
              <a:t>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cxnSp>
        <p:nvCxnSpPr>
          <p:cNvPr id="14" name="직선 연결선 13"/>
          <p:cNvCxnSpPr/>
          <p:nvPr/>
        </p:nvCxnSpPr>
        <p:spPr>
          <a:xfrm>
            <a:off x="77875" y="257502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875" y="976902"/>
            <a:ext cx="1193632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심판에서는 청구인이 신청하지 아니한 청구의 취지에 대해서는 심리할 수 없다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159②). </a:t>
            </a:r>
            <a:r>
              <a:rPr lang="ko-KR" altLang="en-US" sz="1400" dirty="0">
                <a:solidFill>
                  <a:schemeClr val="tx2"/>
                </a:solidFill>
              </a:rPr>
              <a:t>청구인이 신청하지 아니한 청구의 취지에 관하여 심리를 하는 것은 청구인의 의사에 반하여 청구의 취지를 변경하는 것으로서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민사소송법상의 처분권주의에 반하는 것이기 때문이다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예를 들어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소극적 </a:t>
            </a:r>
            <a:r>
              <a:rPr lang="ko-KR" altLang="en-US" sz="1400" dirty="0" err="1">
                <a:highlight>
                  <a:srgbClr val="FFFF00"/>
                </a:highlight>
              </a:rPr>
              <a:t>권리범위확인심판청구가</a:t>
            </a:r>
            <a:r>
              <a:rPr lang="ko-KR" altLang="en-US" sz="1400" dirty="0">
                <a:highlight>
                  <a:srgbClr val="FFFF00"/>
                </a:highlight>
              </a:rPr>
              <a:t> 이유가 없으면 그 청구를 배척함에 그쳐야 하고 나아가 적극적으로 그것이 권리범위에 속한다는 내용의 </a:t>
            </a:r>
            <a:r>
              <a:rPr lang="ko-KR" altLang="en-US" sz="1400" dirty="0" err="1">
                <a:highlight>
                  <a:srgbClr val="FFFF00"/>
                </a:highlight>
              </a:rPr>
              <a:t>심결을</a:t>
            </a:r>
            <a:r>
              <a:rPr lang="ko-KR" altLang="en-US" sz="1400" dirty="0">
                <a:highlight>
                  <a:srgbClr val="FFFF00"/>
                </a:highlight>
              </a:rPr>
              <a:t> 한 것은 위법이다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또한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다항의 </a:t>
            </a:r>
            <a:r>
              <a:rPr lang="ko-KR" altLang="en-US" sz="1400" dirty="0" err="1">
                <a:highlight>
                  <a:srgbClr val="FFFF00"/>
                </a:highlight>
              </a:rPr>
              <a:t>청구항</a:t>
            </a:r>
            <a:r>
              <a:rPr lang="ko-KR" altLang="en-US" sz="1400" dirty="0">
                <a:highlight>
                  <a:srgbClr val="FFFF00"/>
                </a:highlight>
              </a:rPr>
              <a:t> 중 하나의 </a:t>
            </a:r>
            <a:r>
              <a:rPr lang="ko-KR" altLang="en-US" sz="1400" dirty="0" err="1">
                <a:highlight>
                  <a:srgbClr val="FFFF00"/>
                </a:highlight>
              </a:rPr>
              <a:t>청구항에</a:t>
            </a:r>
            <a:r>
              <a:rPr lang="ko-KR" altLang="en-US" sz="1400" dirty="0">
                <a:highlight>
                  <a:srgbClr val="FFFF00"/>
                </a:highlight>
              </a:rPr>
              <a:t> 대해서 특허무효심판이 청구된 경우 다른 </a:t>
            </a:r>
            <a:r>
              <a:rPr lang="ko-KR" altLang="en-US" sz="1400" dirty="0" err="1">
                <a:highlight>
                  <a:srgbClr val="FFFF00"/>
                </a:highlight>
              </a:rPr>
              <a:t>청구항에</a:t>
            </a:r>
            <a:r>
              <a:rPr lang="ko-KR" altLang="en-US" sz="1400" dirty="0">
                <a:highlight>
                  <a:srgbClr val="FFFF00"/>
                </a:highlight>
              </a:rPr>
              <a:t> 대해서 </a:t>
            </a:r>
            <a:r>
              <a:rPr lang="ko-KR" altLang="en-US" sz="1400" dirty="0" err="1">
                <a:highlight>
                  <a:srgbClr val="FFFF00"/>
                </a:highlight>
              </a:rPr>
              <a:t>특허무효의</a:t>
            </a:r>
            <a:r>
              <a:rPr lang="ko-KR" altLang="en-US" sz="1400" dirty="0">
                <a:highlight>
                  <a:srgbClr val="FFFF00"/>
                </a:highlight>
              </a:rPr>
              <a:t> 이유가 발견되었다고 하더라도 심판관이 이를 심리할 수는 없다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특허무효심판의 경우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청구항을</a:t>
            </a:r>
            <a:r>
              <a:rPr lang="ko-KR" altLang="en-US" sz="1400" dirty="0">
                <a:solidFill>
                  <a:schemeClr val="tx2"/>
                </a:solidFill>
              </a:rPr>
              <a:t> 달리 하면 청구취지를 달리 하기 때문이다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이는 소송법이 강조하는 「訴 없으면 裁判없다」는 不告不理의 원칙과 일맥상통한다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정정심판을</a:t>
            </a:r>
            <a:r>
              <a:rPr lang="ko-KR" altLang="en-US" sz="1400" dirty="0">
                <a:solidFill>
                  <a:schemeClr val="tx2"/>
                </a:solidFill>
              </a:rPr>
              <a:t> 청구한 것은 일체불가분의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개의 정정사항으로 하여 </a:t>
            </a:r>
            <a:r>
              <a:rPr lang="ko-KR" altLang="en-US" sz="1400" dirty="0" err="1">
                <a:solidFill>
                  <a:schemeClr val="tx2"/>
                </a:solidFill>
              </a:rPr>
              <a:t>정정심판을</a:t>
            </a:r>
            <a:r>
              <a:rPr lang="ko-KR" altLang="en-US" sz="1400" dirty="0">
                <a:solidFill>
                  <a:schemeClr val="tx2"/>
                </a:solidFill>
              </a:rPr>
              <a:t> 청구한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그러므로 </a:t>
            </a:r>
            <a:r>
              <a:rPr lang="ko-KR" altLang="en-US" sz="1400" dirty="0">
                <a:highlight>
                  <a:srgbClr val="FFFF00"/>
                </a:highlight>
              </a:rPr>
              <a:t>명세서의 일부에 대하여 정정을 인정 또는 </a:t>
            </a:r>
            <a:r>
              <a:rPr lang="ko-KR" altLang="en-US" sz="1400" dirty="0" err="1">
                <a:highlight>
                  <a:srgbClr val="FFFF00"/>
                </a:highlight>
              </a:rPr>
              <a:t>불인정하는</a:t>
            </a:r>
            <a:r>
              <a:rPr lang="ko-KR" altLang="en-US" sz="1400" dirty="0">
                <a:highlight>
                  <a:srgbClr val="FFFF00"/>
                </a:highlight>
              </a:rPr>
              <a:t> 것은 결국 </a:t>
            </a:r>
            <a:r>
              <a:rPr lang="en-US" altLang="ko-KR" sz="1400" dirty="0">
                <a:highlight>
                  <a:srgbClr val="FFFF00"/>
                </a:highlight>
              </a:rPr>
              <a:t>1</a:t>
            </a:r>
            <a:r>
              <a:rPr lang="ko-KR" altLang="en-US" sz="1400" dirty="0">
                <a:highlight>
                  <a:srgbClr val="FFFF00"/>
                </a:highlight>
              </a:rPr>
              <a:t>개의 기술적 사상인 발명을 분리하여 판단하는 것이 되며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청구인이 신청하지 아니한 취지에 대하여 심리하는 것이 되므로 </a:t>
            </a:r>
            <a:r>
              <a:rPr lang="ko-KR" altLang="en-US" sz="1400" dirty="0" err="1">
                <a:highlight>
                  <a:srgbClr val="FFFF00"/>
                </a:highlight>
              </a:rPr>
              <a:t>일부인용</a:t>
            </a:r>
            <a:r>
              <a:rPr lang="ko-KR" altLang="en-US" sz="1400" dirty="0">
                <a:highlight>
                  <a:srgbClr val="FFFF00"/>
                </a:highlight>
              </a:rPr>
              <a:t> 또는 일부기각심결은 인정되지 아니한다고 할 것이다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658" y="3351156"/>
            <a:ext cx="4007828" cy="30008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 anchor="ctr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청구인 성명 및 주소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피청구인 성명 및 주소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 err="1"/>
              <a:t>심판사건의</a:t>
            </a:r>
            <a:r>
              <a:rPr lang="ko-KR" altLang="en-US" sz="1400" dirty="0"/>
              <a:t> 표시</a:t>
            </a:r>
            <a:r>
              <a:rPr lang="en-US" altLang="ko-KR" sz="1400" dirty="0"/>
              <a:t>: </a:t>
            </a:r>
            <a:r>
              <a:rPr lang="ko-KR" altLang="en-US" sz="1400" dirty="0"/>
              <a:t>특허 제</a:t>
            </a:r>
            <a:r>
              <a:rPr lang="en-US" altLang="ko-KR" sz="1400" dirty="0"/>
              <a:t>1234567</a:t>
            </a:r>
            <a:r>
              <a:rPr lang="ko-KR" altLang="en-US" sz="1400" dirty="0"/>
              <a:t>호의 무효심판</a:t>
            </a:r>
            <a:endParaRPr lang="en-US" altLang="ko-KR" sz="1400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청구의 취지</a:t>
            </a:r>
            <a:r>
              <a:rPr lang="en-US" altLang="ko-KR" sz="1400" dirty="0"/>
              <a:t>: 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 - </a:t>
            </a:r>
            <a:r>
              <a:rPr lang="ko-KR" altLang="en-US" sz="1400" dirty="0"/>
              <a:t>제</a:t>
            </a:r>
            <a:r>
              <a:rPr lang="en-US" altLang="ko-KR" sz="1400" dirty="0"/>
              <a:t>1</a:t>
            </a:r>
            <a:r>
              <a:rPr lang="ko-KR" altLang="en-US" sz="1400" dirty="0"/>
              <a:t>항 내지 제</a:t>
            </a:r>
            <a:r>
              <a:rPr lang="en-US" altLang="ko-KR" sz="1400" dirty="0"/>
              <a:t>3</a:t>
            </a:r>
            <a:r>
              <a:rPr lang="ko-KR" altLang="en-US" sz="1400" dirty="0"/>
              <a:t>항은 무효이다</a:t>
            </a:r>
            <a:r>
              <a:rPr lang="en-US" altLang="ko-KR" sz="1400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 - </a:t>
            </a:r>
            <a:r>
              <a:rPr lang="ko-KR" altLang="en-US" sz="1400" dirty="0" err="1"/>
              <a:t>심판비용은</a:t>
            </a:r>
            <a:r>
              <a:rPr lang="ko-KR" altLang="en-US" sz="1400" dirty="0"/>
              <a:t> 피청구인이 부담한다</a:t>
            </a:r>
            <a:r>
              <a:rPr lang="en-US" altLang="ko-KR" sz="1400" dirty="0"/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sz="1400" dirty="0"/>
              <a:t>청구의 이유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 - </a:t>
            </a:r>
            <a:r>
              <a:rPr lang="ko-KR" altLang="en-US" sz="1400" dirty="0"/>
              <a:t>제</a:t>
            </a:r>
            <a:r>
              <a:rPr lang="en-US" altLang="ko-KR" sz="1400" dirty="0"/>
              <a:t>1</a:t>
            </a:r>
            <a:r>
              <a:rPr lang="ko-KR" altLang="en-US" sz="1400" dirty="0"/>
              <a:t>항</a:t>
            </a:r>
            <a:r>
              <a:rPr lang="en-US" altLang="ko-KR" sz="1400" dirty="0"/>
              <a:t>: </a:t>
            </a:r>
            <a:r>
              <a:rPr lang="ko-KR" altLang="en-US" sz="1400" dirty="0"/>
              <a:t>제</a:t>
            </a:r>
            <a:r>
              <a:rPr lang="en-US" altLang="ko-KR" sz="1400" dirty="0"/>
              <a:t>42</a:t>
            </a:r>
            <a:r>
              <a:rPr lang="ko-KR" altLang="en-US" sz="1400" dirty="0"/>
              <a:t>조제</a:t>
            </a:r>
            <a:r>
              <a:rPr lang="en-US" altLang="ko-KR" sz="1400" dirty="0"/>
              <a:t>4</a:t>
            </a:r>
            <a:r>
              <a:rPr lang="ko-KR" altLang="en-US" sz="1400" dirty="0" err="1"/>
              <a:t>항제</a:t>
            </a:r>
            <a:r>
              <a:rPr lang="en-US" altLang="ko-KR" sz="1400" dirty="0"/>
              <a:t>2</a:t>
            </a:r>
            <a:r>
              <a:rPr lang="ko-KR" altLang="en-US" sz="1400" dirty="0"/>
              <a:t>호 위반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     - </a:t>
            </a:r>
            <a:r>
              <a:rPr lang="ko-KR" altLang="en-US" sz="1400" dirty="0"/>
              <a:t>제</a:t>
            </a:r>
            <a:r>
              <a:rPr lang="en-US" altLang="ko-KR" sz="1400" dirty="0"/>
              <a:t>2</a:t>
            </a:r>
            <a:r>
              <a:rPr lang="ko-KR" altLang="en-US" sz="1400" dirty="0"/>
              <a:t>항 및 제</a:t>
            </a:r>
            <a:r>
              <a:rPr lang="en-US" altLang="ko-KR" sz="1400" dirty="0"/>
              <a:t>3</a:t>
            </a:r>
            <a:r>
              <a:rPr lang="ko-KR" altLang="en-US" sz="1400" dirty="0"/>
              <a:t>항</a:t>
            </a:r>
            <a:r>
              <a:rPr lang="en-US" altLang="ko-KR" sz="1400" dirty="0"/>
              <a:t>: </a:t>
            </a:r>
            <a:r>
              <a:rPr lang="ko-KR" altLang="en-US" sz="1400" dirty="0"/>
              <a:t>제</a:t>
            </a:r>
            <a:r>
              <a:rPr lang="en-US" altLang="ko-KR" sz="1400" dirty="0"/>
              <a:t>29</a:t>
            </a:r>
            <a:r>
              <a:rPr lang="ko-KR" altLang="en-US" sz="1400" dirty="0"/>
              <a:t>조제</a:t>
            </a:r>
            <a:r>
              <a:rPr lang="en-US" altLang="ko-KR" sz="1400" dirty="0"/>
              <a:t>1</a:t>
            </a:r>
            <a:r>
              <a:rPr lang="ko-KR" altLang="en-US" sz="1400" dirty="0"/>
              <a:t>항 위반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01658" y="3026004"/>
            <a:ext cx="2003914" cy="325152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심판청구서</a:t>
            </a:r>
            <a:endParaRPr lang="ko-KR" altLang="en-US" dirty="0"/>
          </a:p>
        </p:txBody>
      </p:sp>
      <p:sp>
        <p:nvSpPr>
          <p:cNvPr id="7" name="오른쪽 화살표 6"/>
          <p:cNvSpPr/>
          <p:nvPr/>
        </p:nvSpPr>
        <p:spPr>
          <a:xfrm>
            <a:off x="4838411" y="3657599"/>
            <a:ext cx="1053341" cy="2215299"/>
          </a:xfrm>
          <a:prstGeom prst="rightArrow">
            <a:avLst>
              <a:gd name="adj1" fmla="val 67872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직권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심리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5324" y="4015818"/>
            <a:ext cx="318228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1</a:t>
            </a:r>
            <a:r>
              <a:rPr lang="ko-KR" altLang="en-US" dirty="0"/>
              <a:t>항이 제</a:t>
            </a:r>
            <a:r>
              <a:rPr lang="en-US" altLang="ko-KR" dirty="0"/>
              <a:t>42</a:t>
            </a:r>
            <a:r>
              <a:rPr lang="ko-KR" altLang="en-US" dirty="0"/>
              <a:t>조제</a:t>
            </a:r>
            <a:r>
              <a:rPr lang="en-US" altLang="ko-KR" dirty="0"/>
              <a:t>8</a:t>
            </a:r>
            <a:r>
              <a:rPr lang="ko-KR" altLang="en-US" dirty="0"/>
              <a:t>항 위반이다</a:t>
            </a:r>
            <a:r>
              <a:rPr lang="en-US" altLang="ko-KR" dirty="0"/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5324" y="4572946"/>
            <a:ext cx="3182281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 dirty="0"/>
              <a:t>항이 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 위반이다</a:t>
            </a:r>
            <a:r>
              <a:rPr lang="en-US" altLang="ko-KR" dirty="0"/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5324" y="5158353"/>
            <a:ext cx="318228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4</a:t>
            </a:r>
            <a:r>
              <a:rPr lang="ko-KR" altLang="en-US" dirty="0"/>
              <a:t>항이 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/>
              <a:t>항 위반이다</a:t>
            </a:r>
            <a:r>
              <a:rPr lang="en-US" altLang="ko-KR" dirty="0"/>
              <a:t>.</a:t>
            </a:r>
          </a:p>
        </p:txBody>
      </p:sp>
      <p:sp>
        <p:nvSpPr>
          <p:cNvPr id="22" name="도넛 21"/>
          <p:cNvSpPr/>
          <p:nvPr/>
        </p:nvSpPr>
        <p:spPr>
          <a:xfrm>
            <a:off x="9762043" y="4590622"/>
            <a:ext cx="368116" cy="351656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6" name="곱셈 기호 25"/>
          <p:cNvSpPr/>
          <p:nvPr/>
        </p:nvSpPr>
        <p:spPr>
          <a:xfrm>
            <a:off x="9640757" y="3906434"/>
            <a:ext cx="573921" cy="602794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곱셈 기호 26"/>
          <p:cNvSpPr/>
          <p:nvPr/>
        </p:nvSpPr>
        <p:spPr>
          <a:xfrm>
            <a:off x="9640757" y="5041622"/>
            <a:ext cx="573921" cy="602794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모서리가 둥근 사각형 설명선 8"/>
          <p:cNvSpPr/>
          <p:nvPr/>
        </p:nvSpPr>
        <p:spPr>
          <a:xfrm>
            <a:off x="9287863" y="3357446"/>
            <a:ext cx="2247236" cy="376316"/>
          </a:xfrm>
          <a:prstGeom prst="wedgeRoundRectCallout">
            <a:avLst>
              <a:gd name="adj1" fmla="val -21387"/>
              <a:gd name="adj2" fmla="val 105357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특허무효사유 제외</a:t>
            </a:r>
          </a:p>
        </p:txBody>
      </p:sp>
      <p:sp>
        <p:nvSpPr>
          <p:cNvPr id="28" name="모서리가 둥근 사각형 설명선 27"/>
          <p:cNvSpPr/>
          <p:nvPr/>
        </p:nvSpPr>
        <p:spPr>
          <a:xfrm>
            <a:off x="7514807" y="5947706"/>
            <a:ext cx="2247236" cy="376316"/>
          </a:xfrm>
          <a:prstGeom prst="wedgeRoundRectCallout">
            <a:avLst>
              <a:gd name="adj1" fmla="val 50764"/>
              <a:gd name="adj2" fmla="val -145146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신청하지 아니한 취지</a:t>
            </a:r>
          </a:p>
        </p:txBody>
      </p:sp>
    </p:spTree>
    <p:extLst>
      <p:ext uri="{BB962C8B-B14F-4D97-AF65-F5344CB8AC3E}">
        <p14:creationId xmlns:p14="http://schemas.microsoft.com/office/powerpoint/2010/main" val="39896185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76711-FC5E-0265-01C8-5FEB1472C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B3B6E78-6751-81DD-E6F0-873FC2B8CC90}"/>
              </a:ext>
            </a:extLst>
          </p:cNvPr>
          <p:cNvCxnSpPr/>
          <p:nvPr/>
        </p:nvCxnSpPr>
        <p:spPr>
          <a:xfrm>
            <a:off x="417766" y="2481446"/>
            <a:ext cx="11358696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A724BF9-8A66-6A6E-1CFC-0E088D07BE46}"/>
              </a:ext>
            </a:extLst>
          </p:cNvPr>
          <p:cNvSpPr txBox="1"/>
          <p:nvPr/>
        </p:nvSpPr>
        <p:spPr>
          <a:xfrm>
            <a:off x="2516065" y="2250613"/>
            <a:ext cx="923706" cy="46166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/>
              <a:t>심결</a:t>
            </a:r>
            <a:endParaRPr lang="ko-KR" alt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6A28B1-3B07-DCF3-F23D-C00C926D894B}"/>
              </a:ext>
            </a:extLst>
          </p:cNvPr>
          <p:cNvSpPr txBox="1"/>
          <p:nvPr/>
        </p:nvSpPr>
        <p:spPr>
          <a:xfrm>
            <a:off x="4284707" y="2250613"/>
            <a:ext cx="1019748" cy="46166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등본송달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4AF879-C081-F71D-8AB4-2874E8C2660F}"/>
              </a:ext>
            </a:extLst>
          </p:cNvPr>
          <p:cNvSpPr txBox="1"/>
          <p:nvPr/>
        </p:nvSpPr>
        <p:spPr>
          <a:xfrm>
            <a:off x="9537614" y="2250613"/>
            <a:ext cx="1492336" cy="461665"/>
          </a:xfrm>
          <a:prstGeom prst="roundRect">
            <a:avLst>
              <a:gd name="adj" fmla="val 50000"/>
            </a:avLst>
          </a:prstGeom>
          <a:solidFill>
            <a:schemeClr val="bg2">
              <a:lumMod val="1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rgbClr val="FFFF00"/>
                </a:solidFill>
              </a:rPr>
              <a:t>동일심판청구</a:t>
            </a:r>
            <a:r>
              <a:rPr lang="en-US" altLang="ko-KR" sz="1400" dirty="0">
                <a:solidFill>
                  <a:srgbClr val="FFFF00"/>
                </a:solidFill>
              </a:rPr>
              <a:t>X</a:t>
            </a:r>
            <a:endParaRPr lang="ko-KR" altLang="en-US" sz="1400" dirty="0">
              <a:solidFill>
                <a:srgbClr val="FFFF00"/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C780F3-6D5E-7E9E-2B0E-540E4960F67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451</a:t>
            </a:r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3B92621-1527-0AA4-A7B9-0FEAEE530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163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EB55F4-069A-15CF-7A81-A905B1DC64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심결의</a:t>
            </a:r>
            <a:r>
              <a:rPr lang="ko-KR" altLang="en-US" dirty="0"/>
              <a:t> 효력</a:t>
            </a: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D3BD0B1A-46D0-B530-C476-3DA7F0CF344F}"/>
              </a:ext>
            </a:extLst>
          </p:cNvPr>
          <p:cNvCxnSpPr>
            <a:cxnSpLocks/>
            <a:stCxn id="22" idx="0"/>
            <a:endCxn id="44" idx="0"/>
          </p:cNvCxnSpPr>
          <p:nvPr/>
        </p:nvCxnSpPr>
        <p:spPr>
          <a:xfrm rot="5400000" flipH="1" flipV="1">
            <a:off x="6222927" y="822267"/>
            <a:ext cx="12700" cy="2856692"/>
          </a:xfrm>
          <a:prstGeom prst="bentConnector3">
            <a:avLst>
              <a:gd name="adj1" fmla="val 30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C2FFA2E-3612-C524-7210-888902DE7824}"/>
              </a:ext>
            </a:extLst>
          </p:cNvPr>
          <p:cNvSpPr txBox="1"/>
          <p:nvPr/>
        </p:nvSpPr>
        <p:spPr>
          <a:xfrm>
            <a:off x="5806674" y="1483037"/>
            <a:ext cx="923706" cy="46166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400" dirty="0"/>
              <a:t>30</a:t>
            </a:r>
            <a:r>
              <a:rPr lang="ko-KR" altLang="en-US" sz="1400" dirty="0"/>
              <a:t>일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F477105-BC63-74FF-C3A7-59A9EA51234B}"/>
              </a:ext>
            </a:extLst>
          </p:cNvPr>
          <p:cNvSpPr/>
          <p:nvPr/>
        </p:nvSpPr>
        <p:spPr>
          <a:xfrm>
            <a:off x="2708606" y="3267075"/>
            <a:ext cx="1104900" cy="316184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기속력</a:t>
            </a:r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C923437F-5963-8507-E4FE-C33177CB83C6}"/>
              </a:ext>
            </a:extLst>
          </p:cNvPr>
          <p:cNvCxnSpPr>
            <a:cxnSpLocks/>
            <a:stCxn id="30" idx="0"/>
            <a:endCxn id="22" idx="2"/>
          </p:cNvCxnSpPr>
          <p:nvPr/>
        </p:nvCxnSpPr>
        <p:spPr>
          <a:xfrm rot="5400000" flipH="1" flipV="1">
            <a:off x="3750420" y="2222915"/>
            <a:ext cx="554797" cy="15335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C15220A-7216-023F-20AD-79A75483BAB7}"/>
              </a:ext>
            </a:extLst>
          </p:cNvPr>
          <p:cNvSpPr/>
          <p:nvPr/>
        </p:nvSpPr>
        <p:spPr>
          <a:xfrm>
            <a:off x="1679154" y="3583260"/>
            <a:ext cx="3197646" cy="86725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심결등본이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당사자 등에게 송달되어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심결이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성립하면</a:t>
            </a:r>
            <a:r>
              <a:rPr lang="en-US" altLang="ko-KR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심결한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심판기관 자신도 그 내용을 철회하거나 변경하는 것이 허용되지 않은 것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A391666-A2B5-C68F-F4CA-40849B4D50B6}"/>
              </a:ext>
            </a:extLst>
          </p:cNvPr>
          <p:cNvSpPr/>
          <p:nvPr/>
        </p:nvSpPr>
        <p:spPr>
          <a:xfrm>
            <a:off x="5988712" y="3914775"/>
            <a:ext cx="1497938" cy="3475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형식적 </a:t>
            </a:r>
            <a:r>
              <a:rPr lang="ko-KR" altLang="en-US" sz="1400" dirty="0" err="1"/>
              <a:t>확정력</a:t>
            </a:r>
            <a:endParaRPr lang="ko-KR" altLang="en-US" sz="1400" dirty="0"/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C8819E07-9E3A-C9FC-9B1B-C50F5C783479}"/>
              </a:ext>
            </a:extLst>
          </p:cNvPr>
          <p:cNvCxnSpPr>
            <a:cxnSpLocks/>
            <a:stCxn id="34" idx="0"/>
            <a:endCxn id="44" idx="2"/>
          </p:cNvCxnSpPr>
          <p:nvPr/>
        </p:nvCxnSpPr>
        <p:spPr>
          <a:xfrm rot="5400000" flipH="1" flipV="1">
            <a:off x="6593229" y="2856731"/>
            <a:ext cx="1202497" cy="9135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CD49F81-E628-F7FA-4347-6EAEE752ACDB}"/>
              </a:ext>
            </a:extLst>
          </p:cNvPr>
          <p:cNvSpPr/>
          <p:nvPr/>
        </p:nvSpPr>
        <p:spPr>
          <a:xfrm>
            <a:off x="5261306" y="4262313"/>
            <a:ext cx="2959884" cy="60496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그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심결이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확정되어 재심사유가 없는 한 그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심결을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취소ㆍ변경할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수 없는 것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81DF44E-D216-FC46-3BF3-D6314BBE4046}"/>
              </a:ext>
            </a:extLst>
          </p:cNvPr>
          <p:cNvSpPr/>
          <p:nvPr/>
        </p:nvSpPr>
        <p:spPr>
          <a:xfrm>
            <a:off x="9234346" y="4494885"/>
            <a:ext cx="1497938" cy="3475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실질적 </a:t>
            </a:r>
            <a:r>
              <a:rPr lang="ko-KR" altLang="en-US" sz="1400" dirty="0" err="1"/>
              <a:t>확정력</a:t>
            </a:r>
            <a:endParaRPr lang="ko-KR" altLang="en-US" sz="1400" dirty="0"/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74DE92F8-9137-3360-EABE-8D0C6ED4C1FF}"/>
              </a:ext>
            </a:extLst>
          </p:cNvPr>
          <p:cNvCxnSpPr>
            <a:cxnSpLocks/>
            <a:stCxn id="39" idx="0"/>
            <a:endCxn id="23" idx="2"/>
          </p:cNvCxnSpPr>
          <p:nvPr/>
        </p:nvCxnSpPr>
        <p:spPr>
          <a:xfrm rot="5400000" flipH="1" flipV="1">
            <a:off x="9242245" y="3453349"/>
            <a:ext cx="1782607" cy="30046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FE1A622-07E3-B927-3B12-50499C1118E3}"/>
              </a:ext>
            </a:extLst>
          </p:cNvPr>
          <p:cNvSpPr/>
          <p:nvPr/>
        </p:nvSpPr>
        <p:spPr>
          <a:xfrm>
            <a:off x="8611715" y="4842423"/>
            <a:ext cx="2732560" cy="6820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형식적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확정력이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생긴 이후에 그 </a:t>
            </a:r>
            <a:r>
              <a:rPr lang="ko-KR" altLang="en-US" sz="12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심결의</a:t>
            </a:r>
            <a:r>
              <a:rPr lang="ko-KR" altLang="en-US" sz="1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내용에 대해서도 더 이상 다툴 수 없는 것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9C17F1-F7DF-1B4E-00AA-8ACBFA747DA2}"/>
              </a:ext>
            </a:extLst>
          </p:cNvPr>
          <p:cNvSpPr txBox="1"/>
          <p:nvPr/>
        </p:nvSpPr>
        <p:spPr>
          <a:xfrm>
            <a:off x="7189420" y="2250613"/>
            <a:ext cx="923706" cy="46166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확정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D5BBB81-21E3-C376-AA80-A3F6AEA84108}"/>
              </a:ext>
            </a:extLst>
          </p:cNvPr>
          <p:cNvSpPr txBox="1"/>
          <p:nvPr/>
        </p:nvSpPr>
        <p:spPr>
          <a:xfrm>
            <a:off x="713801" y="2250613"/>
            <a:ext cx="1019748" cy="461665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심판청구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BDA99CE-EC79-E96E-87D2-B790A4FD38D0}"/>
              </a:ext>
            </a:extLst>
          </p:cNvPr>
          <p:cNvSpPr/>
          <p:nvPr/>
        </p:nvSpPr>
        <p:spPr>
          <a:xfrm>
            <a:off x="2066925" y="2438404"/>
            <a:ext cx="76381" cy="763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DDDF35C1-8F17-6EDE-1897-78D156EC69F8}"/>
              </a:ext>
            </a:extLst>
          </p:cNvPr>
          <p:cNvSpPr/>
          <p:nvPr/>
        </p:nvSpPr>
        <p:spPr>
          <a:xfrm>
            <a:off x="3853319" y="2438404"/>
            <a:ext cx="76381" cy="7638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1FBC57B6-4B57-5157-F393-86A1BA3D0BED}"/>
              </a:ext>
            </a:extLst>
          </p:cNvPr>
          <p:cNvCxnSpPr>
            <a:stCxn id="6" idx="7"/>
            <a:endCxn id="8" idx="0"/>
          </p:cNvCxnSpPr>
          <p:nvPr/>
        </p:nvCxnSpPr>
        <p:spPr>
          <a:xfrm rot="5400000" flipH="1" flipV="1">
            <a:off x="3006222" y="1564302"/>
            <a:ext cx="11186" cy="1759390"/>
          </a:xfrm>
          <a:prstGeom prst="bentConnector3">
            <a:avLst>
              <a:gd name="adj1" fmla="val 509837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7A6CF7A-ABC7-151C-AF71-6D3694459E08}"/>
              </a:ext>
            </a:extLst>
          </p:cNvPr>
          <p:cNvSpPr txBox="1"/>
          <p:nvPr/>
        </p:nvSpPr>
        <p:spPr>
          <a:xfrm>
            <a:off x="1536700" y="1483037"/>
            <a:ext cx="2844800" cy="461665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/>
              <a:t>심리종결통지일로부터 </a:t>
            </a:r>
            <a:r>
              <a:rPr lang="en-US" altLang="ko-KR" sz="1400" dirty="0"/>
              <a:t>20</a:t>
            </a:r>
            <a:r>
              <a:rPr lang="ko-KR" altLang="en-US" sz="1400" dirty="0"/>
              <a:t>일 이내</a:t>
            </a:r>
          </a:p>
        </p:txBody>
      </p:sp>
    </p:spTree>
    <p:extLst>
      <p:ext uri="{BB962C8B-B14F-4D97-AF65-F5344CB8AC3E}">
        <p14:creationId xmlns:p14="http://schemas.microsoft.com/office/powerpoint/2010/main" val="3430716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163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중복심판청구금지의 원칙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vs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일사부재리의 원칙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89D524D-8A5A-4384-929E-76597B7ED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405791"/>
              </p:ext>
            </p:extLst>
          </p:nvPr>
        </p:nvGraphicFramePr>
        <p:xfrm>
          <a:off x="655874" y="1216659"/>
          <a:ext cx="10597584" cy="518392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65109">
                  <a:extLst>
                    <a:ext uri="{9D8B030D-6E8A-4147-A177-3AD203B41FA5}">
                      <a16:colId xmlns:a16="http://schemas.microsoft.com/office/drawing/2014/main" val="3694901525"/>
                    </a:ext>
                  </a:extLst>
                </a:gridCol>
                <a:gridCol w="679009">
                  <a:extLst>
                    <a:ext uri="{9D8B030D-6E8A-4147-A177-3AD203B41FA5}">
                      <a16:colId xmlns:a16="http://schemas.microsoft.com/office/drawing/2014/main" val="3637794640"/>
                    </a:ext>
                  </a:extLst>
                </a:gridCol>
                <a:gridCol w="4227969">
                  <a:extLst>
                    <a:ext uri="{9D8B030D-6E8A-4147-A177-3AD203B41FA5}">
                      <a16:colId xmlns:a16="http://schemas.microsoft.com/office/drawing/2014/main" val="4184471878"/>
                    </a:ext>
                  </a:extLst>
                </a:gridCol>
                <a:gridCol w="4825497">
                  <a:extLst>
                    <a:ext uri="{9D8B030D-6E8A-4147-A177-3AD203B41FA5}">
                      <a16:colId xmlns:a16="http://schemas.microsoft.com/office/drawing/2014/main" val="3985388281"/>
                    </a:ext>
                  </a:extLst>
                </a:gridCol>
              </a:tblGrid>
              <a:tr h="46851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요건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일사부재리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중복심판청구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970672"/>
                  </a:ext>
                </a:extLst>
              </a:tr>
              <a:tr h="654637">
                <a:tc rowSpan="4"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내용</a:t>
                      </a:r>
                    </a:p>
                  </a:txBody>
                  <a:tcPr anchor="ctr"/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본안심결</a:t>
                      </a:r>
                      <a:r>
                        <a:rPr lang="ko-KR" altLang="en-US" sz="1400" dirty="0"/>
                        <a:t> 확정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특허심판이 계속 중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특허법원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대법원 계속 중도 포함</a:t>
                      </a:r>
                      <a:r>
                        <a:rPr lang="en-US" altLang="ko-KR" sz="1400" dirty="0"/>
                        <a:t>(2013</a:t>
                      </a:r>
                      <a:r>
                        <a:rPr lang="ko-KR" altLang="en-US" sz="1400" dirty="0"/>
                        <a:t>허</a:t>
                      </a:r>
                      <a:r>
                        <a:rPr lang="en-US" altLang="ko-KR" sz="1400" dirty="0"/>
                        <a:t>9805))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2781965"/>
                  </a:ext>
                </a:extLst>
              </a:tr>
              <a:tr h="46851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누구든지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동일 당사자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6217390"/>
                  </a:ext>
                </a:extLst>
              </a:tr>
              <a:tr h="46851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동일사실 및 동일증거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-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1390536"/>
                  </a:ext>
                </a:extLst>
              </a:tr>
              <a:tr h="654637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동일심판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적극적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vs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소극적 권리범위확인심판을 </a:t>
                      </a:r>
                      <a:endParaRPr lang="en-US" altLang="ko-KR" sz="1400" dirty="0">
                        <a:solidFill>
                          <a:srgbClr val="FF0000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동일심판으로 인정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(75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후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18))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동일심판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적극적 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vs 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소극적 권리범위확인심판이 동일심판인지에 대하여 판례 나뉨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(2008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허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12289, 2016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허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2249))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542189"/>
                  </a:ext>
                </a:extLst>
              </a:tr>
              <a:tr h="468515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판단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주체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심판관합의체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5173183"/>
                  </a:ext>
                </a:extLst>
              </a:tr>
              <a:tr h="46851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객체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당사자계 심판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당사자계 심판</a:t>
                      </a:r>
                      <a:r>
                        <a:rPr lang="en-US" altLang="ko-KR" sz="1400" dirty="0"/>
                        <a:t>+</a:t>
                      </a:r>
                      <a:r>
                        <a:rPr lang="ko-KR" altLang="en-US" sz="1400" dirty="0" err="1"/>
                        <a:t>결정계</a:t>
                      </a:r>
                      <a:r>
                        <a:rPr lang="ko-KR" altLang="en-US" sz="1400" dirty="0"/>
                        <a:t> 심판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062868"/>
                  </a:ext>
                </a:extLst>
              </a:tr>
              <a:tr h="46851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시기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rgbClr val="FF0000"/>
                          </a:solidFill>
                        </a:rPr>
                        <a:t>심결시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(2018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후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11360)</a:t>
                      </a:r>
                    </a:p>
                    <a:p>
                      <a:pPr algn="ctr" latinLnBrk="1"/>
                      <a:r>
                        <a:rPr lang="ko-KR" altLang="en-US" sz="1400" dirty="0"/>
                        <a:t>단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 err="1"/>
                        <a:t>선행심결의</a:t>
                      </a:r>
                      <a:r>
                        <a:rPr lang="ko-KR" altLang="en-US" sz="1400" dirty="0"/>
                        <a:t> 확정시점은 심판청구시</a:t>
                      </a:r>
                      <a:r>
                        <a:rPr lang="en-US" altLang="ko-KR" sz="1400" dirty="0"/>
                        <a:t>(2009</a:t>
                      </a:r>
                      <a:r>
                        <a:rPr lang="ko-KR" altLang="en-US" sz="1400" dirty="0"/>
                        <a:t>후</a:t>
                      </a:r>
                      <a:r>
                        <a:rPr lang="en-US" altLang="ko-KR" sz="1400" dirty="0"/>
                        <a:t>2234)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solidFill>
                            <a:srgbClr val="FF0000"/>
                          </a:solidFill>
                        </a:rPr>
                        <a:t>심결시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(2016</a:t>
                      </a:r>
                      <a:r>
                        <a:rPr lang="ko-KR" altLang="en-US" sz="1400" dirty="0">
                          <a:solidFill>
                            <a:srgbClr val="FF0000"/>
                          </a:solidFill>
                        </a:rPr>
                        <a:t>후</a:t>
                      </a:r>
                      <a:r>
                        <a:rPr lang="en-US" altLang="ko-KR" sz="1400" dirty="0">
                          <a:solidFill>
                            <a:srgbClr val="FF0000"/>
                          </a:solidFill>
                        </a:rPr>
                        <a:t>2317)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9332916"/>
                  </a:ext>
                </a:extLst>
              </a:tr>
              <a:tr h="468515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방법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직권조사사항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002294"/>
                  </a:ext>
                </a:extLst>
              </a:tr>
              <a:tr h="46851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조치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심결각하</a:t>
                      </a:r>
                      <a:endParaRPr lang="ko-KR" altLang="en-US" sz="14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3789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30079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B91AB5BC-E387-494B-934F-5C4DE8E3B4B9}"/>
              </a:ext>
            </a:extLst>
          </p:cNvPr>
          <p:cNvCxnSpPr>
            <a:cxnSpLocks/>
            <a:stCxn id="77" idx="2"/>
            <a:endCxn id="47" idx="0"/>
          </p:cNvCxnSpPr>
          <p:nvPr/>
        </p:nvCxnSpPr>
        <p:spPr>
          <a:xfrm>
            <a:off x="1634936" y="4164410"/>
            <a:ext cx="4945" cy="7667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163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일사부재리 적용 </a:t>
            </a:r>
            <a:r>
              <a:rPr lang="en-US" altLang="ko-KR" dirty="0"/>
              <a:t>CASE: </a:t>
            </a:r>
            <a:r>
              <a:rPr lang="ko-KR" altLang="en-US" dirty="0"/>
              <a:t>본안심결의 확정 판단시점</a:t>
            </a:r>
          </a:p>
        </p:txBody>
      </p:sp>
      <p:sp>
        <p:nvSpPr>
          <p:cNvPr id="31" name="모서리가 둥근 직사각형 10">
            <a:extLst>
              <a:ext uri="{FF2B5EF4-FFF2-40B4-BE49-F238E27FC236}">
                <a16:creationId xmlns:a16="http://schemas.microsoft.com/office/drawing/2014/main" id="{83E8DC17-A890-4A8F-8AF6-87049ACC89A5}"/>
              </a:ext>
            </a:extLst>
          </p:cNvPr>
          <p:cNvSpPr/>
          <p:nvPr/>
        </p:nvSpPr>
        <p:spPr bwMode="auto">
          <a:xfrm>
            <a:off x="154300" y="1002199"/>
            <a:ext cx="5714410" cy="31399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2012. 1. 19.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2009</a:t>
            </a:r>
            <a:r>
              <a:rPr lang="ko-KR" altLang="en-US" sz="1400" dirty="0"/>
              <a:t>후</a:t>
            </a:r>
            <a:r>
              <a:rPr lang="en-US" altLang="ko-KR" sz="1400" dirty="0"/>
              <a:t>2234 </a:t>
            </a:r>
            <a:r>
              <a:rPr lang="ko-KR" altLang="en-US" sz="1400" dirty="0"/>
              <a:t>전원합의체 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016C75-8430-4388-9E51-7B3101DE3CF1}"/>
              </a:ext>
            </a:extLst>
          </p:cNvPr>
          <p:cNvSpPr/>
          <p:nvPr/>
        </p:nvSpPr>
        <p:spPr>
          <a:xfrm>
            <a:off x="232372" y="1333658"/>
            <a:ext cx="11681987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1400" dirty="0"/>
              <a:t>1) </a:t>
            </a:r>
            <a:r>
              <a:rPr lang="ko-KR" altLang="en-US" sz="1400" dirty="0"/>
              <a:t>이는 관련 확정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등록</a:t>
            </a:r>
            <a:r>
              <a:rPr lang="en-US" altLang="ko-KR" sz="1400" dirty="0"/>
              <a:t>*</a:t>
            </a:r>
            <a:r>
              <a:rPr lang="ko-KR" altLang="en-US" sz="1400" dirty="0"/>
              <a:t>이라는 우연한 사정에 의하여 심판청구인이 자신의 고유한 이익을 위하여 진행하던 절차가 소급적으로 </a:t>
            </a:r>
            <a:r>
              <a:rPr lang="ko-KR" altLang="en-US" sz="1400" dirty="0" err="1"/>
              <a:t>부적법하게</a:t>
            </a:r>
            <a:r>
              <a:rPr lang="ko-KR" altLang="en-US" sz="1400" dirty="0"/>
              <a:t> 되는 것으로 헌법상 보장된 </a:t>
            </a:r>
            <a:r>
              <a:rPr lang="ko-KR" altLang="en-US" sz="1400" dirty="0">
                <a:highlight>
                  <a:srgbClr val="FFFF00"/>
                </a:highlight>
              </a:rPr>
              <a:t>국민의 재판청구권을 과도하게 침해</a:t>
            </a:r>
            <a:r>
              <a:rPr lang="ko-KR" altLang="en-US" sz="1400" dirty="0"/>
              <a:t>할 우려가 있고</a:t>
            </a:r>
            <a:r>
              <a:rPr lang="en-US" altLang="ko-KR" sz="1400" dirty="0"/>
              <a:t>, 2) </a:t>
            </a:r>
            <a:r>
              <a:rPr lang="ko-KR" altLang="en-US" sz="1400" dirty="0"/>
              <a:t>그 심판에 대한 특허심판원의 </a:t>
            </a:r>
            <a:r>
              <a:rPr lang="ko-KR" altLang="en-US" sz="1400" dirty="0" err="1"/>
              <a:t>심결을</a:t>
            </a:r>
            <a:r>
              <a:rPr lang="ko-KR" altLang="en-US" sz="1400" dirty="0"/>
              <a:t> 취소한 </a:t>
            </a:r>
            <a:r>
              <a:rPr lang="ko-KR" altLang="en-US" sz="1400" dirty="0">
                <a:highlight>
                  <a:srgbClr val="FFFF00"/>
                </a:highlight>
              </a:rPr>
              <a:t>법원의 판결을 무의미</a:t>
            </a:r>
            <a:r>
              <a:rPr lang="ko-KR" altLang="en-US" sz="1400" dirty="0"/>
              <a:t>하게 하는 불합리가 발생하게 된다</a:t>
            </a:r>
            <a:r>
              <a:rPr lang="en-US" altLang="ko-KR" sz="1400" dirty="0"/>
              <a:t>. 3) </a:t>
            </a:r>
            <a:r>
              <a:rPr lang="ko-KR" altLang="en-US" sz="1400" dirty="0"/>
              <a:t>나아가 구 특허법 제</a:t>
            </a:r>
            <a:r>
              <a:rPr lang="en-US" altLang="ko-KR" sz="1400" dirty="0"/>
              <a:t>163</a:t>
            </a:r>
            <a:r>
              <a:rPr lang="ko-KR" altLang="en-US" sz="1400" dirty="0"/>
              <a:t>조의 취지는 심판청구의 남용을 방지하여 심판절차의 경제성을 도모하고 동일한 심판에 대하여 상대방이 반복적으로 심판에 응하여야 하는 번거로움을 면하도록 하는 데에 있다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그러나 위 규정은 일사부재리의 효력이 미치는 인적범위에 관하여 “</a:t>
            </a:r>
            <a:r>
              <a:rPr lang="ko-KR" altLang="en-US" sz="1400" dirty="0" err="1"/>
              <a:t>누구든지”라고</a:t>
            </a:r>
            <a:r>
              <a:rPr lang="ko-KR" altLang="en-US" sz="1400" dirty="0"/>
              <a:t> 정하고 있어서 확정 등록된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당사자나 그 승계인이외의 사람이라도 동일사실 및 동일증거에 의하여 동일심판을 청구할 수 없으므로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함부로 그 적용의 범위를 넓히는 것은 위와 같이 국민의 재판청구권의 행사를 제한하는 결과</a:t>
            </a:r>
            <a:r>
              <a:rPr lang="ko-KR" altLang="en-US" sz="1400" dirty="0"/>
              <a:t>가 될 것이다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그런데 구 특허법 제</a:t>
            </a:r>
            <a:r>
              <a:rPr lang="en-US" altLang="ko-KR" sz="1400" dirty="0"/>
              <a:t>163</a:t>
            </a:r>
            <a:r>
              <a:rPr lang="ko-KR" altLang="en-US" sz="1400" dirty="0"/>
              <a:t>조는 위와 같이 ‘그 심판을 청구할 수 </a:t>
            </a:r>
            <a:r>
              <a:rPr lang="ko-KR" altLang="en-US" sz="1400" dirty="0" err="1"/>
              <a:t>없다’라고</a:t>
            </a:r>
            <a:r>
              <a:rPr lang="ko-KR" altLang="en-US" sz="1400" dirty="0"/>
              <a:t> 규정하고 있어서</a:t>
            </a:r>
            <a:r>
              <a:rPr lang="en-US" altLang="ko-KR" sz="1400" dirty="0"/>
              <a:t>, </a:t>
            </a:r>
            <a:r>
              <a:rPr lang="ko-KR" altLang="en-US" sz="1400" dirty="0"/>
              <a:t>위 규정의 문언에 따르면 심판의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확정 등록된 후에는 앞선 심판청구와 동일사실 및 동일증거에 기초하여 새로운 심판을 청구하는 것이 허용되지 아니한다고 해석될 뿐이다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그러함에도 이를 넘어서 심판청구를 제기하던 당시에 다른 심판의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확정 등록되지 아니하였는데 그 심판청구에 관한 </a:t>
            </a:r>
            <a:r>
              <a:rPr lang="ko-KR" altLang="en-US" sz="1400" dirty="0" err="1"/>
              <a:t>심결을</a:t>
            </a:r>
            <a:r>
              <a:rPr lang="ko-KR" altLang="en-US" sz="1400" dirty="0"/>
              <a:t> 할 때에 이미 다른 심판의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확정 등록된 경우에까지 그 심판청구가 일사부재리의 원칙에 의하여 소급적으로 </a:t>
            </a:r>
            <a:r>
              <a:rPr lang="ko-KR" altLang="en-US" sz="1400" dirty="0" err="1"/>
              <a:t>부적법하게</a:t>
            </a:r>
            <a:r>
              <a:rPr lang="ko-KR" altLang="en-US" sz="1400" dirty="0"/>
              <a:t> 될 수 있다고 하는 것은 합리적인 해석이라고 할 수 없다</a:t>
            </a:r>
            <a:r>
              <a:rPr lang="en-US" altLang="ko-KR" sz="1400" dirty="0"/>
              <a:t>.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B7D8B57-08E9-4752-8D90-0D1D0602B6B2}"/>
              </a:ext>
            </a:extLst>
          </p:cNvPr>
          <p:cNvCxnSpPr/>
          <p:nvPr/>
        </p:nvCxnSpPr>
        <p:spPr>
          <a:xfrm>
            <a:off x="0" y="3580974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Line 5">
            <a:extLst>
              <a:ext uri="{FF2B5EF4-FFF2-40B4-BE49-F238E27FC236}">
                <a16:creationId xmlns:a16="http://schemas.microsoft.com/office/drawing/2014/main" id="{C3D521F3-C89A-4691-A233-1BC4F6DB6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5025078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0F57E0-0C93-429E-B52D-950B18A62824}"/>
              </a:ext>
            </a:extLst>
          </p:cNvPr>
          <p:cNvSpPr txBox="1"/>
          <p:nvPr/>
        </p:nvSpPr>
        <p:spPr>
          <a:xfrm>
            <a:off x="905348" y="5281253"/>
            <a:ext cx="1469068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무효심판청구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피청구인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E416A6A-17E0-4A3B-8C28-9560A00280A4}"/>
              </a:ext>
            </a:extLst>
          </p:cNvPr>
          <p:cNvSpPr/>
          <p:nvPr/>
        </p:nvSpPr>
        <p:spPr>
          <a:xfrm>
            <a:off x="1562512" y="493114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4B9FD84-6472-4A38-96A7-0961D12BE1A4}"/>
              </a:ext>
            </a:extLst>
          </p:cNvPr>
          <p:cNvCxnSpPr>
            <a:cxnSpLocks/>
            <a:stCxn id="44" idx="0"/>
            <a:endCxn id="47" idx="4"/>
          </p:cNvCxnSpPr>
          <p:nvPr/>
        </p:nvCxnSpPr>
        <p:spPr>
          <a:xfrm flipH="1" flipV="1">
            <a:off x="1639881" y="509248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93DE314-156B-4AE0-A6A1-A3E38D2DAD5E}"/>
              </a:ext>
            </a:extLst>
          </p:cNvPr>
          <p:cNvSpPr txBox="1"/>
          <p:nvPr/>
        </p:nvSpPr>
        <p:spPr>
          <a:xfrm>
            <a:off x="2645012" y="5281253"/>
            <a:ext cx="996614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F25F9F4-5090-4DB9-9E09-63BBFFE26323}"/>
              </a:ext>
            </a:extLst>
          </p:cNvPr>
          <p:cNvSpPr/>
          <p:nvPr/>
        </p:nvSpPr>
        <p:spPr>
          <a:xfrm>
            <a:off x="3065949" y="493114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0124424-B4CE-4C83-9036-BBB347007F6C}"/>
              </a:ext>
            </a:extLst>
          </p:cNvPr>
          <p:cNvCxnSpPr>
            <a:cxnSpLocks/>
            <a:stCxn id="28" idx="0"/>
            <a:endCxn id="29" idx="4"/>
          </p:cNvCxnSpPr>
          <p:nvPr/>
        </p:nvCxnSpPr>
        <p:spPr>
          <a:xfrm flipH="1" flipV="1">
            <a:off x="3143318" y="509248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9F658C6-E47F-4293-9C2D-C2D845BDDFD4}"/>
              </a:ext>
            </a:extLst>
          </p:cNvPr>
          <p:cNvSpPr txBox="1"/>
          <p:nvPr/>
        </p:nvSpPr>
        <p:spPr>
          <a:xfrm>
            <a:off x="3849693" y="5281253"/>
            <a:ext cx="996614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甲 소 제기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피고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02E40390-9F8C-4253-90F9-D928F2C63176}"/>
              </a:ext>
            </a:extLst>
          </p:cNvPr>
          <p:cNvSpPr/>
          <p:nvPr/>
        </p:nvSpPr>
        <p:spPr>
          <a:xfrm>
            <a:off x="4270630" y="493114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05A41FC0-CB04-4238-BDBA-4FF3F11A51ED}"/>
              </a:ext>
            </a:extLst>
          </p:cNvPr>
          <p:cNvCxnSpPr>
            <a:cxnSpLocks/>
            <a:stCxn id="45" idx="0"/>
            <a:endCxn id="46" idx="4"/>
          </p:cNvCxnSpPr>
          <p:nvPr/>
        </p:nvCxnSpPr>
        <p:spPr>
          <a:xfrm flipH="1" flipV="1">
            <a:off x="4347999" y="509248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354DBD03-D014-420A-898B-983F6D385271}"/>
              </a:ext>
            </a:extLst>
          </p:cNvPr>
          <p:cNvSpPr txBox="1"/>
          <p:nvPr/>
        </p:nvSpPr>
        <p:spPr>
          <a:xfrm>
            <a:off x="8563502" y="5281253"/>
            <a:ext cx="996614" cy="5232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인용판결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취소환송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84A23F3C-CF39-4A22-A9D4-EF52A1D4B252}"/>
              </a:ext>
            </a:extLst>
          </p:cNvPr>
          <p:cNvSpPr/>
          <p:nvPr/>
        </p:nvSpPr>
        <p:spPr>
          <a:xfrm>
            <a:off x="8984439" y="493114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C8BA752E-4FCF-4EBF-BDCD-1ADEE985BF62}"/>
              </a:ext>
            </a:extLst>
          </p:cNvPr>
          <p:cNvCxnSpPr>
            <a:cxnSpLocks/>
            <a:stCxn id="52" idx="0"/>
            <a:endCxn id="53" idx="4"/>
          </p:cNvCxnSpPr>
          <p:nvPr/>
        </p:nvCxnSpPr>
        <p:spPr>
          <a:xfrm flipH="1" flipV="1">
            <a:off x="9061808" y="509248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E752647-CA77-4730-9828-80C4ADAC153D}"/>
              </a:ext>
            </a:extLst>
          </p:cNvPr>
          <p:cNvSpPr txBox="1"/>
          <p:nvPr/>
        </p:nvSpPr>
        <p:spPr>
          <a:xfrm>
            <a:off x="9957359" y="5281253"/>
            <a:ext cx="688012" cy="30777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심결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CA50C72E-8883-4BC0-9B5A-9B09990D79CD}"/>
              </a:ext>
            </a:extLst>
          </p:cNvPr>
          <p:cNvSpPr/>
          <p:nvPr/>
        </p:nvSpPr>
        <p:spPr>
          <a:xfrm>
            <a:off x="10223995" y="493114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52B3968F-EB0B-4EEB-88EC-8B7FF3F3AE32}"/>
              </a:ext>
            </a:extLst>
          </p:cNvPr>
          <p:cNvCxnSpPr>
            <a:cxnSpLocks/>
            <a:stCxn id="55" idx="0"/>
            <a:endCxn id="56" idx="4"/>
          </p:cNvCxnSpPr>
          <p:nvPr/>
        </p:nvCxnSpPr>
        <p:spPr>
          <a:xfrm flipH="1" flipV="1">
            <a:off x="10301364" y="509248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ABA782B4-8A98-4F18-AACB-6249BAE600DE}"/>
              </a:ext>
            </a:extLst>
          </p:cNvPr>
          <p:cNvSpPr txBox="1"/>
          <p:nvPr/>
        </p:nvSpPr>
        <p:spPr>
          <a:xfrm>
            <a:off x="4789627" y="4215027"/>
            <a:ext cx="1469068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丙 무효심판청구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乙 피청구인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281FAA11-A73B-4B3D-9078-563DA516B843}"/>
              </a:ext>
            </a:extLst>
          </p:cNvPr>
          <p:cNvSpPr/>
          <p:nvPr/>
        </p:nvSpPr>
        <p:spPr>
          <a:xfrm>
            <a:off x="5446791" y="493114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0A4B9DF1-B898-4075-8C7A-D767F76116BD}"/>
              </a:ext>
            </a:extLst>
          </p:cNvPr>
          <p:cNvCxnSpPr>
            <a:cxnSpLocks/>
            <a:stCxn id="58" idx="2"/>
            <a:endCxn id="59" idx="0"/>
          </p:cNvCxnSpPr>
          <p:nvPr/>
        </p:nvCxnSpPr>
        <p:spPr>
          <a:xfrm flipH="1">
            <a:off x="5524160" y="4738247"/>
            <a:ext cx="1" cy="19289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D54AA36-D66D-4E52-81F3-5D57B918CD3B}"/>
              </a:ext>
            </a:extLst>
          </p:cNvPr>
          <p:cNvSpPr txBox="1"/>
          <p:nvPr/>
        </p:nvSpPr>
        <p:spPr>
          <a:xfrm>
            <a:off x="6749336" y="4215027"/>
            <a:ext cx="1224724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기각심결확정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A826EA93-3CE6-442F-AC6A-613975BBE8A8}"/>
              </a:ext>
            </a:extLst>
          </p:cNvPr>
          <p:cNvSpPr/>
          <p:nvPr/>
        </p:nvSpPr>
        <p:spPr>
          <a:xfrm>
            <a:off x="7284328" y="493114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4356EE60-9B34-4B83-8AF1-D03E1EABE9B9}"/>
              </a:ext>
            </a:extLst>
          </p:cNvPr>
          <p:cNvCxnSpPr>
            <a:cxnSpLocks/>
            <a:stCxn id="61" idx="2"/>
            <a:endCxn id="68" idx="0"/>
          </p:cNvCxnSpPr>
          <p:nvPr/>
        </p:nvCxnSpPr>
        <p:spPr>
          <a:xfrm flipH="1">
            <a:off x="7361697" y="4522804"/>
            <a:ext cx="1" cy="4083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말풍선: 모서리가 둥근 사각형 70">
            <a:extLst>
              <a:ext uri="{FF2B5EF4-FFF2-40B4-BE49-F238E27FC236}">
                <a16:creationId xmlns:a16="http://schemas.microsoft.com/office/drawing/2014/main" id="{1243CB5D-329C-4EB5-93EB-64BC3637715F}"/>
              </a:ext>
            </a:extLst>
          </p:cNvPr>
          <p:cNvSpPr/>
          <p:nvPr/>
        </p:nvSpPr>
        <p:spPr>
          <a:xfrm>
            <a:off x="4977359" y="3715331"/>
            <a:ext cx="1013988" cy="385860"/>
          </a:xfrm>
          <a:prstGeom prst="wedgeRoundRectCallout">
            <a:avLst>
              <a:gd name="adj1" fmla="val -36012"/>
              <a:gd name="adj2" fmla="val 67193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乙과 공모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9CA6502-FC85-461F-A6FC-C0B8A6E9580A}"/>
              </a:ext>
            </a:extLst>
          </p:cNvPr>
          <p:cNvSpPr txBox="1"/>
          <p:nvPr/>
        </p:nvSpPr>
        <p:spPr>
          <a:xfrm>
            <a:off x="1021627" y="3795078"/>
            <a:ext cx="1226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심판청구시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0B279D90-9129-4B77-9781-7BAA0131768E}"/>
              </a:ext>
            </a:extLst>
          </p:cNvPr>
          <p:cNvCxnSpPr>
            <a:cxnSpLocks/>
            <a:stCxn id="79" idx="2"/>
          </p:cNvCxnSpPr>
          <p:nvPr/>
        </p:nvCxnSpPr>
        <p:spPr>
          <a:xfrm>
            <a:off x="10294048" y="4128551"/>
            <a:ext cx="5111" cy="80259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A68C698-9289-471C-9843-B4467A86B4EB}"/>
              </a:ext>
            </a:extLst>
          </p:cNvPr>
          <p:cNvSpPr txBox="1"/>
          <p:nvPr/>
        </p:nvSpPr>
        <p:spPr>
          <a:xfrm>
            <a:off x="9889129" y="3759219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심결시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27FBE3-AB1C-FF09-D27C-6DCC8387CBB9}"/>
              </a:ext>
            </a:extLst>
          </p:cNvPr>
          <p:cNvSpPr txBox="1"/>
          <p:nvPr/>
        </p:nvSpPr>
        <p:spPr>
          <a:xfrm>
            <a:off x="126836" y="5997895"/>
            <a:ext cx="1196655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* </a:t>
            </a:r>
            <a:r>
              <a:rPr lang="ko-KR" altLang="en-US" sz="1200" dirty="0"/>
              <a:t>구 특허법</a:t>
            </a:r>
            <a:r>
              <a:rPr lang="en-US" altLang="ko-KR" sz="1200" dirty="0"/>
              <a:t>(2001. 2. 3. </a:t>
            </a:r>
            <a:r>
              <a:rPr lang="ko-KR" altLang="en-US" sz="1200" dirty="0"/>
              <a:t>법률 제</a:t>
            </a:r>
            <a:r>
              <a:rPr lang="en-US" altLang="ko-KR" sz="1200" dirty="0"/>
              <a:t>6411</a:t>
            </a:r>
            <a:r>
              <a:rPr lang="ko-KR" altLang="en-US" sz="1200" dirty="0"/>
              <a:t>호로 개정되기 전의 것</a:t>
            </a:r>
            <a:r>
              <a:rPr lang="en-US" altLang="ko-KR" sz="1200" dirty="0"/>
              <a:t>) </a:t>
            </a:r>
            <a:r>
              <a:rPr lang="ko-KR" altLang="en-US" sz="1200" dirty="0"/>
              <a:t>제</a:t>
            </a:r>
            <a:r>
              <a:rPr lang="en-US" altLang="ko-KR" sz="1200" dirty="0"/>
              <a:t>163</a:t>
            </a:r>
            <a:r>
              <a:rPr lang="ko-KR" altLang="en-US" sz="1200" dirty="0"/>
              <a:t>조는 “이 법에 의한 심판의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확정 등록되거나 판결이 확정된 때에는 누구든지 동일사실 및 동일증거에 의하여 그 심판을 청구할 수 없다</a:t>
            </a:r>
            <a:r>
              <a:rPr lang="en-US" altLang="ko-KR" sz="1200" dirty="0"/>
              <a:t>.”</a:t>
            </a:r>
            <a:r>
              <a:rPr lang="ko-KR" altLang="en-US" sz="1200" dirty="0"/>
              <a:t>라고 규정하고 있었는데</a:t>
            </a:r>
            <a:r>
              <a:rPr lang="en-US" altLang="ko-KR" sz="1200" dirty="0"/>
              <a:t>, </a:t>
            </a:r>
            <a:r>
              <a:rPr lang="ko-KR" altLang="en-US" sz="1200" dirty="0"/>
              <a:t>개정법은 등록되지 않은 </a:t>
            </a:r>
            <a:r>
              <a:rPr lang="ko-KR" altLang="en-US" sz="1200" dirty="0" err="1"/>
              <a:t>심결에도</a:t>
            </a:r>
            <a:r>
              <a:rPr lang="ko-KR" altLang="en-US" sz="1200" dirty="0"/>
              <a:t> 일사부재리가 적용되는 것으로 변경하였고</a:t>
            </a:r>
            <a:r>
              <a:rPr lang="en-US" altLang="ko-KR" sz="1200" dirty="0"/>
              <a:t>, 1998. 3. 1. </a:t>
            </a:r>
            <a:r>
              <a:rPr lang="ko-KR" altLang="en-US" sz="1200" dirty="0"/>
              <a:t>특허법원 설립 이후의 특허법원 판결이나 대법원 판결 및 실체 심리가 없는 </a:t>
            </a:r>
            <a:r>
              <a:rPr lang="ko-KR" altLang="en-US" sz="1200" dirty="0" err="1"/>
              <a:t>각하심결에도</a:t>
            </a:r>
            <a:r>
              <a:rPr lang="ko-KR" altLang="en-US" sz="1200" dirty="0"/>
              <a:t> 일사부재리가 적용되는지에 관한 해석상의 다툼에 대하여 ‘판결이 확정된 때’ 부분을 삭제하고</a:t>
            </a:r>
            <a:r>
              <a:rPr lang="en-US" altLang="ko-KR" sz="1200" dirty="0"/>
              <a:t>, </a:t>
            </a:r>
            <a:r>
              <a:rPr lang="ko-KR" altLang="en-US" sz="1200" dirty="0"/>
              <a:t>단서 규정을 신설함으로써 다툼의 여지가 없게 하였다</a:t>
            </a:r>
            <a:r>
              <a:rPr lang="en-US" altLang="ko-KR" sz="1200" dirty="0"/>
              <a:t>(</a:t>
            </a:r>
            <a:r>
              <a:rPr lang="ko-KR" altLang="en-US" sz="1200" dirty="0" err="1"/>
              <a:t>김신</a:t>
            </a:r>
            <a:r>
              <a:rPr lang="en-US" altLang="ko-KR" sz="1200" dirty="0"/>
              <a:t>, “</a:t>
            </a:r>
            <a:r>
              <a:rPr lang="ko-KR" altLang="en-US" sz="1200" dirty="0" err="1"/>
              <a:t>확정심결의</a:t>
            </a:r>
            <a:r>
              <a:rPr lang="ko-KR" altLang="en-US" sz="1200" dirty="0"/>
              <a:t> 일사부재리”</a:t>
            </a:r>
            <a:r>
              <a:rPr lang="en-US" altLang="ko-KR" sz="1200" dirty="0"/>
              <a:t>, </a:t>
            </a:r>
            <a:r>
              <a:rPr lang="ko-KR" altLang="en-US" sz="1200" dirty="0"/>
              <a:t>「특허소송연구」 제</a:t>
            </a:r>
            <a:r>
              <a:rPr lang="en-US" altLang="ko-KR" sz="1200" dirty="0"/>
              <a:t>7</a:t>
            </a:r>
            <a:r>
              <a:rPr lang="ko-KR" altLang="en-US" sz="1200" dirty="0"/>
              <a:t>집</a:t>
            </a:r>
            <a:r>
              <a:rPr lang="en-US" altLang="ko-KR" sz="1200" dirty="0"/>
              <a:t>, </a:t>
            </a:r>
            <a:r>
              <a:rPr lang="ko-KR" altLang="en-US" sz="1200" dirty="0"/>
              <a:t>특허법원</a:t>
            </a:r>
            <a:r>
              <a:rPr lang="en-US" altLang="ko-KR" sz="1200" dirty="0"/>
              <a:t>, 2017, 154</a:t>
            </a:r>
            <a:r>
              <a:rPr lang="ko-KR" altLang="en-US" sz="1200" dirty="0"/>
              <a:t>면</a:t>
            </a:r>
            <a:r>
              <a:rPr lang="en-US" altLang="ko-KR" sz="1200" dirty="0"/>
              <a:t>).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7467837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163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일사부재리 적용 </a:t>
            </a:r>
            <a:r>
              <a:rPr lang="en-US" altLang="ko-KR" dirty="0">
                <a:solidFill>
                  <a:srgbClr val="525252"/>
                </a:solidFill>
              </a:rPr>
              <a:t>CASE: </a:t>
            </a:r>
            <a:r>
              <a:rPr lang="ko-KR" altLang="en-US" dirty="0">
                <a:solidFill>
                  <a:srgbClr val="525252"/>
                </a:solidFill>
              </a:rPr>
              <a:t>동일증거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875" y="1341693"/>
            <a:ext cx="119363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ko-KR" sz="1400" dirty="0"/>
              <a:t>[1] </a:t>
            </a:r>
            <a:r>
              <a:rPr lang="ko-KR" altLang="en-US" sz="1400" dirty="0"/>
              <a:t>일사부재리의 원칙을 정한 구 특허법</a:t>
            </a:r>
            <a:r>
              <a:rPr lang="en-US" altLang="ko-KR" sz="1400" dirty="0"/>
              <a:t>(2001. 2. 3.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6411</a:t>
            </a:r>
            <a:r>
              <a:rPr lang="ko-KR" altLang="en-US" sz="1400" dirty="0"/>
              <a:t>호로 개정되기 전의 것</a:t>
            </a:r>
            <a:r>
              <a:rPr lang="en-US" altLang="ko-KR" sz="1400" dirty="0"/>
              <a:t>) </a:t>
            </a:r>
            <a:r>
              <a:rPr lang="ko-KR" altLang="en-US" sz="1400" dirty="0"/>
              <a:t>제</a:t>
            </a:r>
            <a:r>
              <a:rPr lang="en-US" altLang="ko-KR" sz="1400" dirty="0"/>
              <a:t>163</a:t>
            </a:r>
            <a:r>
              <a:rPr lang="ko-KR" altLang="en-US" sz="1400" dirty="0"/>
              <a:t>조는 “심판의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확정 등록되거나 판결이 확정된 때에는 누구든지 동일사실 및 동일증거에 의하여 그 심판을 청구할 수 없다</a:t>
            </a:r>
            <a:r>
              <a:rPr lang="en-US" altLang="ko-KR" sz="1400" dirty="0"/>
              <a:t>.”</a:t>
            </a:r>
            <a:r>
              <a:rPr lang="ko-KR" altLang="en-US" sz="1400" dirty="0"/>
              <a:t>고 하여 일사부재리의 원칙을 규정하고 있으나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확정된 </a:t>
            </a:r>
            <a:r>
              <a:rPr lang="ko-KR" altLang="en-US" sz="1400" dirty="0" err="1">
                <a:highlight>
                  <a:srgbClr val="FFFF00"/>
                </a:highlight>
              </a:rPr>
              <a:t>심결의</a:t>
            </a:r>
            <a:r>
              <a:rPr lang="ko-KR" altLang="en-US" sz="1400" dirty="0">
                <a:highlight>
                  <a:srgbClr val="FFFF00"/>
                </a:highlight>
              </a:rPr>
              <a:t> 결론을 번복할 만한 유력한 증거가 새로이 제출된 경우</a:t>
            </a:r>
            <a:r>
              <a:rPr lang="ko-KR" altLang="en-US" sz="1400" dirty="0"/>
              <a:t>에는 위와 같은 일사부재리의 원칙에 저촉되지 아니한다</a:t>
            </a:r>
            <a:r>
              <a:rPr lang="en-US" altLang="ko-KR" sz="1400" dirty="0"/>
              <a:t>.</a:t>
            </a:r>
          </a:p>
          <a:p>
            <a:pPr fontAlgn="base"/>
            <a:r>
              <a:rPr lang="en-US" altLang="ko-KR" sz="1400" dirty="0"/>
              <a:t>[2] </a:t>
            </a:r>
            <a:r>
              <a:rPr lang="ko-KR" altLang="en-US" sz="1400" dirty="0"/>
              <a:t>동일사실에 의한 동일한 심판청구에 대하여 </a:t>
            </a:r>
            <a:r>
              <a:rPr lang="ko-KR" altLang="en-US" sz="1400" dirty="0">
                <a:solidFill>
                  <a:srgbClr val="FF0000"/>
                </a:solidFill>
              </a:rPr>
              <a:t>전에 확정된 </a:t>
            </a:r>
            <a:r>
              <a:rPr lang="ko-KR" altLang="en-US" sz="1400" dirty="0" err="1">
                <a:solidFill>
                  <a:srgbClr val="FF0000"/>
                </a:solidFill>
              </a:rPr>
              <a:t>심결의</a:t>
            </a:r>
            <a:r>
              <a:rPr lang="ko-KR" altLang="en-US" sz="1400" dirty="0">
                <a:solidFill>
                  <a:srgbClr val="FF0000"/>
                </a:solidFill>
              </a:rPr>
              <a:t> 증거에 대한 해석을 다르게 하는 등으로 그 </a:t>
            </a:r>
            <a:r>
              <a:rPr lang="ko-KR" altLang="en-US" sz="1400" dirty="0" err="1">
                <a:solidFill>
                  <a:srgbClr val="FF0000"/>
                </a:solidFill>
              </a:rPr>
              <a:t>심결의</a:t>
            </a:r>
            <a:r>
              <a:rPr lang="ko-KR" altLang="en-US" sz="1400" dirty="0">
                <a:solidFill>
                  <a:srgbClr val="FF0000"/>
                </a:solidFill>
              </a:rPr>
              <a:t> 기본이 된 이유와 실질적으로 저촉되는 판단을 하는 것</a:t>
            </a:r>
            <a:r>
              <a:rPr lang="ko-KR" altLang="en-US" sz="1400" dirty="0"/>
              <a:t>은 구 특허법</a:t>
            </a:r>
            <a:r>
              <a:rPr lang="en-US" altLang="ko-KR" sz="1400" dirty="0"/>
              <a:t>(2001. 2. 3.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6411</a:t>
            </a:r>
            <a:r>
              <a:rPr lang="ko-KR" altLang="en-US" sz="1400" dirty="0"/>
              <a:t>호로 개정되기 전의 것</a:t>
            </a:r>
            <a:r>
              <a:rPr lang="en-US" altLang="ko-KR" sz="1400" dirty="0"/>
              <a:t>) </a:t>
            </a:r>
            <a:r>
              <a:rPr lang="ko-KR" altLang="en-US" sz="1400" dirty="0"/>
              <a:t>제</a:t>
            </a:r>
            <a:r>
              <a:rPr lang="en-US" altLang="ko-KR" sz="1400" dirty="0"/>
              <a:t>163</a:t>
            </a:r>
            <a:r>
              <a:rPr lang="ko-KR" altLang="en-US" sz="1400" dirty="0"/>
              <a:t>조가 정한 일사부재리 원칙의 취지에 비추어 허용되지 않으나</a:t>
            </a:r>
            <a:r>
              <a:rPr lang="en-US" altLang="ko-KR" sz="1400" dirty="0"/>
              <a:t>,</a:t>
            </a:r>
            <a:r>
              <a:rPr lang="en-US" altLang="ko-KR" sz="1400" dirty="0">
                <a:solidFill>
                  <a:srgbClr val="FF0000"/>
                </a:solidFill>
              </a:rPr>
              <a:t> 1) </a:t>
            </a:r>
            <a:r>
              <a:rPr lang="ko-KR" altLang="en-US" sz="1400" dirty="0">
                <a:solidFill>
                  <a:srgbClr val="FF0000"/>
                </a:solidFill>
              </a:rPr>
              <a:t>전에 확정된 </a:t>
            </a:r>
            <a:r>
              <a:rPr lang="ko-KR" altLang="en-US" sz="1400" dirty="0" err="1">
                <a:solidFill>
                  <a:srgbClr val="FF0000"/>
                </a:solidFill>
              </a:rPr>
              <a:t>심결의</a:t>
            </a:r>
            <a:r>
              <a:rPr lang="ko-KR" altLang="en-US" sz="1400" dirty="0">
                <a:solidFill>
                  <a:srgbClr val="FF0000"/>
                </a:solidFill>
              </a:rPr>
              <a:t> 증거를 그 </a:t>
            </a:r>
            <a:r>
              <a:rPr lang="ko-KR" altLang="en-US" sz="1400" dirty="0" err="1">
                <a:solidFill>
                  <a:srgbClr val="FF0000"/>
                </a:solidFill>
              </a:rPr>
              <a:t>심결에서</a:t>
            </a:r>
            <a:r>
              <a:rPr lang="ko-KR" altLang="en-US" sz="1400" dirty="0">
                <a:solidFill>
                  <a:srgbClr val="FF0000"/>
                </a:solidFill>
              </a:rPr>
              <a:t> 판단하지 않았던 사항에 관한 증거로 들어 판단하거나 </a:t>
            </a:r>
            <a:r>
              <a:rPr lang="en-US" altLang="ko-KR" sz="1400" dirty="0">
                <a:solidFill>
                  <a:srgbClr val="FF0000"/>
                </a:solidFill>
              </a:rPr>
              <a:t>2) </a:t>
            </a:r>
            <a:r>
              <a:rPr lang="ko-KR" altLang="en-US" sz="1400" dirty="0">
                <a:solidFill>
                  <a:srgbClr val="FF0000"/>
                </a:solidFill>
              </a:rPr>
              <a:t>그 증거의 선행기술을 확정된 </a:t>
            </a:r>
            <a:r>
              <a:rPr lang="ko-KR" altLang="en-US" sz="1400" dirty="0" err="1">
                <a:solidFill>
                  <a:srgbClr val="FF0000"/>
                </a:solidFill>
              </a:rPr>
              <a:t>심결의</a:t>
            </a:r>
            <a:r>
              <a:rPr lang="ko-KR" altLang="en-US" sz="1400" dirty="0">
                <a:solidFill>
                  <a:srgbClr val="FF0000"/>
                </a:solidFill>
              </a:rPr>
              <a:t> 결론을 번복할 만한 유력한 증거의 선행기술에 추가적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보충적으로 결합하여 판단하는 경우 </a:t>
            </a:r>
            <a:r>
              <a:rPr lang="en-US" altLang="ko-KR" sz="1400" dirty="0">
                <a:solidFill>
                  <a:srgbClr val="FF0000"/>
                </a:solidFill>
              </a:rPr>
              <a:t>3) </a:t>
            </a:r>
            <a:r>
              <a:rPr lang="ko-KR" altLang="en-US" sz="1400" dirty="0">
                <a:solidFill>
                  <a:srgbClr val="FF0000"/>
                </a:solidFill>
              </a:rPr>
              <a:t>등과 같이 </a:t>
            </a:r>
            <a:r>
              <a:rPr lang="en-US" altLang="ko-KR" sz="1400" dirty="0">
                <a:highlight>
                  <a:srgbClr val="FFFF00"/>
                </a:highlight>
              </a:rPr>
              <a:t>4) </a:t>
            </a:r>
            <a:r>
              <a:rPr lang="ko-KR" altLang="en-US" sz="1400" dirty="0">
                <a:highlight>
                  <a:srgbClr val="FFFF00"/>
                </a:highlight>
              </a:rPr>
              <a:t>후행 심판청구에 대한 판단 내용이 확정된 </a:t>
            </a:r>
            <a:r>
              <a:rPr lang="ko-KR" altLang="en-US" sz="1400" dirty="0" err="1">
                <a:highlight>
                  <a:srgbClr val="FFFF00"/>
                </a:highlight>
              </a:rPr>
              <a:t>심결의</a:t>
            </a:r>
            <a:r>
              <a:rPr lang="ko-KR" altLang="en-US" sz="1400" dirty="0">
                <a:highlight>
                  <a:srgbClr val="FFFF00"/>
                </a:highlight>
              </a:rPr>
              <a:t> 기본이 된 이유와 실질적으로 저촉된다고 할 수 없는 경</a:t>
            </a:r>
            <a:r>
              <a:rPr lang="ko-KR" altLang="en-US" sz="1400" dirty="0">
                <a:solidFill>
                  <a:srgbClr val="FF0000"/>
                </a:solidFill>
              </a:rPr>
              <a:t>우</a:t>
            </a:r>
            <a:r>
              <a:rPr lang="ko-KR" altLang="en-US" sz="1400" dirty="0"/>
              <a:t>에는</a:t>
            </a:r>
            <a:r>
              <a:rPr lang="en-US" altLang="ko-KR" sz="1400" dirty="0"/>
              <a:t>, </a:t>
            </a:r>
            <a:r>
              <a:rPr lang="ko-KR" altLang="en-US" sz="1400" dirty="0"/>
              <a:t>확정된 </a:t>
            </a:r>
            <a:r>
              <a:rPr lang="ko-KR" altLang="en-US" sz="1400" dirty="0" err="1"/>
              <a:t>심결과</a:t>
            </a:r>
            <a:r>
              <a:rPr lang="ko-KR" altLang="en-US" sz="1400" dirty="0"/>
              <a:t> 그 결론이 결과적으로 달라졌다고 하더라도 일사부재리 원칙에 반한다고 할 수 없다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20" name="Line 5">
            <a:extLst>
              <a:ext uri="{FF2B5EF4-FFF2-40B4-BE49-F238E27FC236}">
                <a16:creationId xmlns:a16="http://schemas.microsoft.com/office/drawing/2014/main" id="{ACCDA59F-2AF7-4FC8-9236-82288B8FB7B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860" y="3753945"/>
            <a:ext cx="7544591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4A9B38-9CBF-428C-922A-DB33022A9147}"/>
              </a:ext>
            </a:extLst>
          </p:cNvPr>
          <p:cNvSpPr txBox="1"/>
          <p:nvPr/>
        </p:nvSpPr>
        <p:spPr>
          <a:xfrm>
            <a:off x="2634633" y="3206163"/>
            <a:ext cx="70892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출원</a:t>
            </a: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D7DE53CC-C4D9-422B-AF3A-7B30A9EA5F60}"/>
              </a:ext>
            </a:extLst>
          </p:cNvPr>
          <p:cNvSpPr/>
          <p:nvPr/>
        </p:nvSpPr>
        <p:spPr>
          <a:xfrm>
            <a:off x="2918520" y="3667096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408FCD3A-E182-4831-A770-42918078B18B}"/>
              </a:ext>
            </a:extLst>
          </p:cNvPr>
          <p:cNvCxnSpPr>
            <a:cxnSpLocks/>
            <a:stCxn id="21" idx="2"/>
            <a:endCxn id="22" idx="0"/>
          </p:cNvCxnSpPr>
          <p:nvPr/>
        </p:nvCxnSpPr>
        <p:spPr>
          <a:xfrm flipH="1">
            <a:off x="2989094" y="3483162"/>
            <a:ext cx="1" cy="1839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83D1C3A-9892-4861-9E7D-128450D07D78}"/>
              </a:ext>
            </a:extLst>
          </p:cNvPr>
          <p:cNvSpPr/>
          <p:nvPr/>
        </p:nvSpPr>
        <p:spPr>
          <a:xfrm>
            <a:off x="113937" y="991762"/>
            <a:ext cx="4765205" cy="302955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none" tIns="0" bIns="0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대법원 </a:t>
            </a:r>
            <a:r>
              <a:rPr lang="en-US" altLang="ko-KR" sz="1400" dirty="0">
                <a:solidFill>
                  <a:schemeClr val="bg1"/>
                </a:solidFill>
              </a:rPr>
              <a:t>2013. 9. 13. </a:t>
            </a:r>
            <a:r>
              <a:rPr lang="ko-KR" altLang="en-US" sz="1400" dirty="0">
                <a:solidFill>
                  <a:schemeClr val="bg1"/>
                </a:solidFill>
              </a:rPr>
              <a:t>선고 </a:t>
            </a:r>
            <a:r>
              <a:rPr lang="en-US" altLang="ko-KR" sz="1400" dirty="0">
                <a:solidFill>
                  <a:schemeClr val="bg1"/>
                </a:solidFill>
              </a:rPr>
              <a:t>2012</a:t>
            </a:r>
            <a:r>
              <a:rPr lang="ko-KR" altLang="en-US" sz="1400" dirty="0">
                <a:solidFill>
                  <a:schemeClr val="bg1"/>
                </a:solidFill>
              </a:rPr>
              <a:t>후</a:t>
            </a:r>
            <a:r>
              <a:rPr lang="en-US" altLang="ko-KR" sz="1400" dirty="0">
                <a:solidFill>
                  <a:schemeClr val="bg1"/>
                </a:solidFill>
              </a:rPr>
              <a:t>1057 </a:t>
            </a:r>
            <a:r>
              <a:rPr lang="ko-KR" altLang="en-US" sz="1400" dirty="0">
                <a:solidFill>
                  <a:schemeClr val="bg1"/>
                </a:solidFill>
              </a:rPr>
              <a:t>판결 </a:t>
            </a:r>
            <a:r>
              <a:rPr lang="en-US" altLang="ko-KR" sz="1400" dirty="0">
                <a:solidFill>
                  <a:schemeClr val="bg1"/>
                </a:solidFill>
              </a:rPr>
              <a:t>【</a:t>
            </a:r>
            <a:r>
              <a:rPr lang="ko-KR" altLang="en-US" sz="1400" dirty="0">
                <a:solidFill>
                  <a:schemeClr val="bg1"/>
                </a:solidFill>
              </a:rPr>
              <a:t>등록무효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 err="1">
                <a:solidFill>
                  <a:schemeClr val="bg1"/>
                </a:solidFill>
              </a:rPr>
              <a:t>특</a:t>
            </a:r>
            <a:r>
              <a:rPr lang="en-US" altLang="ko-KR" sz="1400" dirty="0">
                <a:solidFill>
                  <a:schemeClr val="bg1"/>
                </a:solidFill>
              </a:rPr>
              <a:t>)】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5DA65B5-3277-4ADF-95AF-47AB4FD658B7}"/>
              </a:ext>
            </a:extLst>
          </p:cNvPr>
          <p:cNvCxnSpPr/>
          <p:nvPr/>
        </p:nvCxnSpPr>
        <p:spPr>
          <a:xfrm>
            <a:off x="0" y="3157575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999B311-108C-4360-B404-112176F90F45}"/>
              </a:ext>
            </a:extLst>
          </p:cNvPr>
          <p:cNvSpPr txBox="1"/>
          <p:nvPr/>
        </p:nvSpPr>
        <p:spPr>
          <a:xfrm>
            <a:off x="4031425" y="3949734"/>
            <a:ext cx="122460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무효심판청구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79A5A288-5FA6-46E6-BC75-43B7FB32100D}"/>
              </a:ext>
            </a:extLst>
          </p:cNvPr>
          <p:cNvSpPr/>
          <p:nvPr/>
        </p:nvSpPr>
        <p:spPr>
          <a:xfrm>
            <a:off x="4573152" y="3667096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DA0317E4-1917-4596-8F89-DE15A2F8693F}"/>
              </a:ext>
            </a:extLst>
          </p:cNvPr>
          <p:cNvCxnSpPr>
            <a:cxnSpLocks/>
            <a:stCxn id="60" idx="0"/>
            <a:endCxn id="61" idx="4"/>
          </p:cNvCxnSpPr>
          <p:nvPr/>
        </p:nvCxnSpPr>
        <p:spPr>
          <a:xfrm flipH="1" flipV="1">
            <a:off x="4643726" y="3814264"/>
            <a:ext cx="1" cy="1354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27E8602-5FD6-445A-9382-F576B31998A0}"/>
              </a:ext>
            </a:extLst>
          </p:cNvPr>
          <p:cNvSpPr txBox="1"/>
          <p:nvPr/>
        </p:nvSpPr>
        <p:spPr>
          <a:xfrm>
            <a:off x="185497" y="3510062"/>
            <a:ext cx="73300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비교대상발명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5F3A02-46AD-46FF-8F22-98E36D373440}"/>
              </a:ext>
            </a:extLst>
          </p:cNvPr>
          <p:cNvSpPr txBox="1"/>
          <p:nvPr/>
        </p:nvSpPr>
        <p:spPr>
          <a:xfrm>
            <a:off x="997838" y="3510062"/>
            <a:ext cx="73300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비교대상발명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BCC7AAA-9840-496F-860A-18FC1C09B707}"/>
              </a:ext>
            </a:extLst>
          </p:cNvPr>
          <p:cNvSpPr txBox="1"/>
          <p:nvPr/>
        </p:nvSpPr>
        <p:spPr>
          <a:xfrm>
            <a:off x="1806326" y="3510062"/>
            <a:ext cx="73300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비교대상발명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0D74F3-027F-43DF-BCF9-7D0796E1000A}"/>
              </a:ext>
            </a:extLst>
          </p:cNvPr>
          <p:cNvSpPr txBox="1"/>
          <p:nvPr/>
        </p:nvSpPr>
        <p:spPr>
          <a:xfrm>
            <a:off x="3391375" y="3206163"/>
            <a:ext cx="70892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등록</a:t>
            </a: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99BFB1EE-1D1C-44AF-A983-973FBD1AE7F7}"/>
              </a:ext>
            </a:extLst>
          </p:cNvPr>
          <p:cNvSpPr/>
          <p:nvPr/>
        </p:nvSpPr>
        <p:spPr>
          <a:xfrm>
            <a:off x="3675262" y="3667096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B3C9DB5B-3B20-4553-B89B-1037F9A9881F}"/>
              </a:ext>
            </a:extLst>
          </p:cNvPr>
          <p:cNvCxnSpPr>
            <a:cxnSpLocks/>
            <a:stCxn id="38" idx="2"/>
            <a:endCxn id="42" idx="0"/>
          </p:cNvCxnSpPr>
          <p:nvPr/>
        </p:nvCxnSpPr>
        <p:spPr>
          <a:xfrm flipH="1">
            <a:off x="3745836" y="3483162"/>
            <a:ext cx="1" cy="1839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8EB692F9-C097-4C4B-822F-6D460DA60132}"/>
              </a:ext>
            </a:extLst>
          </p:cNvPr>
          <p:cNvSpPr txBox="1"/>
          <p:nvPr/>
        </p:nvSpPr>
        <p:spPr>
          <a:xfrm>
            <a:off x="4031425" y="4363189"/>
            <a:ext cx="1224604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 위반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DC636D52-107B-4196-AFD4-3B159724C0B5}"/>
              </a:ext>
            </a:extLst>
          </p:cNvPr>
          <p:cNvCxnSpPr>
            <a:stCxn id="53" idx="0"/>
            <a:endCxn id="60" idx="2"/>
          </p:cNvCxnSpPr>
          <p:nvPr/>
        </p:nvCxnSpPr>
        <p:spPr>
          <a:xfrm flipV="1">
            <a:off x="4643727" y="4226733"/>
            <a:ext cx="0" cy="1364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D28C2B59-4DCA-495E-9EEA-BDFEA7505C17}"/>
              </a:ext>
            </a:extLst>
          </p:cNvPr>
          <p:cNvCxnSpPr>
            <a:stCxn id="35" idx="2"/>
            <a:endCxn id="53" idx="1"/>
          </p:cNvCxnSpPr>
          <p:nvPr/>
        </p:nvCxnSpPr>
        <p:spPr>
          <a:xfrm rot="16200000" flipH="1">
            <a:off x="2026731" y="2496995"/>
            <a:ext cx="529962" cy="347942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DC110CCC-B60A-4C4B-A4AD-655605DE2AA3}"/>
              </a:ext>
            </a:extLst>
          </p:cNvPr>
          <p:cNvCxnSpPr>
            <a:stCxn id="36" idx="2"/>
            <a:endCxn id="53" idx="1"/>
          </p:cNvCxnSpPr>
          <p:nvPr/>
        </p:nvCxnSpPr>
        <p:spPr>
          <a:xfrm rot="16200000" flipH="1">
            <a:off x="2432902" y="2903166"/>
            <a:ext cx="529962" cy="266708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DD723F5E-F235-488B-9F16-8EFB183A0DCA}"/>
              </a:ext>
            </a:extLst>
          </p:cNvPr>
          <p:cNvSpPr txBox="1"/>
          <p:nvPr/>
        </p:nvSpPr>
        <p:spPr>
          <a:xfrm>
            <a:off x="5352307" y="3949734"/>
            <a:ext cx="122460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기각심결확정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EE940003-2335-4EF2-9AEE-17855FEAC9ED}"/>
              </a:ext>
            </a:extLst>
          </p:cNvPr>
          <p:cNvSpPr/>
          <p:nvPr/>
        </p:nvSpPr>
        <p:spPr>
          <a:xfrm>
            <a:off x="5894034" y="3667096"/>
            <a:ext cx="141148" cy="14716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3796918B-282A-4045-A139-DF6AAA644CA5}"/>
              </a:ext>
            </a:extLst>
          </p:cNvPr>
          <p:cNvCxnSpPr>
            <a:cxnSpLocks/>
            <a:stCxn id="54" idx="0"/>
            <a:endCxn id="55" idx="4"/>
          </p:cNvCxnSpPr>
          <p:nvPr/>
        </p:nvCxnSpPr>
        <p:spPr>
          <a:xfrm flipH="1" flipV="1">
            <a:off x="5964608" y="3814264"/>
            <a:ext cx="1" cy="1354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29A92B7-65CE-4803-B5D1-8C65B4E25227}"/>
              </a:ext>
            </a:extLst>
          </p:cNvPr>
          <p:cNvSpPr txBox="1"/>
          <p:nvPr/>
        </p:nvSpPr>
        <p:spPr>
          <a:xfrm>
            <a:off x="6721806" y="3949734"/>
            <a:ext cx="1224604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무효심판청구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C80964AF-4E4F-4E96-8438-50EFA8FF1439}"/>
              </a:ext>
            </a:extLst>
          </p:cNvPr>
          <p:cNvSpPr/>
          <p:nvPr/>
        </p:nvSpPr>
        <p:spPr>
          <a:xfrm>
            <a:off x="7263533" y="3667096"/>
            <a:ext cx="141148" cy="14716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0135B740-D10A-4526-AEBB-C8A72EEDA3A6}"/>
              </a:ext>
            </a:extLst>
          </p:cNvPr>
          <p:cNvCxnSpPr>
            <a:cxnSpLocks/>
            <a:stCxn id="57" idx="0"/>
            <a:endCxn id="58" idx="4"/>
          </p:cNvCxnSpPr>
          <p:nvPr/>
        </p:nvCxnSpPr>
        <p:spPr>
          <a:xfrm flipH="1" flipV="1">
            <a:off x="7334107" y="3814264"/>
            <a:ext cx="1" cy="1354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8D5746F4-8465-42A6-B8CD-900A71FABB81}"/>
              </a:ext>
            </a:extLst>
          </p:cNvPr>
          <p:cNvSpPr txBox="1"/>
          <p:nvPr/>
        </p:nvSpPr>
        <p:spPr>
          <a:xfrm>
            <a:off x="6721806" y="4363189"/>
            <a:ext cx="1224604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 위반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1C7193A8-FA24-42D3-A19A-D863ED40012F}"/>
              </a:ext>
            </a:extLst>
          </p:cNvPr>
          <p:cNvCxnSpPr>
            <a:stCxn id="64" idx="0"/>
            <a:endCxn id="57" idx="2"/>
          </p:cNvCxnSpPr>
          <p:nvPr/>
        </p:nvCxnSpPr>
        <p:spPr>
          <a:xfrm flipV="1">
            <a:off x="7334108" y="4226733"/>
            <a:ext cx="0" cy="1364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B6534E1A-D1CB-411F-8508-885358669ACF}"/>
              </a:ext>
            </a:extLst>
          </p:cNvPr>
          <p:cNvCxnSpPr>
            <a:stCxn id="37" idx="2"/>
            <a:endCxn id="64" idx="2"/>
          </p:cNvCxnSpPr>
          <p:nvPr/>
        </p:nvCxnSpPr>
        <p:spPr>
          <a:xfrm rot="16200000" flipH="1">
            <a:off x="4419238" y="1725317"/>
            <a:ext cx="668461" cy="5161279"/>
          </a:xfrm>
          <a:prstGeom prst="bentConnector3">
            <a:avLst>
              <a:gd name="adj1" fmla="val 134198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3135B4B8-2B71-421F-A118-91D72B0B2290}"/>
              </a:ext>
            </a:extLst>
          </p:cNvPr>
          <p:cNvCxnSpPr>
            <a:cxnSpLocks/>
            <a:stCxn id="8" idx="4"/>
            <a:endCxn id="64" idx="2"/>
          </p:cNvCxnSpPr>
          <p:nvPr/>
        </p:nvCxnSpPr>
        <p:spPr>
          <a:xfrm rot="16200000" flipH="1">
            <a:off x="4076284" y="1382363"/>
            <a:ext cx="642359" cy="5873289"/>
          </a:xfrm>
          <a:prstGeom prst="bentConnector3">
            <a:avLst>
              <a:gd name="adj1" fmla="val 135588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8F3C2A8-DAFE-477E-837F-565230B6D380}"/>
              </a:ext>
            </a:extLst>
          </p:cNvPr>
          <p:cNvSpPr/>
          <p:nvPr/>
        </p:nvSpPr>
        <p:spPr>
          <a:xfrm>
            <a:off x="8152249" y="3195929"/>
            <a:ext cx="3974645" cy="36009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/>
              <a:t>원심은 이 사건 특허발명의 진보성이 비교대상발명 </a:t>
            </a:r>
            <a:r>
              <a:rPr lang="en-US" altLang="ko-KR" sz="1200" dirty="0"/>
              <a:t>1</a:t>
            </a:r>
            <a:r>
              <a:rPr lang="ko-KR" altLang="en-US" sz="1200" dirty="0"/>
              <a:t>에 의해서 부정된다고 판단하고</a:t>
            </a:r>
            <a:r>
              <a:rPr lang="en-US" altLang="ko-KR" sz="1200" dirty="0"/>
              <a:t>, </a:t>
            </a:r>
            <a:r>
              <a:rPr lang="ko-KR" altLang="en-US" sz="1200" dirty="0"/>
              <a:t>부가적으로 비교대상발명 </a:t>
            </a:r>
            <a:r>
              <a:rPr lang="en-US" altLang="ko-KR" sz="1200" dirty="0"/>
              <a:t>1</a:t>
            </a:r>
            <a:r>
              <a:rPr lang="ko-KR" altLang="en-US" sz="1200" dirty="0"/>
              <a:t>과 이전 </a:t>
            </a:r>
            <a:r>
              <a:rPr lang="ko-KR" altLang="en-US" sz="1200" dirty="0" err="1"/>
              <a:t>확정심결의</a:t>
            </a:r>
            <a:r>
              <a:rPr lang="ko-KR" altLang="en-US" sz="1200" dirty="0"/>
              <a:t> </a:t>
            </a:r>
            <a:r>
              <a:rPr lang="ko-KR" altLang="en-US" sz="1200" dirty="0" err="1"/>
              <a:t>선행기술이었던</a:t>
            </a:r>
            <a:r>
              <a:rPr lang="ko-KR" altLang="en-US" sz="1200" dirty="0"/>
              <a:t> 비교대상발명 </a:t>
            </a:r>
            <a:r>
              <a:rPr lang="en-US" altLang="ko-KR" sz="1200" dirty="0"/>
              <a:t>2(</a:t>
            </a:r>
            <a:r>
              <a:rPr lang="ko-KR" altLang="en-US" sz="1200" dirty="0"/>
              <a:t>원심 절차에서 추가되었다</a:t>
            </a:r>
            <a:r>
              <a:rPr lang="en-US" altLang="ko-KR" sz="1200" dirty="0"/>
              <a:t>)</a:t>
            </a:r>
            <a:r>
              <a:rPr lang="ko-KR" altLang="en-US" sz="1200" dirty="0"/>
              <a:t>의 결합에 의해서도 그 진보성이 부정된다고 판단하였다</a:t>
            </a:r>
            <a:r>
              <a:rPr lang="en-US" altLang="ko-KR" sz="1200" dirty="0"/>
              <a:t>. </a:t>
            </a:r>
            <a:r>
              <a:rPr lang="ko-KR" altLang="en-US" sz="1200" dirty="0"/>
              <a:t>그런데 원심의 위 부가적 판단은 전체적으로</a:t>
            </a:r>
            <a:r>
              <a:rPr lang="en-US" altLang="ko-KR" sz="1200" dirty="0"/>
              <a:t>, </a:t>
            </a:r>
            <a:r>
              <a:rPr lang="ko-KR" altLang="en-US" sz="1200" dirty="0"/>
              <a:t>그 발명이 속하는 기술분야에서 통상의 지식을 가진 사람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‘통상의 </a:t>
            </a:r>
            <a:r>
              <a:rPr lang="ko-KR" altLang="en-US" sz="1200" dirty="0" err="1"/>
              <a:t>기술자’라고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이 이전 비교대상발명과는 달리 비교대상발명 </a:t>
            </a:r>
            <a:r>
              <a:rPr lang="en-US" altLang="ko-KR" sz="1200" dirty="0"/>
              <a:t>1</a:t>
            </a:r>
            <a:r>
              <a:rPr lang="ko-KR" altLang="en-US" sz="1200" dirty="0"/>
              <a:t>에 추가로 구비되어 있는 ‘보조인출체</a:t>
            </a:r>
            <a:r>
              <a:rPr lang="en-US" altLang="ko-KR" sz="1200" dirty="0"/>
              <a:t>(8)</a:t>
            </a:r>
            <a:r>
              <a:rPr lang="ko-KR" altLang="en-US" sz="1200" dirty="0"/>
              <a:t>에 설치된 </a:t>
            </a:r>
            <a:r>
              <a:rPr lang="ko-KR" altLang="en-US" sz="1200" dirty="0" err="1"/>
              <a:t>보조피이더</a:t>
            </a:r>
            <a:r>
              <a:rPr lang="en-US" altLang="ko-KR" sz="1200" dirty="0"/>
              <a:t>(9)’</a:t>
            </a:r>
            <a:r>
              <a:rPr lang="ko-KR" altLang="en-US" sz="1200" dirty="0"/>
              <a:t>구성으로부터 </a:t>
            </a:r>
            <a:r>
              <a:rPr lang="ko-KR" altLang="en-US" sz="1200" dirty="0" err="1"/>
              <a:t>이사건</a:t>
            </a:r>
            <a:r>
              <a:rPr lang="ko-KR" altLang="en-US" sz="1200" dirty="0"/>
              <a:t> 특허발명의 기술적 특징을 이루는 구성 </a:t>
            </a:r>
            <a:r>
              <a:rPr lang="en-US" altLang="ko-KR" sz="1200" dirty="0"/>
              <a:t>2</a:t>
            </a:r>
            <a:r>
              <a:rPr lang="ko-KR" altLang="en-US" sz="1200" dirty="0"/>
              <a:t>의 ‘</a:t>
            </a:r>
            <a:r>
              <a:rPr lang="ko-KR" altLang="en-US" sz="1200" dirty="0" err="1"/>
              <a:t>부정제피이더</a:t>
            </a:r>
            <a:r>
              <a:rPr lang="en-US" altLang="ko-KR" sz="1200" dirty="0"/>
              <a:t>(72)’</a:t>
            </a:r>
            <a:r>
              <a:rPr lang="ko-KR" altLang="en-US" sz="1200" dirty="0"/>
              <a:t>구성을 용이하게 도출할 수 있다는 전제 아래</a:t>
            </a:r>
            <a:r>
              <a:rPr lang="en-US" altLang="ko-KR" sz="1200" dirty="0"/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통상의 기술자라면 여기에 비교대상발명 </a:t>
            </a:r>
            <a:r>
              <a:rPr lang="en-US" altLang="ko-KR" sz="1200" dirty="0">
                <a:solidFill>
                  <a:srgbClr val="FF0000"/>
                </a:solidFill>
              </a:rPr>
              <a:t>2</a:t>
            </a:r>
            <a:r>
              <a:rPr lang="ko-KR" altLang="en-US" sz="1200" dirty="0">
                <a:solidFill>
                  <a:srgbClr val="FF0000"/>
                </a:solidFill>
              </a:rPr>
              <a:t>를 추가적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보충적으로 결합함으로써 이 사건 특허발명을 용이하게 발명할 수 있으므로 그 진보성이 부정된다는 취지</a:t>
            </a:r>
            <a:r>
              <a:rPr lang="ko-KR" altLang="en-US" sz="1200" dirty="0"/>
              <a:t>라고 할 것이다</a:t>
            </a:r>
            <a:r>
              <a:rPr lang="en-US" altLang="ko-KR" sz="1200" dirty="0"/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따라서 원심의 이 부분 판단 내용은 앞서 본 바와 같은 이전 </a:t>
            </a:r>
            <a:r>
              <a:rPr lang="ko-KR" altLang="en-US" sz="1200" dirty="0" err="1">
                <a:solidFill>
                  <a:srgbClr val="FF0000"/>
                </a:solidFill>
              </a:rPr>
              <a:t>확정심결의</a:t>
            </a:r>
            <a:r>
              <a:rPr lang="ko-KR" altLang="en-US" sz="1200" dirty="0">
                <a:solidFill>
                  <a:srgbClr val="FF0000"/>
                </a:solidFill>
              </a:rPr>
              <a:t> 기본이 된 이유와 실질적으로 저촉된다고 할 수 없으므로</a:t>
            </a:r>
            <a:r>
              <a:rPr lang="en-US" altLang="ko-KR" sz="1200" dirty="0"/>
              <a:t>, </a:t>
            </a:r>
            <a:r>
              <a:rPr lang="ko-KR" altLang="en-US" sz="1200" dirty="0"/>
              <a:t>비록 비교대상발명 </a:t>
            </a:r>
            <a:r>
              <a:rPr lang="en-US" altLang="ko-KR" sz="1200" dirty="0"/>
              <a:t>2</a:t>
            </a:r>
            <a:r>
              <a:rPr lang="ko-KR" altLang="en-US" sz="1200" dirty="0"/>
              <a:t>에 의하여 이 사건 특허발명의 진보성이 부정되지 아니한다고 판단한 이전 </a:t>
            </a:r>
            <a:r>
              <a:rPr lang="ko-KR" altLang="en-US" sz="1200" dirty="0" err="1"/>
              <a:t>확정심결과는</a:t>
            </a:r>
            <a:r>
              <a:rPr lang="ko-KR" altLang="en-US" sz="1200" dirty="0"/>
              <a:t> 그 결론이 결과적으로 달라졌다고 하더라도 일사부재리 원칙에 반한다고 할 수 없다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885F3E1-B530-452A-9A3E-8CF405940A00}"/>
              </a:ext>
            </a:extLst>
          </p:cNvPr>
          <p:cNvSpPr/>
          <p:nvPr/>
        </p:nvSpPr>
        <p:spPr>
          <a:xfrm>
            <a:off x="651875" y="3923766"/>
            <a:ext cx="95918" cy="95918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48AF98E-701F-4E6A-B793-BA7281EF12D1}"/>
              </a:ext>
            </a:extLst>
          </p:cNvPr>
          <p:cNvSpPr/>
          <p:nvPr/>
        </p:nvSpPr>
        <p:spPr>
          <a:xfrm>
            <a:off x="17252" y="4904051"/>
            <a:ext cx="8057073" cy="193899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</a:rPr>
              <a:t>다른 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CASE(</a:t>
            </a: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</a:rPr>
              <a:t>특허법원 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2018. 7. 5. </a:t>
            </a: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</a:rPr>
              <a:t>선고 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2017</a:t>
            </a:r>
            <a:r>
              <a:rPr lang="ko-KR" altLang="en-US" sz="1200" b="1" dirty="0">
                <a:solidFill>
                  <a:schemeClr val="accent1">
                    <a:lumMod val="50000"/>
                  </a:schemeClr>
                </a:solidFill>
              </a:rPr>
              <a:t>허</a:t>
            </a:r>
            <a:r>
              <a:rPr lang="en-US" altLang="ko-KR" sz="1200" b="1" dirty="0">
                <a:solidFill>
                  <a:schemeClr val="accent1">
                    <a:lumMod val="50000"/>
                  </a:schemeClr>
                </a:solidFill>
              </a:rPr>
              <a:t>5207): </a:t>
            </a:r>
            <a:r>
              <a:rPr lang="ko-KR" altLang="en-US" sz="1200" dirty="0"/>
              <a:t>원고는 </a:t>
            </a:r>
            <a:r>
              <a:rPr lang="en-US" altLang="ko-KR" sz="1200" dirty="0"/>
              <a:t>2012</a:t>
            </a:r>
            <a:r>
              <a:rPr lang="ko-KR" altLang="en-US" sz="1200" dirty="0"/>
              <a:t>년경 피고들의 특허가 </a:t>
            </a:r>
            <a:r>
              <a:rPr lang="ko-KR" altLang="en-US" sz="1200" dirty="0">
                <a:solidFill>
                  <a:srgbClr val="FF0000"/>
                </a:solidFill>
              </a:rPr>
              <a:t>선행발명 </a:t>
            </a:r>
            <a:r>
              <a:rPr lang="en-US" altLang="ko-KR" sz="1200" dirty="0">
                <a:solidFill>
                  <a:srgbClr val="FF0000"/>
                </a:solidFill>
              </a:rPr>
              <a:t>3, 4</a:t>
            </a:r>
            <a:r>
              <a:rPr lang="ko-KR" altLang="en-US" sz="1200" dirty="0"/>
              <a:t>에 의하여 진보성이 부정된다는 이유로 등록무효심판을 청구하였으나</a:t>
            </a:r>
            <a:r>
              <a:rPr lang="en-US" altLang="ko-KR" sz="1200" dirty="0"/>
              <a:t>, </a:t>
            </a:r>
            <a:r>
              <a:rPr lang="ko-KR" altLang="en-US" sz="1200" dirty="0"/>
              <a:t>특허심판원은 이를 기각하고 그 </a:t>
            </a:r>
            <a:r>
              <a:rPr lang="ko-KR" altLang="en-US" sz="1200" dirty="0" err="1"/>
              <a:t>심결은</a:t>
            </a:r>
            <a:r>
              <a:rPr lang="ko-KR" altLang="en-US" sz="1200" dirty="0"/>
              <a:t> 확정되었다</a:t>
            </a:r>
            <a:r>
              <a:rPr lang="en-US" altLang="ko-KR" sz="1200" dirty="0"/>
              <a:t>. </a:t>
            </a:r>
            <a:r>
              <a:rPr lang="ko-KR" altLang="en-US" sz="1200" dirty="0"/>
              <a:t>원고는 </a:t>
            </a:r>
            <a:r>
              <a:rPr lang="en-US" altLang="ko-KR" sz="1200" dirty="0"/>
              <a:t>2016</a:t>
            </a:r>
            <a:r>
              <a:rPr lang="ko-KR" altLang="en-US" sz="1200" dirty="0"/>
              <a:t>년에 이르러 다시 피고들을 상대로 </a:t>
            </a:r>
            <a:r>
              <a:rPr lang="ko-KR" altLang="en-US" sz="1200" dirty="0">
                <a:solidFill>
                  <a:srgbClr val="FF0000"/>
                </a:solidFill>
              </a:rPr>
              <a:t>선행발명 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내지 </a:t>
            </a:r>
            <a:r>
              <a:rPr lang="en-US" altLang="ko-KR" sz="1200" dirty="0">
                <a:solidFill>
                  <a:srgbClr val="FF0000"/>
                </a:solidFill>
              </a:rPr>
              <a:t>5</a:t>
            </a:r>
            <a:r>
              <a:rPr lang="ko-KR" altLang="en-US" sz="1200" dirty="0"/>
              <a:t>에 의하여 진보성이 부정된다는 이유로 등록무효심판을 청구하였는데</a:t>
            </a:r>
            <a:r>
              <a:rPr lang="en-US" altLang="ko-KR" sz="1200" dirty="0"/>
              <a:t>, </a:t>
            </a:r>
            <a:r>
              <a:rPr lang="ko-KR" altLang="en-US" sz="1200" dirty="0"/>
              <a:t>선행발명 </a:t>
            </a:r>
            <a:r>
              <a:rPr lang="en-US" altLang="ko-KR" sz="1200" dirty="0"/>
              <a:t>1, 2, 5</a:t>
            </a:r>
            <a:r>
              <a:rPr lang="ko-KR" altLang="en-US" sz="1200" dirty="0"/>
              <a:t>는 새로운 증거이므로 심판청구가 일사부재리의 원칙에 저촉되는 것은 아니지만</a:t>
            </a:r>
            <a:r>
              <a:rPr lang="en-US" altLang="ko-KR" sz="1200" dirty="0"/>
              <a:t>, </a:t>
            </a:r>
            <a:r>
              <a:rPr lang="ko-KR" altLang="en-US" sz="1200" dirty="0"/>
              <a:t>선행발명 </a:t>
            </a:r>
            <a:r>
              <a:rPr lang="en-US" altLang="ko-KR" sz="1200" dirty="0"/>
              <a:t>1 </a:t>
            </a:r>
            <a:r>
              <a:rPr lang="ko-KR" altLang="en-US" sz="1200" dirty="0"/>
              <a:t>내지 </a:t>
            </a:r>
            <a:r>
              <a:rPr lang="en-US" altLang="ko-KR" sz="1200" dirty="0"/>
              <a:t>5</a:t>
            </a:r>
            <a:r>
              <a:rPr lang="ko-KR" altLang="en-US" sz="1200" dirty="0"/>
              <a:t>에 의하더라도 진보성이 부정되지 않는다고 기각하는 이 사건 </a:t>
            </a:r>
            <a:r>
              <a:rPr lang="ko-KR" altLang="en-US" sz="1200" dirty="0" err="1"/>
              <a:t>심결을</a:t>
            </a:r>
            <a:r>
              <a:rPr lang="ko-KR" altLang="en-US" sz="1200" dirty="0"/>
              <a:t> 하였다</a:t>
            </a:r>
            <a:r>
              <a:rPr lang="en-US" altLang="ko-KR" sz="1200" dirty="0"/>
              <a:t>. </a:t>
            </a:r>
            <a:r>
              <a:rPr lang="ko-KR" altLang="en-US" sz="1200" dirty="0"/>
              <a:t>그런데 원고가 제출한 위 증거들 중 선행발명 </a:t>
            </a:r>
            <a:r>
              <a:rPr lang="en-US" altLang="ko-KR" sz="1200" dirty="0"/>
              <a:t>3, 4</a:t>
            </a:r>
            <a:r>
              <a:rPr lang="ko-KR" altLang="en-US" sz="1200" dirty="0"/>
              <a:t>는 확정된 종전 </a:t>
            </a:r>
            <a:r>
              <a:rPr lang="ko-KR" altLang="en-US" sz="1200" dirty="0" err="1"/>
              <a:t>심결의</a:t>
            </a:r>
            <a:r>
              <a:rPr lang="ko-KR" altLang="en-US" sz="1200" dirty="0"/>
              <a:t> 심판과정에서 제출되어 이미 판단되었던 것으로서 동일 증거에 해당한다</a:t>
            </a:r>
            <a:r>
              <a:rPr lang="en-US" altLang="ko-KR" sz="1200" dirty="0"/>
              <a:t>. </a:t>
            </a:r>
            <a:r>
              <a:rPr lang="ko-KR" altLang="en-US" sz="1200" dirty="0"/>
              <a:t>나아가 </a:t>
            </a:r>
            <a:r>
              <a:rPr lang="ko-KR" altLang="en-US" sz="1200" dirty="0">
                <a:solidFill>
                  <a:srgbClr val="FF0000"/>
                </a:solidFill>
              </a:rPr>
              <a:t>선행발명 </a:t>
            </a:r>
            <a:r>
              <a:rPr lang="en-US" altLang="ko-KR" sz="1200" dirty="0">
                <a:solidFill>
                  <a:srgbClr val="FF0000"/>
                </a:solidFill>
              </a:rPr>
              <a:t>1, 2, 5 </a:t>
            </a:r>
            <a:r>
              <a:rPr lang="ko-KR" altLang="en-US" sz="1200" dirty="0">
                <a:solidFill>
                  <a:srgbClr val="FF0000"/>
                </a:solidFill>
              </a:rPr>
              <a:t>내지 </a:t>
            </a:r>
            <a:r>
              <a:rPr lang="en-US" altLang="ko-KR" sz="1200" dirty="0">
                <a:solidFill>
                  <a:srgbClr val="FF0000"/>
                </a:solidFill>
              </a:rPr>
              <a:t>8</a:t>
            </a:r>
            <a:r>
              <a:rPr lang="ko-KR" altLang="en-US" sz="1200" dirty="0">
                <a:solidFill>
                  <a:srgbClr val="FF0000"/>
                </a:solidFill>
              </a:rPr>
              <a:t>도 확정된 종전 </a:t>
            </a:r>
            <a:r>
              <a:rPr lang="ko-KR" altLang="en-US" sz="1200" dirty="0" err="1">
                <a:solidFill>
                  <a:srgbClr val="FF0000"/>
                </a:solidFill>
              </a:rPr>
              <a:t>심결을</a:t>
            </a:r>
            <a:r>
              <a:rPr lang="ko-KR" altLang="en-US" sz="1200" dirty="0">
                <a:solidFill>
                  <a:srgbClr val="FF0000"/>
                </a:solidFill>
              </a:rPr>
              <a:t> 번복할 수 있을 정도로 유력한 증거라고 할 수 없으므로 확정된 종전 </a:t>
            </a:r>
            <a:r>
              <a:rPr lang="ko-KR" altLang="en-US" sz="1200" dirty="0" err="1">
                <a:solidFill>
                  <a:srgbClr val="FF0000"/>
                </a:solidFill>
              </a:rPr>
              <a:t>심결에서의</a:t>
            </a:r>
            <a:r>
              <a:rPr lang="ko-KR" altLang="en-US" sz="1200" dirty="0">
                <a:solidFill>
                  <a:srgbClr val="FF0000"/>
                </a:solidFill>
              </a:rPr>
              <a:t> 증거와 실질적으로 동일한 증거에 해당한다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en-US" altLang="ko-KR" sz="1200" dirty="0"/>
              <a:t> </a:t>
            </a:r>
            <a:r>
              <a:rPr lang="ko-KR" altLang="en-US" sz="1200" dirty="0"/>
              <a:t>결국 이 사건 심판청구는 확정된 종전 </a:t>
            </a:r>
            <a:r>
              <a:rPr lang="ko-KR" altLang="en-US" sz="1200" dirty="0" err="1"/>
              <a:t>심결과</a:t>
            </a:r>
            <a:r>
              <a:rPr lang="ko-KR" altLang="en-US" sz="1200" dirty="0"/>
              <a:t> 동일 사실 및 동일 증거에 의한 심판청구에 해당하므로 특허법 제</a:t>
            </a:r>
            <a:r>
              <a:rPr lang="en-US" altLang="ko-KR" sz="1200" dirty="0"/>
              <a:t>163</a:t>
            </a:r>
            <a:r>
              <a:rPr lang="ko-KR" altLang="en-US" sz="1200" dirty="0"/>
              <a:t>조의 일사부재리 원칙에 위배되어 허용될 수 없는 것이다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 이 사건 심판청구가 일사부재리의 원칙에 위배되지 않은 것으로 보아 이를 각하하지 않고 본안으로 나아가 판단한 나머지 이를 기각한 이 사건 </a:t>
            </a:r>
            <a:r>
              <a:rPr lang="ko-KR" altLang="en-US" sz="1200" dirty="0" err="1"/>
              <a:t>심결은</a:t>
            </a:r>
            <a:r>
              <a:rPr lang="ko-KR" altLang="en-US" sz="1200" dirty="0"/>
              <a:t> 위법하다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2295DCC-BEDD-4044-BC0F-1C2A60CB0B1A}"/>
              </a:ext>
            </a:extLst>
          </p:cNvPr>
          <p:cNvSpPr/>
          <p:nvPr/>
        </p:nvSpPr>
        <p:spPr>
          <a:xfrm>
            <a:off x="1437777" y="3951746"/>
            <a:ext cx="46083" cy="4608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0EADB4-F0A5-4914-B618-F6E0B5F6D8BC}"/>
              </a:ext>
            </a:extLst>
          </p:cNvPr>
          <p:cNvSpPr txBox="1"/>
          <p:nvPr/>
        </p:nvSpPr>
        <p:spPr>
          <a:xfrm>
            <a:off x="2686504" y="4057482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유력증거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92D8835D-FBFB-4A1D-9AA5-FF7B8D7E092D}"/>
              </a:ext>
            </a:extLst>
          </p:cNvPr>
          <p:cNvCxnSpPr>
            <a:stCxn id="15" idx="1"/>
          </p:cNvCxnSpPr>
          <p:nvPr/>
        </p:nvCxnSpPr>
        <p:spPr>
          <a:xfrm flipH="1" flipV="1">
            <a:off x="2483272" y="4017809"/>
            <a:ext cx="203232" cy="224339"/>
          </a:xfrm>
          <a:prstGeom prst="straightConnector1">
            <a:avLst/>
          </a:prstGeom>
          <a:ln w="127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2780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163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일사부재리 적용 </a:t>
            </a:r>
            <a:r>
              <a:rPr lang="en-US" altLang="ko-KR" dirty="0"/>
              <a:t>CASE: </a:t>
            </a:r>
            <a:r>
              <a:rPr lang="ko-KR" altLang="en-US" dirty="0"/>
              <a:t>동일사실</a:t>
            </a:r>
          </a:p>
        </p:txBody>
      </p:sp>
      <p:sp>
        <p:nvSpPr>
          <p:cNvPr id="31" name="모서리가 둥근 직사각형 10">
            <a:extLst>
              <a:ext uri="{FF2B5EF4-FFF2-40B4-BE49-F238E27FC236}">
                <a16:creationId xmlns:a16="http://schemas.microsoft.com/office/drawing/2014/main" id="{83E8DC17-A890-4A8F-8AF6-87049ACC89A5}"/>
              </a:ext>
            </a:extLst>
          </p:cNvPr>
          <p:cNvSpPr/>
          <p:nvPr/>
        </p:nvSpPr>
        <p:spPr bwMode="auto">
          <a:xfrm>
            <a:off x="109477" y="1002199"/>
            <a:ext cx="5287296" cy="31399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2017. 1. 19.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2013</a:t>
            </a:r>
            <a:r>
              <a:rPr lang="ko-KR" altLang="en-US" sz="1400" dirty="0"/>
              <a:t>후</a:t>
            </a:r>
            <a:r>
              <a:rPr lang="en-US" altLang="ko-KR" sz="1400" dirty="0"/>
              <a:t>37 </a:t>
            </a:r>
            <a:r>
              <a:rPr lang="ko-KR" altLang="en-US" sz="1400" dirty="0"/>
              <a:t>전원합의체 판결 </a:t>
            </a:r>
            <a:r>
              <a:rPr lang="en-US" altLang="ko-KR" sz="1400" dirty="0"/>
              <a:t>[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/>
              <a:t>실</a:t>
            </a:r>
            <a:r>
              <a:rPr lang="en-US" altLang="ko-KR" sz="1400" dirty="0"/>
              <a:t>)]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016C75-8430-4388-9E51-7B3101DE3CF1}"/>
              </a:ext>
            </a:extLst>
          </p:cNvPr>
          <p:cNvSpPr/>
          <p:nvPr/>
        </p:nvSpPr>
        <p:spPr>
          <a:xfrm>
            <a:off x="0" y="1406922"/>
            <a:ext cx="12192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1200" dirty="0"/>
              <a:t>[1] </a:t>
            </a:r>
            <a:r>
              <a:rPr lang="ko-KR" altLang="en-US" sz="1200" dirty="0"/>
              <a:t>특허발명의 신규성 또는 진보성 판단과 관련하여 특허발명의 구성요소가 출원 전에 공지된 것인지는 사실인정의 문제이고</a:t>
            </a:r>
            <a:r>
              <a:rPr lang="en-US" altLang="ko-KR" sz="1200" dirty="0"/>
              <a:t>, </a:t>
            </a:r>
            <a:r>
              <a:rPr lang="ko-KR" altLang="en-US" sz="1200" dirty="0"/>
              <a:t>공지사실에 관한 증명책임은 신규성 또는 진보성이 부정된다고 주장하는 당사자에게 있다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 권리자가 자백하거나 법원에 현저한 사실로서 증명을 필요로 하지 않는 경우가 아니라면</a:t>
            </a:r>
            <a:r>
              <a:rPr lang="en-US" altLang="ko-KR" sz="1200" dirty="0"/>
              <a:t>, </a:t>
            </a:r>
            <a:r>
              <a:rPr lang="ko-KR" altLang="en-US" sz="1200" dirty="0"/>
              <a:t>공지사실은 증거에 의하여 증명되어야 하는 것이 원칙이다</a:t>
            </a:r>
            <a:r>
              <a:rPr lang="en-US" altLang="ko-KR" sz="1200" dirty="0"/>
              <a:t>. </a:t>
            </a:r>
            <a:r>
              <a:rPr lang="ko-KR" altLang="en-US" sz="1200" dirty="0"/>
              <a:t>그리고 </a:t>
            </a:r>
            <a:r>
              <a:rPr lang="ko-KR" altLang="en-US" sz="1200" dirty="0">
                <a:highlight>
                  <a:srgbClr val="FFFF00"/>
                </a:highlight>
              </a:rPr>
              <a:t>청구범위의 </a:t>
            </a:r>
            <a:r>
              <a:rPr lang="ko-KR" altLang="en-US" sz="1200" dirty="0" err="1">
                <a:highlight>
                  <a:srgbClr val="FFFF00"/>
                </a:highlight>
              </a:rPr>
              <a:t>전제부</a:t>
            </a:r>
            <a:r>
              <a:rPr lang="ko-KR" altLang="en-US" sz="1200" dirty="0">
                <a:highlight>
                  <a:srgbClr val="FFFF00"/>
                </a:highlight>
              </a:rPr>
              <a:t> 기재는 청구항의 문맥을 매끄럽게 하는 의미에서 발명을 요약하거나 기술분야를 기재하거나 발명이 적용되는 대상물품을 한정하는 등 목적이나 내용이 다양하므로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어떠한 구성요소가 전제부에 기재되었다는 사정만으로 공지성을 인정할 근거는 되지 못한다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  <a:r>
              <a:rPr lang="en-US" altLang="ko-KR" sz="1200" dirty="0"/>
              <a:t> </a:t>
            </a:r>
            <a:r>
              <a:rPr lang="ko-KR" altLang="en-US" sz="1200" dirty="0"/>
              <a:t>또한 </a:t>
            </a:r>
            <a:r>
              <a:rPr lang="ko-KR" altLang="en-US" sz="1200" dirty="0" err="1"/>
              <a:t>전제부</a:t>
            </a:r>
            <a:r>
              <a:rPr lang="ko-KR" altLang="en-US" sz="1200" dirty="0"/>
              <a:t> 기재 구성요소가 명세서에 배경기술 또는 종래기술로 기재될 수도 있는데</a:t>
            </a:r>
            <a:r>
              <a:rPr lang="en-US" altLang="ko-KR" sz="1200" dirty="0"/>
              <a:t>, </a:t>
            </a:r>
            <a:r>
              <a:rPr lang="ko-KR" altLang="en-US" sz="1200" dirty="0"/>
              <a:t>출원인이 명세서에 기재하는 배경기술 또는 종래기술은 출원발명의 기술적 의의를 이해하는 데 도움이 되고 선행기술 조사 및 심사에 유용한 기존의 기술이기는 하나 출원 전 공지되었음을 요건으로 하는 개념은 아니다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 </a:t>
            </a:r>
            <a:r>
              <a:rPr lang="ko-KR" altLang="en-US" sz="1200" dirty="0">
                <a:highlight>
                  <a:srgbClr val="FFFF00"/>
                </a:highlight>
              </a:rPr>
              <a:t>명세서에 배경기술 또는 종래기술로 기재되어 있다고 하여 그 자체로 공지기술로 볼 수도 없다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  <a:r>
              <a:rPr lang="en-US" altLang="ko-KR" sz="1200" dirty="0"/>
              <a:t> </a:t>
            </a:r>
            <a:r>
              <a:rPr lang="ko-KR" altLang="en-US" sz="1200" dirty="0"/>
              <a:t>다만 특허심사는 지식재산처 심사관에 의한 </a:t>
            </a:r>
            <a:r>
              <a:rPr lang="ko-KR" altLang="en-US" sz="1200" dirty="0" err="1"/>
              <a:t>거절이유통지와</a:t>
            </a:r>
            <a:r>
              <a:rPr lang="ko-KR" altLang="en-US" sz="1200" dirty="0"/>
              <a:t> 출원인의 대응에 의하여 서로 의견을 교환하는 과정을 통해 이루어지는 절차인 점에 비추어 보면</a:t>
            </a:r>
            <a:r>
              <a:rPr lang="en-US" altLang="ko-KR" sz="1200" dirty="0"/>
              <a:t>, </a:t>
            </a:r>
            <a:r>
              <a:rPr lang="ko-KR" altLang="en-US" sz="1200" dirty="0"/>
              <a:t>출원과정에서 명세서나 보정서 또는 의견서 등에 의하여 출원된 발명의 일부 구성요소가 출원 전에 공지된 것이라는 취지가 드러나는 경우에는 이를 토대로 하여 이후의 심사절차가 진행될 수 있도록 할 필요가 있다</a:t>
            </a:r>
            <a:r>
              <a:rPr lang="en-US" altLang="ko-KR" sz="1200" dirty="0"/>
              <a:t>. </a:t>
            </a:r>
            <a:r>
              <a:rPr lang="ko-KR" altLang="en-US" sz="1200" dirty="0"/>
              <a:t>그렇다면 </a:t>
            </a:r>
            <a:r>
              <a:rPr lang="ko-KR" altLang="en-US" sz="1200" dirty="0">
                <a:highlight>
                  <a:srgbClr val="FFFF00"/>
                </a:highlight>
              </a:rPr>
              <a:t>명세서의 전체적인 기재와 출원경과를 종합적으로 고려하여 출원인이 일정한 구성요소는 단순히 배경기술 또는 종래기술인 정도를 넘어서 공지기술이라는 취지로 청구범위의 전제부에 기재하였음을 인정할 수 있는 경우에만 별도의 증거 없이도 </a:t>
            </a:r>
            <a:r>
              <a:rPr lang="ko-KR" altLang="en-US" sz="1200" dirty="0" err="1">
                <a:highlight>
                  <a:srgbClr val="FFFF00"/>
                </a:highlight>
              </a:rPr>
              <a:t>전제부</a:t>
            </a:r>
            <a:r>
              <a:rPr lang="ko-KR" altLang="en-US" sz="1200" dirty="0">
                <a:highlight>
                  <a:srgbClr val="FFFF00"/>
                </a:highlight>
              </a:rPr>
              <a:t> 기재 구성요소를 출원 전 공지된 것이라고 사실상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추정</a:t>
            </a:r>
            <a:r>
              <a:rPr lang="ko-KR" altLang="en-US" sz="1200" dirty="0"/>
              <a:t>함이 타당하다</a:t>
            </a:r>
            <a:r>
              <a:rPr lang="en-US" altLang="ko-KR" sz="1200" dirty="0"/>
              <a:t>. </a:t>
            </a:r>
            <a:r>
              <a:rPr lang="ko-KR" altLang="en-US" sz="1200" dirty="0"/>
              <a:t>그러나 이러한 추정이 절대적인 것은 아니므로 출원인이 </a:t>
            </a:r>
            <a:r>
              <a:rPr lang="ko-KR" altLang="en-US" sz="1200" dirty="0">
                <a:highlight>
                  <a:srgbClr val="FFFF00"/>
                </a:highlight>
              </a:rPr>
              <a:t>실제로는 출원 당시 아직 공개되지 아니한 선출원발명이나 출원인의 회사 내부에만 알려져 있었던 기술을 착오로 공지된 것으로 잘못 기재하였음이 밝혀지는 경우와 같이 특별한 사정이 있는 때에는 추정이 번복</a:t>
            </a:r>
            <a:r>
              <a:rPr lang="ko-KR" altLang="en-US" sz="1200" dirty="0"/>
              <a:t>될 수 있다</a:t>
            </a:r>
            <a:r>
              <a:rPr lang="en-US" altLang="ko-KR" sz="1200" dirty="0"/>
              <a:t>. </a:t>
            </a:r>
            <a:r>
              <a:rPr lang="ko-KR" altLang="en-US" sz="1200" dirty="0"/>
              <a:t>그리고 위와 같은 법리는 실용신안의 경우에도 마찬가지로 적용된다</a:t>
            </a:r>
            <a:r>
              <a:rPr lang="en-US" altLang="ko-KR" sz="1200" dirty="0"/>
              <a:t>. </a:t>
            </a:r>
          </a:p>
          <a:p>
            <a:pPr algn="just"/>
            <a:r>
              <a:rPr lang="en-US" altLang="ko-KR" sz="1200" dirty="0"/>
              <a:t>[2] </a:t>
            </a:r>
            <a:r>
              <a:rPr lang="ko-KR" altLang="en-US" sz="1200" dirty="0"/>
              <a:t>특허나 실용신안의 등록무효심판청구에 관하여 종전에 확정된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있더라도 종전 심판에서 </a:t>
            </a:r>
            <a:r>
              <a:rPr lang="ko-KR" altLang="en-US" sz="1200" dirty="0">
                <a:highlight>
                  <a:srgbClr val="FFFF00"/>
                </a:highlight>
              </a:rPr>
              <a:t>청구원인이 된 무효사유 외에 다른 무효사유가 추가된 경우에는 새로운 심판청구는 그 자체로 동일사실에 의한 것이 아니어서 일사부재리의 원칙에 위배되지는 아니한다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  <a:r>
              <a:rPr lang="en-US" altLang="ko-KR" sz="1200" dirty="0"/>
              <a:t> </a:t>
            </a:r>
            <a:r>
              <a:rPr lang="ko-KR" altLang="en-US" sz="1200" dirty="0"/>
              <a:t>그러나 모순</a:t>
            </a:r>
            <a:r>
              <a:rPr lang="en-US" altLang="ko-KR" sz="1200" dirty="0"/>
              <a:t>·</a:t>
            </a:r>
            <a:r>
              <a:rPr lang="ko-KR" altLang="en-US" sz="1200" dirty="0"/>
              <a:t>저촉되는 복수의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발생하는 것을 방지하고자 하는 일사부재리 제도의 취지를 고려하면</a:t>
            </a:r>
            <a:r>
              <a:rPr lang="en-US" altLang="ko-KR" sz="1200" dirty="0"/>
              <a:t>, </a:t>
            </a:r>
            <a:r>
              <a:rPr lang="ko-KR" altLang="en-US" sz="1200" dirty="0"/>
              <a:t>위와 같은 경우에도 종전에 확정된 </a:t>
            </a:r>
            <a:r>
              <a:rPr lang="ko-KR" altLang="en-US" sz="1200" dirty="0" err="1"/>
              <a:t>심결에서</a:t>
            </a:r>
            <a:r>
              <a:rPr lang="ko-KR" altLang="en-US" sz="1200" dirty="0"/>
              <a:t> 판단이 이루어진 </a:t>
            </a:r>
            <a:r>
              <a:rPr lang="ko-KR" altLang="en-US" sz="1200" dirty="0">
                <a:highlight>
                  <a:srgbClr val="FFFF00"/>
                </a:highlight>
              </a:rPr>
              <a:t>청구원인과 공통되는 부분에 대해서는 일사부재리의 원칙 위배 여부의 관점에서 확정된 </a:t>
            </a:r>
            <a:r>
              <a:rPr lang="ko-KR" altLang="en-US" sz="1200" dirty="0" err="1">
                <a:highlight>
                  <a:srgbClr val="FFFF00"/>
                </a:highlight>
              </a:rPr>
              <a:t>심결을</a:t>
            </a:r>
            <a:r>
              <a:rPr lang="ko-KR" altLang="en-US" sz="1200" dirty="0">
                <a:highlight>
                  <a:srgbClr val="FFFF00"/>
                </a:highlight>
              </a:rPr>
              <a:t> 번복할 수 있을 정도로 유력한 증거가 새로이 제출되었는지를 따져 종전 </a:t>
            </a:r>
            <a:r>
              <a:rPr lang="ko-KR" altLang="en-US" sz="1200" dirty="0" err="1">
                <a:highlight>
                  <a:srgbClr val="FFFF00"/>
                </a:highlight>
              </a:rPr>
              <a:t>심결에서와</a:t>
            </a:r>
            <a:r>
              <a:rPr lang="ko-KR" altLang="en-US" sz="1200" dirty="0">
                <a:highlight>
                  <a:srgbClr val="FFFF00"/>
                </a:highlight>
              </a:rPr>
              <a:t> 다른 결론을 내릴 것인지를 판단</a:t>
            </a:r>
            <a:r>
              <a:rPr lang="ko-KR" altLang="en-US" sz="1200" dirty="0"/>
              <a:t>하여야 한다</a:t>
            </a:r>
            <a:r>
              <a:rPr lang="en-US" altLang="ko-KR" sz="1200" dirty="0"/>
              <a:t>.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sp>
        <p:nvSpPr>
          <p:cNvPr id="42" name="Line 5">
            <a:extLst>
              <a:ext uri="{FF2B5EF4-FFF2-40B4-BE49-F238E27FC236}">
                <a16:creationId xmlns:a16="http://schemas.microsoft.com/office/drawing/2014/main" id="{C3D521F3-C89A-4691-A233-1BC4F6DB6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5445235"/>
            <a:ext cx="11530012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0F57E0-0C93-429E-B52D-950B18A62824}"/>
              </a:ext>
            </a:extLst>
          </p:cNvPr>
          <p:cNvSpPr txBox="1"/>
          <p:nvPr/>
        </p:nvSpPr>
        <p:spPr>
          <a:xfrm>
            <a:off x="905348" y="5701410"/>
            <a:ext cx="146906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무효심판청구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E416A6A-17E0-4A3B-8C28-9560A00280A4}"/>
              </a:ext>
            </a:extLst>
          </p:cNvPr>
          <p:cNvSpPr/>
          <p:nvPr/>
        </p:nvSpPr>
        <p:spPr>
          <a:xfrm>
            <a:off x="1562512" y="535130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4B9FD84-6472-4A38-96A7-0961D12BE1A4}"/>
              </a:ext>
            </a:extLst>
          </p:cNvPr>
          <p:cNvCxnSpPr>
            <a:cxnSpLocks/>
            <a:stCxn id="44" idx="0"/>
            <a:endCxn id="47" idx="4"/>
          </p:cNvCxnSpPr>
          <p:nvPr/>
        </p:nvCxnSpPr>
        <p:spPr>
          <a:xfrm flipH="1" flipV="1">
            <a:off x="1639881" y="551263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93DE314-156B-4AE0-A6A1-A3E38D2DAD5E}"/>
              </a:ext>
            </a:extLst>
          </p:cNvPr>
          <p:cNvSpPr txBox="1"/>
          <p:nvPr/>
        </p:nvSpPr>
        <p:spPr>
          <a:xfrm>
            <a:off x="2573620" y="5701410"/>
            <a:ext cx="113939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기각심결확정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F25F9F4-5090-4DB9-9E09-63BBFFE26323}"/>
              </a:ext>
            </a:extLst>
          </p:cNvPr>
          <p:cNvSpPr/>
          <p:nvPr/>
        </p:nvSpPr>
        <p:spPr>
          <a:xfrm>
            <a:off x="3065949" y="535130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0124424-B4CE-4C83-9036-BBB347007F6C}"/>
              </a:ext>
            </a:extLst>
          </p:cNvPr>
          <p:cNvCxnSpPr>
            <a:cxnSpLocks/>
            <a:stCxn id="28" idx="0"/>
            <a:endCxn id="29" idx="4"/>
          </p:cNvCxnSpPr>
          <p:nvPr/>
        </p:nvCxnSpPr>
        <p:spPr>
          <a:xfrm flipH="1" flipV="1">
            <a:off x="3143318" y="551263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E752647-CA77-4730-9828-80C4ADAC153D}"/>
              </a:ext>
            </a:extLst>
          </p:cNvPr>
          <p:cNvSpPr txBox="1"/>
          <p:nvPr/>
        </p:nvSpPr>
        <p:spPr>
          <a:xfrm>
            <a:off x="8929893" y="5701410"/>
            <a:ext cx="68801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CA50C72E-8883-4BC0-9B5A-9B09990D79CD}"/>
              </a:ext>
            </a:extLst>
          </p:cNvPr>
          <p:cNvSpPr/>
          <p:nvPr/>
        </p:nvSpPr>
        <p:spPr>
          <a:xfrm>
            <a:off x="9196529" y="535130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52B3968F-EB0B-4EEB-88EC-8B7FF3F3AE32}"/>
              </a:ext>
            </a:extLst>
          </p:cNvPr>
          <p:cNvCxnSpPr>
            <a:cxnSpLocks/>
            <a:stCxn id="55" idx="0"/>
            <a:endCxn id="56" idx="4"/>
          </p:cNvCxnSpPr>
          <p:nvPr/>
        </p:nvCxnSpPr>
        <p:spPr>
          <a:xfrm flipH="1" flipV="1">
            <a:off x="9273898" y="551263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73B864B-59F2-4BA5-BF6F-47FFC60441B2}"/>
              </a:ext>
            </a:extLst>
          </p:cNvPr>
          <p:cNvSpPr txBox="1"/>
          <p:nvPr/>
        </p:nvSpPr>
        <p:spPr>
          <a:xfrm>
            <a:off x="736589" y="6163075"/>
            <a:ext cx="180658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 위반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by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8FA4ACE-01F8-4A17-B306-7D24424AE20E}"/>
              </a:ext>
            </a:extLst>
          </p:cNvPr>
          <p:cNvCxnSpPr>
            <a:stCxn id="36" idx="0"/>
            <a:endCxn id="44" idx="2"/>
          </p:cNvCxnSpPr>
          <p:nvPr/>
        </p:nvCxnSpPr>
        <p:spPr>
          <a:xfrm flipV="1">
            <a:off x="1639882" y="5978409"/>
            <a:ext cx="0" cy="1846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2870961-7113-44E7-A09D-EB1E428958DF}"/>
              </a:ext>
            </a:extLst>
          </p:cNvPr>
          <p:cNvSpPr txBox="1"/>
          <p:nvPr/>
        </p:nvSpPr>
        <p:spPr>
          <a:xfrm>
            <a:off x="3924175" y="5701410"/>
            <a:ext cx="1469068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 무효심판청구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C4D937AA-A7B0-40AE-B45B-7C6574C2C3AA}"/>
              </a:ext>
            </a:extLst>
          </p:cNvPr>
          <p:cNvSpPr/>
          <p:nvPr/>
        </p:nvSpPr>
        <p:spPr>
          <a:xfrm>
            <a:off x="4581339" y="535130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0D91A23-6C4C-4D4B-9AA8-C9707D9C82DF}"/>
              </a:ext>
            </a:extLst>
          </p:cNvPr>
          <p:cNvCxnSpPr>
            <a:cxnSpLocks/>
            <a:stCxn id="40" idx="0"/>
            <a:endCxn id="41" idx="4"/>
          </p:cNvCxnSpPr>
          <p:nvPr/>
        </p:nvCxnSpPr>
        <p:spPr>
          <a:xfrm flipH="1" flipV="1">
            <a:off x="4658708" y="551263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B39100C4-75AC-4975-B99E-854B0B95D065}"/>
              </a:ext>
            </a:extLst>
          </p:cNvPr>
          <p:cNvSpPr txBox="1"/>
          <p:nvPr/>
        </p:nvSpPr>
        <p:spPr>
          <a:xfrm>
            <a:off x="5665714" y="5564921"/>
            <a:ext cx="1806586" cy="276999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  <a:latin typeface="+mn-ea"/>
              </a:rPr>
              <a:t>진보성 위반 </a:t>
            </a:r>
            <a:r>
              <a:rPr lang="en-US" altLang="ko-KR" sz="1200" dirty="0">
                <a:solidFill>
                  <a:srgbClr val="FFFF00"/>
                </a:solidFill>
                <a:latin typeface="+mn-ea"/>
              </a:rPr>
              <a:t>by </a:t>
            </a:r>
            <a:r>
              <a:rPr lang="ko-KR" altLang="en-US" sz="1200" dirty="0">
                <a:solidFill>
                  <a:srgbClr val="FFFF00"/>
                </a:solidFill>
                <a:latin typeface="+mn-ea"/>
              </a:rPr>
              <a:t>공지</a:t>
            </a:r>
            <a:r>
              <a:rPr lang="en-US" altLang="ko-KR" sz="1200" dirty="0">
                <a:solidFill>
                  <a:srgbClr val="FFFF00"/>
                </a:solidFill>
                <a:latin typeface="+mn-ea"/>
              </a:rPr>
              <a:t>1-3</a:t>
            </a:r>
            <a:endParaRPr lang="ko-KR" altLang="en-US" sz="1200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D572E1D-2387-4320-911F-93123698065D}"/>
              </a:ext>
            </a:extLst>
          </p:cNvPr>
          <p:cNvSpPr txBox="1"/>
          <p:nvPr/>
        </p:nvSpPr>
        <p:spPr>
          <a:xfrm>
            <a:off x="5665714" y="5888086"/>
            <a:ext cx="180658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신규성 위반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by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0641A8E-3C41-4AEE-B4DA-8EE0A079A323}"/>
              </a:ext>
            </a:extLst>
          </p:cNvPr>
          <p:cNvSpPr txBox="1"/>
          <p:nvPr/>
        </p:nvSpPr>
        <p:spPr>
          <a:xfrm>
            <a:off x="5665714" y="6217071"/>
            <a:ext cx="180658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확선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위반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by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4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689312F4-4D38-4BE6-8DB0-7BCAC39B233C}"/>
              </a:ext>
            </a:extLst>
          </p:cNvPr>
          <p:cNvCxnSpPr>
            <a:stCxn id="50" idx="1"/>
            <a:endCxn id="40" idx="3"/>
          </p:cNvCxnSpPr>
          <p:nvPr/>
        </p:nvCxnSpPr>
        <p:spPr>
          <a:xfrm rot="10800000" flipV="1">
            <a:off x="5393244" y="5703420"/>
            <a:ext cx="272471" cy="13648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B9D9FA01-D9C4-453D-AEBC-9CA3DD2F342C}"/>
              </a:ext>
            </a:extLst>
          </p:cNvPr>
          <p:cNvCxnSpPr>
            <a:stCxn id="62" idx="1"/>
            <a:endCxn id="40" idx="3"/>
          </p:cNvCxnSpPr>
          <p:nvPr/>
        </p:nvCxnSpPr>
        <p:spPr>
          <a:xfrm rot="10800000">
            <a:off x="5393244" y="5839910"/>
            <a:ext cx="272471" cy="18667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CC8DE744-BDBD-4F3A-B29C-E7E92B1E4C8E}"/>
              </a:ext>
            </a:extLst>
          </p:cNvPr>
          <p:cNvCxnSpPr>
            <a:stCxn id="63" idx="1"/>
            <a:endCxn id="40" idx="3"/>
          </p:cNvCxnSpPr>
          <p:nvPr/>
        </p:nvCxnSpPr>
        <p:spPr>
          <a:xfrm rot="10800000">
            <a:off x="5393244" y="5839911"/>
            <a:ext cx="272471" cy="51566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A4CB4C9-0D8E-4EA5-A875-8F3EE3A47E86}"/>
              </a:ext>
            </a:extLst>
          </p:cNvPr>
          <p:cNvSpPr txBox="1"/>
          <p:nvPr/>
        </p:nvSpPr>
        <p:spPr>
          <a:xfrm>
            <a:off x="7660585" y="5701410"/>
            <a:ext cx="1139398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4212CB8D-340A-4481-AD0F-E12545400930}"/>
              </a:ext>
            </a:extLst>
          </p:cNvPr>
          <p:cNvSpPr/>
          <p:nvPr/>
        </p:nvSpPr>
        <p:spPr>
          <a:xfrm>
            <a:off x="8152914" y="535130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6B69D885-7404-4F57-AE60-4ED6ED792BA7}"/>
              </a:ext>
            </a:extLst>
          </p:cNvPr>
          <p:cNvCxnSpPr>
            <a:cxnSpLocks/>
            <a:stCxn id="64" idx="0"/>
            <a:endCxn id="65" idx="4"/>
          </p:cNvCxnSpPr>
          <p:nvPr/>
        </p:nvCxnSpPr>
        <p:spPr>
          <a:xfrm flipH="1" flipV="1">
            <a:off x="8230283" y="551263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6997D16D-B448-4502-B2FA-DCEE5C4DCAC9}"/>
              </a:ext>
            </a:extLst>
          </p:cNvPr>
          <p:cNvSpPr txBox="1"/>
          <p:nvPr/>
        </p:nvSpPr>
        <p:spPr>
          <a:xfrm>
            <a:off x="11049825" y="5701410"/>
            <a:ext cx="68801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4C8B9C16-03FC-4FF4-B271-2B60C3CD4D98}"/>
              </a:ext>
            </a:extLst>
          </p:cNvPr>
          <p:cNvSpPr/>
          <p:nvPr/>
        </p:nvSpPr>
        <p:spPr>
          <a:xfrm>
            <a:off x="11316461" y="535130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429EDA52-7095-451A-8428-1522330C4E39}"/>
              </a:ext>
            </a:extLst>
          </p:cNvPr>
          <p:cNvCxnSpPr>
            <a:cxnSpLocks/>
            <a:stCxn id="67" idx="0"/>
            <a:endCxn id="70" idx="4"/>
          </p:cNvCxnSpPr>
          <p:nvPr/>
        </p:nvCxnSpPr>
        <p:spPr>
          <a:xfrm flipH="1" flipV="1">
            <a:off x="11393830" y="551263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DFFD9B4-DD50-4A0C-A73F-3AF78BD49A1A}"/>
              </a:ext>
            </a:extLst>
          </p:cNvPr>
          <p:cNvSpPr txBox="1"/>
          <p:nvPr/>
        </p:nvSpPr>
        <p:spPr>
          <a:xfrm>
            <a:off x="9766229" y="5701410"/>
            <a:ext cx="1139398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F6981AD-C0F2-4BBA-9AB4-2E780FD953DA}"/>
              </a:ext>
            </a:extLst>
          </p:cNvPr>
          <p:cNvSpPr/>
          <p:nvPr/>
        </p:nvSpPr>
        <p:spPr>
          <a:xfrm>
            <a:off x="10258558" y="535130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50F8C75E-9430-42C0-9132-FBDADFA56BD2}"/>
              </a:ext>
            </a:extLst>
          </p:cNvPr>
          <p:cNvCxnSpPr>
            <a:cxnSpLocks/>
            <a:stCxn id="73" idx="0"/>
            <a:endCxn id="75" idx="4"/>
          </p:cNvCxnSpPr>
          <p:nvPr/>
        </p:nvCxnSpPr>
        <p:spPr>
          <a:xfrm flipH="1" flipV="1">
            <a:off x="10335927" y="551263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627F458-3528-4608-9758-64FEFD780200}"/>
              </a:ext>
            </a:extLst>
          </p:cNvPr>
          <p:cNvSpPr txBox="1"/>
          <p:nvPr/>
        </p:nvSpPr>
        <p:spPr>
          <a:xfrm>
            <a:off x="4581339" y="4656703"/>
            <a:ext cx="7333020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심판을 각하하지 않고 진보성 위반에 대해서는 실권효를 인정하여 본안심리</a:t>
            </a:r>
            <a:r>
              <a:rPr lang="en-US" altLang="ko-KR" dirty="0">
                <a:solidFill>
                  <a:srgbClr val="FF0000"/>
                </a:solidFill>
              </a:rPr>
              <a:t>x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693865B-0ED0-403C-AB49-966CA8F6EE29}"/>
              </a:ext>
            </a:extLst>
          </p:cNvPr>
          <p:cNvCxnSpPr>
            <a:cxnSpLocks/>
          </p:cNvCxnSpPr>
          <p:nvPr/>
        </p:nvCxnSpPr>
        <p:spPr>
          <a:xfrm flipH="1">
            <a:off x="6970143" y="5008326"/>
            <a:ext cx="2303755" cy="52085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BDF04A38-360D-42FF-88F8-83CC6A55F4E8}"/>
              </a:ext>
            </a:extLst>
          </p:cNvPr>
          <p:cNvCxnSpPr/>
          <p:nvPr/>
        </p:nvCxnSpPr>
        <p:spPr>
          <a:xfrm>
            <a:off x="0" y="4294083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066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163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일사부재리 적용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CASE: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동일사실 및 증거의 판단시점</a:t>
            </a:r>
          </a:p>
        </p:txBody>
      </p:sp>
      <p:sp>
        <p:nvSpPr>
          <p:cNvPr id="31" name="모서리가 둥근 직사각형 10">
            <a:extLst>
              <a:ext uri="{FF2B5EF4-FFF2-40B4-BE49-F238E27FC236}">
                <a16:creationId xmlns:a16="http://schemas.microsoft.com/office/drawing/2014/main" id="{83E8DC17-A890-4A8F-8AF6-87049ACC89A5}"/>
              </a:ext>
            </a:extLst>
          </p:cNvPr>
          <p:cNvSpPr/>
          <p:nvPr/>
        </p:nvSpPr>
        <p:spPr bwMode="auto">
          <a:xfrm>
            <a:off x="208089" y="1002199"/>
            <a:ext cx="4641817" cy="313998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</a:schemeClr>
          </a:solidFill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2020. 4. 9.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2018</a:t>
            </a:r>
            <a:r>
              <a:rPr lang="ko-KR" altLang="en-US" sz="1400" dirty="0"/>
              <a:t>후</a:t>
            </a:r>
            <a:r>
              <a:rPr lang="en-US" altLang="ko-KR" sz="1400" dirty="0"/>
              <a:t>11360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016C75-8430-4388-9E51-7B3101DE3CF1}"/>
              </a:ext>
            </a:extLst>
          </p:cNvPr>
          <p:cNvSpPr/>
          <p:nvPr/>
        </p:nvSpPr>
        <p:spPr>
          <a:xfrm>
            <a:off x="232372" y="1333658"/>
            <a:ext cx="1168198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ko-KR" sz="1400" dirty="0"/>
              <a:t>[1] </a:t>
            </a:r>
            <a:r>
              <a:rPr lang="ko-KR" altLang="en-US" sz="1400" dirty="0"/>
              <a:t>특허법 제</a:t>
            </a:r>
            <a:r>
              <a:rPr lang="en-US" altLang="ko-KR" sz="1400" dirty="0"/>
              <a:t>163</a:t>
            </a:r>
            <a:r>
              <a:rPr lang="ko-KR" altLang="en-US" sz="1400" dirty="0"/>
              <a:t>조는 “이 법에 따른 심판의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확정되었을 때에는 그 사건에 대해서는 누구든지 동일 사실 및 동일 증거에 의하여 다시 심판을 청구할 수 없다</a:t>
            </a:r>
            <a:r>
              <a:rPr lang="en-US" altLang="ko-KR" sz="1400" dirty="0"/>
              <a:t>. </a:t>
            </a:r>
            <a:r>
              <a:rPr lang="ko-KR" altLang="en-US" sz="1400" dirty="0"/>
              <a:t>다만 확정된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</a:t>
            </a:r>
            <a:r>
              <a:rPr lang="ko-KR" altLang="en-US" sz="1400" dirty="0" err="1"/>
              <a:t>각하심결인</a:t>
            </a:r>
            <a:r>
              <a:rPr lang="ko-KR" altLang="en-US" sz="1400" dirty="0"/>
              <a:t> 경우에는 그러하지 아니하다</a:t>
            </a:r>
            <a:r>
              <a:rPr lang="en-US" altLang="ko-KR" sz="1400" dirty="0"/>
              <a:t>.”</a:t>
            </a:r>
            <a:r>
              <a:rPr lang="ko-KR" altLang="en-US" sz="1400" dirty="0"/>
              <a:t>라고 확정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일사부재리 효력을 정하고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따라서 위 규정을 위반한 심판청구는 누가 청구한 것이든 </a:t>
            </a:r>
            <a:r>
              <a:rPr lang="ko-KR" altLang="en-US" sz="1400" dirty="0" err="1"/>
              <a:t>부적법하여</a:t>
            </a:r>
            <a:r>
              <a:rPr lang="ko-KR" altLang="en-US" sz="1400" dirty="0"/>
              <a:t> 각하하여야 한다</a:t>
            </a:r>
            <a:r>
              <a:rPr lang="en-US" altLang="ko-KR" sz="1400" dirty="0"/>
              <a:t>. </a:t>
            </a:r>
            <a:r>
              <a:rPr lang="ko-KR" altLang="en-US" sz="1400" dirty="0"/>
              <a:t>심판청구인은 심판청구서를 제출한 후 그 요지를 변경할 수 없으나 청구의 이유를 보정하는 것은 허용된다</a:t>
            </a:r>
            <a:r>
              <a:rPr lang="en-US" altLang="ko-KR" sz="1400" dirty="0"/>
              <a:t>(</a:t>
            </a:r>
            <a:r>
              <a:rPr lang="ko-KR" altLang="en-US" sz="1400" dirty="0"/>
              <a:t>특허법 제</a:t>
            </a:r>
            <a:r>
              <a:rPr lang="en-US" altLang="ko-KR" sz="1400" dirty="0"/>
              <a:t>140</a:t>
            </a:r>
            <a:r>
              <a:rPr lang="ko-KR" altLang="en-US" sz="1400" dirty="0"/>
              <a:t>조 제</a:t>
            </a:r>
            <a:r>
              <a:rPr lang="en-US" altLang="ko-KR" sz="1400" dirty="0"/>
              <a:t>2</a:t>
            </a:r>
            <a:r>
              <a:rPr lang="ko-KR" altLang="en-US" sz="1400" dirty="0"/>
              <a:t>항 참조</a:t>
            </a:r>
            <a:r>
              <a:rPr lang="en-US" altLang="ko-KR" sz="1400" dirty="0"/>
              <a:t>). </a:t>
            </a:r>
            <a:r>
              <a:rPr lang="ko-KR" altLang="en-US" sz="1400" dirty="0"/>
              <a:t>따라서 </a:t>
            </a:r>
            <a:r>
              <a:rPr lang="ko-KR" altLang="en-US" sz="1400" dirty="0">
                <a:highlight>
                  <a:srgbClr val="FFFF00"/>
                </a:highlight>
              </a:rPr>
              <a:t>특허심판원은 심판청구 후 </a:t>
            </a:r>
            <a:r>
              <a:rPr lang="ko-KR" altLang="en-US" sz="1400" dirty="0" err="1">
                <a:highlight>
                  <a:srgbClr val="FFFF00"/>
                </a:highlight>
              </a:rPr>
              <a:t>심결</a:t>
            </a:r>
            <a:r>
              <a:rPr lang="ko-KR" altLang="en-US" sz="1400" dirty="0">
                <a:highlight>
                  <a:srgbClr val="FFFF00"/>
                </a:highlight>
              </a:rPr>
              <a:t> 시까지 보정된 사실과 이에 대한 증거를 모두 고려하여 </a:t>
            </a:r>
            <a:r>
              <a:rPr lang="ko-KR" altLang="en-US" sz="1400" dirty="0" err="1">
                <a:highlight>
                  <a:srgbClr val="FFFF00"/>
                </a:highlight>
              </a:rPr>
              <a:t>심결</a:t>
            </a:r>
            <a:r>
              <a:rPr lang="ko-KR" altLang="en-US" sz="1400" dirty="0">
                <a:highlight>
                  <a:srgbClr val="FFFF00"/>
                </a:highlight>
              </a:rPr>
              <a:t> 시를 기준으로 심판청구가 선행 확정 </a:t>
            </a:r>
            <a:r>
              <a:rPr lang="ko-KR" altLang="en-US" sz="1400" dirty="0" err="1">
                <a:highlight>
                  <a:srgbClr val="FFFF00"/>
                </a:highlight>
              </a:rPr>
              <a:t>심결과</a:t>
            </a:r>
            <a:r>
              <a:rPr lang="ko-KR" altLang="en-US" sz="1400" dirty="0">
                <a:highlight>
                  <a:srgbClr val="FFFF00"/>
                </a:highlight>
              </a:rPr>
              <a:t> 동일한 사실</a:t>
            </a:r>
            <a:r>
              <a:rPr lang="en-US" altLang="ko-KR" sz="1400" dirty="0">
                <a:highlight>
                  <a:srgbClr val="FFFF00"/>
                </a:highlight>
              </a:rPr>
              <a:t>·</a:t>
            </a:r>
            <a:r>
              <a:rPr lang="ko-KR" altLang="en-US" sz="1400" dirty="0">
                <a:highlight>
                  <a:srgbClr val="FFFF00"/>
                </a:highlight>
              </a:rPr>
              <a:t>증거에 기초한 것이라서 일사부재리 원칙에 위반되는지 여부를 판단하여야 한다</a:t>
            </a:r>
            <a:r>
              <a:rPr lang="en-US" altLang="ko-KR" sz="1400" dirty="0">
                <a:solidFill>
                  <a:srgbClr val="FF0000"/>
                </a:solidFill>
              </a:rPr>
              <a:t>.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2012. 1. 19.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2009</a:t>
            </a:r>
            <a:r>
              <a:rPr lang="ko-KR" altLang="en-US" sz="1400" dirty="0"/>
              <a:t>후</a:t>
            </a:r>
            <a:r>
              <a:rPr lang="en-US" altLang="ko-KR" sz="1400" dirty="0"/>
              <a:t>2234 </a:t>
            </a:r>
            <a:r>
              <a:rPr lang="ko-KR" altLang="en-US" sz="1400" dirty="0"/>
              <a:t>전원합의체 판결은 ‘일사부재리의 원칙에 따라 심판청구가 </a:t>
            </a:r>
            <a:r>
              <a:rPr lang="ko-KR" altLang="en-US" sz="1400" dirty="0" err="1"/>
              <a:t>부적법하게</a:t>
            </a:r>
            <a:r>
              <a:rPr lang="ko-KR" altLang="en-US" sz="1400" dirty="0"/>
              <a:t> 되는지 여부를 판단하는 기준 시점은 심판청구를 제기하던 당시로 보아야 한다</a:t>
            </a:r>
            <a:r>
              <a:rPr lang="en-US" altLang="ko-KR" sz="1400" dirty="0"/>
              <a:t>.’</a:t>
            </a:r>
            <a:r>
              <a:rPr lang="ko-KR" altLang="en-US" sz="1400" dirty="0"/>
              <a:t>고 하였는데</a:t>
            </a:r>
            <a:r>
              <a:rPr lang="en-US" altLang="ko-KR" sz="1400" dirty="0"/>
              <a:t>, </a:t>
            </a:r>
            <a:r>
              <a:rPr lang="ko-KR" altLang="en-US" sz="1400" dirty="0"/>
              <a:t>이는 선행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확정을 판단하는 기준 시점이 쟁점이 된 사안에서 특허법상 일사부재리 원칙의 대세효로 제</a:t>
            </a:r>
            <a:r>
              <a:rPr lang="en-US" altLang="ko-KR" sz="1400" dirty="0"/>
              <a:t>3</a:t>
            </a:r>
            <a:r>
              <a:rPr lang="ko-KR" altLang="en-US" sz="1400" dirty="0"/>
              <a:t>자의 권리 제한을 최소화하기 위하여 부득이하게 선행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확정과 관련해서만 그 기준 시점을 </a:t>
            </a:r>
            <a:r>
              <a:rPr lang="ko-KR" altLang="en-US" sz="1400" dirty="0" err="1"/>
              <a:t>심결</a:t>
            </a:r>
            <a:r>
              <a:rPr lang="ko-KR" altLang="en-US" sz="1400" dirty="0"/>
              <a:t> 시에서 심판청구 시로 변경한 것이다</a:t>
            </a:r>
            <a:r>
              <a:rPr lang="en-US" altLang="ko-KR" sz="1400" dirty="0"/>
              <a:t>.</a:t>
            </a:r>
          </a:p>
          <a:p>
            <a:pPr algn="just"/>
            <a:r>
              <a:rPr lang="en-US" altLang="ko-KR" sz="1400" dirty="0"/>
              <a:t>[2] </a:t>
            </a:r>
            <a:r>
              <a:rPr lang="ko-KR" altLang="en-US" sz="1400" dirty="0"/>
              <a:t>심판은 특허심판원에서 진행하는 행정절차로서 </a:t>
            </a:r>
            <a:r>
              <a:rPr lang="ko-KR" altLang="en-US" sz="1400" dirty="0" err="1"/>
              <a:t>심결은</a:t>
            </a:r>
            <a:r>
              <a:rPr lang="ko-KR" altLang="en-US" sz="1400" dirty="0"/>
              <a:t> 행정처분에 해당한다</a:t>
            </a:r>
            <a:r>
              <a:rPr lang="en-US" altLang="ko-KR" sz="1400" dirty="0"/>
              <a:t>. </a:t>
            </a:r>
            <a:r>
              <a:rPr lang="ko-KR" altLang="en-US" sz="1400" dirty="0"/>
              <a:t>그에 대한 불복 소송인 </a:t>
            </a:r>
            <a:r>
              <a:rPr lang="ko-KR" altLang="en-US" sz="1400" dirty="0" err="1">
                <a:highlight>
                  <a:srgbClr val="FFFF00"/>
                </a:highlight>
              </a:rPr>
              <a:t>심결</a:t>
            </a:r>
            <a:r>
              <a:rPr lang="ko-KR" altLang="en-US" sz="1400" dirty="0">
                <a:highlight>
                  <a:srgbClr val="FFFF00"/>
                </a:highlight>
              </a:rPr>
              <a:t> 취소소송은 항고소송에 해당하여 그 소송물은 </a:t>
            </a:r>
            <a:r>
              <a:rPr lang="ko-KR" altLang="en-US" sz="1400" dirty="0" err="1">
                <a:highlight>
                  <a:srgbClr val="FFFF00"/>
                </a:highlight>
              </a:rPr>
              <a:t>심결의</a:t>
            </a:r>
            <a:r>
              <a:rPr lang="ko-KR" altLang="en-US" sz="1400" dirty="0">
                <a:highlight>
                  <a:srgbClr val="FFFF00"/>
                </a:highlight>
              </a:rPr>
              <a:t> 실체적</a:t>
            </a:r>
            <a:r>
              <a:rPr lang="en-US" altLang="ko-KR" sz="1400" dirty="0">
                <a:highlight>
                  <a:srgbClr val="FFFF00"/>
                </a:highlight>
              </a:rPr>
              <a:t>·</a:t>
            </a:r>
            <a:r>
              <a:rPr lang="ko-KR" altLang="en-US" sz="1400" dirty="0">
                <a:highlight>
                  <a:srgbClr val="FFFF00"/>
                </a:highlight>
              </a:rPr>
              <a:t>절차적 위법성 여부이므로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당사자는 </a:t>
            </a:r>
            <a:r>
              <a:rPr lang="ko-KR" altLang="en-US" sz="1400" dirty="0" err="1">
                <a:highlight>
                  <a:srgbClr val="FFFF00"/>
                </a:highlight>
              </a:rPr>
              <a:t>심결에서</a:t>
            </a:r>
            <a:r>
              <a:rPr lang="ko-KR" altLang="en-US" sz="1400" dirty="0">
                <a:highlight>
                  <a:srgbClr val="FFFF00"/>
                </a:highlight>
              </a:rPr>
              <a:t> 판단되지 않은 처분의 위법사유도 </a:t>
            </a:r>
            <a:r>
              <a:rPr lang="ko-KR" altLang="en-US" sz="1400" dirty="0" err="1">
                <a:highlight>
                  <a:srgbClr val="FFFF00"/>
                </a:highlight>
              </a:rPr>
              <a:t>심결</a:t>
            </a:r>
            <a:r>
              <a:rPr lang="ko-KR" altLang="en-US" sz="1400" dirty="0">
                <a:highlight>
                  <a:srgbClr val="FFFF00"/>
                </a:highlight>
              </a:rPr>
              <a:t> 취소소송 단계에서 주장</a:t>
            </a:r>
            <a:r>
              <a:rPr lang="en-US" altLang="ko-KR" sz="1400" dirty="0">
                <a:highlight>
                  <a:srgbClr val="FFFF00"/>
                </a:highlight>
              </a:rPr>
              <a:t>·</a:t>
            </a:r>
            <a:r>
              <a:rPr lang="ko-KR" altLang="en-US" sz="1400" dirty="0">
                <a:highlight>
                  <a:srgbClr val="FFFF00"/>
                </a:highlight>
              </a:rPr>
              <a:t>증명할 수 있고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 err="1">
                <a:highlight>
                  <a:srgbClr val="FFFF00"/>
                </a:highlight>
              </a:rPr>
              <a:t>심결</a:t>
            </a:r>
            <a:r>
              <a:rPr lang="ko-KR" altLang="en-US" sz="1400" dirty="0">
                <a:highlight>
                  <a:srgbClr val="FFFF00"/>
                </a:highlight>
              </a:rPr>
              <a:t> 취소소송의 법원은 특별한 사정이 없는 한 제한 없이 이를 심리</a:t>
            </a:r>
            <a:r>
              <a:rPr lang="en-US" altLang="ko-KR" sz="1400" dirty="0">
                <a:highlight>
                  <a:srgbClr val="FFFF00"/>
                </a:highlight>
              </a:rPr>
              <a:t>·</a:t>
            </a:r>
            <a:r>
              <a:rPr lang="ko-KR" altLang="en-US" sz="1400" dirty="0">
                <a:highlight>
                  <a:srgbClr val="FFFF00"/>
                </a:highlight>
              </a:rPr>
              <a:t>판단하여 판결의 기초로 삼을 수 있다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이와 같이 본다고 해서 심급의 이익을 </a:t>
            </a:r>
            <a:r>
              <a:rPr lang="ko-KR" altLang="en-US" sz="1400" dirty="0" err="1"/>
              <a:t>해친다거나</a:t>
            </a:r>
            <a:r>
              <a:rPr lang="ko-KR" altLang="en-US" sz="1400" dirty="0"/>
              <a:t> 당사자에게 예측하지 못한 불의의 손해를 입히는 것이 아니다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2002. 6. 25.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2000</a:t>
            </a:r>
            <a:r>
              <a:rPr lang="ko-KR" altLang="en-US" sz="1400" dirty="0"/>
              <a:t>후</a:t>
            </a:r>
            <a:r>
              <a:rPr lang="en-US" altLang="ko-KR" sz="1400" dirty="0"/>
              <a:t>1290 </a:t>
            </a:r>
            <a:r>
              <a:rPr lang="ko-KR" altLang="en-US" sz="1400" dirty="0"/>
              <a:t>판결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2009. 5. 28.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2007</a:t>
            </a:r>
            <a:r>
              <a:rPr lang="ko-KR" altLang="en-US" sz="1400" dirty="0"/>
              <a:t>후</a:t>
            </a:r>
            <a:r>
              <a:rPr lang="en-US" altLang="ko-KR" sz="1400" dirty="0"/>
              <a:t>4410 </a:t>
            </a:r>
            <a:r>
              <a:rPr lang="ko-KR" altLang="en-US" sz="1400" dirty="0"/>
              <a:t>판결 등 참조</a:t>
            </a:r>
            <a:r>
              <a:rPr lang="en-US" altLang="ko-KR" sz="1400" dirty="0"/>
              <a:t>).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42" name="Line 5">
            <a:extLst>
              <a:ext uri="{FF2B5EF4-FFF2-40B4-BE49-F238E27FC236}">
                <a16:creationId xmlns:a16="http://schemas.microsoft.com/office/drawing/2014/main" id="{C3D521F3-C89A-4691-A233-1BC4F6DB6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4344837"/>
            <a:ext cx="11530012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0F57E0-0C93-429E-B52D-950B18A62824}"/>
              </a:ext>
            </a:extLst>
          </p:cNvPr>
          <p:cNvSpPr txBox="1"/>
          <p:nvPr/>
        </p:nvSpPr>
        <p:spPr>
          <a:xfrm>
            <a:off x="905348" y="4601012"/>
            <a:ext cx="146906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무효심판청구</a:t>
            </a: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E416A6A-17E0-4A3B-8C28-9560A00280A4}"/>
              </a:ext>
            </a:extLst>
          </p:cNvPr>
          <p:cNvSpPr/>
          <p:nvPr/>
        </p:nvSpPr>
        <p:spPr>
          <a:xfrm>
            <a:off x="1562512" y="4250903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4B9FD84-6472-4A38-96A7-0961D12BE1A4}"/>
              </a:ext>
            </a:extLst>
          </p:cNvPr>
          <p:cNvCxnSpPr>
            <a:cxnSpLocks/>
            <a:stCxn id="44" idx="0"/>
            <a:endCxn id="47" idx="4"/>
          </p:cNvCxnSpPr>
          <p:nvPr/>
        </p:nvCxnSpPr>
        <p:spPr>
          <a:xfrm flipH="1" flipV="1">
            <a:off x="1639881" y="441224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93DE314-156B-4AE0-A6A1-A3E38D2DAD5E}"/>
              </a:ext>
            </a:extLst>
          </p:cNvPr>
          <p:cNvSpPr txBox="1"/>
          <p:nvPr/>
        </p:nvSpPr>
        <p:spPr>
          <a:xfrm>
            <a:off x="2573620" y="4601012"/>
            <a:ext cx="113939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기각심결확정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F25F9F4-5090-4DB9-9E09-63BBFFE26323}"/>
              </a:ext>
            </a:extLst>
          </p:cNvPr>
          <p:cNvSpPr/>
          <p:nvPr/>
        </p:nvSpPr>
        <p:spPr>
          <a:xfrm>
            <a:off x="3065949" y="4250903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0124424-B4CE-4C83-9036-BBB347007F6C}"/>
              </a:ext>
            </a:extLst>
          </p:cNvPr>
          <p:cNvCxnSpPr>
            <a:cxnSpLocks/>
            <a:stCxn id="28" idx="0"/>
            <a:endCxn id="29" idx="4"/>
          </p:cNvCxnSpPr>
          <p:nvPr/>
        </p:nvCxnSpPr>
        <p:spPr>
          <a:xfrm flipH="1" flipV="1">
            <a:off x="3143318" y="441224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E752647-CA77-4730-9828-80C4ADAC153D}"/>
              </a:ext>
            </a:extLst>
          </p:cNvPr>
          <p:cNvSpPr txBox="1"/>
          <p:nvPr/>
        </p:nvSpPr>
        <p:spPr>
          <a:xfrm>
            <a:off x="8143646" y="4601012"/>
            <a:ext cx="68801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CA50C72E-8883-4BC0-9B5A-9B09990D79CD}"/>
              </a:ext>
            </a:extLst>
          </p:cNvPr>
          <p:cNvSpPr/>
          <p:nvPr/>
        </p:nvSpPr>
        <p:spPr>
          <a:xfrm>
            <a:off x="8410282" y="4250903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52B3968F-EB0B-4EEB-88EC-8B7FF3F3AE32}"/>
              </a:ext>
            </a:extLst>
          </p:cNvPr>
          <p:cNvCxnSpPr>
            <a:cxnSpLocks/>
            <a:stCxn id="55" idx="0"/>
            <a:endCxn id="56" idx="4"/>
          </p:cNvCxnSpPr>
          <p:nvPr/>
        </p:nvCxnSpPr>
        <p:spPr>
          <a:xfrm flipH="1" flipV="1">
            <a:off x="8487651" y="441224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73B864B-59F2-4BA5-BF6F-47FFC60441B2}"/>
              </a:ext>
            </a:extLst>
          </p:cNvPr>
          <p:cNvSpPr txBox="1"/>
          <p:nvPr/>
        </p:nvSpPr>
        <p:spPr>
          <a:xfrm>
            <a:off x="736589" y="5062677"/>
            <a:ext cx="180658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 위반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by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8FA4ACE-01F8-4A17-B306-7D24424AE20E}"/>
              </a:ext>
            </a:extLst>
          </p:cNvPr>
          <p:cNvCxnSpPr>
            <a:stCxn id="36" idx="0"/>
            <a:endCxn id="44" idx="2"/>
          </p:cNvCxnSpPr>
          <p:nvPr/>
        </p:nvCxnSpPr>
        <p:spPr>
          <a:xfrm flipV="1">
            <a:off x="1639882" y="4878011"/>
            <a:ext cx="0" cy="1846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2870961-7113-44E7-A09D-EB1E428958DF}"/>
              </a:ext>
            </a:extLst>
          </p:cNvPr>
          <p:cNvSpPr txBox="1"/>
          <p:nvPr/>
        </p:nvSpPr>
        <p:spPr>
          <a:xfrm>
            <a:off x="3924175" y="4601012"/>
            <a:ext cx="1469068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 무효심판청구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C4D937AA-A7B0-40AE-B45B-7C6574C2C3AA}"/>
              </a:ext>
            </a:extLst>
          </p:cNvPr>
          <p:cNvSpPr/>
          <p:nvPr/>
        </p:nvSpPr>
        <p:spPr>
          <a:xfrm>
            <a:off x="4581339" y="4250903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0D91A23-6C4C-4D4B-9AA8-C9707D9C82DF}"/>
              </a:ext>
            </a:extLst>
          </p:cNvPr>
          <p:cNvCxnSpPr>
            <a:cxnSpLocks/>
            <a:stCxn id="40" idx="0"/>
            <a:endCxn id="41" idx="4"/>
          </p:cNvCxnSpPr>
          <p:nvPr/>
        </p:nvCxnSpPr>
        <p:spPr>
          <a:xfrm flipH="1" flipV="1">
            <a:off x="4658708" y="441224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A4CB4C9-0D8E-4EA5-A875-8F3EE3A47E86}"/>
              </a:ext>
            </a:extLst>
          </p:cNvPr>
          <p:cNvSpPr txBox="1"/>
          <p:nvPr/>
        </p:nvSpPr>
        <p:spPr>
          <a:xfrm>
            <a:off x="5998464" y="4601012"/>
            <a:ext cx="1139398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각하심결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4212CB8D-340A-4481-AD0F-E12545400930}"/>
              </a:ext>
            </a:extLst>
          </p:cNvPr>
          <p:cNvSpPr/>
          <p:nvPr/>
        </p:nvSpPr>
        <p:spPr>
          <a:xfrm>
            <a:off x="6490793" y="4250903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6B69D885-7404-4F57-AE60-4ED6ED792BA7}"/>
              </a:ext>
            </a:extLst>
          </p:cNvPr>
          <p:cNvCxnSpPr>
            <a:cxnSpLocks/>
            <a:stCxn id="64" idx="0"/>
            <a:endCxn id="65" idx="4"/>
          </p:cNvCxnSpPr>
          <p:nvPr/>
        </p:nvCxnSpPr>
        <p:spPr>
          <a:xfrm flipH="1" flipV="1">
            <a:off x="6568162" y="441224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6997D16D-B448-4502-B2FA-DCEE5C4DCAC9}"/>
              </a:ext>
            </a:extLst>
          </p:cNvPr>
          <p:cNvSpPr txBox="1"/>
          <p:nvPr/>
        </p:nvSpPr>
        <p:spPr>
          <a:xfrm>
            <a:off x="10791033" y="4601012"/>
            <a:ext cx="688012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4C8B9C16-03FC-4FF4-B271-2B60C3CD4D98}"/>
              </a:ext>
            </a:extLst>
          </p:cNvPr>
          <p:cNvSpPr/>
          <p:nvPr/>
        </p:nvSpPr>
        <p:spPr>
          <a:xfrm>
            <a:off x="11057669" y="4250903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429EDA52-7095-451A-8428-1522330C4E39}"/>
              </a:ext>
            </a:extLst>
          </p:cNvPr>
          <p:cNvCxnSpPr>
            <a:cxnSpLocks/>
            <a:stCxn id="67" idx="0"/>
            <a:endCxn id="70" idx="4"/>
          </p:cNvCxnSpPr>
          <p:nvPr/>
        </p:nvCxnSpPr>
        <p:spPr>
          <a:xfrm flipH="1" flipV="1">
            <a:off x="11135038" y="441224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DFFD9B4-DD50-4A0C-A73F-3AF78BD49A1A}"/>
              </a:ext>
            </a:extLst>
          </p:cNvPr>
          <p:cNvSpPr txBox="1"/>
          <p:nvPr/>
        </p:nvSpPr>
        <p:spPr>
          <a:xfrm>
            <a:off x="9248648" y="4601012"/>
            <a:ext cx="1139398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F6981AD-C0F2-4BBA-9AB4-2E780FD953DA}"/>
              </a:ext>
            </a:extLst>
          </p:cNvPr>
          <p:cNvSpPr/>
          <p:nvPr/>
        </p:nvSpPr>
        <p:spPr>
          <a:xfrm>
            <a:off x="9740977" y="4250903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50F8C75E-9430-42C0-9132-FBDADFA56BD2}"/>
              </a:ext>
            </a:extLst>
          </p:cNvPr>
          <p:cNvCxnSpPr>
            <a:cxnSpLocks/>
            <a:stCxn id="73" idx="0"/>
            <a:endCxn id="75" idx="4"/>
          </p:cNvCxnSpPr>
          <p:nvPr/>
        </p:nvCxnSpPr>
        <p:spPr>
          <a:xfrm flipH="1" flipV="1">
            <a:off x="9818346" y="441224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EBEB81B-2590-4C97-916A-77B3A16D975F}"/>
              </a:ext>
            </a:extLst>
          </p:cNvPr>
          <p:cNvCxnSpPr/>
          <p:nvPr/>
        </p:nvCxnSpPr>
        <p:spPr>
          <a:xfrm>
            <a:off x="0" y="4041414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9A1F156-269C-4C74-B49F-E39488B2FBEC}"/>
              </a:ext>
            </a:extLst>
          </p:cNvPr>
          <p:cNvSpPr txBox="1"/>
          <p:nvPr/>
        </p:nvSpPr>
        <p:spPr>
          <a:xfrm>
            <a:off x="3755415" y="5062677"/>
            <a:ext cx="180658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 위반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by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2,3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28D06206-6EC7-4EC7-B2CF-CF27002DD058}"/>
              </a:ext>
            </a:extLst>
          </p:cNvPr>
          <p:cNvCxnSpPr>
            <a:stCxn id="45" idx="0"/>
          </p:cNvCxnSpPr>
          <p:nvPr/>
        </p:nvCxnSpPr>
        <p:spPr>
          <a:xfrm flipV="1">
            <a:off x="4658708" y="4878011"/>
            <a:ext cx="0" cy="1846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FAB0E16-0C31-41C3-A23F-20564F359DF3}"/>
              </a:ext>
            </a:extLst>
          </p:cNvPr>
          <p:cNvSpPr txBox="1"/>
          <p:nvPr/>
        </p:nvSpPr>
        <p:spPr>
          <a:xfrm>
            <a:off x="5664869" y="5062677"/>
            <a:ext cx="1806586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유력하지 아니한 증거가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부가되어 일사부재리 위반</a:t>
            </a: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9E2E8D18-1791-430D-98B9-F793D9D340A2}"/>
              </a:ext>
            </a:extLst>
          </p:cNvPr>
          <p:cNvCxnSpPr>
            <a:stCxn id="49" idx="0"/>
          </p:cNvCxnSpPr>
          <p:nvPr/>
        </p:nvCxnSpPr>
        <p:spPr>
          <a:xfrm flipV="1">
            <a:off x="6568162" y="4878011"/>
            <a:ext cx="0" cy="1846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492C761-B057-4699-90E1-E85E5E87D2CB}"/>
              </a:ext>
            </a:extLst>
          </p:cNvPr>
          <p:cNvSpPr txBox="1"/>
          <p:nvPr/>
        </p:nvSpPr>
        <p:spPr>
          <a:xfrm>
            <a:off x="7584358" y="5062677"/>
            <a:ext cx="1806586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기재불비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신규성 등 새로운 무효사유의 주장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B381A6D-C0D4-42CA-A3F2-759F3537A5E0}"/>
              </a:ext>
            </a:extLst>
          </p:cNvPr>
          <p:cNvCxnSpPr>
            <a:stCxn id="52" idx="0"/>
          </p:cNvCxnSpPr>
          <p:nvPr/>
        </p:nvCxnSpPr>
        <p:spPr>
          <a:xfrm flipV="1">
            <a:off x="8487651" y="4878011"/>
            <a:ext cx="0" cy="1846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564DC70E-352E-4CA6-834E-040B382B916C}"/>
              </a:ext>
            </a:extLst>
          </p:cNvPr>
          <p:cNvSpPr txBox="1"/>
          <p:nvPr/>
        </p:nvSpPr>
        <p:spPr>
          <a:xfrm>
            <a:off x="232372" y="5728025"/>
            <a:ext cx="11811991" cy="9115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R="0" algn="just" fontAlgn="base" latinLnBrk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tabLst>
                <a:tab pos="185738" algn="l"/>
                <a:tab pos="185738" algn="l"/>
              </a:tabLst>
            </a:pPr>
            <a:r>
              <a:rPr lang="ko-KR" altLang="en-US" sz="1400" kern="0" spc="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일사부재리 원칙 위반을 이유로 한 각하 </a:t>
            </a:r>
            <a:r>
              <a:rPr lang="ko-KR" altLang="en-US" sz="1400" kern="0" spc="0" dirty="0" err="1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심결에</a:t>
            </a:r>
            <a:r>
              <a:rPr lang="ko-KR" altLang="en-US" sz="1400" kern="0" spc="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 대한 </a:t>
            </a:r>
            <a:r>
              <a:rPr lang="ko-KR" altLang="en-US" sz="1400" kern="0" spc="0" dirty="0" err="1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심결취소소송에서</a:t>
            </a:r>
            <a:r>
              <a:rPr lang="ko-KR" altLang="en-US" sz="1400" kern="0" spc="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 심판청구인이 동일사실 및 동일증거가 아님을 주장하는 새로운 주장 및 증거제출은 허용되나</a:t>
            </a:r>
            <a:r>
              <a:rPr lang="en-US" altLang="ko-KR" sz="1400" kern="0" spc="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,</a:t>
            </a:r>
            <a:r>
              <a:rPr lang="ko-KR" altLang="en-US" sz="1400" kern="0" spc="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 심판절차에서 </a:t>
            </a:r>
            <a:r>
              <a:rPr lang="ko-KR" altLang="en-US" sz="1400" kern="0" spc="0" dirty="0" err="1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심결시까지</a:t>
            </a:r>
            <a:r>
              <a:rPr lang="ko-KR" altLang="en-US" sz="1400" kern="0" spc="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 주장하지 않은 새로운 등록무효 사유를 주장하는 것은 허용되지 않고</a:t>
            </a:r>
            <a:r>
              <a:rPr lang="en-US" altLang="ko-KR" sz="1400" kern="0" spc="-3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, </a:t>
            </a:r>
            <a:r>
              <a:rPr lang="ko-KR" altLang="en-US" sz="1400" kern="0" spc="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이러한 새로운 등록무효 사유의 주장을 이유로 각하 </a:t>
            </a:r>
            <a:r>
              <a:rPr lang="ko-KR" altLang="en-US" sz="1400" kern="0" spc="0" dirty="0" err="1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심결을</a:t>
            </a:r>
            <a:r>
              <a:rPr lang="ko-KR" altLang="en-US" sz="1400" kern="0" spc="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 취소할 수 없으며</a:t>
            </a:r>
            <a:r>
              <a:rPr lang="en-US" altLang="ko-KR" sz="1400" kern="0" spc="-3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, </a:t>
            </a:r>
            <a:r>
              <a:rPr lang="ko-KR" altLang="en-US" sz="1400" kern="0" spc="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새로운 등록무효 사유에 대하여 판단할 수도 없다</a:t>
            </a:r>
            <a:r>
              <a:rPr lang="en-US" altLang="ko-KR" sz="1400" kern="0" spc="0" dirty="0">
                <a:solidFill>
                  <a:srgbClr val="FF0000"/>
                </a:solidFill>
                <a:effectLst/>
                <a:highlight>
                  <a:srgbClr val="CCECFF"/>
                </a:highlight>
                <a:latin typeface="+mn-ea"/>
              </a:rPr>
              <a:t>.</a:t>
            </a:r>
            <a:endParaRPr lang="ko-KR" altLang="en-US" sz="1400" kern="0" spc="0" dirty="0">
              <a:solidFill>
                <a:srgbClr val="000000"/>
              </a:solidFill>
              <a:effectLst/>
              <a:highlight>
                <a:srgbClr val="CCECFF"/>
              </a:highlight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783478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163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일사부재리 적용 </a:t>
            </a:r>
            <a:r>
              <a:rPr lang="en-US" altLang="ko-KR" dirty="0"/>
              <a:t>CASE: </a:t>
            </a:r>
            <a:r>
              <a:rPr lang="ko-KR" altLang="en-US" dirty="0"/>
              <a:t>제</a:t>
            </a:r>
            <a:r>
              <a:rPr lang="en-US" altLang="ko-KR" dirty="0"/>
              <a:t>163</a:t>
            </a:r>
            <a:r>
              <a:rPr lang="ko-KR" altLang="en-US" dirty="0"/>
              <a:t>조 단서의 해석</a:t>
            </a:r>
          </a:p>
        </p:txBody>
      </p:sp>
      <p:sp>
        <p:nvSpPr>
          <p:cNvPr id="31" name="모서리가 둥근 직사각형 10">
            <a:extLst>
              <a:ext uri="{FF2B5EF4-FFF2-40B4-BE49-F238E27FC236}">
                <a16:creationId xmlns:a16="http://schemas.microsoft.com/office/drawing/2014/main" id="{83E8DC17-A890-4A8F-8AF6-87049ACC89A5}"/>
              </a:ext>
            </a:extLst>
          </p:cNvPr>
          <p:cNvSpPr/>
          <p:nvPr/>
        </p:nvSpPr>
        <p:spPr bwMode="auto">
          <a:xfrm>
            <a:off x="378418" y="1002199"/>
            <a:ext cx="4797431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2021. 6. 3.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2021</a:t>
            </a:r>
            <a:r>
              <a:rPr lang="ko-KR" altLang="en-US" sz="1400" dirty="0"/>
              <a:t>후</a:t>
            </a:r>
            <a:r>
              <a:rPr lang="en-US" altLang="ko-KR" sz="1400" dirty="0"/>
              <a:t>10077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016C75-8430-4388-9E51-7B3101DE3CF1}"/>
              </a:ext>
            </a:extLst>
          </p:cNvPr>
          <p:cNvSpPr/>
          <p:nvPr/>
        </p:nvSpPr>
        <p:spPr>
          <a:xfrm>
            <a:off x="232372" y="1333658"/>
            <a:ext cx="1168198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/>
              <a:t>일사부재리 원칙에 관한 특허법 제</a:t>
            </a:r>
            <a:r>
              <a:rPr lang="en-US" altLang="ko-KR" sz="1200" dirty="0"/>
              <a:t>163</a:t>
            </a:r>
            <a:r>
              <a:rPr lang="ko-KR" altLang="en-US" sz="1200" dirty="0"/>
              <a:t>조는 “이 법에 따른 심판의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확정되었을 때에는 그 사건에 대해서는 누구든지 동일 사실 및 동일 증거에 의하여 다시 심판을 청구할 수 없다</a:t>
            </a:r>
            <a:r>
              <a:rPr lang="en-US" altLang="ko-KR" sz="1200" dirty="0"/>
              <a:t>. </a:t>
            </a:r>
            <a:r>
              <a:rPr lang="ko-KR" altLang="en-US" sz="1200" dirty="0"/>
              <a:t>다만</a:t>
            </a:r>
            <a:r>
              <a:rPr lang="en-US" altLang="ko-KR" sz="1200" dirty="0"/>
              <a:t>, </a:t>
            </a:r>
            <a:r>
              <a:rPr lang="ko-KR" altLang="en-US" sz="1200" dirty="0"/>
              <a:t>확정된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</a:t>
            </a:r>
            <a:r>
              <a:rPr lang="ko-KR" altLang="en-US" sz="1200" dirty="0" err="1"/>
              <a:t>각하심결인</a:t>
            </a:r>
            <a:r>
              <a:rPr lang="ko-KR" altLang="en-US" sz="1200" dirty="0"/>
              <a:t> 경우에는 그러하지 아니하다</a:t>
            </a:r>
            <a:r>
              <a:rPr lang="en-US" altLang="ko-KR" sz="1200" dirty="0"/>
              <a:t>.”</a:t>
            </a:r>
            <a:r>
              <a:rPr lang="ko-KR" altLang="en-US" sz="1200" dirty="0"/>
              <a:t>라고 규정하고 있다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</a:t>
            </a:r>
            <a:r>
              <a:rPr lang="en-US" altLang="ko-KR" sz="1200" dirty="0"/>
              <a:t>, </a:t>
            </a:r>
            <a:r>
              <a:rPr lang="ko-KR" altLang="en-US" sz="1200" dirty="0"/>
              <a:t>확정된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심판 청구의 적법요건을 갖추지 못하여 각하된 </a:t>
            </a:r>
            <a:r>
              <a:rPr lang="ko-KR" altLang="en-US" sz="1200" dirty="0" err="1"/>
              <a:t>심결인</a:t>
            </a:r>
            <a:r>
              <a:rPr lang="ko-KR" altLang="en-US" sz="1200" dirty="0"/>
              <a:t> 경우에는 특허법 제</a:t>
            </a:r>
            <a:r>
              <a:rPr lang="en-US" altLang="ko-KR" sz="1200" dirty="0"/>
              <a:t>163</a:t>
            </a:r>
            <a:r>
              <a:rPr lang="ko-KR" altLang="en-US" sz="1200" dirty="0"/>
              <a:t>조 단서에 따라 일사부재리의 효력이 없다</a:t>
            </a:r>
            <a:r>
              <a:rPr lang="en-US" altLang="ko-KR" sz="1200" dirty="0"/>
              <a:t>. </a:t>
            </a:r>
            <a:r>
              <a:rPr lang="ko-KR" altLang="en-US" sz="1200" dirty="0"/>
              <a:t>다음과 같은 점을 고려하면</a:t>
            </a:r>
            <a:r>
              <a:rPr lang="en-US" altLang="ko-KR" sz="1200" dirty="0"/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위 단서 규정은 새로 제출된 증거가 선행 확정 </a:t>
            </a:r>
            <a:r>
              <a:rPr lang="ko-KR" altLang="en-US" sz="1200" dirty="0" err="1">
                <a:highlight>
                  <a:srgbClr val="FFFF00"/>
                </a:highlight>
              </a:rPr>
              <a:t>심결을</a:t>
            </a:r>
            <a:r>
              <a:rPr lang="ko-KR" altLang="en-US" sz="1200" dirty="0">
                <a:highlight>
                  <a:srgbClr val="FFFF00"/>
                </a:highlight>
              </a:rPr>
              <a:t> 번복할 수 있을 만큼 유력한 증거인지에 관한 심리판단이 이루어진 후 선행 확정 </a:t>
            </a:r>
            <a:r>
              <a:rPr lang="ko-KR" altLang="en-US" sz="1200" dirty="0" err="1">
                <a:highlight>
                  <a:srgbClr val="FFFF00"/>
                </a:highlight>
              </a:rPr>
              <a:t>심결과</a:t>
            </a:r>
            <a:r>
              <a:rPr lang="ko-KR" altLang="en-US" sz="1200" dirty="0">
                <a:highlight>
                  <a:srgbClr val="FFFF00"/>
                </a:highlight>
              </a:rPr>
              <a:t> 동일 증거에 의한 심판청구라는 이유로 각하된 </a:t>
            </a:r>
            <a:r>
              <a:rPr lang="ko-KR" altLang="en-US" sz="1200" dirty="0" err="1">
                <a:highlight>
                  <a:srgbClr val="FFFF00"/>
                </a:highlight>
              </a:rPr>
              <a:t>심결인</a:t>
            </a:r>
            <a:r>
              <a:rPr lang="ko-KR" altLang="en-US" sz="1200" dirty="0">
                <a:highlight>
                  <a:srgbClr val="FFFF00"/>
                </a:highlight>
              </a:rPr>
              <a:t> 경우에도 동일하게 적용된다고 보아야 한다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</a:p>
          <a:p>
            <a:pPr marL="223838" indent="-223838" algn="just"/>
            <a:r>
              <a:rPr lang="ko-KR" altLang="en-US" sz="1200" dirty="0"/>
              <a:t>가</a:t>
            </a:r>
            <a:r>
              <a:rPr lang="en-US" altLang="ko-KR" sz="1200" dirty="0"/>
              <a:t>. </a:t>
            </a:r>
            <a:r>
              <a:rPr lang="ko-KR" altLang="en-US" sz="1200" dirty="0"/>
              <a:t>종래 심판청구의 적법요건을 갖추지 못해 각하된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확정된 경우에 일사부재리의 효력이 있는지에 관하여 견해대립이 있었으나</a:t>
            </a:r>
            <a:r>
              <a:rPr lang="en-US" altLang="ko-KR" sz="1200" dirty="0"/>
              <a:t>, </a:t>
            </a:r>
            <a:r>
              <a:rPr lang="en-US" altLang="ko-KR" sz="1200" dirty="0">
                <a:highlight>
                  <a:srgbClr val="CCECFF"/>
                </a:highlight>
              </a:rPr>
              <a:t>2001. 2. 3. </a:t>
            </a:r>
            <a:r>
              <a:rPr lang="ko-KR" altLang="en-US" sz="1200" dirty="0">
                <a:highlight>
                  <a:srgbClr val="CCECFF"/>
                </a:highlight>
              </a:rPr>
              <a:t>법률 제</a:t>
            </a:r>
            <a:r>
              <a:rPr lang="en-US" altLang="ko-KR" sz="1200" dirty="0">
                <a:highlight>
                  <a:srgbClr val="CCECFF"/>
                </a:highlight>
              </a:rPr>
              <a:t>6411</a:t>
            </a:r>
            <a:r>
              <a:rPr lang="ko-KR" altLang="en-US" sz="1200" dirty="0">
                <a:highlight>
                  <a:srgbClr val="CCECFF"/>
                </a:highlight>
              </a:rPr>
              <a:t>호로 일부 개정된 특허법에서 위 단서 규정을 신설함으로써</a:t>
            </a:r>
            <a:r>
              <a:rPr lang="en-US" altLang="ko-KR" sz="1200" dirty="0">
                <a:highlight>
                  <a:srgbClr val="CCECFF"/>
                </a:highlight>
              </a:rPr>
              <a:t>, </a:t>
            </a:r>
            <a:r>
              <a:rPr lang="ko-KR" altLang="en-US" sz="1200" dirty="0" err="1">
                <a:highlight>
                  <a:srgbClr val="CCECFF"/>
                </a:highlight>
              </a:rPr>
              <a:t>각하심결에</a:t>
            </a:r>
            <a:r>
              <a:rPr lang="ko-KR" altLang="en-US" sz="1200" dirty="0">
                <a:highlight>
                  <a:srgbClr val="CCECFF"/>
                </a:highlight>
              </a:rPr>
              <a:t> 대하여는 일사부재리의 효력이 없음을 명확히 하였다</a:t>
            </a:r>
            <a:r>
              <a:rPr lang="en-US" altLang="ko-KR" sz="1200" dirty="0">
                <a:highlight>
                  <a:srgbClr val="CCECFF"/>
                </a:highlight>
              </a:rPr>
              <a:t>.</a:t>
            </a:r>
          </a:p>
          <a:p>
            <a:pPr marL="223838" indent="-223838" algn="just"/>
            <a:r>
              <a:rPr lang="ko-KR" altLang="en-US" sz="1200" dirty="0"/>
              <a:t>나</a:t>
            </a:r>
            <a:r>
              <a:rPr lang="en-US" altLang="ko-KR" sz="1200" dirty="0"/>
              <a:t>. </a:t>
            </a:r>
            <a:r>
              <a:rPr lang="ko-KR" altLang="en-US" sz="1200" dirty="0"/>
              <a:t>특허법 제</a:t>
            </a:r>
            <a:r>
              <a:rPr lang="en-US" altLang="ko-KR" sz="1200" dirty="0"/>
              <a:t>163</a:t>
            </a:r>
            <a:r>
              <a:rPr lang="ko-KR" altLang="en-US" sz="1200" dirty="0"/>
              <a:t>조의 ‘동일 </a:t>
            </a:r>
            <a:r>
              <a:rPr lang="ko-KR" altLang="en-US" sz="1200" dirty="0" err="1"/>
              <a:t>증거’라</a:t>
            </a:r>
            <a:r>
              <a:rPr lang="ko-KR" altLang="en-US" sz="1200" dirty="0"/>
              <a:t> 함은 전에 확정된 </a:t>
            </a:r>
            <a:r>
              <a:rPr lang="ko-KR" altLang="en-US" sz="1200" dirty="0" err="1"/>
              <a:t>심결의</a:t>
            </a:r>
            <a:r>
              <a:rPr lang="ko-KR" altLang="en-US" sz="1200" dirty="0"/>
              <a:t> 증거와 동일한 증거만이 아니라 그 </a:t>
            </a:r>
            <a:r>
              <a:rPr lang="ko-KR" altLang="en-US" sz="1200" dirty="0" err="1"/>
              <a:t>심결을</a:t>
            </a:r>
            <a:r>
              <a:rPr lang="ko-KR" altLang="en-US" sz="1200" dirty="0"/>
              <a:t> 번복할 수 있을 정도로 유력하지 않은 증거가 부가되는 것도 포함한다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2005. 3. 11.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2004</a:t>
            </a:r>
            <a:r>
              <a:rPr lang="ko-KR" altLang="en-US" sz="1200" dirty="0"/>
              <a:t>후</a:t>
            </a:r>
            <a:r>
              <a:rPr lang="en-US" altLang="ko-KR" sz="1200" dirty="0"/>
              <a:t>42 </a:t>
            </a:r>
            <a:r>
              <a:rPr lang="ko-KR" altLang="en-US" sz="1200" dirty="0"/>
              <a:t>판결 등 참조</a:t>
            </a:r>
            <a:r>
              <a:rPr lang="en-US" altLang="ko-KR" sz="1200" dirty="0"/>
              <a:t>). </a:t>
            </a:r>
            <a:r>
              <a:rPr lang="ko-KR" altLang="en-US" sz="1200" dirty="0"/>
              <a:t>이에 따라</a:t>
            </a:r>
            <a:r>
              <a:rPr lang="en-US" altLang="ko-KR" sz="1200" dirty="0"/>
              <a:t>, </a:t>
            </a:r>
            <a:r>
              <a:rPr lang="ko-KR" altLang="en-US" sz="1200" dirty="0">
                <a:highlight>
                  <a:srgbClr val="CCECFF"/>
                </a:highlight>
              </a:rPr>
              <a:t>후행 심판에서 새로 제출된 증거가 확정된 </a:t>
            </a:r>
            <a:r>
              <a:rPr lang="ko-KR" altLang="en-US" sz="1200" dirty="0" err="1">
                <a:highlight>
                  <a:srgbClr val="CCECFF"/>
                </a:highlight>
              </a:rPr>
              <a:t>심결의</a:t>
            </a:r>
            <a:r>
              <a:rPr lang="ko-KR" altLang="en-US" sz="1200" dirty="0">
                <a:highlight>
                  <a:srgbClr val="CCECFF"/>
                </a:highlight>
              </a:rPr>
              <a:t> 증거와 동일 증거인지 판단하기 위해서는 선행 확정 </a:t>
            </a:r>
            <a:r>
              <a:rPr lang="ko-KR" altLang="en-US" sz="1200" dirty="0" err="1">
                <a:highlight>
                  <a:srgbClr val="CCECFF"/>
                </a:highlight>
              </a:rPr>
              <a:t>심결을</a:t>
            </a:r>
            <a:r>
              <a:rPr lang="ko-KR" altLang="en-US" sz="1200" dirty="0">
                <a:highlight>
                  <a:srgbClr val="CCECFF"/>
                </a:highlight>
              </a:rPr>
              <a:t> 번복할 수 있을지를 심리</a:t>
            </a:r>
            <a:r>
              <a:rPr lang="en-US" altLang="ko-KR" sz="1200" dirty="0">
                <a:highlight>
                  <a:srgbClr val="CCECFF"/>
                </a:highlight>
              </a:rPr>
              <a:t>, </a:t>
            </a:r>
            <a:r>
              <a:rPr lang="ko-KR" altLang="en-US" sz="1200" dirty="0">
                <a:highlight>
                  <a:srgbClr val="CCECFF"/>
                </a:highlight>
              </a:rPr>
              <a:t>판단하게 되고</a:t>
            </a:r>
            <a:r>
              <a:rPr lang="en-US" altLang="ko-KR" sz="1200" dirty="0">
                <a:highlight>
                  <a:srgbClr val="CCECFF"/>
                </a:highlight>
              </a:rPr>
              <a:t>, </a:t>
            </a:r>
            <a:r>
              <a:rPr lang="ko-KR" altLang="en-US" sz="1200" dirty="0">
                <a:highlight>
                  <a:srgbClr val="CCECFF"/>
                </a:highlight>
              </a:rPr>
              <a:t>그 과정에서 본안에 관한 판단이 선행되는 것과 같은 결과가 발생하기도 한다</a:t>
            </a:r>
            <a:r>
              <a:rPr lang="en-US" altLang="ko-KR" sz="1200" dirty="0">
                <a:highlight>
                  <a:srgbClr val="CCECFF"/>
                </a:highlight>
              </a:rPr>
              <a:t>. </a:t>
            </a:r>
            <a:r>
              <a:rPr lang="ko-KR" altLang="en-US" sz="1200" dirty="0">
                <a:highlight>
                  <a:srgbClr val="CCECFF"/>
                </a:highlight>
              </a:rPr>
              <a:t>하지만</a:t>
            </a:r>
            <a:r>
              <a:rPr lang="en-US" altLang="ko-KR" sz="1200" dirty="0">
                <a:highlight>
                  <a:srgbClr val="CCECFF"/>
                </a:highlight>
              </a:rPr>
              <a:t>, </a:t>
            </a:r>
            <a:r>
              <a:rPr lang="ko-KR" altLang="en-US" sz="1200" dirty="0">
                <a:highlight>
                  <a:srgbClr val="CCECFF"/>
                </a:highlight>
              </a:rPr>
              <a:t>일사부재리 원칙은 심판청구의 적법요건일 뿐이어서</a:t>
            </a:r>
            <a:r>
              <a:rPr lang="en-US" altLang="ko-KR" sz="1200" dirty="0">
                <a:highlight>
                  <a:srgbClr val="CCECFF"/>
                </a:highlight>
              </a:rPr>
              <a:t>, </a:t>
            </a:r>
            <a:r>
              <a:rPr lang="ko-KR" altLang="en-US" sz="1200" dirty="0">
                <a:highlight>
                  <a:srgbClr val="CCECFF"/>
                </a:highlight>
              </a:rPr>
              <a:t>위와 같은 경우라도 일사부재리 원칙을 위반하여 심판청구가 </a:t>
            </a:r>
            <a:r>
              <a:rPr lang="ko-KR" altLang="en-US" sz="1200" dirty="0" err="1">
                <a:highlight>
                  <a:srgbClr val="CCECFF"/>
                </a:highlight>
              </a:rPr>
              <a:t>부적법하다고</a:t>
            </a:r>
            <a:r>
              <a:rPr lang="ko-KR" altLang="en-US" sz="1200" dirty="0">
                <a:highlight>
                  <a:srgbClr val="CCECFF"/>
                </a:highlight>
              </a:rPr>
              <a:t> 한 </a:t>
            </a:r>
            <a:r>
              <a:rPr lang="ko-KR" altLang="en-US" sz="1200" dirty="0" err="1">
                <a:highlight>
                  <a:srgbClr val="CCECFF"/>
                </a:highlight>
              </a:rPr>
              <a:t>각하심결을</a:t>
            </a:r>
            <a:r>
              <a:rPr lang="ko-KR" altLang="en-US" sz="1200" dirty="0">
                <a:highlight>
                  <a:srgbClr val="CCECFF"/>
                </a:highlight>
              </a:rPr>
              <a:t> 본안에 관한 실체심리가 이루어진 </a:t>
            </a:r>
            <a:r>
              <a:rPr lang="ko-KR" altLang="en-US" sz="1200" dirty="0" err="1">
                <a:highlight>
                  <a:srgbClr val="CCECFF"/>
                </a:highlight>
              </a:rPr>
              <a:t>기각심결과</a:t>
            </a:r>
            <a:r>
              <a:rPr lang="ko-KR" altLang="en-US" sz="1200" dirty="0">
                <a:highlight>
                  <a:srgbClr val="CCECFF"/>
                </a:highlight>
              </a:rPr>
              <a:t> 동일하게 취급하는 것은 문언의 가능한 해석 범위를 넘어선다</a:t>
            </a:r>
            <a:r>
              <a:rPr lang="en-US" altLang="ko-KR" sz="1200" dirty="0">
                <a:highlight>
                  <a:srgbClr val="CCECFF"/>
                </a:highlight>
              </a:rPr>
              <a:t>.</a:t>
            </a:r>
          </a:p>
          <a:p>
            <a:pPr marL="223838" indent="-223838" algn="just"/>
            <a:r>
              <a:rPr lang="ko-KR" altLang="en-US" sz="1200" dirty="0"/>
              <a:t>다</a:t>
            </a:r>
            <a:r>
              <a:rPr lang="en-US" altLang="ko-KR" sz="1200" dirty="0"/>
              <a:t>. </a:t>
            </a:r>
            <a:r>
              <a:rPr lang="ko-KR" altLang="en-US" sz="1200" dirty="0"/>
              <a:t>심판청구의 남용을 막고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모순저촉되는</a:t>
            </a:r>
            <a:r>
              <a:rPr lang="ko-KR" altLang="en-US" sz="1200" dirty="0"/>
              <a:t> 복수의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발생하는 것을 방지하고자 하는 일</a:t>
            </a:r>
            <a:r>
              <a:rPr lang="ko-KR" altLang="en-US" sz="1200" dirty="0">
                <a:highlight>
                  <a:srgbClr val="CCECFF"/>
                </a:highlight>
              </a:rPr>
              <a:t>사부재리 제도의 취지를 고려하더라도</a:t>
            </a:r>
            <a:r>
              <a:rPr lang="en-US" altLang="ko-KR" sz="1200" dirty="0">
                <a:highlight>
                  <a:srgbClr val="CCECFF"/>
                </a:highlight>
              </a:rPr>
              <a:t>, 1) </a:t>
            </a:r>
            <a:r>
              <a:rPr lang="ko-KR" altLang="en-US" sz="1200" dirty="0">
                <a:highlight>
                  <a:srgbClr val="CCECFF"/>
                </a:highlight>
              </a:rPr>
              <a:t>심판청구권 보장 역시 중요한 가치인 점</a:t>
            </a:r>
            <a:r>
              <a:rPr lang="en-US" altLang="ko-KR" sz="1200" dirty="0">
                <a:highlight>
                  <a:srgbClr val="CCECFF"/>
                </a:highlight>
              </a:rPr>
              <a:t>, 2) </a:t>
            </a:r>
            <a:r>
              <a:rPr lang="ko-KR" altLang="en-US" sz="1200" dirty="0">
                <a:highlight>
                  <a:srgbClr val="CCECFF"/>
                </a:highlight>
              </a:rPr>
              <a:t>현행 특허법 제</a:t>
            </a:r>
            <a:r>
              <a:rPr lang="en-US" altLang="ko-KR" sz="1200" dirty="0">
                <a:highlight>
                  <a:srgbClr val="CCECFF"/>
                </a:highlight>
              </a:rPr>
              <a:t>163</a:t>
            </a:r>
            <a:r>
              <a:rPr lang="ko-KR" altLang="en-US" sz="1200" dirty="0">
                <a:highlight>
                  <a:srgbClr val="CCECFF"/>
                </a:highlight>
              </a:rPr>
              <a:t>조는 일사부재리 효력이 제</a:t>
            </a:r>
            <a:r>
              <a:rPr lang="en-US" altLang="ko-KR" sz="1200" dirty="0">
                <a:highlight>
                  <a:srgbClr val="CCECFF"/>
                </a:highlight>
              </a:rPr>
              <a:t>3</a:t>
            </a:r>
            <a:r>
              <a:rPr lang="ko-KR" altLang="en-US" sz="1200" dirty="0" err="1">
                <a:highlight>
                  <a:srgbClr val="CCECFF"/>
                </a:highlight>
              </a:rPr>
              <a:t>자에게까지</a:t>
            </a:r>
            <a:r>
              <a:rPr lang="ko-KR" altLang="en-US" sz="1200" dirty="0">
                <a:highlight>
                  <a:srgbClr val="CCECFF"/>
                </a:highlight>
              </a:rPr>
              <a:t> 미치도록 하고 있다는 점</a:t>
            </a:r>
            <a:r>
              <a:rPr lang="ko-KR" altLang="en-US" sz="1200" dirty="0"/>
              <a:t>에서 특허법 제</a:t>
            </a:r>
            <a:r>
              <a:rPr lang="en-US" altLang="ko-KR" sz="1200" dirty="0"/>
              <a:t>163</a:t>
            </a:r>
            <a:r>
              <a:rPr lang="ko-KR" altLang="en-US" sz="1200" dirty="0"/>
              <a:t>조 단서의 예외를 인정하여 그 적용 범위를 확대하는 것은 정당화되기 어렵다</a:t>
            </a:r>
            <a:r>
              <a:rPr lang="en-US" altLang="ko-KR" sz="1200" dirty="0"/>
              <a:t>.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sp>
        <p:nvSpPr>
          <p:cNvPr id="42" name="Line 5">
            <a:extLst>
              <a:ext uri="{FF2B5EF4-FFF2-40B4-BE49-F238E27FC236}">
                <a16:creationId xmlns:a16="http://schemas.microsoft.com/office/drawing/2014/main" id="{C3D521F3-C89A-4691-A233-1BC4F6DB6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4146439"/>
            <a:ext cx="11530012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10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0F57E0-0C93-429E-B52D-950B18A62824}"/>
              </a:ext>
            </a:extLst>
          </p:cNvPr>
          <p:cNvSpPr txBox="1"/>
          <p:nvPr/>
        </p:nvSpPr>
        <p:spPr>
          <a:xfrm>
            <a:off x="660560" y="4402614"/>
            <a:ext cx="1061500" cy="4308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甲 무효심판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기각심결확정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E416A6A-17E0-4A3B-8C28-9560A00280A4}"/>
              </a:ext>
            </a:extLst>
          </p:cNvPr>
          <p:cNvSpPr/>
          <p:nvPr/>
        </p:nvSpPr>
        <p:spPr>
          <a:xfrm>
            <a:off x="1113940" y="405250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4B9FD84-6472-4A38-96A7-0961D12BE1A4}"/>
              </a:ext>
            </a:extLst>
          </p:cNvPr>
          <p:cNvCxnSpPr>
            <a:cxnSpLocks/>
            <a:stCxn id="44" idx="0"/>
            <a:endCxn id="47" idx="4"/>
          </p:cNvCxnSpPr>
          <p:nvPr/>
        </p:nvCxnSpPr>
        <p:spPr>
          <a:xfrm flipH="1" flipV="1">
            <a:off x="1191309" y="421384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E752647-CA77-4730-9828-80C4ADAC153D}"/>
              </a:ext>
            </a:extLst>
          </p:cNvPr>
          <p:cNvSpPr txBox="1"/>
          <p:nvPr/>
        </p:nvSpPr>
        <p:spPr>
          <a:xfrm>
            <a:off x="7699303" y="4402613"/>
            <a:ext cx="903844" cy="43088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특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CA50C72E-8883-4BC0-9B5A-9B09990D79CD}"/>
              </a:ext>
            </a:extLst>
          </p:cNvPr>
          <p:cNvSpPr/>
          <p:nvPr/>
        </p:nvSpPr>
        <p:spPr>
          <a:xfrm>
            <a:off x="8073855" y="405250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52B3968F-EB0B-4EEB-88EC-8B7FF3F3AE32}"/>
              </a:ext>
            </a:extLst>
          </p:cNvPr>
          <p:cNvCxnSpPr>
            <a:cxnSpLocks/>
            <a:stCxn id="55" idx="0"/>
            <a:endCxn id="56" idx="4"/>
          </p:cNvCxnSpPr>
          <p:nvPr/>
        </p:nvCxnSpPr>
        <p:spPr>
          <a:xfrm flipH="1" flipV="1">
            <a:off x="8151224" y="4213843"/>
            <a:ext cx="1" cy="1887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73B864B-59F2-4BA5-BF6F-47FFC60441B2}"/>
              </a:ext>
            </a:extLst>
          </p:cNvPr>
          <p:cNvSpPr txBox="1"/>
          <p:nvPr/>
        </p:nvSpPr>
        <p:spPr>
          <a:xfrm>
            <a:off x="407821" y="4950547"/>
            <a:ext cx="1566978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진보성 위반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by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선행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78FA4ACE-01F8-4A17-B306-7D24424AE20E}"/>
              </a:ext>
            </a:extLst>
          </p:cNvPr>
          <p:cNvCxnSpPr>
            <a:cxnSpLocks/>
            <a:stCxn id="36" idx="0"/>
            <a:endCxn id="44" idx="2"/>
          </p:cNvCxnSpPr>
          <p:nvPr/>
        </p:nvCxnSpPr>
        <p:spPr>
          <a:xfrm flipV="1">
            <a:off x="1191310" y="4833501"/>
            <a:ext cx="0" cy="1170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2870961-7113-44E7-A09D-EB1E428958DF}"/>
              </a:ext>
            </a:extLst>
          </p:cNvPr>
          <p:cNvSpPr txBox="1"/>
          <p:nvPr/>
        </p:nvSpPr>
        <p:spPr>
          <a:xfrm>
            <a:off x="4219208" y="4402613"/>
            <a:ext cx="879002" cy="43088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丙 무효심판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C4D937AA-A7B0-40AE-B45B-7C6574C2C3AA}"/>
              </a:ext>
            </a:extLst>
          </p:cNvPr>
          <p:cNvSpPr/>
          <p:nvPr/>
        </p:nvSpPr>
        <p:spPr>
          <a:xfrm>
            <a:off x="4581339" y="405250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A0D91A23-6C4C-4D4B-9AA8-C9707D9C82DF}"/>
              </a:ext>
            </a:extLst>
          </p:cNvPr>
          <p:cNvCxnSpPr>
            <a:cxnSpLocks/>
            <a:stCxn id="40" idx="0"/>
            <a:endCxn id="41" idx="4"/>
          </p:cNvCxnSpPr>
          <p:nvPr/>
        </p:nvCxnSpPr>
        <p:spPr>
          <a:xfrm flipH="1" flipV="1">
            <a:off x="4658708" y="4213843"/>
            <a:ext cx="1" cy="1887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0A4CB4C9-0D8E-4EA5-A875-8F3EE3A47E86}"/>
              </a:ext>
            </a:extLst>
          </p:cNvPr>
          <p:cNvSpPr txBox="1"/>
          <p:nvPr/>
        </p:nvSpPr>
        <p:spPr>
          <a:xfrm>
            <a:off x="5309293" y="4402613"/>
            <a:ext cx="1051254" cy="43088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특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정정청구</a:t>
            </a: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4212CB8D-340A-4481-AD0F-E12545400930}"/>
              </a:ext>
            </a:extLst>
          </p:cNvPr>
          <p:cNvSpPr/>
          <p:nvPr/>
        </p:nvSpPr>
        <p:spPr>
          <a:xfrm>
            <a:off x="5757550" y="405250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6B69D885-7404-4F57-AE60-4ED6ED792BA7}"/>
              </a:ext>
            </a:extLst>
          </p:cNvPr>
          <p:cNvCxnSpPr>
            <a:cxnSpLocks/>
            <a:stCxn id="64" idx="0"/>
            <a:endCxn id="65" idx="4"/>
          </p:cNvCxnSpPr>
          <p:nvPr/>
        </p:nvCxnSpPr>
        <p:spPr>
          <a:xfrm flipH="1" flipV="1">
            <a:off x="5834919" y="4213843"/>
            <a:ext cx="1" cy="1887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DFFD9B4-DD50-4A0C-A73F-3AF78BD49A1A}"/>
              </a:ext>
            </a:extLst>
          </p:cNvPr>
          <p:cNvSpPr txBox="1"/>
          <p:nvPr/>
        </p:nvSpPr>
        <p:spPr>
          <a:xfrm>
            <a:off x="8788152" y="4402614"/>
            <a:ext cx="749194" cy="43088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인용판결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취소환송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3F6981AD-C0F2-4BBA-9AB4-2E780FD953DA}"/>
              </a:ext>
            </a:extLst>
          </p:cNvPr>
          <p:cNvSpPr/>
          <p:nvPr/>
        </p:nvSpPr>
        <p:spPr>
          <a:xfrm>
            <a:off x="9085379" y="405250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50F8C75E-9430-42C0-9132-FBDADFA56BD2}"/>
              </a:ext>
            </a:extLst>
          </p:cNvPr>
          <p:cNvCxnSpPr>
            <a:cxnSpLocks/>
            <a:stCxn id="73" idx="0"/>
            <a:endCxn id="75" idx="4"/>
          </p:cNvCxnSpPr>
          <p:nvPr/>
        </p:nvCxnSpPr>
        <p:spPr>
          <a:xfrm flipH="1" flipV="1">
            <a:off x="9162748" y="421384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EBEB81B-2590-4C97-916A-77B3A16D975F}"/>
              </a:ext>
            </a:extLst>
          </p:cNvPr>
          <p:cNvCxnSpPr/>
          <p:nvPr/>
        </p:nvCxnSpPr>
        <p:spPr>
          <a:xfrm>
            <a:off x="0" y="3663487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9A1F156-269C-4C74-B49F-E39488B2FBEC}"/>
              </a:ext>
            </a:extLst>
          </p:cNvPr>
          <p:cNvSpPr txBox="1"/>
          <p:nvPr/>
        </p:nvSpPr>
        <p:spPr>
          <a:xfrm>
            <a:off x="3755415" y="4959165"/>
            <a:ext cx="1806586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진보성 위반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by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선행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 1, 2, 5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28D06206-6EC7-4EC7-B2CF-CF27002DD058}"/>
              </a:ext>
            </a:extLst>
          </p:cNvPr>
          <p:cNvCxnSpPr>
            <a:cxnSpLocks/>
            <a:stCxn id="45" idx="0"/>
            <a:endCxn id="40" idx="2"/>
          </p:cNvCxnSpPr>
          <p:nvPr/>
        </p:nvCxnSpPr>
        <p:spPr>
          <a:xfrm flipV="1">
            <a:off x="4658708" y="4833496"/>
            <a:ext cx="1" cy="1256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6492C761-B057-4699-90E1-E85E5E87D2CB}"/>
              </a:ext>
            </a:extLst>
          </p:cNvPr>
          <p:cNvSpPr txBox="1"/>
          <p:nvPr/>
        </p:nvSpPr>
        <p:spPr>
          <a:xfrm>
            <a:off x="5834919" y="4959913"/>
            <a:ext cx="2364202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선행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1, 2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에 의하여 진보성 위반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B381A6D-C0D4-42CA-A3F2-759F3537A5E0}"/>
              </a:ext>
            </a:extLst>
          </p:cNvPr>
          <p:cNvCxnSpPr>
            <a:cxnSpLocks/>
            <a:stCxn id="52" idx="0"/>
            <a:endCxn id="68" idx="2"/>
          </p:cNvCxnSpPr>
          <p:nvPr/>
        </p:nvCxnSpPr>
        <p:spPr>
          <a:xfrm flipV="1">
            <a:off x="7017020" y="4833501"/>
            <a:ext cx="1872" cy="12641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9D0FA5CC-50FC-4A0D-B49E-FB2C7E09771B}"/>
              </a:ext>
            </a:extLst>
          </p:cNvPr>
          <p:cNvSpPr txBox="1"/>
          <p:nvPr/>
        </p:nvSpPr>
        <p:spPr>
          <a:xfrm>
            <a:off x="2316357" y="4402614"/>
            <a:ext cx="1061500" cy="4308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乙 무효심판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각하심결확정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D432ADF0-FFC4-4853-9529-F0F4BAABA6CD}"/>
              </a:ext>
            </a:extLst>
          </p:cNvPr>
          <p:cNvSpPr/>
          <p:nvPr/>
        </p:nvSpPr>
        <p:spPr>
          <a:xfrm>
            <a:off x="2769737" y="405250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D6B096C4-543C-4860-9CFC-F5E2E9411AAF}"/>
              </a:ext>
            </a:extLst>
          </p:cNvPr>
          <p:cNvCxnSpPr>
            <a:cxnSpLocks/>
            <a:stCxn id="54" idx="0"/>
            <a:endCxn id="58" idx="4"/>
          </p:cNvCxnSpPr>
          <p:nvPr/>
        </p:nvCxnSpPr>
        <p:spPr>
          <a:xfrm flipH="1" flipV="1">
            <a:off x="2847106" y="421384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356792B-64B4-403D-BECE-69CC68B0B59D}"/>
              </a:ext>
            </a:extLst>
          </p:cNvPr>
          <p:cNvSpPr txBox="1"/>
          <p:nvPr/>
        </p:nvSpPr>
        <p:spPr>
          <a:xfrm>
            <a:off x="2063618" y="4950547"/>
            <a:ext cx="1566978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진보성 위반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by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선행 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1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FFA3AA62-C0E8-4BBA-8E24-04F22074090F}"/>
              </a:ext>
            </a:extLst>
          </p:cNvPr>
          <p:cNvCxnSpPr>
            <a:cxnSpLocks/>
            <a:stCxn id="60" idx="0"/>
            <a:endCxn id="54" idx="2"/>
          </p:cNvCxnSpPr>
          <p:nvPr/>
        </p:nvCxnSpPr>
        <p:spPr>
          <a:xfrm flipV="1">
            <a:off x="2847107" y="4833501"/>
            <a:ext cx="0" cy="1170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B8F5903-318A-4937-9375-C3F2880C0340}"/>
              </a:ext>
            </a:extLst>
          </p:cNvPr>
          <p:cNvSpPr txBox="1"/>
          <p:nvPr/>
        </p:nvSpPr>
        <p:spPr>
          <a:xfrm>
            <a:off x="2063619" y="5354362"/>
            <a:ext cx="1566976" cy="110799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선행 </a:t>
            </a:r>
            <a:r>
              <a:rPr lang="en-US" altLang="ko-KR" sz="1100" dirty="0"/>
              <a:t>1</a:t>
            </a:r>
            <a:r>
              <a:rPr lang="ko-KR" altLang="en-US" sz="1100" dirty="0"/>
              <a:t>은 선행 </a:t>
            </a:r>
            <a:r>
              <a:rPr lang="en-US" altLang="ko-KR" sz="1100" dirty="0"/>
              <a:t>3</a:t>
            </a:r>
            <a:r>
              <a:rPr lang="ko-KR" altLang="en-US" sz="1100" dirty="0"/>
              <a:t>의 확정된 기각 </a:t>
            </a:r>
            <a:r>
              <a:rPr lang="ko-KR" altLang="en-US" sz="1100" dirty="0" err="1"/>
              <a:t>심결을</a:t>
            </a:r>
            <a:r>
              <a:rPr lang="ko-KR" altLang="en-US" sz="1100" dirty="0"/>
              <a:t> 번복할 수 있을 정도로 유력한 증거라고 볼 수 없어 동일증거에 해당하여 </a:t>
            </a:r>
            <a:endParaRPr lang="en-US" altLang="ko-KR" sz="1100" dirty="0"/>
          </a:p>
          <a:p>
            <a:pPr algn="ctr"/>
            <a:r>
              <a:rPr lang="ko-KR" altLang="en-US" sz="1100" dirty="0"/>
              <a:t>일사부재리 위반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AC3D68EA-CB3B-47E5-BEBE-04B080675248}"/>
              </a:ext>
            </a:extLst>
          </p:cNvPr>
          <p:cNvCxnSpPr>
            <a:cxnSpLocks/>
            <a:stCxn id="62" idx="0"/>
            <a:endCxn id="60" idx="2"/>
          </p:cNvCxnSpPr>
          <p:nvPr/>
        </p:nvCxnSpPr>
        <p:spPr>
          <a:xfrm flipV="1">
            <a:off x="2847107" y="5212157"/>
            <a:ext cx="0" cy="1422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03C8F18-EAFE-4B27-A801-AFF097D6DB55}"/>
              </a:ext>
            </a:extLst>
          </p:cNvPr>
          <p:cNvSpPr txBox="1"/>
          <p:nvPr/>
        </p:nvSpPr>
        <p:spPr>
          <a:xfrm>
            <a:off x="6493265" y="4402614"/>
            <a:ext cx="1051254" cy="43088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정정인정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무효심결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4EBBC1BF-94B7-4E06-B145-721DF5E5FA17}"/>
              </a:ext>
            </a:extLst>
          </p:cNvPr>
          <p:cNvSpPr/>
          <p:nvPr/>
        </p:nvSpPr>
        <p:spPr>
          <a:xfrm>
            <a:off x="6941522" y="405250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D859793D-09C8-4904-9405-D19721F6CF47}"/>
              </a:ext>
            </a:extLst>
          </p:cNvPr>
          <p:cNvCxnSpPr>
            <a:cxnSpLocks/>
            <a:stCxn id="68" idx="0"/>
            <a:endCxn id="69" idx="4"/>
          </p:cNvCxnSpPr>
          <p:nvPr/>
        </p:nvCxnSpPr>
        <p:spPr>
          <a:xfrm flipH="1" flipV="1">
            <a:off x="7018891" y="421384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3B4A9CB5-A401-4412-97DE-A74D08DE183C}"/>
              </a:ext>
            </a:extLst>
          </p:cNvPr>
          <p:cNvSpPr txBox="1"/>
          <p:nvPr/>
        </p:nvSpPr>
        <p:spPr>
          <a:xfrm>
            <a:off x="8379259" y="4950547"/>
            <a:ext cx="1566978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일사부재리 위반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5C3249BA-439A-4694-8351-99CABE54FB61}"/>
              </a:ext>
            </a:extLst>
          </p:cNvPr>
          <p:cNvCxnSpPr>
            <a:cxnSpLocks/>
            <a:stCxn id="77" idx="0"/>
          </p:cNvCxnSpPr>
          <p:nvPr/>
        </p:nvCxnSpPr>
        <p:spPr>
          <a:xfrm flipV="1">
            <a:off x="9162748" y="4833501"/>
            <a:ext cx="0" cy="1170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0E573731-1A78-4857-AADF-A34DF4EEA460}"/>
              </a:ext>
            </a:extLst>
          </p:cNvPr>
          <p:cNvSpPr txBox="1"/>
          <p:nvPr/>
        </p:nvSpPr>
        <p:spPr>
          <a:xfrm>
            <a:off x="7414268" y="5354362"/>
            <a:ext cx="3512506" cy="110799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/>
              <a:t>선행 확정 </a:t>
            </a:r>
            <a:r>
              <a:rPr lang="ko-KR" altLang="en-US" sz="1100" dirty="0" err="1"/>
              <a:t>심결에서</a:t>
            </a:r>
            <a:r>
              <a:rPr lang="ko-KR" altLang="en-US" sz="1100" dirty="0"/>
              <a:t> 제출된 동일 증거인 선행발명 </a:t>
            </a:r>
            <a:r>
              <a:rPr lang="en-US" altLang="ko-KR" sz="1100" dirty="0"/>
              <a:t>1</a:t>
            </a:r>
            <a:r>
              <a:rPr lang="ko-KR" altLang="en-US" sz="1100" dirty="0"/>
              <a:t>에 이 사건 </a:t>
            </a:r>
            <a:r>
              <a:rPr lang="ko-KR" altLang="en-US" sz="1100" dirty="0" err="1"/>
              <a:t>심결에서</a:t>
            </a:r>
            <a:r>
              <a:rPr lang="ko-KR" altLang="en-US" sz="1100" dirty="0"/>
              <a:t> 새롭게 제출된 선행발명 </a:t>
            </a:r>
            <a:r>
              <a:rPr lang="en-US" altLang="ko-KR" sz="1100" dirty="0"/>
              <a:t>2 </a:t>
            </a:r>
            <a:r>
              <a:rPr lang="ko-KR" altLang="en-US" sz="1100" dirty="0"/>
              <a:t>를 결합하더라도 제</a:t>
            </a:r>
            <a:r>
              <a:rPr lang="en-US" altLang="ko-KR" sz="1100" dirty="0"/>
              <a:t>1</a:t>
            </a:r>
            <a:r>
              <a:rPr lang="ko-KR" altLang="en-US" sz="1100" dirty="0"/>
              <a:t>항 정정발명의 진보성이 부정된다고 볼 수 없으므로</a:t>
            </a:r>
            <a:r>
              <a:rPr lang="en-US" altLang="ko-KR" sz="1100" dirty="0"/>
              <a:t>, </a:t>
            </a:r>
            <a:r>
              <a:rPr lang="ko-KR" altLang="en-US" sz="1100" dirty="0"/>
              <a:t>선행발명 </a:t>
            </a:r>
            <a:r>
              <a:rPr lang="en-US" altLang="ko-KR" sz="1100" dirty="0"/>
              <a:t>2</a:t>
            </a:r>
            <a:r>
              <a:rPr lang="ko-KR" altLang="en-US" sz="1100" dirty="0"/>
              <a:t>는 선행 확정 </a:t>
            </a:r>
            <a:r>
              <a:rPr lang="ko-KR" altLang="en-US" sz="1100" dirty="0" err="1"/>
              <a:t>심결을</a:t>
            </a:r>
            <a:r>
              <a:rPr lang="ko-KR" altLang="en-US" sz="1100" dirty="0"/>
              <a:t> 번복할 수 있는 유력한 증거라고 할 수 없어</a:t>
            </a:r>
            <a:r>
              <a:rPr lang="en-US" altLang="ko-KR" sz="1100" dirty="0"/>
              <a:t>, </a:t>
            </a:r>
            <a:r>
              <a:rPr lang="ko-KR" altLang="en-US" sz="1100" dirty="0"/>
              <a:t>선행 확정 </a:t>
            </a:r>
            <a:r>
              <a:rPr lang="ko-KR" altLang="en-US" sz="1100" dirty="0" err="1"/>
              <a:t>심결에서의</a:t>
            </a:r>
            <a:r>
              <a:rPr lang="ko-KR" altLang="en-US" sz="1100" dirty="0"/>
              <a:t> 증거와 실질적으로 동일한 증거에 해당하여 일사부재리 위반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347B4AE8-F200-46C0-9109-A2883025162E}"/>
              </a:ext>
            </a:extLst>
          </p:cNvPr>
          <p:cNvCxnSpPr>
            <a:cxnSpLocks/>
            <a:stCxn id="79" idx="0"/>
            <a:endCxn id="77" idx="2"/>
          </p:cNvCxnSpPr>
          <p:nvPr/>
        </p:nvCxnSpPr>
        <p:spPr>
          <a:xfrm flipH="1" flipV="1">
            <a:off x="9162748" y="5212157"/>
            <a:ext cx="7773" cy="1422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1D2B5D1C-C2CC-4FC6-BFEF-2DAF720EFC1E}"/>
              </a:ext>
            </a:extLst>
          </p:cNvPr>
          <p:cNvSpPr txBox="1"/>
          <p:nvPr/>
        </p:nvSpPr>
        <p:spPr>
          <a:xfrm>
            <a:off x="9776386" y="4402613"/>
            <a:ext cx="903844" cy="430883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 anchor="ctr">
            <a:no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丙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89FE69DC-71D5-4A59-853F-C42AD67E88F5}"/>
              </a:ext>
            </a:extLst>
          </p:cNvPr>
          <p:cNvSpPr/>
          <p:nvPr/>
        </p:nvSpPr>
        <p:spPr>
          <a:xfrm>
            <a:off x="10150938" y="405250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4BD525DE-172C-4CA0-8BE4-43D8DE03E2C7}"/>
              </a:ext>
            </a:extLst>
          </p:cNvPr>
          <p:cNvCxnSpPr>
            <a:cxnSpLocks/>
            <a:stCxn id="87" idx="0"/>
            <a:endCxn id="88" idx="4"/>
          </p:cNvCxnSpPr>
          <p:nvPr/>
        </p:nvCxnSpPr>
        <p:spPr>
          <a:xfrm flipH="1" flipV="1">
            <a:off x="10228307" y="4213843"/>
            <a:ext cx="1" cy="1887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CD2F7DC8-6A71-4BD8-A1C1-691FEE6EBC9A}"/>
              </a:ext>
            </a:extLst>
          </p:cNvPr>
          <p:cNvSpPr txBox="1"/>
          <p:nvPr/>
        </p:nvSpPr>
        <p:spPr>
          <a:xfrm>
            <a:off x="10865235" y="4402614"/>
            <a:ext cx="749194" cy="430887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인용판결</a:t>
            </a:r>
            <a:endParaRPr lang="en-US" altLang="ko-KR" sz="11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파기환송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D86CA273-A2B8-4B4E-9A35-B0F5A63B4893}"/>
              </a:ext>
            </a:extLst>
          </p:cNvPr>
          <p:cNvSpPr/>
          <p:nvPr/>
        </p:nvSpPr>
        <p:spPr>
          <a:xfrm>
            <a:off x="11162462" y="405250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>
              <a:latin typeface="+mn-ea"/>
            </a:endParaRPr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7B343BEE-7DD6-4C1A-A787-C3A04DFD274F}"/>
              </a:ext>
            </a:extLst>
          </p:cNvPr>
          <p:cNvCxnSpPr>
            <a:cxnSpLocks/>
            <a:stCxn id="90" idx="0"/>
            <a:endCxn id="91" idx="4"/>
          </p:cNvCxnSpPr>
          <p:nvPr/>
        </p:nvCxnSpPr>
        <p:spPr>
          <a:xfrm flipH="1" flipV="1">
            <a:off x="11239831" y="421384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4B67B3A1-67D0-45A6-A3F1-C98F98CEDFFD}"/>
              </a:ext>
            </a:extLst>
          </p:cNvPr>
          <p:cNvSpPr/>
          <p:nvPr/>
        </p:nvSpPr>
        <p:spPr>
          <a:xfrm>
            <a:off x="232372" y="1759789"/>
            <a:ext cx="11727256" cy="36051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5" name="연결선: 꺾임 94">
            <a:extLst>
              <a:ext uri="{FF2B5EF4-FFF2-40B4-BE49-F238E27FC236}">
                <a16:creationId xmlns:a16="http://schemas.microsoft.com/office/drawing/2014/main" id="{8AE29F49-AE90-426D-A2BC-76079750B0D4}"/>
              </a:ext>
            </a:extLst>
          </p:cNvPr>
          <p:cNvCxnSpPr>
            <a:stCxn id="93" idx="1"/>
            <a:endCxn id="62" idx="1"/>
          </p:cNvCxnSpPr>
          <p:nvPr/>
        </p:nvCxnSpPr>
        <p:spPr>
          <a:xfrm rot="10800000" flipH="1" flipV="1">
            <a:off x="232371" y="1940046"/>
            <a:ext cx="1831247" cy="3968313"/>
          </a:xfrm>
          <a:prstGeom prst="bentConnector3">
            <a:avLst>
              <a:gd name="adj1" fmla="val -6359"/>
            </a:avLst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8973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위쪽 화살표 설명선 28"/>
          <p:cNvSpPr/>
          <p:nvPr/>
        </p:nvSpPr>
        <p:spPr>
          <a:xfrm>
            <a:off x="8601958" y="3792248"/>
            <a:ext cx="1517715" cy="1904215"/>
          </a:xfrm>
          <a:prstGeom prst="upArrowCallout">
            <a:avLst>
              <a:gd name="adj1" fmla="val 50000"/>
              <a:gd name="adj2" fmla="val 47981"/>
              <a:gd name="adj3" fmla="val 25000"/>
              <a:gd name="adj4" fmla="val 73393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170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거절결정불복심판단계에서</a:t>
            </a:r>
            <a:r>
              <a:rPr lang="ko-KR" altLang="en-US" dirty="0"/>
              <a:t> </a:t>
            </a:r>
            <a:r>
              <a:rPr lang="ko-KR" altLang="en-US" dirty="0" err="1"/>
              <a:t>보정각하</a:t>
            </a:r>
            <a:endParaRPr lang="ko-KR" altLang="en-US" dirty="0"/>
          </a:p>
        </p:txBody>
      </p:sp>
      <p:cxnSp>
        <p:nvCxnSpPr>
          <p:cNvPr id="14" name="직선 연결선 13"/>
          <p:cNvCxnSpPr/>
          <p:nvPr/>
        </p:nvCxnSpPr>
        <p:spPr>
          <a:xfrm>
            <a:off x="77875" y="192457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875" y="976902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5"/>
                </a:solidFill>
              </a:rPr>
              <a:t>제</a:t>
            </a:r>
            <a:r>
              <a:rPr lang="en-US" altLang="ko-KR" sz="1400" b="1" dirty="0">
                <a:solidFill>
                  <a:schemeClr val="accent5"/>
                </a:solidFill>
              </a:rPr>
              <a:t>170</a:t>
            </a:r>
            <a:r>
              <a:rPr lang="ko-KR" altLang="en-US" sz="1400" b="1" dirty="0">
                <a:solidFill>
                  <a:schemeClr val="accent5"/>
                </a:solidFill>
              </a:rPr>
              <a:t>조</a:t>
            </a:r>
            <a:r>
              <a:rPr lang="en-US" altLang="ko-KR" sz="1400" b="1" dirty="0">
                <a:solidFill>
                  <a:schemeClr val="accent5"/>
                </a:solidFill>
              </a:rPr>
              <a:t>(</a:t>
            </a:r>
            <a:r>
              <a:rPr lang="ko-KR" altLang="en-US" sz="1400" b="1" dirty="0" err="1">
                <a:solidFill>
                  <a:schemeClr val="accent5"/>
                </a:solidFill>
              </a:rPr>
              <a:t>심사규정의</a:t>
            </a:r>
            <a:r>
              <a:rPr lang="ko-KR" altLang="en-US" sz="1400" b="1" dirty="0">
                <a:solidFill>
                  <a:schemeClr val="accent5"/>
                </a:solidFill>
              </a:rPr>
              <a:t> 특허거절결정에 대한 심판에의 준용</a:t>
            </a:r>
            <a:r>
              <a:rPr lang="en-US" altLang="ko-KR" sz="1400" b="1" dirty="0">
                <a:solidFill>
                  <a:schemeClr val="accent5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 ① </a:t>
            </a:r>
            <a:r>
              <a:rPr lang="ko-KR" altLang="en-US" sz="1400" dirty="0">
                <a:solidFill>
                  <a:schemeClr val="tx2"/>
                </a:solidFill>
              </a:rPr>
              <a:t>특허거절결정에 대한 심판에 관하여는 제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호ㆍ제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같은 조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51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63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63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 </a:t>
            </a:r>
            <a:r>
              <a:rPr lang="ko-KR" altLang="en-US" sz="1400" dirty="0">
                <a:solidFill>
                  <a:schemeClr val="tx2"/>
                </a:solidFill>
              </a:rPr>
              <a:t>및 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조를 준용한다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 제</a:t>
            </a:r>
            <a:r>
              <a:rPr lang="en-US" altLang="ko-KR" sz="1400" dirty="0">
                <a:solidFill>
                  <a:schemeClr val="tx2"/>
                </a:solidFill>
              </a:rPr>
              <a:t>51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본문 중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 및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호에 따른 보정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은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호에 따른 보정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132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17</a:t>
            </a:r>
            <a:r>
              <a:rPr lang="ko-KR" altLang="en-US" sz="1400" dirty="0">
                <a:solidFill>
                  <a:schemeClr val="tx2"/>
                </a:solidFill>
              </a:rPr>
              <a:t>의 특허거절결정에 대한 심판청구 전에 한 것은 제외한다</a:t>
            </a:r>
            <a:r>
              <a:rPr lang="en-US" altLang="ko-KR" sz="1400" dirty="0">
                <a:solidFill>
                  <a:schemeClr val="tx2"/>
                </a:solidFill>
              </a:rPr>
              <a:t>)"</a:t>
            </a:r>
            <a:r>
              <a:rPr lang="ko-KR" altLang="en-US" sz="1400" dirty="0">
                <a:solidFill>
                  <a:schemeClr val="tx2"/>
                </a:solidFill>
              </a:rPr>
              <a:t>으로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63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 </a:t>
            </a:r>
            <a:r>
              <a:rPr lang="ko-KR" altLang="en-US" sz="1400" dirty="0">
                <a:solidFill>
                  <a:schemeClr val="tx2"/>
                </a:solidFill>
              </a:rPr>
              <a:t>본문 중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지식재산처장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은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특허심판원장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으로 본다</a:t>
            </a:r>
            <a:r>
              <a:rPr lang="en-US" altLang="ko-KR" sz="1400" dirty="0">
                <a:solidFill>
                  <a:schemeClr val="tx2"/>
                </a:solidFill>
              </a:rPr>
              <a:t>.  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준용되는 제</a:t>
            </a:r>
            <a:r>
              <a:rPr lang="en-US" altLang="ko-KR" sz="1400" dirty="0">
                <a:solidFill>
                  <a:schemeClr val="tx2"/>
                </a:solidFill>
              </a:rPr>
              <a:t>63</a:t>
            </a:r>
            <a:r>
              <a:rPr lang="ko-KR" altLang="en-US" sz="1400" dirty="0">
                <a:solidFill>
                  <a:schemeClr val="tx2"/>
                </a:solidFill>
              </a:rPr>
              <a:t>조는 특허거절결정의 이유와 다른 거절이유를 발견한 경우에만 적용한다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669304" y="2431583"/>
            <a:ext cx="3349496" cy="7452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anchor="ctr">
            <a:noAutofit/>
          </a:bodyPr>
          <a:lstStyle/>
          <a:p>
            <a:pPr algn="ctr"/>
            <a:r>
              <a:rPr lang="ko-KR" altLang="en-US" dirty="0">
                <a:solidFill>
                  <a:schemeClr val="tx2"/>
                </a:solidFill>
              </a:rPr>
              <a:t>제</a:t>
            </a:r>
            <a:r>
              <a:rPr lang="en-US" altLang="ko-KR" dirty="0">
                <a:solidFill>
                  <a:schemeClr val="tx2"/>
                </a:solidFill>
              </a:rPr>
              <a:t>47</a:t>
            </a:r>
            <a:r>
              <a:rPr lang="ko-KR" altLang="en-US" dirty="0">
                <a:solidFill>
                  <a:schemeClr val="tx2"/>
                </a:solidFill>
              </a:rPr>
              <a:t>조제</a:t>
            </a:r>
            <a:r>
              <a:rPr lang="en-US" altLang="ko-KR" dirty="0">
                <a:solidFill>
                  <a:schemeClr val="tx2"/>
                </a:solidFill>
              </a:rPr>
              <a:t>1</a:t>
            </a:r>
            <a:r>
              <a:rPr lang="ko-KR" altLang="en-US" dirty="0" err="1">
                <a:solidFill>
                  <a:schemeClr val="tx2"/>
                </a:solidFill>
              </a:rPr>
              <a:t>항제</a:t>
            </a:r>
            <a:r>
              <a:rPr lang="en-US" altLang="ko-KR" dirty="0">
                <a:solidFill>
                  <a:schemeClr val="tx2"/>
                </a:solidFill>
              </a:rPr>
              <a:t>2</a:t>
            </a:r>
            <a:r>
              <a:rPr lang="ko-KR" altLang="en-US" dirty="0">
                <a:solidFill>
                  <a:schemeClr val="tx2"/>
                </a:solidFill>
              </a:rPr>
              <a:t>호 및 제</a:t>
            </a:r>
            <a:r>
              <a:rPr lang="en-US" altLang="ko-KR" dirty="0">
                <a:solidFill>
                  <a:schemeClr val="tx2"/>
                </a:solidFill>
              </a:rPr>
              <a:t>3</a:t>
            </a:r>
            <a:r>
              <a:rPr lang="ko-KR" altLang="en-US" dirty="0">
                <a:solidFill>
                  <a:schemeClr val="tx2"/>
                </a:solidFill>
              </a:rPr>
              <a:t>호에 </a:t>
            </a:r>
            <a:endParaRPr lang="en-US" altLang="ko-KR" dirty="0">
              <a:solidFill>
                <a:schemeClr val="tx2"/>
              </a:solidFill>
            </a:endParaRPr>
          </a:p>
          <a:p>
            <a:pPr algn="ctr"/>
            <a:r>
              <a:rPr lang="ko-KR" altLang="en-US" dirty="0">
                <a:solidFill>
                  <a:schemeClr val="tx2"/>
                </a:solidFill>
              </a:rPr>
              <a:t>따른 보정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54573" y="4925209"/>
            <a:ext cx="3364227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>
                <a:solidFill>
                  <a:schemeClr val="tx2"/>
                </a:solidFill>
              </a:rPr>
              <a:t>제</a:t>
            </a:r>
            <a:r>
              <a:rPr lang="en-US" altLang="ko-KR" dirty="0">
                <a:solidFill>
                  <a:schemeClr val="tx2"/>
                </a:solidFill>
              </a:rPr>
              <a:t>47</a:t>
            </a:r>
            <a:r>
              <a:rPr lang="ko-KR" altLang="en-US" dirty="0">
                <a:solidFill>
                  <a:schemeClr val="tx2"/>
                </a:solidFill>
              </a:rPr>
              <a:t>조제</a:t>
            </a:r>
            <a:r>
              <a:rPr lang="en-US" altLang="ko-KR" dirty="0">
                <a:solidFill>
                  <a:schemeClr val="tx2"/>
                </a:solidFill>
              </a:rPr>
              <a:t>1</a:t>
            </a:r>
            <a:r>
              <a:rPr lang="ko-KR" altLang="en-US" dirty="0" err="1">
                <a:solidFill>
                  <a:schemeClr val="tx2"/>
                </a:solidFill>
              </a:rPr>
              <a:t>항제</a:t>
            </a:r>
            <a:r>
              <a:rPr lang="en-US" altLang="ko-KR" dirty="0">
                <a:solidFill>
                  <a:schemeClr val="tx2"/>
                </a:solidFill>
              </a:rPr>
              <a:t>2</a:t>
            </a:r>
            <a:r>
              <a:rPr lang="ko-KR" altLang="en-US" dirty="0">
                <a:solidFill>
                  <a:schemeClr val="tx2"/>
                </a:solidFill>
              </a:rPr>
              <a:t>호에 따른 보정</a:t>
            </a:r>
            <a:r>
              <a:rPr lang="en-US" altLang="ko-KR" dirty="0">
                <a:solidFill>
                  <a:schemeClr val="tx2"/>
                </a:solidFill>
              </a:rPr>
              <a:t>(</a:t>
            </a:r>
            <a:r>
              <a:rPr lang="ko-KR" altLang="en-US" dirty="0">
                <a:solidFill>
                  <a:schemeClr val="tx2"/>
                </a:solidFill>
              </a:rPr>
              <a:t>제</a:t>
            </a:r>
            <a:r>
              <a:rPr lang="en-US" altLang="ko-KR" dirty="0">
                <a:solidFill>
                  <a:schemeClr val="tx2"/>
                </a:solidFill>
              </a:rPr>
              <a:t>132</a:t>
            </a:r>
            <a:r>
              <a:rPr lang="ko-KR" altLang="en-US" dirty="0">
                <a:solidFill>
                  <a:schemeClr val="tx2"/>
                </a:solidFill>
              </a:rPr>
              <a:t>조의</a:t>
            </a:r>
            <a:r>
              <a:rPr lang="en-US" altLang="ko-KR" dirty="0">
                <a:solidFill>
                  <a:schemeClr val="tx2"/>
                </a:solidFill>
              </a:rPr>
              <a:t>17</a:t>
            </a:r>
            <a:r>
              <a:rPr lang="ko-KR" altLang="en-US" dirty="0">
                <a:solidFill>
                  <a:schemeClr val="tx2"/>
                </a:solidFill>
              </a:rPr>
              <a:t>의 특허거절결정에 대한 심판청구 전에 한 것은 제외한다</a:t>
            </a:r>
            <a:r>
              <a:rPr lang="en-US" altLang="ko-KR" dirty="0">
                <a:solidFill>
                  <a:schemeClr val="tx2"/>
                </a:solidFill>
              </a:rPr>
              <a:t>)</a:t>
            </a:r>
            <a:endParaRPr lang="ko-KR" altLang="en-US" dirty="0"/>
          </a:p>
        </p:txBody>
      </p:sp>
      <p:sp>
        <p:nvSpPr>
          <p:cNvPr id="7" name="오른쪽 화살표 6"/>
          <p:cNvSpPr/>
          <p:nvPr/>
        </p:nvSpPr>
        <p:spPr>
          <a:xfrm rot="5400000">
            <a:off x="1760916" y="3511238"/>
            <a:ext cx="1046375" cy="1099142"/>
          </a:xfrm>
          <a:prstGeom prst="rightArrow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4364610" y="4487159"/>
            <a:ext cx="4100661" cy="46395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47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 err="1">
                <a:solidFill>
                  <a:schemeClr val="tx1"/>
                </a:solidFill>
              </a:rPr>
              <a:t>항제</a:t>
            </a:r>
            <a:r>
              <a:rPr lang="en-US" altLang="ko-KR" sz="1400" dirty="0">
                <a:solidFill>
                  <a:schemeClr val="tx1"/>
                </a:solidFill>
              </a:rPr>
              <a:t>3</a:t>
            </a:r>
            <a:r>
              <a:rPr lang="ko-KR" altLang="en-US" sz="1400" dirty="0">
                <a:solidFill>
                  <a:schemeClr val="tx1"/>
                </a:solidFill>
              </a:rPr>
              <a:t>호 시기에 보정 범위 위반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4364610" y="4994167"/>
            <a:ext cx="4100661" cy="46395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심판청구 전 제</a:t>
            </a:r>
            <a:r>
              <a:rPr lang="en-US" altLang="ko-KR" sz="1400" dirty="0">
                <a:solidFill>
                  <a:schemeClr val="tx1"/>
                </a:solidFill>
              </a:rPr>
              <a:t>47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 err="1">
                <a:solidFill>
                  <a:schemeClr val="tx1"/>
                </a:solidFill>
              </a:rPr>
              <a:t>항제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호 시기에 보정 범위 위반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4364610" y="5934808"/>
            <a:ext cx="4100661" cy="46395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심판청구 후 제</a:t>
            </a:r>
            <a:r>
              <a:rPr lang="en-US" altLang="ko-KR" sz="1400" dirty="0">
                <a:solidFill>
                  <a:schemeClr val="tx1"/>
                </a:solidFill>
              </a:rPr>
              <a:t>47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 err="1">
                <a:solidFill>
                  <a:schemeClr val="tx1"/>
                </a:solidFill>
              </a:rPr>
              <a:t>항제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호 시기에 보정 범위 위반</a:t>
            </a:r>
          </a:p>
        </p:txBody>
      </p:sp>
      <p:cxnSp>
        <p:nvCxnSpPr>
          <p:cNvPr id="10" name="꺾인 연결선 9"/>
          <p:cNvCxnSpPr>
            <a:stCxn id="6" idx="3"/>
            <a:endCxn id="8" idx="1"/>
          </p:cNvCxnSpPr>
          <p:nvPr/>
        </p:nvCxnSpPr>
        <p:spPr>
          <a:xfrm flipV="1">
            <a:off x="4018800" y="4719135"/>
            <a:ext cx="345810" cy="115918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꺾인 연결선 11"/>
          <p:cNvCxnSpPr>
            <a:stCxn id="6" idx="3"/>
            <a:endCxn id="21" idx="1"/>
          </p:cNvCxnSpPr>
          <p:nvPr/>
        </p:nvCxnSpPr>
        <p:spPr>
          <a:xfrm>
            <a:off x="4018800" y="5525374"/>
            <a:ext cx="345810" cy="64141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6" idx="3"/>
            <a:endCxn id="20" idx="1"/>
          </p:cNvCxnSpPr>
          <p:nvPr/>
        </p:nvCxnSpPr>
        <p:spPr>
          <a:xfrm flipV="1">
            <a:off x="4018800" y="5226143"/>
            <a:ext cx="345810" cy="65217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모서리가 둥근 직사각형 27"/>
          <p:cNvSpPr/>
          <p:nvPr/>
        </p:nvSpPr>
        <p:spPr>
          <a:xfrm>
            <a:off x="8908329" y="4487159"/>
            <a:ext cx="904974" cy="463952"/>
          </a:xfrm>
          <a:prstGeom prst="roundRect">
            <a:avLst>
              <a:gd name="adj" fmla="val 3901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제외</a:t>
            </a:r>
          </a:p>
        </p:txBody>
      </p:sp>
      <p:sp>
        <p:nvSpPr>
          <p:cNvPr id="36" name="모서리가 둥근 직사각형 35"/>
          <p:cNvSpPr/>
          <p:nvPr/>
        </p:nvSpPr>
        <p:spPr>
          <a:xfrm>
            <a:off x="8908329" y="4994167"/>
            <a:ext cx="904974" cy="463952"/>
          </a:xfrm>
          <a:prstGeom prst="roundRect">
            <a:avLst>
              <a:gd name="adj" fmla="val 3901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제외</a:t>
            </a:r>
          </a:p>
        </p:txBody>
      </p:sp>
      <p:sp>
        <p:nvSpPr>
          <p:cNvPr id="37" name="모서리가 둥근 직사각형 36"/>
          <p:cNvSpPr/>
          <p:nvPr/>
        </p:nvSpPr>
        <p:spPr>
          <a:xfrm>
            <a:off x="8908329" y="5934808"/>
            <a:ext cx="904974" cy="463952"/>
          </a:xfrm>
          <a:prstGeom prst="roundRect">
            <a:avLst>
              <a:gd name="adj" fmla="val 3901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포함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087906" y="3872234"/>
            <a:ext cx="4514052" cy="463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rgbClr val="FF0000"/>
                </a:solidFill>
              </a:rPr>
              <a:t>심판청구 전 </a:t>
            </a:r>
            <a:r>
              <a:rPr lang="ko-KR" altLang="en-US" sz="1600" dirty="0" err="1">
                <a:solidFill>
                  <a:srgbClr val="FF0000"/>
                </a:solidFill>
              </a:rPr>
              <a:t>부적법한</a:t>
            </a:r>
            <a:r>
              <a:rPr lang="ko-KR" altLang="en-US" sz="1600" dirty="0">
                <a:solidFill>
                  <a:srgbClr val="FF0000"/>
                </a:solidFill>
              </a:rPr>
              <a:t> 보정이 심판청구 후 발견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457</a:t>
            </a:r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2907FE0-4BAC-FAD4-6A7B-7CCF91F4FA4E}"/>
              </a:ext>
            </a:extLst>
          </p:cNvPr>
          <p:cNvSpPr/>
          <p:nvPr/>
        </p:nvSpPr>
        <p:spPr>
          <a:xfrm>
            <a:off x="8247538" y="3179045"/>
            <a:ext cx="2209930" cy="463952"/>
          </a:xfrm>
          <a:prstGeom prst="roundRect">
            <a:avLst>
              <a:gd name="adj" fmla="val 50000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>
                <a:solidFill>
                  <a:schemeClr val="bg1"/>
                </a:solidFill>
              </a:rPr>
              <a:t>최후거절이유통지</a:t>
            </a:r>
            <a:endParaRPr lang="ko-KR" altLang="en-US" sz="2000" dirty="0">
              <a:solidFill>
                <a:schemeClr val="bg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CAE7194-340F-D6F0-84D0-423550160D31}"/>
              </a:ext>
            </a:extLst>
          </p:cNvPr>
          <p:cNvSpPr/>
          <p:nvPr/>
        </p:nvSpPr>
        <p:spPr>
          <a:xfrm>
            <a:off x="4258235" y="4376545"/>
            <a:ext cx="4274617" cy="118078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7919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말풍선: 모서리가 둥근 사각형 100">
            <a:extLst>
              <a:ext uri="{FF2B5EF4-FFF2-40B4-BE49-F238E27FC236}">
                <a16:creationId xmlns:a16="http://schemas.microsoft.com/office/drawing/2014/main" id="{0AF7BF0A-22C7-4BE6-BC10-E579C1C046EC}"/>
              </a:ext>
            </a:extLst>
          </p:cNvPr>
          <p:cNvSpPr/>
          <p:nvPr/>
        </p:nvSpPr>
        <p:spPr>
          <a:xfrm>
            <a:off x="9087440" y="5783591"/>
            <a:ext cx="2743200" cy="883070"/>
          </a:xfrm>
          <a:prstGeom prst="wedgeRoundRectCallout">
            <a:avLst>
              <a:gd name="adj1" fmla="val 25256"/>
              <a:gd name="adj2" fmla="val -12164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2"/>
                </a:solidFill>
              </a:rPr>
              <a:t>법원이 행정권을 행사하는 것은 삼권분립의 원칙에 반하고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보정 후 명세서 또는 도면에 대해서 출원인의 의견서</a:t>
            </a:r>
            <a:r>
              <a:rPr lang="en-US" altLang="ko-KR" sz="1200" dirty="0">
                <a:solidFill>
                  <a:schemeClr val="tx2"/>
                </a:solidFill>
              </a:rPr>
              <a:t>/</a:t>
            </a:r>
            <a:r>
              <a:rPr lang="ko-KR" altLang="en-US" sz="1200" dirty="0">
                <a:solidFill>
                  <a:schemeClr val="tx2"/>
                </a:solidFill>
              </a:rPr>
              <a:t>보정서 제출기회를 박탈하지 않아야 함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170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525252"/>
                </a:solidFill>
              </a:rPr>
              <a:t>보정각하의</a:t>
            </a:r>
            <a:r>
              <a:rPr lang="ko-KR" altLang="en-US" dirty="0">
                <a:solidFill>
                  <a:srgbClr val="525252"/>
                </a:solidFill>
              </a:rPr>
              <a:t> 타당성에 대한 심리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C744699-A9D8-41E8-AC09-E31EE1EB6442}"/>
              </a:ext>
            </a:extLst>
          </p:cNvPr>
          <p:cNvCxnSpPr/>
          <p:nvPr/>
        </p:nvCxnSpPr>
        <p:spPr>
          <a:xfrm>
            <a:off x="0" y="2998699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Line 5">
            <a:extLst>
              <a:ext uri="{FF2B5EF4-FFF2-40B4-BE49-F238E27FC236}">
                <a16:creationId xmlns:a16="http://schemas.microsoft.com/office/drawing/2014/main" id="{794B9111-CC3E-4267-819A-BCBE59AE3EB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3475072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DA4D5B-4814-4B17-A30D-17CD648D86D8}"/>
              </a:ext>
            </a:extLst>
          </p:cNvPr>
          <p:cNvSpPr txBox="1"/>
          <p:nvPr/>
        </p:nvSpPr>
        <p:spPr>
          <a:xfrm>
            <a:off x="656548" y="3731247"/>
            <a:ext cx="80499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출원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1AD46315-FFAD-4F0C-B8F7-F1CDA31EFAA1}"/>
              </a:ext>
            </a:extLst>
          </p:cNvPr>
          <p:cNvSpPr/>
          <p:nvPr/>
        </p:nvSpPr>
        <p:spPr>
          <a:xfrm>
            <a:off x="981677" y="338113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A5D4E93-967A-45F1-9F4B-EE501C5F5FFD}"/>
              </a:ext>
            </a:extLst>
          </p:cNvPr>
          <p:cNvCxnSpPr>
            <a:cxnSpLocks/>
            <a:stCxn id="25" idx="0"/>
            <a:endCxn id="26" idx="4"/>
          </p:cNvCxnSpPr>
          <p:nvPr/>
        </p:nvCxnSpPr>
        <p:spPr>
          <a:xfrm flipH="1" flipV="1">
            <a:off x="1059046" y="354247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6DC7CD5-8ABF-4E0C-8F10-B5A2A68A1C46}"/>
              </a:ext>
            </a:extLst>
          </p:cNvPr>
          <p:cNvSpPr txBox="1"/>
          <p:nvPr/>
        </p:nvSpPr>
        <p:spPr>
          <a:xfrm>
            <a:off x="2710329" y="3731247"/>
            <a:ext cx="99661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보정각하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426E2997-97A9-4ACA-B6B7-014946ACBEB4}"/>
              </a:ext>
            </a:extLst>
          </p:cNvPr>
          <p:cNvSpPr/>
          <p:nvPr/>
        </p:nvSpPr>
        <p:spPr>
          <a:xfrm>
            <a:off x="3131266" y="338113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8F98D89-25BB-445D-B43B-0204E8AE51A9}"/>
              </a:ext>
            </a:extLst>
          </p:cNvPr>
          <p:cNvCxnSpPr>
            <a:cxnSpLocks/>
            <a:stCxn id="30" idx="0"/>
            <a:endCxn id="31" idx="4"/>
          </p:cNvCxnSpPr>
          <p:nvPr/>
        </p:nvCxnSpPr>
        <p:spPr>
          <a:xfrm flipH="1" flipV="1">
            <a:off x="3208635" y="354247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8F9BA11-776F-458B-AEBF-785908167EF1}"/>
              </a:ext>
            </a:extLst>
          </p:cNvPr>
          <p:cNvSpPr/>
          <p:nvPr/>
        </p:nvSpPr>
        <p:spPr>
          <a:xfrm>
            <a:off x="232372" y="967374"/>
            <a:ext cx="1168198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/>
              <a:t>지식재산처는 거절결정에 대한 </a:t>
            </a:r>
            <a:r>
              <a:rPr lang="ko-KR" altLang="en-US" sz="1400" dirty="0" err="1"/>
              <a:t>심결취소소송</a:t>
            </a:r>
            <a:r>
              <a:rPr lang="ko-KR" altLang="en-US" sz="1400" dirty="0"/>
              <a:t> 단계에서 심판절차에서 다루어지지 아니한 새로운 이유를 추가하여 보정의 부적법을 주장할 수 있다고 보아야 한다</a:t>
            </a:r>
            <a:r>
              <a:rPr lang="en-US" altLang="ko-KR" sz="1400" dirty="0"/>
              <a:t>. </a:t>
            </a:r>
            <a:r>
              <a:rPr lang="ko-KR" altLang="en-US" sz="1400" dirty="0"/>
              <a:t>그리고 이러한 법리는 거절결정불복심판 단계에도 적용되어 특허심판원이 </a:t>
            </a:r>
            <a:r>
              <a:rPr lang="ko-KR" altLang="en-US" sz="1400" dirty="0" err="1"/>
              <a:t>출원인인</a:t>
            </a:r>
            <a:r>
              <a:rPr lang="ko-KR" altLang="en-US" sz="1400" dirty="0"/>
              <a:t> 심판청구인에게 의견진술의 기회를 주지 아니한 채 </a:t>
            </a:r>
            <a:r>
              <a:rPr lang="ko-KR" altLang="en-US" sz="1400" dirty="0" err="1"/>
              <a:t>보정각하결정에</a:t>
            </a:r>
            <a:r>
              <a:rPr lang="ko-KR" altLang="en-US" sz="1400" dirty="0"/>
              <a:t> 기재되지 아니한 새로운 </a:t>
            </a:r>
            <a:r>
              <a:rPr lang="ko-KR" altLang="en-US" sz="1400" dirty="0" err="1"/>
              <a:t>보정각하사유를</a:t>
            </a:r>
            <a:r>
              <a:rPr lang="ko-KR" altLang="en-US" sz="1400" dirty="0"/>
              <a:t> 들어 </a:t>
            </a:r>
            <a:r>
              <a:rPr lang="ko-KR" altLang="en-US" sz="1400" dirty="0" err="1"/>
              <a:t>보정각하결정이</a:t>
            </a:r>
            <a:r>
              <a:rPr lang="ko-KR" altLang="en-US" sz="1400" dirty="0"/>
              <a:t> 정당한 것으로 판단하였다고 할지라도 그 </a:t>
            </a:r>
            <a:r>
              <a:rPr lang="ko-KR" altLang="en-US" sz="1400" dirty="0" err="1"/>
              <a:t>심결을</a:t>
            </a:r>
            <a:r>
              <a:rPr lang="ko-KR" altLang="en-US" sz="1400" dirty="0"/>
              <a:t> 취소하여야 할 위법이 있다고 할 수 없다</a:t>
            </a:r>
            <a:r>
              <a:rPr lang="en-US" altLang="ko-KR" sz="1400" dirty="0"/>
              <a:t>(</a:t>
            </a:r>
            <a:r>
              <a:rPr lang="ko-KR" altLang="en-US" sz="1400" dirty="0"/>
              <a:t>특허법원 </a:t>
            </a:r>
            <a:r>
              <a:rPr lang="en-US" altLang="ko-KR" sz="1400" dirty="0"/>
              <a:t>2009. 7. 10.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2008</a:t>
            </a:r>
            <a:r>
              <a:rPr lang="ko-KR" altLang="en-US" sz="1400" dirty="0"/>
              <a:t>허</a:t>
            </a:r>
            <a:r>
              <a:rPr lang="en-US" altLang="ko-KR" sz="1400" dirty="0"/>
              <a:t>10764).</a:t>
            </a:r>
          </a:p>
          <a:p>
            <a:pPr algn="just"/>
            <a:r>
              <a:rPr lang="ko-KR" altLang="en-US" sz="1400" dirty="0" err="1"/>
              <a:t>특허거절결정에</a:t>
            </a:r>
            <a:r>
              <a:rPr lang="ko-KR" altLang="en-US" sz="1400" dirty="0"/>
              <a:t> 대한 불복심판청구를 기각한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취소소송에서 </a:t>
            </a:r>
            <a:r>
              <a:rPr lang="ko-KR" altLang="en-US" sz="1400" dirty="0">
                <a:highlight>
                  <a:srgbClr val="FFFF00"/>
                </a:highlight>
              </a:rPr>
              <a:t>법원은 </a:t>
            </a:r>
            <a:r>
              <a:rPr lang="ko-KR" altLang="en-US" sz="1400" dirty="0" err="1">
                <a:highlight>
                  <a:srgbClr val="FFFF00"/>
                </a:highlight>
              </a:rPr>
              <a:t>특허거절결정을</a:t>
            </a:r>
            <a:r>
              <a:rPr lang="ko-KR" altLang="en-US" sz="1400" dirty="0">
                <a:highlight>
                  <a:srgbClr val="FFFF00"/>
                </a:highlight>
              </a:rPr>
              <a:t> 유지한 </a:t>
            </a:r>
            <a:r>
              <a:rPr lang="ko-KR" altLang="en-US" sz="1400" dirty="0" err="1">
                <a:highlight>
                  <a:srgbClr val="FFFF00"/>
                </a:highlight>
              </a:rPr>
              <a:t>심결의</a:t>
            </a:r>
            <a:r>
              <a:rPr lang="ko-KR" altLang="en-US" sz="1400" dirty="0">
                <a:highlight>
                  <a:srgbClr val="FFFF00"/>
                </a:highlight>
              </a:rPr>
              <a:t> 위법성 여부를 판단하는 것일 뿐 특허출원에 대하여 직접 특허결정 또는 </a:t>
            </a:r>
            <a:r>
              <a:rPr lang="ko-KR" altLang="en-US" sz="1400" dirty="0" err="1">
                <a:highlight>
                  <a:srgbClr val="FFFF00"/>
                </a:highlight>
              </a:rPr>
              <a:t>특허거절결정을</a:t>
            </a:r>
            <a:r>
              <a:rPr lang="ko-KR" altLang="en-US" sz="1400" dirty="0">
                <a:highlight>
                  <a:srgbClr val="FFFF00"/>
                </a:highlight>
              </a:rPr>
              <a:t> 하는 것은 아니다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따라서 심사관이 특허출원의 보정에 대한 각하결정을 한 후 ‘보정 전의 </a:t>
            </a:r>
            <a:r>
              <a:rPr lang="ko-KR" altLang="en-US" sz="1400" dirty="0" err="1"/>
              <a:t>특허출원’에</a:t>
            </a:r>
            <a:r>
              <a:rPr lang="ko-KR" altLang="en-US" sz="1400" dirty="0"/>
              <a:t> 대하여 거절결정을 하였고</a:t>
            </a:r>
            <a:r>
              <a:rPr lang="en-US" altLang="ko-KR" sz="1400" dirty="0"/>
              <a:t>, </a:t>
            </a:r>
            <a:r>
              <a:rPr lang="ko-KR" altLang="en-US" sz="1400" dirty="0"/>
              <a:t>그에 대한 불복심판 절차에서 위 </a:t>
            </a:r>
            <a:r>
              <a:rPr lang="ko-KR" altLang="en-US" sz="1400" dirty="0" err="1"/>
              <a:t>보정각하결정</a:t>
            </a:r>
            <a:r>
              <a:rPr lang="ko-KR" altLang="en-US" sz="1400" dirty="0"/>
              <a:t> 및 거절결정이 적법하다는 이유로 심판청구를 기각하는 특허심판원의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있었던 경우</a:t>
            </a:r>
            <a:r>
              <a:rPr lang="en-US" altLang="ko-KR" sz="1400" dirty="0"/>
              <a:t>,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highlight>
                  <a:srgbClr val="FFFF00"/>
                </a:highlight>
              </a:rPr>
              <a:t>그 </a:t>
            </a:r>
            <a:r>
              <a:rPr lang="ko-KR" altLang="en-US" sz="1400" dirty="0" err="1">
                <a:highlight>
                  <a:srgbClr val="FFFF00"/>
                </a:highlight>
              </a:rPr>
              <a:t>심결취소소송에서</a:t>
            </a:r>
            <a:r>
              <a:rPr lang="ko-KR" altLang="en-US" sz="1400" dirty="0">
                <a:highlight>
                  <a:srgbClr val="FFFF00"/>
                </a:highlight>
              </a:rPr>
              <a:t> 법원은 위 </a:t>
            </a:r>
            <a:r>
              <a:rPr lang="ko-KR" altLang="en-US" sz="1400" dirty="0" err="1">
                <a:highlight>
                  <a:srgbClr val="FFFF00"/>
                </a:highlight>
              </a:rPr>
              <a:t>보정각하결정이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위법하다면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그것만을</a:t>
            </a:r>
            <a:r>
              <a:rPr lang="ko-KR" altLang="en-US" sz="1400" dirty="0">
                <a:highlight>
                  <a:srgbClr val="FFFF00"/>
                </a:highlight>
              </a:rPr>
              <a:t> 이유로 곧바로 </a:t>
            </a:r>
            <a:r>
              <a:rPr lang="ko-KR" altLang="en-US" sz="1400" dirty="0" err="1">
                <a:highlight>
                  <a:srgbClr val="FFFF00"/>
                </a:highlight>
              </a:rPr>
              <a:t>심결을</a:t>
            </a:r>
            <a:r>
              <a:rPr lang="ko-KR" altLang="en-US" sz="1400" dirty="0">
                <a:highlight>
                  <a:srgbClr val="FFFF00"/>
                </a:highlight>
              </a:rPr>
              <a:t> 취소하여야 하는 것이지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심사관 또는 특허심판원이 하지도 아니한 ‘보정 이후의 </a:t>
            </a:r>
            <a:r>
              <a:rPr lang="ko-KR" altLang="en-US" sz="1400" dirty="0" err="1">
                <a:highlight>
                  <a:srgbClr val="FFFF00"/>
                </a:highlight>
              </a:rPr>
              <a:t>특허출원’에</a:t>
            </a:r>
            <a:r>
              <a:rPr lang="ko-KR" altLang="en-US" sz="1400" dirty="0">
                <a:highlight>
                  <a:srgbClr val="FFFF00"/>
                </a:highlight>
              </a:rPr>
              <a:t> 대한 거절결정의 위법성 여부까지 스스로 심리하여 이 역시 위법한 경우에만 </a:t>
            </a:r>
            <a:r>
              <a:rPr lang="ko-KR" altLang="en-US" sz="1400" dirty="0" err="1">
                <a:highlight>
                  <a:srgbClr val="FFFF00"/>
                </a:highlight>
              </a:rPr>
              <a:t>심결을</a:t>
            </a:r>
            <a:r>
              <a:rPr lang="ko-KR" altLang="en-US" sz="1400" dirty="0">
                <a:highlight>
                  <a:srgbClr val="FFFF00"/>
                </a:highlight>
              </a:rPr>
              <a:t> 취소할 것은 아니다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2014. 7. 10.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2012</a:t>
            </a:r>
            <a:r>
              <a:rPr lang="ko-KR" altLang="en-US" sz="1400" dirty="0"/>
              <a:t>후</a:t>
            </a:r>
            <a:r>
              <a:rPr lang="en-US" altLang="ko-KR" sz="1400" dirty="0"/>
              <a:t>3121).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EC64650-FA1A-42F5-9E63-57C007D9A74A}"/>
              </a:ext>
            </a:extLst>
          </p:cNvPr>
          <p:cNvSpPr txBox="1"/>
          <p:nvPr/>
        </p:nvSpPr>
        <p:spPr>
          <a:xfrm>
            <a:off x="1639882" y="3731247"/>
            <a:ext cx="80499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보정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D4AE4696-869C-4C58-9353-2D84D978F12E}"/>
              </a:ext>
            </a:extLst>
          </p:cNvPr>
          <p:cNvSpPr/>
          <p:nvPr/>
        </p:nvSpPr>
        <p:spPr>
          <a:xfrm>
            <a:off x="1965011" y="338113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C2F50CDB-7D92-4913-94E3-9894F6D59D3E}"/>
              </a:ext>
            </a:extLst>
          </p:cNvPr>
          <p:cNvCxnSpPr>
            <a:cxnSpLocks/>
            <a:stCxn id="56" idx="0"/>
            <a:endCxn id="57" idx="4"/>
          </p:cNvCxnSpPr>
          <p:nvPr/>
        </p:nvCxnSpPr>
        <p:spPr>
          <a:xfrm flipH="1" flipV="1">
            <a:off x="2042380" y="354247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27012D4-CD7A-4107-9185-8E2207B3CF1A}"/>
              </a:ext>
            </a:extLst>
          </p:cNvPr>
          <p:cNvSpPr txBox="1"/>
          <p:nvPr/>
        </p:nvSpPr>
        <p:spPr>
          <a:xfrm>
            <a:off x="2710329" y="4039024"/>
            <a:ext cx="99661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거절결정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FB043EF-1FDC-4517-9865-8BC1F76A326F}"/>
              </a:ext>
            </a:extLst>
          </p:cNvPr>
          <p:cNvSpPr txBox="1"/>
          <p:nvPr/>
        </p:nvSpPr>
        <p:spPr>
          <a:xfrm>
            <a:off x="3886322" y="3731247"/>
            <a:ext cx="896560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심판청구</a:t>
            </a: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53F25411-FD00-41BB-BBEC-40828DD5A7B0}"/>
              </a:ext>
            </a:extLst>
          </p:cNvPr>
          <p:cNvSpPr/>
          <p:nvPr/>
        </p:nvSpPr>
        <p:spPr>
          <a:xfrm>
            <a:off x="4257232" y="338113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979E3403-888A-420E-B827-E2CF68922C2E}"/>
              </a:ext>
            </a:extLst>
          </p:cNvPr>
          <p:cNvCxnSpPr>
            <a:cxnSpLocks/>
            <a:stCxn id="60" idx="0"/>
            <a:endCxn id="61" idx="4"/>
          </p:cNvCxnSpPr>
          <p:nvPr/>
        </p:nvCxnSpPr>
        <p:spPr>
          <a:xfrm flipH="1" flipV="1">
            <a:off x="4334601" y="354247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3C1958BA-4E3A-4732-AA66-D30ABBCD8CB5}"/>
              </a:ext>
            </a:extLst>
          </p:cNvPr>
          <p:cNvSpPr txBox="1"/>
          <p:nvPr/>
        </p:nvSpPr>
        <p:spPr>
          <a:xfrm>
            <a:off x="5067961" y="3731247"/>
            <a:ext cx="99661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심리</a:t>
            </a:r>
          </a:p>
        </p:txBody>
      </p:sp>
      <p:sp>
        <p:nvSpPr>
          <p:cNvPr id="64" name="타원 63">
            <a:extLst>
              <a:ext uri="{FF2B5EF4-FFF2-40B4-BE49-F238E27FC236}">
                <a16:creationId xmlns:a16="http://schemas.microsoft.com/office/drawing/2014/main" id="{9DB82E8D-5509-4311-BD36-038E86CC01B8}"/>
              </a:ext>
            </a:extLst>
          </p:cNvPr>
          <p:cNvSpPr/>
          <p:nvPr/>
        </p:nvSpPr>
        <p:spPr>
          <a:xfrm>
            <a:off x="5488898" y="338113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F2476A6A-9B3B-4095-A8A4-674B83A6FE17}"/>
              </a:ext>
            </a:extLst>
          </p:cNvPr>
          <p:cNvCxnSpPr>
            <a:cxnSpLocks/>
            <a:stCxn id="63" idx="0"/>
            <a:endCxn id="64" idx="4"/>
          </p:cNvCxnSpPr>
          <p:nvPr/>
        </p:nvCxnSpPr>
        <p:spPr>
          <a:xfrm flipH="1" flipV="1">
            <a:off x="5566267" y="354247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563F62A0-8F06-4FDB-A70D-682D80BFCD9C}"/>
              </a:ext>
            </a:extLst>
          </p:cNvPr>
          <p:cNvSpPr txBox="1"/>
          <p:nvPr/>
        </p:nvSpPr>
        <p:spPr>
          <a:xfrm>
            <a:off x="3886322" y="4192981"/>
            <a:ext cx="896560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보정각하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함께 불복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CED3B56-E4D3-4F77-8889-67B40FD78172}"/>
              </a:ext>
            </a:extLst>
          </p:cNvPr>
          <p:cNvCxnSpPr>
            <a:stCxn id="67" idx="0"/>
            <a:endCxn id="60" idx="2"/>
          </p:cNvCxnSpPr>
          <p:nvPr/>
        </p:nvCxnSpPr>
        <p:spPr>
          <a:xfrm flipV="1">
            <a:off x="4334602" y="4008246"/>
            <a:ext cx="0" cy="18473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A2C5E23A-D3B7-4FE3-A026-343C1B674F49}"/>
              </a:ext>
            </a:extLst>
          </p:cNvPr>
          <p:cNvSpPr txBox="1"/>
          <p:nvPr/>
        </p:nvSpPr>
        <p:spPr>
          <a:xfrm>
            <a:off x="3395770" y="5105093"/>
            <a:ext cx="917239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err="1"/>
              <a:t>보정각하의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algn="ctr"/>
            <a:r>
              <a:rPr lang="ko-KR" altLang="en-US" sz="1200" dirty="0"/>
              <a:t>적법성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29D8358-253C-481A-9C0F-86D82DF2C1CE}"/>
              </a:ext>
            </a:extLst>
          </p:cNvPr>
          <p:cNvSpPr txBox="1"/>
          <p:nvPr/>
        </p:nvSpPr>
        <p:spPr>
          <a:xfrm>
            <a:off x="4717577" y="5004258"/>
            <a:ext cx="246092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en-US" altLang="ko-KR" sz="1200" dirty="0"/>
              <a:t>×: </a:t>
            </a:r>
            <a:r>
              <a:rPr lang="ko-KR" altLang="en-US" sz="1200" dirty="0"/>
              <a:t>보정 후 명세서</a:t>
            </a:r>
            <a:r>
              <a:rPr lang="en-US" altLang="ko-KR" sz="1200" dirty="0"/>
              <a:t>,</a:t>
            </a:r>
            <a:r>
              <a:rPr lang="ko-KR" altLang="en-US" sz="1200" dirty="0"/>
              <a:t>도면 의하여 심리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C746BD7-D94D-4CE7-99FE-5ACEDB487371}"/>
              </a:ext>
            </a:extLst>
          </p:cNvPr>
          <p:cNvSpPr txBox="1"/>
          <p:nvPr/>
        </p:nvSpPr>
        <p:spPr>
          <a:xfrm>
            <a:off x="4717577" y="5393924"/>
            <a:ext cx="246093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○</a:t>
            </a:r>
            <a:r>
              <a:rPr lang="en-US" altLang="ko-KR" sz="1200" dirty="0"/>
              <a:t>: </a:t>
            </a:r>
            <a:r>
              <a:rPr lang="ko-KR" altLang="en-US" sz="1200" dirty="0"/>
              <a:t>보정 전 명세서</a:t>
            </a:r>
            <a:r>
              <a:rPr lang="en-US" altLang="ko-KR" sz="1200" dirty="0"/>
              <a:t>, </a:t>
            </a:r>
            <a:r>
              <a:rPr lang="ko-KR" altLang="en-US" sz="1200" dirty="0"/>
              <a:t>도면 의하여 심리</a:t>
            </a:r>
          </a:p>
        </p:txBody>
      </p:sp>
      <p:cxnSp>
        <p:nvCxnSpPr>
          <p:cNvPr id="74" name="연결선: 꺾임 73">
            <a:extLst>
              <a:ext uri="{FF2B5EF4-FFF2-40B4-BE49-F238E27FC236}">
                <a16:creationId xmlns:a16="http://schemas.microsoft.com/office/drawing/2014/main" id="{156FA423-8313-41FE-90F9-430A867B337B}"/>
              </a:ext>
            </a:extLst>
          </p:cNvPr>
          <p:cNvCxnSpPr>
            <a:cxnSpLocks/>
            <a:stCxn id="68" idx="3"/>
            <a:endCxn id="69" idx="1"/>
          </p:cNvCxnSpPr>
          <p:nvPr/>
        </p:nvCxnSpPr>
        <p:spPr>
          <a:xfrm flipV="1">
            <a:off x="4313009" y="5142758"/>
            <a:ext cx="404568" cy="19316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05082E3B-B4A9-4569-9D7F-370D72150D17}"/>
              </a:ext>
            </a:extLst>
          </p:cNvPr>
          <p:cNvCxnSpPr>
            <a:stCxn id="68" idx="3"/>
            <a:endCxn id="70" idx="1"/>
          </p:cNvCxnSpPr>
          <p:nvPr/>
        </p:nvCxnSpPr>
        <p:spPr>
          <a:xfrm>
            <a:off x="4313009" y="5335926"/>
            <a:ext cx="404568" cy="19649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C3CE758C-87CA-4E05-8D00-E41B6A129F29}"/>
              </a:ext>
            </a:extLst>
          </p:cNvPr>
          <p:cNvCxnSpPr>
            <a:stCxn id="63" idx="2"/>
            <a:endCxn id="68" idx="1"/>
          </p:cNvCxnSpPr>
          <p:nvPr/>
        </p:nvCxnSpPr>
        <p:spPr>
          <a:xfrm rot="5400000">
            <a:off x="3817179" y="3586837"/>
            <a:ext cx="1327680" cy="2170498"/>
          </a:xfrm>
          <a:prstGeom prst="bentConnector4">
            <a:avLst>
              <a:gd name="adj1" fmla="val 64698"/>
              <a:gd name="adj2" fmla="val 110532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EFD11D1D-B54C-433B-A42B-DD08E8E6C6E1}"/>
              </a:ext>
            </a:extLst>
          </p:cNvPr>
          <p:cNvSpPr/>
          <p:nvPr/>
        </p:nvSpPr>
        <p:spPr>
          <a:xfrm>
            <a:off x="308654" y="4664424"/>
            <a:ext cx="2743200" cy="18483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r>
              <a:rPr lang="ko-KR" altLang="en-US" sz="1200" dirty="0" err="1">
                <a:solidFill>
                  <a:schemeClr val="accent2"/>
                </a:solidFill>
              </a:rPr>
              <a:t>기재불비를</a:t>
            </a:r>
            <a:r>
              <a:rPr lang="ko-KR" altLang="en-US" sz="1200" dirty="0">
                <a:solidFill>
                  <a:schemeClr val="accent2"/>
                </a:solidFill>
              </a:rPr>
              <a:t> 해소하기 위한 보정 이후 발명에 대한 심사 결과 신규성이나 진보성 부정의 거절이유가 발견된다고 하더라도</a:t>
            </a:r>
            <a:r>
              <a:rPr lang="en-US" altLang="ko-KR" sz="1200" dirty="0">
                <a:solidFill>
                  <a:schemeClr val="accent2"/>
                </a:solidFill>
              </a:rPr>
              <a:t>, </a:t>
            </a:r>
            <a:r>
              <a:rPr lang="ko-KR" altLang="en-US" sz="1200" dirty="0">
                <a:solidFill>
                  <a:schemeClr val="accent2"/>
                </a:solidFill>
              </a:rPr>
              <a:t>그러한 거절이유는 보정으로 청구항이 신설되거나 실질적으로 신설에 준하는 정도로 변경됨에 따라 비로소 발생한 경우와 같은 특별한 사정이 없는 한 보정으로 새롭게 발생한 것이라고 할 수 없으므로</a:t>
            </a:r>
            <a:r>
              <a:rPr lang="en-US" altLang="ko-KR" sz="1200" dirty="0">
                <a:solidFill>
                  <a:schemeClr val="accent2"/>
                </a:solidFill>
              </a:rPr>
              <a:t>, </a:t>
            </a:r>
            <a:r>
              <a:rPr lang="ko-KR" altLang="en-US" sz="1200" dirty="0" err="1">
                <a:solidFill>
                  <a:schemeClr val="accent2"/>
                </a:solidFill>
              </a:rPr>
              <a:t>보정각하결정을</a:t>
            </a:r>
            <a:r>
              <a:rPr lang="ko-KR" altLang="en-US" sz="1200" dirty="0">
                <a:solidFill>
                  <a:schemeClr val="accent2"/>
                </a:solidFill>
              </a:rPr>
              <a:t> 하여서는 아니됨</a:t>
            </a:r>
            <a:r>
              <a:rPr lang="en-US" altLang="ko-KR" sz="1200" dirty="0">
                <a:solidFill>
                  <a:srgbClr val="FF0000"/>
                </a:solidFill>
              </a:rPr>
              <a:t>(2012</a:t>
            </a:r>
            <a:r>
              <a:rPr lang="ko-KR" altLang="en-US" sz="1200" dirty="0">
                <a:solidFill>
                  <a:srgbClr val="FF0000"/>
                </a:solidFill>
              </a:rPr>
              <a:t>후</a:t>
            </a:r>
            <a:r>
              <a:rPr lang="en-US" altLang="ko-KR" sz="1200" dirty="0">
                <a:solidFill>
                  <a:srgbClr val="FF0000"/>
                </a:solidFill>
              </a:rPr>
              <a:t>3121)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3D55A74-971E-4F20-B190-E68B856DE260}"/>
              </a:ext>
            </a:extLst>
          </p:cNvPr>
          <p:cNvSpPr txBox="1"/>
          <p:nvPr/>
        </p:nvSpPr>
        <p:spPr>
          <a:xfrm>
            <a:off x="6281943" y="3731247"/>
            <a:ext cx="89656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9C630984-F118-4AF6-9E6F-51D34B23E346}"/>
              </a:ext>
            </a:extLst>
          </p:cNvPr>
          <p:cNvSpPr/>
          <p:nvPr/>
        </p:nvSpPr>
        <p:spPr>
          <a:xfrm>
            <a:off x="6652853" y="338113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81675F51-C88A-4155-B0F1-1787B5D32B80}"/>
              </a:ext>
            </a:extLst>
          </p:cNvPr>
          <p:cNvCxnSpPr>
            <a:cxnSpLocks/>
            <a:stCxn id="82" idx="0"/>
            <a:endCxn id="83" idx="4"/>
          </p:cNvCxnSpPr>
          <p:nvPr/>
        </p:nvCxnSpPr>
        <p:spPr>
          <a:xfrm flipH="1" flipV="1">
            <a:off x="6730222" y="354247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C221EA9E-7F08-4B4F-9D2A-E797904113D9}"/>
              </a:ext>
            </a:extLst>
          </p:cNvPr>
          <p:cNvSpPr txBox="1"/>
          <p:nvPr/>
        </p:nvSpPr>
        <p:spPr>
          <a:xfrm>
            <a:off x="6281943" y="4192981"/>
            <a:ext cx="89656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보정각하와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거절결정의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유지</a:t>
            </a: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B7B2C7C9-E1D8-4CE4-8F7E-C67E490C0558}"/>
              </a:ext>
            </a:extLst>
          </p:cNvPr>
          <p:cNvCxnSpPr>
            <a:stCxn id="85" idx="0"/>
            <a:endCxn id="82" idx="2"/>
          </p:cNvCxnSpPr>
          <p:nvPr/>
        </p:nvCxnSpPr>
        <p:spPr>
          <a:xfrm flipV="1">
            <a:off x="6730223" y="4008246"/>
            <a:ext cx="0" cy="18473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3562B09-C440-407A-9BD6-4E9DEE8B338C}"/>
              </a:ext>
            </a:extLst>
          </p:cNvPr>
          <p:cNvSpPr txBox="1"/>
          <p:nvPr/>
        </p:nvSpPr>
        <p:spPr>
          <a:xfrm>
            <a:off x="7437545" y="3731247"/>
            <a:ext cx="896560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 제기</a:t>
            </a: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91F9B9CA-4787-467C-B9F8-654A2F593612}"/>
              </a:ext>
            </a:extLst>
          </p:cNvPr>
          <p:cNvSpPr/>
          <p:nvPr/>
        </p:nvSpPr>
        <p:spPr>
          <a:xfrm>
            <a:off x="7808455" y="3381138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5808855A-8AC6-4FBA-B000-C0ADE130BAA4}"/>
              </a:ext>
            </a:extLst>
          </p:cNvPr>
          <p:cNvCxnSpPr>
            <a:cxnSpLocks/>
            <a:stCxn id="88" idx="0"/>
            <a:endCxn id="89" idx="4"/>
          </p:cNvCxnSpPr>
          <p:nvPr/>
        </p:nvCxnSpPr>
        <p:spPr>
          <a:xfrm flipH="1" flipV="1">
            <a:off x="7885824" y="354247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30B9CCF6-90F3-4F7B-9241-7DABBDAEF6B7}"/>
              </a:ext>
            </a:extLst>
          </p:cNvPr>
          <p:cNvSpPr txBox="1"/>
          <p:nvPr/>
        </p:nvSpPr>
        <p:spPr>
          <a:xfrm>
            <a:off x="9973007" y="3731247"/>
            <a:ext cx="99661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심리</a:t>
            </a: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76A2E54B-C563-46CC-9A53-B801C85F6086}"/>
              </a:ext>
            </a:extLst>
          </p:cNvPr>
          <p:cNvSpPr/>
          <p:nvPr/>
        </p:nvSpPr>
        <p:spPr>
          <a:xfrm>
            <a:off x="10393944" y="338113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49C9C9FE-84A8-473A-A333-01832D726EDC}"/>
              </a:ext>
            </a:extLst>
          </p:cNvPr>
          <p:cNvCxnSpPr>
            <a:cxnSpLocks/>
            <a:stCxn id="91" idx="0"/>
            <a:endCxn id="92" idx="4"/>
          </p:cNvCxnSpPr>
          <p:nvPr/>
        </p:nvCxnSpPr>
        <p:spPr>
          <a:xfrm flipH="1" flipV="1">
            <a:off x="10471313" y="354247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C64C2DD2-9218-45C6-87FC-4298C3C200AF}"/>
              </a:ext>
            </a:extLst>
          </p:cNvPr>
          <p:cNvSpPr txBox="1"/>
          <p:nvPr/>
        </p:nvSpPr>
        <p:spPr>
          <a:xfrm>
            <a:off x="7593451" y="5113721"/>
            <a:ext cx="917239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err="1"/>
              <a:t>보정각하의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algn="ctr"/>
            <a:r>
              <a:rPr lang="ko-KR" altLang="en-US" sz="1200" dirty="0"/>
              <a:t>적법성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F84A6FB-9A97-4DD8-B242-D8F64702EB02}"/>
              </a:ext>
            </a:extLst>
          </p:cNvPr>
          <p:cNvSpPr txBox="1"/>
          <p:nvPr/>
        </p:nvSpPr>
        <p:spPr>
          <a:xfrm>
            <a:off x="8915258" y="5004258"/>
            <a:ext cx="2531994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en-US" altLang="ko-KR" sz="1200" dirty="0"/>
              <a:t>×: </a:t>
            </a:r>
            <a:r>
              <a:rPr lang="ko-KR" altLang="en-US" sz="1200" dirty="0" err="1"/>
              <a:t>취소환송</a:t>
            </a:r>
            <a:r>
              <a:rPr lang="en-US" altLang="ko-KR" sz="1200" dirty="0">
                <a:solidFill>
                  <a:srgbClr val="FF0000"/>
                </a:solidFill>
              </a:rPr>
              <a:t>(2012</a:t>
            </a:r>
            <a:r>
              <a:rPr lang="ko-KR" altLang="en-US" sz="1200" dirty="0">
                <a:solidFill>
                  <a:srgbClr val="FF0000"/>
                </a:solidFill>
              </a:rPr>
              <a:t>후</a:t>
            </a:r>
            <a:r>
              <a:rPr lang="en-US" altLang="ko-KR" sz="1200" dirty="0">
                <a:solidFill>
                  <a:srgbClr val="FF0000"/>
                </a:solidFill>
              </a:rPr>
              <a:t>3121)</a:t>
            </a:r>
            <a:endParaRPr lang="ko-KR" altLang="en-US" sz="12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74EBE4A-29DC-479F-9C42-E76D21D9F546}"/>
              </a:ext>
            </a:extLst>
          </p:cNvPr>
          <p:cNvSpPr txBox="1"/>
          <p:nvPr/>
        </p:nvSpPr>
        <p:spPr>
          <a:xfrm>
            <a:off x="8915258" y="5393924"/>
            <a:ext cx="2531995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○ </a:t>
            </a:r>
            <a:r>
              <a:rPr lang="en-US" altLang="ko-KR" sz="1200" dirty="0"/>
              <a:t>: </a:t>
            </a:r>
            <a:r>
              <a:rPr lang="ko-KR" altLang="en-US" sz="1200" dirty="0"/>
              <a:t>보정 전 명세서</a:t>
            </a:r>
            <a:r>
              <a:rPr lang="en-US" altLang="ko-KR" sz="1200" dirty="0"/>
              <a:t>, </a:t>
            </a:r>
            <a:r>
              <a:rPr lang="ko-KR" altLang="en-US" sz="1200" dirty="0"/>
              <a:t>도면 의하여 심리</a:t>
            </a:r>
          </a:p>
        </p:txBody>
      </p:sp>
      <p:cxnSp>
        <p:nvCxnSpPr>
          <p:cNvPr id="97" name="연결선: 꺾임 96">
            <a:extLst>
              <a:ext uri="{FF2B5EF4-FFF2-40B4-BE49-F238E27FC236}">
                <a16:creationId xmlns:a16="http://schemas.microsoft.com/office/drawing/2014/main" id="{716DA1F7-6216-4F8A-A6C4-AC9148979D76}"/>
              </a:ext>
            </a:extLst>
          </p:cNvPr>
          <p:cNvCxnSpPr>
            <a:cxnSpLocks/>
            <a:stCxn id="94" idx="3"/>
            <a:endCxn id="95" idx="1"/>
          </p:cNvCxnSpPr>
          <p:nvPr/>
        </p:nvCxnSpPr>
        <p:spPr>
          <a:xfrm flipV="1">
            <a:off x="8510690" y="5142758"/>
            <a:ext cx="404568" cy="201796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0BE2421F-D057-4528-9FFD-928FA0FC4982}"/>
              </a:ext>
            </a:extLst>
          </p:cNvPr>
          <p:cNvCxnSpPr>
            <a:cxnSpLocks/>
            <a:stCxn id="94" idx="3"/>
            <a:endCxn id="96" idx="1"/>
          </p:cNvCxnSpPr>
          <p:nvPr/>
        </p:nvCxnSpPr>
        <p:spPr>
          <a:xfrm>
            <a:off x="8510690" y="5344554"/>
            <a:ext cx="404568" cy="18787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5701DE1A-A690-4F0F-9F30-DB10452EEF71}"/>
              </a:ext>
            </a:extLst>
          </p:cNvPr>
          <p:cNvCxnSpPr>
            <a:stCxn id="91" idx="2"/>
            <a:endCxn id="94" idx="1"/>
          </p:cNvCxnSpPr>
          <p:nvPr/>
        </p:nvCxnSpPr>
        <p:spPr>
          <a:xfrm rot="5400000">
            <a:off x="8364229" y="3237469"/>
            <a:ext cx="1336308" cy="2877863"/>
          </a:xfrm>
          <a:prstGeom prst="bentConnector4">
            <a:avLst>
              <a:gd name="adj1" fmla="val 63957"/>
              <a:gd name="adj2" fmla="val 10794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0B58DBA7-0AFB-44F6-9640-0FFE26F217F3}"/>
              </a:ext>
            </a:extLst>
          </p:cNvPr>
          <p:cNvSpPr/>
          <p:nvPr/>
        </p:nvSpPr>
        <p:spPr>
          <a:xfrm>
            <a:off x="4313010" y="6009322"/>
            <a:ext cx="3637228" cy="7183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accent2"/>
                </a:solidFill>
              </a:rPr>
              <a:t>심사단계에서의 </a:t>
            </a:r>
            <a:r>
              <a:rPr lang="ko-KR" altLang="en-US" sz="1200" dirty="0" err="1">
                <a:solidFill>
                  <a:schemeClr val="accent2"/>
                </a:solidFill>
              </a:rPr>
              <a:t>보정각하사유가</a:t>
            </a:r>
            <a:r>
              <a:rPr lang="ko-KR" altLang="en-US" sz="1200" dirty="0">
                <a:solidFill>
                  <a:schemeClr val="accent2"/>
                </a:solidFill>
              </a:rPr>
              <a:t> 아닌 다른 사유에 의하여 판단될 수 있으며</a:t>
            </a:r>
            <a:r>
              <a:rPr lang="en-US" altLang="ko-KR" sz="1200" dirty="0">
                <a:solidFill>
                  <a:schemeClr val="accent2"/>
                </a:solidFill>
              </a:rPr>
              <a:t>, </a:t>
            </a:r>
            <a:r>
              <a:rPr lang="ko-KR" altLang="en-US" sz="1200" dirty="0">
                <a:solidFill>
                  <a:schemeClr val="accent2"/>
                </a:solidFill>
              </a:rPr>
              <a:t>이 경우 청구인에게 의견서를 제출할 수 있는 기회를 주지 아니하여도 됨</a:t>
            </a:r>
            <a:r>
              <a:rPr lang="en-US" altLang="ko-KR" sz="1200" dirty="0">
                <a:solidFill>
                  <a:srgbClr val="FF0000"/>
                </a:solidFill>
              </a:rPr>
              <a:t>(2008</a:t>
            </a:r>
            <a:r>
              <a:rPr lang="ko-KR" altLang="en-US" sz="1200" dirty="0">
                <a:solidFill>
                  <a:srgbClr val="FF0000"/>
                </a:solidFill>
              </a:rPr>
              <a:t>허</a:t>
            </a:r>
            <a:r>
              <a:rPr lang="en-US" altLang="ko-KR" sz="1200" dirty="0">
                <a:solidFill>
                  <a:srgbClr val="FF0000"/>
                </a:solidFill>
              </a:rPr>
              <a:t>10764)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257F015-B7C2-436C-A257-92CC58F3F7BB}"/>
              </a:ext>
            </a:extLst>
          </p:cNvPr>
          <p:cNvCxnSpPr>
            <a:cxnSpLocks/>
            <a:stCxn id="100" idx="0"/>
            <a:endCxn id="68" idx="2"/>
          </p:cNvCxnSpPr>
          <p:nvPr/>
        </p:nvCxnSpPr>
        <p:spPr>
          <a:xfrm flipH="1" flipV="1">
            <a:off x="3854390" y="5566758"/>
            <a:ext cx="2277234" cy="44256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60D4E8F7-0D1F-434E-8763-CC941916335B}"/>
              </a:ext>
            </a:extLst>
          </p:cNvPr>
          <p:cNvCxnSpPr>
            <a:cxnSpLocks/>
            <a:stCxn id="100" idx="0"/>
            <a:endCxn id="94" idx="2"/>
          </p:cNvCxnSpPr>
          <p:nvPr/>
        </p:nvCxnSpPr>
        <p:spPr>
          <a:xfrm flipV="1">
            <a:off x="6131624" y="5575386"/>
            <a:ext cx="1920447" cy="43393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C54A5C7B-0274-4186-BE04-ED093579F027}"/>
              </a:ext>
            </a:extLst>
          </p:cNvPr>
          <p:cNvCxnSpPr>
            <a:stCxn id="79" idx="0"/>
            <a:endCxn id="30" idx="1"/>
          </p:cNvCxnSpPr>
          <p:nvPr/>
        </p:nvCxnSpPr>
        <p:spPr>
          <a:xfrm flipV="1">
            <a:off x="1680254" y="3869747"/>
            <a:ext cx="1030075" cy="79467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784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170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제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170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조제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항의 해석</a:t>
            </a:r>
          </a:p>
        </p:txBody>
      </p:sp>
      <p:sp>
        <p:nvSpPr>
          <p:cNvPr id="24" name="Line 5">
            <a:extLst>
              <a:ext uri="{FF2B5EF4-FFF2-40B4-BE49-F238E27FC236}">
                <a16:creationId xmlns:a16="http://schemas.microsoft.com/office/drawing/2014/main" id="{794B9111-CC3E-4267-819A-BCBE59AE3E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297" y="4915079"/>
            <a:ext cx="11757062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DA4D5B-4814-4B17-A30D-17CD648D86D8}"/>
              </a:ext>
            </a:extLst>
          </p:cNvPr>
          <p:cNvSpPr txBox="1"/>
          <p:nvPr/>
        </p:nvSpPr>
        <p:spPr>
          <a:xfrm>
            <a:off x="656548" y="5171254"/>
            <a:ext cx="80499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출원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1AD46315-FFAD-4F0C-B8F7-F1CDA31EFAA1}"/>
              </a:ext>
            </a:extLst>
          </p:cNvPr>
          <p:cNvSpPr/>
          <p:nvPr/>
        </p:nvSpPr>
        <p:spPr>
          <a:xfrm>
            <a:off x="981677" y="482114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A5D4E93-967A-45F1-9F4B-EE501C5F5FFD}"/>
              </a:ext>
            </a:extLst>
          </p:cNvPr>
          <p:cNvCxnSpPr>
            <a:cxnSpLocks/>
            <a:stCxn id="25" idx="0"/>
            <a:endCxn id="26" idx="4"/>
          </p:cNvCxnSpPr>
          <p:nvPr/>
        </p:nvCxnSpPr>
        <p:spPr>
          <a:xfrm flipH="1" flipV="1">
            <a:off x="1059046" y="498248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A6DC7CD5-8ABF-4E0C-8F10-B5A2A68A1C46}"/>
              </a:ext>
            </a:extLst>
          </p:cNvPr>
          <p:cNvSpPr txBox="1"/>
          <p:nvPr/>
        </p:nvSpPr>
        <p:spPr>
          <a:xfrm>
            <a:off x="1775075" y="5171254"/>
            <a:ext cx="127365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426E2997-97A9-4ACA-B6B7-014946ACBEB4}"/>
              </a:ext>
            </a:extLst>
          </p:cNvPr>
          <p:cNvSpPr/>
          <p:nvPr/>
        </p:nvSpPr>
        <p:spPr>
          <a:xfrm>
            <a:off x="2334530" y="482114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8F98D89-25BB-445D-B43B-0204E8AE51A9}"/>
              </a:ext>
            </a:extLst>
          </p:cNvPr>
          <p:cNvCxnSpPr>
            <a:cxnSpLocks/>
            <a:stCxn id="30" idx="0"/>
            <a:endCxn id="31" idx="4"/>
          </p:cNvCxnSpPr>
          <p:nvPr/>
        </p:nvCxnSpPr>
        <p:spPr>
          <a:xfrm flipH="1" flipV="1">
            <a:off x="2411899" y="498248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8F9BA11-776F-458B-AEBF-785908167EF1}"/>
              </a:ext>
            </a:extLst>
          </p:cNvPr>
          <p:cNvSpPr/>
          <p:nvPr/>
        </p:nvSpPr>
        <p:spPr>
          <a:xfrm>
            <a:off x="232372" y="967374"/>
            <a:ext cx="1168198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/>
              <a:t>거절이유 통지를 하지 아니한 채 거절결정의 이유와 다른 거절이유를 들어서 거절결정이 결과에 있어 정당하다는 이유로 거절결정불복심판청구를 기각한 </a:t>
            </a:r>
            <a:r>
              <a:rPr lang="ko-KR" altLang="en-US" sz="1400" dirty="0" err="1"/>
              <a:t>심결은</a:t>
            </a:r>
            <a:r>
              <a:rPr lang="ko-KR" altLang="en-US" sz="1400" dirty="0"/>
              <a:t> 위법하다</a:t>
            </a:r>
            <a:r>
              <a:rPr lang="en-US" altLang="ko-KR" sz="1400" dirty="0"/>
              <a:t>. </a:t>
            </a:r>
            <a:r>
              <a:rPr lang="ko-KR" altLang="en-US" sz="1400" dirty="0"/>
              <a:t>예를 들어</a:t>
            </a:r>
            <a:r>
              <a:rPr lang="en-US" altLang="ko-KR" sz="1400" dirty="0"/>
              <a:t>, </a:t>
            </a:r>
            <a:r>
              <a:rPr lang="ko-KR" altLang="en-US" sz="1400" dirty="0"/>
              <a:t>심사 단계에서 미리 거절이유를 통지한 사유라고 하더라도 그 사유를 거절결정에서 거절이유로 삼지 않았다면 이와 같은 사유는 거절결정에 대한 심판절차에서는 ‘거절결정의 이유와 다른 </a:t>
            </a:r>
            <a:r>
              <a:rPr lang="ko-KR" altLang="en-US" sz="1400" dirty="0" err="1"/>
              <a:t>거절이유’에</a:t>
            </a:r>
            <a:r>
              <a:rPr lang="ko-KR" altLang="en-US" sz="1400" dirty="0"/>
              <a:t> 해당하므로</a:t>
            </a:r>
            <a:r>
              <a:rPr lang="en-US" altLang="ko-KR" sz="1400" dirty="0"/>
              <a:t>, </a:t>
            </a:r>
            <a:r>
              <a:rPr lang="ko-KR" altLang="en-US" sz="1400" dirty="0"/>
              <a:t>심판 단계에서 심판청구인이 위 사유에 대해 실질적으로 의견서 제출 및 보정의 기회를 </a:t>
            </a:r>
            <a:r>
              <a:rPr lang="ko-KR" altLang="en-US" sz="1400" dirty="0" err="1"/>
              <a:t>부여받았다고</a:t>
            </a:r>
            <a:r>
              <a:rPr lang="ko-KR" altLang="en-US" sz="1400" dirty="0"/>
              <a:t> 볼만한 특별한 사정이 없는 한 이를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이유로 하기 위해서는 다시 그 사유에 대해 거절이유를 통지하여야 한다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2020. 11. 12.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2017</a:t>
            </a:r>
            <a:r>
              <a:rPr lang="ko-KR" altLang="en-US" sz="1400" dirty="0"/>
              <a:t>후</a:t>
            </a:r>
            <a:r>
              <a:rPr lang="en-US" altLang="ko-KR" sz="1400" dirty="0"/>
              <a:t>1779). 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27012D4-CD7A-4107-9185-8E2207B3CF1A}"/>
              </a:ext>
            </a:extLst>
          </p:cNvPr>
          <p:cNvSpPr txBox="1"/>
          <p:nvPr/>
        </p:nvSpPr>
        <p:spPr>
          <a:xfrm>
            <a:off x="1709084" y="5665898"/>
            <a:ext cx="140563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항이 진보성 위반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2F4D2DF-90CE-42E9-990F-D5830ADE2079}"/>
              </a:ext>
            </a:extLst>
          </p:cNvPr>
          <p:cNvCxnSpPr>
            <a:cxnSpLocks/>
            <a:stCxn id="59" idx="0"/>
            <a:endCxn id="30" idx="2"/>
          </p:cNvCxnSpPr>
          <p:nvPr/>
        </p:nvCxnSpPr>
        <p:spPr>
          <a:xfrm flipV="1">
            <a:off x="2411900" y="5448253"/>
            <a:ext cx="0" cy="2176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BFACFF7B-F84B-4A50-847A-F6A8759B30BF}"/>
              </a:ext>
            </a:extLst>
          </p:cNvPr>
          <p:cNvSpPr txBox="1"/>
          <p:nvPr/>
        </p:nvSpPr>
        <p:spPr>
          <a:xfrm>
            <a:off x="3533541" y="5171254"/>
            <a:ext cx="127365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거절결정</a:t>
            </a: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6BA1656D-0078-486D-8950-EC3707C4A3EA}"/>
              </a:ext>
            </a:extLst>
          </p:cNvPr>
          <p:cNvSpPr/>
          <p:nvPr/>
        </p:nvSpPr>
        <p:spPr>
          <a:xfrm>
            <a:off x="4092996" y="482114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D33C4752-5365-4932-AEB9-4CA342091BCF}"/>
              </a:ext>
            </a:extLst>
          </p:cNvPr>
          <p:cNvCxnSpPr>
            <a:cxnSpLocks/>
            <a:stCxn id="66" idx="0"/>
            <a:endCxn id="71" idx="4"/>
          </p:cNvCxnSpPr>
          <p:nvPr/>
        </p:nvCxnSpPr>
        <p:spPr>
          <a:xfrm flipH="1" flipV="1">
            <a:off x="4170365" y="498248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482BEDC2-13A0-4E97-9396-0D57E34962DB}"/>
              </a:ext>
            </a:extLst>
          </p:cNvPr>
          <p:cNvSpPr txBox="1"/>
          <p:nvPr/>
        </p:nvSpPr>
        <p:spPr>
          <a:xfrm>
            <a:off x="3391122" y="5665898"/>
            <a:ext cx="155848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항이 진보성 위반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27-29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항이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기재불비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889F22E6-EBC0-45A3-8BA4-1BE415D43D9B}"/>
              </a:ext>
            </a:extLst>
          </p:cNvPr>
          <p:cNvCxnSpPr>
            <a:cxnSpLocks/>
            <a:stCxn id="73" idx="0"/>
            <a:endCxn id="66" idx="2"/>
          </p:cNvCxnSpPr>
          <p:nvPr/>
        </p:nvCxnSpPr>
        <p:spPr>
          <a:xfrm flipV="1">
            <a:off x="4170366" y="5448253"/>
            <a:ext cx="0" cy="2176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0578A800-861F-4DC9-A5C5-FFAC3C760488}"/>
              </a:ext>
            </a:extLst>
          </p:cNvPr>
          <p:cNvSpPr txBox="1"/>
          <p:nvPr/>
        </p:nvSpPr>
        <p:spPr>
          <a:xfrm>
            <a:off x="5266521" y="5171254"/>
            <a:ext cx="80499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심판청구</a:t>
            </a: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E672861E-DDC1-497F-A424-A5FA34F70DD6}"/>
              </a:ext>
            </a:extLst>
          </p:cNvPr>
          <p:cNvSpPr/>
          <p:nvPr/>
        </p:nvSpPr>
        <p:spPr>
          <a:xfrm>
            <a:off x="5591650" y="482114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4DC1CAE0-34EC-4E8A-9830-D8837653650B}"/>
              </a:ext>
            </a:extLst>
          </p:cNvPr>
          <p:cNvCxnSpPr>
            <a:cxnSpLocks/>
            <a:stCxn id="77" idx="0"/>
            <a:endCxn id="80" idx="4"/>
          </p:cNvCxnSpPr>
          <p:nvPr/>
        </p:nvCxnSpPr>
        <p:spPr>
          <a:xfrm flipH="1" flipV="1">
            <a:off x="5669019" y="498248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0ED681D9-FE2C-44AA-AFB5-6D267C277F1F}"/>
              </a:ext>
            </a:extLst>
          </p:cNvPr>
          <p:cNvSpPr txBox="1"/>
          <p:nvPr/>
        </p:nvSpPr>
        <p:spPr>
          <a:xfrm>
            <a:off x="7764946" y="5171254"/>
            <a:ext cx="127365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9362F24B-4599-44F1-97B1-DF565D5D0D8E}"/>
              </a:ext>
            </a:extLst>
          </p:cNvPr>
          <p:cNvSpPr/>
          <p:nvPr/>
        </p:nvSpPr>
        <p:spPr>
          <a:xfrm>
            <a:off x="8324401" y="482114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0B68462B-2302-4238-9744-8439D7990DB2}"/>
              </a:ext>
            </a:extLst>
          </p:cNvPr>
          <p:cNvCxnSpPr>
            <a:cxnSpLocks/>
            <a:stCxn id="87" idx="0"/>
            <a:endCxn id="102" idx="4"/>
          </p:cNvCxnSpPr>
          <p:nvPr/>
        </p:nvCxnSpPr>
        <p:spPr>
          <a:xfrm flipH="1" flipV="1">
            <a:off x="8401770" y="498248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643D96D5-7D72-49D3-ACD5-ABF9316772CF}"/>
              </a:ext>
            </a:extLst>
          </p:cNvPr>
          <p:cNvSpPr txBox="1"/>
          <p:nvPr/>
        </p:nvSpPr>
        <p:spPr>
          <a:xfrm>
            <a:off x="7622527" y="5665898"/>
            <a:ext cx="155848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항이 진보성 위반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6D7C6C42-FA4F-42C2-9A27-C4A73DDBA134}"/>
              </a:ext>
            </a:extLst>
          </p:cNvPr>
          <p:cNvCxnSpPr>
            <a:cxnSpLocks/>
            <a:stCxn id="104" idx="0"/>
            <a:endCxn id="87" idx="2"/>
          </p:cNvCxnSpPr>
          <p:nvPr/>
        </p:nvCxnSpPr>
        <p:spPr>
          <a:xfrm flipV="1">
            <a:off x="8401771" y="5448253"/>
            <a:ext cx="0" cy="21764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66DF07FC-BEF8-4D93-B6A4-3A8B5D127257}"/>
              </a:ext>
            </a:extLst>
          </p:cNvPr>
          <p:cNvSpPr txBox="1"/>
          <p:nvPr/>
        </p:nvSpPr>
        <p:spPr>
          <a:xfrm>
            <a:off x="9480739" y="5171254"/>
            <a:ext cx="804998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107" name="타원 106">
            <a:extLst>
              <a:ext uri="{FF2B5EF4-FFF2-40B4-BE49-F238E27FC236}">
                <a16:creationId xmlns:a16="http://schemas.microsoft.com/office/drawing/2014/main" id="{A31EA17B-7406-46BF-B485-87EE1DF0F206}"/>
              </a:ext>
            </a:extLst>
          </p:cNvPr>
          <p:cNvSpPr/>
          <p:nvPr/>
        </p:nvSpPr>
        <p:spPr>
          <a:xfrm>
            <a:off x="9805868" y="482114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BD5DFAAE-4272-45E8-B0E1-48A30E92DB58}"/>
              </a:ext>
            </a:extLst>
          </p:cNvPr>
          <p:cNvCxnSpPr>
            <a:cxnSpLocks/>
            <a:stCxn id="106" idx="0"/>
            <a:endCxn id="107" idx="4"/>
          </p:cNvCxnSpPr>
          <p:nvPr/>
        </p:nvCxnSpPr>
        <p:spPr>
          <a:xfrm flipH="1" flipV="1">
            <a:off x="9883237" y="498248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말풍선: 모서리가 둥근 사각형 9">
            <a:extLst>
              <a:ext uri="{FF2B5EF4-FFF2-40B4-BE49-F238E27FC236}">
                <a16:creationId xmlns:a16="http://schemas.microsoft.com/office/drawing/2014/main" id="{B8D4E0F0-EFDE-4BAA-88E3-BF3EDAC611F6}"/>
              </a:ext>
            </a:extLst>
          </p:cNvPr>
          <p:cNvSpPr/>
          <p:nvPr/>
        </p:nvSpPr>
        <p:spPr>
          <a:xfrm>
            <a:off x="9315450" y="5712936"/>
            <a:ext cx="2538482" cy="914399"/>
          </a:xfrm>
          <a:prstGeom prst="wedgeRoundRectCallout">
            <a:avLst>
              <a:gd name="adj1" fmla="val -17171"/>
              <a:gd name="adj2" fmla="val -73297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출원인의 주장</a:t>
            </a:r>
            <a:r>
              <a:rPr lang="en-US" altLang="ko-KR" sz="1200" dirty="0">
                <a:solidFill>
                  <a:schemeClr val="tx1"/>
                </a:solidFill>
              </a:rPr>
              <a:t>: 27-29</a:t>
            </a:r>
            <a:r>
              <a:rPr lang="ko-KR" altLang="en-US" sz="1200" dirty="0">
                <a:solidFill>
                  <a:schemeClr val="tx1"/>
                </a:solidFill>
              </a:rPr>
              <a:t>항에 대해서는 </a:t>
            </a:r>
            <a:r>
              <a:rPr lang="ko-KR" altLang="en-US" sz="1200" dirty="0" err="1">
                <a:solidFill>
                  <a:schemeClr val="tx1"/>
                </a:solidFill>
              </a:rPr>
              <a:t>거절이유통지하고</a:t>
            </a:r>
            <a:r>
              <a:rPr lang="ko-KR" altLang="en-US" sz="1200" dirty="0">
                <a:solidFill>
                  <a:schemeClr val="tx1"/>
                </a:solidFill>
              </a:rPr>
              <a:t> 의견서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보정서 제출기회를 주지 않았기 때문에 </a:t>
            </a:r>
            <a:r>
              <a:rPr lang="ko-KR" altLang="en-US" sz="1200" dirty="0" err="1">
                <a:solidFill>
                  <a:schemeClr val="tx1"/>
                </a:solidFill>
              </a:rPr>
              <a:t>심결이</a:t>
            </a:r>
            <a:r>
              <a:rPr lang="ko-KR" altLang="en-US" sz="1200" dirty="0">
                <a:solidFill>
                  <a:schemeClr val="tx1"/>
                </a:solidFill>
              </a:rPr>
              <a:t> 위법하다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828CC4-827D-4AAD-B62E-679B115A65C0}"/>
              </a:ext>
            </a:extLst>
          </p:cNvPr>
          <p:cNvSpPr txBox="1"/>
          <p:nvPr/>
        </p:nvSpPr>
        <p:spPr>
          <a:xfrm>
            <a:off x="6348702" y="5171254"/>
            <a:ext cx="127365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 ×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B89343F-CC00-4582-8276-2EEF5A9E7769}"/>
              </a:ext>
            </a:extLst>
          </p:cNvPr>
          <p:cNvSpPr/>
          <p:nvPr/>
        </p:nvSpPr>
        <p:spPr>
          <a:xfrm>
            <a:off x="6908157" y="4821145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9B6EAB3B-9C1F-4035-9A50-9D10AB6A4533}"/>
              </a:ext>
            </a:extLst>
          </p:cNvPr>
          <p:cNvCxnSpPr>
            <a:cxnSpLocks/>
            <a:stCxn id="34" idx="0"/>
            <a:endCxn id="35" idx="4"/>
          </p:cNvCxnSpPr>
          <p:nvPr/>
        </p:nvCxnSpPr>
        <p:spPr>
          <a:xfrm flipH="1" flipV="1">
            <a:off x="6985526" y="498248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01BC1220-3DCE-4B82-AC35-91B24E5244BB}"/>
              </a:ext>
            </a:extLst>
          </p:cNvPr>
          <p:cNvSpPr txBox="1"/>
          <p:nvPr/>
        </p:nvSpPr>
        <p:spPr>
          <a:xfrm>
            <a:off x="232372" y="3779279"/>
            <a:ext cx="1172725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특허거절결정의</a:t>
            </a:r>
            <a:r>
              <a:rPr lang="ko-KR" altLang="en-US" sz="1400" dirty="0"/>
              <a:t> 이유 중에 심사관이 통지하지 아니한 거절이유가 일부 포함되어 있다 하더라도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특허거절결정에</a:t>
            </a:r>
            <a:r>
              <a:rPr lang="ko-KR" altLang="en-US" sz="1400" dirty="0"/>
              <a:t> 대한 심판청구를 기각하는 </a:t>
            </a:r>
            <a:r>
              <a:rPr lang="ko-KR" altLang="en-US" sz="1400" dirty="0" err="1"/>
              <a:t>심결이유가</a:t>
            </a:r>
            <a:r>
              <a:rPr lang="ko-KR" altLang="en-US" sz="1400" dirty="0"/>
              <a:t> 심사관이 통지하지 아니한 거절이유를 들어 </a:t>
            </a:r>
            <a:r>
              <a:rPr lang="ko-KR" altLang="en-US" sz="1400" dirty="0" err="1"/>
              <a:t>특허거절결정을</a:t>
            </a:r>
            <a:r>
              <a:rPr lang="ko-KR" altLang="en-US" sz="1400" dirty="0"/>
              <a:t> 유지하는 경우가 아니라면</a:t>
            </a:r>
            <a:r>
              <a:rPr lang="en-US" altLang="ko-KR" sz="1400" dirty="0"/>
              <a:t>, </a:t>
            </a:r>
            <a:r>
              <a:rPr lang="ko-KR" altLang="en-US" sz="1400" dirty="0"/>
              <a:t>그와 같은 사유만으로 </a:t>
            </a:r>
            <a:r>
              <a:rPr lang="ko-KR" altLang="en-US" sz="1400" dirty="0" err="1"/>
              <a:t>거절이유통지를</a:t>
            </a:r>
            <a:r>
              <a:rPr lang="ko-KR" altLang="en-US" sz="1400" dirty="0"/>
              <a:t> 하지 않고 한 </a:t>
            </a:r>
            <a:r>
              <a:rPr lang="ko-KR" altLang="en-US" sz="1400" dirty="0" err="1"/>
              <a:t>심결을</a:t>
            </a:r>
            <a:r>
              <a:rPr lang="ko-KR" altLang="en-US" sz="1400" dirty="0"/>
              <a:t> 위법하다고 할 수 없다</a:t>
            </a:r>
            <a:r>
              <a:rPr lang="en-US" altLang="ko-KR" sz="1400" dirty="0"/>
              <a:t>.(</a:t>
            </a:r>
            <a:r>
              <a:rPr lang="ko-KR" altLang="en-US" sz="1400" dirty="0"/>
              <a:t>대법원 </a:t>
            </a:r>
            <a:r>
              <a:rPr lang="en-US" altLang="ko-KR" sz="1400" dirty="0"/>
              <a:t>2009. 12. 10. </a:t>
            </a:r>
            <a:r>
              <a:rPr lang="ko-KR" altLang="en-US" sz="1400" dirty="0"/>
              <a:t>선고 </a:t>
            </a:r>
            <a:r>
              <a:rPr lang="en-US" altLang="ko-KR" sz="1400" dirty="0"/>
              <a:t>2007</a:t>
            </a:r>
            <a:r>
              <a:rPr lang="ko-KR" altLang="en-US" sz="1400" dirty="0"/>
              <a:t>후</a:t>
            </a:r>
            <a:r>
              <a:rPr lang="en-US" altLang="ko-KR" sz="1400" dirty="0"/>
              <a:t>3820). 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4DB2771-E823-412C-89D9-F7DC5C9DBE87}"/>
              </a:ext>
            </a:extLst>
          </p:cNvPr>
          <p:cNvCxnSpPr/>
          <p:nvPr/>
        </p:nvCxnSpPr>
        <p:spPr>
          <a:xfrm>
            <a:off x="0" y="3696366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Line 5">
            <a:extLst>
              <a:ext uri="{FF2B5EF4-FFF2-40B4-BE49-F238E27FC236}">
                <a16:creationId xmlns:a16="http://schemas.microsoft.com/office/drawing/2014/main" id="{AE989725-607C-4982-8C97-92D5124827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297" y="2489304"/>
            <a:ext cx="1180233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7FCF92-3936-4728-A2F1-FB2890081056}"/>
              </a:ext>
            </a:extLst>
          </p:cNvPr>
          <p:cNvSpPr txBox="1"/>
          <p:nvPr/>
        </p:nvSpPr>
        <p:spPr>
          <a:xfrm>
            <a:off x="281334" y="2745479"/>
            <a:ext cx="70218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출원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CA4311A-BBAA-4FE4-8D20-7D906655DA2F}"/>
              </a:ext>
            </a:extLst>
          </p:cNvPr>
          <p:cNvSpPr/>
          <p:nvPr/>
        </p:nvSpPr>
        <p:spPr>
          <a:xfrm>
            <a:off x="564938" y="2395370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4F1C022E-F441-41F3-9477-A2C2636A63CD}"/>
              </a:ext>
            </a:extLst>
          </p:cNvPr>
          <p:cNvCxnSpPr>
            <a:cxnSpLocks/>
            <a:stCxn id="42" idx="0"/>
            <a:endCxn id="43" idx="4"/>
          </p:cNvCxnSpPr>
          <p:nvPr/>
        </p:nvCxnSpPr>
        <p:spPr>
          <a:xfrm flipH="1" flipV="1">
            <a:off x="632426" y="255670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1308DFB9-5FB4-451C-89CE-D6F0AF702FA1}"/>
              </a:ext>
            </a:extLst>
          </p:cNvPr>
          <p:cNvSpPr txBox="1"/>
          <p:nvPr/>
        </p:nvSpPr>
        <p:spPr>
          <a:xfrm>
            <a:off x="1281904" y="2745181"/>
            <a:ext cx="66237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BB3A5C2C-A17C-4BD5-811F-C929467A6B4E}"/>
              </a:ext>
            </a:extLst>
          </p:cNvPr>
          <p:cNvSpPr/>
          <p:nvPr/>
        </p:nvSpPr>
        <p:spPr>
          <a:xfrm>
            <a:off x="1545604" y="2395370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ADD9B19E-B138-4B07-96EF-C8529DD9D0C7}"/>
              </a:ext>
            </a:extLst>
          </p:cNvPr>
          <p:cNvCxnSpPr>
            <a:cxnSpLocks/>
            <a:stCxn id="45" idx="0"/>
            <a:endCxn id="46" idx="4"/>
          </p:cNvCxnSpPr>
          <p:nvPr/>
        </p:nvCxnSpPr>
        <p:spPr>
          <a:xfrm flipH="1" flipV="1">
            <a:off x="1613091" y="2556708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489B7A6-73C4-4C1F-BDA4-F63CD682A2EC}"/>
              </a:ext>
            </a:extLst>
          </p:cNvPr>
          <p:cNvSpPr txBox="1"/>
          <p:nvPr/>
        </p:nvSpPr>
        <p:spPr>
          <a:xfrm>
            <a:off x="1135781" y="3211249"/>
            <a:ext cx="95462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선출원위반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54B08005-44F6-46BC-A4F8-9CA794E946A5}"/>
              </a:ext>
            </a:extLst>
          </p:cNvPr>
          <p:cNvCxnSpPr>
            <a:cxnSpLocks/>
            <a:stCxn id="48" idx="0"/>
            <a:endCxn id="45" idx="2"/>
          </p:cNvCxnSpPr>
          <p:nvPr/>
        </p:nvCxnSpPr>
        <p:spPr>
          <a:xfrm flipV="1">
            <a:off x="1613092" y="3022180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ABAEDD4-897F-46BC-AABF-83DF833E380C}"/>
              </a:ext>
            </a:extLst>
          </p:cNvPr>
          <p:cNvSpPr txBox="1"/>
          <p:nvPr/>
        </p:nvSpPr>
        <p:spPr>
          <a:xfrm>
            <a:off x="2208131" y="2745479"/>
            <a:ext cx="70218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보정</a:t>
            </a: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DEAEC39D-66DF-4453-BFED-AD8FA77979B5}"/>
              </a:ext>
            </a:extLst>
          </p:cNvPr>
          <p:cNvSpPr/>
          <p:nvPr/>
        </p:nvSpPr>
        <p:spPr>
          <a:xfrm>
            <a:off x="2491736" y="2395370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4A3789E-09D7-4DE8-912B-E6AF9CB48990}"/>
              </a:ext>
            </a:extLst>
          </p:cNvPr>
          <p:cNvCxnSpPr>
            <a:cxnSpLocks/>
            <a:stCxn id="56" idx="0"/>
            <a:endCxn id="57" idx="4"/>
          </p:cNvCxnSpPr>
          <p:nvPr/>
        </p:nvCxnSpPr>
        <p:spPr>
          <a:xfrm flipH="1" flipV="1">
            <a:off x="2559223" y="255670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CA0F548-72F3-4FCE-B8E9-4B89FA8E9300}"/>
              </a:ext>
            </a:extLst>
          </p:cNvPr>
          <p:cNvSpPr txBox="1"/>
          <p:nvPr/>
        </p:nvSpPr>
        <p:spPr>
          <a:xfrm>
            <a:off x="8863580" y="2745479"/>
            <a:ext cx="70218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2F641264-EBFC-49D4-9698-D54E4E9579AA}"/>
              </a:ext>
            </a:extLst>
          </p:cNvPr>
          <p:cNvSpPr/>
          <p:nvPr/>
        </p:nvSpPr>
        <p:spPr>
          <a:xfrm>
            <a:off x="9147184" y="2395370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03834C4B-4586-4F4C-8985-C5073D27EF29}"/>
              </a:ext>
            </a:extLst>
          </p:cNvPr>
          <p:cNvCxnSpPr>
            <a:cxnSpLocks/>
            <a:stCxn id="65" idx="0"/>
            <a:endCxn id="67" idx="4"/>
          </p:cNvCxnSpPr>
          <p:nvPr/>
        </p:nvCxnSpPr>
        <p:spPr>
          <a:xfrm flipH="1" flipV="1">
            <a:off x="9214672" y="255670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D1EDEF8E-CA75-414C-98AB-89729C9A3160}"/>
              </a:ext>
            </a:extLst>
          </p:cNvPr>
          <p:cNvSpPr txBox="1"/>
          <p:nvPr/>
        </p:nvSpPr>
        <p:spPr>
          <a:xfrm>
            <a:off x="3211488" y="2745181"/>
            <a:ext cx="66237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FA7C18CD-ED8D-420A-B649-13612075E775}"/>
              </a:ext>
            </a:extLst>
          </p:cNvPr>
          <p:cNvSpPr/>
          <p:nvPr/>
        </p:nvSpPr>
        <p:spPr>
          <a:xfrm>
            <a:off x="3475187" y="2395370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C3A9C4AD-8C9C-4E76-9AAF-1C33547FB4F3}"/>
              </a:ext>
            </a:extLst>
          </p:cNvPr>
          <p:cNvCxnSpPr>
            <a:cxnSpLocks/>
            <a:stCxn id="89" idx="0"/>
            <a:endCxn id="90" idx="4"/>
          </p:cNvCxnSpPr>
          <p:nvPr/>
        </p:nvCxnSpPr>
        <p:spPr>
          <a:xfrm flipH="1" flipV="1">
            <a:off x="3542675" y="2556708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25D01647-94C0-47D6-B554-28020A6EC9A9}"/>
              </a:ext>
            </a:extLst>
          </p:cNvPr>
          <p:cNvSpPr txBox="1"/>
          <p:nvPr/>
        </p:nvSpPr>
        <p:spPr>
          <a:xfrm>
            <a:off x="3065365" y="3211249"/>
            <a:ext cx="95462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진보성위반</a:t>
            </a: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96D69AA0-1FE9-459B-B0BF-97DEBBA5E769}"/>
              </a:ext>
            </a:extLst>
          </p:cNvPr>
          <p:cNvCxnSpPr>
            <a:cxnSpLocks/>
            <a:stCxn id="92" idx="0"/>
            <a:endCxn id="89" idx="2"/>
          </p:cNvCxnSpPr>
          <p:nvPr/>
        </p:nvCxnSpPr>
        <p:spPr>
          <a:xfrm flipV="1">
            <a:off x="3542676" y="3022180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39E0084-8D0F-4A16-BD95-FF0454F38322}"/>
              </a:ext>
            </a:extLst>
          </p:cNvPr>
          <p:cNvSpPr txBox="1"/>
          <p:nvPr/>
        </p:nvSpPr>
        <p:spPr>
          <a:xfrm>
            <a:off x="4137715" y="2745479"/>
            <a:ext cx="70218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보정</a:t>
            </a: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FA2A37D6-CAF3-46A4-8B40-6C0DA60C89DD}"/>
              </a:ext>
            </a:extLst>
          </p:cNvPr>
          <p:cNvSpPr/>
          <p:nvPr/>
        </p:nvSpPr>
        <p:spPr>
          <a:xfrm>
            <a:off x="4421319" y="2395370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4CA4F4BC-8B01-4201-B8E6-F935291D1A3C}"/>
              </a:ext>
            </a:extLst>
          </p:cNvPr>
          <p:cNvCxnSpPr>
            <a:cxnSpLocks/>
            <a:stCxn id="94" idx="0"/>
            <a:endCxn id="95" idx="4"/>
          </p:cNvCxnSpPr>
          <p:nvPr/>
        </p:nvCxnSpPr>
        <p:spPr>
          <a:xfrm flipH="1" flipV="1">
            <a:off x="4488807" y="255670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398B6280-4C7D-4EA4-A378-6E7D6F0C77D1}"/>
              </a:ext>
            </a:extLst>
          </p:cNvPr>
          <p:cNvSpPr txBox="1"/>
          <p:nvPr/>
        </p:nvSpPr>
        <p:spPr>
          <a:xfrm>
            <a:off x="5095960" y="2745181"/>
            <a:ext cx="78156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거절결정</a:t>
            </a:r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CD7A816E-DCBF-4AC8-982B-ADE2EC39E72B}"/>
              </a:ext>
            </a:extLst>
          </p:cNvPr>
          <p:cNvSpPr/>
          <p:nvPr/>
        </p:nvSpPr>
        <p:spPr>
          <a:xfrm>
            <a:off x="5419253" y="2395370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88BF86C2-D635-4E4B-863E-29BF59A1CBE8}"/>
              </a:ext>
            </a:extLst>
          </p:cNvPr>
          <p:cNvCxnSpPr>
            <a:cxnSpLocks/>
            <a:stCxn id="97" idx="0"/>
            <a:endCxn id="98" idx="4"/>
          </p:cNvCxnSpPr>
          <p:nvPr/>
        </p:nvCxnSpPr>
        <p:spPr>
          <a:xfrm flipV="1">
            <a:off x="5486741" y="2556708"/>
            <a:ext cx="0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AA5957A7-0682-429B-BD86-199695770B51}"/>
              </a:ext>
            </a:extLst>
          </p:cNvPr>
          <p:cNvSpPr txBox="1"/>
          <p:nvPr/>
        </p:nvSpPr>
        <p:spPr>
          <a:xfrm>
            <a:off x="5009430" y="3211249"/>
            <a:ext cx="954622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  <a:latin typeface="+mn-ea"/>
              </a:rPr>
              <a:t>진보성위반</a:t>
            </a:r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1DCA5BB5-FEEB-4FAE-8567-95F53B578815}"/>
              </a:ext>
            </a:extLst>
          </p:cNvPr>
          <p:cNvCxnSpPr>
            <a:cxnSpLocks/>
            <a:stCxn id="100" idx="0"/>
            <a:endCxn id="97" idx="2"/>
          </p:cNvCxnSpPr>
          <p:nvPr/>
        </p:nvCxnSpPr>
        <p:spPr>
          <a:xfrm flipV="1">
            <a:off x="5486741" y="3022180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01EE37C0-7DFA-4A79-BBEF-BF346E4D5288}"/>
              </a:ext>
            </a:extLst>
          </p:cNvPr>
          <p:cNvSpPr txBox="1"/>
          <p:nvPr/>
        </p:nvSpPr>
        <p:spPr>
          <a:xfrm>
            <a:off x="6017620" y="2745479"/>
            <a:ext cx="75488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심판청구</a:t>
            </a:r>
          </a:p>
        </p:txBody>
      </p:sp>
      <p:sp>
        <p:nvSpPr>
          <p:cNvPr id="110" name="타원 109">
            <a:extLst>
              <a:ext uri="{FF2B5EF4-FFF2-40B4-BE49-F238E27FC236}">
                <a16:creationId xmlns:a16="http://schemas.microsoft.com/office/drawing/2014/main" id="{254B01F7-FFD1-4181-B99E-E5A1F0765A4C}"/>
              </a:ext>
            </a:extLst>
          </p:cNvPr>
          <p:cNvSpPr/>
          <p:nvPr/>
        </p:nvSpPr>
        <p:spPr>
          <a:xfrm>
            <a:off x="6327575" y="2395370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A1BAF932-87B6-46F9-9F3A-1E9EEE4D98B8}"/>
              </a:ext>
            </a:extLst>
          </p:cNvPr>
          <p:cNvCxnSpPr>
            <a:cxnSpLocks/>
            <a:stCxn id="109" idx="0"/>
            <a:endCxn id="110" idx="4"/>
          </p:cNvCxnSpPr>
          <p:nvPr/>
        </p:nvCxnSpPr>
        <p:spPr>
          <a:xfrm flipH="1" flipV="1">
            <a:off x="6395063" y="2556708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C254BB49-281D-4905-BC90-AA74A0E70F37}"/>
              </a:ext>
            </a:extLst>
          </p:cNvPr>
          <p:cNvSpPr txBox="1"/>
          <p:nvPr/>
        </p:nvSpPr>
        <p:spPr>
          <a:xfrm>
            <a:off x="7839846" y="2745181"/>
            <a:ext cx="78156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1B5AC745-41B7-47E1-8E7F-E8423539DD54}"/>
              </a:ext>
            </a:extLst>
          </p:cNvPr>
          <p:cNvSpPr/>
          <p:nvPr/>
        </p:nvSpPr>
        <p:spPr>
          <a:xfrm>
            <a:off x="8163138" y="2395370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EFD53509-4079-4CA9-9D55-97C979276008}"/>
              </a:ext>
            </a:extLst>
          </p:cNvPr>
          <p:cNvCxnSpPr>
            <a:cxnSpLocks/>
            <a:stCxn id="112" idx="0"/>
            <a:endCxn id="113" idx="4"/>
          </p:cNvCxnSpPr>
          <p:nvPr/>
        </p:nvCxnSpPr>
        <p:spPr>
          <a:xfrm flipH="1" flipV="1">
            <a:off x="8230626" y="2556708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D6CA94BC-DDED-4446-BACB-56774D703105}"/>
              </a:ext>
            </a:extLst>
          </p:cNvPr>
          <p:cNvSpPr txBox="1"/>
          <p:nvPr/>
        </p:nvSpPr>
        <p:spPr>
          <a:xfrm>
            <a:off x="7753316" y="3211249"/>
            <a:ext cx="954622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  <a:latin typeface="+mn-ea"/>
              </a:rPr>
              <a:t>선출원위반</a:t>
            </a:r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4BE137E1-4C69-4289-99FC-DB702D812BC4}"/>
              </a:ext>
            </a:extLst>
          </p:cNvPr>
          <p:cNvCxnSpPr>
            <a:cxnSpLocks/>
            <a:stCxn id="115" idx="0"/>
            <a:endCxn id="112" idx="2"/>
          </p:cNvCxnSpPr>
          <p:nvPr/>
        </p:nvCxnSpPr>
        <p:spPr>
          <a:xfrm flipV="1">
            <a:off x="8230627" y="3022180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715F452D-F0C1-4846-9431-8FAD590BBC6F}"/>
              </a:ext>
            </a:extLst>
          </p:cNvPr>
          <p:cNvSpPr txBox="1"/>
          <p:nvPr/>
        </p:nvSpPr>
        <p:spPr>
          <a:xfrm>
            <a:off x="6974989" y="2745181"/>
            <a:ext cx="66237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 × 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61E1F060-1359-4E82-8DC3-899C603C1C03}"/>
              </a:ext>
            </a:extLst>
          </p:cNvPr>
          <p:cNvSpPr/>
          <p:nvPr/>
        </p:nvSpPr>
        <p:spPr>
          <a:xfrm>
            <a:off x="7238689" y="2395370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CAF2E457-6FAF-4F13-A1B2-D01534C8358B}"/>
              </a:ext>
            </a:extLst>
          </p:cNvPr>
          <p:cNvCxnSpPr>
            <a:cxnSpLocks/>
            <a:stCxn id="117" idx="0"/>
            <a:endCxn id="118" idx="4"/>
          </p:cNvCxnSpPr>
          <p:nvPr/>
        </p:nvCxnSpPr>
        <p:spPr>
          <a:xfrm flipH="1" flipV="1">
            <a:off x="7306176" y="2556708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말풍선: 모서리가 둥근 사각형 82">
            <a:extLst>
              <a:ext uri="{FF2B5EF4-FFF2-40B4-BE49-F238E27FC236}">
                <a16:creationId xmlns:a16="http://schemas.microsoft.com/office/drawing/2014/main" id="{19BE8C6E-2B02-4F93-8B54-757FA924CF36}"/>
              </a:ext>
            </a:extLst>
          </p:cNvPr>
          <p:cNvSpPr/>
          <p:nvPr/>
        </p:nvSpPr>
        <p:spPr>
          <a:xfrm>
            <a:off x="9703385" y="2742914"/>
            <a:ext cx="2386871" cy="886047"/>
          </a:xfrm>
          <a:prstGeom prst="wedgeRoundRectCallout">
            <a:avLst>
              <a:gd name="adj1" fmla="val -41871"/>
              <a:gd name="adj2" fmla="val -7234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지식재산처장의 주장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 err="1">
                <a:solidFill>
                  <a:schemeClr val="tx1"/>
                </a:solidFill>
              </a:rPr>
              <a:t>선출원</a:t>
            </a:r>
            <a:r>
              <a:rPr lang="ko-KR" altLang="en-US" sz="1200" dirty="0">
                <a:solidFill>
                  <a:schemeClr val="tx1"/>
                </a:solidFill>
              </a:rPr>
              <a:t> 위반은 이미 심사단계에서 출원인에게 대응기회를 부여했기 때문에 </a:t>
            </a:r>
            <a:r>
              <a:rPr lang="ko-KR" altLang="en-US" sz="1200" dirty="0" err="1">
                <a:solidFill>
                  <a:schemeClr val="tx1"/>
                </a:solidFill>
              </a:rPr>
              <a:t>기각심결이</a:t>
            </a:r>
            <a:r>
              <a:rPr lang="ko-KR" altLang="en-US" sz="1200" dirty="0">
                <a:solidFill>
                  <a:schemeClr val="tx1"/>
                </a:solidFill>
              </a:rPr>
              <a:t> 타당하다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4C7EA0D-CDE6-44E0-9C50-9196B0FF3DB1}"/>
              </a:ext>
            </a:extLst>
          </p:cNvPr>
          <p:cNvSpPr txBox="1"/>
          <p:nvPr/>
        </p:nvSpPr>
        <p:spPr>
          <a:xfrm>
            <a:off x="9474509" y="1926783"/>
            <a:ext cx="2457383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법원의 판단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170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조제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 위반</a:t>
            </a: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F2BC48A6-9527-49F2-BC78-57D28E5ACB2A}"/>
              </a:ext>
            </a:extLst>
          </p:cNvPr>
          <p:cNvSpPr/>
          <p:nvPr/>
        </p:nvSpPr>
        <p:spPr>
          <a:xfrm>
            <a:off x="10635714" y="2395370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A4F32CEC-7A77-4456-BC27-3BD378BB123E}"/>
              </a:ext>
            </a:extLst>
          </p:cNvPr>
          <p:cNvCxnSpPr>
            <a:stCxn id="84" idx="2"/>
            <a:endCxn id="85" idx="0"/>
          </p:cNvCxnSpPr>
          <p:nvPr/>
        </p:nvCxnSpPr>
        <p:spPr>
          <a:xfrm rot="16200000" flipH="1">
            <a:off x="10607407" y="2299575"/>
            <a:ext cx="191588" cy="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59288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직선 화살표 연결선 124"/>
          <p:cNvCxnSpPr/>
          <p:nvPr/>
        </p:nvCxnSpPr>
        <p:spPr>
          <a:xfrm>
            <a:off x="1003596" y="3228015"/>
            <a:ext cx="965835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176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인용심결</a:t>
            </a:r>
            <a:r>
              <a:rPr lang="ko-KR" altLang="en-US" dirty="0"/>
              <a:t> 후 </a:t>
            </a:r>
            <a:r>
              <a:rPr lang="ko-KR" altLang="en-US" dirty="0" err="1"/>
              <a:t>절차진행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772664" y="2975602"/>
            <a:ext cx="767463" cy="5048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2115870" y="2647379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4" name="직선 화살표 연결선 93"/>
          <p:cNvCxnSpPr>
            <a:stCxn id="93" idx="2"/>
          </p:cNvCxnSpPr>
          <p:nvPr/>
        </p:nvCxnSpPr>
        <p:spPr>
          <a:xfrm>
            <a:off x="2438890" y="2899792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직사각형 94"/>
          <p:cNvSpPr/>
          <p:nvPr/>
        </p:nvSpPr>
        <p:spPr>
          <a:xfrm>
            <a:off x="2584877" y="3098242"/>
            <a:ext cx="693430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최초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3194081" y="3647114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7" name="직선 화살표 연결선 96"/>
          <p:cNvCxnSpPr>
            <a:stCxn id="96" idx="0"/>
          </p:cNvCxnSpPr>
          <p:nvPr/>
        </p:nvCxnSpPr>
        <p:spPr>
          <a:xfrm flipH="1" flipV="1">
            <a:off x="3565815" y="3224449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3679986" y="2647379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9" name="직선 화살표 연결선 98"/>
          <p:cNvCxnSpPr>
            <a:stCxn id="98" idx="2"/>
          </p:cNvCxnSpPr>
          <p:nvPr/>
        </p:nvCxnSpPr>
        <p:spPr>
          <a:xfrm>
            <a:off x="4003006" y="2899792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/>
          <p:cNvSpPr/>
          <p:nvPr/>
        </p:nvSpPr>
        <p:spPr>
          <a:xfrm>
            <a:off x="4164410" y="3098242"/>
            <a:ext cx="783810" cy="2524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최후</a:t>
            </a:r>
          </a:p>
        </p:txBody>
      </p:sp>
      <p:sp>
        <p:nvSpPr>
          <p:cNvPr id="103" name="직사각형 102"/>
          <p:cNvSpPr/>
          <p:nvPr/>
        </p:nvSpPr>
        <p:spPr>
          <a:xfrm>
            <a:off x="5007637" y="3647114"/>
            <a:ext cx="746998" cy="25241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6" name="직선 화살표 연결선 105"/>
          <p:cNvCxnSpPr>
            <a:stCxn id="103" idx="0"/>
          </p:cNvCxnSpPr>
          <p:nvPr/>
        </p:nvCxnSpPr>
        <p:spPr>
          <a:xfrm flipH="1" flipV="1">
            <a:off x="5379371" y="3224449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/>
          <p:cNvSpPr/>
          <p:nvPr/>
        </p:nvSpPr>
        <p:spPr>
          <a:xfrm>
            <a:off x="1569706" y="3647114"/>
            <a:ext cx="746998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보정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09" name="직선 화살표 연결선 108"/>
          <p:cNvCxnSpPr>
            <a:stCxn id="108" idx="0"/>
          </p:cNvCxnSpPr>
          <p:nvPr/>
        </p:nvCxnSpPr>
        <p:spPr>
          <a:xfrm flipH="1" flipV="1">
            <a:off x="1941440" y="3224449"/>
            <a:ext cx="1765" cy="42266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/>
          <p:cNvSpPr/>
          <p:nvPr/>
        </p:nvSpPr>
        <p:spPr>
          <a:xfrm>
            <a:off x="1549240" y="4310830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</a:rPr>
              <a:t>42③Ⅰ</a:t>
            </a:r>
            <a:endParaRPr lang="ko-KR" altLang="en-US" sz="1050" dirty="0">
              <a:solidFill>
                <a:schemeClr val="tx1"/>
              </a:solidFill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3194081" y="4313601"/>
            <a:ext cx="746998" cy="2524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해소</a:t>
            </a:r>
          </a:p>
        </p:txBody>
      </p:sp>
      <p:sp>
        <p:nvSpPr>
          <p:cNvPr id="115" name="직사각형 114"/>
          <p:cNvSpPr/>
          <p:nvPr/>
        </p:nvSpPr>
        <p:spPr>
          <a:xfrm>
            <a:off x="3173615" y="4739455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29②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6" name="꺾인 연결선 115"/>
          <p:cNvCxnSpPr>
            <a:stCxn id="113" idx="3"/>
            <a:endCxn id="95" idx="2"/>
          </p:cNvCxnSpPr>
          <p:nvPr/>
        </p:nvCxnSpPr>
        <p:spPr>
          <a:xfrm flipV="1">
            <a:off x="2316704" y="3350655"/>
            <a:ext cx="614888" cy="1086382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꺾인 연결선 116"/>
          <p:cNvCxnSpPr>
            <a:stCxn id="115" idx="3"/>
            <a:endCxn id="100" idx="2"/>
          </p:cNvCxnSpPr>
          <p:nvPr/>
        </p:nvCxnSpPr>
        <p:spPr>
          <a:xfrm flipV="1">
            <a:off x="3941079" y="3350655"/>
            <a:ext cx="615236" cy="1515007"/>
          </a:xfrm>
          <a:prstGeom prst="bentConnector2">
            <a:avLst/>
          </a:prstGeom>
          <a:ln w="12700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/>
          <p:cNvSpPr/>
          <p:nvPr/>
        </p:nvSpPr>
        <p:spPr>
          <a:xfrm>
            <a:off x="5020109" y="5688312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36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1549240" y="4691552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29①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3182621" y="5115429"/>
            <a:ext cx="767464" cy="2524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法 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42⑧</a:t>
            </a:r>
            <a:endParaRPr lang="ko-KR" altLang="en-US" sz="10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4824009" y="5666801"/>
            <a:ext cx="392200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❹</a:t>
            </a:r>
          </a:p>
        </p:txBody>
      </p:sp>
      <p:sp>
        <p:nvSpPr>
          <p:cNvPr id="122" name="직사각형 121"/>
          <p:cNvSpPr/>
          <p:nvPr/>
        </p:nvSpPr>
        <p:spPr>
          <a:xfrm>
            <a:off x="1335024" y="4634207"/>
            <a:ext cx="415969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❶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2987552" y="4452555"/>
            <a:ext cx="364983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❷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2987552" y="4640790"/>
            <a:ext cx="364983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>
              <a:lnSpc>
                <a:spcPct val="160000"/>
              </a:lnSpc>
            </a:pPr>
            <a:endParaRPr lang="ko-KR" altLang="en-US" kern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 fontAlgn="base">
              <a:lnSpc>
                <a:spcPct val="160000"/>
              </a:lnSpc>
            </a:pPr>
            <a:r>
              <a:rPr lang="ko-KR" altLang="en-US" kern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❸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6567802" y="3098243"/>
            <a:ext cx="807218" cy="252412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거절결정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8063378" y="3098243"/>
            <a:ext cx="1121260" cy="252412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</a:rPr>
              <a:t>인용심결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7389073" y="3767715"/>
            <a:ext cx="746998" cy="435787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심판청구</a:t>
            </a:r>
          </a:p>
        </p:txBody>
      </p:sp>
      <p:cxnSp>
        <p:nvCxnSpPr>
          <p:cNvPr id="145" name="직선 화살표 연결선 144"/>
          <p:cNvCxnSpPr>
            <a:stCxn id="144" idx="0"/>
          </p:cNvCxnSpPr>
          <p:nvPr/>
        </p:nvCxnSpPr>
        <p:spPr>
          <a:xfrm flipH="1" flipV="1">
            <a:off x="7760807" y="3244584"/>
            <a:ext cx="1765" cy="52313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/>
          <p:cNvSpPr/>
          <p:nvPr/>
        </p:nvSpPr>
        <p:spPr>
          <a:xfrm>
            <a:off x="5726758" y="2647379"/>
            <a:ext cx="646040" cy="25241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3" name="직선 화살표 연결선 152"/>
          <p:cNvCxnSpPr>
            <a:stCxn id="148" idx="2"/>
          </p:cNvCxnSpPr>
          <p:nvPr/>
        </p:nvCxnSpPr>
        <p:spPr>
          <a:xfrm>
            <a:off x="6049778" y="2899792"/>
            <a:ext cx="7428" cy="3116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직사각형 159"/>
          <p:cNvSpPr/>
          <p:nvPr/>
        </p:nvSpPr>
        <p:spPr>
          <a:xfrm>
            <a:off x="8980215" y="3626647"/>
            <a:ext cx="1000384" cy="252413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재심사</a:t>
            </a:r>
            <a:r>
              <a:rPr lang="en-US" altLang="ko-KR" sz="1200" dirty="0">
                <a:solidFill>
                  <a:schemeClr val="bg1"/>
                </a:solidFill>
              </a:rPr>
              <a:t>4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164" name="직선 화살표 연결선 163"/>
          <p:cNvCxnSpPr>
            <a:stCxn id="160" idx="0"/>
          </p:cNvCxnSpPr>
          <p:nvPr/>
        </p:nvCxnSpPr>
        <p:spPr>
          <a:xfrm flipV="1">
            <a:off x="9488953" y="3224448"/>
            <a:ext cx="0" cy="40219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직사각형 164"/>
          <p:cNvSpPr/>
          <p:nvPr/>
        </p:nvSpPr>
        <p:spPr>
          <a:xfrm>
            <a:off x="8953678" y="5145960"/>
            <a:ext cx="2183611" cy="9541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❶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 </a:t>
            </a: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❷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❸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  <a:p>
            <a:pPr fontAlgn="base"/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❹ 발견</a:t>
            </a:r>
            <a:r>
              <a:rPr lang="en-US" altLang="ko-KR" sz="1400" kern="0" dirty="0">
                <a:solidFill>
                  <a:srgbClr val="FF0000"/>
                </a:solidFill>
                <a:latin typeface="+mn-ea"/>
              </a:rPr>
              <a:t>: </a:t>
            </a:r>
            <a:r>
              <a:rPr lang="ko-KR" altLang="en-US" sz="1400" kern="0" dirty="0">
                <a:solidFill>
                  <a:srgbClr val="FF0000"/>
                </a:solidFill>
                <a:latin typeface="+mn-ea"/>
              </a:rPr>
              <a:t>최초거절이유통지</a:t>
            </a:r>
            <a:endParaRPr lang="en-US" altLang="ko-KR" sz="1400" kern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983365" y="4237139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1. </a:t>
            </a:r>
            <a:r>
              <a:rPr lang="ko-KR" altLang="en-US" sz="1100" dirty="0"/>
              <a:t>원거절이유의 </a:t>
            </a:r>
            <a:r>
              <a:rPr lang="ko-KR" altLang="en-US" sz="1100" dirty="0" err="1"/>
              <a:t>해소여부</a:t>
            </a:r>
            <a:endParaRPr lang="ko-KR" alt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8983365" y="4524150"/>
            <a:ext cx="2390207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2. </a:t>
            </a:r>
            <a:r>
              <a:rPr lang="ko-KR" altLang="en-US" sz="1100" dirty="0"/>
              <a:t>새로운 </a:t>
            </a:r>
            <a:r>
              <a:rPr lang="ko-KR" altLang="en-US" sz="1100" dirty="0" err="1"/>
              <a:t>거절이유의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발견여부</a:t>
            </a:r>
            <a:endParaRPr lang="ko-KR" altLang="en-US" sz="1100" dirty="0"/>
          </a:p>
        </p:txBody>
      </p:sp>
      <p:sp>
        <p:nvSpPr>
          <p:cNvPr id="46" name="TextBox 45"/>
          <p:cNvSpPr txBox="1"/>
          <p:nvPr/>
        </p:nvSpPr>
        <p:spPr>
          <a:xfrm>
            <a:off x="8983366" y="4822476"/>
            <a:ext cx="239788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3. </a:t>
            </a:r>
            <a:r>
              <a:rPr lang="ko-KR" altLang="en-US" sz="1100" dirty="0"/>
              <a:t>새로운 거절이유의 발생시점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83365" y="3941892"/>
            <a:ext cx="2390209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r>
              <a:rPr lang="en-US" altLang="ko-KR" sz="1100" dirty="0"/>
              <a:t>0. </a:t>
            </a:r>
            <a:r>
              <a:rPr lang="ko-KR" altLang="en-US" sz="1100" dirty="0"/>
              <a:t>보정의 적법성</a:t>
            </a: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213196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875" y="976902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취소환송된</a:t>
            </a:r>
            <a:r>
              <a:rPr lang="ko-KR" altLang="en-US" sz="1400" dirty="0">
                <a:solidFill>
                  <a:schemeClr val="tx2"/>
                </a:solidFill>
              </a:rPr>
              <a:t> 출원은 </a:t>
            </a:r>
            <a:r>
              <a:rPr lang="ko-KR" altLang="en-US" sz="1400" dirty="0" err="1">
                <a:solidFill>
                  <a:schemeClr val="tx2"/>
                </a:solidFill>
              </a:rPr>
              <a:t>거절결정</a:t>
            </a:r>
            <a:r>
              <a:rPr lang="ko-KR" altLang="en-US" sz="1400" dirty="0">
                <a:solidFill>
                  <a:schemeClr val="tx2"/>
                </a:solidFill>
              </a:rPr>
              <a:t> 또는 보정각하결정만 취소되었을 뿐 그 결정에 앞서 행해진 심사에서 밟은 특허에 관한 절차 및 심사관이 행한 절차는 모두 유효하므로 거절결정이나 보정각하결정만 없던 것으로 보고 통상의 심사와 동일하게 심사한다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취소환송</a:t>
            </a:r>
            <a:r>
              <a:rPr lang="ko-KR" altLang="en-US" sz="1400" dirty="0">
                <a:solidFill>
                  <a:schemeClr val="tx2"/>
                </a:solidFill>
              </a:rPr>
              <a:t> 전의 거절이유통지에 대한 보정에 따라 발생한 거절이유를 통지하는 경우에는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심사관의 잘못된 거절결정으로 절차의 지연이라는 불이익을 감수하였던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출원인에게</a:t>
            </a:r>
            <a:r>
              <a:rPr lang="ko-KR" altLang="en-US" sz="1400" dirty="0">
                <a:solidFill>
                  <a:schemeClr val="tx2"/>
                </a:solidFill>
              </a:rPr>
              <a:t> 다시 보정의 범위를 제한하는 것이 가혹하다는 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특허법 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에 따른 직권 재심사에서도 </a:t>
            </a:r>
            <a:r>
              <a:rPr lang="ko-KR" altLang="en-US" sz="1400" dirty="0" err="1">
                <a:solidFill>
                  <a:schemeClr val="tx2"/>
                </a:solidFill>
              </a:rPr>
              <a:t>취소통지</a:t>
            </a:r>
            <a:r>
              <a:rPr lang="ko-KR" altLang="en-US" sz="1400" dirty="0">
                <a:solidFill>
                  <a:schemeClr val="tx2"/>
                </a:solidFill>
              </a:rPr>
              <a:t> 전의 거절이유통지에 대한 보정에 따라 발생한 거절이유를 통지하는 경우에 최초거절이유를 통지한다는 점을 고려하여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통지하는 거절이유를 </a:t>
            </a:r>
            <a:r>
              <a:rPr lang="ko-KR" altLang="en-US" sz="1400" dirty="0">
                <a:highlight>
                  <a:srgbClr val="FFFF00"/>
                </a:highlight>
              </a:rPr>
              <a:t>최초거절이유</a:t>
            </a:r>
            <a:r>
              <a:rPr lang="ko-KR" altLang="en-US" sz="1400" dirty="0">
                <a:solidFill>
                  <a:schemeClr val="tx2"/>
                </a:solidFill>
              </a:rPr>
              <a:t>로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7642103" y="2625549"/>
            <a:ext cx="1963810" cy="2524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2"/>
                </a:solidFill>
              </a:rPr>
              <a:t>거절결정취소 및 환송</a:t>
            </a:r>
          </a:p>
        </p:txBody>
      </p:sp>
      <p:cxnSp>
        <p:nvCxnSpPr>
          <p:cNvPr id="51" name="직선 화살표 연결선 50"/>
          <p:cNvCxnSpPr>
            <a:stCxn id="50" idx="2"/>
            <a:endCxn id="137" idx="0"/>
          </p:cNvCxnSpPr>
          <p:nvPr/>
        </p:nvCxnSpPr>
        <p:spPr>
          <a:xfrm>
            <a:off x="8624008" y="2877961"/>
            <a:ext cx="0" cy="22028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460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09033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133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지분에 대한 무효심판청구 불가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C744699-A9D8-41E8-AC09-E31EE1EB6442}"/>
              </a:ext>
            </a:extLst>
          </p:cNvPr>
          <p:cNvCxnSpPr/>
          <p:nvPr/>
        </p:nvCxnSpPr>
        <p:spPr>
          <a:xfrm>
            <a:off x="0" y="3637207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8F9BA11-776F-458B-AEBF-785908167EF1}"/>
              </a:ext>
            </a:extLst>
          </p:cNvPr>
          <p:cNvSpPr/>
          <p:nvPr/>
        </p:nvSpPr>
        <p:spPr>
          <a:xfrm>
            <a:off x="232372" y="967374"/>
            <a:ext cx="1168198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400" dirty="0"/>
              <a:t>특허처분은 하나의 특허출원에 대하여 하나의 특허권을 부여하는 단일한 </a:t>
            </a:r>
            <a:r>
              <a:rPr lang="ko-KR" altLang="en-US" sz="1400" dirty="0" err="1"/>
              <a:t>행정행위이므로</a:t>
            </a:r>
            <a:r>
              <a:rPr lang="en-US" altLang="ko-KR" sz="1400" dirty="0"/>
              <a:t>, </a:t>
            </a:r>
            <a:r>
              <a:rPr lang="ko-KR" altLang="en-US" sz="1400" dirty="0"/>
              <a:t>설령 그러한 특허처분에 의하여 수인을 공유자로 하는 특허등록이 이루어졌다고 하더라도</a:t>
            </a:r>
            <a:r>
              <a:rPr lang="en-US" altLang="ko-KR" sz="1400" dirty="0"/>
              <a:t>, </a:t>
            </a:r>
            <a:r>
              <a:rPr lang="ko-KR" altLang="en-US" sz="1400" dirty="0"/>
              <a:t>그 특허처분 자체에 대한 무효를 청구하는 제도인 </a:t>
            </a:r>
            <a:r>
              <a:rPr lang="ko-KR" altLang="en-US" sz="1400" dirty="0">
                <a:highlight>
                  <a:srgbClr val="FFFF00"/>
                </a:highlight>
              </a:rPr>
              <a:t>특허무효심판에서 그 공유자 지분에 따라 특허를 분할하여 일부 지분만의 무효심판을 청구하는 것은 허용할 수 없다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대법원 </a:t>
            </a:r>
            <a:r>
              <a:rPr lang="en-US" altLang="ko-KR" sz="1400" dirty="0">
                <a:highlight>
                  <a:srgbClr val="FFFF00"/>
                </a:highlight>
              </a:rPr>
              <a:t>2015. 1. 15. </a:t>
            </a:r>
            <a:r>
              <a:rPr lang="ko-KR" altLang="en-US" sz="1400" dirty="0">
                <a:highlight>
                  <a:srgbClr val="FFFF00"/>
                </a:highlight>
              </a:rPr>
              <a:t>선고 </a:t>
            </a:r>
            <a:r>
              <a:rPr lang="en-US" altLang="ko-KR" sz="1400" dirty="0">
                <a:highlight>
                  <a:srgbClr val="FFFF00"/>
                </a:highlight>
              </a:rPr>
              <a:t>2012</a:t>
            </a:r>
            <a:r>
              <a:rPr lang="ko-KR" altLang="en-US" sz="1400" dirty="0">
                <a:highlight>
                  <a:srgbClr val="FFFF00"/>
                </a:highlight>
              </a:rPr>
              <a:t>후</a:t>
            </a:r>
            <a:r>
              <a:rPr lang="en-US" altLang="ko-KR" sz="1400" dirty="0">
                <a:highlight>
                  <a:srgbClr val="FFFF00"/>
                </a:highlight>
              </a:rPr>
              <a:t>2432 ). </a:t>
            </a:r>
            <a:r>
              <a:rPr lang="ko-KR" altLang="en-US" sz="1400" dirty="0">
                <a:highlight>
                  <a:srgbClr val="FFFF00"/>
                </a:highlight>
              </a:rPr>
              <a:t>이 경우 특허를 받을 수 있는 권리를 가진 자는 무효심판을 청구하지 않고 무권리자를 상대로 공유 특허권의 지분을 이전을 직접 청구할 수 있다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highlight>
                  <a:srgbClr val="FFFF00"/>
                </a:highlight>
              </a:rPr>
              <a:t>99</a:t>
            </a:r>
            <a:r>
              <a:rPr lang="ko-KR" altLang="en-US" sz="1400" dirty="0">
                <a:highlight>
                  <a:srgbClr val="FFFF00"/>
                </a:highlight>
              </a:rPr>
              <a:t>의</a:t>
            </a:r>
            <a:r>
              <a:rPr lang="en-US" altLang="ko-KR" sz="1400" dirty="0">
                <a:highlight>
                  <a:srgbClr val="FFFF00"/>
                </a:highlight>
              </a:rPr>
              <a:t>2). </a:t>
            </a:r>
            <a:r>
              <a:rPr lang="ko-KR" altLang="en-US" sz="1400" dirty="0"/>
              <a:t>원심판결인 특허법원 </a:t>
            </a:r>
            <a:r>
              <a:rPr lang="en-US" altLang="ko-KR" sz="1400" dirty="0"/>
              <a:t>2012. 6. 22.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2011</a:t>
            </a:r>
            <a:r>
              <a:rPr lang="ko-KR" altLang="en-US" sz="1400" dirty="0"/>
              <a:t>허</a:t>
            </a:r>
            <a:r>
              <a:rPr lang="en-US" altLang="ko-KR" sz="1400" dirty="0"/>
              <a:t>11750 </a:t>
            </a:r>
            <a:r>
              <a:rPr lang="ko-KR" altLang="en-US" sz="1400" dirty="0"/>
              <a:t>판결에서는 </a:t>
            </a:r>
            <a:r>
              <a:rPr lang="en-US" altLang="ko-KR" sz="1400" dirty="0"/>
              <a:t>ⅰ) </a:t>
            </a:r>
            <a:r>
              <a:rPr lang="ko-KR" altLang="en-US" sz="1400" dirty="0"/>
              <a:t>특허법은 </a:t>
            </a:r>
            <a:r>
              <a:rPr lang="ko-KR" altLang="en-US" sz="1400" dirty="0">
                <a:highlight>
                  <a:srgbClr val="FFFF00"/>
                </a:highlight>
              </a:rPr>
              <a:t>제</a:t>
            </a:r>
            <a:r>
              <a:rPr lang="en-US" altLang="ko-KR" sz="1400" dirty="0">
                <a:highlight>
                  <a:srgbClr val="FFFF00"/>
                </a:highlight>
              </a:rPr>
              <a:t>133</a:t>
            </a:r>
            <a:r>
              <a:rPr lang="ko-KR" altLang="en-US" sz="1400" dirty="0">
                <a:highlight>
                  <a:srgbClr val="FFFF00"/>
                </a:highlight>
              </a:rPr>
              <a:t>조제</a:t>
            </a:r>
            <a:r>
              <a:rPr lang="en-US" altLang="ko-KR" sz="1400" dirty="0">
                <a:highlight>
                  <a:srgbClr val="FFFF00"/>
                </a:highlight>
              </a:rPr>
              <a:t>1</a:t>
            </a:r>
            <a:r>
              <a:rPr lang="ko-KR" altLang="en-US" sz="1400" dirty="0">
                <a:highlight>
                  <a:srgbClr val="FFFF00"/>
                </a:highlight>
              </a:rPr>
              <a:t>항</a:t>
            </a:r>
            <a:r>
              <a:rPr lang="ko-KR" altLang="en-US" sz="1400" dirty="0"/>
              <a:t>에서 ‘청구범위의 청구항이 </a:t>
            </a:r>
            <a:r>
              <a:rPr lang="en-US" altLang="ko-KR" sz="1400" dirty="0"/>
              <a:t>2</a:t>
            </a:r>
            <a:r>
              <a:rPr lang="ko-KR" altLang="en-US" sz="1400" dirty="0"/>
              <a:t>이상인 때에는 청구항마다 무효심판을 청구할 수 있다’고 규정하면서도</a:t>
            </a:r>
            <a:r>
              <a:rPr lang="en-US" altLang="ko-KR" sz="1400" dirty="0"/>
              <a:t>, </a:t>
            </a:r>
            <a:r>
              <a:rPr lang="ko-KR" altLang="en-US" sz="1400" dirty="0"/>
              <a:t>공유인 특허권의 일부 지분권에 대하여는 무효심판청구가 가능하다는 취지의 규정을 두고 있지 않고 있는 점</a:t>
            </a:r>
            <a:r>
              <a:rPr lang="en-US" altLang="ko-KR" sz="1400" dirty="0"/>
              <a:t>, ⅱ) </a:t>
            </a:r>
            <a:r>
              <a:rPr lang="ko-KR" altLang="en-US" sz="1400" dirty="0"/>
              <a:t>특허법 </a:t>
            </a:r>
            <a:r>
              <a:rPr lang="ko-KR" altLang="en-US" sz="1400" dirty="0">
                <a:highlight>
                  <a:srgbClr val="FFFF00"/>
                </a:highlight>
              </a:rPr>
              <a:t>제</a:t>
            </a:r>
            <a:r>
              <a:rPr lang="en-US" altLang="ko-KR" sz="1400" dirty="0">
                <a:highlight>
                  <a:srgbClr val="FFFF00"/>
                </a:highlight>
              </a:rPr>
              <a:t>139</a:t>
            </a:r>
            <a:r>
              <a:rPr lang="ko-KR" altLang="en-US" sz="1400" dirty="0">
                <a:highlight>
                  <a:srgbClr val="FFFF00"/>
                </a:highlight>
              </a:rPr>
              <a:t>조제</a:t>
            </a:r>
            <a:r>
              <a:rPr lang="en-US" altLang="ko-KR" sz="1400" dirty="0">
                <a:highlight>
                  <a:srgbClr val="FFFF00"/>
                </a:highlight>
              </a:rPr>
              <a:t>2</a:t>
            </a:r>
            <a:r>
              <a:rPr lang="ko-KR" altLang="en-US" sz="1400" dirty="0">
                <a:highlight>
                  <a:srgbClr val="FFFF00"/>
                </a:highlight>
              </a:rPr>
              <a:t>항</a:t>
            </a:r>
            <a:r>
              <a:rPr lang="ko-KR" altLang="en-US" sz="1400" dirty="0"/>
              <a:t>은 ‘공유인 특허권의 특허권자에 대하여 심판을 청구하는 때에는 공유자 전원을 피심판청구인으로 하여 청구하여야 한다</a:t>
            </a:r>
            <a:r>
              <a:rPr lang="en-US" altLang="ko-KR" sz="1400" dirty="0"/>
              <a:t>.</a:t>
            </a:r>
            <a:r>
              <a:rPr lang="ko-KR" altLang="en-US" sz="1400" dirty="0"/>
              <a:t>’고 규정하는 있는 점</a:t>
            </a:r>
            <a:r>
              <a:rPr lang="en-US" altLang="ko-KR" sz="1400" dirty="0"/>
              <a:t>, ⅲ) </a:t>
            </a:r>
            <a:r>
              <a:rPr lang="ko-KR" altLang="en-US" sz="1400" dirty="0"/>
              <a:t>특허법 제</a:t>
            </a:r>
            <a:r>
              <a:rPr lang="en-US" altLang="ko-KR" sz="1400" dirty="0"/>
              <a:t>44</a:t>
            </a:r>
            <a:r>
              <a:rPr lang="ko-KR" altLang="en-US" sz="1400" dirty="0"/>
              <a:t>조</a:t>
            </a:r>
            <a:r>
              <a:rPr lang="en-US" altLang="ko-KR" sz="1400" dirty="0"/>
              <a:t>, </a:t>
            </a:r>
            <a:r>
              <a:rPr lang="ko-KR" altLang="en-US" sz="1400" dirty="0"/>
              <a:t>제</a:t>
            </a:r>
            <a:r>
              <a:rPr lang="en-US" altLang="ko-KR" sz="1400" dirty="0"/>
              <a:t>62</a:t>
            </a:r>
            <a:r>
              <a:rPr lang="ko-KR" altLang="en-US" sz="1400" dirty="0"/>
              <a:t>조제</a:t>
            </a:r>
            <a:r>
              <a:rPr lang="en-US" altLang="ko-KR" sz="1400" dirty="0"/>
              <a:t>1</a:t>
            </a:r>
            <a:r>
              <a:rPr lang="ko-KR" altLang="en-US" sz="1400" dirty="0"/>
              <a:t>호</a:t>
            </a:r>
            <a:r>
              <a:rPr lang="en-US" altLang="ko-KR" sz="1400" dirty="0"/>
              <a:t>, </a:t>
            </a:r>
            <a:r>
              <a:rPr lang="ko-KR" altLang="en-US" sz="1400" dirty="0"/>
              <a:t>제</a:t>
            </a:r>
            <a:r>
              <a:rPr lang="en-US" altLang="ko-KR" sz="1400" dirty="0"/>
              <a:t>133</a:t>
            </a:r>
            <a:r>
              <a:rPr lang="ko-KR" altLang="en-US" sz="1400" dirty="0"/>
              <a:t>조제</a:t>
            </a:r>
            <a:r>
              <a:rPr lang="en-US" altLang="ko-KR" sz="1400" dirty="0"/>
              <a:t>1</a:t>
            </a:r>
            <a:r>
              <a:rPr lang="ko-KR" altLang="en-US" sz="1400" dirty="0" err="1"/>
              <a:t>항제</a:t>
            </a:r>
            <a:r>
              <a:rPr lang="en-US" altLang="ko-KR" sz="1400" dirty="0"/>
              <a:t>2</a:t>
            </a:r>
            <a:r>
              <a:rPr lang="ko-KR" altLang="en-US" sz="1400" dirty="0"/>
              <a:t>호 등의 규정에 의하면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특허법은 다수가 특허권을 공유하는 경우에도 그 특허권이 일체로서 발생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소멸하는 것을 전제로 권리관계를 규정하고 있다</a:t>
            </a:r>
            <a:r>
              <a:rPr lang="ko-KR" altLang="en-US" sz="1400" dirty="0"/>
              <a:t>고 볼 수 있는 점</a:t>
            </a:r>
            <a:r>
              <a:rPr lang="en-US" altLang="ko-KR" sz="1400" dirty="0"/>
              <a:t>, ⅳ) </a:t>
            </a:r>
            <a:r>
              <a:rPr lang="ko-KR" altLang="en-US" sz="1400" dirty="0"/>
              <a:t>특허법 제</a:t>
            </a:r>
            <a:r>
              <a:rPr lang="en-US" altLang="ko-KR" sz="1400" dirty="0"/>
              <a:t>139</a:t>
            </a:r>
            <a:r>
              <a:rPr lang="ko-KR" altLang="en-US" sz="1400" dirty="0"/>
              <a:t>조제</a:t>
            </a:r>
            <a:r>
              <a:rPr lang="en-US" altLang="ko-KR" sz="1400" dirty="0"/>
              <a:t>2</a:t>
            </a:r>
            <a:r>
              <a:rPr lang="ko-KR" altLang="en-US" sz="1400" dirty="0"/>
              <a:t>항에도 불구하고 공유자 중 일부가 나머지 공유자를 상대로 하는 특허권의 지분권에 대한 무효심판청구를 허용할 경우</a:t>
            </a:r>
            <a:r>
              <a:rPr lang="en-US" altLang="ko-KR" sz="1400" dirty="0"/>
              <a:t>, </a:t>
            </a:r>
            <a:r>
              <a:rPr lang="ko-KR" altLang="en-US" sz="1400" dirty="0"/>
              <a:t>무효심판이 확정된 지분권은 소급적으로 그 효력이 소멸될 뿐이고 무효심판이 확정되지 아니한 다른 지분권의 권리자에게 그 소멸된 지분권이 귀속된다고 보기 어려우며</a:t>
            </a:r>
            <a:r>
              <a:rPr lang="en-US" altLang="ko-KR" sz="1400" dirty="0"/>
              <a:t>, </a:t>
            </a:r>
            <a:r>
              <a:rPr lang="ko-KR" altLang="en-US" sz="1400" dirty="0"/>
              <a:t>소멸된 지분권에 대해서는 권리자가 새로이 특허출원을 하더라도 특허법 제</a:t>
            </a:r>
            <a:r>
              <a:rPr lang="en-US" altLang="ko-KR" sz="1400" dirty="0"/>
              <a:t>44</a:t>
            </a:r>
            <a:r>
              <a:rPr lang="ko-KR" altLang="en-US" sz="1400" dirty="0"/>
              <a:t>조를 위배한 것이어서 거절결정이 될 수밖에 없게 되는 등 </a:t>
            </a:r>
            <a:r>
              <a:rPr lang="ko-KR" altLang="en-US" sz="1400" dirty="0">
                <a:highlight>
                  <a:srgbClr val="FFFF00"/>
                </a:highlight>
              </a:rPr>
              <a:t>복잡한 문제가 발생하는 점 </a:t>
            </a:r>
            <a:r>
              <a:rPr lang="ko-KR" altLang="en-US" sz="1400" dirty="0"/>
              <a:t>등에 비추어 특허권의 공유자 중 일부를 상대로 그 지분권만의 무효심판을 청구하는 것을 허용될 수 없다고 판시하였다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38" name="Rectangle 14">
            <a:extLst>
              <a:ext uri="{FF2B5EF4-FFF2-40B4-BE49-F238E27FC236}">
                <a16:creationId xmlns:a16="http://schemas.microsoft.com/office/drawing/2014/main" id="{DFBBDC2E-82A7-4C31-8D14-E73D94DDBE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2820" y="5366348"/>
            <a:ext cx="746662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출원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b="0" dirty="0">
                <a:latin typeface="+mn-ea"/>
              </a:rPr>
              <a:t>(</a:t>
            </a:r>
            <a:r>
              <a:rPr lang="ko-KR" altLang="en-US" sz="1400" b="0" dirty="0">
                <a:latin typeface="+mn-ea"/>
              </a:rPr>
              <a:t>乙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丙</a:t>
            </a:r>
            <a:r>
              <a:rPr lang="en-US" altLang="ko-KR" sz="1400" b="0" dirty="0">
                <a:latin typeface="+mn-ea"/>
              </a:rPr>
              <a:t>)</a:t>
            </a:r>
            <a:endParaRPr lang="ko-KR" altLang="en-US" sz="1400" b="0" dirty="0">
              <a:latin typeface="+mn-ea"/>
            </a:endParaRP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C2D41C85-5487-4C99-BC81-DE839460EE96}"/>
              </a:ext>
            </a:extLst>
          </p:cNvPr>
          <p:cNvCxnSpPr>
            <a:cxnSpLocks/>
            <a:stCxn id="38" idx="0"/>
          </p:cNvCxnSpPr>
          <p:nvPr/>
        </p:nvCxnSpPr>
        <p:spPr>
          <a:xfrm flipV="1">
            <a:off x="6706151" y="5155230"/>
            <a:ext cx="0" cy="21111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4">
            <a:extLst>
              <a:ext uri="{FF2B5EF4-FFF2-40B4-BE49-F238E27FC236}">
                <a16:creationId xmlns:a16="http://schemas.microsoft.com/office/drawing/2014/main" id="{5813B8F7-9F1F-4AEA-878F-AA0DA0FBF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0622" y="5366348"/>
            <a:ext cx="746662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 err="1">
                <a:latin typeface="+mn-ea"/>
              </a:rPr>
              <a:t>설정등록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乙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丙</a:t>
            </a:r>
            <a:r>
              <a:rPr lang="en-US" altLang="ko-KR" sz="1400" dirty="0">
                <a:latin typeface="+mn-ea"/>
              </a:rPr>
              <a:t>)</a:t>
            </a:r>
            <a:endParaRPr lang="ko-KR" altLang="en-US" sz="1400" dirty="0">
              <a:latin typeface="+mn-ea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9573D840-8006-4BC6-8C46-843C5FD55A7F}"/>
              </a:ext>
            </a:extLst>
          </p:cNvPr>
          <p:cNvCxnSpPr>
            <a:cxnSpLocks/>
            <a:stCxn id="40" idx="0"/>
          </p:cNvCxnSpPr>
          <p:nvPr/>
        </p:nvCxnSpPr>
        <p:spPr>
          <a:xfrm flipV="1">
            <a:off x="7553953" y="5128684"/>
            <a:ext cx="1" cy="2376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자유형 37">
            <a:extLst>
              <a:ext uri="{FF2B5EF4-FFF2-40B4-BE49-F238E27FC236}">
                <a16:creationId xmlns:a16="http://schemas.microsoft.com/office/drawing/2014/main" id="{EE886F15-EA20-4A02-8CEB-11A61E73BA86}"/>
              </a:ext>
            </a:extLst>
          </p:cNvPr>
          <p:cNvSpPr/>
          <p:nvPr/>
        </p:nvSpPr>
        <p:spPr>
          <a:xfrm>
            <a:off x="8748865" y="5098435"/>
            <a:ext cx="2853920" cy="1218923"/>
          </a:xfrm>
          <a:custGeom>
            <a:avLst/>
            <a:gdLst>
              <a:gd name="connsiteX0" fmla="*/ 0 w 7879222"/>
              <a:gd name="connsiteY0" fmla="*/ 0 h 743484"/>
              <a:gd name="connsiteX1" fmla="*/ 0 w 7879222"/>
              <a:gd name="connsiteY1" fmla="*/ 743484 h 743484"/>
              <a:gd name="connsiteX2" fmla="*/ 7879222 w 7879222"/>
              <a:gd name="connsiteY2" fmla="*/ 743484 h 743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79222" h="743484">
                <a:moveTo>
                  <a:pt x="0" y="0"/>
                </a:moveTo>
                <a:lnTo>
                  <a:pt x="0" y="743484"/>
                </a:lnTo>
                <a:lnTo>
                  <a:pt x="7879222" y="743484"/>
                </a:lnTo>
              </a:path>
            </a:pathLst>
          </a:custGeom>
          <a:noFill/>
          <a:ln w="5715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D02DD58-03E6-491D-A43F-F8C9D751B60C}"/>
              </a:ext>
            </a:extLst>
          </p:cNvPr>
          <p:cNvSpPr txBox="1"/>
          <p:nvPr/>
        </p:nvSpPr>
        <p:spPr>
          <a:xfrm>
            <a:off x="9179330" y="6090234"/>
            <a:ext cx="1992989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선의의 丁이 국내에서 </a:t>
            </a:r>
            <a:endParaRPr lang="en-US" altLang="ko-KR" sz="1400" dirty="0"/>
          </a:p>
          <a:p>
            <a:pPr algn="ctr"/>
            <a:r>
              <a:rPr lang="ko-KR" altLang="en-US" sz="1400" dirty="0"/>
              <a:t>실시사업 또는 사업준비</a:t>
            </a:r>
          </a:p>
        </p:txBody>
      </p:sp>
      <p:sp>
        <p:nvSpPr>
          <p:cNvPr id="44" name="Rectangle 14">
            <a:extLst>
              <a:ext uri="{FF2B5EF4-FFF2-40B4-BE49-F238E27FC236}">
                <a16:creationId xmlns:a16="http://schemas.microsoft.com/office/drawing/2014/main" id="{4E0A0B43-6EFB-4D9A-AFFA-F95CFEC23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2458" y="6056004"/>
            <a:ext cx="1021280" cy="448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n-ea"/>
              </a:rPr>
              <a:t>지분이전등록</a:t>
            </a:r>
            <a:endParaRPr lang="en-US" altLang="ko-KR" sz="1400" dirty="0">
              <a:latin typeface="+mn-ea"/>
            </a:endParaRPr>
          </a:p>
          <a:p>
            <a:pPr algn="ctr"/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丙 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+mn-ea"/>
                <a:sym typeface="Wingdings" panose="05000000000000000000" pitchFamily="2" charset="2"/>
              </a:rPr>
              <a:t>丁</a:t>
            </a:r>
            <a:r>
              <a:rPr lang="en-US" altLang="ko-KR" sz="1400" dirty="0">
                <a:latin typeface="+mn-ea"/>
                <a:sym typeface="Wingdings" panose="05000000000000000000" pitchFamily="2" charset="2"/>
              </a:rPr>
              <a:t>)</a:t>
            </a:r>
            <a:endParaRPr lang="en-US" altLang="ko-KR" sz="1400" dirty="0">
              <a:latin typeface="+mn-ea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68892D4D-E47C-4069-B73A-544F022545AC}"/>
              </a:ext>
            </a:extLst>
          </p:cNvPr>
          <p:cNvCxnSpPr>
            <a:cxnSpLocks/>
            <a:stCxn id="44" idx="0"/>
          </p:cNvCxnSpPr>
          <p:nvPr/>
        </p:nvCxnSpPr>
        <p:spPr>
          <a:xfrm flipV="1">
            <a:off x="8163098" y="5104042"/>
            <a:ext cx="0" cy="95196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14">
            <a:extLst>
              <a:ext uri="{FF2B5EF4-FFF2-40B4-BE49-F238E27FC236}">
                <a16:creationId xmlns:a16="http://schemas.microsoft.com/office/drawing/2014/main" id="{FD2575B7-58B3-4808-B44A-DE354F55C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75649" y="4354658"/>
            <a:ext cx="876270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발명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, 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乙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7" name="Rectangle 14">
            <a:extLst>
              <a:ext uri="{FF2B5EF4-FFF2-40B4-BE49-F238E27FC236}">
                <a16:creationId xmlns:a16="http://schemas.microsoft.com/office/drawing/2014/main" id="{1E7A1BE8-1A58-41A1-8C19-22C8DBDF5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5682" y="4366059"/>
            <a:ext cx="1036874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지분이전청구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8" name="Rectangle 14">
            <a:extLst>
              <a:ext uri="{FF2B5EF4-FFF2-40B4-BE49-F238E27FC236}">
                <a16:creationId xmlns:a16="http://schemas.microsoft.com/office/drawing/2014/main" id="{1E56DE56-89E8-43C8-82F8-EC6041C42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5177" y="4366059"/>
            <a:ext cx="1036874" cy="461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prstDash val="sys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지분이전등록</a:t>
            </a:r>
            <a:endParaRPr lang="en-US" altLang="ko-KR" sz="140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ctr"/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丁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  <a:sym typeface="Wingdings" panose="05000000000000000000" pitchFamily="2" charset="2"/>
              </a:rPr>
              <a:t> </a:t>
            </a:r>
            <a:r>
              <a:rPr lang="ko-KR" altLang="en-US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甲</a:t>
            </a:r>
            <a:r>
              <a:rPr lang="en-US" altLang="ko-KR" sz="1400" b="0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)</a:t>
            </a:r>
            <a:endParaRPr lang="ko-KR" altLang="en-US" sz="1400" b="0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FF8D2CED-5E93-44E2-8FA0-BD487F739E26}"/>
              </a:ext>
            </a:extLst>
          </p:cNvPr>
          <p:cNvCxnSpPr>
            <a:cxnSpLocks/>
            <a:stCxn id="46" idx="2"/>
          </p:cNvCxnSpPr>
          <p:nvPr/>
        </p:nvCxnSpPr>
        <p:spPr>
          <a:xfrm flipH="1">
            <a:off x="6510802" y="4816646"/>
            <a:ext cx="2982" cy="2701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2D560D71-9B29-4A06-893F-C79EF2EF0B5D}"/>
              </a:ext>
            </a:extLst>
          </p:cNvPr>
          <p:cNvCxnSpPr>
            <a:cxnSpLocks/>
            <a:stCxn id="47" idx="2"/>
          </p:cNvCxnSpPr>
          <p:nvPr/>
        </p:nvCxnSpPr>
        <p:spPr>
          <a:xfrm flipH="1">
            <a:off x="9462603" y="4828047"/>
            <a:ext cx="1516" cy="2703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3F25D26E-55DD-427D-90E8-20AB06BEDFE0}"/>
              </a:ext>
            </a:extLst>
          </p:cNvPr>
          <p:cNvCxnSpPr>
            <a:cxnSpLocks/>
            <a:stCxn id="48" idx="2"/>
          </p:cNvCxnSpPr>
          <p:nvPr/>
        </p:nvCxnSpPr>
        <p:spPr>
          <a:xfrm>
            <a:off x="10593614" y="4828047"/>
            <a:ext cx="56" cy="27599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750729EB-4254-40DB-9400-D75BD3B9AEF3}"/>
              </a:ext>
            </a:extLst>
          </p:cNvPr>
          <p:cNvCxnSpPr/>
          <p:nvPr/>
        </p:nvCxnSpPr>
        <p:spPr>
          <a:xfrm>
            <a:off x="6051909" y="5090286"/>
            <a:ext cx="5574070" cy="0"/>
          </a:xfrm>
          <a:prstGeom prst="straightConnector1">
            <a:avLst/>
          </a:prstGeom>
          <a:ln w="5715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8513A409-97AB-4A03-AC31-120A5B63F2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29381"/>
              </p:ext>
            </p:extLst>
          </p:nvPr>
        </p:nvGraphicFramePr>
        <p:xfrm>
          <a:off x="323032" y="4145410"/>
          <a:ext cx="4969983" cy="2107348"/>
        </p:xfrm>
        <a:graphic>
          <a:graphicData uri="http://schemas.openxmlformats.org/drawingml/2006/table">
            <a:tbl>
              <a:tblPr/>
              <a:tblGrid>
                <a:gridCol w="869906">
                  <a:extLst>
                    <a:ext uri="{9D8B030D-6E8A-4147-A177-3AD203B41FA5}">
                      <a16:colId xmlns:a16="http://schemas.microsoft.com/office/drawing/2014/main" val="3388704944"/>
                    </a:ext>
                  </a:extLst>
                </a:gridCol>
                <a:gridCol w="1241439">
                  <a:extLst>
                    <a:ext uri="{9D8B030D-6E8A-4147-A177-3AD203B41FA5}">
                      <a16:colId xmlns:a16="http://schemas.microsoft.com/office/drawing/2014/main" val="537560535"/>
                    </a:ext>
                  </a:extLst>
                </a:gridCol>
                <a:gridCol w="2858638">
                  <a:extLst>
                    <a:ext uri="{9D8B030D-6E8A-4147-A177-3AD203B41FA5}">
                      <a16:colId xmlns:a16="http://schemas.microsoft.com/office/drawing/2014/main" val="1647611734"/>
                    </a:ext>
                  </a:extLst>
                </a:gridCol>
              </a:tblGrid>
              <a:tr h="59391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44</a:t>
                      </a: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 위반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출원일의 소급효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특허권</a:t>
                      </a:r>
                      <a:r>
                        <a:rPr lang="en-US" altLang="ko-KR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특허출원</a:t>
                      </a:r>
                      <a:r>
                        <a:rPr lang="en-US" altLang="ko-KR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 이전청구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6539625"/>
                  </a:ext>
                </a:extLst>
              </a:tr>
              <a:tr h="325615"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0000"/>
                        </a:lnSpc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해석상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344619"/>
                  </a:ext>
                </a:extLst>
              </a:tr>
              <a:tr h="325615">
                <a:tc row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 latinLnBrk="1">
                        <a:lnSpc>
                          <a:spcPct val="100000"/>
                        </a:lnSpc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○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99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683434"/>
                  </a:ext>
                </a:extLst>
              </a:tr>
              <a:tr h="8622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지분에 대한  </a:t>
                      </a:r>
                      <a:endParaRPr lang="en-US" altLang="ko-KR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무효심판청구불가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base" latinLnBrk="1">
                        <a:lnSpc>
                          <a:spcPct val="100000"/>
                        </a:lnSpc>
                      </a:pPr>
                      <a:r>
                        <a:rPr lang="en-US" altLang="ko-KR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무효사유에서 제외</a:t>
                      </a:r>
                      <a:r>
                        <a:rPr lang="en-US" altLang="ko-KR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133①Ⅱ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85725" marR="17780" lvl="0" indent="-682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특허권의 이전청구에 따른 이전등록 전의 실시에 의한 통상실시권</a:t>
                      </a:r>
                      <a:r>
                        <a:rPr lang="en-US" altLang="ko-KR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103</a:t>
                      </a:r>
                      <a:r>
                        <a:rPr lang="ko-KR" altLang="en-US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의</a:t>
                      </a:r>
                      <a:r>
                        <a:rPr lang="en-US" altLang="ko-KR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1200" kern="0" spc="-8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인정가능</a:t>
                      </a:r>
                      <a:endParaRPr lang="en-US" altLang="ko-KR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7325709"/>
                  </a:ext>
                </a:extLst>
              </a:tr>
            </a:tbl>
          </a:graphicData>
        </a:graphic>
      </p:graphicFrame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DCCF5E88-B53A-48F9-9844-A608119A07EE}"/>
              </a:ext>
            </a:extLst>
          </p:cNvPr>
          <p:cNvSpPr/>
          <p:nvPr/>
        </p:nvSpPr>
        <p:spPr>
          <a:xfrm>
            <a:off x="8945682" y="3735671"/>
            <a:ext cx="1731027" cy="461988"/>
          </a:xfrm>
          <a:prstGeom prst="wedgeRoundRectCallout">
            <a:avLst>
              <a:gd name="adj1" fmla="val -22107"/>
              <a:gd name="adj2" fmla="val 78637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甲이 丁의 지분에 대한 무효심판청구는 불가</a:t>
            </a:r>
          </a:p>
        </p:txBody>
      </p:sp>
      <p:sp>
        <p:nvSpPr>
          <p:cNvPr id="56" name="말풍선: 모서리가 둥근 사각형 55">
            <a:extLst>
              <a:ext uri="{FF2B5EF4-FFF2-40B4-BE49-F238E27FC236}">
                <a16:creationId xmlns:a16="http://schemas.microsoft.com/office/drawing/2014/main" id="{D462F69C-F98B-4B16-BC1A-A3E57B72A431}"/>
              </a:ext>
            </a:extLst>
          </p:cNvPr>
          <p:cNvSpPr/>
          <p:nvPr/>
        </p:nvSpPr>
        <p:spPr>
          <a:xfrm>
            <a:off x="9462603" y="5520926"/>
            <a:ext cx="1731027" cy="461988"/>
          </a:xfrm>
          <a:prstGeom prst="wedgeRoundRectCallout">
            <a:avLst>
              <a:gd name="adj1" fmla="val -22107"/>
              <a:gd name="adj2" fmla="val 78637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</a:rPr>
              <a:t>103</a:t>
            </a:r>
            <a:r>
              <a:rPr lang="ko-KR" altLang="en-US" sz="1200" dirty="0">
                <a:solidFill>
                  <a:schemeClr val="tx1"/>
                </a:solidFill>
              </a:rPr>
              <a:t>조의</a:t>
            </a:r>
            <a:r>
              <a:rPr lang="en-US" altLang="ko-KR" sz="1200" dirty="0">
                <a:solidFill>
                  <a:schemeClr val="tx1"/>
                </a:solidFill>
              </a:rPr>
              <a:t>2</a:t>
            </a:r>
            <a:r>
              <a:rPr lang="ko-KR" altLang="en-US" sz="1200" dirty="0">
                <a:solidFill>
                  <a:schemeClr val="tx1"/>
                </a:solidFill>
              </a:rPr>
              <a:t>에 의한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법정실시권 발생</a:t>
            </a:r>
          </a:p>
        </p:txBody>
      </p:sp>
    </p:spTree>
    <p:extLst>
      <p:ext uri="{BB962C8B-B14F-4D97-AF65-F5344CB8AC3E}">
        <p14:creationId xmlns:p14="http://schemas.microsoft.com/office/powerpoint/2010/main" val="16058284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C850324D-FBE1-8D52-ED11-8171CF25E7E7}"/>
              </a:ext>
            </a:extLst>
          </p:cNvPr>
          <p:cNvCxnSpPr>
            <a:stCxn id="33" idx="2"/>
          </p:cNvCxnSpPr>
          <p:nvPr/>
        </p:nvCxnSpPr>
        <p:spPr>
          <a:xfrm rot="16200000" flipH="1">
            <a:off x="9063832" y="2843132"/>
            <a:ext cx="1526352" cy="4337050"/>
          </a:xfrm>
          <a:prstGeom prst="bentConnector2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청구기간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193399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875" y="976902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특허권의 존속기간 중에는 물론 특허권이 소멸된 후에도 청구의 이익이 있는 한 특허무효심판을 청구할 수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133</a:t>
            </a:r>
            <a:r>
              <a:rPr lang="ko-KR" altLang="en-US" sz="1400" dirty="0">
                <a:solidFill>
                  <a:schemeClr val="tx2"/>
                </a:solidFill>
              </a:rPr>
              <a:t>②</a:t>
            </a:r>
            <a:r>
              <a:rPr lang="en-US" altLang="ko-KR" sz="1400" dirty="0">
                <a:solidFill>
                  <a:schemeClr val="tx2"/>
                </a:solidFill>
              </a:rPr>
              <a:t>). </a:t>
            </a:r>
            <a:r>
              <a:rPr lang="ko-KR" altLang="en-US" sz="1400" dirty="0">
                <a:solidFill>
                  <a:schemeClr val="tx2"/>
                </a:solidFill>
              </a:rPr>
              <a:t>특허권이 소멸된 후라도 소멸되기 전의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자의 실시에 대해서는 특허권자가 손해배상청구를 할 수 있기 때문에 특허를 무효 시킬 실익이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때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자가 특허무효심판청구에 의하여 </a:t>
            </a:r>
            <a:r>
              <a:rPr lang="ko-KR" altLang="en-US" sz="1400" dirty="0" err="1">
                <a:solidFill>
                  <a:schemeClr val="tx2"/>
                </a:solidFill>
              </a:rPr>
              <a:t>무효심결이</a:t>
            </a:r>
            <a:r>
              <a:rPr lang="ko-KR" altLang="en-US" sz="1400" dirty="0">
                <a:solidFill>
                  <a:schemeClr val="tx2"/>
                </a:solidFill>
              </a:rPr>
              <a:t> 확정되면 손해배상을 할 필요가 없어진다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특허권이 무효심결확정에 의하여 소급하여 소멸한 경우에는 특허무효심판을 청구할 실익이 없으며 청구한 </a:t>
            </a:r>
            <a:r>
              <a:rPr lang="ko-KR" altLang="en-US" sz="1400" dirty="0" err="1">
                <a:solidFill>
                  <a:schemeClr val="tx2"/>
                </a:solidFill>
              </a:rPr>
              <a:t>무효심판은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심결각하된다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후발적 사유에 의하여 무효가 된 경우에는 그 이전의 것에 대해서는 무효심판을 청구할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52" name="양쪽 모서리가 둥근 사각형 51"/>
          <p:cNvSpPr/>
          <p:nvPr/>
        </p:nvSpPr>
        <p:spPr>
          <a:xfrm>
            <a:off x="1684275" y="4011354"/>
            <a:ext cx="2758790" cy="671279"/>
          </a:xfrm>
          <a:prstGeom prst="round2SameRect">
            <a:avLst>
              <a:gd name="adj1" fmla="val 0"/>
              <a:gd name="adj2" fmla="val 50000"/>
            </a:avLst>
          </a:prstGeom>
          <a:pattFill prst="smConfetti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53" name="양쪽 모서리가 둥근 사각형 52"/>
          <p:cNvSpPr/>
          <p:nvPr/>
        </p:nvSpPr>
        <p:spPr>
          <a:xfrm>
            <a:off x="852643" y="3349133"/>
            <a:ext cx="2556497" cy="654320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54" name="Line 5"/>
          <p:cNvSpPr>
            <a:spLocks noChangeShapeType="1"/>
          </p:cNvSpPr>
          <p:nvPr/>
        </p:nvSpPr>
        <p:spPr bwMode="auto">
          <a:xfrm>
            <a:off x="155345" y="4003453"/>
            <a:ext cx="11840188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ko-KR" altLang="en-US" sz="1200" dirty="0">
              <a:latin typeface="+mn-e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11872" y="3848075"/>
            <a:ext cx="1081544" cy="326558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설정등록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501251" y="3022575"/>
            <a:ext cx="1420542" cy="326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존속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中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463009" y="4371227"/>
            <a:ext cx="1420542" cy="326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乙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A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실시</a:t>
            </a:r>
            <a:endParaRPr lang="en-US" altLang="ko-KR" sz="14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0" name="직선 연결선 59"/>
          <p:cNvCxnSpPr/>
          <p:nvPr/>
        </p:nvCxnSpPr>
        <p:spPr>
          <a:xfrm>
            <a:off x="3409141" y="4011354"/>
            <a:ext cx="0" cy="1763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1686565" y="4011354"/>
            <a:ext cx="0" cy="1763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4443065" y="4011354"/>
            <a:ext cx="0" cy="176347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/>
          <p:nvPr/>
        </p:nvCxnSpPr>
        <p:spPr>
          <a:xfrm>
            <a:off x="1694147" y="5279533"/>
            <a:ext cx="1714994" cy="1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>
            <a:cxnSpLocks/>
          </p:cNvCxnSpPr>
          <p:nvPr/>
        </p:nvCxnSpPr>
        <p:spPr>
          <a:xfrm>
            <a:off x="3409141" y="5279533"/>
            <a:ext cx="1033924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926043" y="5300697"/>
            <a:ext cx="1420542" cy="326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침해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561030" y="5300697"/>
            <a:ext cx="841476" cy="3265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비침해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4667133" y="3848075"/>
            <a:ext cx="1668809" cy="318811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민사법원 침해소송제기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9" name="타원 68"/>
          <p:cNvSpPr/>
          <p:nvPr/>
        </p:nvSpPr>
        <p:spPr>
          <a:xfrm>
            <a:off x="2108353" y="4925136"/>
            <a:ext cx="1055921" cy="1055921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0" name="직선 화살표 연결선 69"/>
          <p:cNvCxnSpPr>
            <a:cxnSpLocks/>
            <a:stCxn id="69" idx="6"/>
            <a:endCxn id="68" idx="1"/>
          </p:cNvCxnSpPr>
          <p:nvPr/>
        </p:nvCxnSpPr>
        <p:spPr>
          <a:xfrm flipV="1">
            <a:off x="3164274" y="4007481"/>
            <a:ext cx="1502859" cy="1445616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5794609" y="2865771"/>
            <a:ext cx="1082668" cy="429813"/>
          </a:xfrm>
          <a:prstGeom prst="roundRect">
            <a:avLst>
              <a:gd name="adj" fmla="val 31267"/>
            </a:avLst>
          </a:prstGeom>
          <a:solidFill>
            <a:schemeClr val="accent1">
              <a:lumMod val="7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무효심판청구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특허심판원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512321" y="2865771"/>
            <a:ext cx="1056150" cy="429813"/>
          </a:xfrm>
          <a:prstGeom prst="roundRect">
            <a:avLst>
              <a:gd name="adj" fmla="val 20838"/>
            </a:avLst>
          </a:prstGeom>
          <a:solidFill>
            <a:schemeClr val="accent1">
              <a:lumMod val="7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bg1"/>
                </a:solidFill>
                <a:latin typeface="+mn-ea"/>
              </a:rPr>
              <a:t>무효심결확정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90" name="직선 화살표 연결선 89"/>
          <p:cNvCxnSpPr>
            <a:cxnSpLocks/>
          </p:cNvCxnSpPr>
          <p:nvPr/>
        </p:nvCxnSpPr>
        <p:spPr>
          <a:xfrm>
            <a:off x="9040396" y="3295584"/>
            <a:ext cx="0" cy="63970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2864613" y="3848075"/>
            <a:ext cx="1081544" cy="326558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존속기간 만료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10656901" y="3848075"/>
            <a:ext cx="1125524" cy="326558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패소판결확정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4" name="모서리가 둥근 사각형 설명선 13"/>
          <p:cNvSpPr/>
          <p:nvPr/>
        </p:nvSpPr>
        <p:spPr>
          <a:xfrm>
            <a:off x="6216507" y="2174167"/>
            <a:ext cx="1413665" cy="477753"/>
          </a:xfrm>
          <a:prstGeom prst="wedgeRoundRectCallout">
            <a:avLst>
              <a:gd name="adj1" fmla="val 4579"/>
              <a:gd name="adj2" fmla="val 321239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소송절차 중지 신청</a:t>
            </a:r>
            <a:r>
              <a:rPr lang="en-US" altLang="ko-KR" sz="1200" dirty="0">
                <a:solidFill>
                  <a:schemeClr val="tx1"/>
                </a:solidFill>
              </a:rPr>
              <a:t>, but </a:t>
            </a:r>
            <a:r>
              <a:rPr lang="ko-KR" altLang="en-US" sz="1200" dirty="0">
                <a:solidFill>
                  <a:schemeClr val="tx1"/>
                </a:solidFill>
              </a:rPr>
              <a:t>재량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462</a:t>
            </a:r>
            <a:endParaRPr lang="ko-KR" altLang="en-US" dirty="0"/>
          </a:p>
        </p:txBody>
      </p:sp>
      <p:sp>
        <p:nvSpPr>
          <p:cNvPr id="83" name="도넛 82"/>
          <p:cNvSpPr/>
          <p:nvPr/>
        </p:nvSpPr>
        <p:spPr>
          <a:xfrm>
            <a:off x="7136288" y="5010820"/>
            <a:ext cx="368116" cy="351656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4" name="도넛 83"/>
          <p:cNvSpPr/>
          <p:nvPr/>
        </p:nvSpPr>
        <p:spPr>
          <a:xfrm>
            <a:off x="7136288" y="5435404"/>
            <a:ext cx="368116" cy="351656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5" name="도넛 84"/>
          <p:cNvSpPr/>
          <p:nvPr/>
        </p:nvSpPr>
        <p:spPr>
          <a:xfrm>
            <a:off x="7136288" y="5905930"/>
            <a:ext cx="368116" cy="351656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6" name="곱셈 기호 85"/>
          <p:cNvSpPr/>
          <p:nvPr/>
        </p:nvSpPr>
        <p:spPr>
          <a:xfrm>
            <a:off x="7033385" y="4433994"/>
            <a:ext cx="573921" cy="602794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47" name="TextBox 46"/>
          <p:cNvSpPr txBox="1"/>
          <p:nvPr/>
        </p:nvSpPr>
        <p:spPr>
          <a:xfrm>
            <a:off x="7866006" y="5618026"/>
            <a:ext cx="1070358" cy="326558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+mn-ea"/>
              </a:rPr>
              <a:t>승소판결확정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3" name="모서리가 둥근 직사각형 49">
            <a:extLst>
              <a:ext uri="{FF2B5EF4-FFF2-40B4-BE49-F238E27FC236}">
                <a16:creationId xmlns:a16="http://schemas.microsoft.com/office/drawing/2014/main" id="{59FD8EC5-BE21-A8A2-BBBC-E97974CD56A0}"/>
              </a:ext>
            </a:extLst>
          </p:cNvPr>
          <p:cNvSpPr/>
          <p:nvPr/>
        </p:nvSpPr>
        <p:spPr>
          <a:xfrm>
            <a:off x="4899414" y="4551917"/>
            <a:ext cx="2166674" cy="3188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침해금지예방청구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126)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5917650E-AB56-0D20-34F0-A2A902EF858F}"/>
              </a:ext>
            </a:extLst>
          </p:cNvPr>
          <p:cNvCxnSpPr/>
          <p:nvPr/>
        </p:nvCxnSpPr>
        <p:spPr>
          <a:xfrm rot="16200000" flipH="1">
            <a:off x="6082814" y="3548713"/>
            <a:ext cx="679972" cy="17371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순서도: 판단 32">
            <a:extLst>
              <a:ext uri="{FF2B5EF4-FFF2-40B4-BE49-F238E27FC236}">
                <a16:creationId xmlns:a16="http://schemas.microsoft.com/office/drawing/2014/main" id="{93958C14-CB28-744F-C601-F803F42B75F8}"/>
              </a:ext>
            </a:extLst>
          </p:cNvPr>
          <p:cNvSpPr/>
          <p:nvPr/>
        </p:nvSpPr>
        <p:spPr>
          <a:xfrm>
            <a:off x="7174476" y="3774227"/>
            <a:ext cx="968014" cy="474254"/>
          </a:xfrm>
          <a:prstGeom prst="flowChartDecision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중지</a:t>
            </a:r>
            <a:endParaRPr lang="en-US" altLang="ko-KR" sz="1200" dirty="0"/>
          </a:p>
          <a:p>
            <a:pPr algn="ctr"/>
            <a:r>
              <a:rPr lang="ko-KR" altLang="en-US" sz="1200" dirty="0"/>
              <a:t>여부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9FB581-1DBB-1FBD-FEE4-7B4141430D1D}"/>
              </a:ext>
            </a:extLst>
          </p:cNvPr>
          <p:cNvSpPr txBox="1"/>
          <p:nvPr/>
        </p:nvSpPr>
        <p:spPr>
          <a:xfrm>
            <a:off x="9691706" y="5618026"/>
            <a:ext cx="731464" cy="326558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>
                <a:solidFill>
                  <a:schemeClr val="bg1"/>
                </a:solidFill>
                <a:latin typeface="+mn-ea"/>
              </a:rPr>
              <a:t>재심청구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9883F75-7B2D-C8B8-D144-C7CD6A38CD18}"/>
              </a:ext>
            </a:extLst>
          </p:cNvPr>
          <p:cNvSpPr txBox="1"/>
          <p:nvPr/>
        </p:nvSpPr>
        <p:spPr>
          <a:xfrm>
            <a:off x="10656901" y="5618026"/>
            <a:ext cx="1125524" cy="326558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패소판결확정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AF81323D-C13A-B026-1A91-B4361EB5EDEB}"/>
              </a:ext>
            </a:extLst>
          </p:cNvPr>
          <p:cNvCxnSpPr>
            <a:cxnSpLocks/>
            <a:stCxn id="13" idx="2"/>
            <a:endCxn id="47" idx="2"/>
          </p:cNvCxnSpPr>
          <p:nvPr/>
        </p:nvCxnSpPr>
        <p:spPr>
          <a:xfrm rot="16200000" flipH="1">
            <a:off x="6655041" y="4198439"/>
            <a:ext cx="1073855" cy="2418434"/>
          </a:xfrm>
          <a:prstGeom prst="bentConnector3">
            <a:avLst>
              <a:gd name="adj1" fmla="val 121288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모서리가 둥근 직사각형 50">
            <a:extLst>
              <a:ext uri="{FF2B5EF4-FFF2-40B4-BE49-F238E27FC236}">
                <a16:creationId xmlns:a16="http://schemas.microsoft.com/office/drawing/2014/main" id="{CB44AA3E-A3C5-8236-8071-2FA11033A183}"/>
              </a:ext>
            </a:extLst>
          </p:cNvPr>
          <p:cNvSpPr/>
          <p:nvPr/>
        </p:nvSpPr>
        <p:spPr>
          <a:xfrm>
            <a:off x="4899414" y="5013471"/>
            <a:ext cx="2166674" cy="3188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손해배상청구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128)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모서리가 둥근 직사각형 70">
            <a:extLst>
              <a:ext uri="{FF2B5EF4-FFF2-40B4-BE49-F238E27FC236}">
                <a16:creationId xmlns:a16="http://schemas.microsoft.com/office/drawing/2014/main" id="{037E4D99-299A-2AFF-7B8C-B9A9A5427CCD}"/>
              </a:ext>
            </a:extLst>
          </p:cNvPr>
          <p:cNvSpPr/>
          <p:nvPr/>
        </p:nvSpPr>
        <p:spPr>
          <a:xfrm>
            <a:off x="4899414" y="5475982"/>
            <a:ext cx="2166674" cy="3188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신용회복청구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131)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모서리가 둥근 직사각형 71">
            <a:extLst>
              <a:ext uri="{FF2B5EF4-FFF2-40B4-BE49-F238E27FC236}">
                <a16:creationId xmlns:a16="http://schemas.microsoft.com/office/drawing/2014/main" id="{3F363DC7-B1EC-31B2-C124-C7974BCAA93C}"/>
              </a:ext>
            </a:extLst>
          </p:cNvPr>
          <p:cNvSpPr/>
          <p:nvPr/>
        </p:nvSpPr>
        <p:spPr>
          <a:xfrm>
            <a:off x="4899414" y="5923180"/>
            <a:ext cx="2166674" cy="3188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부당이득반환청구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民法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741)</a:t>
            </a:r>
            <a:endParaRPr lang="ko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C9B92DB0-0E1E-B17B-CEDA-20C6DD8A33D8}"/>
              </a:ext>
            </a:extLst>
          </p:cNvPr>
          <p:cNvCxnSpPr/>
          <p:nvPr/>
        </p:nvCxnSpPr>
        <p:spPr>
          <a:xfrm>
            <a:off x="9040396" y="4011354"/>
            <a:ext cx="0" cy="26942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7AA885F-F269-86E2-6EFA-D185A322F48E}"/>
              </a:ext>
            </a:extLst>
          </p:cNvPr>
          <p:cNvSpPr txBox="1"/>
          <p:nvPr/>
        </p:nvSpPr>
        <p:spPr>
          <a:xfrm>
            <a:off x="7978303" y="3677003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Y</a:t>
            </a:r>
            <a:endParaRPr lang="ko-KR" altLang="en-US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EC4E259-721F-2922-F59D-C94AC6BDF5F6}"/>
              </a:ext>
            </a:extLst>
          </p:cNvPr>
          <p:cNvSpPr txBox="1"/>
          <p:nvPr/>
        </p:nvSpPr>
        <p:spPr>
          <a:xfrm>
            <a:off x="7699185" y="4282605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2AEE407-244C-3547-AD3E-9148CC54B508}"/>
              </a:ext>
            </a:extLst>
          </p:cNvPr>
          <p:cNvSpPr txBox="1"/>
          <p:nvPr/>
        </p:nvSpPr>
        <p:spPr>
          <a:xfrm>
            <a:off x="8624507" y="4746230"/>
            <a:ext cx="832279" cy="52322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특허권</a:t>
            </a:r>
            <a:endParaRPr lang="en-US" altLang="ko-KR" sz="1400" dirty="0"/>
          </a:p>
          <a:p>
            <a:pPr algn="ctr"/>
            <a:r>
              <a:rPr lang="ko-KR" altLang="en-US" sz="1400" dirty="0"/>
              <a:t>소급소멸</a:t>
            </a:r>
          </a:p>
        </p:txBody>
      </p:sp>
    </p:spTree>
    <p:extLst>
      <p:ext uri="{BB962C8B-B14F-4D97-AF65-F5344CB8AC3E}">
        <p14:creationId xmlns:p14="http://schemas.microsoft.com/office/powerpoint/2010/main" val="39880834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5">
            <a:extLst>
              <a:ext uri="{FF2B5EF4-FFF2-40B4-BE49-F238E27FC236}">
                <a16:creationId xmlns:a16="http://schemas.microsoft.com/office/drawing/2014/main" id="{70A91388-ED13-53FC-6BE3-669C9A1CD547}"/>
              </a:ext>
            </a:extLst>
          </p:cNvPr>
          <p:cNvSpPr>
            <a:spLocks noChangeShapeType="1"/>
          </p:cNvSpPr>
          <p:nvPr/>
        </p:nvSpPr>
        <p:spPr bwMode="auto">
          <a:xfrm>
            <a:off x="7532756" y="4735195"/>
            <a:ext cx="4260175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심결내용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193399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875" y="976902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심판관은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</a:rPr>
              <a:t>특허무효사유에 해당되지 아니하여 심판청구의 이유가 타당하지 않다고 인정된 때에는 </a:t>
            </a:r>
            <a:r>
              <a:rPr lang="ko-KR" altLang="en-US" sz="1400" dirty="0" err="1">
                <a:solidFill>
                  <a:schemeClr val="tx2"/>
                </a:solidFill>
              </a:rPr>
              <a:t>기각심결을</a:t>
            </a:r>
            <a:r>
              <a:rPr lang="ko-KR" altLang="en-US" sz="1400" dirty="0">
                <a:solidFill>
                  <a:schemeClr val="tx2"/>
                </a:solidFill>
              </a:rPr>
              <a:t> 하며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>
                <a:solidFill>
                  <a:schemeClr val="tx2"/>
                </a:solidFill>
              </a:rPr>
              <a:t>특허무효사유에 해당되어 심판청구의 이유가 타당하다고 인정된 때에는 </a:t>
            </a:r>
            <a:r>
              <a:rPr lang="ko-KR" altLang="en-US" sz="1400" dirty="0" err="1">
                <a:solidFill>
                  <a:schemeClr val="tx2"/>
                </a:solidFill>
              </a:rPr>
              <a:t>인용심결을</a:t>
            </a:r>
            <a:r>
              <a:rPr lang="ko-KR" altLang="en-US" sz="1400" dirty="0">
                <a:solidFill>
                  <a:schemeClr val="tx2"/>
                </a:solidFill>
              </a:rPr>
              <a:t> 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심판관은 특허무효심판을 청구한 여러 </a:t>
            </a:r>
            <a:r>
              <a:rPr lang="ko-KR" altLang="en-US" sz="1400" dirty="0" err="1">
                <a:solidFill>
                  <a:schemeClr val="tx2"/>
                </a:solidFill>
              </a:rPr>
              <a:t>청구항</a:t>
            </a:r>
            <a:r>
              <a:rPr lang="ko-KR" altLang="en-US" sz="1400" dirty="0">
                <a:solidFill>
                  <a:schemeClr val="tx2"/>
                </a:solidFill>
              </a:rPr>
              <a:t> 중 일부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청구항에</a:t>
            </a:r>
            <a:r>
              <a:rPr lang="ko-KR" altLang="en-US" sz="1400" dirty="0">
                <a:solidFill>
                  <a:schemeClr val="tx2"/>
                </a:solidFill>
              </a:rPr>
              <a:t> 대해서만 특허무효사유가 있는 경우 </a:t>
            </a:r>
            <a:r>
              <a:rPr lang="ko-KR" altLang="en-US" sz="1400" dirty="0" err="1">
                <a:highlight>
                  <a:srgbClr val="FFFF00"/>
                </a:highlight>
              </a:rPr>
              <a:t>일부인용ㆍ일부기각</a:t>
            </a:r>
            <a:r>
              <a:rPr lang="ko-KR" altLang="en-US" sz="1400" dirty="0" err="1">
                <a:solidFill>
                  <a:schemeClr val="tx2"/>
                </a:solidFill>
              </a:rPr>
              <a:t>심결을</a:t>
            </a:r>
            <a:r>
              <a:rPr lang="ko-KR" altLang="en-US" sz="1400" dirty="0">
                <a:solidFill>
                  <a:schemeClr val="tx2"/>
                </a:solidFill>
              </a:rPr>
              <a:t> 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하나의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청구항에</a:t>
            </a:r>
            <a:r>
              <a:rPr lang="ko-KR" altLang="en-US" sz="1400" dirty="0">
                <a:solidFill>
                  <a:schemeClr val="tx2"/>
                </a:solidFill>
              </a:rPr>
              <a:t> 여러 개의 발명이 포함되어 있고 그 중 일부가 무효라면 </a:t>
            </a:r>
            <a:r>
              <a:rPr lang="ko-KR" altLang="en-US" sz="1400" dirty="0">
                <a:highlight>
                  <a:srgbClr val="FFFF00"/>
                </a:highlight>
              </a:rPr>
              <a:t>그 </a:t>
            </a:r>
            <a:r>
              <a:rPr lang="ko-KR" altLang="en-US" sz="1400" dirty="0" err="1">
                <a:highlight>
                  <a:srgbClr val="FFFF00"/>
                </a:highlight>
              </a:rPr>
              <a:t>청구항</a:t>
            </a:r>
            <a:r>
              <a:rPr lang="ko-KR" altLang="en-US" sz="1400" dirty="0">
                <a:highlight>
                  <a:srgbClr val="FFFF00"/>
                </a:highlight>
              </a:rPr>
              <a:t> 전체를 무효</a:t>
            </a:r>
            <a:r>
              <a:rPr lang="ko-KR" altLang="en-US" sz="1400" dirty="0">
                <a:solidFill>
                  <a:schemeClr val="tx2"/>
                </a:solidFill>
              </a:rPr>
              <a:t>로 하여야 하는 것이지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청구항에</a:t>
            </a:r>
            <a:r>
              <a:rPr lang="ko-KR" altLang="en-US" sz="1400" dirty="0">
                <a:solidFill>
                  <a:schemeClr val="tx2"/>
                </a:solidFill>
              </a:rPr>
              <a:t> 포함된 일부 발명만을 무효로 할 수는 없다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54" name="Line 5"/>
          <p:cNvSpPr>
            <a:spLocks noChangeShapeType="1"/>
          </p:cNvSpPr>
          <p:nvPr/>
        </p:nvSpPr>
        <p:spPr bwMode="auto">
          <a:xfrm>
            <a:off x="328662" y="2796894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85189" y="2641516"/>
            <a:ext cx="1326678" cy="326558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공지기술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2551055" y="2641516"/>
            <a:ext cx="1326678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+mn-ea"/>
              </a:rPr>
              <a:t>특허출원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4879401" y="2641516"/>
            <a:ext cx="1326678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+mn-ea"/>
              </a:rPr>
              <a:t>설정등록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792868" y="2641516"/>
            <a:ext cx="1326678" cy="32655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무효심판청구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880282" y="2641516"/>
            <a:ext cx="1326678" cy="32655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심결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5189" y="3242711"/>
            <a:ext cx="1326678" cy="33855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/>
              <a:t>abc</a:t>
            </a:r>
            <a:endParaRPr lang="ko-KR" altLang="en-US" sz="1600" dirty="0"/>
          </a:p>
        </p:txBody>
      </p:sp>
      <p:sp>
        <p:nvSpPr>
          <p:cNvPr id="98" name="TextBox 97"/>
          <p:cNvSpPr txBox="1"/>
          <p:nvPr/>
        </p:nvSpPr>
        <p:spPr>
          <a:xfrm>
            <a:off x="2551055" y="3242711"/>
            <a:ext cx="2866490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600" dirty="0" err="1"/>
              <a:t>ab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en-US" altLang="ko-KR" sz="1600" dirty="0"/>
              <a:t>1</a:t>
            </a:r>
            <a:r>
              <a:rPr lang="ko-KR" altLang="en-US" sz="1600" dirty="0"/>
              <a:t>항에 있어서</a:t>
            </a:r>
            <a:r>
              <a:rPr lang="en-US" altLang="ko-KR" sz="1600" dirty="0"/>
              <a:t>, c </a:t>
            </a:r>
            <a:r>
              <a:rPr lang="ko-KR" altLang="en-US" sz="1600" dirty="0"/>
              <a:t>또는 </a:t>
            </a:r>
            <a:r>
              <a:rPr lang="en-US" altLang="ko-KR" sz="1600" dirty="0"/>
              <a:t>d </a:t>
            </a:r>
            <a:r>
              <a:rPr lang="ko-KR" altLang="en-US" sz="1600" dirty="0"/>
              <a:t>추가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en-US" altLang="ko-KR" sz="1600" dirty="0" err="1"/>
              <a:t>abe</a:t>
            </a:r>
            <a:endParaRPr lang="en-US" altLang="ko-KR" sz="1600" dirty="0"/>
          </a:p>
        </p:txBody>
      </p:sp>
      <p:cxnSp>
        <p:nvCxnSpPr>
          <p:cNvPr id="17" name="직선 화살표 연결선 16"/>
          <p:cNvCxnSpPr>
            <a:stCxn id="15" idx="0"/>
            <a:endCxn id="55" idx="2"/>
          </p:cNvCxnSpPr>
          <p:nvPr/>
        </p:nvCxnSpPr>
        <p:spPr>
          <a:xfrm flipV="1">
            <a:off x="1148528" y="2968074"/>
            <a:ext cx="0" cy="27463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/>
          <p:nvPr/>
        </p:nvCxnSpPr>
        <p:spPr>
          <a:xfrm flipV="1">
            <a:off x="3214394" y="2968074"/>
            <a:ext cx="0" cy="27463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9100424" y="3242711"/>
            <a:ext cx="899605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/>
              <a:t>무효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/>
              <a:t>무효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/>
              <a:t>기각</a:t>
            </a:r>
            <a:endParaRPr lang="en-US" altLang="ko-KR" sz="1600" dirty="0"/>
          </a:p>
        </p:txBody>
      </p:sp>
      <p:cxnSp>
        <p:nvCxnSpPr>
          <p:cNvPr id="103" name="직선 화살표 연결선 102"/>
          <p:cNvCxnSpPr/>
          <p:nvPr/>
        </p:nvCxnSpPr>
        <p:spPr>
          <a:xfrm flipV="1">
            <a:off x="9543621" y="2968074"/>
            <a:ext cx="0" cy="27463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206079" y="4571916"/>
            <a:ext cx="1326678" cy="326558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정정청구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6392353" y="5164644"/>
            <a:ext cx="952505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600" dirty="0" err="1"/>
              <a:t>ab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en-US" altLang="ko-KR" sz="1600" dirty="0" err="1"/>
              <a:t>abd</a:t>
            </a:r>
            <a:r>
              <a:rPr lang="en-US" altLang="ko-KR" sz="1600" dirty="0"/>
              <a:t> </a:t>
            </a:r>
          </a:p>
          <a:p>
            <a:pPr marL="342900" indent="-342900">
              <a:buAutoNum type="arabicPeriod"/>
            </a:pPr>
            <a:r>
              <a:rPr lang="en-US" altLang="ko-KR" sz="1600" dirty="0" err="1"/>
              <a:t>abe</a:t>
            </a:r>
            <a:endParaRPr lang="en-US" altLang="ko-KR" sz="1600" dirty="0"/>
          </a:p>
        </p:txBody>
      </p:sp>
      <p:cxnSp>
        <p:nvCxnSpPr>
          <p:cNvPr id="108" name="직선 화살표 연결선 107"/>
          <p:cNvCxnSpPr/>
          <p:nvPr/>
        </p:nvCxnSpPr>
        <p:spPr>
          <a:xfrm flipV="1">
            <a:off x="6869418" y="4890007"/>
            <a:ext cx="0" cy="27463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106" idx="0"/>
          </p:cNvCxnSpPr>
          <p:nvPr/>
        </p:nvCxnSpPr>
        <p:spPr>
          <a:xfrm rot="5400000" flipH="1" flipV="1">
            <a:off x="6801698" y="2864614"/>
            <a:ext cx="1775022" cy="1639582"/>
          </a:xfrm>
          <a:prstGeom prst="bentConnector3">
            <a:avLst/>
          </a:prstGeom>
          <a:ln w="38100">
            <a:solidFill>
              <a:schemeClr val="accent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880282" y="4571916"/>
            <a:ext cx="1326678" cy="32655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심결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0" name="TextBox 109"/>
          <p:cNvSpPr txBox="1"/>
          <p:nvPr/>
        </p:nvSpPr>
        <p:spPr>
          <a:xfrm>
            <a:off x="9100424" y="5173111"/>
            <a:ext cx="899605" cy="83099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600" dirty="0"/>
              <a:t>무효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/>
              <a:t>기각</a:t>
            </a:r>
            <a:endParaRPr lang="en-US" altLang="ko-KR" sz="1600" dirty="0"/>
          </a:p>
          <a:p>
            <a:pPr marL="342900" indent="-342900">
              <a:buAutoNum type="arabicPeriod"/>
            </a:pPr>
            <a:r>
              <a:rPr lang="ko-KR" altLang="en-US" sz="1600" dirty="0"/>
              <a:t>기각</a:t>
            </a:r>
            <a:endParaRPr lang="en-US" altLang="ko-KR" sz="1600" dirty="0"/>
          </a:p>
        </p:txBody>
      </p:sp>
      <p:cxnSp>
        <p:nvCxnSpPr>
          <p:cNvPr id="111" name="직선 화살표 연결선 110"/>
          <p:cNvCxnSpPr/>
          <p:nvPr/>
        </p:nvCxnSpPr>
        <p:spPr>
          <a:xfrm flipV="1">
            <a:off x="9543621" y="4898474"/>
            <a:ext cx="0" cy="27463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/>
          <p:cNvCxnSpPr/>
          <p:nvPr/>
        </p:nvCxnSpPr>
        <p:spPr>
          <a:xfrm flipH="1">
            <a:off x="5689600" y="4318961"/>
            <a:ext cx="614584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8AE4795-3F34-4FC5-B899-C7CDB2097D63}"/>
              </a:ext>
            </a:extLst>
          </p:cNvPr>
          <p:cNvSpPr txBox="1"/>
          <p:nvPr/>
        </p:nvSpPr>
        <p:spPr>
          <a:xfrm>
            <a:off x="328662" y="5938486"/>
            <a:ext cx="3316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* </a:t>
            </a:r>
            <a:r>
              <a:rPr lang="en-US" altLang="ko-KR" dirty="0" err="1"/>
              <a:t>abd</a:t>
            </a:r>
            <a:r>
              <a:rPr lang="en-US" altLang="ko-KR" dirty="0"/>
              <a:t>, </a:t>
            </a:r>
            <a:r>
              <a:rPr lang="en-US" altLang="ko-KR" dirty="0" err="1"/>
              <a:t>abe</a:t>
            </a:r>
            <a:r>
              <a:rPr lang="ko-KR" altLang="en-US" dirty="0"/>
              <a:t>는 무효사유가 </a:t>
            </a:r>
            <a:r>
              <a:rPr lang="ko-KR" altLang="en-US" dirty="0" err="1"/>
              <a:t>부존재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9134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인용심결확정의</a:t>
            </a:r>
            <a:r>
              <a:rPr lang="ko-KR" altLang="en-US" dirty="0"/>
              <a:t> 효과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171556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875" y="976902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특허를 무효로 한다는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경우에는 그 특허권은 처음부터 없었던 것으로 본다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133</a:t>
            </a:r>
            <a:r>
              <a:rPr lang="ko-KR" altLang="en-US" sz="1400" dirty="0">
                <a:solidFill>
                  <a:schemeClr val="tx2"/>
                </a:solidFill>
              </a:rPr>
              <a:t>①본문</a:t>
            </a:r>
            <a:r>
              <a:rPr lang="en-US" altLang="ko-KR" sz="1400" dirty="0">
                <a:solidFill>
                  <a:schemeClr val="tx2"/>
                </a:solidFill>
              </a:rPr>
              <a:t>). </a:t>
            </a:r>
            <a:r>
              <a:rPr lang="ko-KR" altLang="en-US" sz="1400" dirty="0">
                <a:solidFill>
                  <a:schemeClr val="tx2"/>
                </a:solidFill>
              </a:rPr>
              <a:t>그러나 후발적 무효사유 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특허된 후에 특허권자가 제</a:t>
            </a:r>
            <a:r>
              <a:rPr lang="en-US" altLang="ko-KR" sz="1400" dirty="0">
                <a:solidFill>
                  <a:schemeClr val="tx2"/>
                </a:solidFill>
              </a:rPr>
              <a:t>25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외국인의 권리능력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따라 특허권을 누릴 수 없는 자가 되거나 그 특허가 조약을 위반하여 </a:t>
            </a:r>
            <a:r>
              <a:rPr lang="ko-KR" altLang="en-US" sz="1400" dirty="0" err="1">
                <a:solidFill>
                  <a:schemeClr val="tx2"/>
                </a:solidFill>
              </a:rPr>
              <a:t>무효심결이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경우에는 소급효가 인정되지 않고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특허권은 그 특허가 무효사유에 해당하게 된 때부터 없었던 것으로 본다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133</a:t>
            </a:r>
            <a:r>
              <a:rPr lang="ko-KR" altLang="en-US" sz="1400" dirty="0">
                <a:solidFill>
                  <a:schemeClr val="tx2"/>
                </a:solidFill>
              </a:rPr>
              <a:t>③단서</a:t>
            </a:r>
            <a:r>
              <a:rPr lang="en-US" altLang="ko-KR" sz="1400" dirty="0">
                <a:solidFill>
                  <a:schemeClr val="tx2"/>
                </a:solidFill>
              </a:rPr>
              <a:t>).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3753687" y="1981206"/>
            <a:ext cx="7379980" cy="22310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180000" rtlCol="0" anchor="ctr"/>
          <a:lstStyle/>
          <a:p>
            <a:endParaRPr lang="ko-KR" altLang="en-US" sz="14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 bwMode="auto">
          <a:xfrm>
            <a:off x="2325985" y="1972739"/>
            <a:ext cx="1283401" cy="22310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wrap="none" tIns="180000" rtlCol="0" anchor="ctr"/>
          <a:lstStyle/>
          <a:p>
            <a:pPr algn="ctr"/>
            <a:r>
              <a:rPr lang="ko-KR" altLang="en-US" sz="2000" dirty="0">
                <a:latin typeface="+mn-ea"/>
              </a:rPr>
              <a:t>사유발생한</a:t>
            </a:r>
            <a:endParaRPr lang="en-US" altLang="ko-KR" sz="2000" dirty="0">
              <a:latin typeface="+mn-ea"/>
            </a:endParaRPr>
          </a:p>
          <a:p>
            <a:pPr algn="ctr"/>
            <a:r>
              <a:rPr lang="ko-KR" altLang="en-US" sz="2000" dirty="0">
                <a:latin typeface="+mn-ea"/>
              </a:rPr>
              <a:t>때부터 </a:t>
            </a:r>
            <a:endParaRPr lang="en-US" altLang="ko-KR" sz="2000" dirty="0">
              <a:latin typeface="+mn-ea"/>
            </a:endParaRPr>
          </a:p>
          <a:p>
            <a:pPr algn="ctr"/>
            <a:r>
              <a:rPr lang="ko-KR" altLang="en-US" sz="2000" dirty="0">
                <a:latin typeface="+mn-ea"/>
              </a:rPr>
              <a:t>장래 향해</a:t>
            </a:r>
            <a:endParaRPr lang="en-US" altLang="ko-KR" sz="2000" dirty="0">
              <a:latin typeface="+mn-ea"/>
            </a:endParaRPr>
          </a:p>
          <a:p>
            <a:pPr algn="ctr"/>
            <a:r>
              <a:rPr lang="ko-KR" altLang="en-US" sz="2000" dirty="0">
                <a:latin typeface="+mn-ea"/>
              </a:rPr>
              <a:t>소멸</a:t>
            </a:r>
          </a:p>
        </p:txBody>
      </p:sp>
      <p:sp>
        <p:nvSpPr>
          <p:cNvPr id="31" name="직사각형 30"/>
          <p:cNvSpPr/>
          <p:nvPr/>
        </p:nvSpPr>
        <p:spPr bwMode="auto">
          <a:xfrm>
            <a:off x="2325983" y="4264323"/>
            <a:ext cx="1283403" cy="23042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180000" rtlCol="0" anchor="ctr"/>
          <a:lstStyle/>
          <a:p>
            <a:pPr algn="ctr"/>
            <a:r>
              <a:rPr lang="ko-KR" altLang="en-US" sz="2000" dirty="0">
                <a:latin typeface="+mn-ea"/>
              </a:rPr>
              <a:t>소급 소멸</a:t>
            </a:r>
          </a:p>
        </p:txBody>
      </p:sp>
      <p:sp>
        <p:nvSpPr>
          <p:cNvPr id="34" name="직사각형 4"/>
          <p:cNvSpPr/>
          <p:nvPr/>
        </p:nvSpPr>
        <p:spPr>
          <a:xfrm>
            <a:off x="6815369" y="2251725"/>
            <a:ext cx="3657898" cy="743912"/>
          </a:xfrm>
          <a:custGeom>
            <a:avLst/>
            <a:gdLst>
              <a:gd name="connsiteX0" fmla="*/ 0 w 1988542"/>
              <a:gd name="connsiteY0" fmla="*/ 0 h 492719"/>
              <a:gd name="connsiteX1" fmla="*/ 1988542 w 1988542"/>
              <a:gd name="connsiteY1" fmla="*/ 0 h 492719"/>
              <a:gd name="connsiteX2" fmla="*/ 1988542 w 1988542"/>
              <a:gd name="connsiteY2" fmla="*/ 492719 h 492719"/>
              <a:gd name="connsiteX3" fmla="*/ 0 w 1988542"/>
              <a:gd name="connsiteY3" fmla="*/ 492719 h 492719"/>
              <a:gd name="connsiteX4" fmla="*/ 0 w 1988542"/>
              <a:gd name="connsiteY4" fmla="*/ 0 h 492719"/>
              <a:gd name="connsiteX0" fmla="*/ 200025 w 1988542"/>
              <a:gd name="connsiteY0" fmla="*/ 0 h 492719"/>
              <a:gd name="connsiteX1" fmla="*/ 1988542 w 1988542"/>
              <a:gd name="connsiteY1" fmla="*/ 0 h 492719"/>
              <a:gd name="connsiteX2" fmla="*/ 1988542 w 1988542"/>
              <a:gd name="connsiteY2" fmla="*/ 492719 h 492719"/>
              <a:gd name="connsiteX3" fmla="*/ 0 w 1988542"/>
              <a:gd name="connsiteY3" fmla="*/ 492719 h 492719"/>
              <a:gd name="connsiteX4" fmla="*/ 200025 w 1988542"/>
              <a:gd name="connsiteY4" fmla="*/ 0 h 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8542" h="492719">
                <a:moveTo>
                  <a:pt x="200025" y="0"/>
                </a:moveTo>
                <a:lnTo>
                  <a:pt x="1988542" y="0"/>
                </a:lnTo>
                <a:lnTo>
                  <a:pt x="1988542" y="492719"/>
                </a:lnTo>
                <a:lnTo>
                  <a:pt x="0" y="492719"/>
                </a:lnTo>
                <a:lnTo>
                  <a:pt x="200025" y="0"/>
                </a:lnTo>
                <a:close/>
              </a:path>
            </a:pathLst>
          </a:custGeom>
          <a:pattFill prst="openDmnd">
            <a:fgClr>
              <a:schemeClr val="accent2"/>
            </a:fgClr>
            <a:bgClr>
              <a:schemeClr val="bg1"/>
            </a:bgClr>
          </a:patt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비유효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직사각형 21"/>
          <p:cNvSpPr/>
          <p:nvPr/>
        </p:nvSpPr>
        <p:spPr>
          <a:xfrm>
            <a:off x="5848575" y="2502917"/>
            <a:ext cx="2550677" cy="492719"/>
          </a:xfrm>
          <a:custGeom>
            <a:avLst/>
            <a:gdLst>
              <a:gd name="connsiteX0" fmla="*/ 0 w 2182196"/>
              <a:gd name="connsiteY0" fmla="*/ 0 h 492719"/>
              <a:gd name="connsiteX1" fmla="*/ 2182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0 w 2182196"/>
              <a:gd name="connsiteY4" fmla="*/ 0 h 492719"/>
              <a:gd name="connsiteX0" fmla="*/ 279400 w 2182196"/>
              <a:gd name="connsiteY0" fmla="*/ 0 h 492719"/>
              <a:gd name="connsiteX1" fmla="*/ 2182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279400 w 2182196"/>
              <a:gd name="connsiteY4" fmla="*/ 0 h 492719"/>
              <a:gd name="connsiteX0" fmla="*/ 279400 w 2182196"/>
              <a:gd name="connsiteY0" fmla="*/ 0 h 492719"/>
              <a:gd name="connsiteX1" fmla="*/ 1928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279400 w 2182196"/>
              <a:gd name="connsiteY4" fmla="*/ 0 h 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2196" h="492719">
                <a:moveTo>
                  <a:pt x="279400" y="0"/>
                </a:moveTo>
                <a:lnTo>
                  <a:pt x="1928196" y="0"/>
                </a:lnTo>
                <a:lnTo>
                  <a:pt x="2182196" y="492719"/>
                </a:lnTo>
                <a:lnTo>
                  <a:pt x="0" y="492719"/>
                </a:lnTo>
                <a:lnTo>
                  <a:pt x="279400" y="0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권리의 존속 中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유효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 bwMode="auto">
          <a:xfrm>
            <a:off x="3757298" y="4264323"/>
            <a:ext cx="7376369" cy="23042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tIns="180000" rtlCol="0" anchor="ctr"/>
          <a:lstStyle/>
          <a:p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966552" y="6026426"/>
            <a:ext cx="926521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특허무효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심판청구</a:t>
            </a:r>
            <a:endParaRPr lang="en-US" altLang="ko-KR" sz="1200" dirty="0"/>
          </a:p>
        </p:txBody>
      </p:sp>
      <p:sp>
        <p:nvSpPr>
          <p:cNvPr id="38" name="직사각형 37"/>
          <p:cNvSpPr/>
          <p:nvPr/>
        </p:nvSpPr>
        <p:spPr>
          <a:xfrm>
            <a:off x="7935992" y="6026426"/>
            <a:ext cx="926521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인용심결</a:t>
            </a:r>
            <a:endParaRPr lang="en-US" altLang="ko-KR" sz="1200" dirty="0"/>
          </a:p>
          <a:p>
            <a:pPr algn="ctr"/>
            <a:r>
              <a:rPr lang="ko-KR" altLang="en-US" sz="1200" dirty="0"/>
              <a:t>확정</a:t>
            </a:r>
            <a:endParaRPr lang="en-US" altLang="ko-KR" sz="1200" dirty="0"/>
          </a:p>
        </p:txBody>
      </p:sp>
      <p:sp>
        <p:nvSpPr>
          <p:cNvPr id="39" name="타원 38"/>
          <p:cNvSpPr/>
          <p:nvPr/>
        </p:nvSpPr>
        <p:spPr>
          <a:xfrm>
            <a:off x="8727484" y="2048516"/>
            <a:ext cx="395271" cy="393948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40" name="타원 39"/>
          <p:cNvSpPr/>
          <p:nvPr/>
        </p:nvSpPr>
        <p:spPr>
          <a:xfrm>
            <a:off x="6226521" y="2297476"/>
            <a:ext cx="395271" cy="393948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1" name="Line 5"/>
          <p:cNvSpPr>
            <a:spLocks noChangeShapeType="1"/>
          </p:cNvSpPr>
          <p:nvPr/>
        </p:nvSpPr>
        <p:spPr bwMode="auto">
          <a:xfrm>
            <a:off x="4003421" y="2995636"/>
            <a:ext cx="6673046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4615187" y="290763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276416" y="3317081"/>
            <a:ext cx="832279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특허출원</a:t>
            </a:r>
          </a:p>
        </p:txBody>
      </p:sp>
      <p:cxnSp>
        <p:nvCxnSpPr>
          <p:cNvPr id="44" name="직선 연결선 43"/>
          <p:cNvCxnSpPr>
            <a:stCxn id="43" idx="0"/>
            <a:endCxn id="42" idx="4"/>
          </p:cNvCxnSpPr>
          <p:nvPr/>
        </p:nvCxnSpPr>
        <p:spPr>
          <a:xfrm flipV="1">
            <a:off x="4692556" y="3068977"/>
            <a:ext cx="0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타원 44"/>
          <p:cNvSpPr/>
          <p:nvPr/>
        </p:nvSpPr>
        <p:spPr>
          <a:xfrm>
            <a:off x="5771206" y="290763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432435" y="3317081"/>
            <a:ext cx="832279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설정등록</a:t>
            </a:r>
          </a:p>
        </p:txBody>
      </p:sp>
      <p:cxnSp>
        <p:nvCxnSpPr>
          <p:cNvPr id="47" name="직선 연결선 46"/>
          <p:cNvCxnSpPr>
            <a:stCxn id="46" idx="0"/>
            <a:endCxn id="45" idx="4"/>
          </p:cNvCxnSpPr>
          <p:nvPr/>
        </p:nvCxnSpPr>
        <p:spPr>
          <a:xfrm flipV="1">
            <a:off x="5848575" y="3068977"/>
            <a:ext cx="0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타원 49"/>
          <p:cNvSpPr/>
          <p:nvPr/>
        </p:nvSpPr>
        <p:spPr>
          <a:xfrm>
            <a:off x="8322969" y="290763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146100" y="3317081"/>
            <a:ext cx="508474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소멸</a:t>
            </a:r>
          </a:p>
        </p:txBody>
      </p:sp>
      <p:cxnSp>
        <p:nvCxnSpPr>
          <p:cNvPr id="52" name="직선 연결선 51"/>
          <p:cNvCxnSpPr>
            <a:stCxn id="51" idx="0"/>
            <a:endCxn id="50" idx="4"/>
          </p:cNvCxnSpPr>
          <p:nvPr/>
        </p:nvCxnSpPr>
        <p:spPr>
          <a:xfrm flipV="1">
            <a:off x="8400337" y="3068977"/>
            <a:ext cx="1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4"/>
          <p:cNvSpPr/>
          <p:nvPr/>
        </p:nvSpPr>
        <p:spPr>
          <a:xfrm>
            <a:off x="5848575" y="4548380"/>
            <a:ext cx="4624692" cy="743913"/>
          </a:xfrm>
          <a:custGeom>
            <a:avLst/>
            <a:gdLst>
              <a:gd name="connsiteX0" fmla="*/ 0 w 1988542"/>
              <a:gd name="connsiteY0" fmla="*/ 0 h 492719"/>
              <a:gd name="connsiteX1" fmla="*/ 1988542 w 1988542"/>
              <a:gd name="connsiteY1" fmla="*/ 0 h 492719"/>
              <a:gd name="connsiteX2" fmla="*/ 1988542 w 1988542"/>
              <a:gd name="connsiteY2" fmla="*/ 492719 h 492719"/>
              <a:gd name="connsiteX3" fmla="*/ 0 w 1988542"/>
              <a:gd name="connsiteY3" fmla="*/ 492719 h 492719"/>
              <a:gd name="connsiteX4" fmla="*/ 0 w 1988542"/>
              <a:gd name="connsiteY4" fmla="*/ 0 h 492719"/>
              <a:gd name="connsiteX0" fmla="*/ 200025 w 1988542"/>
              <a:gd name="connsiteY0" fmla="*/ 0 h 492719"/>
              <a:gd name="connsiteX1" fmla="*/ 1988542 w 1988542"/>
              <a:gd name="connsiteY1" fmla="*/ 0 h 492719"/>
              <a:gd name="connsiteX2" fmla="*/ 1988542 w 1988542"/>
              <a:gd name="connsiteY2" fmla="*/ 492719 h 492719"/>
              <a:gd name="connsiteX3" fmla="*/ 0 w 1988542"/>
              <a:gd name="connsiteY3" fmla="*/ 492719 h 492719"/>
              <a:gd name="connsiteX4" fmla="*/ 200025 w 1988542"/>
              <a:gd name="connsiteY4" fmla="*/ 0 h 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8542" h="492719">
                <a:moveTo>
                  <a:pt x="200025" y="0"/>
                </a:moveTo>
                <a:lnTo>
                  <a:pt x="1988542" y="0"/>
                </a:lnTo>
                <a:lnTo>
                  <a:pt x="1988542" y="492719"/>
                </a:lnTo>
                <a:lnTo>
                  <a:pt x="0" y="492719"/>
                </a:lnTo>
                <a:lnTo>
                  <a:pt x="200025" y="0"/>
                </a:lnTo>
                <a:close/>
              </a:path>
            </a:pathLst>
          </a:custGeom>
          <a:pattFill prst="openDmnd">
            <a:fgClr>
              <a:schemeClr val="accent2"/>
            </a:fgClr>
            <a:bgClr>
              <a:schemeClr val="bg1"/>
            </a:bgClr>
          </a:patt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                                       </a:t>
            </a:r>
            <a:r>
              <a:rPr lang="ko-KR" altLang="en-US" sz="1200" dirty="0" err="1">
                <a:solidFill>
                  <a:schemeClr val="tx1"/>
                </a:solidFill>
              </a:rPr>
              <a:t>비유효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6" name="직사각형 21"/>
          <p:cNvSpPr/>
          <p:nvPr/>
        </p:nvSpPr>
        <p:spPr>
          <a:xfrm>
            <a:off x="5848575" y="4799574"/>
            <a:ext cx="2550677" cy="492719"/>
          </a:xfrm>
          <a:custGeom>
            <a:avLst/>
            <a:gdLst>
              <a:gd name="connsiteX0" fmla="*/ 0 w 2182196"/>
              <a:gd name="connsiteY0" fmla="*/ 0 h 492719"/>
              <a:gd name="connsiteX1" fmla="*/ 2182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0 w 2182196"/>
              <a:gd name="connsiteY4" fmla="*/ 0 h 492719"/>
              <a:gd name="connsiteX0" fmla="*/ 279400 w 2182196"/>
              <a:gd name="connsiteY0" fmla="*/ 0 h 492719"/>
              <a:gd name="connsiteX1" fmla="*/ 2182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279400 w 2182196"/>
              <a:gd name="connsiteY4" fmla="*/ 0 h 492719"/>
              <a:gd name="connsiteX0" fmla="*/ 279400 w 2182196"/>
              <a:gd name="connsiteY0" fmla="*/ 0 h 492719"/>
              <a:gd name="connsiteX1" fmla="*/ 1928196 w 2182196"/>
              <a:gd name="connsiteY1" fmla="*/ 0 h 492719"/>
              <a:gd name="connsiteX2" fmla="*/ 2182196 w 2182196"/>
              <a:gd name="connsiteY2" fmla="*/ 492719 h 492719"/>
              <a:gd name="connsiteX3" fmla="*/ 0 w 2182196"/>
              <a:gd name="connsiteY3" fmla="*/ 492719 h 492719"/>
              <a:gd name="connsiteX4" fmla="*/ 279400 w 2182196"/>
              <a:gd name="connsiteY4" fmla="*/ 0 h 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2196" h="492719">
                <a:moveTo>
                  <a:pt x="279400" y="0"/>
                </a:moveTo>
                <a:lnTo>
                  <a:pt x="1928196" y="0"/>
                </a:lnTo>
                <a:lnTo>
                  <a:pt x="2182196" y="492719"/>
                </a:lnTo>
                <a:lnTo>
                  <a:pt x="0" y="492719"/>
                </a:lnTo>
                <a:lnTo>
                  <a:pt x="279400" y="0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권리의 존속 中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유효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7" name="타원 56"/>
          <p:cNvSpPr/>
          <p:nvPr/>
        </p:nvSpPr>
        <p:spPr>
          <a:xfrm>
            <a:off x="8493302" y="4354796"/>
            <a:ext cx="395271" cy="393948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58" name="타원 57"/>
          <p:cNvSpPr/>
          <p:nvPr/>
        </p:nvSpPr>
        <p:spPr>
          <a:xfrm>
            <a:off x="6260390" y="4583307"/>
            <a:ext cx="395271" cy="393948"/>
          </a:xfrm>
          <a:prstGeom prst="ellips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9" name="Line 5"/>
          <p:cNvSpPr>
            <a:spLocks noChangeShapeType="1"/>
          </p:cNvSpPr>
          <p:nvPr/>
        </p:nvSpPr>
        <p:spPr bwMode="auto">
          <a:xfrm>
            <a:off x="4003421" y="5292293"/>
            <a:ext cx="6673046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60" name="타원 59"/>
          <p:cNvSpPr/>
          <p:nvPr/>
        </p:nvSpPr>
        <p:spPr>
          <a:xfrm>
            <a:off x="4615187" y="520429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4276416" y="5529068"/>
            <a:ext cx="832279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특허출원</a:t>
            </a:r>
          </a:p>
        </p:txBody>
      </p:sp>
      <p:cxnSp>
        <p:nvCxnSpPr>
          <p:cNvPr id="62" name="직선 연결선 61"/>
          <p:cNvCxnSpPr>
            <a:stCxn id="61" idx="0"/>
            <a:endCxn id="60" idx="4"/>
          </p:cNvCxnSpPr>
          <p:nvPr/>
        </p:nvCxnSpPr>
        <p:spPr>
          <a:xfrm flipV="1">
            <a:off x="4692556" y="5365634"/>
            <a:ext cx="0" cy="1634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타원 62"/>
          <p:cNvSpPr/>
          <p:nvPr/>
        </p:nvSpPr>
        <p:spPr>
          <a:xfrm>
            <a:off x="5771206" y="520429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432435" y="5529068"/>
            <a:ext cx="832279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설정등록</a:t>
            </a:r>
          </a:p>
        </p:txBody>
      </p:sp>
      <p:cxnSp>
        <p:nvCxnSpPr>
          <p:cNvPr id="65" name="직선 연결선 64"/>
          <p:cNvCxnSpPr>
            <a:stCxn id="64" idx="0"/>
            <a:endCxn id="63" idx="4"/>
          </p:cNvCxnSpPr>
          <p:nvPr/>
        </p:nvCxnSpPr>
        <p:spPr>
          <a:xfrm flipV="1">
            <a:off x="5848575" y="5365634"/>
            <a:ext cx="0" cy="1634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타원 65"/>
          <p:cNvSpPr/>
          <p:nvPr/>
        </p:nvSpPr>
        <p:spPr>
          <a:xfrm>
            <a:off x="8322969" y="520429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146100" y="5613738"/>
            <a:ext cx="508474" cy="3077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소멸</a:t>
            </a:r>
          </a:p>
        </p:txBody>
      </p:sp>
      <p:cxnSp>
        <p:nvCxnSpPr>
          <p:cNvPr id="68" name="직선 연결선 67"/>
          <p:cNvCxnSpPr>
            <a:stCxn id="67" idx="0"/>
            <a:endCxn id="66" idx="4"/>
          </p:cNvCxnSpPr>
          <p:nvPr/>
        </p:nvCxnSpPr>
        <p:spPr>
          <a:xfrm flipV="1">
            <a:off x="8400337" y="5365634"/>
            <a:ext cx="1" cy="2481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>
            <a:stCxn id="37" idx="0"/>
            <a:endCxn id="70" idx="4"/>
          </p:cNvCxnSpPr>
          <p:nvPr/>
        </p:nvCxnSpPr>
        <p:spPr>
          <a:xfrm flipV="1">
            <a:off x="7429813" y="5365634"/>
            <a:ext cx="4815" cy="6607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타원 69"/>
          <p:cNvSpPr/>
          <p:nvPr/>
        </p:nvSpPr>
        <p:spPr>
          <a:xfrm>
            <a:off x="7357259" y="520429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1" name="직선 연결선 70"/>
          <p:cNvCxnSpPr>
            <a:stCxn id="38" idx="0"/>
            <a:endCxn id="67" idx="2"/>
          </p:cNvCxnSpPr>
          <p:nvPr/>
        </p:nvCxnSpPr>
        <p:spPr>
          <a:xfrm flipV="1">
            <a:off x="8399253" y="5921515"/>
            <a:ext cx="1084" cy="1049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732670" y="3784248"/>
            <a:ext cx="1018227" cy="999213"/>
          </a:xfrm>
          <a:prstGeom prst="rect">
            <a:avLst/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2800" dirty="0">
                <a:solidFill>
                  <a:schemeClr val="accent4"/>
                </a:solidFill>
              </a:rPr>
              <a:t>확정</a:t>
            </a:r>
            <a:endParaRPr lang="en-US" altLang="ko-KR" sz="2800" dirty="0">
              <a:solidFill>
                <a:schemeClr val="accent4"/>
              </a:solidFill>
            </a:endParaRPr>
          </a:p>
          <a:p>
            <a:pPr algn="ctr"/>
            <a:r>
              <a:rPr lang="ko-KR" altLang="en-US" sz="2800" dirty="0">
                <a:solidFill>
                  <a:schemeClr val="accent4"/>
                </a:solidFill>
              </a:rPr>
              <a:t>효과</a:t>
            </a:r>
          </a:p>
        </p:txBody>
      </p:sp>
      <p:cxnSp>
        <p:nvCxnSpPr>
          <p:cNvPr id="73" name="꺾인 연결선 72"/>
          <p:cNvCxnSpPr>
            <a:cxnSpLocks/>
            <a:stCxn id="72" idx="3"/>
            <a:endCxn id="28" idx="1"/>
          </p:cNvCxnSpPr>
          <p:nvPr/>
        </p:nvCxnSpPr>
        <p:spPr>
          <a:xfrm flipV="1">
            <a:off x="1750897" y="3088245"/>
            <a:ext cx="575088" cy="119561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73"/>
          <p:cNvCxnSpPr>
            <a:cxnSpLocks/>
            <a:stCxn id="72" idx="3"/>
            <a:endCxn id="31" idx="1"/>
          </p:cNvCxnSpPr>
          <p:nvPr/>
        </p:nvCxnSpPr>
        <p:spPr>
          <a:xfrm>
            <a:off x="1750897" y="4283855"/>
            <a:ext cx="575086" cy="113259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>
            <a:endCxn id="76" idx="4"/>
          </p:cNvCxnSpPr>
          <p:nvPr/>
        </p:nvCxnSpPr>
        <p:spPr>
          <a:xfrm flipV="1">
            <a:off x="7429813" y="3071825"/>
            <a:ext cx="4815" cy="6607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타원 75"/>
          <p:cNvSpPr/>
          <p:nvPr/>
        </p:nvSpPr>
        <p:spPr>
          <a:xfrm>
            <a:off x="7357259" y="291048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6966552" y="3730767"/>
            <a:ext cx="926521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특허무효</a:t>
            </a:r>
            <a:endParaRPr lang="en-US" altLang="ko-KR" sz="1200" dirty="0"/>
          </a:p>
          <a:p>
            <a:pPr algn="ctr"/>
            <a:r>
              <a:rPr lang="ko-KR" altLang="en-US" sz="1200" dirty="0"/>
              <a:t>심판청구</a:t>
            </a:r>
            <a:endParaRPr lang="en-US" altLang="ko-KR" sz="1200" dirty="0"/>
          </a:p>
        </p:txBody>
      </p:sp>
      <p:cxnSp>
        <p:nvCxnSpPr>
          <p:cNvPr id="79" name="직선 연결선 78"/>
          <p:cNvCxnSpPr>
            <a:stCxn id="81" idx="0"/>
            <a:endCxn id="80" idx="4"/>
          </p:cNvCxnSpPr>
          <p:nvPr/>
        </p:nvCxnSpPr>
        <p:spPr>
          <a:xfrm flipV="1">
            <a:off x="6810553" y="3071825"/>
            <a:ext cx="4815" cy="19325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타원 79"/>
          <p:cNvSpPr/>
          <p:nvPr/>
        </p:nvSpPr>
        <p:spPr>
          <a:xfrm>
            <a:off x="6737999" y="291048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81" name="직사각형 80"/>
          <p:cNvSpPr/>
          <p:nvPr/>
        </p:nvSpPr>
        <p:spPr>
          <a:xfrm>
            <a:off x="6347292" y="3265082"/>
            <a:ext cx="926521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후발적 </a:t>
            </a:r>
            <a:endParaRPr lang="en-US" altLang="ko-KR" sz="1200" dirty="0"/>
          </a:p>
          <a:p>
            <a:pPr algn="ctr"/>
            <a:r>
              <a:rPr lang="ko-KR" altLang="en-US" sz="1200" dirty="0"/>
              <a:t>사유</a:t>
            </a:r>
            <a:endParaRPr lang="en-US" altLang="ko-KR" sz="12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464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776F8AC-BE10-4E2E-AD8B-9870FDDDAAE2}"/>
              </a:ext>
            </a:extLst>
          </p:cNvPr>
          <p:cNvSpPr/>
          <p:nvPr/>
        </p:nvSpPr>
        <p:spPr>
          <a:xfrm>
            <a:off x="7935992" y="3725080"/>
            <a:ext cx="926521" cy="432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인용심결</a:t>
            </a:r>
            <a:endParaRPr lang="en-US" altLang="ko-KR" sz="1200" dirty="0"/>
          </a:p>
          <a:p>
            <a:pPr algn="ctr"/>
            <a:r>
              <a:rPr lang="ko-KR" altLang="en-US" sz="1200" dirty="0"/>
              <a:t>확정</a:t>
            </a:r>
            <a:endParaRPr lang="en-US" altLang="ko-KR" sz="1200" dirty="0"/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92ABA1A3-81C3-4227-9F95-E2F7E33810BE}"/>
              </a:ext>
            </a:extLst>
          </p:cNvPr>
          <p:cNvCxnSpPr>
            <a:stCxn id="55" idx="0"/>
          </p:cNvCxnSpPr>
          <p:nvPr/>
        </p:nvCxnSpPr>
        <p:spPr>
          <a:xfrm flipV="1">
            <a:off x="8399253" y="3620169"/>
            <a:ext cx="1084" cy="1049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90641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양쪽 모서리가 둥근 사각형 19"/>
          <p:cNvSpPr/>
          <p:nvPr/>
        </p:nvSpPr>
        <p:spPr>
          <a:xfrm>
            <a:off x="3214394" y="4409812"/>
            <a:ext cx="7615908" cy="561760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4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실시료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반환여부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324393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875" y="976902"/>
            <a:ext cx="119363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당사자 간에 </a:t>
            </a:r>
            <a:r>
              <a:rPr lang="ko-KR" altLang="en-US" sz="1400" dirty="0" err="1">
                <a:solidFill>
                  <a:schemeClr val="tx2"/>
                </a:solidFill>
              </a:rPr>
              <a:t>실시료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불반환</a:t>
            </a:r>
            <a:r>
              <a:rPr lang="ko-KR" altLang="en-US" sz="1400" dirty="0">
                <a:solidFill>
                  <a:schemeClr val="tx2"/>
                </a:solidFill>
              </a:rPr>
              <a:t> 합의와 같은 특약이 없는 경우 </a:t>
            </a:r>
            <a:r>
              <a:rPr lang="ko-KR" altLang="en-US" sz="1400" dirty="0" err="1">
                <a:solidFill>
                  <a:schemeClr val="tx2"/>
                </a:solidFill>
              </a:rPr>
              <a:t>무효심결이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특허권에 대하여 지급된 </a:t>
            </a:r>
            <a:r>
              <a:rPr lang="ko-KR" altLang="en-US" sz="1400" dirty="0" err="1">
                <a:solidFill>
                  <a:schemeClr val="tx2"/>
                </a:solidFill>
              </a:rPr>
              <a:t>실시료를</a:t>
            </a:r>
            <a:r>
              <a:rPr lang="ko-KR" altLang="en-US" sz="1400" dirty="0">
                <a:solidFill>
                  <a:schemeClr val="tx2"/>
                </a:solidFill>
              </a:rPr>
              <a:t> 부당이득으로서 반환청구가 될 수 </a:t>
            </a:r>
            <a:r>
              <a:rPr lang="ko-KR" altLang="en-US" sz="1400" dirty="0" err="1">
                <a:solidFill>
                  <a:schemeClr val="tx2"/>
                </a:solidFill>
              </a:rPr>
              <a:t>있는지와</a:t>
            </a:r>
            <a:r>
              <a:rPr lang="ko-KR" altLang="en-US" sz="1400" dirty="0">
                <a:solidFill>
                  <a:schemeClr val="tx2"/>
                </a:solidFill>
              </a:rPr>
              <a:t> 관련하여 견해의 대립이 있었으나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</a:rPr>
              <a:t>2014. 11. 13.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2012</a:t>
            </a:r>
            <a:r>
              <a:rPr lang="ko-KR" altLang="en-US" sz="1400" dirty="0">
                <a:solidFill>
                  <a:schemeClr val="tx2"/>
                </a:solidFill>
              </a:rPr>
              <a:t>다</a:t>
            </a:r>
            <a:r>
              <a:rPr lang="en-US" altLang="ko-KR" sz="1400" dirty="0">
                <a:solidFill>
                  <a:schemeClr val="tx2"/>
                </a:solidFill>
              </a:rPr>
              <a:t>42666, 42673 </a:t>
            </a:r>
            <a:r>
              <a:rPr lang="ko-KR" altLang="en-US" sz="1400" dirty="0">
                <a:solidFill>
                  <a:schemeClr val="tx2"/>
                </a:solidFill>
              </a:rPr>
              <a:t>판결은 “특허발명 실시계약에 의하여 </a:t>
            </a:r>
            <a:r>
              <a:rPr lang="ko-KR" altLang="en-US" sz="1400" dirty="0" err="1">
                <a:solidFill>
                  <a:schemeClr val="tx2"/>
                </a:solidFill>
              </a:rPr>
              <a:t>특허권자는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실시권자의</a:t>
            </a:r>
            <a:r>
              <a:rPr lang="ko-KR" altLang="en-US" sz="1400" dirty="0">
                <a:solidFill>
                  <a:schemeClr val="tx2"/>
                </a:solidFill>
              </a:rPr>
              <a:t> 특허발명 실시에 대하여 특허권 침해로 인한 손해배상이나 그 금지 등을 청구할 수 없게 될 뿐만 아니라 특허가 무효로 확정되기 이전에 존재하는 특허권의 </a:t>
            </a:r>
            <a:r>
              <a:rPr lang="ko-KR" altLang="en-US" sz="1400" dirty="0" err="1">
                <a:solidFill>
                  <a:schemeClr val="tx2"/>
                </a:solidFill>
              </a:rPr>
              <a:t>독점적ㆍ배타적</a:t>
            </a:r>
            <a:r>
              <a:rPr lang="ko-KR" altLang="en-US" sz="1400" dirty="0">
                <a:solidFill>
                  <a:schemeClr val="tx2"/>
                </a:solidFill>
              </a:rPr>
              <a:t> 효력에 의하여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자의 특허발명 실시가 금지되는 점에 비추어 보면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특허발명 실시계약의 목적이 된 특허발명의 실시가 불가능한 경우가 아닌 한 특허무효의 소급효에도 불구하고 그와 같은 특허를 대상으로 하여 체결된 특허발명 실시계약이 그 계약의 체결 당시부터 원시적으로 이행불능 상태에 있었다고 볼 수는 없고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다만 특허무효가 확정되면 그때부터 특허발명 실시계약은 이행불능 상태에 빠지게 된다고 보아야 한다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특허발명 실시계약 체결 이후에 특허가 무효로 확정되었더라도 앞서 본 바와 같이 </a:t>
            </a:r>
            <a:r>
              <a:rPr lang="ko-KR" altLang="en-US" sz="1400" dirty="0">
                <a:highlight>
                  <a:srgbClr val="FFFF00"/>
                </a:highlight>
              </a:rPr>
              <a:t>특허발명 실시계약이 원시적으로 이행불능 상태에 있었다거나 그 밖에 특허발명 실시계약 자체에 별도의 무효사유가 없는 한</a:t>
            </a:r>
            <a:r>
              <a:rPr lang="ko-KR" altLang="en-US" sz="1400" dirty="0">
                <a:solidFill>
                  <a:schemeClr val="tx2"/>
                </a:solidFill>
              </a:rPr>
              <a:t> 특허권자가 특허발명 실시계약에 따라 </a:t>
            </a:r>
            <a:r>
              <a:rPr lang="ko-KR" altLang="en-US" sz="1400" dirty="0" err="1">
                <a:solidFill>
                  <a:schemeClr val="tx2"/>
                </a:solidFill>
              </a:rPr>
              <a:t>실시권자로부터</a:t>
            </a:r>
            <a:r>
              <a:rPr lang="ko-KR" altLang="en-US" sz="1400" dirty="0">
                <a:solidFill>
                  <a:schemeClr val="tx2"/>
                </a:solidFill>
              </a:rPr>
              <a:t> 이미 지급받은 </a:t>
            </a:r>
            <a:r>
              <a:rPr lang="ko-KR" altLang="en-US" sz="1400" dirty="0" err="1">
                <a:solidFill>
                  <a:schemeClr val="tx2"/>
                </a:solidFill>
              </a:rPr>
              <a:t>특허실시료</a:t>
            </a:r>
            <a:r>
              <a:rPr lang="ko-KR" altLang="en-US" sz="1400" dirty="0">
                <a:solidFill>
                  <a:schemeClr val="tx2"/>
                </a:solidFill>
              </a:rPr>
              <a:t> 중 특허발명 실시계약이 유효하게 존재하는 기간에 상응하는 부분을 </a:t>
            </a:r>
            <a:r>
              <a:rPr lang="ko-KR" altLang="en-US" sz="1400" dirty="0" err="1">
                <a:solidFill>
                  <a:schemeClr val="tx2"/>
                </a:solidFill>
              </a:rPr>
              <a:t>실시권자에게</a:t>
            </a:r>
            <a:r>
              <a:rPr lang="ko-KR" altLang="en-US" sz="1400" dirty="0">
                <a:solidFill>
                  <a:schemeClr val="tx2"/>
                </a:solidFill>
              </a:rPr>
              <a:t> 부당이득으로 반환할 의무가 있다고 할 수 없다</a:t>
            </a:r>
            <a:r>
              <a:rPr lang="en-US" altLang="ko-KR" sz="1400" dirty="0">
                <a:solidFill>
                  <a:schemeClr val="tx2"/>
                </a:solidFill>
              </a:rPr>
              <a:t>.”</a:t>
            </a:r>
            <a:r>
              <a:rPr lang="ko-KR" altLang="en-US" sz="1400" dirty="0">
                <a:solidFill>
                  <a:schemeClr val="tx2"/>
                </a:solidFill>
              </a:rPr>
              <a:t>고 하여 특별한 사정이 없는 한 부당이득의 반환 의무를 부정하였다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또한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대법원 </a:t>
            </a:r>
            <a:r>
              <a:rPr lang="en-US" altLang="ko-KR" sz="1400" dirty="0">
                <a:highlight>
                  <a:srgbClr val="FFFF00"/>
                </a:highlight>
              </a:rPr>
              <a:t>2019. 4. 25. </a:t>
            </a:r>
            <a:r>
              <a:rPr lang="ko-KR" altLang="en-US" sz="1400" dirty="0">
                <a:highlight>
                  <a:srgbClr val="FFFF00"/>
                </a:highlight>
              </a:rPr>
              <a:t>선고 </a:t>
            </a:r>
            <a:r>
              <a:rPr lang="en-US" altLang="ko-KR" sz="1400" dirty="0">
                <a:highlight>
                  <a:srgbClr val="FFFF00"/>
                </a:highlight>
              </a:rPr>
              <a:t>2018</a:t>
            </a:r>
            <a:r>
              <a:rPr lang="ko-KR" altLang="en-US" sz="1400" dirty="0">
                <a:highlight>
                  <a:srgbClr val="FFFF00"/>
                </a:highlight>
              </a:rPr>
              <a:t>다</a:t>
            </a:r>
            <a:r>
              <a:rPr lang="en-US" altLang="ko-KR" sz="1400" dirty="0">
                <a:highlight>
                  <a:srgbClr val="FFFF00"/>
                </a:highlight>
              </a:rPr>
              <a:t>287362 </a:t>
            </a:r>
            <a:r>
              <a:rPr lang="ko-KR" altLang="en-US" sz="1400" dirty="0">
                <a:highlight>
                  <a:srgbClr val="FFFF00"/>
                </a:highlight>
              </a:rPr>
              <a:t>판결에서는 특허권자는 원칙적으로 특허발명 실시계약이 유효하게 존재하는 기간 동안 실시료의 지급을 청구할 수 있다고 판시</a:t>
            </a:r>
            <a:r>
              <a:rPr lang="ko-KR" altLang="en-US" sz="1400" dirty="0">
                <a:solidFill>
                  <a:schemeClr val="tx2"/>
                </a:solidFill>
              </a:rPr>
              <a:t>하였다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54" name="Line 5"/>
          <p:cNvSpPr>
            <a:spLocks noChangeShapeType="1"/>
          </p:cNvSpPr>
          <p:nvPr/>
        </p:nvSpPr>
        <p:spPr bwMode="auto">
          <a:xfrm>
            <a:off x="328662" y="4971572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85189" y="4816194"/>
            <a:ext cx="1326678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설정등록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2551055" y="4816194"/>
            <a:ext cx="1326678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실시권허락계약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684585" y="4816194"/>
            <a:ext cx="1326678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무효심판청구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6611126" y="4816194"/>
            <a:ext cx="1326678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무효심결확정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051170" y="3715599"/>
            <a:ext cx="2318263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향후 </a:t>
            </a:r>
            <a:r>
              <a:rPr lang="en-US" altLang="ko-KR" sz="1400" dirty="0"/>
              <a:t>10</a:t>
            </a:r>
            <a:r>
              <a:rPr lang="ko-KR" altLang="en-US" sz="1400" dirty="0"/>
              <a:t>년간 </a:t>
            </a:r>
            <a:r>
              <a:rPr lang="ko-KR" altLang="en-US" sz="1400" dirty="0" err="1"/>
              <a:t>연매출의</a:t>
            </a:r>
            <a:r>
              <a:rPr lang="ko-KR" altLang="en-US" sz="1400" dirty="0"/>
              <a:t> </a:t>
            </a:r>
            <a:r>
              <a:rPr lang="en-US" altLang="ko-KR" sz="1400" dirty="0"/>
              <a:t>3%</a:t>
            </a:r>
            <a:r>
              <a:rPr lang="ko-KR" altLang="en-US" sz="1400" dirty="0"/>
              <a:t>의 </a:t>
            </a:r>
            <a:endParaRPr lang="en-US" altLang="ko-KR" sz="1400" dirty="0"/>
          </a:p>
          <a:p>
            <a:pPr algn="ctr"/>
            <a:r>
              <a:rPr lang="ko-KR" altLang="en-US" sz="1400" dirty="0" err="1"/>
              <a:t>실시료</a:t>
            </a:r>
            <a:r>
              <a:rPr lang="ko-KR" altLang="en-US" sz="1400" dirty="0"/>
              <a:t> 지급</a:t>
            </a:r>
            <a:endParaRPr lang="en-US" altLang="ko-KR" sz="1400" dirty="0"/>
          </a:p>
        </p:txBody>
      </p:sp>
      <p:cxnSp>
        <p:nvCxnSpPr>
          <p:cNvPr id="88" name="직선 화살표 연결선 87"/>
          <p:cNvCxnSpPr>
            <a:stCxn id="86" idx="2"/>
            <a:endCxn id="77" idx="0"/>
          </p:cNvCxnSpPr>
          <p:nvPr/>
        </p:nvCxnSpPr>
        <p:spPr>
          <a:xfrm>
            <a:off x="3210302" y="4238819"/>
            <a:ext cx="4092" cy="57737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/>
          <p:cNvCxnSpPr>
            <a:cxnSpLocks/>
            <a:stCxn id="77" idx="2"/>
          </p:cNvCxnSpPr>
          <p:nvPr/>
        </p:nvCxnSpPr>
        <p:spPr>
          <a:xfrm>
            <a:off x="3214394" y="5142752"/>
            <a:ext cx="0" cy="9355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>
            <a:cxnSpLocks/>
          </p:cNvCxnSpPr>
          <p:nvPr/>
        </p:nvCxnSpPr>
        <p:spPr>
          <a:xfrm>
            <a:off x="10830302" y="4979473"/>
            <a:ext cx="0" cy="119007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 91"/>
          <p:cNvCxnSpPr>
            <a:cxnSpLocks/>
            <a:stCxn id="84" idx="2"/>
          </p:cNvCxnSpPr>
          <p:nvPr/>
        </p:nvCxnSpPr>
        <p:spPr>
          <a:xfrm>
            <a:off x="7274465" y="5142752"/>
            <a:ext cx="0" cy="93555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>
            <a:off x="3214394" y="5584512"/>
            <a:ext cx="406007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/>
          <p:cNvCxnSpPr/>
          <p:nvPr/>
        </p:nvCxnSpPr>
        <p:spPr>
          <a:xfrm>
            <a:off x="7274465" y="5584512"/>
            <a:ext cx="3555836" cy="0"/>
          </a:xfrm>
          <a:prstGeom prst="straightConnector1">
            <a:avLst/>
          </a:prstGeom>
          <a:ln w="38100">
            <a:solidFill>
              <a:schemeClr val="accent2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3833630" y="5643781"/>
            <a:ext cx="295144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/>
              <a:t>기지급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실시료</a:t>
            </a:r>
            <a:r>
              <a:rPr lang="ko-KR" altLang="en-US" sz="1400" dirty="0"/>
              <a:t> 부당이득 반환 여부</a:t>
            </a:r>
            <a:r>
              <a:rPr lang="en-US" altLang="ko-KR" sz="1400" dirty="0"/>
              <a:t>? ×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68168" y="5643781"/>
            <a:ext cx="176843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/>
              <a:t>실시료</a:t>
            </a:r>
            <a:r>
              <a:rPr lang="ko-KR" altLang="en-US" sz="1400" dirty="0"/>
              <a:t> 지급 여부</a:t>
            </a:r>
            <a:r>
              <a:rPr lang="en-US" altLang="ko-KR" sz="1400" dirty="0"/>
              <a:t>? × 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202324" y="4079633"/>
            <a:ext cx="545342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400" dirty="0"/>
              <a:t>10</a:t>
            </a:r>
            <a:r>
              <a:rPr lang="ko-KR" altLang="en-US" sz="1400" dirty="0"/>
              <a:t>년</a:t>
            </a:r>
            <a:endParaRPr lang="en-US" altLang="ko-KR" sz="1400" dirty="0"/>
          </a:p>
        </p:txBody>
      </p: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44907F01-3983-4F76-A712-ADD76C226D04}"/>
              </a:ext>
            </a:extLst>
          </p:cNvPr>
          <p:cNvSpPr/>
          <p:nvPr/>
        </p:nvSpPr>
        <p:spPr>
          <a:xfrm>
            <a:off x="7270373" y="3614067"/>
            <a:ext cx="3559928" cy="465556"/>
          </a:xfrm>
          <a:prstGeom prst="wedgeRoundRectCallout">
            <a:avLst>
              <a:gd name="adj1" fmla="val -48726"/>
              <a:gd name="adj2" fmla="val 201470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특허권은 처음부터 없었던 것으로 간주되나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</a:p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실시계약은 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무효심결이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확정된 때부터 이행불능상태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071F77-6AFD-4DD8-AF40-E8DBDB745189}"/>
              </a:ext>
            </a:extLst>
          </p:cNvPr>
          <p:cNvSpPr txBox="1"/>
          <p:nvPr/>
        </p:nvSpPr>
        <p:spPr>
          <a:xfrm>
            <a:off x="3661492" y="3286484"/>
            <a:ext cx="85026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  <a:highlight>
                  <a:srgbClr val="CCECFF"/>
                </a:highlight>
              </a:rPr>
              <a:t>특허무효의 소급효라는 공법상 효력에 의하여 실시계약이라는 사법상의 법률관계까지 원시적 무효로 보기는 어렵다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6ED53D-0B00-4021-84BC-74214C2E906E}"/>
              </a:ext>
            </a:extLst>
          </p:cNvPr>
          <p:cNvSpPr txBox="1"/>
          <p:nvPr/>
        </p:nvSpPr>
        <p:spPr>
          <a:xfrm>
            <a:off x="3661492" y="6061711"/>
            <a:ext cx="672171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solidFill>
                  <a:srgbClr val="FF0000"/>
                </a:solidFill>
              </a:rPr>
              <a:t>기지급</a:t>
            </a:r>
            <a:r>
              <a:rPr lang="ko-KR" altLang="en-US" sz="1400" dirty="0">
                <a:solidFill>
                  <a:srgbClr val="FF0000"/>
                </a:solidFill>
              </a:rPr>
              <a:t> 실시료는 유효하게 존속하는 실시계약에 기하여 받은 것이므로 법률상 원인이 있고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</a:p>
          <a:p>
            <a:r>
              <a:rPr lang="ko-KR" altLang="en-US" sz="1400" dirty="0" err="1">
                <a:solidFill>
                  <a:srgbClr val="FF0000"/>
                </a:solidFill>
              </a:rPr>
              <a:t>실시권자는</a:t>
            </a:r>
            <a:r>
              <a:rPr lang="ko-KR" altLang="en-US" sz="1400" dirty="0">
                <a:solidFill>
                  <a:srgbClr val="FF0000"/>
                </a:solidFill>
              </a:rPr>
              <a:t> 특허를 배타적으로 사용함에 따른 경제적 이익을 얻었으므로 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ko-KR" altLang="en-US" sz="1400" dirty="0">
                <a:solidFill>
                  <a:srgbClr val="FF0000"/>
                </a:solidFill>
              </a:rPr>
              <a:t>손해도 없어 부당이득반환청구는 이유 없다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D229215-172C-4824-8ACC-6E152DEB6666}"/>
              </a:ext>
            </a:extLst>
          </p:cNvPr>
          <p:cNvSpPr/>
          <p:nvPr/>
        </p:nvSpPr>
        <p:spPr>
          <a:xfrm>
            <a:off x="115398" y="5888685"/>
            <a:ext cx="3388424" cy="95410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+mn-ea"/>
              </a:rPr>
              <a:t>법률상 원인없이 타인의 재산 또는 노무로 인하여 이익을 얻고 이로 인하여 타인에게 손해를 가한 자는 그 이익을 반환하여야 합니다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민법 제</a:t>
            </a:r>
            <a:r>
              <a:rPr lang="en-US" altLang="ko-KR" sz="1400" dirty="0">
                <a:latin typeface="+mn-ea"/>
              </a:rPr>
              <a:t>741</a:t>
            </a:r>
            <a:r>
              <a:rPr lang="ko-KR" altLang="en-US" sz="1400" dirty="0">
                <a:latin typeface="+mn-ea"/>
              </a:rPr>
              <a:t>조</a:t>
            </a:r>
            <a:r>
              <a:rPr lang="en-US" altLang="ko-KR" sz="1400" dirty="0">
                <a:latin typeface="+mn-ea"/>
              </a:rPr>
              <a:t>).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2B0E7D-86D8-4076-AA6B-60B49C7EE0E6}"/>
              </a:ext>
            </a:extLst>
          </p:cNvPr>
          <p:cNvSpPr txBox="1"/>
          <p:nvPr/>
        </p:nvSpPr>
        <p:spPr>
          <a:xfrm>
            <a:off x="4993036" y="3710291"/>
            <a:ext cx="1018227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/>
              <a:t>실시권자</a:t>
            </a:r>
            <a:endParaRPr lang="ko-KR" altLang="en-US" dirty="0"/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6AE7FFC6-FADE-4117-8C3A-FA7D474D6EFE}"/>
              </a:ext>
            </a:extLst>
          </p:cNvPr>
          <p:cNvCxnSpPr>
            <a:stCxn id="10" idx="2"/>
            <a:endCxn id="83" idx="0"/>
          </p:cNvCxnSpPr>
          <p:nvPr/>
        </p:nvCxnSpPr>
        <p:spPr>
          <a:xfrm rot="5400000">
            <a:off x="5056752" y="4370795"/>
            <a:ext cx="736571" cy="154226"/>
          </a:xfrm>
          <a:prstGeom prst="bentConnector3">
            <a:avLst>
              <a:gd name="adj1" fmla="val 28919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4509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실시료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반환여부에 대한 학설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*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0" name="표 11">
            <a:extLst>
              <a:ext uri="{FF2B5EF4-FFF2-40B4-BE49-F238E27FC236}">
                <a16:creationId xmlns:a16="http://schemas.microsoft.com/office/drawing/2014/main" id="{87715281-C32F-4C28-A2F7-FE732B4B04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192881"/>
              </p:ext>
            </p:extLst>
          </p:nvPr>
        </p:nvGraphicFramePr>
        <p:xfrm>
          <a:off x="171450" y="1133000"/>
          <a:ext cx="11839576" cy="53949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11857">
                  <a:extLst>
                    <a:ext uri="{9D8B030D-6E8A-4147-A177-3AD203B41FA5}">
                      <a16:colId xmlns:a16="http://schemas.microsoft.com/office/drawing/2014/main" val="777872737"/>
                    </a:ext>
                  </a:extLst>
                </a:gridCol>
                <a:gridCol w="4017318">
                  <a:extLst>
                    <a:ext uri="{9D8B030D-6E8A-4147-A177-3AD203B41FA5}">
                      <a16:colId xmlns:a16="http://schemas.microsoft.com/office/drawing/2014/main" val="2344735692"/>
                    </a:ext>
                  </a:extLst>
                </a:gridCol>
                <a:gridCol w="7010401">
                  <a:extLst>
                    <a:ext uri="{9D8B030D-6E8A-4147-A177-3AD203B41FA5}">
                      <a16:colId xmlns:a16="http://schemas.microsoft.com/office/drawing/2014/main" val="3741927739"/>
                    </a:ext>
                  </a:extLst>
                </a:gridCol>
              </a:tblGrid>
              <a:tr h="1541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구분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부정설</a:t>
                      </a:r>
                      <a:endParaRPr lang="ko-KR" altLang="en-US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긍정설</a:t>
                      </a:r>
                      <a:endParaRPr lang="ko-KR" altLang="en-US" sz="12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5389606"/>
                  </a:ext>
                </a:extLst>
              </a:tr>
              <a:tr h="46242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부당이득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반환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청구권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요건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특허실시계약의 목적인 급부는 특허발명을 실시할 수 있도록 하는 채무의 이행이라 할 것인데</a:t>
                      </a:r>
                      <a:r>
                        <a:rPr lang="en-US" altLang="ko-KR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그러한 급부가 무효 확정시까지 계약 내용대로 이행되었다</a:t>
                      </a:r>
                      <a:r>
                        <a:rPr lang="en-US" altLang="ko-KR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그 결과 특허권자가 받은 실시료에 대한 ‘법률상 </a:t>
                      </a:r>
                      <a:r>
                        <a:rPr lang="ko-KR" altLang="en-US" sz="120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원인’이</a:t>
                      </a:r>
                      <a:r>
                        <a:rPr lang="ko-KR" altLang="en-US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존재한다</a:t>
                      </a:r>
                      <a:r>
                        <a:rPr lang="en-US" altLang="ko-KR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u="non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/>
                        <a:t>특허권자는 당초에 금지권을 행사할 여지가 없었기 때문에 금지권을 행사하지 아니할 부작위의무를 이행할 수 없었고</a:t>
                      </a:r>
                      <a:r>
                        <a:rPr lang="en-US" altLang="ko-KR" sz="1200" u="none" dirty="0"/>
                        <a:t>, </a:t>
                      </a:r>
                      <a:r>
                        <a:rPr lang="ko-KR" altLang="en-US" sz="1200" u="none" dirty="0"/>
                        <a:t>오히려 특허실시계약자는 만인의 </a:t>
                      </a:r>
                      <a:r>
                        <a:rPr lang="ko-KR" altLang="en-US" sz="1200" u="none" dirty="0" err="1"/>
                        <a:t>공유재</a:t>
                      </a:r>
                      <a:r>
                        <a:rPr lang="en-US" altLang="ko-KR" sz="1200" u="none" dirty="0"/>
                        <a:t>(public domain)</a:t>
                      </a:r>
                      <a:r>
                        <a:rPr lang="ko-KR" altLang="en-US" sz="1200" u="none" dirty="0"/>
                        <a:t>인 특허대상 기술을 사용할 권한이 있었으므로 부작위의무의 이행을 인정할 수 없다</a:t>
                      </a:r>
                      <a:r>
                        <a:rPr lang="en-US" altLang="ko-KR" sz="1200" u="none" dirty="0"/>
                        <a:t>.</a:t>
                      </a:r>
                      <a:endParaRPr lang="ko-KR" altLang="en-US" sz="1200" u="non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4071509"/>
                  </a:ext>
                </a:extLst>
              </a:tr>
              <a:tr h="359662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/>
                        <a:t>특허실시계약자는 특허의 무효 확정시까지 특허를 </a:t>
                      </a:r>
                      <a:r>
                        <a:rPr lang="ko-KR" altLang="en-US" sz="1200" u="none" dirty="0" err="1"/>
                        <a:t>독점･배타적으로</a:t>
                      </a:r>
                      <a:r>
                        <a:rPr lang="ko-KR" altLang="en-US" sz="1200" u="none" dirty="0"/>
                        <a:t> 사용함에 따른 경제적 이익을 향유하였으므로 ‘</a:t>
                      </a:r>
                      <a:r>
                        <a:rPr lang="ko-KR" altLang="en-US" sz="1200" u="none" dirty="0" err="1"/>
                        <a:t>손해’가</a:t>
                      </a:r>
                      <a:r>
                        <a:rPr lang="ko-KR" altLang="en-US" sz="1200" u="none" dirty="0"/>
                        <a:t> 발생하였다고 볼 수도 없다</a:t>
                      </a:r>
                      <a:r>
                        <a:rPr lang="en-US" altLang="ko-KR" sz="1200" u="none" dirty="0"/>
                        <a:t>.</a:t>
                      </a:r>
                      <a:endParaRPr lang="ko-KR" altLang="en-US" sz="120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/>
                        <a:t>특허권자는 당초부터 금지청구를 할 권능이 없었고 통상실시계약자는 특허권자로부터 금지청구를 받지 않고 발명을 실시할 권능이 있었으므로 어떠한 사실상의 이익을 누렸다고 보기 어렵다</a:t>
                      </a:r>
                      <a:r>
                        <a:rPr lang="en-US" altLang="ko-KR" sz="1200" u="none" dirty="0"/>
                        <a:t>.</a:t>
                      </a:r>
                      <a:endParaRPr lang="ko-KR" altLang="en-US" sz="1200" u="non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1893095"/>
                  </a:ext>
                </a:extLst>
              </a:tr>
              <a:tr h="35966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무효</a:t>
                      </a:r>
                      <a:r>
                        <a:rPr lang="en-US" altLang="ko-KR" sz="1200" dirty="0"/>
                        <a:t> </a:t>
                      </a:r>
                    </a:p>
                    <a:p>
                      <a:pPr algn="ctr" latinLnBrk="1"/>
                      <a:r>
                        <a:rPr lang="ko-KR" altLang="en-US" sz="1200" dirty="0"/>
                        <a:t>소급효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해석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/>
                        <a:t>특허무효의 소급효는 사법상의 법률관계에 어떠한 영향을 주는 것은 아니다</a:t>
                      </a:r>
                      <a:r>
                        <a:rPr lang="en-US" altLang="ko-KR" sz="1200" u="none" dirty="0"/>
                        <a:t>.</a:t>
                      </a:r>
                      <a:endParaRPr lang="ko-KR" altLang="en-US" sz="120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/>
                        <a:t>특허무효의 소급효에 의하여 특허권이 처음부터 존재하지 않은 것으로 되기 때문에</a:t>
                      </a:r>
                      <a:r>
                        <a:rPr lang="en-US" altLang="ko-KR" sz="1200" u="none" dirty="0"/>
                        <a:t>, </a:t>
                      </a:r>
                      <a:r>
                        <a:rPr lang="ko-KR" altLang="en-US" sz="1200" u="none" dirty="0"/>
                        <a:t>특허권의 존재를 전제로 한 실시계약에 영향을 미친다</a:t>
                      </a:r>
                      <a:r>
                        <a:rPr lang="en-US" altLang="ko-KR" sz="1200" u="none" dirty="0"/>
                        <a:t>.</a:t>
                      </a:r>
                      <a:r>
                        <a:rPr lang="ko-KR" altLang="en-US" sz="1200" u="none" dirty="0"/>
                        <a:t> 따라서</a:t>
                      </a:r>
                      <a:r>
                        <a:rPr lang="en-US" altLang="ko-KR" sz="1200" u="none" dirty="0"/>
                        <a:t>, </a:t>
                      </a:r>
                      <a:r>
                        <a:rPr lang="ko-KR" altLang="en-US" sz="1200" u="none" dirty="0"/>
                        <a:t>명시적 합의가 없는 한 특허가 소급 무효가 됨에 따라 특허실시계약 또한 소급하여 무효로 되도록 해석함이 타당하다</a:t>
                      </a:r>
                      <a:r>
                        <a:rPr lang="en-US" altLang="ko-KR" sz="1200" u="none" dirty="0"/>
                        <a:t>.</a:t>
                      </a:r>
                      <a:endParaRPr lang="ko-KR" altLang="en-US" sz="1200" u="non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6464208"/>
                  </a:ext>
                </a:extLst>
              </a:tr>
              <a:tr h="46242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/>
                        <a:t>특허실시계약의 당사자들은 향후 특허가 소급하여 무효가 되더라도 </a:t>
                      </a:r>
                      <a:r>
                        <a:rPr lang="ko-KR" altLang="en-US" sz="1200" u="none" dirty="0" err="1"/>
                        <a:t>실시료</a:t>
                      </a:r>
                      <a:r>
                        <a:rPr lang="ko-KR" altLang="en-US" sz="1200" u="none" dirty="0"/>
                        <a:t> 반환 청구를 하지 아니하겠다는 취지로 의사 합치를 하였다고 해석함이 상당하다</a:t>
                      </a:r>
                      <a:r>
                        <a:rPr lang="en-US" altLang="ko-KR" sz="1200" u="none" dirty="0"/>
                        <a:t>.</a:t>
                      </a:r>
                      <a:endParaRPr lang="ko-KR" altLang="en-US" sz="120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/>
                        <a:t>특허법 제</a:t>
                      </a:r>
                      <a:r>
                        <a:rPr lang="en-US" altLang="ko-KR" sz="1200" u="none" dirty="0"/>
                        <a:t>100</a:t>
                      </a:r>
                      <a:r>
                        <a:rPr lang="ko-KR" altLang="en-US" sz="1200" u="none" dirty="0"/>
                        <a:t>조와 제</a:t>
                      </a:r>
                      <a:r>
                        <a:rPr lang="en-US" altLang="ko-KR" sz="1200" u="none" dirty="0"/>
                        <a:t>102</a:t>
                      </a:r>
                      <a:r>
                        <a:rPr lang="ko-KR" altLang="en-US" sz="1200" u="none" dirty="0"/>
                        <a:t>조에서 특허실시계약의 목적을 유효한 특허권을 전제한 급부로 규정하고 있고</a:t>
                      </a:r>
                      <a:r>
                        <a:rPr lang="en-US" altLang="ko-KR" sz="1200" u="none" dirty="0"/>
                        <a:t>, </a:t>
                      </a:r>
                      <a:r>
                        <a:rPr lang="ko-KR" altLang="en-US" sz="1200" u="none" dirty="0"/>
                        <a:t>당사자 또한 특허를 실시계약의 목적으로 규정하고 있을 뿐 달리 특허가 무효일 경우에 대하여 별도의 약정을 하지 아니한 이상</a:t>
                      </a:r>
                      <a:r>
                        <a:rPr lang="en-US" altLang="ko-KR" sz="1200" u="none" dirty="0"/>
                        <a:t>, </a:t>
                      </a:r>
                      <a:r>
                        <a:rPr lang="ko-KR" altLang="en-US" sz="1200" u="none" dirty="0"/>
                        <a:t>특허실시계약의 목적인 급부는 특허권자의 유효한 부작위의무의 이행 내지 전용실시권의 설정으로 한정함이 타당하다</a:t>
                      </a:r>
                      <a:r>
                        <a:rPr lang="en-US" altLang="ko-KR" sz="1200" u="none" dirty="0"/>
                        <a:t>.</a:t>
                      </a:r>
                      <a:endParaRPr lang="ko-KR" altLang="en-US" sz="1200" u="non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5414511"/>
                  </a:ext>
                </a:extLst>
              </a:tr>
              <a:tr h="873466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정책적 </a:t>
                      </a:r>
                      <a:endParaRPr lang="en-US" altLang="ko-KR" sz="1200" dirty="0"/>
                    </a:p>
                    <a:p>
                      <a:pPr algn="ctr" latinLnBrk="1"/>
                      <a:r>
                        <a:rPr lang="ko-KR" altLang="en-US" sz="1200" dirty="0"/>
                        <a:t>측면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/>
                        <a:t>특허실시계약 체결 경위에도 불구하고 </a:t>
                      </a:r>
                      <a:r>
                        <a:rPr lang="ko-KR" altLang="en-US" sz="1200" u="none" dirty="0" err="1"/>
                        <a:t>기지급</a:t>
                      </a:r>
                      <a:r>
                        <a:rPr lang="ko-KR" altLang="en-US" sz="1200" u="none" dirty="0"/>
                        <a:t> 실시료의 반환을 허용하는 것은 특허 무효의 위험성을 전적으로 특허권자에게만 부담시키는 것이 되어 형평에 반한다</a:t>
                      </a:r>
                      <a:r>
                        <a:rPr lang="en-US" altLang="ko-KR" sz="1200" u="none" dirty="0"/>
                        <a:t>.</a:t>
                      </a:r>
                      <a:endParaRPr lang="ko-KR" altLang="en-US" sz="120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특허권자가 특허를 무단으로 사용하고 있는 자에 대하여 손해배상청구를 하여 승소하고 이에 기하여 손해배상을 지급받았는데 이후 특허가 소급무효로 된 경우라면</a:t>
                      </a:r>
                      <a:r>
                        <a:rPr lang="en-US" altLang="ko-KR" sz="1200" u="none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특허권자는 결국 고의</a:t>
                      </a:r>
                      <a:r>
                        <a:rPr lang="en-US" altLang="ko-KR" sz="1200" u="none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과실이 없더라도 지급받은 손해배상금을 부당이득으로서 반환하여야 한다</a:t>
                      </a:r>
                      <a:r>
                        <a:rPr lang="en-US" altLang="ko-KR" sz="1200" u="none" dirty="0">
                          <a:solidFill>
                            <a:srgbClr val="FF0000"/>
                          </a:solidFill>
                        </a:rPr>
                        <a:t>. 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이와 비교하여 볼 때</a:t>
                      </a:r>
                      <a:r>
                        <a:rPr lang="en-US" altLang="ko-KR" sz="1200" u="none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특허실시계약을 체결한 자는 무단실시자보다 사회의 법질서를 존중하는 사람으로서 보호의 필요성이 더 큼에도 불구하고</a:t>
                      </a:r>
                      <a:r>
                        <a:rPr lang="en-US" altLang="ko-KR" sz="1200" u="none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반환의무 부정설은 오히려 특허실시계약자는 보호하지 아니하는 한편 무단실시자는 보호하는 불공평을 초래하게 된다</a:t>
                      </a:r>
                      <a:r>
                        <a:rPr lang="en-US" altLang="ko-KR" sz="1200" u="none" dirty="0">
                          <a:solidFill>
                            <a:srgbClr val="FF0000"/>
                          </a:solidFill>
                        </a:rPr>
                        <a:t>. 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 err="1">
                          <a:solidFill>
                            <a:srgbClr val="FF0000"/>
                          </a:solidFill>
                        </a:rPr>
                        <a:t>특허무효심결이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 언제 </a:t>
                      </a:r>
                      <a:r>
                        <a:rPr lang="ko-KR" altLang="en-US" sz="1200" u="none" dirty="0" err="1">
                          <a:solidFill>
                            <a:srgbClr val="FF0000"/>
                          </a:solidFill>
                        </a:rPr>
                        <a:t>확정되느냐에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 따라 향후 </a:t>
                      </a:r>
                      <a:r>
                        <a:rPr lang="ko-KR" altLang="en-US" sz="1200" u="none" dirty="0" err="1">
                          <a:solidFill>
                            <a:srgbClr val="FF0000"/>
                          </a:solidFill>
                        </a:rPr>
                        <a:t>실시료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 지급의무의 범위가 달라지기 때문에</a:t>
                      </a:r>
                      <a:r>
                        <a:rPr lang="en-US" altLang="ko-KR" sz="1200" u="none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특허권자로서는 소송을 최대한 지연하고자 노력할 것이고</a:t>
                      </a:r>
                      <a:r>
                        <a:rPr lang="en-US" altLang="ko-KR" sz="1200" u="none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결국 반환의무 부정설은 소송을 조기에 </a:t>
                      </a:r>
                      <a:r>
                        <a:rPr lang="ko-KR" altLang="en-US" sz="1200" u="none" dirty="0" err="1">
                          <a:solidFill>
                            <a:srgbClr val="FF0000"/>
                          </a:solidFill>
                        </a:rPr>
                        <a:t>종결시키지</a:t>
                      </a:r>
                      <a:r>
                        <a:rPr lang="ko-KR" altLang="en-US" sz="1200" u="none" dirty="0">
                          <a:solidFill>
                            <a:srgbClr val="FF0000"/>
                          </a:solidFill>
                        </a:rPr>
                        <a:t> 못하는 하나의 원인으로 작용할 수 있다</a:t>
                      </a:r>
                      <a:r>
                        <a:rPr lang="en-US" altLang="ko-KR" sz="1200" u="none" dirty="0">
                          <a:solidFill>
                            <a:srgbClr val="FF0000"/>
                          </a:solidFill>
                        </a:rPr>
                        <a:t>.</a:t>
                      </a:r>
                      <a:endParaRPr lang="ko-KR" altLang="en-US" sz="1200" u="none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536684"/>
                  </a:ext>
                </a:extLst>
              </a:tr>
              <a:tr h="462423">
                <a:tc vMerge="1"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u="none" dirty="0"/>
                        <a:t>특허권자로 하여금 특허실시계약의 체결을 장려하고 특허실시계약자로 하여금 무효의 소지가 있는 특허에 관하여 조기에 무효소송을 제기하도록 독려하는 효과도 얻을 수 있다</a:t>
                      </a:r>
                      <a:r>
                        <a:rPr lang="en-US" altLang="ko-KR" sz="1200" u="none" dirty="0"/>
                        <a:t>.</a:t>
                      </a:r>
                      <a:endParaRPr lang="ko-KR" altLang="en-US" sz="1200" u="non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기지급</a:t>
                      </a:r>
                      <a:r>
                        <a:rPr lang="ko-KR" altLang="en-US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실시료의 반환을 부정하면 특허실시계약자가 될 자가 특허실시계약을 체결하기보다는 무단실시를 선호하도록 조장할 수 있고</a:t>
                      </a:r>
                      <a:r>
                        <a:rPr lang="en-US" altLang="ko-KR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결국 잠재적인 특허실시계약 예정자로 하여금 무단실시가 아닌 적법한 특허실시계약을 체결하도록 유도하려면 특허가 소급하여 무효로 된 경우 </a:t>
                      </a:r>
                      <a:r>
                        <a:rPr lang="ko-KR" altLang="en-US" sz="1200" u="non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기지급</a:t>
                      </a:r>
                      <a:r>
                        <a:rPr lang="ko-KR" altLang="en-US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실시료의 반환을 인정해 줄 필요가 있다</a:t>
                      </a:r>
                      <a:r>
                        <a:rPr lang="en-US" altLang="ko-KR" sz="1200" u="non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u="none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858181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558919A-1ABB-4F06-87E6-C2FDD7162BCD}"/>
              </a:ext>
            </a:extLst>
          </p:cNvPr>
          <p:cNvSpPr txBox="1"/>
          <p:nvPr/>
        </p:nvSpPr>
        <p:spPr>
          <a:xfrm>
            <a:off x="2819400" y="780001"/>
            <a:ext cx="937788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임상민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, “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특허의 소급 무효와 </a:t>
            </a:r>
            <a:r>
              <a:rPr lang="ko-KR" altLang="en-US" sz="1050" dirty="0" err="1">
                <a:solidFill>
                  <a:schemeClr val="bg1">
                    <a:lumMod val="50000"/>
                  </a:schemeClr>
                </a:solidFill>
              </a:rPr>
              <a:t>기지급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  실시료의 반환 여부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-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대법원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2014. 11. 13.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선고 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2012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다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42666, 42673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판결을 중심으로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–”, 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과학기술과 법 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권 제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050" dirty="0">
                <a:solidFill>
                  <a:schemeClr val="bg1">
                    <a:lumMod val="50000"/>
                  </a:schemeClr>
                </a:solidFill>
              </a:rPr>
              <a:t>호</a:t>
            </a:r>
            <a:r>
              <a:rPr lang="en-US" altLang="ko-KR" sz="1050" dirty="0">
                <a:solidFill>
                  <a:schemeClr val="bg1">
                    <a:lumMod val="50000"/>
                  </a:schemeClr>
                </a:solidFill>
              </a:rPr>
              <a:t>(2015. 12)</a:t>
            </a:r>
            <a:endParaRPr lang="ko-KR" altLang="en-US" sz="105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5181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8EDE4-038A-F4E3-59A6-6118333C2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3281F70-A2EE-EAD7-D8F2-8EC33F304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133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186A45-6386-F634-3383-9AF9564CC6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실시</a:t>
            </a:r>
            <a:r>
              <a:rPr lang="en-US" altLang="ko-KR" dirty="0"/>
              <a:t>(</a:t>
            </a:r>
            <a:r>
              <a:rPr lang="ko-KR" altLang="en-US" dirty="0"/>
              <a:t>금지</a:t>
            </a:r>
            <a:r>
              <a:rPr lang="en-US" altLang="ko-KR" dirty="0"/>
              <a:t>)</a:t>
            </a:r>
            <a:r>
              <a:rPr lang="ko-KR" altLang="en-US" dirty="0"/>
              <a:t> 계약의 효력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2F1ADE-E562-A59B-BA8A-2A3A0CED9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모서리가 둥근 직사각형 10">
            <a:extLst>
              <a:ext uri="{FF2B5EF4-FFF2-40B4-BE49-F238E27FC236}">
                <a16:creationId xmlns:a16="http://schemas.microsoft.com/office/drawing/2014/main" id="{C7FAE5B9-2F25-1A18-05C4-9F3D28FBC006}"/>
              </a:ext>
            </a:extLst>
          </p:cNvPr>
          <p:cNvSpPr/>
          <p:nvPr/>
        </p:nvSpPr>
        <p:spPr bwMode="auto">
          <a:xfrm>
            <a:off x="464181" y="1002199"/>
            <a:ext cx="5097820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2024. 11. 20.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2024</a:t>
            </a:r>
            <a:r>
              <a:rPr lang="ko-KR" altLang="en-US" sz="1400" dirty="0"/>
              <a:t>다</a:t>
            </a:r>
            <a:r>
              <a:rPr lang="en-US" altLang="ko-KR" sz="1400" dirty="0"/>
              <a:t>270105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손해배상</a:t>
            </a:r>
            <a:r>
              <a:rPr lang="en-US" altLang="ko-KR" sz="1400" dirty="0"/>
              <a:t>(</a:t>
            </a:r>
            <a:r>
              <a:rPr lang="ko-KR" altLang="en-US" sz="1400" dirty="0"/>
              <a:t>기</a:t>
            </a:r>
            <a:r>
              <a:rPr lang="en-US" altLang="ko-KR" sz="1400" dirty="0"/>
              <a:t>)】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C7C9785-D68C-22F1-D4F8-9C8B2CA875C2}"/>
              </a:ext>
            </a:extLst>
          </p:cNvPr>
          <p:cNvSpPr/>
          <p:nvPr/>
        </p:nvSpPr>
        <p:spPr>
          <a:xfrm>
            <a:off x="232372" y="1333658"/>
            <a:ext cx="116819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/>
              <a:t>특허권자와 계약상대방 사이에 특허권자의 허락 없는 특허발명 실시를 금지하는 내용의 계약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‘특허발명 </a:t>
            </a:r>
            <a:r>
              <a:rPr lang="ko-KR" altLang="en-US" sz="1200" dirty="0" err="1"/>
              <a:t>실시금지계약’이라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이 체결된 이후에 그 특허가 무효로 확정되었다고 하더라도 특허발명 </a:t>
            </a:r>
            <a:r>
              <a:rPr lang="ko-KR" altLang="en-US" sz="1200" dirty="0">
                <a:highlight>
                  <a:srgbClr val="FFFF00"/>
                </a:highlight>
              </a:rPr>
              <a:t>실시금지계약이 계약 체결 당시부터 원시적으로 이행불능 상태에 있었다고 볼 수는 없고</a:t>
            </a:r>
            <a:r>
              <a:rPr lang="en-US" altLang="ko-KR" sz="1200" dirty="0"/>
              <a:t>, </a:t>
            </a:r>
            <a:r>
              <a:rPr lang="ko-KR" altLang="en-US" sz="1200" dirty="0"/>
              <a:t>다만 </a:t>
            </a:r>
            <a:r>
              <a:rPr lang="ko-KR" altLang="en-US" sz="1200" dirty="0">
                <a:highlight>
                  <a:srgbClr val="FFFF00"/>
                </a:highlight>
              </a:rPr>
              <a:t>그 특허가 무효로 확정된 때부터 특허발명 실시금지계약은 이행불능 상태</a:t>
            </a:r>
            <a:r>
              <a:rPr lang="ko-KR" altLang="en-US" sz="1200" dirty="0"/>
              <a:t>에 빠지게 될 뿐이다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2014. 11. 13.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2012</a:t>
            </a:r>
            <a:r>
              <a:rPr lang="ko-KR" altLang="en-US" sz="1200" dirty="0"/>
              <a:t>다</a:t>
            </a:r>
            <a:r>
              <a:rPr lang="en-US" altLang="ko-KR" sz="1200" dirty="0"/>
              <a:t>42666, 42673 </a:t>
            </a:r>
            <a:r>
              <a:rPr lang="ko-KR" altLang="en-US" sz="1200" dirty="0"/>
              <a:t>판결 등 참조</a:t>
            </a:r>
            <a:r>
              <a:rPr lang="en-US" altLang="ko-KR" sz="1200" dirty="0"/>
              <a:t>). </a:t>
            </a:r>
            <a:r>
              <a:rPr lang="ko-KR" altLang="en-US" sz="1200" dirty="0"/>
              <a:t>따라서 특허발명 실시금지계약 자체에 별도의 무효사유가 없는 </a:t>
            </a:r>
            <a:r>
              <a:rPr lang="ko-KR" altLang="en-US" sz="1200" dirty="0">
                <a:highlight>
                  <a:srgbClr val="FFFF00"/>
                </a:highlight>
              </a:rPr>
              <a:t>한 특허권자는 원칙적으로 위 계약에 따른 특허발명 실시금지의무가 유효하게 존재하는 기간 동안 특허발명을 실시한 계약상대방에 대하여 채무불이행에 따른 손해배상을 청구</a:t>
            </a:r>
            <a:r>
              <a:rPr lang="ko-KR" altLang="en-US" sz="1200" dirty="0"/>
              <a:t>할 수 있다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2019. 4. 25.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2018</a:t>
            </a:r>
            <a:r>
              <a:rPr lang="ko-KR" altLang="en-US" sz="1200" dirty="0"/>
              <a:t>다</a:t>
            </a:r>
            <a:r>
              <a:rPr lang="en-US" altLang="ko-KR" sz="1200" dirty="0"/>
              <a:t>287362 </a:t>
            </a:r>
            <a:r>
              <a:rPr lang="ko-KR" altLang="en-US" sz="1200" dirty="0"/>
              <a:t>판결 등 참조</a:t>
            </a:r>
            <a:r>
              <a:rPr lang="en-US" altLang="ko-KR" sz="1200" dirty="0"/>
              <a:t>). </a:t>
            </a:r>
            <a:r>
              <a:rPr lang="ko-KR" altLang="en-US" sz="1200" dirty="0"/>
              <a:t>이때 계약상대방이 특허발명을 실시한 구체적인 형태가 그 기술분야에서 통상의 지식을 가진 사람이 공지기술로부터 쉽게 실시할 수 있는 이른바 </a:t>
            </a:r>
            <a:r>
              <a:rPr lang="ko-KR" altLang="en-US" sz="1200" dirty="0">
                <a:highlight>
                  <a:srgbClr val="FFFF00"/>
                </a:highlight>
              </a:rPr>
              <a:t>자유실시기술에 해당한다고 하더라도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그러한 사정만으로 계약상대방이 특허권자와의 의사 합치에 따른 특허발명 실시금지계약의 구속력에서 벗어나게 된다고 볼 수는 없다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  <a:endParaRPr lang="en-US" altLang="ko-KR" sz="12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2BB8C33E-6BB0-9FF8-F35B-401A914D6904}"/>
              </a:ext>
            </a:extLst>
          </p:cNvPr>
          <p:cNvCxnSpPr/>
          <p:nvPr/>
        </p:nvCxnSpPr>
        <p:spPr>
          <a:xfrm>
            <a:off x="77875" y="262536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Line 5">
            <a:extLst>
              <a:ext uri="{FF2B5EF4-FFF2-40B4-BE49-F238E27FC236}">
                <a16:creationId xmlns:a16="http://schemas.microsoft.com/office/drawing/2014/main" id="{0A6F9EB5-F74D-D95B-FAB5-FD6FE5EDC9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661" y="3689616"/>
            <a:ext cx="11585697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6B1FA1F-DA72-A51F-A96E-3B81B1B9865A}"/>
              </a:ext>
            </a:extLst>
          </p:cNvPr>
          <p:cNvSpPr txBox="1"/>
          <p:nvPr/>
        </p:nvSpPr>
        <p:spPr>
          <a:xfrm>
            <a:off x="463587" y="3451413"/>
            <a:ext cx="1143589" cy="472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설정등록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A293ED3-4B92-7DB7-A6D4-66D6A5A790D8}"/>
              </a:ext>
            </a:extLst>
          </p:cNvPr>
          <p:cNvSpPr txBox="1"/>
          <p:nvPr/>
        </p:nvSpPr>
        <p:spPr>
          <a:xfrm>
            <a:off x="1907332" y="3451413"/>
            <a:ext cx="1397002" cy="472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실시권허락계약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실시계약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77FAF2-7B8D-7AD8-3CD2-86CE5FDED84F}"/>
              </a:ext>
            </a:extLst>
          </p:cNvPr>
          <p:cNvSpPr txBox="1"/>
          <p:nvPr/>
        </p:nvSpPr>
        <p:spPr>
          <a:xfrm>
            <a:off x="7689467" y="3451413"/>
            <a:ext cx="1143589" cy="472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무효심판청구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57A8C80-5E7D-A995-1BD8-A8D262340720}"/>
              </a:ext>
            </a:extLst>
          </p:cNvPr>
          <p:cNvSpPr txBox="1"/>
          <p:nvPr/>
        </p:nvSpPr>
        <p:spPr>
          <a:xfrm>
            <a:off x="9650179" y="3451413"/>
            <a:ext cx="1143589" cy="472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무효심결확정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A19F6703-0611-A2D1-EB59-7E814DBDF5E8}"/>
              </a:ext>
            </a:extLst>
          </p:cNvPr>
          <p:cNvCxnSpPr>
            <a:cxnSpLocks/>
            <a:stCxn id="60" idx="2"/>
          </p:cNvCxnSpPr>
          <p:nvPr/>
        </p:nvCxnSpPr>
        <p:spPr>
          <a:xfrm>
            <a:off x="2605833" y="3923551"/>
            <a:ext cx="0" cy="52593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71FFF01-C983-A391-D384-2D366DD730EC}"/>
              </a:ext>
            </a:extLst>
          </p:cNvPr>
          <p:cNvCxnSpPr>
            <a:cxnSpLocks/>
            <a:stCxn id="62" idx="2"/>
          </p:cNvCxnSpPr>
          <p:nvPr/>
        </p:nvCxnSpPr>
        <p:spPr>
          <a:xfrm>
            <a:off x="10221974" y="3923551"/>
            <a:ext cx="0" cy="166146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8AB9F996-887F-BBD1-0D44-802C397D68AE}"/>
              </a:ext>
            </a:extLst>
          </p:cNvPr>
          <p:cNvCxnSpPr>
            <a:cxnSpLocks/>
          </p:cNvCxnSpPr>
          <p:nvPr/>
        </p:nvCxnSpPr>
        <p:spPr>
          <a:xfrm>
            <a:off x="2605833" y="4302556"/>
            <a:ext cx="7616140" cy="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50CE9401-591B-929F-BB1A-2947483183E4}"/>
              </a:ext>
            </a:extLst>
          </p:cNvPr>
          <p:cNvSpPr txBox="1"/>
          <p:nvPr/>
        </p:nvSpPr>
        <p:spPr>
          <a:xfrm>
            <a:off x="5183491" y="4016863"/>
            <a:ext cx="109837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乙 </a:t>
            </a:r>
            <a:r>
              <a:rPr lang="ko-KR" altLang="en-US" sz="1200" dirty="0" err="1"/>
              <a:t>실시료</a:t>
            </a:r>
            <a:r>
              <a:rPr lang="ko-KR" altLang="en-US" sz="1200" dirty="0"/>
              <a:t> 지급</a:t>
            </a:r>
            <a:endParaRPr lang="en-US" altLang="ko-KR" sz="1200" dirty="0"/>
          </a:p>
        </p:txBody>
      </p:sp>
      <p:sp>
        <p:nvSpPr>
          <p:cNvPr id="73" name="말풍선: 모서리가 둥근 사각형 72">
            <a:extLst>
              <a:ext uri="{FF2B5EF4-FFF2-40B4-BE49-F238E27FC236}">
                <a16:creationId xmlns:a16="http://schemas.microsoft.com/office/drawing/2014/main" id="{8E7A5535-041E-E4A2-BFCE-994DE5D9351A}"/>
              </a:ext>
            </a:extLst>
          </p:cNvPr>
          <p:cNvSpPr/>
          <p:nvPr/>
        </p:nvSpPr>
        <p:spPr>
          <a:xfrm>
            <a:off x="7862046" y="2770963"/>
            <a:ext cx="3857010" cy="430635"/>
          </a:xfrm>
          <a:prstGeom prst="wedgeRoundRectCallout">
            <a:avLst>
              <a:gd name="adj1" fmla="val 2150"/>
              <a:gd name="adj2" fmla="val 99702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특허권은 처음부터 없었던 것으로 간주되나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</a:p>
          <a:p>
            <a:pPr algn="ctr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실시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금지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계약은 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무효심결이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확정된 때부터 이행불능상태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6D1358E-5FE8-9C58-2073-7BCD7900CBF2}"/>
              </a:ext>
            </a:extLst>
          </p:cNvPr>
          <p:cNvSpPr txBox="1"/>
          <p:nvPr/>
        </p:nvSpPr>
        <p:spPr>
          <a:xfrm>
            <a:off x="3677506" y="3451413"/>
            <a:ext cx="1324798" cy="472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丙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실시권허락계약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실시계약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5D4DF3B-5781-95AF-91D1-8C84B608AB4C}"/>
              </a:ext>
            </a:extLst>
          </p:cNvPr>
          <p:cNvSpPr txBox="1"/>
          <p:nvPr/>
        </p:nvSpPr>
        <p:spPr>
          <a:xfrm>
            <a:off x="5414501" y="3451413"/>
            <a:ext cx="1324798" cy="4721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丁 실시금지계약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A6C5BE05-B370-94B2-51EA-319B0FB01C60}"/>
              </a:ext>
            </a:extLst>
          </p:cNvPr>
          <p:cNvCxnSpPr>
            <a:cxnSpLocks/>
          </p:cNvCxnSpPr>
          <p:nvPr/>
        </p:nvCxnSpPr>
        <p:spPr>
          <a:xfrm>
            <a:off x="8245541" y="3923551"/>
            <a:ext cx="0" cy="166146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3C4083AD-D55B-3791-FDC6-2D856D22370C}"/>
              </a:ext>
            </a:extLst>
          </p:cNvPr>
          <p:cNvCxnSpPr>
            <a:cxnSpLocks/>
          </p:cNvCxnSpPr>
          <p:nvPr/>
        </p:nvCxnSpPr>
        <p:spPr>
          <a:xfrm>
            <a:off x="4339905" y="4598391"/>
            <a:ext cx="3905636" cy="0"/>
          </a:xfrm>
          <a:prstGeom prst="straightConnector1">
            <a:avLst/>
          </a:prstGeom>
          <a:ln w="3810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5529050D-29E5-A1E8-B081-3AC15C8D29BA}"/>
              </a:ext>
            </a:extLst>
          </p:cNvPr>
          <p:cNvSpPr txBox="1"/>
          <p:nvPr/>
        </p:nvSpPr>
        <p:spPr>
          <a:xfrm>
            <a:off x="5757232" y="4638497"/>
            <a:ext cx="1098378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丙 </a:t>
            </a:r>
            <a:r>
              <a:rPr lang="ko-KR" altLang="en-US" sz="1200" dirty="0" err="1"/>
              <a:t>실시료</a:t>
            </a:r>
            <a:r>
              <a:rPr lang="ko-KR" altLang="en-US" sz="1200" dirty="0"/>
              <a:t> 지급</a:t>
            </a:r>
            <a:endParaRPr lang="en-US" altLang="ko-KR" sz="1200" dirty="0"/>
          </a:p>
        </p:txBody>
      </p: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DF804CEF-D68F-951B-ABAD-C6030E28FDBA}"/>
              </a:ext>
            </a:extLst>
          </p:cNvPr>
          <p:cNvCxnSpPr>
            <a:cxnSpLocks/>
          </p:cNvCxnSpPr>
          <p:nvPr/>
        </p:nvCxnSpPr>
        <p:spPr>
          <a:xfrm>
            <a:off x="8261261" y="4598391"/>
            <a:ext cx="1968300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11F616CF-5865-0AF9-E99E-D18D2D3EB8A1}"/>
              </a:ext>
            </a:extLst>
          </p:cNvPr>
          <p:cNvSpPr txBox="1"/>
          <p:nvPr/>
        </p:nvSpPr>
        <p:spPr>
          <a:xfrm>
            <a:off x="8572722" y="4638497"/>
            <a:ext cx="1236236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丙 </a:t>
            </a:r>
            <a:r>
              <a:rPr lang="ko-KR" altLang="en-US" sz="1200" dirty="0" err="1"/>
              <a:t>실시료</a:t>
            </a:r>
            <a:r>
              <a:rPr lang="ko-KR" altLang="en-US" sz="1200" dirty="0"/>
              <a:t> 미지급</a:t>
            </a:r>
            <a:endParaRPr lang="en-US" altLang="ko-KR" sz="1200" dirty="0"/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FBC8B33B-6AD7-E1AC-BC89-D06B65071210}"/>
              </a:ext>
            </a:extLst>
          </p:cNvPr>
          <p:cNvCxnSpPr>
            <a:cxnSpLocks/>
          </p:cNvCxnSpPr>
          <p:nvPr/>
        </p:nvCxnSpPr>
        <p:spPr>
          <a:xfrm>
            <a:off x="6044562" y="3923551"/>
            <a:ext cx="22261" cy="159870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4336C1B1-6DC8-CD88-DF8E-03E44753F589}"/>
              </a:ext>
            </a:extLst>
          </p:cNvPr>
          <p:cNvCxnSpPr>
            <a:cxnSpLocks/>
          </p:cNvCxnSpPr>
          <p:nvPr/>
        </p:nvCxnSpPr>
        <p:spPr>
          <a:xfrm>
            <a:off x="6066823" y="5252815"/>
            <a:ext cx="4162738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53A18721-879B-05F2-3EBC-82A355019D53}"/>
              </a:ext>
            </a:extLst>
          </p:cNvPr>
          <p:cNvSpPr txBox="1"/>
          <p:nvPr/>
        </p:nvSpPr>
        <p:spPr>
          <a:xfrm>
            <a:off x="7756129" y="5292920"/>
            <a:ext cx="917239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丁 무단실시</a:t>
            </a:r>
            <a:endParaRPr lang="en-US" altLang="ko-KR" sz="1200" dirty="0"/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D426BD7E-394E-2661-4E2E-7168FA5EB7C2}"/>
              </a:ext>
            </a:extLst>
          </p:cNvPr>
          <p:cNvCxnSpPr>
            <a:cxnSpLocks/>
          </p:cNvCxnSpPr>
          <p:nvPr/>
        </p:nvCxnSpPr>
        <p:spPr>
          <a:xfrm>
            <a:off x="4354938" y="3923551"/>
            <a:ext cx="0" cy="112357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말풍선: 모서리가 둥근 사각형 109">
            <a:extLst>
              <a:ext uri="{FF2B5EF4-FFF2-40B4-BE49-F238E27FC236}">
                <a16:creationId xmlns:a16="http://schemas.microsoft.com/office/drawing/2014/main" id="{151E26DF-D108-99CC-A417-5B869ACE68C8}"/>
              </a:ext>
            </a:extLst>
          </p:cNvPr>
          <p:cNvSpPr/>
          <p:nvPr/>
        </p:nvSpPr>
        <p:spPr>
          <a:xfrm>
            <a:off x="2708635" y="5038303"/>
            <a:ext cx="2663451" cy="609320"/>
          </a:xfrm>
          <a:prstGeom prst="wedgeRoundRectCallout">
            <a:avLst>
              <a:gd name="adj1" fmla="val 48752"/>
              <a:gd name="adj2" fmla="val -179587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甲이 부당이득으로 乙에게 반환 불필요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(2012</a:t>
            </a:r>
            <a:r>
              <a:rPr lang="ko-KR" altLang="en-US" sz="1200" dirty="0">
                <a:solidFill>
                  <a:srgbClr val="FF0000"/>
                </a:solidFill>
              </a:rPr>
              <a:t>다</a:t>
            </a:r>
            <a:r>
              <a:rPr lang="en-US" altLang="ko-KR" sz="1200" dirty="0">
                <a:solidFill>
                  <a:srgbClr val="FF0000"/>
                </a:solidFill>
              </a:rPr>
              <a:t>42666, 42673)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11" name="말풍선: 모서리가 둥근 사각형 110">
            <a:extLst>
              <a:ext uri="{FF2B5EF4-FFF2-40B4-BE49-F238E27FC236}">
                <a16:creationId xmlns:a16="http://schemas.microsoft.com/office/drawing/2014/main" id="{3A3A60B6-51B3-E33B-E428-BA04138ADEBF}"/>
              </a:ext>
            </a:extLst>
          </p:cNvPr>
          <p:cNvSpPr/>
          <p:nvPr/>
        </p:nvSpPr>
        <p:spPr>
          <a:xfrm>
            <a:off x="9221875" y="5548650"/>
            <a:ext cx="2663451" cy="609320"/>
          </a:xfrm>
          <a:prstGeom prst="wedgeRoundRectCallout">
            <a:avLst>
              <a:gd name="adj1" fmla="val -30008"/>
              <a:gd name="adj2" fmla="val -170760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甲이 丙에게 </a:t>
            </a:r>
            <a:r>
              <a:rPr lang="ko-KR" altLang="en-US" sz="1200" dirty="0" err="1">
                <a:solidFill>
                  <a:srgbClr val="FF0000"/>
                </a:solidFill>
              </a:rPr>
              <a:t>실시료</a:t>
            </a:r>
            <a:r>
              <a:rPr lang="ko-KR" altLang="en-US" sz="1200" dirty="0">
                <a:solidFill>
                  <a:srgbClr val="FF0000"/>
                </a:solidFill>
              </a:rPr>
              <a:t> 지급 청구 가능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(2018</a:t>
            </a:r>
            <a:r>
              <a:rPr lang="ko-KR" altLang="en-US" sz="1200" dirty="0">
                <a:solidFill>
                  <a:srgbClr val="FF0000"/>
                </a:solidFill>
              </a:rPr>
              <a:t>다</a:t>
            </a:r>
            <a:r>
              <a:rPr lang="en-US" altLang="ko-KR" sz="1200" dirty="0">
                <a:solidFill>
                  <a:srgbClr val="FF0000"/>
                </a:solidFill>
              </a:rPr>
              <a:t>287362)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12" name="말풍선: 모서리가 둥근 사각형 111">
            <a:extLst>
              <a:ext uri="{FF2B5EF4-FFF2-40B4-BE49-F238E27FC236}">
                <a16:creationId xmlns:a16="http://schemas.microsoft.com/office/drawing/2014/main" id="{99D04022-0A89-0388-BE42-C751409177AB}"/>
              </a:ext>
            </a:extLst>
          </p:cNvPr>
          <p:cNvSpPr/>
          <p:nvPr/>
        </p:nvSpPr>
        <p:spPr>
          <a:xfrm>
            <a:off x="5628787" y="6086532"/>
            <a:ext cx="3327388" cy="609320"/>
          </a:xfrm>
          <a:prstGeom prst="wedgeRoundRectCallout">
            <a:avLst>
              <a:gd name="adj1" fmla="val 34898"/>
              <a:gd name="adj2" fmla="val -128093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甲이 丁에게 계약 위반에 따른 손해배상청구가능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200" dirty="0">
                <a:solidFill>
                  <a:srgbClr val="FF0000"/>
                </a:solidFill>
              </a:rPr>
              <a:t>(2024</a:t>
            </a:r>
            <a:r>
              <a:rPr lang="ko-KR" altLang="en-US" sz="1200" dirty="0">
                <a:solidFill>
                  <a:srgbClr val="FF0000"/>
                </a:solidFill>
              </a:rPr>
              <a:t>다</a:t>
            </a:r>
            <a:r>
              <a:rPr lang="en-US" altLang="ko-KR" sz="1200" dirty="0">
                <a:solidFill>
                  <a:srgbClr val="FF0000"/>
                </a:solidFill>
              </a:rPr>
              <a:t>270105)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5054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468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 err="1"/>
              <a:t>무효심판의</a:t>
            </a:r>
            <a:r>
              <a:rPr lang="ko-KR" altLang="en-US" dirty="0"/>
              <a:t> 법조문 비교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808872"/>
              </p:ext>
            </p:extLst>
          </p:nvPr>
        </p:nvGraphicFramePr>
        <p:xfrm>
          <a:off x="184731" y="973051"/>
          <a:ext cx="11724504" cy="56235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908168">
                  <a:extLst>
                    <a:ext uri="{9D8B030D-6E8A-4147-A177-3AD203B41FA5}">
                      <a16:colId xmlns:a16="http://schemas.microsoft.com/office/drawing/2014/main" val="3715525229"/>
                    </a:ext>
                  </a:extLst>
                </a:gridCol>
                <a:gridCol w="4235853">
                  <a:extLst>
                    <a:ext uri="{9D8B030D-6E8A-4147-A177-3AD203B41FA5}">
                      <a16:colId xmlns:a16="http://schemas.microsoft.com/office/drawing/2014/main" val="141959867"/>
                    </a:ext>
                  </a:extLst>
                </a:gridCol>
                <a:gridCol w="3580483">
                  <a:extLst>
                    <a:ext uri="{9D8B030D-6E8A-4147-A177-3AD203B41FA5}">
                      <a16:colId xmlns:a16="http://schemas.microsoft.com/office/drawing/2014/main" val="2937501546"/>
                    </a:ext>
                  </a:extLst>
                </a:gridCol>
              </a:tblGrid>
              <a:tr h="2037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특허무효심판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 err="1"/>
                        <a:t>존속기간연장등록무효심판</a:t>
                      </a:r>
                      <a:endParaRPr lang="ko-KR" altLang="en-US" sz="105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/>
                        <a:t>정정무효심판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33114"/>
                  </a:ext>
                </a:extLst>
              </a:tr>
              <a:tr h="3064689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특허의 무효심판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이해관계인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 본문의 경우에는 특허를 받을 수 있는 권리를 가진 자만 해당한다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또는 심사관은 특허가 다음 각 호의 어느 하나에 해당하는 경우에는 무효심판을 청구할 수 있다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청구범위의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청구항이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둘 이상인 경우에는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청구항마다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청구할 수 있다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altLang="ko-KR" sz="10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 또는 같은 조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위반한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본문에 따른 특허를 받을 수 있는 권리를 가지지 아니하거나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조를 위반한 경우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이전등록된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경우에는 제외한다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단서에 따라 특허를 받을 수 없는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특허된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후 그 특허권자가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조에 따라 특허권을 누릴 수 없는 자로 되거나 그 특허가 조약을 위반한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조약을 위반하여 특허를 받을 수 없는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전단에 따른 범위를 벗어난 보정인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범위를 벗어난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분할출원인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경우 또는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각 호 외의 부분 전단에 따른 범위를 벗어난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분리출원인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범위를 벗어난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변경출원인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경우</a:t>
                      </a: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심판은 특허권이 소멸된 후에도 청구할 수 있다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특허를 무효로 한다는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심결이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확정된 경우에는 그 특허권은 처음부터 없었던 것으로 본다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호에 따라 특허를 무효로 한다는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심결이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확정된 경우에는 특허권은 그 특허가 같은 호에 해당하게 된 때부터 없었던 것으로 본다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심판장은 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심판이 청구된 경우에는 그 취지를 해당 특허권의 전용실시권자나 그 밖에 특허에 관하여 등록을 한 권리를 가지는 자에게 알려야 한다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134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특허권 존속기간의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연장등록의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무효심판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이해관계인 또는 심사관은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조에 따른 특허권의 존속기간의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다음 각 호의 어느 하나에 해당하는 경우에는 무효심판을 청구할 수 있다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특허발명을 실시하기 위하여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조에 따른 허가 등을 받을 필요가 없는 출원에 대하여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된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특허권자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또는 그 특허권의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전용실시권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또는 등록된 통상실시권을 가진 자가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조에 따른 허가 등을 받지 아니한 출원에 대하여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된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연장등록에 따라 연장된 기간이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조에 따라 인정되는 연장의 기간을 초과하는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특허권자가 아닌 자의 출원에 대하여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된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위반한 출원에 대하여 연장등록이 된 경우 </a:t>
                      </a:r>
                      <a:endParaRPr lang="en-US" altLang="ko-KR" sz="10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위반하여 하나의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허가등에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대하여 둘 이상의 특허권의 존속기간이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연장등록된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경우</a:t>
                      </a: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이해관계인 또는 심사관은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따른 특허권의 존속기간의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다음 각 호의 어느 하나에 해당하면 무효심판을 청구할 수 있다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연장등록에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따라 연장된 기간이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따라 인정되는 연장의 기간을 초과한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해당 특허권자가 아닌 자의 출원에 대하여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된 경우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위반한 출원에 대하여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연장등록이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된 경우</a:t>
                      </a: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심판의 청구에 관하여는 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준용한다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연장등록을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무효로 한다는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심결이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확정된 경우에는 그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연장등록에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따른 존속기간의 연장은 처음부터 없었던 것으로 본다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연장등록이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다음 각 호의 어느 하나에 해당하는 경우에는 해당 기간에 대해서만 연장이 없었던 것으로 본다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연장등록이 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호에 해당하여 무효로 된 경우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89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조에 따라 인정되는 연장의 기간을 초과하여 연장된 기간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연장등록이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호에 해당하여 무효로 된 경우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92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따라 인정되는 연장의 기간을 초과하여 연장된 기간</a:t>
                      </a:r>
                      <a:endParaRPr lang="en-US" altLang="ko-KR" sz="10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연장등록이 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호에 해당하여 무효로 한다는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심결이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확정된 경우에는 그 특허권의 존속기간의 연장등록출원은 처음부터 없었던 것으로 본다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정정의 무효심판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이해관계인 또는 심사관은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이 조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특허발명의 명세서 또는 도면에 대한 정정이 다음 각 호의 어느 하나의 규정을 위반한 경우에는 정정의 무효심판을 청구할 수 있다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각 호의 어느 하나의 규정</a:t>
                      </a:r>
                    </a:p>
                    <a:p>
                      <a:pPr fontAlgn="base" latinLnBrk="1"/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항까지의 규정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준용되는 경우를 포함한다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심판청구에 관하여는 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준용한다</a:t>
                      </a:r>
                      <a:r>
                        <a:rPr lang="en-US" altLang="ko-KR" sz="105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무효심판의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피청구인은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각 호의 어느 하나에 해당하는 경우에만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147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159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후단에 따라 지정된 기간에 특허발명의 명세서 또는 도면의 정정을 청구할 수 있다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심판장이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147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기간 후에도 청구인이 증거를 제출하거나 새로운 무효사유를 주장함으로 인하여 정정의 청구를 허용할 필요가 있다고 인정하는 경우에는 기간을 정하여 정정청구를 하게 할 수 있다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05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정정청구에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관하여는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항까지의 규정을 준용한다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중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은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보고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같은 조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후단 중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보며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같은 조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각 호 외의 부분 및 같은 항 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 중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각각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본다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제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정정을 무효로 한다는 </a:t>
                      </a:r>
                      <a:r>
                        <a:rPr lang="ko-KR" altLang="en-US" sz="105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심결이</a:t>
                      </a:r>
                      <a:r>
                        <a:rPr lang="ko-KR" altLang="en-US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확정되었을 때에는 그 정정은 처음부터 없었던 것으로 본다</a:t>
                      </a:r>
                      <a:r>
                        <a:rPr lang="en-US" altLang="ko-KR" sz="105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05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305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72181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469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무효심판의 법조문 구조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467EEE-D6F4-178B-49C2-5728536BB036}"/>
              </a:ext>
            </a:extLst>
          </p:cNvPr>
          <p:cNvSpPr txBox="1"/>
          <p:nvPr/>
        </p:nvSpPr>
        <p:spPr>
          <a:xfrm>
            <a:off x="1971332" y="2984798"/>
            <a:ext cx="2350907" cy="340519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① </a:t>
            </a:r>
            <a:r>
              <a:rPr lang="ko-KR" altLang="en-US" sz="1400" dirty="0"/>
              <a:t>요건</a:t>
            </a:r>
            <a:r>
              <a:rPr lang="en-US" altLang="ko-KR" sz="1400" dirty="0"/>
              <a:t>(</a:t>
            </a:r>
            <a:r>
              <a:rPr lang="ko-KR" altLang="en-US" sz="1400" dirty="0"/>
              <a:t>주체</a:t>
            </a:r>
            <a:r>
              <a:rPr lang="en-US" altLang="ko-KR" sz="1400" dirty="0"/>
              <a:t>/</a:t>
            </a:r>
            <a:r>
              <a:rPr lang="ko-KR" altLang="en-US" sz="1400" dirty="0"/>
              <a:t>객체</a:t>
            </a:r>
            <a:r>
              <a:rPr lang="en-US" altLang="ko-KR" sz="1400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ED253D-AB24-AD3A-9669-AE98AA21B4D2}"/>
              </a:ext>
            </a:extLst>
          </p:cNvPr>
          <p:cNvSpPr txBox="1"/>
          <p:nvPr/>
        </p:nvSpPr>
        <p:spPr>
          <a:xfrm>
            <a:off x="1971332" y="3377870"/>
            <a:ext cx="2350907" cy="340519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② 요건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시기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38B995-4BB5-073A-BC68-59512BBEC3F8}"/>
              </a:ext>
            </a:extLst>
          </p:cNvPr>
          <p:cNvSpPr txBox="1"/>
          <p:nvPr/>
        </p:nvSpPr>
        <p:spPr>
          <a:xfrm>
            <a:off x="1971332" y="3755752"/>
            <a:ext cx="2350907" cy="340519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③ </a:t>
            </a:r>
            <a:r>
              <a:rPr lang="ko-KR" altLang="en-US" sz="1400" dirty="0">
                <a:solidFill>
                  <a:schemeClr val="bg1"/>
                </a:solidFill>
              </a:rPr>
              <a:t>효과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9E91F9-6068-DC4D-08B3-5754ED7755A2}"/>
              </a:ext>
            </a:extLst>
          </p:cNvPr>
          <p:cNvSpPr txBox="1"/>
          <p:nvPr/>
        </p:nvSpPr>
        <p:spPr>
          <a:xfrm>
            <a:off x="1971332" y="4127614"/>
            <a:ext cx="2350907" cy="340519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④ </a:t>
            </a:r>
            <a:r>
              <a:rPr lang="ko-KR" altLang="en-US" sz="1400" dirty="0">
                <a:solidFill>
                  <a:schemeClr val="bg1"/>
                </a:solidFill>
              </a:rPr>
              <a:t>절차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969FE3-D782-8DDA-7C2D-881802DFB140}"/>
              </a:ext>
            </a:extLst>
          </p:cNvPr>
          <p:cNvSpPr txBox="1"/>
          <p:nvPr/>
        </p:nvSpPr>
        <p:spPr>
          <a:xfrm>
            <a:off x="1971332" y="2626221"/>
            <a:ext cx="2350907" cy="307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133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r>
              <a:rPr lang="en-US" altLang="ko-KR" sz="1400" dirty="0">
                <a:solidFill>
                  <a:schemeClr val="bg1"/>
                </a:solidFill>
              </a:rPr>
              <a:t>【</a:t>
            </a:r>
            <a:r>
              <a:rPr lang="ko-KR" altLang="en-US" sz="1400" dirty="0">
                <a:solidFill>
                  <a:schemeClr val="bg1"/>
                </a:solidFill>
              </a:rPr>
              <a:t>특허의 무효심판</a:t>
            </a:r>
            <a:r>
              <a:rPr lang="en-US" altLang="ko-KR" sz="1400" dirty="0">
                <a:solidFill>
                  <a:schemeClr val="bg1"/>
                </a:solidFill>
              </a:rPr>
              <a:t>】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2030A3-590E-312A-921B-F1BDCDA43FBB}"/>
              </a:ext>
            </a:extLst>
          </p:cNvPr>
          <p:cNvSpPr txBox="1"/>
          <p:nvPr/>
        </p:nvSpPr>
        <p:spPr>
          <a:xfrm>
            <a:off x="6939846" y="1538436"/>
            <a:ext cx="2350907" cy="302955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spAutoFit/>
          </a:bodyPr>
          <a:lstStyle/>
          <a:p>
            <a:r>
              <a:rPr lang="en-US" altLang="ko-KR" sz="1400" dirty="0"/>
              <a:t>① </a:t>
            </a:r>
            <a:r>
              <a:rPr lang="ko-KR" altLang="en-US" sz="1400" dirty="0"/>
              <a:t>허가 등 요건</a:t>
            </a:r>
            <a:r>
              <a:rPr lang="en-US" altLang="ko-KR" sz="1400" dirty="0"/>
              <a:t>(</a:t>
            </a:r>
            <a:r>
              <a:rPr lang="ko-KR" altLang="en-US" sz="1400" dirty="0"/>
              <a:t>주체</a:t>
            </a:r>
            <a:r>
              <a:rPr lang="en-US" altLang="ko-KR" sz="1400" dirty="0"/>
              <a:t>/</a:t>
            </a:r>
            <a:r>
              <a:rPr lang="ko-KR" altLang="en-US" sz="1400" dirty="0"/>
              <a:t>객체</a:t>
            </a:r>
            <a:r>
              <a:rPr lang="en-US" altLang="ko-KR" sz="1400" dirty="0"/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DF137C-0B96-E5F4-4844-34387EA85AD1}"/>
              </a:ext>
            </a:extLst>
          </p:cNvPr>
          <p:cNvSpPr txBox="1"/>
          <p:nvPr/>
        </p:nvSpPr>
        <p:spPr>
          <a:xfrm>
            <a:off x="6939846" y="1939128"/>
            <a:ext cx="2350907" cy="302955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spAutoFit/>
          </a:bodyPr>
          <a:lstStyle/>
          <a:p>
            <a:r>
              <a:rPr lang="ko-KR" altLang="en-US" sz="1400" dirty="0"/>
              <a:t>② 등록 지연 요건</a:t>
            </a:r>
            <a:r>
              <a:rPr lang="en-US" altLang="ko-KR" sz="1400" dirty="0"/>
              <a:t>(</a:t>
            </a:r>
            <a:r>
              <a:rPr lang="ko-KR" altLang="en-US" sz="1400" dirty="0"/>
              <a:t>주체</a:t>
            </a:r>
            <a:r>
              <a:rPr lang="en-US" altLang="ko-KR" sz="1400" dirty="0"/>
              <a:t>/</a:t>
            </a:r>
            <a:r>
              <a:rPr lang="ko-KR" altLang="en-US" sz="1400" dirty="0"/>
              <a:t>객체</a:t>
            </a:r>
            <a:r>
              <a:rPr lang="en-US" altLang="ko-KR" sz="1400" dirty="0"/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AEA8CF-14AD-2986-CC51-ABA843EED87D}"/>
              </a:ext>
            </a:extLst>
          </p:cNvPr>
          <p:cNvSpPr txBox="1"/>
          <p:nvPr/>
        </p:nvSpPr>
        <p:spPr>
          <a:xfrm>
            <a:off x="6939846" y="2317010"/>
            <a:ext cx="2350907" cy="302955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③ </a:t>
            </a:r>
            <a:r>
              <a:rPr lang="ko-KR" altLang="en-US" sz="1400" dirty="0">
                <a:solidFill>
                  <a:schemeClr val="bg1"/>
                </a:solidFill>
              </a:rPr>
              <a:t>요건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시기</a:t>
            </a:r>
            <a:r>
              <a:rPr lang="en-US" altLang="ko-KR" sz="1400" dirty="0">
                <a:solidFill>
                  <a:schemeClr val="bg1"/>
                </a:solidFill>
              </a:rPr>
              <a:t>) </a:t>
            </a:r>
            <a:r>
              <a:rPr lang="ko-KR" altLang="en-US" sz="1400" dirty="0">
                <a:solidFill>
                  <a:schemeClr val="bg1"/>
                </a:solidFill>
              </a:rPr>
              <a:t>및 절차 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DC66E9-379E-570E-E543-6FABCEDDCA06}"/>
              </a:ext>
            </a:extLst>
          </p:cNvPr>
          <p:cNvSpPr txBox="1"/>
          <p:nvPr/>
        </p:nvSpPr>
        <p:spPr>
          <a:xfrm>
            <a:off x="6939846" y="2688872"/>
            <a:ext cx="2350907" cy="302955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④ </a:t>
            </a:r>
            <a:r>
              <a:rPr lang="ko-KR" altLang="en-US" sz="1400" dirty="0">
                <a:solidFill>
                  <a:schemeClr val="bg1"/>
                </a:solidFill>
              </a:rPr>
              <a:t>효과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4EF934-4A13-3FCF-5B73-1B7859EB134F}"/>
              </a:ext>
            </a:extLst>
          </p:cNvPr>
          <p:cNvSpPr txBox="1"/>
          <p:nvPr/>
        </p:nvSpPr>
        <p:spPr>
          <a:xfrm>
            <a:off x="6939846" y="1179859"/>
            <a:ext cx="3994854" cy="307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134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r>
              <a:rPr lang="en-US" altLang="ko-KR" sz="1400" dirty="0">
                <a:solidFill>
                  <a:schemeClr val="bg1"/>
                </a:solidFill>
              </a:rPr>
              <a:t>【</a:t>
            </a:r>
            <a:r>
              <a:rPr lang="ko-KR" altLang="en-US" sz="1400" dirty="0">
                <a:solidFill>
                  <a:schemeClr val="bg1"/>
                </a:solidFill>
              </a:rPr>
              <a:t>특허권 존속기간의 연장등록의 무효심판</a:t>
            </a:r>
            <a:r>
              <a:rPr lang="en-US" altLang="ko-KR" sz="1400" dirty="0">
                <a:solidFill>
                  <a:schemeClr val="bg1"/>
                </a:solidFill>
              </a:rPr>
              <a:t>】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3EA2A4D-F015-E712-546B-19759D5CC4C4}"/>
              </a:ext>
            </a:extLst>
          </p:cNvPr>
          <p:cNvSpPr txBox="1"/>
          <p:nvPr/>
        </p:nvSpPr>
        <p:spPr>
          <a:xfrm>
            <a:off x="6939846" y="4476002"/>
            <a:ext cx="2350907" cy="340519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① </a:t>
            </a:r>
            <a:r>
              <a:rPr lang="ko-KR" altLang="en-US" sz="1400" dirty="0"/>
              <a:t>요건</a:t>
            </a:r>
            <a:r>
              <a:rPr lang="en-US" altLang="ko-KR" sz="1400" dirty="0"/>
              <a:t>(</a:t>
            </a:r>
            <a:r>
              <a:rPr lang="ko-KR" altLang="en-US" sz="1400" dirty="0"/>
              <a:t>주체</a:t>
            </a:r>
            <a:r>
              <a:rPr lang="en-US" altLang="ko-KR" sz="1400" dirty="0"/>
              <a:t>/</a:t>
            </a:r>
            <a:r>
              <a:rPr lang="ko-KR" altLang="en-US" sz="1400" dirty="0"/>
              <a:t>객체</a:t>
            </a:r>
            <a:r>
              <a:rPr lang="en-US" altLang="ko-KR" sz="1400" dirty="0"/>
              <a:t>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836713-D883-3661-1944-7ED3E7F691D0}"/>
              </a:ext>
            </a:extLst>
          </p:cNvPr>
          <p:cNvSpPr txBox="1"/>
          <p:nvPr/>
        </p:nvSpPr>
        <p:spPr>
          <a:xfrm>
            <a:off x="6939846" y="4853834"/>
            <a:ext cx="2350907" cy="340519"/>
          </a:xfrm>
          <a:prstGeom prst="roundRect">
            <a:avLst>
              <a:gd name="adj" fmla="val 5000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② 요건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시기</a:t>
            </a:r>
            <a:r>
              <a:rPr lang="en-US" altLang="ko-KR" sz="1400" dirty="0">
                <a:solidFill>
                  <a:schemeClr val="bg1"/>
                </a:solidFill>
              </a:rPr>
              <a:t>) </a:t>
            </a:r>
            <a:r>
              <a:rPr lang="ko-KR" altLang="en-US" sz="1400" dirty="0">
                <a:solidFill>
                  <a:schemeClr val="bg1"/>
                </a:solidFill>
              </a:rPr>
              <a:t>및 절차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9AE1E89-0A51-4BBE-4681-C02BBEDB0713}"/>
              </a:ext>
            </a:extLst>
          </p:cNvPr>
          <p:cNvSpPr txBox="1"/>
          <p:nvPr/>
        </p:nvSpPr>
        <p:spPr>
          <a:xfrm>
            <a:off x="6939846" y="5231716"/>
            <a:ext cx="2350907" cy="340519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③ </a:t>
            </a:r>
            <a:r>
              <a:rPr lang="ko-KR" altLang="en-US" sz="1400" dirty="0"/>
              <a:t>정정청구</a:t>
            </a:r>
            <a:r>
              <a:rPr lang="en-US" altLang="ko-KR" sz="1400" dirty="0"/>
              <a:t>(</a:t>
            </a:r>
            <a:r>
              <a:rPr lang="ko-KR" altLang="en-US" sz="1400" dirty="0"/>
              <a:t>의의</a:t>
            </a:r>
            <a:r>
              <a:rPr lang="en-US" altLang="ko-KR" sz="1400" dirty="0"/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045C45-B88A-B0AB-505D-66F028D38401}"/>
              </a:ext>
            </a:extLst>
          </p:cNvPr>
          <p:cNvSpPr txBox="1"/>
          <p:nvPr/>
        </p:nvSpPr>
        <p:spPr>
          <a:xfrm>
            <a:off x="6939846" y="5603578"/>
            <a:ext cx="2350907" cy="340519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④ </a:t>
            </a:r>
            <a:r>
              <a:rPr lang="ko-KR" altLang="en-US" sz="1400" dirty="0"/>
              <a:t>정정청구</a:t>
            </a:r>
            <a:r>
              <a:rPr lang="en-US" altLang="ko-KR" sz="1400" dirty="0"/>
              <a:t>(</a:t>
            </a:r>
            <a:r>
              <a:rPr lang="ko-KR" altLang="en-US" sz="1400" dirty="0"/>
              <a:t>준용</a:t>
            </a:r>
            <a:r>
              <a:rPr lang="en-US" altLang="ko-KR" sz="1400" dirty="0"/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13D474-3018-5661-607D-4535CC609B7A}"/>
              </a:ext>
            </a:extLst>
          </p:cNvPr>
          <p:cNvSpPr txBox="1"/>
          <p:nvPr/>
        </p:nvSpPr>
        <p:spPr>
          <a:xfrm>
            <a:off x="6939846" y="4117425"/>
            <a:ext cx="2350907" cy="307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137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r>
              <a:rPr lang="en-US" altLang="ko-KR" sz="1400" dirty="0">
                <a:solidFill>
                  <a:schemeClr val="bg1"/>
                </a:solidFill>
              </a:rPr>
              <a:t>【</a:t>
            </a:r>
            <a:r>
              <a:rPr lang="ko-KR" altLang="en-US" sz="1400" dirty="0">
                <a:solidFill>
                  <a:schemeClr val="bg1"/>
                </a:solidFill>
              </a:rPr>
              <a:t>정정의 무효심판</a:t>
            </a:r>
            <a:r>
              <a:rPr lang="en-US" altLang="ko-KR" sz="1400" dirty="0">
                <a:solidFill>
                  <a:schemeClr val="bg1"/>
                </a:solidFill>
              </a:rPr>
              <a:t>】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8FFB11-E518-71EE-75F1-006B9E6D3BC7}"/>
              </a:ext>
            </a:extLst>
          </p:cNvPr>
          <p:cNvSpPr txBox="1"/>
          <p:nvPr/>
        </p:nvSpPr>
        <p:spPr>
          <a:xfrm>
            <a:off x="6939846" y="5975440"/>
            <a:ext cx="2350907" cy="340519"/>
          </a:xfrm>
          <a:prstGeom prst="roundRect">
            <a:avLst>
              <a:gd name="adj" fmla="val 50000"/>
            </a:avLst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⑤ </a:t>
            </a:r>
            <a:r>
              <a:rPr lang="ko-KR" altLang="en-US" sz="1400" dirty="0">
                <a:solidFill>
                  <a:schemeClr val="bg1"/>
                </a:solidFill>
              </a:rPr>
              <a:t>효과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97705847-13DE-CC4F-905A-CC6AB0AE4C57}"/>
              </a:ext>
            </a:extLst>
          </p:cNvPr>
          <p:cNvCxnSpPr/>
          <p:nvPr/>
        </p:nvCxnSpPr>
        <p:spPr>
          <a:xfrm flipV="1">
            <a:off x="4322239" y="1708696"/>
            <a:ext cx="2617607" cy="14463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037B51AE-4BB3-9D69-105E-BD1DEAE81BCA}"/>
              </a:ext>
            </a:extLst>
          </p:cNvPr>
          <p:cNvCxnSpPr/>
          <p:nvPr/>
        </p:nvCxnSpPr>
        <p:spPr>
          <a:xfrm flipV="1">
            <a:off x="4322239" y="2071288"/>
            <a:ext cx="2617607" cy="108377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9156B917-775F-A56F-BC8A-546906DB4146}"/>
              </a:ext>
            </a:extLst>
          </p:cNvPr>
          <p:cNvCxnSpPr/>
          <p:nvPr/>
        </p:nvCxnSpPr>
        <p:spPr>
          <a:xfrm flipV="1">
            <a:off x="4322239" y="2449170"/>
            <a:ext cx="2617607" cy="106848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6ABB279E-8DCA-2F54-9CFF-DAFB35B00965}"/>
              </a:ext>
            </a:extLst>
          </p:cNvPr>
          <p:cNvCxnSpPr/>
          <p:nvPr/>
        </p:nvCxnSpPr>
        <p:spPr>
          <a:xfrm flipV="1">
            <a:off x="4322239" y="2449170"/>
            <a:ext cx="2617607" cy="181822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3E0BDE5-9087-0D01-A62D-AB43581479B2}"/>
              </a:ext>
            </a:extLst>
          </p:cNvPr>
          <p:cNvCxnSpPr/>
          <p:nvPr/>
        </p:nvCxnSpPr>
        <p:spPr>
          <a:xfrm flipV="1">
            <a:off x="4322239" y="2821032"/>
            <a:ext cx="2617607" cy="10745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674E37C-222C-35DC-728E-C7795139EFE0}"/>
              </a:ext>
            </a:extLst>
          </p:cNvPr>
          <p:cNvCxnSpPr>
            <a:cxnSpLocks/>
          </p:cNvCxnSpPr>
          <p:nvPr/>
        </p:nvCxnSpPr>
        <p:spPr>
          <a:xfrm>
            <a:off x="4322239" y="3895532"/>
            <a:ext cx="2617607" cy="22349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58CE7F85-B5F8-BFED-4B9E-B55145A7E153}"/>
              </a:ext>
            </a:extLst>
          </p:cNvPr>
          <p:cNvCxnSpPr>
            <a:cxnSpLocks/>
          </p:cNvCxnSpPr>
          <p:nvPr/>
        </p:nvCxnSpPr>
        <p:spPr>
          <a:xfrm>
            <a:off x="4322239" y="3517650"/>
            <a:ext cx="2617607" cy="14912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2936BB29-C8F0-E377-E7FF-31AC9BC26478}"/>
              </a:ext>
            </a:extLst>
          </p:cNvPr>
          <p:cNvCxnSpPr>
            <a:cxnSpLocks/>
          </p:cNvCxnSpPr>
          <p:nvPr/>
        </p:nvCxnSpPr>
        <p:spPr>
          <a:xfrm>
            <a:off x="4322239" y="4267394"/>
            <a:ext cx="2617607" cy="74146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DE37D966-12C8-7A40-3CFD-635954F624F6}"/>
              </a:ext>
            </a:extLst>
          </p:cNvPr>
          <p:cNvCxnSpPr>
            <a:cxnSpLocks/>
          </p:cNvCxnSpPr>
          <p:nvPr/>
        </p:nvCxnSpPr>
        <p:spPr>
          <a:xfrm>
            <a:off x="4322239" y="3155058"/>
            <a:ext cx="2617607" cy="14912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도넛 82">
            <a:extLst>
              <a:ext uri="{FF2B5EF4-FFF2-40B4-BE49-F238E27FC236}">
                <a16:creationId xmlns:a16="http://schemas.microsoft.com/office/drawing/2014/main" id="{AED10495-76D5-0A7E-E470-7D51621830CA}"/>
              </a:ext>
            </a:extLst>
          </p:cNvPr>
          <p:cNvSpPr/>
          <p:nvPr/>
        </p:nvSpPr>
        <p:spPr>
          <a:xfrm>
            <a:off x="6028650" y="2645523"/>
            <a:ext cx="199609" cy="184678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4" name="도넛 82">
            <a:extLst>
              <a:ext uri="{FF2B5EF4-FFF2-40B4-BE49-F238E27FC236}">
                <a16:creationId xmlns:a16="http://schemas.microsoft.com/office/drawing/2014/main" id="{9834A7F9-B3C3-1916-22A3-28FED57CC552}"/>
              </a:ext>
            </a:extLst>
          </p:cNvPr>
          <p:cNvSpPr/>
          <p:nvPr/>
        </p:nvSpPr>
        <p:spPr>
          <a:xfrm>
            <a:off x="6036235" y="2891300"/>
            <a:ext cx="199609" cy="184678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5" name="도넛 82">
            <a:extLst>
              <a:ext uri="{FF2B5EF4-FFF2-40B4-BE49-F238E27FC236}">
                <a16:creationId xmlns:a16="http://schemas.microsoft.com/office/drawing/2014/main" id="{7B64B8C6-5C92-D87B-4C9F-4787BF33C7CB}"/>
              </a:ext>
            </a:extLst>
          </p:cNvPr>
          <p:cNvSpPr/>
          <p:nvPr/>
        </p:nvSpPr>
        <p:spPr>
          <a:xfrm>
            <a:off x="5928845" y="4370568"/>
            <a:ext cx="199609" cy="184678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6" name="도넛 82">
            <a:extLst>
              <a:ext uri="{FF2B5EF4-FFF2-40B4-BE49-F238E27FC236}">
                <a16:creationId xmlns:a16="http://schemas.microsoft.com/office/drawing/2014/main" id="{CEB11A45-D8D4-012D-7DCF-2E2165CD048C}"/>
              </a:ext>
            </a:extLst>
          </p:cNvPr>
          <p:cNvSpPr/>
          <p:nvPr/>
        </p:nvSpPr>
        <p:spPr>
          <a:xfrm>
            <a:off x="5928845" y="4646333"/>
            <a:ext cx="199609" cy="184678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7" name="곱셈 기호 85">
            <a:extLst>
              <a:ext uri="{FF2B5EF4-FFF2-40B4-BE49-F238E27FC236}">
                <a16:creationId xmlns:a16="http://schemas.microsoft.com/office/drawing/2014/main" id="{408C6971-D87C-D1A8-8C7B-3C5411D4B491}"/>
              </a:ext>
            </a:extLst>
          </p:cNvPr>
          <p:cNvSpPr/>
          <p:nvPr/>
        </p:nvSpPr>
        <p:spPr>
          <a:xfrm>
            <a:off x="6511897" y="1675883"/>
            <a:ext cx="311205" cy="316567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78" name="곱셈 기호 85">
            <a:extLst>
              <a:ext uri="{FF2B5EF4-FFF2-40B4-BE49-F238E27FC236}">
                <a16:creationId xmlns:a16="http://schemas.microsoft.com/office/drawing/2014/main" id="{8943166A-361F-2581-1B20-FA5375EB57C5}"/>
              </a:ext>
            </a:extLst>
          </p:cNvPr>
          <p:cNvSpPr/>
          <p:nvPr/>
        </p:nvSpPr>
        <p:spPr>
          <a:xfrm>
            <a:off x="6521421" y="1990813"/>
            <a:ext cx="311205" cy="316567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79" name="곱셈 기호 85">
            <a:extLst>
              <a:ext uri="{FF2B5EF4-FFF2-40B4-BE49-F238E27FC236}">
                <a16:creationId xmlns:a16="http://schemas.microsoft.com/office/drawing/2014/main" id="{6A250C99-2481-9E86-8AB5-3F5A397FBA4D}"/>
              </a:ext>
            </a:extLst>
          </p:cNvPr>
          <p:cNvSpPr/>
          <p:nvPr/>
        </p:nvSpPr>
        <p:spPr>
          <a:xfrm>
            <a:off x="6521421" y="2744135"/>
            <a:ext cx="311205" cy="316567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80" name="곱셈 기호 85">
            <a:extLst>
              <a:ext uri="{FF2B5EF4-FFF2-40B4-BE49-F238E27FC236}">
                <a16:creationId xmlns:a16="http://schemas.microsoft.com/office/drawing/2014/main" id="{B4322100-DF2B-8341-0974-701BBBB61BF6}"/>
              </a:ext>
            </a:extLst>
          </p:cNvPr>
          <p:cNvSpPr/>
          <p:nvPr/>
        </p:nvSpPr>
        <p:spPr>
          <a:xfrm>
            <a:off x="6521421" y="4323245"/>
            <a:ext cx="311205" cy="316567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81" name="곱셈 기호 85">
            <a:extLst>
              <a:ext uri="{FF2B5EF4-FFF2-40B4-BE49-F238E27FC236}">
                <a16:creationId xmlns:a16="http://schemas.microsoft.com/office/drawing/2014/main" id="{7CAF8471-B00E-3519-E8DF-4A3263229DCA}"/>
              </a:ext>
            </a:extLst>
          </p:cNvPr>
          <p:cNvSpPr/>
          <p:nvPr/>
        </p:nvSpPr>
        <p:spPr>
          <a:xfrm>
            <a:off x="6521421" y="5711436"/>
            <a:ext cx="311205" cy="316567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DC4AD9-EAAE-5FC7-BEEC-A05DAAE3C455}"/>
              </a:ext>
            </a:extLst>
          </p:cNvPr>
          <p:cNvSpPr txBox="1"/>
          <p:nvPr/>
        </p:nvSpPr>
        <p:spPr>
          <a:xfrm>
            <a:off x="6939846" y="3056871"/>
            <a:ext cx="2350907" cy="302955"/>
          </a:xfrm>
          <a:prstGeom prst="roundRect">
            <a:avLst>
              <a:gd name="adj" fmla="val 50000"/>
            </a:avLst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⑤ </a:t>
            </a:r>
            <a:r>
              <a:rPr lang="ko-KR" altLang="en-US" sz="1400" dirty="0">
                <a:solidFill>
                  <a:schemeClr val="bg1"/>
                </a:solidFill>
              </a:rPr>
              <a:t>효과</a:t>
            </a:r>
            <a:endParaRPr lang="en-US" altLang="ko-KR" sz="1400" dirty="0">
              <a:solidFill>
                <a:schemeClr val="bg1"/>
              </a:solidFill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0244C93-314C-83B4-6A04-A363EB8223D2}"/>
              </a:ext>
            </a:extLst>
          </p:cNvPr>
          <p:cNvCxnSpPr>
            <a:cxnSpLocks/>
            <a:stCxn id="14" idx="3"/>
            <a:endCxn id="5" idx="1"/>
          </p:cNvCxnSpPr>
          <p:nvPr/>
        </p:nvCxnSpPr>
        <p:spPr>
          <a:xfrm flipV="1">
            <a:off x="4322239" y="3208349"/>
            <a:ext cx="2617607" cy="7176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곱셈 기호 85">
            <a:extLst>
              <a:ext uri="{FF2B5EF4-FFF2-40B4-BE49-F238E27FC236}">
                <a16:creationId xmlns:a16="http://schemas.microsoft.com/office/drawing/2014/main" id="{4EB2AA83-AA81-3734-F7C6-F93E698730AD}"/>
              </a:ext>
            </a:extLst>
          </p:cNvPr>
          <p:cNvSpPr/>
          <p:nvPr/>
        </p:nvSpPr>
        <p:spPr>
          <a:xfrm>
            <a:off x="6521421" y="3120608"/>
            <a:ext cx="311205" cy="316567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6925251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특허발명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vs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확인대상발명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vs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실시제품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61BF505-D609-4FB1-848F-D1DC3C4433B1}"/>
              </a:ext>
            </a:extLst>
          </p:cNvPr>
          <p:cNvSpPr/>
          <p:nvPr/>
        </p:nvSpPr>
        <p:spPr>
          <a:xfrm>
            <a:off x="9637447" y="2359797"/>
            <a:ext cx="1530276" cy="66438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FF00"/>
                </a:solidFill>
              </a:rPr>
              <a:t>실시제품</a:t>
            </a:r>
            <a:endParaRPr lang="en-US" altLang="ko-KR" dirty="0">
              <a:solidFill>
                <a:srgbClr val="FFFF00"/>
              </a:solidFill>
            </a:endParaRPr>
          </a:p>
          <a:p>
            <a:pPr algn="ctr"/>
            <a:r>
              <a:rPr lang="en-US" altLang="ko-KR" sz="1400" dirty="0">
                <a:solidFill>
                  <a:srgbClr val="FFFF00"/>
                </a:solidFill>
              </a:rPr>
              <a:t>(</a:t>
            </a:r>
            <a:r>
              <a:rPr lang="ko-KR" altLang="en-US" sz="1400" dirty="0">
                <a:solidFill>
                  <a:srgbClr val="FFFF00"/>
                </a:solidFill>
              </a:rPr>
              <a:t>과거</a:t>
            </a:r>
            <a:r>
              <a:rPr lang="en-US" altLang="ko-KR" sz="1400" dirty="0">
                <a:solidFill>
                  <a:srgbClr val="FFFF00"/>
                </a:solidFill>
              </a:rPr>
              <a:t>,</a:t>
            </a:r>
            <a:r>
              <a:rPr lang="ko-KR" altLang="en-US" sz="1400" dirty="0">
                <a:solidFill>
                  <a:srgbClr val="FFFF00"/>
                </a:solidFill>
              </a:rPr>
              <a:t>현재</a:t>
            </a:r>
            <a:r>
              <a:rPr lang="en-US" altLang="ko-KR" sz="1400" dirty="0">
                <a:solidFill>
                  <a:srgbClr val="FFFF00"/>
                </a:solidFill>
              </a:rPr>
              <a:t>)</a:t>
            </a:r>
            <a:endParaRPr lang="ko-KR" altLang="en-US" sz="1400" dirty="0">
              <a:solidFill>
                <a:srgbClr val="FFFF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C0D103-9298-4D3B-98B4-24EB174731AB}"/>
              </a:ext>
            </a:extLst>
          </p:cNvPr>
          <p:cNvSpPr/>
          <p:nvPr/>
        </p:nvSpPr>
        <p:spPr>
          <a:xfrm>
            <a:off x="1559355" y="2342621"/>
            <a:ext cx="1052422" cy="6987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2"/>
                </a:solidFill>
              </a:rPr>
              <a:t>명세서</a:t>
            </a:r>
            <a:r>
              <a:rPr lang="en-US" altLang="ko-KR" dirty="0">
                <a:solidFill>
                  <a:schemeClr val="tx2"/>
                </a:solidFill>
              </a:rPr>
              <a:t>/</a:t>
            </a:r>
            <a:r>
              <a:rPr lang="ko-KR" altLang="en-US" dirty="0">
                <a:solidFill>
                  <a:schemeClr val="tx2"/>
                </a:solidFill>
              </a:rPr>
              <a:t>도면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3CAE3E5-618B-44C1-9558-DC4354FF1DDF}"/>
              </a:ext>
            </a:extLst>
          </p:cNvPr>
          <p:cNvSpPr/>
          <p:nvPr/>
        </p:nvSpPr>
        <p:spPr>
          <a:xfrm>
            <a:off x="5451714" y="2359797"/>
            <a:ext cx="1535771" cy="66438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FF00"/>
                </a:solidFill>
              </a:rPr>
              <a:t>확인대상발명</a:t>
            </a:r>
            <a:endParaRPr lang="en-US" altLang="ko-KR" dirty="0">
              <a:solidFill>
                <a:srgbClr val="FFFF00"/>
              </a:solidFill>
            </a:endParaRPr>
          </a:p>
          <a:p>
            <a:pPr algn="ctr"/>
            <a:r>
              <a:rPr lang="en-US" altLang="ko-KR" dirty="0">
                <a:solidFill>
                  <a:srgbClr val="FFFF00"/>
                </a:solidFill>
              </a:rPr>
              <a:t>(</a:t>
            </a:r>
            <a:r>
              <a:rPr lang="ko-KR" altLang="en-US" dirty="0">
                <a:solidFill>
                  <a:srgbClr val="FFFF00"/>
                </a:solidFill>
              </a:rPr>
              <a:t>특정</a:t>
            </a:r>
            <a:r>
              <a:rPr lang="en-US" altLang="ko-KR" dirty="0">
                <a:solidFill>
                  <a:srgbClr val="FFFF00"/>
                </a:solidFill>
              </a:rPr>
              <a:t>)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357C5F9-C015-4106-9FA0-106D9E0114A2}"/>
              </a:ext>
            </a:extLst>
          </p:cNvPr>
          <p:cNvSpPr/>
          <p:nvPr/>
        </p:nvSpPr>
        <p:spPr>
          <a:xfrm>
            <a:off x="3167173" y="2359797"/>
            <a:ext cx="1306440" cy="66438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FF00"/>
                </a:solidFill>
              </a:rPr>
              <a:t>특허발명</a:t>
            </a:r>
            <a:endParaRPr lang="en-US" altLang="ko-KR" dirty="0">
              <a:solidFill>
                <a:srgbClr val="FFFF00"/>
              </a:solidFill>
            </a:endParaRPr>
          </a:p>
          <a:p>
            <a:pPr algn="ctr"/>
            <a:r>
              <a:rPr lang="en-US" altLang="ko-KR" dirty="0">
                <a:solidFill>
                  <a:srgbClr val="FFFF00"/>
                </a:solidFill>
              </a:rPr>
              <a:t>(</a:t>
            </a:r>
            <a:r>
              <a:rPr lang="ko-KR" altLang="en-US" dirty="0">
                <a:solidFill>
                  <a:srgbClr val="FFFF00"/>
                </a:solidFill>
              </a:rPr>
              <a:t>특정</a:t>
            </a:r>
            <a:r>
              <a:rPr lang="en-US" altLang="ko-KR" dirty="0">
                <a:solidFill>
                  <a:srgbClr val="FFFF00"/>
                </a:solidFill>
              </a:rPr>
              <a:t>)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A94C428-72E3-48A5-962B-9CCCC0CA6627}"/>
              </a:ext>
            </a:extLst>
          </p:cNvPr>
          <p:cNvSpPr/>
          <p:nvPr/>
        </p:nvSpPr>
        <p:spPr>
          <a:xfrm>
            <a:off x="7940044" y="2342621"/>
            <a:ext cx="1052422" cy="69874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2"/>
                </a:solidFill>
              </a:rPr>
              <a:t>설명서</a:t>
            </a:r>
            <a:r>
              <a:rPr lang="en-US" altLang="ko-KR" dirty="0">
                <a:solidFill>
                  <a:schemeClr val="tx2"/>
                </a:solidFill>
              </a:rPr>
              <a:t>/</a:t>
            </a:r>
          </a:p>
          <a:p>
            <a:pPr algn="ctr"/>
            <a:r>
              <a:rPr lang="ko-KR" altLang="en-US" dirty="0">
                <a:solidFill>
                  <a:schemeClr val="tx2"/>
                </a:solidFill>
              </a:rPr>
              <a:t>도면</a:t>
            </a:r>
            <a:endParaRPr lang="en-US" altLang="ko-KR" dirty="0">
              <a:solidFill>
                <a:schemeClr val="tx2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27BC334-A085-49B2-87E4-F4E69DC4C696}"/>
              </a:ext>
            </a:extLst>
          </p:cNvPr>
          <p:cNvCxnSpPr>
            <a:cxnSpLocks/>
            <a:stCxn id="28" idx="1"/>
            <a:endCxn id="26" idx="3"/>
          </p:cNvCxnSpPr>
          <p:nvPr/>
        </p:nvCxnSpPr>
        <p:spPr>
          <a:xfrm flipH="1">
            <a:off x="6987485" y="2691991"/>
            <a:ext cx="952559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CF39E9A-FD52-4566-82FE-8BA76AC0E8C8}"/>
              </a:ext>
            </a:extLst>
          </p:cNvPr>
          <p:cNvCxnSpPr>
            <a:cxnSpLocks/>
            <a:stCxn id="7" idx="3"/>
            <a:endCxn id="27" idx="1"/>
          </p:cNvCxnSpPr>
          <p:nvPr/>
        </p:nvCxnSpPr>
        <p:spPr>
          <a:xfrm>
            <a:off x="2611777" y="2691991"/>
            <a:ext cx="555396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27A78A00-0C1C-4FB1-A1E2-035CB1FA1C4A}"/>
              </a:ext>
            </a:extLst>
          </p:cNvPr>
          <p:cNvSpPr txBox="1"/>
          <p:nvPr/>
        </p:nvSpPr>
        <p:spPr>
          <a:xfrm>
            <a:off x="4634003" y="2430380"/>
            <a:ext cx="6238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/>
              <a:t>VS</a:t>
            </a:r>
            <a:endParaRPr lang="ko-KR" altLang="en-US" sz="28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7E04925-A6B7-4651-ACBF-70D130B3F12C}"/>
              </a:ext>
            </a:extLst>
          </p:cNvPr>
          <p:cNvSpPr txBox="1"/>
          <p:nvPr/>
        </p:nvSpPr>
        <p:spPr>
          <a:xfrm flipH="1">
            <a:off x="2608611" y="2707891"/>
            <a:ext cx="667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해석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B8D47EB-2D69-4E9A-8BC4-BCE96C1F6366}"/>
              </a:ext>
            </a:extLst>
          </p:cNvPr>
          <p:cNvSpPr txBox="1"/>
          <p:nvPr/>
        </p:nvSpPr>
        <p:spPr>
          <a:xfrm flipH="1">
            <a:off x="7154482" y="2699265"/>
            <a:ext cx="667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해석</a:t>
            </a:r>
          </a:p>
        </p:txBody>
      </p: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id="{468CD040-63FB-4933-AB12-A135892E6D58}"/>
              </a:ext>
            </a:extLst>
          </p:cNvPr>
          <p:cNvCxnSpPr>
            <a:cxnSpLocks/>
            <a:stCxn id="26" idx="0"/>
            <a:endCxn id="24" idx="0"/>
          </p:cNvCxnSpPr>
          <p:nvPr/>
        </p:nvCxnSpPr>
        <p:spPr>
          <a:xfrm rot="5400000" flipH="1" flipV="1">
            <a:off x="8311092" y="268305"/>
            <a:ext cx="12700" cy="4182985"/>
          </a:xfrm>
          <a:prstGeom prst="bentConnector3">
            <a:avLst>
              <a:gd name="adj1" fmla="val 1800000"/>
            </a:avLst>
          </a:prstGeom>
          <a:ln w="28575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34696F1-35DE-41FC-9A92-309C62046A70}"/>
              </a:ext>
            </a:extLst>
          </p:cNvPr>
          <p:cNvSpPr txBox="1"/>
          <p:nvPr/>
        </p:nvSpPr>
        <p:spPr>
          <a:xfrm>
            <a:off x="7153276" y="1769542"/>
            <a:ext cx="1951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사실적 관점 동일</a:t>
            </a:r>
            <a:r>
              <a:rPr lang="en-US" altLang="ko-KR" dirty="0">
                <a:solidFill>
                  <a:srgbClr val="FF0000"/>
                </a:solidFill>
              </a:rPr>
              <a:t>O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D53255-87C3-40C6-B36B-37302910AC2B}"/>
              </a:ext>
            </a:extLst>
          </p:cNvPr>
          <p:cNvSpPr txBox="1"/>
          <p:nvPr/>
        </p:nvSpPr>
        <p:spPr>
          <a:xfrm>
            <a:off x="2074664" y="4514314"/>
            <a:ext cx="737702" cy="33855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ko-KR" altLang="en-US" sz="1600" dirty="0"/>
              <a:t>명세서</a:t>
            </a:r>
          </a:p>
        </p:txBody>
      </p: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id="{229606ED-BD14-4718-AF1B-39DF0E1A3D4F}"/>
              </a:ext>
            </a:extLst>
          </p:cNvPr>
          <p:cNvCxnSpPr>
            <a:stCxn id="40" idx="2"/>
            <a:endCxn id="41" idx="2"/>
          </p:cNvCxnSpPr>
          <p:nvPr/>
        </p:nvCxnSpPr>
        <p:spPr>
          <a:xfrm rot="5400000" flipH="1" flipV="1">
            <a:off x="5211076" y="799974"/>
            <a:ext cx="8626" cy="4545871"/>
          </a:xfrm>
          <a:prstGeom prst="bentConnector3">
            <a:avLst>
              <a:gd name="adj1" fmla="val -13250661"/>
            </a:avLst>
          </a:prstGeom>
          <a:ln w="28575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8255E7D-174E-4A10-A4A8-4ACBDF7DFF99}"/>
              </a:ext>
            </a:extLst>
          </p:cNvPr>
          <p:cNvSpPr txBox="1"/>
          <p:nvPr/>
        </p:nvSpPr>
        <p:spPr>
          <a:xfrm>
            <a:off x="4787431" y="3995213"/>
            <a:ext cx="1293945" cy="83099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</a:rPr>
              <a:t>동일한 </a:t>
            </a:r>
            <a:endParaRPr lang="en-US" altLang="ko-KR" sz="2400" dirty="0">
              <a:solidFill>
                <a:schemeClr val="bg1"/>
              </a:solidFill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</a:rPr>
              <a:t>해석방법</a:t>
            </a:r>
          </a:p>
        </p:txBody>
      </p:sp>
      <p:cxnSp>
        <p:nvCxnSpPr>
          <p:cNvPr id="55" name="연결선: 꺾임 54">
            <a:extLst>
              <a:ext uri="{FF2B5EF4-FFF2-40B4-BE49-F238E27FC236}">
                <a16:creationId xmlns:a16="http://schemas.microsoft.com/office/drawing/2014/main" id="{73FE98D6-1962-4908-8348-51F81910B133}"/>
              </a:ext>
            </a:extLst>
          </p:cNvPr>
          <p:cNvCxnSpPr>
            <a:cxnSpLocks/>
            <a:stCxn id="27" idx="2"/>
            <a:endCxn id="26" idx="2"/>
          </p:cNvCxnSpPr>
          <p:nvPr/>
        </p:nvCxnSpPr>
        <p:spPr>
          <a:xfrm rot="16200000" flipH="1">
            <a:off x="5019996" y="1824581"/>
            <a:ext cx="12700" cy="2399207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756E6546-E913-445C-8E09-87D81BCF0489}"/>
              </a:ext>
            </a:extLst>
          </p:cNvPr>
          <p:cNvSpPr txBox="1"/>
          <p:nvPr/>
        </p:nvSpPr>
        <p:spPr>
          <a:xfrm>
            <a:off x="4246231" y="3269263"/>
            <a:ext cx="1438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AER, </a:t>
            </a:r>
            <a:r>
              <a:rPr lang="ko-KR" altLang="en-US" dirty="0" err="1">
                <a:solidFill>
                  <a:srgbClr val="FF0000"/>
                </a:solidFill>
              </a:rPr>
              <a:t>균등론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A6BC61-1CE2-4C2F-B521-FE61273D5543}"/>
              </a:ext>
            </a:extLst>
          </p:cNvPr>
          <p:cNvSpPr txBox="1"/>
          <p:nvPr/>
        </p:nvSpPr>
        <p:spPr>
          <a:xfrm>
            <a:off x="2074664" y="5086530"/>
            <a:ext cx="737702" cy="33855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ko-KR" altLang="en-US" sz="1600" dirty="0"/>
              <a:t>도면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13A339-38FE-4190-8240-F522F8474005}"/>
              </a:ext>
            </a:extLst>
          </p:cNvPr>
          <p:cNvSpPr txBox="1"/>
          <p:nvPr/>
        </p:nvSpPr>
        <p:spPr>
          <a:xfrm>
            <a:off x="3378282" y="4514314"/>
            <a:ext cx="1271511" cy="33855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ko-KR" altLang="en-US" sz="1600"/>
              <a:t>청구범위</a:t>
            </a:r>
            <a:endParaRPr lang="ko-KR" altLang="en-US" sz="16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3E1208-33C2-46F0-8556-BB767AC0008F}"/>
              </a:ext>
            </a:extLst>
          </p:cNvPr>
          <p:cNvSpPr txBox="1"/>
          <p:nvPr/>
        </p:nvSpPr>
        <p:spPr>
          <a:xfrm>
            <a:off x="3378282" y="5079422"/>
            <a:ext cx="1271511" cy="33855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ko-KR" altLang="en-US" sz="1600" dirty="0"/>
              <a:t>발명의 설명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08C7083-9722-4953-83F5-13138920B333}"/>
              </a:ext>
            </a:extLst>
          </p:cNvPr>
          <p:cNvSpPr txBox="1"/>
          <p:nvPr/>
        </p:nvSpPr>
        <p:spPr>
          <a:xfrm>
            <a:off x="7914746" y="4514314"/>
            <a:ext cx="737702" cy="33855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ko-KR" altLang="en-US" sz="1600" dirty="0"/>
              <a:t>설명서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C751A8D-27F5-4200-AD61-D2FE1A181DAE}"/>
              </a:ext>
            </a:extLst>
          </p:cNvPr>
          <p:cNvSpPr txBox="1"/>
          <p:nvPr/>
        </p:nvSpPr>
        <p:spPr>
          <a:xfrm>
            <a:off x="7914746" y="5086530"/>
            <a:ext cx="737702" cy="33855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ko-KR" altLang="en-US" sz="1600" dirty="0"/>
              <a:t>도면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5F8948-928E-4D17-A0DB-93DCD05E2BCA}"/>
              </a:ext>
            </a:extLst>
          </p:cNvPr>
          <p:cNvSpPr txBox="1"/>
          <p:nvPr/>
        </p:nvSpPr>
        <p:spPr>
          <a:xfrm>
            <a:off x="6219015" y="4516695"/>
            <a:ext cx="1271511" cy="33855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ko-KR" altLang="en-US" sz="1600" dirty="0"/>
              <a:t>대비구성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539E29C-7BE7-46DA-A549-0490D6337A8C}"/>
              </a:ext>
            </a:extLst>
          </p:cNvPr>
          <p:cNvSpPr txBox="1"/>
          <p:nvPr/>
        </p:nvSpPr>
        <p:spPr>
          <a:xfrm>
            <a:off x="6219015" y="5081803"/>
            <a:ext cx="1271511" cy="338554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ko-KR" altLang="en-US" sz="1600" dirty="0"/>
              <a:t>대비구성 설명</a:t>
            </a:r>
          </a:p>
        </p:txBody>
      </p: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FC1F7CBC-90FC-476A-907E-E3A2B6AE9117}"/>
              </a:ext>
            </a:extLst>
          </p:cNvPr>
          <p:cNvCxnSpPr>
            <a:cxnSpLocks/>
            <a:stCxn id="45" idx="1"/>
            <a:endCxn id="7" idx="2"/>
          </p:cNvCxnSpPr>
          <p:nvPr/>
        </p:nvCxnSpPr>
        <p:spPr>
          <a:xfrm rot="10800000" flipH="1">
            <a:off x="2074664" y="3041361"/>
            <a:ext cx="10902" cy="1642230"/>
          </a:xfrm>
          <a:prstGeom prst="bentConnector4">
            <a:avLst>
              <a:gd name="adj1" fmla="val -2096863"/>
              <a:gd name="adj2" fmla="val 37686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E3E17FB7-CA2F-4281-949C-06068738F55F}"/>
              </a:ext>
            </a:extLst>
          </p:cNvPr>
          <p:cNvCxnSpPr>
            <a:cxnSpLocks/>
            <a:stCxn id="7" idx="2"/>
            <a:endCxn id="58" idx="1"/>
          </p:cNvCxnSpPr>
          <p:nvPr/>
        </p:nvCxnSpPr>
        <p:spPr>
          <a:xfrm rot="5400000">
            <a:off x="972892" y="4143133"/>
            <a:ext cx="2214446" cy="10902"/>
          </a:xfrm>
          <a:prstGeom prst="bentConnector4">
            <a:avLst>
              <a:gd name="adj1" fmla="val 46178"/>
              <a:gd name="adj2" fmla="val 219686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C5A79432-5A50-45A2-A7EB-BB0799DF712B}"/>
              </a:ext>
            </a:extLst>
          </p:cNvPr>
          <p:cNvCxnSpPr>
            <a:stCxn id="45" idx="3"/>
            <a:endCxn id="59" idx="1"/>
          </p:cNvCxnSpPr>
          <p:nvPr/>
        </p:nvCxnSpPr>
        <p:spPr>
          <a:xfrm>
            <a:off x="2812366" y="4683591"/>
            <a:ext cx="56591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연결선: 꺾임 76">
            <a:extLst>
              <a:ext uri="{FF2B5EF4-FFF2-40B4-BE49-F238E27FC236}">
                <a16:creationId xmlns:a16="http://schemas.microsoft.com/office/drawing/2014/main" id="{F06716C1-E23E-4DAF-BFDF-4D843F80051D}"/>
              </a:ext>
            </a:extLst>
          </p:cNvPr>
          <p:cNvCxnSpPr>
            <a:stCxn id="45" idx="3"/>
            <a:endCxn id="60" idx="1"/>
          </p:cNvCxnSpPr>
          <p:nvPr/>
        </p:nvCxnSpPr>
        <p:spPr>
          <a:xfrm>
            <a:off x="2812366" y="4683591"/>
            <a:ext cx="565916" cy="56510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연결선: 꺾임 78">
            <a:extLst>
              <a:ext uri="{FF2B5EF4-FFF2-40B4-BE49-F238E27FC236}">
                <a16:creationId xmlns:a16="http://schemas.microsoft.com/office/drawing/2014/main" id="{43F1C08E-5B04-4142-8E2C-E05C264A8559}"/>
              </a:ext>
            </a:extLst>
          </p:cNvPr>
          <p:cNvCxnSpPr>
            <a:stCxn id="28" idx="2"/>
            <a:endCxn id="61" idx="3"/>
          </p:cNvCxnSpPr>
          <p:nvPr/>
        </p:nvCxnSpPr>
        <p:spPr>
          <a:xfrm rot="16200000" flipH="1">
            <a:off x="7738236" y="3769379"/>
            <a:ext cx="1642230" cy="186193"/>
          </a:xfrm>
          <a:prstGeom prst="bentConnector4">
            <a:avLst>
              <a:gd name="adj1" fmla="val 62246"/>
              <a:gd name="adj2" fmla="val 405392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꺾임 80">
            <a:extLst>
              <a:ext uri="{FF2B5EF4-FFF2-40B4-BE49-F238E27FC236}">
                <a16:creationId xmlns:a16="http://schemas.microsoft.com/office/drawing/2014/main" id="{97ACE6CA-C624-481B-A5E8-700C8729F63E}"/>
              </a:ext>
            </a:extLst>
          </p:cNvPr>
          <p:cNvCxnSpPr>
            <a:stCxn id="28" idx="2"/>
            <a:endCxn id="62" idx="3"/>
          </p:cNvCxnSpPr>
          <p:nvPr/>
        </p:nvCxnSpPr>
        <p:spPr>
          <a:xfrm rot="16200000" flipH="1">
            <a:off x="7452128" y="4055487"/>
            <a:ext cx="2214446" cy="186193"/>
          </a:xfrm>
          <a:prstGeom prst="bentConnector4">
            <a:avLst>
              <a:gd name="adj1" fmla="val 46178"/>
              <a:gd name="adj2" fmla="val 405392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연결선: 꺾임 82">
            <a:extLst>
              <a:ext uri="{FF2B5EF4-FFF2-40B4-BE49-F238E27FC236}">
                <a16:creationId xmlns:a16="http://schemas.microsoft.com/office/drawing/2014/main" id="{F176D4C1-752C-4A17-AE84-4F3D610366DB}"/>
              </a:ext>
            </a:extLst>
          </p:cNvPr>
          <p:cNvCxnSpPr>
            <a:stCxn id="61" idx="1"/>
            <a:endCxn id="63" idx="3"/>
          </p:cNvCxnSpPr>
          <p:nvPr/>
        </p:nvCxnSpPr>
        <p:spPr>
          <a:xfrm rot="10800000" flipV="1">
            <a:off x="7490526" y="4683590"/>
            <a:ext cx="424220" cy="238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CFBED4EE-286F-4EE7-BFCF-0FADF48BB51E}"/>
              </a:ext>
            </a:extLst>
          </p:cNvPr>
          <p:cNvCxnSpPr>
            <a:stCxn id="61" idx="1"/>
            <a:endCxn id="64" idx="3"/>
          </p:cNvCxnSpPr>
          <p:nvPr/>
        </p:nvCxnSpPr>
        <p:spPr>
          <a:xfrm rot="10800000" flipV="1">
            <a:off x="7490526" y="4683590"/>
            <a:ext cx="424220" cy="56748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ED6DBED9-F85D-4C53-899D-DCAE44BD09E3}"/>
              </a:ext>
            </a:extLst>
          </p:cNvPr>
          <p:cNvSpPr txBox="1"/>
          <p:nvPr/>
        </p:nvSpPr>
        <p:spPr>
          <a:xfrm>
            <a:off x="3091132" y="5605437"/>
            <a:ext cx="4721164" cy="110799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FF0000"/>
                </a:solidFill>
              </a:rPr>
              <a:t>1. </a:t>
            </a:r>
            <a:r>
              <a:rPr lang="ko-KR" altLang="en-US" sz="1600" dirty="0">
                <a:solidFill>
                  <a:srgbClr val="FF0000"/>
                </a:solidFill>
              </a:rPr>
              <a:t>설명서와 도면의 불일치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en-US" altLang="ko-KR" sz="1600" dirty="0">
                <a:solidFill>
                  <a:srgbClr val="FF0000"/>
                </a:solidFill>
              </a:rPr>
              <a:t>2. </a:t>
            </a:r>
            <a:r>
              <a:rPr lang="ko-KR" altLang="en-US" sz="1600" dirty="0">
                <a:solidFill>
                  <a:srgbClr val="FF0000"/>
                </a:solidFill>
              </a:rPr>
              <a:t>구성의 </a:t>
            </a:r>
            <a:r>
              <a:rPr lang="ko-KR" altLang="en-US" sz="1600" dirty="0" err="1">
                <a:solidFill>
                  <a:srgbClr val="FF0000"/>
                </a:solidFill>
              </a:rPr>
              <a:t>기능식</a:t>
            </a:r>
            <a:r>
              <a:rPr lang="ko-KR" altLang="en-US" sz="1600" dirty="0">
                <a:solidFill>
                  <a:srgbClr val="FF0000"/>
                </a:solidFill>
              </a:rPr>
              <a:t> 기재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en-US" altLang="ko-KR" sz="1600" dirty="0">
                <a:solidFill>
                  <a:srgbClr val="FF0000"/>
                </a:solidFill>
              </a:rPr>
              <a:t>3. </a:t>
            </a:r>
            <a:r>
              <a:rPr lang="ko-KR" altLang="en-US" sz="1600" dirty="0">
                <a:solidFill>
                  <a:srgbClr val="FF0000"/>
                </a:solidFill>
              </a:rPr>
              <a:t>설명서와 도면에 기재된 발명이 실시제품과 다른 경우</a:t>
            </a:r>
            <a:endParaRPr lang="en-US" altLang="ko-KR" sz="1600" dirty="0">
              <a:solidFill>
                <a:srgbClr val="FF0000"/>
              </a:solidFill>
            </a:endParaRPr>
          </a:p>
          <a:p>
            <a:r>
              <a:rPr lang="en-US" altLang="ko-KR" sz="1600" dirty="0">
                <a:solidFill>
                  <a:srgbClr val="FF0000"/>
                </a:solidFill>
              </a:rPr>
              <a:t>4. </a:t>
            </a:r>
            <a:r>
              <a:rPr lang="ko-KR" altLang="en-US" sz="1600" dirty="0">
                <a:solidFill>
                  <a:srgbClr val="FF0000"/>
                </a:solidFill>
              </a:rPr>
              <a:t>확인대상발명이 복수개인 경우</a:t>
            </a:r>
            <a:endParaRPr lang="en-US" altLang="ko-KR" sz="1600" dirty="0">
              <a:solidFill>
                <a:srgbClr val="FF0000"/>
              </a:solidFill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2840FAE8-60B9-4CFB-BF6E-1EFE9A352D30}"/>
              </a:ext>
            </a:extLst>
          </p:cNvPr>
          <p:cNvCxnSpPr>
            <a:stCxn id="87" idx="0"/>
            <a:endCxn id="50" idx="2"/>
          </p:cNvCxnSpPr>
          <p:nvPr/>
        </p:nvCxnSpPr>
        <p:spPr>
          <a:xfrm flipH="1" flipV="1">
            <a:off x="5434404" y="4826210"/>
            <a:ext cx="17310" cy="77922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D874DC24-54C2-449A-B668-6282ADE884FD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9619692" y="2691991"/>
            <a:ext cx="1775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4354188-6906-480A-8659-031B49BDC8CF}"/>
              </a:ext>
            </a:extLst>
          </p:cNvPr>
          <p:cNvSpPr/>
          <p:nvPr/>
        </p:nvSpPr>
        <p:spPr>
          <a:xfrm>
            <a:off x="9629334" y="1211487"/>
            <a:ext cx="1530276" cy="517510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FF00"/>
                </a:solidFill>
              </a:rPr>
              <a:t>실시예정제품</a:t>
            </a:r>
            <a:endParaRPr lang="en-US" altLang="ko-KR" dirty="0">
              <a:solidFill>
                <a:srgbClr val="FFFF00"/>
              </a:solidFill>
            </a:endParaRPr>
          </a:p>
          <a:p>
            <a:pPr algn="ctr"/>
            <a:r>
              <a:rPr lang="en-US" altLang="ko-KR" sz="1400" dirty="0">
                <a:solidFill>
                  <a:srgbClr val="FFFF00"/>
                </a:solidFill>
              </a:rPr>
              <a:t>(</a:t>
            </a:r>
            <a:r>
              <a:rPr lang="ko-KR" altLang="en-US" sz="1400" dirty="0">
                <a:solidFill>
                  <a:srgbClr val="FFFF00"/>
                </a:solidFill>
              </a:rPr>
              <a:t>미래</a:t>
            </a:r>
            <a:r>
              <a:rPr lang="en-US" altLang="ko-KR" sz="1400" dirty="0">
                <a:solidFill>
                  <a:srgbClr val="FFFF00"/>
                </a:solidFill>
              </a:rPr>
              <a:t>)</a:t>
            </a:r>
            <a:endParaRPr lang="ko-KR" altLang="en-US" sz="1400" dirty="0">
              <a:solidFill>
                <a:srgbClr val="FFFF00"/>
              </a:solidFill>
            </a:endParaRP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FCC01DFC-AF61-4FBB-B52B-BE6588AD5618}"/>
              </a:ext>
            </a:extLst>
          </p:cNvPr>
          <p:cNvCxnSpPr>
            <a:cxnSpLocks/>
            <a:stCxn id="46" idx="1"/>
            <a:endCxn id="28" idx="3"/>
          </p:cNvCxnSpPr>
          <p:nvPr/>
        </p:nvCxnSpPr>
        <p:spPr>
          <a:xfrm rot="10800000" flipV="1">
            <a:off x="8992466" y="1470241"/>
            <a:ext cx="636868" cy="122174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타원 34">
            <a:extLst>
              <a:ext uri="{FF2B5EF4-FFF2-40B4-BE49-F238E27FC236}">
                <a16:creationId xmlns:a16="http://schemas.microsoft.com/office/drawing/2014/main" id="{3FF69B05-8FA2-4B35-8A78-405B73E5488D}"/>
              </a:ext>
            </a:extLst>
          </p:cNvPr>
          <p:cNvSpPr/>
          <p:nvPr/>
        </p:nvSpPr>
        <p:spPr>
          <a:xfrm>
            <a:off x="6020323" y="2369879"/>
            <a:ext cx="171301" cy="171301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F58AA0CF-8157-4B11-B6B2-E98EF3F56A4C}"/>
              </a:ext>
            </a:extLst>
          </p:cNvPr>
          <p:cNvCxnSpPr>
            <a:cxnSpLocks/>
            <a:stCxn id="35" idx="7"/>
            <a:endCxn id="46" idx="0"/>
          </p:cNvCxnSpPr>
          <p:nvPr/>
        </p:nvCxnSpPr>
        <p:spPr>
          <a:xfrm rot="5400000" flipH="1" flipV="1">
            <a:off x="7688766" y="-310741"/>
            <a:ext cx="1183478" cy="4227934"/>
          </a:xfrm>
          <a:prstGeom prst="bentConnector3">
            <a:avLst>
              <a:gd name="adj1" fmla="val 119316"/>
            </a:avLst>
          </a:prstGeom>
          <a:ln w="28575">
            <a:solidFill>
              <a:srgbClr val="FF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96988C29-7365-47D3-9561-11C65E49373A}"/>
              </a:ext>
            </a:extLst>
          </p:cNvPr>
          <p:cNvCxnSpPr>
            <a:cxnSpLocks/>
            <a:stCxn id="24" idx="1"/>
            <a:endCxn id="28" idx="3"/>
          </p:cNvCxnSpPr>
          <p:nvPr/>
        </p:nvCxnSpPr>
        <p:spPr>
          <a:xfrm rot="10800000">
            <a:off x="8992467" y="2691991"/>
            <a:ext cx="644981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BCDF4C29-77EB-4C9B-A6FC-130C31E9A6F4}"/>
              </a:ext>
            </a:extLst>
          </p:cNvPr>
          <p:cNvSpPr txBox="1"/>
          <p:nvPr/>
        </p:nvSpPr>
        <p:spPr>
          <a:xfrm>
            <a:off x="7153276" y="1023185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사실적 관점 동일</a:t>
            </a:r>
            <a:r>
              <a:rPr lang="en-US" altLang="ko-KR" dirty="0">
                <a:solidFill>
                  <a:srgbClr val="FF0000"/>
                </a:solidFill>
              </a:rPr>
              <a:t>X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B280C3-CCC7-4B00-B92E-5685005343BC}"/>
              </a:ext>
            </a:extLst>
          </p:cNvPr>
          <p:cNvSpPr txBox="1"/>
          <p:nvPr/>
        </p:nvSpPr>
        <p:spPr>
          <a:xfrm flipH="1">
            <a:off x="8995882" y="2741775"/>
            <a:ext cx="667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기재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3B09B69-C879-4A0F-8445-D1308BB1D301}"/>
              </a:ext>
            </a:extLst>
          </p:cNvPr>
          <p:cNvSpPr txBox="1"/>
          <p:nvPr/>
        </p:nvSpPr>
        <p:spPr>
          <a:xfrm>
            <a:off x="8704635" y="3317678"/>
            <a:ext cx="2578297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- </a:t>
            </a:r>
            <a:r>
              <a:rPr lang="ko-KR" altLang="en-US" dirty="0" err="1">
                <a:solidFill>
                  <a:srgbClr val="FF0000"/>
                </a:solidFill>
              </a:rPr>
              <a:t>청구취지로서의</a:t>
            </a:r>
            <a:r>
              <a:rPr lang="ko-KR" altLang="en-US" dirty="0">
                <a:solidFill>
                  <a:srgbClr val="FF0000"/>
                </a:solidFill>
              </a:rPr>
              <a:t> 특정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- </a:t>
            </a:r>
            <a:r>
              <a:rPr lang="ko-KR" altLang="en-US" dirty="0" err="1">
                <a:solidFill>
                  <a:srgbClr val="FF0000"/>
                </a:solidFill>
              </a:rPr>
              <a:t>청구원인으로서의</a:t>
            </a:r>
            <a:r>
              <a:rPr lang="ko-KR" altLang="en-US" dirty="0">
                <a:solidFill>
                  <a:srgbClr val="FF0000"/>
                </a:solidFill>
              </a:rPr>
              <a:t> 특정</a:t>
            </a: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D96F2E33-117B-4D69-A3C1-8EA210437989}"/>
              </a:ext>
            </a:extLst>
          </p:cNvPr>
          <p:cNvCxnSpPr>
            <a:cxnSpLocks/>
            <a:stCxn id="51" idx="2"/>
            <a:endCxn id="65" idx="0"/>
          </p:cNvCxnSpPr>
          <p:nvPr/>
        </p:nvCxnSpPr>
        <p:spPr>
          <a:xfrm rot="16200000" flipH="1">
            <a:off x="9558469" y="2882362"/>
            <a:ext cx="206571" cy="66405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A10E5BB-AF42-455E-B919-94A75273698A}"/>
              </a:ext>
            </a:extLst>
          </p:cNvPr>
          <p:cNvSpPr txBox="1"/>
          <p:nvPr/>
        </p:nvSpPr>
        <p:spPr>
          <a:xfrm>
            <a:off x="11167723" y="1285575"/>
            <a:ext cx="8643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- </a:t>
            </a:r>
            <a:r>
              <a:rPr lang="ko-KR" altLang="en-US" sz="1600" dirty="0"/>
              <a:t>소극적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95A681C-EE90-4059-988C-06CF83703E54}"/>
              </a:ext>
            </a:extLst>
          </p:cNvPr>
          <p:cNvSpPr txBox="1"/>
          <p:nvPr/>
        </p:nvSpPr>
        <p:spPr>
          <a:xfrm>
            <a:off x="11159610" y="2402927"/>
            <a:ext cx="8643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- </a:t>
            </a:r>
            <a:r>
              <a:rPr lang="ko-KR" altLang="en-US" sz="1600" dirty="0"/>
              <a:t>소극적</a:t>
            </a:r>
            <a:endParaRPr lang="en-US" altLang="ko-KR" sz="1600" dirty="0"/>
          </a:p>
          <a:p>
            <a:r>
              <a:rPr lang="en-US" altLang="ko-KR" sz="1600" dirty="0"/>
              <a:t>- </a:t>
            </a:r>
            <a:r>
              <a:rPr lang="ko-KR" altLang="en-US" sz="1600" dirty="0"/>
              <a:t>적극적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8524A2-0275-1901-4157-A27B4F0842F2}"/>
              </a:ext>
            </a:extLst>
          </p:cNvPr>
          <p:cNvSpPr txBox="1"/>
          <p:nvPr/>
        </p:nvSpPr>
        <p:spPr>
          <a:xfrm>
            <a:off x="7598222" y="1600265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(</a:t>
            </a:r>
            <a:r>
              <a:rPr lang="ko-KR" altLang="en-US" sz="1100" dirty="0"/>
              <a:t>확인의 이익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5103C8A-6747-5ABF-14A9-7213A6DEC5E1}"/>
              </a:ext>
            </a:extLst>
          </p:cNvPr>
          <p:cNvSpPr/>
          <p:nvPr/>
        </p:nvSpPr>
        <p:spPr>
          <a:xfrm>
            <a:off x="190551" y="2359797"/>
            <a:ext cx="842678" cy="664388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rgbClr val="FFFF00"/>
                </a:solidFill>
              </a:rPr>
              <a:t>발명</a:t>
            </a:r>
            <a:endParaRPr lang="en-US" altLang="ko-KR" dirty="0">
              <a:solidFill>
                <a:srgbClr val="FFFF00"/>
              </a:solidFill>
            </a:endParaRPr>
          </a:p>
          <a:p>
            <a:pPr algn="ctr"/>
            <a:r>
              <a:rPr lang="ko-KR" altLang="en-US" dirty="0">
                <a:solidFill>
                  <a:srgbClr val="FFFF00"/>
                </a:solidFill>
              </a:rPr>
              <a:t>완성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BF497BC-636F-DBC5-3F76-D1763431C132}"/>
              </a:ext>
            </a:extLst>
          </p:cNvPr>
          <p:cNvCxnSpPr>
            <a:cxnSpLocks/>
            <a:stCxn id="12" idx="3"/>
            <a:endCxn id="7" idx="1"/>
          </p:cNvCxnSpPr>
          <p:nvPr/>
        </p:nvCxnSpPr>
        <p:spPr>
          <a:xfrm>
            <a:off x="1033229" y="2691991"/>
            <a:ext cx="526126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496A477-254A-6C5C-A0AC-5BC50DA8EBF8}"/>
              </a:ext>
            </a:extLst>
          </p:cNvPr>
          <p:cNvSpPr txBox="1"/>
          <p:nvPr/>
        </p:nvSpPr>
        <p:spPr>
          <a:xfrm flipH="1">
            <a:off x="1013420" y="2707891"/>
            <a:ext cx="667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기재</a:t>
            </a:r>
          </a:p>
        </p:txBody>
      </p:sp>
    </p:spTree>
    <p:extLst>
      <p:ext uri="{BB962C8B-B14F-4D97-AF65-F5344CB8AC3E}">
        <p14:creationId xmlns:p14="http://schemas.microsoft.com/office/powerpoint/2010/main" val="10766746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확인대상발명의 특정 정도</a:t>
            </a:r>
            <a:r>
              <a:rPr lang="en-US" altLang="ko-KR" dirty="0"/>
              <a:t>: </a:t>
            </a:r>
            <a:r>
              <a:rPr lang="ko-KR" altLang="en-US" dirty="0"/>
              <a:t>구별 </a:t>
            </a:r>
            <a:r>
              <a:rPr lang="en-US" altLang="ko-KR" dirty="0"/>
              <a:t>vs </a:t>
            </a:r>
            <a:r>
              <a:rPr lang="ko-KR" altLang="en-US" dirty="0"/>
              <a:t>대비</a:t>
            </a:r>
            <a:r>
              <a:rPr lang="en-US" altLang="ko-KR" dirty="0"/>
              <a:t> vs </a:t>
            </a:r>
            <a:r>
              <a:rPr lang="ko-KR" altLang="en-US" dirty="0"/>
              <a:t>대응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3E5649B-B7DB-41E8-8378-43BB6CD936D4}"/>
              </a:ext>
            </a:extLst>
          </p:cNvPr>
          <p:cNvSpPr/>
          <p:nvPr/>
        </p:nvSpPr>
        <p:spPr>
          <a:xfrm>
            <a:off x="164862" y="3072680"/>
            <a:ext cx="902420" cy="902420"/>
          </a:xfrm>
          <a:prstGeom prst="ellipse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특정</a:t>
            </a:r>
            <a:endParaRPr lang="en-US" altLang="ko-KR" dirty="0"/>
          </a:p>
          <a:p>
            <a:pPr algn="ctr"/>
            <a:r>
              <a:rPr lang="ko-KR" altLang="en-US" dirty="0"/>
              <a:t>정도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B6651F-E0E4-46CF-8B32-6096982B6DE9}"/>
              </a:ext>
            </a:extLst>
          </p:cNvPr>
          <p:cNvSpPr txBox="1"/>
          <p:nvPr/>
        </p:nvSpPr>
        <p:spPr>
          <a:xfrm>
            <a:off x="1330558" y="1281397"/>
            <a:ext cx="1345961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청구취지로서 </a:t>
            </a:r>
            <a:endParaRPr lang="en-US" altLang="ko-KR" sz="1400" dirty="0"/>
          </a:p>
          <a:p>
            <a:pPr algn="ctr"/>
            <a:r>
              <a:rPr lang="ko-KR" altLang="en-US" sz="1400" dirty="0"/>
              <a:t>특정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43DE8-BC90-4196-87A3-0A2E93D5712F}"/>
              </a:ext>
            </a:extLst>
          </p:cNvPr>
          <p:cNvSpPr txBox="1"/>
          <p:nvPr/>
        </p:nvSpPr>
        <p:spPr>
          <a:xfrm>
            <a:off x="1330559" y="4404965"/>
            <a:ext cx="1345961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/>
              <a:t>청구원인으로서 </a:t>
            </a:r>
            <a:endParaRPr lang="en-US" altLang="ko-KR" sz="1400" dirty="0"/>
          </a:p>
          <a:p>
            <a:pPr algn="ctr"/>
            <a:r>
              <a:rPr lang="ko-KR" altLang="en-US" sz="1400" dirty="0"/>
              <a:t>특정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3F8DA6-EF0E-4E20-8EE2-4661FD24A00D}"/>
              </a:ext>
            </a:extLst>
          </p:cNvPr>
          <p:cNvSpPr txBox="1"/>
          <p:nvPr/>
        </p:nvSpPr>
        <p:spPr>
          <a:xfrm>
            <a:off x="2889851" y="1781963"/>
            <a:ext cx="9139392" cy="6001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 </a:t>
            </a:r>
            <a:r>
              <a:rPr lang="ko-KR" altLang="en-US" sz="1100" dirty="0"/>
              <a:t>구체적인 특정방법</a:t>
            </a:r>
            <a:endParaRPr lang="en-US" altLang="ko-KR" sz="1100" dirty="0"/>
          </a:p>
          <a:p>
            <a:pPr marL="180975" lvl="1" indent="-95250">
              <a:buFont typeface="옥션고딕 M" pitchFamily="2" charset="-127"/>
              <a:buChar char="-"/>
              <a:tabLst>
                <a:tab pos="180975" algn="l"/>
              </a:tabLst>
            </a:pPr>
            <a:r>
              <a:rPr lang="ko-KR" altLang="en-US" sz="1100" dirty="0"/>
              <a:t>상품명</a:t>
            </a:r>
            <a:r>
              <a:rPr lang="en-US" altLang="ko-KR" sz="1100" dirty="0"/>
              <a:t>, </a:t>
            </a:r>
            <a:r>
              <a:rPr lang="ko-KR" altLang="en-US" sz="1100" dirty="0"/>
              <a:t>모델번호</a:t>
            </a:r>
            <a:r>
              <a:rPr lang="en-US" altLang="ko-KR" sz="1100" dirty="0"/>
              <a:t>, </a:t>
            </a:r>
            <a:r>
              <a:rPr lang="ko-KR" altLang="en-US" sz="1100" dirty="0"/>
              <a:t>형식번호에 의한 제품의 특정</a:t>
            </a:r>
            <a:r>
              <a:rPr lang="en-US" altLang="ko-KR" sz="1100" dirty="0"/>
              <a:t>, </a:t>
            </a:r>
            <a:r>
              <a:rPr lang="ko-KR" altLang="en-US" sz="1100" dirty="0"/>
              <a:t>현장사진</a:t>
            </a:r>
            <a:r>
              <a:rPr lang="en-US" altLang="ko-KR" sz="1100" dirty="0"/>
              <a:t>,  </a:t>
            </a:r>
            <a:r>
              <a:rPr lang="ko-KR" altLang="en-US" sz="1100" dirty="0"/>
              <a:t>제품카탈로그</a:t>
            </a:r>
            <a:r>
              <a:rPr lang="en-US" altLang="ko-KR" sz="1100" dirty="0"/>
              <a:t>, </a:t>
            </a:r>
            <a:r>
              <a:rPr lang="ko-KR" altLang="en-US" sz="1100" dirty="0"/>
              <a:t>전기제품에 내장된 회로도</a:t>
            </a:r>
            <a:r>
              <a:rPr lang="en-US" altLang="ko-KR" sz="1100" dirty="0"/>
              <a:t>,  </a:t>
            </a:r>
            <a:r>
              <a:rPr lang="ko-KR" altLang="en-US" sz="1100" dirty="0"/>
              <a:t>사양서 등에 의한 특정</a:t>
            </a:r>
            <a:endParaRPr lang="en-US" altLang="ko-KR" sz="1100" dirty="0"/>
          </a:p>
          <a:p>
            <a:pPr marL="180975" lvl="1" indent="-95250">
              <a:buFont typeface="옥션고딕 M" pitchFamily="2" charset="-127"/>
              <a:buChar char="-"/>
              <a:tabLst>
                <a:tab pos="180975" algn="l"/>
              </a:tabLst>
            </a:pPr>
            <a:r>
              <a:rPr lang="ko-KR" altLang="en-US" sz="1100" dirty="0">
                <a:solidFill>
                  <a:srgbClr val="FF0000"/>
                </a:solidFill>
              </a:rPr>
              <a:t>확인대상명의 구성요소를 명확히 기재</a:t>
            </a:r>
            <a:endParaRPr lang="en-US" altLang="ko-KR" sz="11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935B64-6AB5-4C4F-AD7D-7DF34F9DA5BC}"/>
              </a:ext>
            </a:extLst>
          </p:cNvPr>
          <p:cNvSpPr txBox="1"/>
          <p:nvPr/>
        </p:nvSpPr>
        <p:spPr>
          <a:xfrm>
            <a:off x="2889850" y="1101594"/>
            <a:ext cx="9139392" cy="6846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en-US" altLang="ko-KR" sz="1100" dirty="0">
                <a:solidFill>
                  <a:srgbClr val="FF0000"/>
                </a:solidFill>
              </a:rPr>
              <a:t>- </a:t>
            </a:r>
            <a:r>
              <a:rPr lang="ko-KR" altLang="en-US" sz="1100" dirty="0">
                <a:solidFill>
                  <a:srgbClr val="FF0000"/>
                </a:solidFill>
              </a:rPr>
              <a:t>사회통념상 다른 것과 구별될 수 있을 정도로 구체적으로 특정</a:t>
            </a:r>
          </a:p>
          <a:p>
            <a:pPr marL="114300" indent="-114300"/>
            <a:r>
              <a:rPr lang="en-US" altLang="ko-KR" sz="1100" dirty="0"/>
              <a:t>- </a:t>
            </a:r>
            <a:r>
              <a:rPr lang="ko-KR" altLang="en-US" sz="1100" dirty="0"/>
              <a:t>특정이 불명확하다면 일사부재리의 효과가 미치는 범위가 명확하지 않기 때문에 나머지 구성만으로</a:t>
            </a:r>
            <a:r>
              <a:rPr lang="en-US" altLang="ko-KR" sz="1100" dirty="0"/>
              <a:t> </a:t>
            </a:r>
            <a:r>
              <a:rPr lang="ko-KR" altLang="en-US" sz="1100" dirty="0"/>
              <a:t>확인대상발명이  특허발명의 권리범위에 속하는지 여부를 판단할 수 있는 경우라도 심판청구를 </a:t>
            </a:r>
            <a:r>
              <a:rPr lang="ko-KR" altLang="en-US" sz="1100" dirty="0" err="1"/>
              <a:t>심결각하</a:t>
            </a:r>
            <a:r>
              <a:rPr lang="ko-KR" altLang="en-US" sz="1100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474818-622E-4E0C-9E73-6B1072DA85A3}"/>
              </a:ext>
            </a:extLst>
          </p:cNvPr>
          <p:cNvSpPr txBox="1"/>
          <p:nvPr/>
        </p:nvSpPr>
        <p:spPr>
          <a:xfrm>
            <a:off x="2889851" y="3769744"/>
            <a:ext cx="9139392" cy="79041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noAutofit/>
          </a:bodyPr>
          <a:lstStyle/>
          <a:p>
            <a:pPr fontAlgn="base"/>
            <a:r>
              <a:rPr lang="en-US" altLang="ko-KR" sz="1100" dirty="0">
                <a:solidFill>
                  <a:srgbClr val="FF0000"/>
                </a:solidFill>
              </a:rPr>
              <a:t>- </a:t>
            </a:r>
            <a:r>
              <a:rPr lang="ko-KR" altLang="en-US" sz="1100" dirty="0">
                <a:solidFill>
                  <a:srgbClr val="FF0000"/>
                </a:solidFill>
              </a:rPr>
              <a:t>특허발명과 서로 대비할 수 있을 만큼 구체적으로 특정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marL="85725" indent="-85725" fontAlgn="base"/>
            <a:r>
              <a:rPr lang="en-US" altLang="ko-KR" sz="1100" dirty="0">
                <a:solidFill>
                  <a:srgbClr val="FF0000"/>
                </a:solidFill>
              </a:rPr>
              <a:t>-</a:t>
            </a:r>
            <a:r>
              <a:rPr lang="ko-KR" altLang="en-US" sz="1100" dirty="0"/>
              <a:t> 청구취지로서 특정이 명확하다면 일사부재리의 효과가 미치는 범위가 명확하기 때문에 청구원인으로서 특정이 불명확하다고 할지라도 나머지 내용과 도면을 종합적으로 고려하여 확인대상 발명이 특허발명의 권리범위에 속하는지 여부를 판단할 수 있는 경우에는 </a:t>
            </a:r>
            <a:r>
              <a:rPr lang="ko-KR" altLang="en-US" sz="1100" dirty="0" err="1"/>
              <a:t>각하심결하지</a:t>
            </a:r>
            <a:r>
              <a:rPr lang="ko-KR" altLang="en-US" sz="1100" dirty="0"/>
              <a:t> 않고 </a:t>
            </a:r>
            <a:r>
              <a:rPr lang="ko-KR" altLang="en-US" sz="1100" dirty="0" err="1"/>
              <a:t>본안심결</a:t>
            </a:r>
            <a:r>
              <a:rPr lang="ko-KR" altLang="en-US" sz="1100" dirty="0"/>
              <a:t> 가능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AC2445-6298-4DA6-A5F5-D5798DC3D81B}"/>
              </a:ext>
            </a:extLst>
          </p:cNvPr>
          <p:cNvSpPr txBox="1"/>
          <p:nvPr/>
        </p:nvSpPr>
        <p:spPr>
          <a:xfrm>
            <a:off x="2889851" y="4566511"/>
            <a:ext cx="9139392" cy="93871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 </a:t>
            </a:r>
            <a:r>
              <a:rPr lang="ko-KR" altLang="en-US" sz="1100" dirty="0"/>
              <a:t>구체적인 특정방법</a:t>
            </a:r>
            <a:endParaRPr lang="en-US" altLang="ko-KR" sz="1100" dirty="0"/>
          </a:p>
          <a:p>
            <a:pPr marL="180975" lvl="1" indent="-95250">
              <a:buFont typeface="옥션고딕 M" pitchFamily="2" charset="-127"/>
              <a:buChar char="-"/>
              <a:tabLst>
                <a:tab pos="180975" algn="l"/>
              </a:tabLst>
            </a:pPr>
            <a:r>
              <a:rPr lang="ko-KR" altLang="en-US" sz="1100" dirty="0"/>
              <a:t>권리범위에 속하는 판단할 수 없게 애매하게 기재된 경우나 특정결과에 따라 결론이 달라지는 경우에는 불특정</a:t>
            </a:r>
            <a:endParaRPr lang="en-US" altLang="ko-KR" sz="1100" dirty="0"/>
          </a:p>
          <a:p>
            <a:pPr marL="180975" lvl="1" indent="-95250">
              <a:buFont typeface="옥션고딕 M" pitchFamily="2" charset="-127"/>
              <a:buChar char="-"/>
              <a:tabLst>
                <a:tab pos="180975" algn="l"/>
              </a:tabLst>
            </a:pPr>
            <a:r>
              <a:rPr lang="ko-KR" altLang="en-US" sz="1100" dirty="0"/>
              <a:t>원칙</a:t>
            </a:r>
            <a:r>
              <a:rPr lang="en-US" altLang="ko-KR" sz="1100" dirty="0"/>
              <a:t>: </a:t>
            </a:r>
            <a:r>
              <a:rPr lang="ko-KR" altLang="en-US" sz="1100" dirty="0"/>
              <a:t>특허발명과 대응되는 부분의 구성을</a:t>
            </a:r>
            <a:r>
              <a:rPr lang="en-US" altLang="ko-KR" sz="1100" dirty="0"/>
              <a:t> </a:t>
            </a:r>
            <a:r>
              <a:rPr lang="ko-KR" altLang="en-US" sz="1100" dirty="0"/>
              <a:t>대비하여 </a:t>
            </a:r>
            <a:r>
              <a:rPr lang="ko-KR" altLang="en-US" sz="1100" dirty="0">
                <a:solidFill>
                  <a:srgbClr val="FF0000"/>
                </a:solidFill>
              </a:rPr>
              <a:t>차이점을 판단함에 필요할 정도로 기재</a:t>
            </a:r>
            <a:r>
              <a:rPr lang="en-US" altLang="ko-KR" sz="1100" dirty="0"/>
              <a:t>(</a:t>
            </a:r>
            <a:r>
              <a:rPr lang="ko-KR" altLang="en-US" sz="1100" dirty="0"/>
              <a:t>대응하지 않은 구성은 추가적 기재되더라도 권리범위 영향 없음</a:t>
            </a:r>
            <a:r>
              <a:rPr lang="en-US" altLang="ko-KR" sz="1100" dirty="0"/>
              <a:t>)</a:t>
            </a:r>
          </a:p>
          <a:p>
            <a:pPr marL="180975" lvl="1" indent="-95250">
              <a:buFont typeface="옥션고딕 M" pitchFamily="2" charset="-127"/>
              <a:buChar char="-"/>
              <a:tabLst>
                <a:tab pos="180975" algn="l"/>
              </a:tabLst>
            </a:pPr>
            <a:r>
              <a:rPr lang="ko-KR" altLang="en-US" sz="1100" dirty="0"/>
              <a:t>예외</a:t>
            </a:r>
            <a:r>
              <a:rPr lang="en-US" altLang="ko-KR" sz="1100" dirty="0"/>
              <a:t>: </a:t>
            </a:r>
            <a:r>
              <a:rPr lang="ko-KR" altLang="en-US" sz="1100" dirty="0"/>
              <a:t>독립항과 비교하여 권리범위에 속하지 않음을 판단할 수 있는 경우에는 종속항에 대응되는 구성요소가 기재되지 않더라도 </a:t>
            </a:r>
            <a:r>
              <a:rPr lang="ko-KR" altLang="en-US" sz="1100" dirty="0" err="1"/>
              <a:t>대비가능하도록</a:t>
            </a:r>
            <a:r>
              <a:rPr lang="ko-KR" altLang="en-US" sz="1100" dirty="0"/>
              <a:t> 특정 인정</a:t>
            </a:r>
            <a:endParaRPr lang="en-US" altLang="ko-KR" sz="1100" dirty="0"/>
          </a:p>
          <a:p>
            <a:pPr marL="180975" lvl="1" indent="-95250">
              <a:buFont typeface="옥션고딕 M" pitchFamily="2" charset="-127"/>
              <a:buChar char="-"/>
              <a:tabLst>
                <a:tab pos="180975" algn="l"/>
              </a:tabLst>
            </a:pPr>
            <a:r>
              <a:rPr lang="ko-KR" altLang="en-US" sz="1100" dirty="0"/>
              <a:t>예외</a:t>
            </a:r>
            <a:r>
              <a:rPr lang="en-US" altLang="ko-KR" sz="1100" dirty="0"/>
              <a:t>: </a:t>
            </a:r>
            <a:r>
              <a:rPr lang="ko-KR" altLang="en-US" sz="1100" dirty="0"/>
              <a:t>발명의 범주가 다른 확인대상발명의 특정</a:t>
            </a:r>
            <a:endParaRPr lang="en-US" altLang="ko-KR" sz="1100" dirty="0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317E80AF-293C-45F0-8899-D2C8EDE657E4}"/>
              </a:ext>
            </a:extLst>
          </p:cNvPr>
          <p:cNvCxnSpPr>
            <a:cxnSpLocks/>
            <a:stCxn id="6" idx="6"/>
            <a:endCxn id="7" idx="1"/>
          </p:cNvCxnSpPr>
          <p:nvPr/>
        </p:nvCxnSpPr>
        <p:spPr>
          <a:xfrm flipV="1">
            <a:off x="1067282" y="1543007"/>
            <a:ext cx="263276" cy="198088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D49E1A1C-EBC0-43AD-B776-4378630EB933}"/>
              </a:ext>
            </a:extLst>
          </p:cNvPr>
          <p:cNvCxnSpPr>
            <a:cxnSpLocks/>
            <a:stCxn id="6" idx="6"/>
            <a:endCxn id="8" idx="1"/>
          </p:cNvCxnSpPr>
          <p:nvPr/>
        </p:nvCxnSpPr>
        <p:spPr>
          <a:xfrm>
            <a:off x="1067282" y="3523890"/>
            <a:ext cx="263277" cy="114268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1A45201F-E163-4DA0-8E75-BD007994FE99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 flipV="1">
            <a:off x="2676519" y="1443937"/>
            <a:ext cx="213331" cy="990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CBF88C9D-8764-4F5B-860B-7218C29C07CF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676519" y="1543007"/>
            <a:ext cx="213332" cy="53903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7E14B446-6A6A-4337-AEE2-7C1E8FB75CD3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 flipV="1">
            <a:off x="2676520" y="4164953"/>
            <a:ext cx="213331" cy="50162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31E38957-FE4F-4068-AFCE-AAC6FE13ADE1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2676520" y="4666575"/>
            <a:ext cx="213331" cy="36929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FA8CC6C-DA71-49A0-A604-4D8543DD5A80}"/>
              </a:ext>
            </a:extLst>
          </p:cNvPr>
          <p:cNvSpPr/>
          <p:nvPr/>
        </p:nvSpPr>
        <p:spPr>
          <a:xfrm>
            <a:off x="2823882" y="5537492"/>
            <a:ext cx="9070142" cy="9387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dirty="0"/>
              <a:t>특허권의 권리범위 확인심판을 청구함에 있어 심판청구의 대상이 되는 확인대상 발명은 당해 특허발명과 </a:t>
            </a:r>
            <a:r>
              <a:rPr lang="ko-KR" altLang="en-US" sz="1100" dirty="0">
                <a:solidFill>
                  <a:srgbClr val="FF0000"/>
                </a:solidFill>
              </a:rPr>
              <a:t>서로 대비할 수 있을 만큼 구체적으로 특정</a:t>
            </a:r>
            <a:r>
              <a:rPr lang="ko-KR" altLang="en-US" sz="1100" dirty="0"/>
              <a:t>되어야 할 뿐만 아니라</a:t>
            </a:r>
            <a:r>
              <a:rPr lang="en-US" altLang="ko-KR" sz="1100" dirty="0"/>
              <a:t>, </a:t>
            </a:r>
            <a:r>
              <a:rPr lang="ko-KR" altLang="en-US" sz="1100" dirty="0"/>
              <a:t>그에 앞서 사회통념상 특허발명의 권리범위에 속하는지를 확인하는 대상으로서 다른 것과 구별될 수 있는 정도로 구체적으로 특정되어야 한다</a:t>
            </a:r>
            <a:r>
              <a:rPr lang="en-US" altLang="ko-KR" sz="1100" dirty="0"/>
              <a:t>(</a:t>
            </a:r>
            <a:r>
              <a:rPr lang="ko-KR" altLang="en-US" sz="1100" dirty="0"/>
              <a:t>대법원 </a:t>
            </a:r>
            <a:r>
              <a:rPr lang="en-US" altLang="ko-KR" sz="1100" dirty="0"/>
              <a:t>2011. 9. 8.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2010</a:t>
            </a:r>
            <a:r>
              <a:rPr lang="ko-KR" altLang="en-US" sz="1100" dirty="0"/>
              <a:t>후</a:t>
            </a:r>
            <a:r>
              <a:rPr lang="en-US" altLang="ko-KR" sz="1100" dirty="0"/>
              <a:t>3356 </a:t>
            </a:r>
            <a:r>
              <a:rPr lang="ko-KR" altLang="en-US" sz="1100" dirty="0"/>
              <a:t>판결 등 참조</a:t>
            </a:r>
            <a:r>
              <a:rPr lang="en-US" altLang="ko-KR" sz="1100" dirty="0"/>
              <a:t>). </a:t>
            </a:r>
            <a:r>
              <a:rPr lang="ko-KR" altLang="en-US" sz="1100" dirty="0"/>
              <a:t>다만</a:t>
            </a:r>
            <a:r>
              <a:rPr lang="en-US" altLang="ko-KR" sz="1100" dirty="0"/>
              <a:t>, </a:t>
            </a:r>
            <a:r>
              <a:rPr lang="ko-KR" altLang="en-US" sz="1100" dirty="0"/>
              <a:t>확인대상 발명의 설명서에 불명확한 부분이 있거나 설명서의 기재와 일치하지 않는 일부 도면이 있더라도</a:t>
            </a:r>
            <a:r>
              <a:rPr lang="en-US" altLang="ko-KR" sz="1100" dirty="0"/>
              <a:t>, </a:t>
            </a:r>
            <a:r>
              <a:rPr lang="ko-KR" altLang="en-US" sz="1100" dirty="0"/>
              <a:t>확인대상 발명의 설명서에 기재된 나머지 내용과 도면을 종합적으로 고려하여 </a:t>
            </a:r>
            <a:r>
              <a:rPr lang="ko-KR" altLang="en-US" sz="1100" dirty="0">
                <a:highlight>
                  <a:srgbClr val="FFFF00"/>
                </a:highlight>
              </a:rPr>
              <a:t>확인대상 발명이 특허발명의 권리범위에 속하는지 여부를 판단할 수 있는 경우에는 확인대상 발명은 특정</a:t>
            </a:r>
            <a:r>
              <a:rPr lang="ko-KR" altLang="en-US" sz="1100" dirty="0"/>
              <a:t>된 것으로 보아야 한다</a:t>
            </a:r>
            <a:r>
              <a:rPr lang="en-US" altLang="ko-KR" sz="1100" dirty="0"/>
              <a:t>(</a:t>
            </a:r>
            <a:r>
              <a:rPr lang="ko-KR" altLang="en-US" sz="1100" dirty="0"/>
              <a:t>대법원 </a:t>
            </a:r>
            <a:r>
              <a:rPr lang="en-US" altLang="ko-KR" sz="1100" dirty="0"/>
              <a:t>2020. 5. 28.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2017</a:t>
            </a:r>
            <a:r>
              <a:rPr lang="ko-KR" altLang="en-US" sz="1100" dirty="0"/>
              <a:t>후</a:t>
            </a:r>
            <a:r>
              <a:rPr lang="en-US" altLang="ko-KR" sz="1100" dirty="0"/>
              <a:t>2291).</a:t>
            </a:r>
            <a:endParaRPr lang="ko-KR" altLang="en-US" sz="110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F7B1771-1FC3-4999-9381-4CA0ECF63681}"/>
              </a:ext>
            </a:extLst>
          </p:cNvPr>
          <p:cNvSpPr/>
          <p:nvPr/>
        </p:nvSpPr>
        <p:spPr>
          <a:xfrm>
            <a:off x="2923239" y="2433200"/>
            <a:ext cx="907014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dirty="0"/>
              <a:t>특허권의 권리범위확인심판을 청구할 때 심판청구의 대상이 되는 확인대상발명은 당해 특허발명과 서로 대비할 수 있을 만큼 구체적으로 특정되어야 할 뿐만 아니라</a:t>
            </a:r>
            <a:r>
              <a:rPr lang="en-US" altLang="ko-KR" sz="1100" dirty="0"/>
              <a:t>, </a:t>
            </a:r>
            <a:r>
              <a:rPr lang="ko-KR" altLang="en-US" sz="1100" dirty="0"/>
              <a:t>그에 앞서 사회통념상 특허발명의 권리범위에 속하는지를 확인하는 대상으로서 다른 것과 구별될 수 있는 정도로 구체적으로 특정되어야 한다</a:t>
            </a:r>
            <a:r>
              <a:rPr lang="en-US" altLang="ko-KR" sz="1100" dirty="0"/>
              <a:t>. </a:t>
            </a:r>
            <a:r>
              <a:rPr lang="ko-KR" altLang="en-US" sz="1100" dirty="0"/>
              <a:t>만약 확인대상발명의 일부 구성이 불명확하여 </a:t>
            </a:r>
            <a:r>
              <a:rPr lang="ko-KR" altLang="en-US" sz="1100" dirty="0">
                <a:solidFill>
                  <a:srgbClr val="FF0000"/>
                </a:solidFill>
              </a:rPr>
              <a:t>다른 것과 구별될 수 있는 정도로 구체적으로 특정되어 있지 않다면</a:t>
            </a:r>
            <a:r>
              <a:rPr lang="en-US" altLang="ko-KR" sz="1100" dirty="0"/>
              <a:t>, </a:t>
            </a:r>
            <a:r>
              <a:rPr lang="ko-KR" altLang="en-US" sz="1100" dirty="0"/>
              <a:t>특허심판원은 요지변경이 되지 아니하는 범위 내에서 확인대상발명의 설명서 및 도면에 대한 보정을 명하는 등 조치를 취해야 하며</a:t>
            </a:r>
            <a:r>
              <a:rPr lang="en-US" altLang="ko-KR" sz="1100" dirty="0"/>
              <a:t>, </a:t>
            </a:r>
            <a:r>
              <a:rPr lang="ko-KR" altLang="en-US" sz="1100" dirty="0"/>
              <a:t>그럼에도 그와 같은 특정에 미흡함이 있다면 </a:t>
            </a:r>
            <a:r>
              <a:rPr lang="ko-KR" altLang="en-US" sz="1100" dirty="0">
                <a:highlight>
                  <a:srgbClr val="FFFF00"/>
                </a:highlight>
              </a:rPr>
              <a:t>심판의 </a:t>
            </a:r>
            <a:r>
              <a:rPr lang="ko-KR" altLang="en-US" sz="1100" dirty="0" err="1">
                <a:highlight>
                  <a:srgbClr val="FFFF00"/>
                </a:highlight>
              </a:rPr>
              <a:t>심결이</a:t>
            </a:r>
            <a:r>
              <a:rPr lang="ko-KR" altLang="en-US" sz="1100" dirty="0">
                <a:highlight>
                  <a:srgbClr val="FFFF00"/>
                </a:highlight>
              </a:rPr>
              <a:t> 확정되더라도 일사부재리의 효력이 미치는 범위가 명확하다고 할 수 없으므로</a:t>
            </a:r>
            <a:r>
              <a:rPr lang="en-US" altLang="ko-KR" sz="1100" dirty="0">
                <a:highlight>
                  <a:srgbClr val="FFFF00"/>
                </a:highlight>
              </a:rPr>
              <a:t>, </a:t>
            </a:r>
            <a:r>
              <a:rPr lang="ko-KR" altLang="en-US" sz="1100" dirty="0">
                <a:highlight>
                  <a:srgbClr val="FFFF00"/>
                </a:highlight>
              </a:rPr>
              <a:t>나머지 구성만으로 확인대상발명이 특허발명의 권리범위에 속하는지를 판단할 수 있는 경우라 하더라도 심판청구를 각하</a:t>
            </a:r>
            <a:r>
              <a:rPr lang="ko-KR" altLang="en-US" sz="1100" dirty="0"/>
              <a:t>하여야 한다</a:t>
            </a:r>
            <a:r>
              <a:rPr lang="en-US" altLang="ko-KR" sz="1100" dirty="0"/>
              <a:t>(</a:t>
            </a:r>
            <a:r>
              <a:rPr lang="ko-KR" altLang="en-US" sz="1100" dirty="0"/>
              <a:t>대법원 </a:t>
            </a:r>
            <a:r>
              <a:rPr lang="en-US" altLang="ko-KR" sz="1100" dirty="0"/>
              <a:t>2011. 9. 8. </a:t>
            </a:r>
            <a:r>
              <a:rPr lang="ko-KR" altLang="en-US" sz="1100" dirty="0"/>
              <a:t>선고 </a:t>
            </a:r>
            <a:r>
              <a:rPr lang="en-US" altLang="ko-KR" sz="1100" dirty="0"/>
              <a:t>2010</a:t>
            </a:r>
            <a:r>
              <a:rPr lang="ko-KR" altLang="en-US" sz="1100" dirty="0"/>
              <a:t>후</a:t>
            </a:r>
            <a:r>
              <a:rPr lang="en-US" altLang="ko-KR" sz="1100" dirty="0"/>
              <a:t>3356).</a:t>
            </a:r>
            <a:endParaRPr lang="ko-KR" altLang="en-US" sz="1100" dirty="0"/>
          </a:p>
        </p:txBody>
      </p:sp>
      <p:sp>
        <p:nvSpPr>
          <p:cNvPr id="17" name="말풍선: 모서리가 둥근 사각형 16">
            <a:extLst>
              <a:ext uri="{FF2B5EF4-FFF2-40B4-BE49-F238E27FC236}">
                <a16:creationId xmlns:a16="http://schemas.microsoft.com/office/drawing/2014/main" id="{2B5A81D0-8703-74C0-D339-AC121631F411}"/>
              </a:ext>
            </a:extLst>
          </p:cNvPr>
          <p:cNvSpPr/>
          <p:nvPr/>
        </p:nvSpPr>
        <p:spPr>
          <a:xfrm>
            <a:off x="1330558" y="2054110"/>
            <a:ext cx="1493324" cy="1200328"/>
          </a:xfrm>
          <a:prstGeom prst="wedgeRoundRectCallout">
            <a:avLst>
              <a:gd name="adj1" fmla="val -20081"/>
              <a:gd name="adj2" fmla="val -92318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“</a:t>
            </a:r>
            <a:r>
              <a:rPr lang="ko-KR" altLang="en-US" sz="1000" dirty="0">
                <a:solidFill>
                  <a:schemeClr val="tx1"/>
                </a:solidFill>
              </a:rPr>
              <a:t>확인대상발명은 특허 제</a:t>
            </a:r>
            <a:r>
              <a:rPr lang="en-US" altLang="ko-KR" sz="1000" dirty="0">
                <a:solidFill>
                  <a:schemeClr val="tx1"/>
                </a:solidFill>
              </a:rPr>
              <a:t>0000000</a:t>
            </a:r>
            <a:r>
              <a:rPr lang="ko-KR" altLang="en-US" sz="1000" dirty="0">
                <a:solidFill>
                  <a:schemeClr val="tx1"/>
                </a:solidFill>
              </a:rPr>
              <a:t>호의 특허발명의 권리범위에 속한다</a:t>
            </a:r>
            <a:r>
              <a:rPr lang="en-US" altLang="ko-KR" sz="1000" dirty="0">
                <a:solidFill>
                  <a:schemeClr val="tx1"/>
                </a:solidFill>
              </a:rPr>
              <a:t>.”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라는 </a:t>
            </a:r>
            <a:r>
              <a:rPr lang="ko-KR" altLang="en-US" sz="1000" dirty="0" err="1">
                <a:solidFill>
                  <a:schemeClr val="tx1"/>
                </a:solidFill>
              </a:rPr>
              <a:t>심결을</a:t>
            </a:r>
            <a:r>
              <a:rPr lang="ko-KR" altLang="en-US" sz="1000" dirty="0">
                <a:solidFill>
                  <a:schemeClr val="tx1"/>
                </a:solidFill>
              </a:rPr>
              <a:t> 구합니다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5" name="말풍선: 모서리가 둥근 사각형 24">
            <a:extLst>
              <a:ext uri="{FF2B5EF4-FFF2-40B4-BE49-F238E27FC236}">
                <a16:creationId xmlns:a16="http://schemas.microsoft.com/office/drawing/2014/main" id="{E375EBA0-64D6-DEC3-5DD5-B22423BD9356}"/>
              </a:ext>
            </a:extLst>
          </p:cNvPr>
          <p:cNvSpPr/>
          <p:nvPr/>
        </p:nvSpPr>
        <p:spPr>
          <a:xfrm>
            <a:off x="1071410" y="5193661"/>
            <a:ext cx="1637226" cy="730064"/>
          </a:xfrm>
          <a:prstGeom prst="wedgeRoundRectCallout">
            <a:avLst>
              <a:gd name="adj1" fmla="val -13511"/>
              <a:gd name="adj2" fmla="val -120675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확인대상발명은 특허발명과 대비하여 </a:t>
            </a:r>
            <a:r>
              <a:rPr lang="ko-KR" altLang="en-US" sz="1000" dirty="0" err="1">
                <a:solidFill>
                  <a:schemeClr val="tx1"/>
                </a:solidFill>
              </a:rPr>
              <a:t>구성요소완비의</a:t>
            </a:r>
            <a:r>
              <a:rPr lang="ko-KR" altLang="en-US" sz="1000" dirty="0">
                <a:solidFill>
                  <a:schemeClr val="tx1"/>
                </a:solidFill>
              </a:rPr>
              <a:t> 원칙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균등론이 적용된다</a:t>
            </a:r>
            <a:r>
              <a:rPr lang="en-US" altLang="ko-KR" sz="1000" dirty="0">
                <a:solidFill>
                  <a:schemeClr val="tx1"/>
                </a:solidFill>
              </a:rPr>
              <a:t>.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02666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독립항과 종속항의 관계에 있어서 특정 정도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다이아몬드 10">
            <a:extLst>
              <a:ext uri="{FF2B5EF4-FFF2-40B4-BE49-F238E27FC236}">
                <a16:creationId xmlns:a16="http://schemas.microsoft.com/office/drawing/2014/main" id="{9D03EC18-9240-078D-E22E-5A79E010F872}"/>
              </a:ext>
            </a:extLst>
          </p:cNvPr>
          <p:cNvSpPr/>
          <p:nvPr/>
        </p:nvSpPr>
        <p:spPr>
          <a:xfrm>
            <a:off x="1438833" y="1080889"/>
            <a:ext cx="2555684" cy="876011"/>
          </a:xfrm>
          <a:prstGeom prst="diamond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사회통념상 </a:t>
            </a:r>
            <a:endParaRPr lang="en-US" altLang="ko-KR" sz="1600" dirty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구별</a:t>
            </a:r>
          </a:p>
        </p:txBody>
      </p:sp>
      <p:sp>
        <p:nvSpPr>
          <p:cNvPr id="13" name="다이아몬드 12">
            <a:extLst>
              <a:ext uri="{FF2B5EF4-FFF2-40B4-BE49-F238E27FC236}">
                <a16:creationId xmlns:a16="http://schemas.microsoft.com/office/drawing/2014/main" id="{F6742B90-C9DA-FFDD-E01E-05CF10BF829C}"/>
              </a:ext>
            </a:extLst>
          </p:cNvPr>
          <p:cNvSpPr/>
          <p:nvPr/>
        </p:nvSpPr>
        <p:spPr>
          <a:xfrm>
            <a:off x="5388007" y="1080889"/>
            <a:ext cx="2555684" cy="876011"/>
          </a:xfrm>
          <a:prstGeom prst="diamond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대비가능 정도 특정</a:t>
            </a:r>
            <a:endParaRPr lang="en-US" altLang="ko-KR" sz="1600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F77912A-6696-8FE8-659A-AA6105E02C75}"/>
              </a:ext>
            </a:extLst>
          </p:cNvPr>
          <p:cNvSpPr/>
          <p:nvPr/>
        </p:nvSpPr>
        <p:spPr>
          <a:xfrm>
            <a:off x="1975286" y="2283804"/>
            <a:ext cx="1482779" cy="43082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심결각하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10AF2D0-36D9-3B91-6C7A-EB93CB454854}"/>
              </a:ext>
            </a:extLst>
          </p:cNvPr>
          <p:cNvSpPr/>
          <p:nvPr/>
        </p:nvSpPr>
        <p:spPr>
          <a:xfrm>
            <a:off x="5924460" y="2283804"/>
            <a:ext cx="1482779" cy="43082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chemeClr val="tx1"/>
                </a:solidFill>
              </a:rPr>
              <a:t>심결각하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3241343-0117-4A1E-7B79-66148BE166B2}"/>
              </a:ext>
            </a:extLst>
          </p:cNvPr>
          <p:cNvSpPr/>
          <p:nvPr/>
        </p:nvSpPr>
        <p:spPr>
          <a:xfrm>
            <a:off x="9091279" y="1303484"/>
            <a:ext cx="1482779" cy="430821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solidFill>
                  <a:schemeClr val="tx1"/>
                </a:solidFill>
              </a:rPr>
              <a:t>본안심결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ECD84B0A-7C29-3183-56E6-2763AF90EEA7}"/>
              </a:ext>
            </a:extLst>
          </p:cNvPr>
          <p:cNvCxnSpPr>
            <a:stCxn id="11" idx="2"/>
            <a:endCxn id="14" idx="0"/>
          </p:cNvCxnSpPr>
          <p:nvPr/>
        </p:nvCxnSpPr>
        <p:spPr>
          <a:xfrm>
            <a:off x="2716675" y="1956900"/>
            <a:ext cx="0" cy="32690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8A5FF8D-105E-F756-2EEB-CBF6437E3675}"/>
              </a:ext>
            </a:extLst>
          </p:cNvPr>
          <p:cNvCxnSpPr>
            <a:cxnSpLocks/>
            <a:stCxn id="11" idx="3"/>
            <a:endCxn id="50" idx="2"/>
          </p:cNvCxnSpPr>
          <p:nvPr/>
        </p:nvCxnSpPr>
        <p:spPr>
          <a:xfrm>
            <a:off x="3994517" y="1518895"/>
            <a:ext cx="1027361" cy="551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6CEDD9E-FC67-C788-6F71-2EB808318FBA}"/>
              </a:ext>
            </a:extLst>
          </p:cNvPr>
          <p:cNvCxnSpPr>
            <a:stCxn id="13" idx="2"/>
            <a:endCxn id="15" idx="0"/>
          </p:cNvCxnSpPr>
          <p:nvPr/>
        </p:nvCxnSpPr>
        <p:spPr>
          <a:xfrm>
            <a:off x="6665849" y="1956900"/>
            <a:ext cx="0" cy="32690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5ACFCCEE-D29A-1E30-077D-C22E68572315}"/>
              </a:ext>
            </a:extLst>
          </p:cNvPr>
          <p:cNvCxnSpPr>
            <a:stCxn id="13" idx="3"/>
            <a:endCxn id="19" idx="1"/>
          </p:cNvCxnSpPr>
          <p:nvPr/>
        </p:nvCxnSpPr>
        <p:spPr>
          <a:xfrm>
            <a:off x="7943691" y="1518895"/>
            <a:ext cx="1147588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7792D31-4A4B-FAF8-FD9D-A3B82E76EF92}"/>
              </a:ext>
            </a:extLst>
          </p:cNvPr>
          <p:cNvSpPr txBox="1"/>
          <p:nvPr/>
        </p:nvSpPr>
        <p:spPr>
          <a:xfrm>
            <a:off x="3820774" y="1191991"/>
            <a:ext cx="481497" cy="2615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Yes</a:t>
            </a:r>
            <a:endParaRPr lang="ko-KR" altLang="en-US" sz="1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F7EDBF-87C7-73C3-2701-97C3E68B5C44}"/>
              </a:ext>
            </a:extLst>
          </p:cNvPr>
          <p:cNvSpPr txBox="1"/>
          <p:nvPr/>
        </p:nvSpPr>
        <p:spPr>
          <a:xfrm>
            <a:off x="7799030" y="1191991"/>
            <a:ext cx="481497" cy="2615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Yes</a:t>
            </a:r>
            <a:endParaRPr lang="ko-KR" altLang="en-US" sz="1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291581-ED86-C70C-9213-2C7F008B664A}"/>
              </a:ext>
            </a:extLst>
          </p:cNvPr>
          <p:cNvSpPr txBox="1"/>
          <p:nvPr/>
        </p:nvSpPr>
        <p:spPr>
          <a:xfrm>
            <a:off x="2740862" y="1956900"/>
            <a:ext cx="433961" cy="2615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No</a:t>
            </a:r>
            <a:endParaRPr lang="ko-KR" altLang="en-US" sz="1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1E738D-5E36-76C8-8F49-410423B834BD}"/>
              </a:ext>
            </a:extLst>
          </p:cNvPr>
          <p:cNvSpPr txBox="1"/>
          <p:nvPr/>
        </p:nvSpPr>
        <p:spPr>
          <a:xfrm>
            <a:off x="6665849" y="1956900"/>
            <a:ext cx="433961" cy="2615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No</a:t>
            </a:r>
            <a:endParaRPr lang="ko-KR" altLang="en-US" sz="16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268FF9-F2BA-AF03-FD78-BA0F65B9E735}"/>
              </a:ext>
            </a:extLst>
          </p:cNvPr>
          <p:cNvSpPr txBox="1"/>
          <p:nvPr/>
        </p:nvSpPr>
        <p:spPr>
          <a:xfrm>
            <a:off x="7599493" y="2022926"/>
            <a:ext cx="3122422" cy="578882"/>
          </a:xfrm>
          <a:prstGeom prst="wedgeRoundRectCallout">
            <a:avLst>
              <a:gd name="adj1" fmla="val -54502"/>
              <a:gd name="adj2" fmla="val -98231"/>
              <a:gd name="adj3" fmla="val 1666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원칙</a:t>
            </a:r>
            <a:r>
              <a:rPr lang="en-US" altLang="ko-KR" sz="1400" dirty="0"/>
              <a:t>: </a:t>
            </a:r>
            <a:r>
              <a:rPr lang="ko-KR" altLang="en-US" sz="1400" dirty="0"/>
              <a:t>대응구성요소</a:t>
            </a:r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차이점 드러날 정도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</a:p>
          <a:p>
            <a:r>
              <a:rPr lang="ko-KR" altLang="en-US" sz="1400" dirty="0">
                <a:solidFill>
                  <a:srgbClr val="FF0000"/>
                </a:solidFill>
              </a:rPr>
              <a:t>예외</a:t>
            </a:r>
            <a:r>
              <a:rPr lang="en-US" altLang="ko-KR" sz="1400" dirty="0">
                <a:solidFill>
                  <a:srgbClr val="FF0000"/>
                </a:solidFill>
              </a:rPr>
              <a:t>: </a:t>
            </a:r>
            <a:r>
              <a:rPr lang="ko-KR" altLang="en-US" sz="1400" dirty="0">
                <a:solidFill>
                  <a:srgbClr val="FF0000"/>
                </a:solidFill>
              </a:rPr>
              <a:t>독립항과 종속항의 관계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4189DB1-4BC6-7D62-AC4B-574EBBEAC6F7}"/>
              </a:ext>
            </a:extLst>
          </p:cNvPr>
          <p:cNvSpPr/>
          <p:nvPr/>
        </p:nvSpPr>
        <p:spPr>
          <a:xfrm>
            <a:off x="2453737" y="1518895"/>
            <a:ext cx="532246" cy="2219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AD6ECC3-1454-B151-D5A3-9D51F076B8CD}"/>
              </a:ext>
            </a:extLst>
          </p:cNvPr>
          <p:cNvSpPr/>
          <p:nvPr/>
        </p:nvSpPr>
        <p:spPr>
          <a:xfrm>
            <a:off x="5841626" y="1372080"/>
            <a:ext cx="400754" cy="2615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429157E-531F-6EA5-9C5C-119BC6DBF324}"/>
              </a:ext>
            </a:extLst>
          </p:cNvPr>
          <p:cNvSpPr/>
          <p:nvPr/>
        </p:nvSpPr>
        <p:spPr>
          <a:xfrm>
            <a:off x="8141166" y="2077124"/>
            <a:ext cx="321516" cy="2589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A22107-2978-D016-F0B3-9E0B66E4A41F}"/>
              </a:ext>
            </a:extLst>
          </p:cNvPr>
          <p:cNvSpPr txBox="1"/>
          <p:nvPr/>
        </p:nvSpPr>
        <p:spPr>
          <a:xfrm>
            <a:off x="798786" y="2864479"/>
            <a:ext cx="11215411" cy="11695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복수의 청구항에 대해 권리범위확인심판을 청구할 때 특허심판원이나 법원은 </a:t>
            </a:r>
            <a:r>
              <a:rPr lang="ko-KR" altLang="en-US" sz="1400" dirty="0" err="1"/>
              <a:t>청구항별로</a:t>
            </a:r>
            <a:r>
              <a:rPr lang="ko-KR" altLang="en-US" sz="1400" dirty="0"/>
              <a:t> 독립적으로 권리범위에 속하는지 여부를 판단하게 된다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2002. 9. 6.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2001</a:t>
            </a:r>
            <a:r>
              <a:rPr lang="ko-KR" altLang="en-US" sz="1400" dirty="0"/>
              <a:t>후</a:t>
            </a:r>
            <a:r>
              <a:rPr lang="en-US" altLang="ko-KR" sz="1400" dirty="0"/>
              <a:t>17). </a:t>
            </a:r>
            <a:r>
              <a:rPr lang="ko-KR" altLang="en-US" sz="1400" dirty="0"/>
              <a:t>청구범위가 복수 개의 청구항으로 된 경우에 있어서 각 청구항은 그것이 </a:t>
            </a:r>
            <a:r>
              <a:rPr lang="ko-KR" altLang="en-US" sz="1400" dirty="0" err="1"/>
              <a:t>독립항이든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종속항이든</a:t>
            </a:r>
            <a:r>
              <a:rPr lang="ko-KR" altLang="en-US" sz="1400" dirty="0"/>
              <a:t> 관계없이 상호 독립되어 각 청구항마다 권리범위가 정하여지는 것이기 때문이다</a:t>
            </a:r>
            <a:r>
              <a:rPr lang="en-US" altLang="ko-KR" sz="1400" dirty="0"/>
              <a:t>(</a:t>
            </a:r>
            <a:r>
              <a:rPr lang="ko-KR" altLang="en-US" sz="1400" dirty="0"/>
              <a:t>특허법원 </a:t>
            </a:r>
            <a:r>
              <a:rPr lang="en-US" altLang="ko-KR" sz="1400" dirty="0"/>
              <a:t>2004. 7. 2.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2003</a:t>
            </a:r>
            <a:r>
              <a:rPr lang="ko-KR" altLang="en-US" sz="1400" dirty="0"/>
              <a:t>허</a:t>
            </a:r>
            <a:r>
              <a:rPr lang="en-US" altLang="ko-KR" sz="1400" dirty="0"/>
              <a:t>6043). </a:t>
            </a:r>
            <a:r>
              <a:rPr lang="ko-KR" altLang="en-US" sz="1400" dirty="0">
                <a:solidFill>
                  <a:schemeClr val="tx2"/>
                </a:solidFill>
              </a:rPr>
              <a:t>따라서 독립항과 종속항의 관계에서 특별한 사정이 없는 한 광범위하게 규정된 독립항의 기술내용을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독립항보다 구체적으로 한정하고 있는 종속항으로 제한하여 해석할 수 없다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</a:rPr>
              <a:t>2010. 7. 22.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2008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934).</a:t>
            </a:r>
            <a:r>
              <a:rPr lang="en-US" altLang="ko-KR" sz="1400" dirty="0"/>
              <a:t> </a:t>
            </a:r>
            <a:endParaRPr lang="ko-KR" altLang="en-US" sz="1400" dirty="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1323349B-4EFC-B590-7BA5-31DFEEE04229}"/>
              </a:ext>
            </a:extLst>
          </p:cNvPr>
          <p:cNvSpPr/>
          <p:nvPr/>
        </p:nvSpPr>
        <p:spPr>
          <a:xfrm>
            <a:off x="298639" y="3041828"/>
            <a:ext cx="416064" cy="41521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F8341000-BAD4-EC31-D364-CC8EDCACC895}"/>
              </a:ext>
            </a:extLst>
          </p:cNvPr>
          <p:cNvSpPr/>
          <p:nvPr/>
        </p:nvSpPr>
        <p:spPr>
          <a:xfrm>
            <a:off x="298639" y="4203962"/>
            <a:ext cx="416064" cy="415212"/>
          </a:xfrm>
          <a:prstGeom prst="ellipse">
            <a:avLst/>
          </a:prstGeom>
          <a:solidFill>
            <a:schemeClr val="tx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F39A8B3D-192D-D92A-670F-C131F6C3CE5F}"/>
              </a:ext>
            </a:extLst>
          </p:cNvPr>
          <p:cNvSpPr/>
          <p:nvPr/>
        </p:nvSpPr>
        <p:spPr>
          <a:xfrm>
            <a:off x="298639" y="5317961"/>
            <a:ext cx="416064" cy="415212"/>
          </a:xfrm>
          <a:prstGeom prst="ellipse">
            <a:avLst/>
          </a:prstGeom>
          <a:solidFill>
            <a:schemeClr val="tx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AFE5D5B-59C3-D908-5A89-2AF06C2FD9C5}"/>
              </a:ext>
            </a:extLst>
          </p:cNvPr>
          <p:cNvSpPr txBox="1"/>
          <p:nvPr/>
        </p:nvSpPr>
        <p:spPr>
          <a:xfrm>
            <a:off x="798786" y="4065393"/>
            <a:ext cx="11215411" cy="11695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종속항은 독립항을 구체화한 청구항이기 때문에 독립항의 권리범위가 종속항의 권리범위보다 더 넓을 수밖에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확인대상발명이 독립항의 권리범위에 속하지 아니한 경우 독립항보다 권리범위가 좁은 종속항의 권리범위에도 속하지 않게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그 결과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권리범위확인심판에서 확인대상발명이 독립항의 권리범위에 속하지 아니하면 종속항에 대응되는 부분의 구성이 기재되어 있지 않거나 불명확한 부분이 있다고 하더라도 나머지 구성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독립항의 구성</a:t>
            </a:r>
            <a:r>
              <a:rPr lang="en-US" altLang="ko-KR" sz="1400" dirty="0"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highlight>
                  <a:srgbClr val="FFFF00"/>
                </a:highlight>
              </a:rPr>
              <a:t>만으로 확인대상발명이 종속항의 권리범위에도 속하지 아니한다고 판단할 수 있어서 확인대상발명이 특정된 것으로 볼 수 있다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대법원 </a:t>
            </a:r>
            <a:r>
              <a:rPr lang="en-US" altLang="ko-KR" sz="1400" dirty="0">
                <a:highlight>
                  <a:srgbClr val="FFFF00"/>
                </a:highlight>
              </a:rPr>
              <a:t>2010. 5. 27. </a:t>
            </a:r>
            <a:r>
              <a:rPr lang="ko-KR" altLang="en-US" sz="1400" dirty="0">
                <a:highlight>
                  <a:srgbClr val="FFFF00"/>
                </a:highlight>
              </a:rPr>
              <a:t>선고 </a:t>
            </a:r>
            <a:r>
              <a:rPr lang="en-US" altLang="ko-KR" sz="1400" dirty="0">
                <a:highlight>
                  <a:srgbClr val="FFFF00"/>
                </a:highlight>
              </a:rPr>
              <a:t>2010</a:t>
            </a:r>
            <a:r>
              <a:rPr lang="ko-KR" altLang="en-US" sz="1400" dirty="0">
                <a:highlight>
                  <a:srgbClr val="FFFF00"/>
                </a:highlight>
              </a:rPr>
              <a:t>후</a:t>
            </a:r>
            <a:r>
              <a:rPr lang="en-US" altLang="ko-KR" sz="1400" dirty="0">
                <a:highlight>
                  <a:srgbClr val="FFFF00"/>
                </a:highlight>
              </a:rPr>
              <a:t>296). 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DF8A27-3350-F549-30C5-7B8F5F659E86}"/>
              </a:ext>
            </a:extLst>
          </p:cNvPr>
          <p:cNvSpPr txBox="1"/>
          <p:nvPr/>
        </p:nvSpPr>
        <p:spPr>
          <a:xfrm>
            <a:off x="798786" y="5275585"/>
            <a:ext cx="11215411" cy="138499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highlight>
                  <a:srgbClr val="CCECFF"/>
                </a:highlight>
              </a:rPr>
              <a:t>한편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>
                <a:highlight>
                  <a:srgbClr val="CCECFF"/>
                </a:highlight>
              </a:rPr>
              <a:t>확인대상발명이 독립항의 권리범위에 속하는 경우 종속항의 권리범위에 속하는지 여부는 개별적으로 판단</a:t>
            </a:r>
            <a:r>
              <a:rPr lang="ko-KR" altLang="en-US" sz="1400" dirty="0">
                <a:solidFill>
                  <a:schemeClr val="tx2"/>
                </a:solidFill>
              </a:rPr>
              <a:t>되어야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또한 이는 </a:t>
            </a:r>
            <a:r>
              <a:rPr lang="ko-KR" altLang="en-US" sz="1400" dirty="0">
                <a:highlight>
                  <a:srgbClr val="CCECFF"/>
                </a:highlight>
              </a:rPr>
              <a:t>독립항의 권리범위가 인정됨을 전제로 하는 것으로서 만일 독립항이 신규성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>
                <a:highlight>
                  <a:srgbClr val="CCECFF"/>
                </a:highlight>
              </a:rPr>
              <a:t>선출원주의 위반 등으로 권리범위가 인정되지 않는다면 독립항의 권리범위에 속하지 않더라도 종속항의 권리범위에 속할 수도 있기 때문에 종속항의 권리범위에 속하는지 여부를 개별적으로 판단해야 한다</a:t>
            </a:r>
            <a:r>
              <a:rPr lang="en-US" altLang="ko-KR" sz="1400" dirty="0">
                <a:highlight>
                  <a:srgbClr val="CCECFF"/>
                </a:highlight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종속항에 대해서도 권리범위확인을 구하는 심판을 청구한 것이라면 종속항에 대응되는 부분의 구성이 반드시 기재되어야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만약 종속항에 대응되는 부분의 구성이 기재되지 아니한 경우 보정명령을 하여 대응되는 구성을 기재하도록 해야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이때 심판청구인이 구성을 추가하는 보정을 하는 것은 처음부터 당연히 있어야 할 구성부분을 부가한 것에 지나지 아니하여 요지변경이 아니다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endParaRPr lang="en-US" altLang="ko-KR" sz="1400" dirty="0">
              <a:solidFill>
                <a:schemeClr val="tx2"/>
              </a:solidFill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15637F18-D813-FD08-1EED-94E29E68C3E6}"/>
              </a:ext>
            </a:extLst>
          </p:cNvPr>
          <p:cNvSpPr/>
          <p:nvPr/>
        </p:nvSpPr>
        <p:spPr>
          <a:xfrm>
            <a:off x="1183513" y="1191991"/>
            <a:ext cx="728469" cy="664837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청구취지</a:t>
            </a:r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60BE36E9-A93E-4F3D-AAA4-A97D19827BD0}"/>
              </a:ext>
            </a:extLst>
          </p:cNvPr>
          <p:cNvSpPr/>
          <p:nvPr/>
        </p:nvSpPr>
        <p:spPr>
          <a:xfrm>
            <a:off x="5021878" y="1191991"/>
            <a:ext cx="728469" cy="664837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600" dirty="0">
                <a:solidFill>
                  <a:schemeClr val="bg1"/>
                </a:solidFill>
              </a:rPr>
              <a:t>청구원인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DA2353-D368-0304-BE22-D299BB32AA70}"/>
              </a:ext>
            </a:extLst>
          </p:cNvPr>
          <p:cNvSpPr txBox="1"/>
          <p:nvPr/>
        </p:nvSpPr>
        <p:spPr>
          <a:xfrm>
            <a:off x="3543426" y="2022926"/>
            <a:ext cx="2219311" cy="578882"/>
          </a:xfrm>
          <a:prstGeom prst="wedgeRoundRectCallout">
            <a:avLst>
              <a:gd name="adj1" fmla="val -54502"/>
              <a:gd name="adj2" fmla="val -98231"/>
              <a:gd name="adj3" fmla="val 16667"/>
            </a:avLst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확인대상발명의 구성요소를</a:t>
            </a:r>
            <a:endParaRPr lang="en-US" altLang="ko-KR" sz="1400" dirty="0"/>
          </a:p>
          <a:p>
            <a:r>
              <a:rPr lang="ko-KR" altLang="en-US" sz="1400" dirty="0"/>
              <a:t>명확히 기재</a:t>
            </a:r>
          </a:p>
        </p:txBody>
      </p:sp>
    </p:spTree>
    <p:extLst>
      <p:ext uri="{BB962C8B-B14F-4D97-AF65-F5344CB8AC3E}">
        <p14:creationId xmlns:p14="http://schemas.microsoft.com/office/powerpoint/2010/main" val="17094639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독립항의 권리범위 </a:t>
            </a:r>
            <a:r>
              <a:rPr lang="en-US" altLang="ko-KR" dirty="0"/>
              <a:t>vs </a:t>
            </a:r>
            <a:r>
              <a:rPr lang="ko-KR" altLang="en-US" dirty="0" err="1"/>
              <a:t>종속항의</a:t>
            </a:r>
            <a:r>
              <a:rPr lang="ko-KR" altLang="en-US" dirty="0"/>
              <a:t> 권리범위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0" y="150817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875" y="986046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독립항의</a:t>
            </a:r>
            <a:r>
              <a:rPr lang="ko-KR" altLang="en-US" sz="1400" dirty="0">
                <a:solidFill>
                  <a:schemeClr val="tx2"/>
                </a:solidFill>
              </a:rPr>
              <a:t> 권리범위에 속하지 아니한 경우 </a:t>
            </a:r>
            <a:r>
              <a:rPr lang="ko-KR" altLang="en-US" sz="1400" dirty="0" err="1">
                <a:solidFill>
                  <a:schemeClr val="tx2"/>
                </a:solidFill>
              </a:rPr>
              <a:t>종속항의</a:t>
            </a:r>
            <a:r>
              <a:rPr lang="ko-KR" altLang="en-US" sz="1400" dirty="0">
                <a:solidFill>
                  <a:schemeClr val="tx2"/>
                </a:solidFill>
              </a:rPr>
              <a:t> 권리범위에도 속하지 아니한다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예외적으로 </a:t>
            </a:r>
            <a:r>
              <a:rPr lang="ko-KR" altLang="en-US" sz="1400" dirty="0" err="1">
                <a:solidFill>
                  <a:schemeClr val="tx2"/>
                </a:solidFill>
              </a:rPr>
              <a:t>독립항이</a:t>
            </a:r>
            <a:r>
              <a:rPr lang="ko-KR" altLang="en-US" sz="1400" dirty="0">
                <a:solidFill>
                  <a:schemeClr val="tx2"/>
                </a:solidFill>
              </a:rPr>
              <a:t> 신규성 위반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선출원주의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위반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확대된 </a:t>
            </a:r>
            <a:r>
              <a:rPr lang="ko-KR" altLang="en-US" sz="1400">
                <a:solidFill>
                  <a:schemeClr val="tx2"/>
                </a:solidFill>
              </a:rPr>
              <a:t>선출원 </a:t>
            </a:r>
            <a:r>
              <a:rPr lang="ko-KR" altLang="en-US" sz="1400" dirty="0">
                <a:solidFill>
                  <a:schemeClr val="tx2"/>
                </a:solidFill>
              </a:rPr>
              <a:t>위반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실시불가능한 경우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기술적 범위를 특정할 수 없는 경우인데 착오로 등록되어 권리범위를 인정할 수 없는 경우에는 </a:t>
            </a:r>
            <a:r>
              <a:rPr lang="ko-KR" altLang="en-US" sz="1400" dirty="0" err="1">
                <a:solidFill>
                  <a:schemeClr val="tx2"/>
                </a:solidFill>
              </a:rPr>
              <a:t>종속항의</a:t>
            </a:r>
            <a:r>
              <a:rPr lang="ko-KR" altLang="en-US" sz="1400" dirty="0">
                <a:solidFill>
                  <a:schemeClr val="tx2"/>
                </a:solidFill>
              </a:rPr>
              <a:t> 권리범위에 속할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5" name="타원 4"/>
          <p:cNvSpPr/>
          <p:nvPr/>
        </p:nvSpPr>
        <p:spPr>
          <a:xfrm>
            <a:off x="1349914" y="4055158"/>
            <a:ext cx="2809554" cy="2662052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5" name="타원 24"/>
          <p:cNvSpPr/>
          <p:nvPr/>
        </p:nvSpPr>
        <p:spPr>
          <a:xfrm>
            <a:off x="2241775" y="4897533"/>
            <a:ext cx="1025832" cy="977301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8" name="TextBox 7"/>
          <p:cNvSpPr txBox="1"/>
          <p:nvPr/>
        </p:nvSpPr>
        <p:spPr>
          <a:xfrm>
            <a:off x="2271190" y="3975022"/>
            <a:ext cx="1157457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독립항</a:t>
            </a:r>
            <a:r>
              <a:rPr lang="en-US" altLang="ko-KR" sz="1200" dirty="0"/>
              <a:t>(A+B+C)</a:t>
            </a:r>
            <a:endParaRPr lang="ko-KR" altLang="en-US" sz="1200" dirty="0"/>
          </a:p>
        </p:txBody>
      </p:sp>
      <p:sp>
        <p:nvSpPr>
          <p:cNvPr id="26" name="TextBox 25"/>
          <p:cNvSpPr txBox="1"/>
          <p:nvPr/>
        </p:nvSpPr>
        <p:spPr>
          <a:xfrm>
            <a:off x="2143845" y="4592488"/>
            <a:ext cx="1289105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/>
              <a:t>종속항</a:t>
            </a:r>
            <a:r>
              <a:rPr lang="en-US" altLang="ko-KR" sz="1200" dirty="0"/>
              <a:t>(A+B+C+D+E)</a:t>
            </a:r>
            <a:endParaRPr lang="ko-KR" altLang="en-US" sz="1200" dirty="0"/>
          </a:p>
        </p:txBody>
      </p:sp>
      <p:sp>
        <p:nvSpPr>
          <p:cNvPr id="12" name="곱셈 기호 11"/>
          <p:cNvSpPr/>
          <p:nvPr/>
        </p:nvSpPr>
        <p:spPr>
          <a:xfrm>
            <a:off x="3636198" y="4012925"/>
            <a:ext cx="372859" cy="355220"/>
          </a:xfrm>
          <a:prstGeom prst="mathMultiply">
            <a:avLst>
              <a:gd name="adj1" fmla="val 9234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7" name="곱셈 기호 26"/>
          <p:cNvSpPr/>
          <p:nvPr/>
        </p:nvSpPr>
        <p:spPr>
          <a:xfrm>
            <a:off x="3500493" y="5215147"/>
            <a:ext cx="372859" cy="355220"/>
          </a:xfrm>
          <a:prstGeom prst="mathMultiply">
            <a:avLst>
              <a:gd name="adj1" fmla="val 9234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8" name="곱셈 기호 27"/>
          <p:cNvSpPr/>
          <p:nvPr/>
        </p:nvSpPr>
        <p:spPr>
          <a:xfrm>
            <a:off x="2568261" y="5244508"/>
            <a:ext cx="372859" cy="355220"/>
          </a:xfrm>
          <a:prstGeom prst="mathMultiply">
            <a:avLst>
              <a:gd name="adj1" fmla="val 9234"/>
            </a:avLst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29" name="TextBox 28"/>
          <p:cNvSpPr txBox="1"/>
          <p:nvPr/>
        </p:nvSpPr>
        <p:spPr>
          <a:xfrm>
            <a:off x="4069107" y="4054533"/>
            <a:ext cx="1011635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자의 실시</a:t>
            </a:r>
            <a:endParaRPr lang="en-US" altLang="ko-KR" sz="1200" dirty="0"/>
          </a:p>
          <a:p>
            <a:pPr algn="ctr"/>
            <a:r>
              <a:rPr lang="en-US" altLang="ko-KR" sz="1200" dirty="0"/>
              <a:t>(A+B)</a:t>
            </a:r>
            <a:endParaRPr lang="ko-KR" altLang="en-US" sz="1200" dirty="0"/>
          </a:p>
        </p:txBody>
      </p:sp>
      <p:sp>
        <p:nvSpPr>
          <p:cNvPr id="30" name="TextBox 29"/>
          <p:cNvSpPr txBox="1"/>
          <p:nvPr/>
        </p:nvSpPr>
        <p:spPr>
          <a:xfrm>
            <a:off x="1419804" y="5583574"/>
            <a:ext cx="1409226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자의 실시</a:t>
            </a:r>
            <a:endParaRPr lang="en-US" altLang="ko-KR" sz="1200" dirty="0"/>
          </a:p>
          <a:p>
            <a:pPr algn="ctr"/>
            <a:r>
              <a:rPr lang="en-US" altLang="ko-KR" sz="1200" dirty="0"/>
              <a:t>(A+B+C+D+E+F)</a:t>
            </a:r>
            <a:endParaRPr lang="ko-KR" alt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3080412" y="5591483"/>
            <a:ext cx="1025827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자의 실시</a:t>
            </a:r>
            <a:endParaRPr lang="en-US" altLang="ko-KR" sz="1200" dirty="0"/>
          </a:p>
          <a:p>
            <a:pPr algn="ctr"/>
            <a:r>
              <a:rPr lang="en-US" altLang="ko-KR" sz="1200" dirty="0"/>
              <a:t>(A+B+C+D)</a:t>
            </a:r>
            <a:endParaRPr lang="ko-KR" altLang="en-US" sz="1200" dirty="0"/>
          </a:p>
        </p:txBody>
      </p:sp>
      <p:sp>
        <p:nvSpPr>
          <p:cNvPr id="32" name="TextBox 31"/>
          <p:cNvSpPr txBox="1"/>
          <p:nvPr/>
        </p:nvSpPr>
        <p:spPr>
          <a:xfrm>
            <a:off x="3907537" y="3840479"/>
            <a:ext cx="223558" cy="229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0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96233" y="5359872"/>
            <a:ext cx="4173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0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15828" y="5352855"/>
            <a:ext cx="3498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000" dirty="0">
                <a:solidFill>
                  <a:srgbClr val="FF0000"/>
                </a:solidFill>
              </a:rPr>
              <a:t>❸</a:t>
            </a:r>
          </a:p>
        </p:txBody>
      </p:sp>
      <p:cxnSp>
        <p:nvCxnSpPr>
          <p:cNvPr id="35" name="직선 연결선 34"/>
          <p:cNvCxnSpPr/>
          <p:nvPr/>
        </p:nvCxnSpPr>
        <p:spPr>
          <a:xfrm flipV="1">
            <a:off x="6397682" y="1771161"/>
            <a:ext cx="1" cy="4832839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66890" y="2156338"/>
            <a:ext cx="3815360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/>
              <a:t>독립항의</a:t>
            </a:r>
            <a:r>
              <a:rPr lang="ko-KR" altLang="en-US" sz="1600" dirty="0"/>
              <a:t> </a:t>
            </a:r>
            <a:r>
              <a:rPr lang="ko-KR" altLang="en-US" sz="1600" dirty="0" err="1"/>
              <a:t>권리범위가</a:t>
            </a:r>
            <a:r>
              <a:rPr lang="ko-KR" altLang="en-US" sz="1600" dirty="0"/>
              <a:t> 인정되는 경우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6890" y="2526212"/>
            <a:ext cx="3815360" cy="11695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 err="1"/>
              <a:t>독립항의</a:t>
            </a:r>
            <a:r>
              <a:rPr lang="ko-KR" altLang="en-US" sz="1400" dirty="0"/>
              <a:t> 권리범위에 속하지 아니하면 </a:t>
            </a:r>
            <a:r>
              <a:rPr lang="ko-KR" altLang="en-US" sz="1400" dirty="0" err="1"/>
              <a:t>종속항의</a:t>
            </a:r>
            <a:r>
              <a:rPr lang="ko-KR" altLang="en-US" sz="1400" dirty="0"/>
              <a:t> 권리범위에도 속하지 아니한다</a:t>
            </a:r>
            <a:r>
              <a:rPr lang="en-US" altLang="ko-KR" sz="1400" dirty="0"/>
              <a:t>(①).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 err="1">
                <a:solidFill>
                  <a:srgbClr val="FF0000"/>
                </a:solidFill>
              </a:rPr>
              <a:t>독립항의</a:t>
            </a:r>
            <a:r>
              <a:rPr lang="ko-KR" altLang="en-US" sz="1400" dirty="0">
                <a:solidFill>
                  <a:srgbClr val="FF0000"/>
                </a:solidFill>
              </a:rPr>
              <a:t> 권리범위에 속하면 </a:t>
            </a:r>
            <a:r>
              <a:rPr lang="ko-KR" altLang="en-US" sz="1400" dirty="0" err="1">
                <a:solidFill>
                  <a:srgbClr val="FF0000"/>
                </a:solidFill>
              </a:rPr>
              <a:t>종속항의</a:t>
            </a:r>
            <a:r>
              <a:rPr lang="ko-KR" altLang="en-US" sz="1400" dirty="0">
                <a:solidFill>
                  <a:srgbClr val="FF0000"/>
                </a:solidFill>
              </a:rPr>
              <a:t> 권리범위에 속하는지 여부는 개별적으로 판단해야 한다</a:t>
            </a:r>
            <a:r>
              <a:rPr lang="en-US" altLang="ko-KR" sz="1400" dirty="0">
                <a:solidFill>
                  <a:srgbClr val="FF0000"/>
                </a:solidFill>
              </a:rPr>
              <a:t>(②③).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66890" y="4190858"/>
            <a:ext cx="3815360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/>
              <a:t>독립항의</a:t>
            </a:r>
            <a:r>
              <a:rPr lang="ko-KR" altLang="en-US" sz="1600" dirty="0"/>
              <a:t> </a:t>
            </a:r>
            <a:r>
              <a:rPr lang="ko-KR" altLang="en-US" sz="1600" dirty="0" err="1"/>
              <a:t>권리범위가</a:t>
            </a:r>
            <a:r>
              <a:rPr lang="ko-KR" altLang="en-US" sz="1600" dirty="0"/>
              <a:t> 인정되지 아니한 경우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6890" y="4560732"/>
            <a:ext cx="3815360" cy="73866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 err="1">
                <a:solidFill>
                  <a:srgbClr val="FF0000"/>
                </a:solidFill>
              </a:rPr>
              <a:t>독립항의</a:t>
            </a:r>
            <a:r>
              <a:rPr lang="ko-KR" altLang="en-US" sz="1400" dirty="0">
                <a:solidFill>
                  <a:srgbClr val="FF0000"/>
                </a:solidFill>
              </a:rPr>
              <a:t> 권리범위에 속하지 아니하더라도 </a:t>
            </a:r>
            <a:r>
              <a:rPr lang="ko-KR" altLang="en-US" sz="1400" dirty="0" err="1">
                <a:solidFill>
                  <a:srgbClr val="FF0000"/>
                </a:solidFill>
              </a:rPr>
              <a:t>종속항의</a:t>
            </a:r>
            <a:r>
              <a:rPr lang="ko-KR" altLang="en-US" sz="1400" dirty="0">
                <a:solidFill>
                  <a:srgbClr val="FF0000"/>
                </a:solidFill>
              </a:rPr>
              <a:t> 권리범위에 속하는지 여부는 개별적으로 판단해야 한다</a:t>
            </a:r>
            <a:r>
              <a:rPr lang="en-US" altLang="ko-KR" sz="1400" dirty="0">
                <a:solidFill>
                  <a:srgbClr val="FF0000"/>
                </a:solidFill>
              </a:rPr>
              <a:t>(②③).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40" name="Line 5">
            <a:extLst>
              <a:ext uri="{FF2B5EF4-FFF2-40B4-BE49-F238E27FC236}">
                <a16:creationId xmlns:a16="http://schemas.microsoft.com/office/drawing/2014/main" id="{54E50700-6E4F-4E26-A108-310A6F2116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679" y="1929596"/>
            <a:ext cx="5520689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AD55F99-08A6-4A00-BDDB-A666AA5E56CE}"/>
              </a:ext>
            </a:extLst>
          </p:cNvPr>
          <p:cNvSpPr txBox="1"/>
          <p:nvPr/>
        </p:nvSpPr>
        <p:spPr>
          <a:xfrm>
            <a:off x="373659" y="2185771"/>
            <a:ext cx="1231432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공지기술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(A+B+C)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445CFB77-4A0F-48E5-A7DA-BCAAC82DFCE1}"/>
              </a:ext>
            </a:extLst>
          </p:cNvPr>
          <p:cNvSpPr/>
          <p:nvPr/>
        </p:nvSpPr>
        <p:spPr>
          <a:xfrm>
            <a:off x="912005" y="183566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4B4056A7-E70B-4D6D-815A-6E1D71E4C19B}"/>
              </a:ext>
            </a:extLst>
          </p:cNvPr>
          <p:cNvCxnSpPr>
            <a:cxnSpLocks/>
            <a:stCxn id="41" idx="0"/>
            <a:endCxn id="42" idx="4"/>
          </p:cNvCxnSpPr>
          <p:nvPr/>
        </p:nvCxnSpPr>
        <p:spPr>
          <a:xfrm flipH="1" flipV="1">
            <a:off x="989374" y="1997000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C3BB2F24-A53C-4ABD-8AF4-4784E3D79779}"/>
              </a:ext>
            </a:extLst>
          </p:cNvPr>
          <p:cNvSpPr txBox="1"/>
          <p:nvPr/>
        </p:nvSpPr>
        <p:spPr>
          <a:xfrm>
            <a:off x="1773817" y="2185771"/>
            <a:ext cx="127365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1312890E-8954-4FD3-AFF3-74634C10E942}"/>
              </a:ext>
            </a:extLst>
          </p:cNvPr>
          <p:cNvSpPr/>
          <p:nvPr/>
        </p:nvSpPr>
        <p:spPr>
          <a:xfrm>
            <a:off x="2333272" y="183566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1DA0E33E-CCC6-4FB4-9FEB-737E9949D537}"/>
              </a:ext>
            </a:extLst>
          </p:cNvPr>
          <p:cNvCxnSpPr>
            <a:cxnSpLocks/>
            <a:stCxn id="44" idx="0"/>
            <a:endCxn id="45" idx="4"/>
          </p:cNvCxnSpPr>
          <p:nvPr/>
        </p:nvCxnSpPr>
        <p:spPr>
          <a:xfrm flipH="1" flipV="1">
            <a:off x="2410641" y="1997000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12DCEDA-3DA4-4749-A929-A730461FC3DA}"/>
              </a:ext>
            </a:extLst>
          </p:cNvPr>
          <p:cNvSpPr txBox="1"/>
          <p:nvPr/>
        </p:nvSpPr>
        <p:spPr>
          <a:xfrm>
            <a:off x="1390464" y="2813810"/>
            <a:ext cx="2040356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A+B+C</a:t>
            </a:r>
          </a:p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항에 있어서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D+E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부가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56CA04B-F86D-4504-BBE0-859F80683FE1}"/>
              </a:ext>
            </a:extLst>
          </p:cNvPr>
          <p:cNvCxnSpPr>
            <a:endCxn id="44" idx="2"/>
          </p:cNvCxnSpPr>
          <p:nvPr/>
        </p:nvCxnSpPr>
        <p:spPr>
          <a:xfrm flipV="1">
            <a:off x="2410641" y="2462770"/>
            <a:ext cx="1" cy="3510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2A3FE88-1532-48E7-835D-DAEAB353DE22}"/>
              </a:ext>
            </a:extLst>
          </p:cNvPr>
          <p:cNvSpPr txBox="1"/>
          <p:nvPr/>
        </p:nvSpPr>
        <p:spPr>
          <a:xfrm>
            <a:off x="3134360" y="2185771"/>
            <a:ext cx="127365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50D7A551-07F4-4C76-B9CE-E9805293F433}"/>
              </a:ext>
            </a:extLst>
          </p:cNvPr>
          <p:cNvSpPr/>
          <p:nvPr/>
        </p:nvSpPr>
        <p:spPr>
          <a:xfrm>
            <a:off x="3693815" y="183566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538CDAA3-41ED-49A6-8CFE-8390C95F7086}"/>
              </a:ext>
            </a:extLst>
          </p:cNvPr>
          <p:cNvCxnSpPr>
            <a:cxnSpLocks/>
            <a:stCxn id="48" idx="0"/>
            <a:endCxn id="49" idx="4"/>
          </p:cNvCxnSpPr>
          <p:nvPr/>
        </p:nvCxnSpPr>
        <p:spPr>
          <a:xfrm flipH="1" flipV="1">
            <a:off x="3771184" y="1997000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731A0C31-CE8B-412C-944D-2A3FF1D1367C}"/>
              </a:ext>
            </a:extLst>
          </p:cNvPr>
          <p:cNvSpPr txBox="1"/>
          <p:nvPr/>
        </p:nvSpPr>
        <p:spPr>
          <a:xfrm>
            <a:off x="4536466" y="2185771"/>
            <a:ext cx="1273650" cy="276999"/>
          </a:xfrm>
          <a:prstGeom prst="rect">
            <a:avLst/>
          </a:prstGeom>
          <a:solidFill>
            <a:schemeClr val="accent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자 실시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B5C48D87-E8FE-43E5-8199-836342F3C6CD}"/>
              </a:ext>
            </a:extLst>
          </p:cNvPr>
          <p:cNvSpPr/>
          <p:nvPr/>
        </p:nvSpPr>
        <p:spPr>
          <a:xfrm>
            <a:off x="5095921" y="1835662"/>
            <a:ext cx="154738" cy="161338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E189567-6E19-4D4B-9FC4-8DCCFE0A49DE}"/>
              </a:ext>
            </a:extLst>
          </p:cNvPr>
          <p:cNvCxnSpPr>
            <a:cxnSpLocks/>
            <a:stCxn id="51" idx="0"/>
            <a:endCxn id="52" idx="4"/>
          </p:cNvCxnSpPr>
          <p:nvPr/>
        </p:nvCxnSpPr>
        <p:spPr>
          <a:xfrm flipH="1" flipV="1">
            <a:off x="5173290" y="1997000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B5ADE24-F2A3-46E1-812C-14DDD0B32C12}"/>
              </a:ext>
            </a:extLst>
          </p:cNvPr>
          <p:cNvSpPr txBox="1"/>
          <p:nvPr/>
        </p:nvSpPr>
        <p:spPr>
          <a:xfrm>
            <a:off x="4188119" y="2813810"/>
            <a:ext cx="2040356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A+B+C+D+E+F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A+B+C+D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4147271D-6B74-4587-8FC8-5F7CE47DF88B}"/>
              </a:ext>
            </a:extLst>
          </p:cNvPr>
          <p:cNvCxnSpPr/>
          <p:nvPr/>
        </p:nvCxnSpPr>
        <p:spPr>
          <a:xfrm flipV="1">
            <a:off x="5184354" y="2462770"/>
            <a:ext cx="1" cy="35104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A7BDC2F-4FB1-A6BA-3AC6-2AE51D017C57}"/>
              </a:ext>
            </a:extLst>
          </p:cNvPr>
          <p:cNvSpPr txBox="1"/>
          <p:nvPr/>
        </p:nvSpPr>
        <p:spPr>
          <a:xfrm>
            <a:off x="10629902" y="3790356"/>
            <a:ext cx="1384285" cy="510778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종속항에 대응되는 구성 필요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3D874D-55C4-48C6-AAD0-58EC53B94EFC}"/>
              </a:ext>
            </a:extLst>
          </p:cNvPr>
          <p:cNvSpPr txBox="1"/>
          <p:nvPr/>
        </p:nvSpPr>
        <p:spPr>
          <a:xfrm>
            <a:off x="10629902" y="2524221"/>
            <a:ext cx="1384285" cy="510778"/>
          </a:xfrm>
          <a:prstGeom prst="roundRect">
            <a:avLst/>
          </a:prstGeom>
          <a:noFill/>
          <a:ln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종속항에 대응되는 구성 불필요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FF00FF0-AC68-3D4B-4368-827BED168324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0248900" y="2779610"/>
            <a:ext cx="381002" cy="342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05EC126-7ADE-3983-2CD5-6CE783E72F45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10248900" y="3460141"/>
            <a:ext cx="381002" cy="58560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F786162E-49E3-3F48-AA2E-FCE809DD9778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10248900" y="4045745"/>
            <a:ext cx="381002" cy="8517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71575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>
                <a:solidFill>
                  <a:srgbClr val="525252"/>
                </a:solidFill>
              </a:rPr>
              <a:t>확인대상발명 </a:t>
            </a:r>
            <a:r>
              <a:rPr lang="en-US" altLang="ko-KR" dirty="0">
                <a:solidFill>
                  <a:srgbClr val="525252"/>
                </a:solidFill>
              </a:rPr>
              <a:t>vs </a:t>
            </a:r>
            <a:r>
              <a:rPr lang="ko-KR" altLang="en-US" dirty="0">
                <a:solidFill>
                  <a:srgbClr val="525252"/>
                </a:solidFill>
              </a:rPr>
              <a:t>실시</a:t>
            </a:r>
            <a:r>
              <a:rPr lang="en-US" altLang="ko-KR" dirty="0">
                <a:solidFill>
                  <a:srgbClr val="525252"/>
                </a:solidFill>
              </a:rPr>
              <a:t>(</a:t>
            </a:r>
            <a:r>
              <a:rPr lang="ko-KR" altLang="en-US" dirty="0">
                <a:solidFill>
                  <a:srgbClr val="525252"/>
                </a:solidFill>
              </a:rPr>
              <a:t>예정</a:t>
            </a:r>
            <a:r>
              <a:rPr lang="en-US" altLang="ko-KR" dirty="0">
                <a:solidFill>
                  <a:srgbClr val="525252"/>
                </a:solidFill>
              </a:rPr>
              <a:t>)</a:t>
            </a:r>
            <a:r>
              <a:rPr lang="ko-KR" altLang="en-US" dirty="0">
                <a:solidFill>
                  <a:srgbClr val="525252"/>
                </a:solidFill>
              </a:rPr>
              <a:t>제품</a:t>
            </a:r>
            <a:r>
              <a:rPr lang="en-US" altLang="ko-KR" dirty="0">
                <a:solidFill>
                  <a:srgbClr val="525252"/>
                </a:solidFill>
              </a:rPr>
              <a:t>: </a:t>
            </a:r>
            <a:r>
              <a:rPr lang="ko-KR" altLang="en-US" dirty="0">
                <a:solidFill>
                  <a:srgbClr val="525252"/>
                </a:solidFill>
              </a:rPr>
              <a:t>다르지 않는 경우</a:t>
            </a:r>
            <a:r>
              <a:rPr lang="en-US" altLang="ko-KR" dirty="0">
                <a:solidFill>
                  <a:srgbClr val="525252"/>
                </a:solidFill>
              </a:rPr>
              <a:t> 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94B0FEF-5B1C-443D-A705-183127B85944}"/>
              </a:ext>
            </a:extLst>
          </p:cNvPr>
          <p:cNvSpPr/>
          <p:nvPr/>
        </p:nvSpPr>
        <p:spPr>
          <a:xfrm>
            <a:off x="312918" y="1066801"/>
            <a:ext cx="1041400" cy="356666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적극적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C11490A-26D1-4C3F-89A3-6BF1F6795B8C}"/>
              </a:ext>
            </a:extLst>
          </p:cNvPr>
          <p:cNvSpPr/>
          <p:nvPr/>
        </p:nvSpPr>
        <p:spPr>
          <a:xfrm>
            <a:off x="241300" y="1474906"/>
            <a:ext cx="4203700" cy="3046988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/>
              <a:t>적극적 권리범위확인심판에서는 청구인인 특허권자 또는 </a:t>
            </a:r>
            <a:r>
              <a:rPr lang="ko-KR" altLang="en-US" sz="1200" dirty="0" err="1"/>
              <a:t>전용실시권자가</a:t>
            </a:r>
            <a:r>
              <a:rPr lang="ko-KR" altLang="en-US" sz="1200" dirty="0"/>
              <a:t> 주장한 실시 형태가 피청구인이 실제로 실시하고 있는 형태와 동일성이 인정되지 않으면</a:t>
            </a:r>
            <a:r>
              <a:rPr lang="en-US" altLang="ko-KR" sz="1200" dirty="0"/>
              <a:t>, </a:t>
            </a:r>
            <a:r>
              <a:rPr lang="ko-KR" altLang="en-US" sz="1200" dirty="0"/>
              <a:t>확인대상발명이 특허발명의 권리범위에 속한다는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확정된다고 하더라도 그 </a:t>
            </a:r>
            <a:r>
              <a:rPr lang="ko-KR" altLang="en-US" sz="1200" dirty="0" err="1"/>
              <a:t>심결은</a:t>
            </a:r>
            <a:r>
              <a:rPr lang="ko-KR" altLang="en-US" sz="1200" dirty="0"/>
              <a:t> 심판청구인이 특정한 확인대상발명에 대하여만 효력을 미칠 뿐 실제 피심판청구인이 실시하고 있는 발명에 대하여는 아무런 효력이 없으므로</a:t>
            </a:r>
            <a:r>
              <a:rPr lang="en-US" altLang="ko-KR" sz="1200" dirty="0"/>
              <a:t>, </a:t>
            </a:r>
            <a:r>
              <a:rPr lang="ko-KR" altLang="en-US" sz="1200" dirty="0"/>
              <a:t>피심판청구인이 실시하지 않고 있는 발명을 대상으로 한 그와 같은 적극적 권리범위확인 심판청구는 </a:t>
            </a:r>
            <a:r>
              <a:rPr lang="ko-KR" altLang="en-US" sz="1200" dirty="0">
                <a:highlight>
                  <a:srgbClr val="FF0000"/>
                </a:highlight>
              </a:rPr>
              <a:t>확인의 이익</a:t>
            </a:r>
            <a:r>
              <a:rPr lang="ko-KR" altLang="en-US" sz="1200" dirty="0"/>
              <a:t>이 없어 </a:t>
            </a:r>
            <a:r>
              <a:rPr lang="ko-KR" altLang="en-US" sz="1200" dirty="0" err="1"/>
              <a:t>부적법하여</a:t>
            </a:r>
            <a:r>
              <a:rPr lang="ko-KR" altLang="en-US" sz="1200" dirty="0"/>
              <a:t> 각하되어야 한다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2003. 6. 10.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2002</a:t>
            </a:r>
            <a:r>
              <a:rPr lang="ko-KR" altLang="en-US" sz="1200" dirty="0"/>
              <a:t>후</a:t>
            </a:r>
            <a:r>
              <a:rPr lang="en-US" altLang="ko-KR" sz="1200" dirty="0"/>
              <a:t>2419). </a:t>
            </a:r>
            <a:r>
              <a:rPr lang="ko-KR" altLang="en-US" sz="1200" dirty="0"/>
              <a:t>그리고 </a:t>
            </a:r>
            <a:r>
              <a:rPr lang="ko-KR" altLang="en-US" sz="1200" dirty="0">
                <a:highlight>
                  <a:srgbClr val="CCECFF"/>
                </a:highlight>
              </a:rPr>
              <a:t>이 경우 확인대상발명과 피심판청구인이 실시하고 있는 발명의 동일성은 피심판청구인이 확인대상발명을 실시하고 있는지 여부라는 사실확정에 관한 것이므로 이들 발명이 사실적 관점에서 같다고 보이는 경우에 한하여 그 동일성을 인정하여야 하며</a:t>
            </a:r>
            <a:r>
              <a:rPr lang="en-US" altLang="ko-KR" sz="1200" dirty="0">
                <a:highlight>
                  <a:srgbClr val="CCECFF"/>
                </a:highlight>
              </a:rPr>
              <a:t>(</a:t>
            </a:r>
            <a:r>
              <a:rPr lang="ko-KR" altLang="en-US" sz="1200" dirty="0">
                <a:highlight>
                  <a:srgbClr val="CCECFF"/>
                </a:highlight>
              </a:rPr>
              <a:t>대법원 </a:t>
            </a:r>
            <a:r>
              <a:rPr lang="en-US" altLang="ko-KR" sz="1200" dirty="0">
                <a:highlight>
                  <a:srgbClr val="CCECFF"/>
                </a:highlight>
              </a:rPr>
              <a:t>2012. 10. 25. </a:t>
            </a:r>
            <a:r>
              <a:rPr lang="ko-KR" altLang="en-US" sz="1200" dirty="0">
                <a:highlight>
                  <a:srgbClr val="CCECFF"/>
                </a:highlight>
              </a:rPr>
              <a:t>선고 </a:t>
            </a:r>
            <a:r>
              <a:rPr lang="en-US" altLang="ko-KR" sz="1200" dirty="0">
                <a:highlight>
                  <a:srgbClr val="CCECFF"/>
                </a:highlight>
              </a:rPr>
              <a:t>2011</a:t>
            </a:r>
            <a:r>
              <a:rPr lang="ko-KR" altLang="en-US" sz="1200" dirty="0">
                <a:highlight>
                  <a:srgbClr val="CCECFF"/>
                </a:highlight>
              </a:rPr>
              <a:t>후</a:t>
            </a:r>
            <a:r>
              <a:rPr lang="en-US" altLang="ko-KR" sz="1200" dirty="0">
                <a:highlight>
                  <a:srgbClr val="CCECFF"/>
                </a:highlight>
              </a:rPr>
              <a:t>2626), </a:t>
            </a:r>
            <a:r>
              <a:rPr lang="ko-KR" altLang="en-US" sz="1200" dirty="0">
                <a:highlight>
                  <a:srgbClr val="CCECFF"/>
                </a:highlight>
              </a:rPr>
              <a:t>요지가 동일하여 균등관계에 있다고 할지라도 확인대상발명이 특정되었다고 볼 수 없다</a:t>
            </a:r>
            <a:r>
              <a:rPr lang="en-US" altLang="ko-KR" sz="1200" dirty="0">
                <a:highlight>
                  <a:srgbClr val="CCECFF"/>
                </a:highlight>
              </a:rPr>
              <a:t>(</a:t>
            </a:r>
            <a:r>
              <a:rPr lang="ko-KR" altLang="en-US" sz="1200" dirty="0">
                <a:highlight>
                  <a:srgbClr val="CCECFF"/>
                </a:highlight>
              </a:rPr>
              <a:t>대법원 </a:t>
            </a:r>
            <a:r>
              <a:rPr lang="en-US" altLang="ko-KR" sz="1200" dirty="0">
                <a:highlight>
                  <a:srgbClr val="CCECFF"/>
                </a:highlight>
              </a:rPr>
              <a:t>1996. 3. 8. </a:t>
            </a:r>
            <a:r>
              <a:rPr lang="ko-KR" altLang="en-US" sz="1200" dirty="0">
                <a:highlight>
                  <a:srgbClr val="CCECFF"/>
                </a:highlight>
              </a:rPr>
              <a:t>선고 </a:t>
            </a:r>
            <a:r>
              <a:rPr lang="en-US" altLang="ko-KR" sz="1200" dirty="0">
                <a:highlight>
                  <a:srgbClr val="CCECFF"/>
                </a:highlight>
              </a:rPr>
              <a:t>94</a:t>
            </a:r>
            <a:r>
              <a:rPr lang="ko-KR" altLang="en-US" sz="1200" dirty="0">
                <a:highlight>
                  <a:srgbClr val="CCECFF"/>
                </a:highlight>
              </a:rPr>
              <a:t>후</a:t>
            </a:r>
            <a:r>
              <a:rPr lang="en-US" altLang="ko-KR" sz="1200" dirty="0">
                <a:highlight>
                  <a:srgbClr val="CCECFF"/>
                </a:highlight>
              </a:rPr>
              <a:t>2247).</a:t>
            </a:r>
            <a:endParaRPr lang="ko-KR" altLang="en-US" sz="1200" dirty="0">
              <a:highlight>
                <a:srgbClr val="CCECFF"/>
              </a:highlight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F026DEE-24E5-422E-B990-7C55476DE06C}"/>
              </a:ext>
            </a:extLst>
          </p:cNvPr>
          <p:cNvSpPr/>
          <p:nvPr/>
        </p:nvSpPr>
        <p:spPr>
          <a:xfrm>
            <a:off x="266698" y="5143259"/>
            <a:ext cx="1206500" cy="43274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확인대상발명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4083A2B-3B8E-44B9-A353-5C93A91DA414}"/>
              </a:ext>
            </a:extLst>
          </p:cNvPr>
          <p:cNvSpPr/>
          <p:nvPr/>
        </p:nvSpPr>
        <p:spPr>
          <a:xfrm>
            <a:off x="2781302" y="5142150"/>
            <a:ext cx="1676400" cy="4338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실시제품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EE9BF232-32B3-4C6A-92D3-42E79E3F2F2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473198" y="5359079"/>
            <a:ext cx="1308104" cy="55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779B2F1-953E-47EF-A5BB-22657D2F1DC8}"/>
              </a:ext>
            </a:extLst>
          </p:cNvPr>
          <p:cNvSpPr txBox="1"/>
          <p:nvPr/>
        </p:nvSpPr>
        <p:spPr>
          <a:xfrm>
            <a:off x="1418566" y="4734245"/>
            <a:ext cx="1417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사실적 관점 동일</a:t>
            </a:r>
            <a:br>
              <a:rPr lang="en-US" altLang="ko-KR" sz="1400" dirty="0"/>
            </a:br>
            <a:r>
              <a:rPr lang="en-US" altLang="ko-KR" sz="1400" dirty="0"/>
              <a:t>(</a:t>
            </a:r>
            <a:r>
              <a:rPr lang="ko-KR" altLang="en-US" sz="1400" dirty="0"/>
              <a:t>요지 동일 </a:t>
            </a:r>
            <a:r>
              <a:rPr lang="en-US" altLang="ko-KR" sz="1400" dirty="0"/>
              <a:t>X)</a:t>
            </a:r>
            <a:endParaRPr lang="ko-KR" altLang="en-US" sz="1400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09E91B2-AA72-4AFC-85FD-5FA198616D2A}"/>
              </a:ext>
            </a:extLst>
          </p:cNvPr>
          <p:cNvSpPr/>
          <p:nvPr/>
        </p:nvSpPr>
        <p:spPr>
          <a:xfrm>
            <a:off x="4711700" y="1066801"/>
            <a:ext cx="1041400" cy="356666"/>
          </a:xfrm>
          <a:prstGeom prst="roundRect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소극적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11BACD1-CD82-440D-83B9-7C669502C0AA}"/>
              </a:ext>
            </a:extLst>
          </p:cNvPr>
          <p:cNvSpPr/>
          <p:nvPr/>
        </p:nvSpPr>
        <p:spPr>
          <a:xfrm>
            <a:off x="4686300" y="1474906"/>
            <a:ext cx="7239002" cy="3693319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/>
              <a:t>소극적 권리범위확인 심판의 대상이 되는 확인대상발명에는 현재 실시하고 있는 </a:t>
            </a:r>
            <a:r>
              <a:rPr lang="ko-KR" altLang="en-US" sz="1200" dirty="0" err="1"/>
              <a:t>발명뿐만</a:t>
            </a:r>
            <a:r>
              <a:rPr lang="ko-KR" altLang="en-US" sz="1200" dirty="0"/>
              <a:t> 아니라 장래 실시 예정인 발명도 포함되나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2000. 4. 11. </a:t>
            </a:r>
            <a:r>
              <a:rPr lang="ko-KR" altLang="en-US" sz="1200" dirty="0"/>
              <a:t>선고 </a:t>
            </a:r>
            <a:r>
              <a:rPr lang="en-US" altLang="ko-KR" sz="1200" dirty="0"/>
              <a:t>7</a:t>
            </a:r>
            <a:r>
              <a:rPr lang="ko-KR" altLang="en-US" sz="1200" dirty="0"/>
              <a:t>후</a:t>
            </a:r>
            <a:r>
              <a:rPr lang="en-US" altLang="ko-KR" sz="1200" dirty="0"/>
              <a:t>3241 </a:t>
            </a:r>
            <a:r>
              <a:rPr lang="ko-KR" altLang="en-US" sz="1200" dirty="0"/>
              <a:t>판결 참조</a:t>
            </a:r>
            <a:r>
              <a:rPr lang="en-US" altLang="ko-KR" sz="1200" dirty="0"/>
              <a:t>), </a:t>
            </a:r>
            <a:r>
              <a:rPr lang="ko-KR" altLang="en-US" sz="1200" dirty="0"/>
              <a:t>그러한 경우에도 확인대상발명의 적법한 특정 여부</a:t>
            </a:r>
            <a:r>
              <a:rPr lang="en-US" altLang="ko-KR" sz="1200" dirty="0"/>
              <a:t>, </a:t>
            </a:r>
            <a:r>
              <a:rPr lang="ko-KR" altLang="en-US" sz="1200" dirty="0"/>
              <a:t>심결절차의 안정성 및 효율성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심결의</a:t>
            </a:r>
            <a:r>
              <a:rPr lang="ko-KR" altLang="en-US" sz="1200" dirty="0"/>
              <a:t> 효력 범위를 명확히 하기 위하여 </a:t>
            </a:r>
            <a:r>
              <a:rPr lang="ko-KR" altLang="en-US" sz="1200" dirty="0">
                <a:highlight>
                  <a:srgbClr val="FFFF00"/>
                </a:highlight>
              </a:rPr>
              <a:t>권리범위의 확인을 구하는 심판을 청구한 자는 확인대상발명을 현재 실시하고 있는지 또는 장래 실시할 예정인지 여부를 적어도 </a:t>
            </a:r>
            <a:r>
              <a:rPr lang="ko-KR" altLang="en-US" sz="1200" dirty="0" err="1">
                <a:highlight>
                  <a:srgbClr val="FFFF00"/>
                </a:highlight>
              </a:rPr>
              <a:t>심결시까지</a:t>
            </a:r>
            <a:r>
              <a:rPr lang="ko-KR" altLang="en-US" sz="1200" dirty="0">
                <a:highlight>
                  <a:srgbClr val="FFFF00"/>
                </a:highlight>
              </a:rPr>
              <a:t> 명확히 밝혀야 하고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심판청구인이 </a:t>
            </a:r>
            <a:r>
              <a:rPr lang="ko-KR" altLang="en-US" sz="1200" dirty="0" err="1">
                <a:highlight>
                  <a:srgbClr val="FFFF00"/>
                </a:highlight>
              </a:rPr>
              <a:t>심결시까지</a:t>
            </a:r>
            <a:r>
              <a:rPr lang="ko-KR" altLang="en-US" sz="1200" dirty="0">
                <a:highlight>
                  <a:srgbClr val="FFFF00"/>
                </a:highlight>
              </a:rPr>
              <a:t> 자신이 현재 실시하고 있는 제품이 </a:t>
            </a:r>
            <a:r>
              <a:rPr lang="ko-KR" altLang="en-US" sz="1200" dirty="0" err="1">
                <a:highlight>
                  <a:srgbClr val="FFFF00"/>
                </a:highlight>
              </a:rPr>
              <a:t>확인대상발명이라고</a:t>
            </a:r>
            <a:r>
              <a:rPr lang="ko-KR" altLang="en-US" sz="1200" dirty="0">
                <a:highlight>
                  <a:srgbClr val="FFFF00"/>
                </a:highlight>
              </a:rPr>
              <a:t> 밝혔다면 특별한 사정이 없는 한 확인대상발명은 심판청구인의 의사대로 실제 실시하고 있는 제품으로 확정되었다고 할 것이다</a:t>
            </a:r>
            <a:r>
              <a:rPr lang="en-US" altLang="ko-KR" sz="1200" dirty="0">
                <a:highlight>
                  <a:srgbClr val="FFFF00"/>
                </a:highlight>
              </a:rPr>
              <a:t>.</a:t>
            </a:r>
          </a:p>
          <a:p>
            <a:pPr algn="just"/>
            <a:r>
              <a:rPr lang="ko-KR" altLang="en-US" sz="1200" dirty="0"/>
              <a:t>또한 확인대상발명이 위와 같이 확정되었다면 그것이 적법하게 특정되었는지는 특허심판의 적법요건으로서 당사자의 명확한 주장이 없더라도 의심이 있을 때에는 특허심판원이나 법원이 이를 </a:t>
            </a:r>
            <a:r>
              <a:rPr lang="ko-KR" altLang="en-US" sz="1200" dirty="0">
                <a:highlight>
                  <a:srgbClr val="FFFF00"/>
                </a:highlight>
              </a:rPr>
              <a:t>직권으로 조사</a:t>
            </a:r>
            <a:r>
              <a:rPr lang="ko-KR" altLang="en-US" sz="1200" dirty="0"/>
              <a:t>하여 밝혀보아야 할 사항이다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2005. 4. 29.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2003</a:t>
            </a:r>
            <a:r>
              <a:rPr lang="ko-KR" altLang="en-US" sz="1200" dirty="0"/>
              <a:t>후</a:t>
            </a:r>
            <a:r>
              <a:rPr lang="en-US" altLang="ko-KR" sz="1200" dirty="0"/>
              <a:t>656 </a:t>
            </a:r>
            <a:r>
              <a:rPr lang="ko-KR" altLang="en-US" sz="1200" dirty="0"/>
              <a:t>판결 참조</a:t>
            </a:r>
            <a:r>
              <a:rPr lang="en-US" altLang="ko-KR" sz="1200" dirty="0"/>
              <a:t>). </a:t>
            </a:r>
            <a:r>
              <a:rPr lang="ko-KR" altLang="en-US" sz="1200" dirty="0"/>
              <a:t>따라서</a:t>
            </a:r>
            <a:r>
              <a:rPr lang="en-US" altLang="ko-KR" sz="1200" dirty="0"/>
              <a:t>, </a:t>
            </a:r>
            <a:r>
              <a:rPr lang="ko-KR" altLang="en-US" sz="1200" dirty="0"/>
              <a:t>피고가 이 사건 심결절차를 통하여 확인을 받으려고 한 대상인 피고가 실제 실시하고 있는 제품과 피고가 특정한 확인대상발명이 사실적 관점에서 같지 않다면</a:t>
            </a:r>
            <a:r>
              <a:rPr lang="en-US" altLang="ko-KR" sz="1200" dirty="0"/>
              <a:t>, </a:t>
            </a:r>
            <a:r>
              <a:rPr lang="ko-KR" altLang="en-US" sz="1200" dirty="0"/>
              <a:t>앞서 본 법리에 따라 특허심판원으로서는 피고가 특정한 확인대상발명이 피고가 실제 실시하고 있는 발명과 다름을 지적하여 이를 보정할 수 있는 기회를 부여하여야 하고</a:t>
            </a:r>
            <a:r>
              <a:rPr lang="en-US" altLang="ko-KR" sz="1200" dirty="0"/>
              <a:t>, </a:t>
            </a:r>
            <a:r>
              <a:rPr lang="ko-KR" altLang="en-US" sz="1200" dirty="0"/>
              <a:t>피고가 그러한 기회를 제공받았음에도 이를 보정하지 않았다면 장차 위와 같이 잘못 특정된 확인대상발명이 이 사건 특허발명의 권리범위에 속하지 않는다는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확정되더라도 그 </a:t>
            </a:r>
            <a:r>
              <a:rPr lang="ko-KR" altLang="en-US" sz="1200" dirty="0" err="1"/>
              <a:t>기판력이</a:t>
            </a:r>
            <a:r>
              <a:rPr lang="ko-KR" altLang="en-US" sz="1200" dirty="0"/>
              <a:t> 확인대상발명과 다른 피고가 실제 실시하고 있는 발명에 미친다고 볼 수 없으므로 이를 각하하여야 할 것이다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1996. 3. 8. </a:t>
            </a:r>
            <a:r>
              <a:rPr lang="ko-KR" altLang="en-US" sz="1200" dirty="0"/>
              <a:t>선고 </a:t>
            </a:r>
            <a:r>
              <a:rPr lang="en-US" altLang="ko-KR" sz="1200" dirty="0"/>
              <a:t>94</a:t>
            </a:r>
            <a:r>
              <a:rPr lang="ko-KR" altLang="en-US" sz="1200" dirty="0"/>
              <a:t>후</a:t>
            </a:r>
            <a:r>
              <a:rPr lang="en-US" altLang="ko-KR" sz="1200" dirty="0"/>
              <a:t>2247 </a:t>
            </a:r>
            <a:r>
              <a:rPr lang="ko-KR" altLang="en-US" sz="1200" dirty="0"/>
              <a:t>판결 참조</a:t>
            </a:r>
            <a:r>
              <a:rPr lang="en-US" altLang="ko-KR" sz="1200" dirty="0"/>
              <a:t>). </a:t>
            </a:r>
            <a:r>
              <a:rPr lang="ko-KR" altLang="en-US" sz="1200" dirty="0"/>
              <a:t>그리고 특허심판원이 위와 같이 보정기회를 부여하여야 함에도 그러한 기회를 부여함이 없이 실제 실시하고 있는 발명과 다른 확인대상발명에 관하여 </a:t>
            </a:r>
            <a:r>
              <a:rPr lang="ko-KR" altLang="en-US" sz="1200" dirty="0" err="1"/>
              <a:t>심결을</a:t>
            </a:r>
            <a:r>
              <a:rPr lang="ko-KR" altLang="en-US" sz="1200" dirty="0"/>
              <a:t> 하였다면 그러한 </a:t>
            </a:r>
            <a:r>
              <a:rPr lang="ko-KR" altLang="en-US" sz="1200" dirty="0" err="1"/>
              <a:t>심결은</a:t>
            </a:r>
            <a:r>
              <a:rPr lang="ko-KR" altLang="en-US" sz="1200" dirty="0"/>
              <a:t> 심판대상이 아닌 발명을 심판한 잘못이 있어 위법하고</a:t>
            </a:r>
            <a:r>
              <a:rPr lang="en-US" altLang="ko-KR" sz="1200" dirty="0"/>
              <a:t>, </a:t>
            </a:r>
            <a:r>
              <a:rPr lang="ko-KR" altLang="en-US" sz="1200" dirty="0"/>
              <a:t>이후 </a:t>
            </a:r>
            <a:r>
              <a:rPr lang="ko-KR" altLang="en-US" sz="1200" dirty="0">
                <a:highlight>
                  <a:srgbClr val="FFFF00"/>
                </a:highlight>
              </a:rPr>
              <a:t>그 </a:t>
            </a:r>
            <a:r>
              <a:rPr lang="ko-KR" altLang="en-US" sz="1200" dirty="0" err="1">
                <a:highlight>
                  <a:srgbClr val="FFFF00"/>
                </a:highlight>
              </a:rPr>
              <a:t>심결의</a:t>
            </a:r>
            <a:r>
              <a:rPr lang="ko-KR" altLang="en-US" sz="1200" dirty="0">
                <a:highlight>
                  <a:srgbClr val="FFFF00"/>
                </a:highlight>
              </a:rPr>
              <a:t> 취소를 구하는 소송절차에서 사후적으로 </a:t>
            </a:r>
            <a:r>
              <a:rPr lang="ko-KR" altLang="en-US" sz="1200" dirty="0" err="1">
                <a:highlight>
                  <a:srgbClr val="FFFF00"/>
                </a:highlight>
              </a:rPr>
              <a:t>심결에서</a:t>
            </a:r>
            <a:r>
              <a:rPr lang="ko-KR" altLang="en-US" sz="1200" dirty="0">
                <a:highlight>
                  <a:srgbClr val="FFFF00"/>
                </a:highlight>
              </a:rPr>
              <a:t> 승소한 일방 당사자가 위 확인대상발명에 관하여도 확인을 구할 의사가 있다는 의사를 표시하였다고 하여 그 하자가 치유된다고 보기도 어렵다</a:t>
            </a:r>
            <a:r>
              <a:rPr lang="en-US" altLang="ko-KR" sz="1200" dirty="0">
                <a:highlight>
                  <a:srgbClr val="FFFF00"/>
                </a:highlight>
              </a:rPr>
              <a:t>(</a:t>
            </a:r>
            <a:r>
              <a:rPr lang="ko-KR" altLang="en-US" sz="1200" dirty="0">
                <a:highlight>
                  <a:srgbClr val="FFFF00"/>
                </a:highlight>
              </a:rPr>
              <a:t>특허법원 </a:t>
            </a:r>
            <a:r>
              <a:rPr lang="en-US" altLang="ko-KR" sz="1200" dirty="0">
                <a:highlight>
                  <a:srgbClr val="FFFF00"/>
                </a:highlight>
              </a:rPr>
              <a:t>2018. 8. 24. </a:t>
            </a:r>
            <a:r>
              <a:rPr lang="ko-KR" altLang="en-US" sz="1200" dirty="0">
                <a:highlight>
                  <a:srgbClr val="FFFF00"/>
                </a:highlight>
              </a:rPr>
              <a:t>선고 </a:t>
            </a:r>
            <a:r>
              <a:rPr lang="en-US" altLang="ko-KR" sz="1200" dirty="0">
                <a:highlight>
                  <a:srgbClr val="FFFF00"/>
                </a:highlight>
              </a:rPr>
              <a:t>2018</a:t>
            </a:r>
            <a:r>
              <a:rPr lang="ko-KR" altLang="en-US" sz="1200" dirty="0">
                <a:highlight>
                  <a:srgbClr val="FFFF00"/>
                </a:highlight>
              </a:rPr>
              <a:t>허</a:t>
            </a:r>
            <a:r>
              <a:rPr lang="en-US" altLang="ko-KR" sz="1200" dirty="0">
                <a:highlight>
                  <a:srgbClr val="FFFF00"/>
                </a:highlight>
              </a:rPr>
              <a:t>1301).</a:t>
            </a:r>
            <a:endParaRPr lang="ko-KR" altLang="en-US" sz="1200" dirty="0">
              <a:highlight>
                <a:srgbClr val="FFFF00"/>
              </a:highlight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B901920-60BF-496A-96A7-86903BF1F479}"/>
              </a:ext>
            </a:extLst>
          </p:cNvPr>
          <p:cNvSpPr/>
          <p:nvPr/>
        </p:nvSpPr>
        <p:spPr>
          <a:xfrm>
            <a:off x="4889500" y="5577117"/>
            <a:ext cx="1206500" cy="43274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확인대상발명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58D314D-838F-4845-A198-3E7E5506547A}"/>
              </a:ext>
            </a:extLst>
          </p:cNvPr>
          <p:cNvSpPr/>
          <p:nvPr/>
        </p:nvSpPr>
        <p:spPr>
          <a:xfrm>
            <a:off x="8064501" y="5576008"/>
            <a:ext cx="1676400" cy="4338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실시제품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000C3FE2-835B-436A-BFB1-B94694883392}"/>
              </a:ext>
            </a:extLst>
          </p:cNvPr>
          <p:cNvCxnSpPr>
            <a:cxnSpLocks/>
            <a:stCxn id="34" idx="3"/>
            <a:endCxn id="35" idx="1"/>
          </p:cNvCxnSpPr>
          <p:nvPr/>
        </p:nvCxnSpPr>
        <p:spPr>
          <a:xfrm flipV="1">
            <a:off x="6096000" y="5792937"/>
            <a:ext cx="1968501" cy="55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4296FFFC-F5BD-4C45-9C41-0BD272DB6C2F}"/>
              </a:ext>
            </a:extLst>
          </p:cNvPr>
          <p:cNvSpPr txBox="1"/>
          <p:nvPr/>
        </p:nvSpPr>
        <p:spPr>
          <a:xfrm>
            <a:off x="6456628" y="5218971"/>
            <a:ext cx="14173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/>
              <a:t>사실적 관점 동일</a:t>
            </a:r>
            <a:br>
              <a:rPr lang="en-US" altLang="ko-KR" sz="1400" dirty="0"/>
            </a:br>
            <a:r>
              <a:rPr lang="en-US" altLang="ko-KR" sz="1400" dirty="0"/>
              <a:t>(</a:t>
            </a:r>
            <a:r>
              <a:rPr lang="ko-KR" altLang="en-US" sz="1400" dirty="0"/>
              <a:t>요지 동일 </a:t>
            </a:r>
            <a:r>
              <a:rPr lang="en-US" altLang="ko-KR" sz="1400" dirty="0"/>
              <a:t>X)</a:t>
            </a:r>
            <a:endParaRPr lang="ko-KR" altLang="en-US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914FB09-A006-423D-83B4-614940BE87E8}"/>
              </a:ext>
            </a:extLst>
          </p:cNvPr>
          <p:cNvSpPr/>
          <p:nvPr/>
        </p:nvSpPr>
        <p:spPr>
          <a:xfrm>
            <a:off x="8064501" y="6200720"/>
            <a:ext cx="1676400" cy="43385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실시예정제품</a:t>
            </a: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BB850BEE-AC39-41BE-BB5C-4DC9D567514F}"/>
              </a:ext>
            </a:extLst>
          </p:cNvPr>
          <p:cNvCxnSpPr>
            <a:stCxn id="34" idx="2"/>
            <a:endCxn id="19" idx="1"/>
          </p:cNvCxnSpPr>
          <p:nvPr/>
        </p:nvCxnSpPr>
        <p:spPr>
          <a:xfrm rot="16200000" flipH="1">
            <a:off x="6574734" y="4927881"/>
            <a:ext cx="407783" cy="2571751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F6BA4D3-8C07-4C95-A27D-BDD64F08468E}"/>
              </a:ext>
            </a:extLst>
          </p:cNvPr>
          <p:cNvSpPr txBox="1"/>
          <p:nvPr/>
        </p:nvSpPr>
        <p:spPr>
          <a:xfrm>
            <a:off x="6643378" y="6072535"/>
            <a:ext cx="10438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/>
              <a:t>폭넓게 인정</a:t>
            </a:r>
            <a:endParaRPr lang="ko-KR" altLang="en-US" sz="1400" dirty="0"/>
          </a:p>
        </p:txBody>
      </p:sp>
      <p:cxnSp>
        <p:nvCxnSpPr>
          <p:cNvPr id="18" name="연결선: 꺾임 17">
            <a:extLst>
              <a:ext uri="{FF2B5EF4-FFF2-40B4-BE49-F238E27FC236}">
                <a16:creationId xmlns:a16="http://schemas.microsoft.com/office/drawing/2014/main" id="{73CCA2A4-D5D7-4315-A955-D464325C1E58}"/>
              </a:ext>
            </a:extLst>
          </p:cNvPr>
          <p:cNvCxnSpPr>
            <a:stCxn id="35" idx="3"/>
            <a:endCxn id="19" idx="3"/>
          </p:cNvCxnSpPr>
          <p:nvPr/>
        </p:nvCxnSpPr>
        <p:spPr>
          <a:xfrm>
            <a:off x="9740901" y="5792937"/>
            <a:ext cx="12700" cy="624712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A8EF65D-CFDA-47E3-9830-B11DD32130A9}"/>
              </a:ext>
            </a:extLst>
          </p:cNvPr>
          <p:cNvSpPr txBox="1"/>
          <p:nvPr/>
        </p:nvSpPr>
        <p:spPr>
          <a:xfrm>
            <a:off x="9997370" y="5926450"/>
            <a:ext cx="19527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 err="1"/>
              <a:t>심결</a:t>
            </a:r>
            <a:r>
              <a:rPr lang="ko-KR" altLang="en-US" sz="1400" dirty="0"/>
              <a:t> 시까지 명확히 구분</a:t>
            </a:r>
          </a:p>
        </p:txBody>
      </p:sp>
    </p:spTree>
    <p:extLst>
      <p:ext uri="{BB962C8B-B14F-4D97-AF65-F5344CB8AC3E}">
        <p14:creationId xmlns:p14="http://schemas.microsoft.com/office/powerpoint/2010/main" val="40259388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>
                <a:solidFill>
                  <a:srgbClr val="525252"/>
                </a:solidFill>
              </a:rPr>
              <a:t>확인대상발명 </a:t>
            </a:r>
            <a:r>
              <a:rPr lang="en-US" altLang="ko-KR" dirty="0">
                <a:solidFill>
                  <a:srgbClr val="525252"/>
                </a:solidFill>
              </a:rPr>
              <a:t>vs </a:t>
            </a:r>
            <a:r>
              <a:rPr lang="ko-KR" altLang="en-US" dirty="0">
                <a:solidFill>
                  <a:srgbClr val="525252"/>
                </a:solidFill>
              </a:rPr>
              <a:t>실시</a:t>
            </a:r>
            <a:r>
              <a:rPr lang="en-US" altLang="ko-KR" dirty="0">
                <a:solidFill>
                  <a:srgbClr val="525252"/>
                </a:solidFill>
              </a:rPr>
              <a:t>(</a:t>
            </a:r>
            <a:r>
              <a:rPr lang="ko-KR" altLang="en-US" dirty="0">
                <a:solidFill>
                  <a:srgbClr val="525252"/>
                </a:solidFill>
              </a:rPr>
              <a:t>예정</a:t>
            </a:r>
            <a:r>
              <a:rPr lang="en-US" altLang="ko-KR" dirty="0">
                <a:solidFill>
                  <a:srgbClr val="525252"/>
                </a:solidFill>
              </a:rPr>
              <a:t>)</a:t>
            </a:r>
            <a:r>
              <a:rPr lang="ko-KR" altLang="en-US" dirty="0">
                <a:solidFill>
                  <a:srgbClr val="525252"/>
                </a:solidFill>
              </a:rPr>
              <a:t>제품</a:t>
            </a:r>
            <a:r>
              <a:rPr lang="en-US" altLang="ko-KR" dirty="0">
                <a:solidFill>
                  <a:srgbClr val="525252"/>
                </a:solidFill>
              </a:rPr>
              <a:t>: </a:t>
            </a:r>
            <a:r>
              <a:rPr lang="ko-KR" altLang="en-US" dirty="0">
                <a:solidFill>
                  <a:srgbClr val="525252"/>
                </a:solidFill>
              </a:rPr>
              <a:t>다른 경우</a:t>
            </a:r>
            <a:r>
              <a:rPr lang="en-US" altLang="ko-KR" dirty="0">
                <a:solidFill>
                  <a:srgbClr val="525252"/>
                </a:solidFill>
              </a:rPr>
              <a:t> 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672B6BB-2D77-4E43-8B42-06D030FA91F0}"/>
              </a:ext>
            </a:extLst>
          </p:cNvPr>
          <p:cNvCxnSpPr/>
          <p:nvPr/>
        </p:nvCxnSpPr>
        <p:spPr>
          <a:xfrm>
            <a:off x="0" y="2526558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5ED18D-A35C-4094-A735-ACF778B95324}"/>
              </a:ext>
            </a:extLst>
          </p:cNvPr>
          <p:cNvSpPr/>
          <p:nvPr/>
        </p:nvSpPr>
        <p:spPr>
          <a:xfrm>
            <a:off x="232372" y="1357007"/>
            <a:ext cx="1168198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400" dirty="0"/>
              <a:t>권리범위확인심판은 권리의 효력이 미치는 범위를 대상물과의 관계에서 구체적으로 확정하는 것이어서 특허권 권리범위확인심판 청구의 심판대상은 심판청구인이 그 청구에서 심판의 대상으로 삼은 구체적인 발명이다</a:t>
            </a:r>
            <a:r>
              <a:rPr lang="en-US" altLang="ko-KR" sz="1400" dirty="0"/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소극적 권리범위확인심판에서는 심판청구인이 현실적으로 실시하는 기술이 심판청구에서 심판의 대상으로 삼은 구체적인 발명과 다르다고 하더라도 심판청구인이 특정한 발명이 실시가능성이 없을 경우 그 청구의 적법 여부가 문제로 될 수 있을 뿐이고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여전히 심판의 대상은 심판청구인이 특정한 확인대상 발명으로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이를 기준으로 특허발명과 대비하여 그 권리범위에 속하는지 여부를 판단하여야 한다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endParaRPr lang="ko-KR" altLang="en-US" sz="1400" dirty="0">
              <a:highlight>
                <a:srgbClr val="FFFF00"/>
              </a:highlight>
            </a:endParaRPr>
          </a:p>
        </p:txBody>
      </p:sp>
      <p:sp>
        <p:nvSpPr>
          <p:cNvPr id="27" name="모서리가 둥근 직사각형 10">
            <a:extLst>
              <a:ext uri="{FF2B5EF4-FFF2-40B4-BE49-F238E27FC236}">
                <a16:creationId xmlns:a16="http://schemas.microsoft.com/office/drawing/2014/main" id="{45EA68D6-B151-4236-8FC3-05A69090F573}"/>
              </a:ext>
            </a:extLst>
          </p:cNvPr>
          <p:cNvSpPr/>
          <p:nvPr/>
        </p:nvSpPr>
        <p:spPr bwMode="auto">
          <a:xfrm>
            <a:off x="378418" y="1002199"/>
            <a:ext cx="5180410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2023. 1. 12.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2020</a:t>
            </a:r>
            <a:r>
              <a:rPr lang="ko-KR" altLang="en-US" sz="1400" dirty="0"/>
              <a:t>후</a:t>
            </a:r>
            <a:r>
              <a:rPr lang="en-US" altLang="ko-KR" sz="1400" dirty="0"/>
              <a:t>11813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권리범위확인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28" name="Line 5">
            <a:extLst>
              <a:ext uri="{FF2B5EF4-FFF2-40B4-BE49-F238E27FC236}">
                <a16:creationId xmlns:a16="http://schemas.microsoft.com/office/drawing/2014/main" id="{13F99ADD-6D23-4CE0-87DA-F8CCBC916B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530" y="2839318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755A33-8626-4A38-968C-F28C1EF81A51}"/>
              </a:ext>
            </a:extLst>
          </p:cNvPr>
          <p:cNvSpPr txBox="1"/>
          <p:nvPr/>
        </p:nvSpPr>
        <p:spPr>
          <a:xfrm>
            <a:off x="226510" y="3095493"/>
            <a:ext cx="123143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乙이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C4876FE4-DC4D-4474-8926-D22632F6469D}"/>
              </a:ext>
            </a:extLst>
          </p:cNvPr>
          <p:cNvSpPr/>
          <p:nvPr/>
        </p:nvSpPr>
        <p:spPr>
          <a:xfrm>
            <a:off x="764856" y="274538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A79FA6F-3539-499D-989D-4B9AAF9734FC}"/>
              </a:ext>
            </a:extLst>
          </p:cNvPr>
          <p:cNvCxnSpPr>
            <a:cxnSpLocks/>
            <a:stCxn id="29" idx="0"/>
            <a:endCxn id="30" idx="4"/>
          </p:cNvCxnSpPr>
          <p:nvPr/>
        </p:nvCxnSpPr>
        <p:spPr>
          <a:xfrm flipH="1" flipV="1">
            <a:off x="842225" y="290672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9ADD59A-5854-41FD-8CBF-9BB585450351}"/>
              </a:ext>
            </a:extLst>
          </p:cNvPr>
          <p:cNvSpPr txBox="1"/>
          <p:nvPr/>
        </p:nvSpPr>
        <p:spPr>
          <a:xfrm>
            <a:off x="3878197" y="3095493"/>
            <a:ext cx="127365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판단</a:t>
            </a: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4FEC46CC-5A16-4830-87C4-C9E0FA578078}"/>
              </a:ext>
            </a:extLst>
          </p:cNvPr>
          <p:cNvSpPr/>
          <p:nvPr/>
        </p:nvSpPr>
        <p:spPr>
          <a:xfrm>
            <a:off x="4437652" y="274538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E571661-1C89-4B0D-9127-9A44B4D417D7}"/>
              </a:ext>
            </a:extLst>
          </p:cNvPr>
          <p:cNvCxnSpPr>
            <a:cxnSpLocks/>
            <a:stCxn id="39" idx="0"/>
            <a:endCxn id="40" idx="4"/>
          </p:cNvCxnSpPr>
          <p:nvPr/>
        </p:nvCxnSpPr>
        <p:spPr>
          <a:xfrm flipH="1" flipV="1">
            <a:off x="4515021" y="290672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64C545D8-FCC6-49AA-A378-6C492CCB5C2F}"/>
              </a:ext>
            </a:extLst>
          </p:cNvPr>
          <p:cNvCxnSpPr>
            <a:cxnSpLocks/>
            <a:endCxn id="39" idx="2"/>
          </p:cNvCxnSpPr>
          <p:nvPr/>
        </p:nvCxnSpPr>
        <p:spPr>
          <a:xfrm flipV="1">
            <a:off x="4515022" y="3372492"/>
            <a:ext cx="0" cy="41413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5224E4B5-4D84-488F-8D06-D04D26750AFE}"/>
              </a:ext>
            </a:extLst>
          </p:cNvPr>
          <p:cNvSpPr txBox="1"/>
          <p:nvPr/>
        </p:nvSpPr>
        <p:spPr>
          <a:xfrm>
            <a:off x="1722295" y="3095493"/>
            <a:ext cx="1373686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소극적 권리범위확인심판 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피청구인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120805FA-2C23-44F4-9B48-B348D302DC13}"/>
              </a:ext>
            </a:extLst>
          </p:cNvPr>
          <p:cNvSpPr/>
          <p:nvPr/>
        </p:nvSpPr>
        <p:spPr>
          <a:xfrm>
            <a:off x="2331768" y="274538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E6888D3D-C256-43F6-8C1E-4DAA857AC472}"/>
              </a:ext>
            </a:extLst>
          </p:cNvPr>
          <p:cNvCxnSpPr>
            <a:cxnSpLocks/>
            <a:stCxn id="62" idx="0"/>
            <a:endCxn id="63" idx="4"/>
          </p:cNvCxnSpPr>
          <p:nvPr/>
        </p:nvCxnSpPr>
        <p:spPr>
          <a:xfrm flipH="1" flipV="1">
            <a:off x="2409137" y="290672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B624D6CD-D95F-41B4-A82B-D647DD332E80}"/>
              </a:ext>
            </a:extLst>
          </p:cNvPr>
          <p:cNvSpPr txBox="1"/>
          <p:nvPr/>
        </p:nvSpPr>
        <p:spPr>
          <a:xfrm>
            <a:off x="1706321" y="4154275"/>
            <a:ext cx="140563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확인대상발명을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B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로 특정</a:t>
            </a: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C6EB0FD0-6FCB-4C65-8E71-2145B0BCB43A}"/>
              </a:ext>
            </a:extLst>
          </p:cNvPr>
          <p:cNvCxnSpPr>
            <a:cxnSpLocks/>
            <a:stCxn id="65" idx="0"/>
            <a:endCxn id="62" idx="2"/>
          </p:cNvCxnSpPr>
          <p:nvPr/>
        </p:nvCxnSpPr>
        <p:spPr>
          <a:xfrm flipV="1">
            <a:off x="2409137" y="3741824"/>
            <a:ext cx="1" cy="41245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2336FDB-7B06-4623-919F-7289ACBF3206}"/>
              </a:ext>
            </a:extLst>
          </p:cNvPr>
          <p:cNvSpPr txBox="1"/>
          <p:nvPr/>
        </p:nvSpPr>
        <p:spPr>
          <a:xfrm>
            <a:off x="5700896" y="3095493"/>
            <a:ext cx="127365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인용심결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E553C06C-FA6E-4FEE-B262-1B8A1EEEEF0D}"/>
              </a:ext>
            </a:extLst>
          </p:cNvPr>
          <p:cNvSpPr/>
          <p:nvPr/>
        </p:nvSpPr>
        <p:spPr>
          <a:xfrm>
            <a:off x="6260351" y="274538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550D6AFC-FECA-4B08-B97D-0882AA74DA74}"/>
              </a:ext>
            </a:extLst>
          </p:cNvPr>
          <p:cNvCxnSpPr>
            <a:cxnSpLocks/>
            <a:stCxn id="67" idx="0"/>
            <a:endCxn id="68" idx="4"/>
          </p:cNvCxnSpPr>
          <p:nvPr/>
        </p:nvCxnSpPr>
        <p:spPr>
          <a:xfrm flipH="1" flipV="1">
            <a:off x="6337720" y="290672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순서도: 판단 69">
            <a:extLst>
              <a:ext uri="{FF2B5EF4-FFF2-40B4-BE49-F238E27FC236}">
                <a16:creationId xmlns:a16="http://schemas.microsoft.com/office/drawing/2014/main" id="{9B740040-4571-441D-9583-58028CFFE1C7}"/>
              </a:ext>
            </a:extLst>
          </p:cNvPr>
          <p:cNvSpPr/>
          <p:nvPr/>
        </p:nvSpPr>
        <p:spPr>
          <a:xfrm>
            <a:off x="3611991" y="3771894"/>
            <a:ext cx="1806060" cy="696406"/>
          </a:xfrm>
          <a:prstGeom prst="flowChartDecision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/>
              <a:t>B</a:t>
            </a:r>
            <a:r>
              <a:rPr lang="ko-KR" altLang="en-US" sz="1200" dirty="0"/>
              <a:t>에 대한 </a:t>
            </a:r>
            <a:endParaRPr lang="en-US" altLang="ko-KR" sz="1200" dirty="0"/>
          </a:p>
          <a:p>
            <a:pPr algn="ctr"/>
            <a:r>
              <a:rPr lang="ko-KR" altLang="en-US" sz="1200" dirty="0"/>
              <a:t>미래 이해관계</a:t>
            </a:r>
            <a:r>
              <a:rPr lang="en-US" altLang="ko-KR" sz="1200" dirty="0"/>
              <a:t>?</a:t>
            </a:r>
            <a:endParaRPr lang="ko-KR" altLang="en-US" sz="1200" dirty="0"/>
          </a:p>
        </p:txBody>
      </p:sp>
      <p:sp>
        <p:nvSpPr>
          <p:cNvPr id="71" name="순서도: 판단 70">
            <a:extLst>
              <a:ext uri="{FF2B5EF4-FFF2-40B4-BE49-F238E27FC236}">
                <a16:creationId xmlns:a16="http://schemas.microsoft.com/office/drawing/2014/main" id="{799E3DAE-BFAA-4E74-9BE4-EE7240D76610}"/>
              </a:ext>
            </a:extLst>
          </p:cNvPr>
          <p:cNvSpPr/>
          <p:nvPr/>
        </p:nvSpPr>
        <p:spPr>
          <a:xfrm>
            <a:off x="3611991" y="4867702"/>
            <a:ext cx="1806060" cy="696406"/>
          </a:xfrm>
          <a:prstGeom prst="flowChartDecision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심판청구 타당</a:t>
            </a:r>
            <a:r>
              <a:rPr lang="en-US" altLang="ko-KR" sz="1200" dirty="0"/>
              <a:t>?</a:t>
            </a:r>
            <a:endParaRPr lang="ko-KR" altLang="en-US" sz="1200" dirty="0"/>
          </a:p>
        </p:txBody>
      </p:sp>
      <p:sp>
        <p:nvSpPr>
          <p:cNvPr id="72" name="순서도: 처리 71">
            <a:extLst>
              <a:ext uri="{FF2B5EF4-FFF2-40B4-BE49-F238E27FC236}">
                <a16:creationId xmlns:a16="http://schemas.microsoft.com/office/drawing/2014/main" id="{D7731D40-73C0-4A93-BE1B-C804695FF83D}"/>
              </a:ext>
            </a:extLst>
          </p:cNvPr>
          <p:cNvSpPr/>
          <p:nvPr/>
        </p:nvSpPr>
        <p:spPr>
          <a:xfrm>
            <a:off x="4002387" y="5891746"/>
            <a:ext cx="1025268" cy="339364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인용심결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73" name="순서도: 처리 72">
            <a:extLst>
              <a:ext uri="{FF2B5EF4-FFF2-40B4-BE49-F238E27FC236}">
                <a16:creationId xmlns:a16="http://schemas.microsoft.com/office/drawing/2014/main" id="{42C22294-682B-402A-89E9-F9008432E283}"/>
              </a:ext>
            </a:extLst>
          </p:cNvPr>
          <p:cNvSpPr/>
          <p:nvPr/>
        </p:nvSpPr>
        <p:spPr>
          <a:xfrm>
            <a:off x="5747717" y="5039074"/>
            <a:ext cx="1025268" cy="339364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기각심결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E955FA42-B271-4D75-8896-26EABD158EF1}"/>
              </a:ext>
            </a:extLst>
          </p:cNvPr>
          <p:cNvCxnSpPr>
            <a:stCxn id="70" idx="2"/>
            <a:endCxn id="71" idx="0"/>
          </p:cNvCxnSpPr>
          <p:nvPr/>
        </p:nvCxnSpPr>
        <p:spPr>
          <a:xfrm>
            <a:off x="4515021" y="4468300"/>
            <a:ext cx="0" cy="39940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순서도: 처리 75">
            <a:extLst>
              <a:ext uri="{FF2B5EF4-FFF2-40B4-BE49-F238E27FC236}">
                <a16:creationId xmlns:a16="http://schemas.microsoft.com/office/drawing/2014/main" id="{9AF25238-B4B3-4B5F-A3C9-A43436E4EAC9}"/>
              </a:ext>
            </a:extLst>
          </p:cNvPr>
          <p:cNvSpPr/>
          <p:nvPr/>
        </p:nvSpPr>
        <p:spPr>
          <a:xfrm>
            <a:off x="5747717" y="3950415"/>
            <a:ext cx="1025268" cy="339364"/>
          </a:xfrm>
          <a:prstGeom prst="flowChartProcess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각하심결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942AF23C-B7C9-4794-A774-6E8C3810D815}"/>
              </a:ext>
            </a:extLst>
          </p:cNvPr>
          <p:cNvCxnSpPr>
            <a:stCxn id="70" idx="3"/>
            <a:endCxn id="76" idx="1"/>
          </p:cNvCxnSpPr>
          <p:nvPr/>
        </p:nvCxnSpPr>
        <p:spPr>
          <a:xfrm>
            <a:off x="5418051" y="4120097"/>
            <a:ext cx="32966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6B33D0A9-76B6-44DA-99F6-7E5AFE0800AF}"/>
              </a:ext>
            </a:extLst>
          </p:cNvPr>
          <p:cNvCxnSpPr>
            <a:stCxn id="71" idx="3"/>
            <a:endCxn id="73" idx="1"/>
          </p:cNvCxnSpPr>
          <p:nvPr/>
        </p:nvCxnSpPr>
        <p:spPr>
          <a:xfrm flipV="1">
            <a:off x="5418051" y="5208756"/>
            <a:ext cx="329666" cy="714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D2EA4595-C128-4E5F-859A-E4CA85706CCD}"/>
              </a:ext>
            </a:extLst>
          </p:cNvPr>
          <p:cNvCxnSpPr>
            <a:stCxn id="71" idx="2"/>
            <a:endCxn id="72" idx="0"/>
          </p:cNvCxnSpPr>
          <p:nvPr/>
        </p:nvCxnSpPr>
        <p:spPr>
          <a:xfrm>
            <a:off x="4515021" y="5564108"/>
            <a:ext cx="0" cy="32763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8220EC7C-BA6A-4DC6-BD22-7A990029ED02}"/>
              </a:ext>
            </a:extLst>
          </p:cNvPr>
          <p:cNvSpPr txBox="1"/>
          <p:nvPr/>
        </p:nvSpPr>
        <p:spPr>
          <a:xfrm>
            <a:off x="5332219" y="3853115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NO</a:t>
            </a:r>
            <a:endParaRPr lang="ko-KR" altLang="en-US" sz="1200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96617B5-A788-4E0A-B328-1CF378376A0A}"/>
              </a:ext>
            </a:extLst>
          </p:cNvPr>
          <p:cNvSpPr txBox="1"/>
          <p:nvPr/>
        </p:nvSpPr>
        <p:spPr>
          <a:xfrm>
            <a:off x="5332219" y="4975897"/>
            <a:ext cx="415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NO</a:t>
            </a:r>
            <a:endParaRPr lang="ko-KR" altLang="en-US" sz="1200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0B9388F-F1CF-4BB7-80E2-357474351FBF}"/>
              </a:ext>
            </a:extLst>
          </p:cNvPr>
          <p:cNvSpPr txBox="1"/>
          <p:nvPr/>
        </p:nvSpPr>
        <p:spPr>
          <a:xfrm>
            <a:off x="4515021" y="4466261"/>
            <a:ext cx="457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YES</a:t>
            </a:r>
            <a:endParaRPr lang="ko-KR" altLang="en-US" sz="12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80BE733-898E-487D-AF6C-4C74DAEB8A75}"/>
              </a:ext>
            </a:extLst>
          </p:cNvPr>
          <p:cNvSpPr txBox="1"/>
          <p:nvPr/>
        </p:nvSpPr>
        <p:spPr>
          <a:xfrm>
            <a:off x="4515021" y="5550050"/>
            <a:ext cx="457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YES</a:t>
            </a:r>
            <a:endParaRPr lang="ko-KR" altLang="en-US" sz="1200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2D769B1-1FF8-4325-BD54-E6AE101BD78D}"/>
              </a:ext>
            </a:extLst>
          </p:cNvPr>
          <p:cNvSpPr txBox="1"/>
          <p:nvPr/>
        </p:nvSpPr>
        <p:spPr>
          <a:xfrm>
            <a:off x="7243922" y="3095493"/>
            <a:ext cx="87860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소 제기</a:t>
            </a: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66BDDFB2-76D3-4B7E-AB78-077EE38E9B88}"/>
              </a:ext>
            </a:extLst>
          </p:cNvPr>
          <p:cNvSpPr/>
          <p:nvPr/>
        </p:nvSpPr>
        <p:spPr>
          <a:xfrm>
            <a:off x="7605854" y="274538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802B4B2-A1A0-419F-B32A-ABED66E6E377}"/>
              </a:ext>
            </a:extLst>
          </p:cNvPr>
          <p:cNvCxnSpPr>
            <a:cxnSpLocks/>
            <a:stCxn id="89" idx="0"/>
            <a:endCxn id="90" idx="4"/>
          </p:cNvCxnSpPr>
          <p:nvPr/>
        </p:nvCxnSpPr>
        <p:spPr>
          <a:xfrm flipH="1" flipV="1">
            <a:off x="7683223" y="290672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365DB72D-E27E-4858-ACDB-5E17A6608F3F}"/>
              </a:ext>
            </a:extLst>
          </p:cNvPr>
          <p:cNvSpPr txBox="1"/>
          <p:nvPr/>
        </p:nvSpPr>
        <p:spPr>
          <a:xfrm>
            <a:off x="9752595" y="3095493"/>
            <a:ext cx="127365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 각하</a:t>
            </a: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DBD4432D-E486-49EB-994D-45292387AA74}"/>
              </a:ext>
            </a:extLst>
          </p:cNvPr>
          <p:cNvSpPr/>
          <p:nvPr/>
        </p:nvSpPr>
        <p:spPr>
          <a:xfrm>
            <a:off x="10312050" y="274538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7A3747FF-1D9B-4C49-9EFB-F814E8FB2467}"/>
              </a:ext>
            </a:extLst>
          </p:cNvPr>
          <p:cNvCxnSpPr>
            <a:cxnSpLocks/>
            <a:stCxn id="92" idx="0"/>
            <a:endCxn id="93" idx="4"/>
          </p:cNvCxnSpPr>
          <p:nvPr/>
        </p:nvCxnSpPr>
        <p:spPr>
          <a:xfrm flipH="1" flipV="1">
            <a:off x="10389419" y="290672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C7D4FB36-1FFF-453A-9148-2907ED9D291C}"/>
              </a:ext>
            </a:extLst>
          </p:cNvPr>
          <p:cNvSpPr txBox="1"/>
          <p:nvPr/>
        </p:nvSpPr>
        <p:spPr>
          <a:xfrm>
            <a:off x="8296263" y="3280982"/>
            <a:ext cx="128259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무효심결확정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소급 소멸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37053DB1-34AB-4B46-8C67-DD7DCECC940E}"/>
              </a:ext>
            </a:extLst>
          </p:cNvPr>
          <p:cNvSpPr/>
          <p:nvPr/>
        </p:nvSpPr>
        <p:spPr>
          <a:xfrm>
            <a:off x="8860190" y="2745384"/>
            <a:ext cx="154738" cy="16133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61267199-012D-447C-B652-077CC611B18C}"/>
              </a:ext>
            </a:extLst>
          </p:cNvPr>
          <p:cNvCxnSpPr>
            <a:cxnSpLocks/>
            <a:stCxn id="96" idx="0"/>
            <a:endCxn id="97" idx="4"/>
          </p:cNvCxnSpPr>
          <p:nvPr/>
        </p:nvCxnSpPr>
        <p:spPr>
          <a:xfrm flipH="1" flipV="1">
            <a:off x="8937559" y="2906722"/>
            <a:ext cx="1" cy="37426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16298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실시예정제품</a:t>
            </a:r>
            <a:r>
              <a:rPr lang="en-US" altLang="ko-KR" dirty="0"/>
              <a:t>: </a:t>
            </a:r>
            <a:r>
              <a:rPr lang="ko-KR" altLang="en-US" dirty="0"/>
              <a:t>미래 이해관계</a:t>
            </a:r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512DDBF3-1FDC-4642-A26E-C77667158129}"/>
              </a:ext>
            </a:extLst>
          </p:cNvPr>
          <p:cNvCxnSpPr>
            <a:cxnSpLocks/>
          </p:cNvCxnSpPr>
          <p:nvPr/>
        </p:nvCxnSpPr>
        <p:spPr>
          <a:xfrm>
            <a:off x="1494202" y="4378774"/>
            <a:ext cx="9789952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Rectangle 14">
            <a:extLst>
              <a:ext uri="{FF2B5EF4-FFF2-40B4-BE49-F238E27FC236}">
                <a16:creationId xmlns:a16="http://schemas.microsoft.com/office/drawing/2014/main" id="{3EF852EA-23C0-4EA5-A686-B4C0FE7CB08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692902" y="4302243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2442D87-1353-446E-955D-A1966DF675A0}"/>
              </a:ext>
            </a:extLst>
          </p:cNvPr>
          <p:cNvSpPr txBox="1"/>
          <p:nvPr/>
        </p:nvSpPr>
        <p:spPr>
          <a:xfrm>
            <a:off x="4004818" y="3736309"/>
            <a:ext cx="151322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소극적 확인심판청구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CCFA213A-19F7-4320-9DDB-BC04FE006FB5}"/>
              </a:ext>
            </a:extLst>
          </p:cNvPr>
          <p:cNvCxnSpPr>
            <a:cxnSpLocks/>
            <a:stCxn id="147" idx="2"/>
            <a:endCxn id="146" idx="4"/>
          </p:cNvCxnSpPr>
          <p:nvPr/>
        </p:nvCxnSpPr>
        <p:spPr>
          <a:xfrm>
            <a:off x="4761429" y="4197974"/>
            <a:ext cx="2911" cy="1042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 14">
            <a:extLst>
              <a:ext uri="{FF2B5EF4-FFF2-40B4-BE49-F238E27FC236}">
                <a16:creationId xmlns:a16="http://schemas.microsoft.com/office/drawing/2014/main" id="{9A561CA9-0B4F-4708-98A6-67331670816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470554" y="4302243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3781B2AE-0E18-4943-A4ED-3A34D72E9901}"/>
              </a:ext>
            </a:extLst>
          </p:cNvPr>
          <p:cNvSpPr txBox="1"/>
          <p:nvPr/>
        </p:nvSpPr>
        <p:spPr>
          <a:xfrm>
            <a:off x="2853734" y="4576643"/>
            <a:ext cx="137069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침해소송제기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169" name="직선 연결선 168">
            <a:extLst>
              <a:ext uri="{FF2B5EF4-FFF2-40B4-BE49-F238E27FC236}">
                <a16:creationId xmlns:a16="http://schemas.microsoft.com/office/drawing/2014/main" id="{A6749027-7441-42AE-B50E-729A32BD95F9}"/>
              </a:ext>
            </a:extLst>
          </p:cNvPr>
          <p:cNvCxnSpPr>
            <a:cxnSpLocks/>
            <a:stCxn id="168" idx="0"/>
            <a:endCxn id="167" idx="0"/>
          </p:cNvCxnSpPr>
          <p:nvPr/>
        </p:nvCxnSpPr>
        <p:spPr>
          <a:xfrm flipV="1">
            <a:off x="3539081" y="4455305"/>
            <a:ext cx="2911" cy="12133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14">
            <a:extLst>
              <a:ext uri="{FF2B5EF4-FFF2-40B4-BE49-F238E27FC236}">
                <a16:creationId xmlns:a16="http://schemas.microsoft.com/office/drawing/2014/main" id="{7B054C15-45F4-4A28-93FA-3911CD62C51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872921" y="4302243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38EBA9-BE0A-42A7-960D-D5058047BAAD}"/>
              </a:ext>
            </a:extLst>
          </p:cNvPr>
          <p:cNvSpPr txBox="1"/>
          <p:nvPr/>
        </p:nvSpPr>
        <p:spPr>
          <a:xfrm>
            <a:off x="1406396" y="3736309"/>
            <a:ext cx="107010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乙이 </a:t>
            </a:r>
            <a:r>
              <a:rPr lang="en-US" altLang="ko-KR" sz="1600" b="1" dirty="0">
                <a:solidFill>
                  <a:srgbClr val="FF0000"/>
                </a:solidFill>
              </a:rPr>
              <a:t>A</a:t>
            </a:r>
            <a:r>
              <a:rPr lang="en-US" altLang="ko-KR" sz="1200" dirty="0"/>
              <a:t> </a:t>
            </a:r>
            <a:r>
              <a:rPr lang="ko-KR" altLang="en-US" sz="1200" dirty="0"/>
              <a:t>실시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83A93FB-4E81-42CB-8D91-7870EFEB511B}"/>
              </a:ext>
            </a:extLst>
          </p:cNvPr>
          <p:cNvCxnSpPr>
            <a:cxnSpLocks/>
            <a:stCxn id="32" idx="2"/>
            <a:endCxn id="31" idx="4"/>
          </p:cNvCxnSpPr>
          <p:nvPr/>
        </p:nvCxnSpPr>
        <p:spPr>
          <a:xfrm>
            <a:off x="1941448" y="4197974"/>
            <a:ext cx="2911" cy="1042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85E441B-E053-459D-8339-576F4F64CE96}"/>
              </a:ext>
            </a:extLst>
          </p:cNvPr>
          <p:cNvSpPr txBox="1"/>
          <p:nvPr/>
        </p:nvSpPr>
        <p:spPr>
          <a:xfrm>
            <a:off x="2964244" y="5142325"/>
            <a:ext cx="1149674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/>
              <a:t>확인대상발명을</a:t>
            </a:r>
            <a:endParaRPr lang="en-US" altLang="ko-KR" sz="1200" dirty="0"/>
          </a:p>
          <a:p>
            <a:pPr algn="ctr"/>
            <a:r>
              <a:rPr lang="en-US" altLang="ko-KR" sz="1600" b="1" dirty="0">
                <a:solidFill>
                  <a:srgbClr val="FF0000"/>
                </a:solidFill>
              </a:rPr>
              <a:t>A</a:t>
            </a:r>
            <a:r>
              <a:rPr lang="ko-KR" altLang="en-US" sz="1200" dirty="0"/>
              <a:t>로 특정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5D7584C-3D03-4727-8A5C-B234DA9875C6}"/>
              </a:ext>
            </a:extLst>
          </p:cNvPr>
          <p:cNvCxnSpPr>
            <a:stCxn id="7" idx="0"/>
            <a:endCxn id="168" idx="2"/>
          </p:cNvCxnSpPr>
          <p:nvPr/>
        </p:nvCxnSpPr>
        <p:spPr>
          <a:xfrm flipV="1">
            <a:off x="3539081" y="5038308"/>
            <a:ext cx="0" cy="10401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84E74F5A-1B24-43F5-8803-166E67D23293}"/>
              </a:ext>
            </a:extLst>
          </p:cNvPr>
          <p:cNvSpPr txBox="1"/>
          <p:nvPr/>
        </p:nvSpPr>
        <p:spPr>
          <a:xfrm>
            <a:off x="4185177" y="3170375"/>
            <a:ext cx="114967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pPr algn="ctr"/>
            <a:r>
              <a:rPr lang="ko-KR" altLang="en-US" sz="1200" dirty="0"/>
              <a:t>확인대상발명을</a:t>
            </a:r>
            <a:endParaRPr lang="en-US" altLang="ko-KR" sz="1200" dirty="0"/>
          </a:p>
          <a:p>
            <a:pPr algn="ctr"/>
            <a:r>
              <a:rPr lang="en-US" altLang="ko-KR" sz="1400" b="1" dirty="0">
                <a:solidFill>
                  <a:srgbClr val="FF0000"/>
                </a:solidFill>
              </a:rPr>
              <a:t>B</a:t>
            </a:r>
            <a:r>
              <a:rPr lang="ko-KR" altLang="en-US" sz="1200" dirty="0"/>
              <a:t>로 특정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302A214-132B-46BF-96D1-FDD552511B8B}"/>
              </a:ext>
            </a:extLst>
          </p:cNvPr>
          <p:cNvCxnSpPr>
            <a:stCxn id="38" idx="2"/>
            <a:endCxn id="147" idx="0"/>
          </p:cNvCxnSpPr>
          <p:nvPr/>
        </p:nvCxnSpPr>
        <p:spPr>
          <a:xfrm>
            <a:off x="4760014" y="3632040"/>
            <a:ext cx="1415" cy="1042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14">
            <a:extLst>
              <a:ext uri="{FF2B5EF4-FFF2-40B4-BE49-F238E27FC236}">
                <a16:creationId xmlns:a16="http://schemas.microsoft.com/office/drawing/2014/main" id="{6C62D514-63E2-4AD6-A908-0E6BDCE1B4F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978473" y="4302243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81702B-D72A-4103-9780-190F863B7AB4}"/>
              </a:ext>
            </a:extLst>
          </p:cNvPr>
          <p:cNvSpPr txBox="1"/>
          <p:nvPr/>
        </p:nvSpPr>
        <p:spPr>
          <a:xfrm>
            <a:off x="7523345" y="3736309"/>
            <a:ext cx="104731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인용심결확정</a:t>
            </a:r>
            <a:endParaRPr lang="en-US" altLang="ko-KR" sz="1200" dirty="0"/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0F33D17A-E04A-4412-B7AB-642BD55D591E}"/>
              </a:ext>
            </a:extLst>
          </p:cNvPr>
          <p:cNvCxnSpPr>
            <a:cxnSpLocks/>
            <a:stCxn id="43" idx="2"/>
            <a:endCxn id="42" idx="4"/>
          </p:cNvCxnSpPr>
          <p:nvPr/>
        </p:nvCxnSpPr>
        <p:spPr>
          <a:xfrm>
            <a:off x="8047000" y="4197974"/>
            <a:ext cx="2911" cy="1042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14">
            <a:extLst>
              <a:ext uri="{FF2B5EF4-FFF2-40B4-BE49-F238E27FC236}">
                <a16:creationId xmlns:a16="http://schemas.microsoft.com/office/drawing/2014/main" id="{6F3C140A-FD38-4C16-A4F2-C21272D0BE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0009017" y="4302243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C679984-9618-4DBA-AF4E-433A86D8B6F3}"/>
              </a:ext>
            </a:extLst>
          </p:cNvPr>
          <p:cNvSpPr txBox="1"/>
          <p:nvPr/>
        </p:nvSpPr>
        <p:spPr>
          <a:xfrm>
            <a:off x="9485362" y="3736309"/>
            <a:ext cx="118436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침해소송</a:t>
            </a:r>
            <a:endParaRPr lang="en-US" altLang="ko-KR" sz="1200" dirty="0"/>
          </a:p>
          <a:p>
            <a:pPr algn="ctr"/>
            <a:r>
              <a:rPr lang="ko-KR" altLang="en-US" sz="1200" dirty="0"/>
              <a:t>법원 증거 제출</a:t>
            </a:r>
            <a:endParaRPr lang="en-US" altLang="ko-KR" sz="1200" dirty="0"/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9A3DA326-56EA-454B-A78C-E7AF0111E7AE}"/>
              </a:ext>
            </a:extLst>
          </p:cNvPr>
          <p:cNvCxnSpPr>
            <a:cxnSpLocks/>
            <a:stCxn id="49" idx="2"/>
            <a:endCxn id="48" idx="4"/>
          </p:cNvCxnSpPr>
          <p:nvPr/>
        </p:nvCxnSpPr>
        <p:spPr>
          <a:xfrm>
            <a:off x="10077544" y="4197974"/>
            <a:ext cx="2911" cy="1042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말풍선: 모서리가 둥근 사각형 17">
            <a:extLst>
              <a:ext uri="{FF2B5EF4-FFF2-40B4-BE49-F238E27FC236}">
                <a16:creationId xmlns:a16="http://schemas.microsoft.com/office/drawing/2014/main" id="{30950C44-A3F8-4A28-A9D9-6F5D070A848D}"/>
              </a:ext>
            </a:extLst>
          </p:cNvPr>
          <p:cNvSpPr/>
          <p:nvPr/>
        </p:nvSpPr>
        <p:spPr>
          <a:xfrm>
            <a:off x="4671723" y="1134511"/>
            <a:ext cx="4674765" cy="704885"/>
          </a:xfrm>
          <a:prstGeom prst="wedgeRoundRectCallout">
            <a:avLst>
              <a:gd name="adj1" fmla="val -33660"/>
              <a:gd name="adj2" fmla="val 320609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침해소송과 권리범위확인심판은 별개이기 때문에 침해소송이 제기된 후에 소극적 권리범위확인심판을 청구한 경우 심판청구의 이익을 긍정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</a:rPr>
              <a:t>2016</a:t>
            </a:r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</a:rPr>
              <a:t>후</a:t>
            </a:r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</a:rPr>
              <a:t>328): </a:t>
            </a:r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</a:rPr>
              <a:t>근거는 권리범위확인심판의 고유기능과 제</a:t>
            </a:r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</a:rPr>
              <a:t>164</a:t>
            </a:r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</a:rPr>
              <a:t>조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5" name="말풍선: 모서리가 둥근 사각형 54">
            <a:extLst>
              <a:ext uri="{FF2B5EF4-FFF2-40B4-BE49-F238E27FC236}">
                <a16:creationId xmlns:a16="http://schemas.microsoft.com/office/drawing/2014/main" id="{04767EA8-4A2D-4632-B15C-C2C7CADDCB89}"/>
              </a:ext>
            </a:extLst>
          </p:cNvPr>
          <p:cNvSpPr/>
          <p:nvPr/>
        </p:nvSpPr>
        <p:spPr>
          <a:xfrm>
            <a:off x="161872" y="1836811"/>
            <a:ext cx="4323745" cy="1137415"/>
          </a:xfrm>
          <a:prstGeom prst="wedgeRoundRectCallout">
            <a:avLst>
              <a:gd name="adj1" fmla="val 44491"/>
              <a:gd name="adj2" fmla="val 90227"/>
              <a:gd name="adj3" fmla="val 166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소극적 권리범위확인심판의 가장 중요한 기능은 분쟁의 예방이고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실시할 가능성을 너무 엄격하게 적용하면 소극적 권리범위확인심판의 효용성은 크게 떨어질 것이기 때문에 그러한 예방적 기능을 충분히 보장하기 위해서는 장래 실시할 계획이 있다고 주장되는 확인대상발명의 확인의 이익을 폭넓게 인정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(85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후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48, 49)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7" name="말풍선: 모서리가 둥근 사각형 56">
            <a:extLst>
              <a:ext uri="{FF2B5EF4-FFF2-40B4-BE49-F238E27FC236}">
                <a16:creationId xmlns:a16="http://schemas.microsoft.com/office/drawing/2014/main" id="{85DA87A7-8D3D-428C-B231-9182EDE2E45A}"/>
              </a:ext>
            </a:extLst>
          </p:cNvPr>
          <p:cNvSpPr/>
          <p:nvPr/>
        </p:nvSpPr>
        <p:spPr>
          <a:xfrm>
            <a:off x="7703277" y="5241806"/>
            <a:ext cx="4352121" cy="880843"/>
          </a:xfrm>
          <a:prstGeom prst="wedgeRoundRectCallout">
            <a:avLst>
              <a:gd name="adj1" fmla="val -3413"/>
              <a:gd name="adj2" fmla="val -174618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FF0000"/>
                </a:solidFill>
              </a:rPr>
              <a:t>침해소송의 재판부 기망을 막을 방안은</a:t>
            </a:r>
            <a:r>
              <a:rPr lang="en-US" altLang="ko-KR" sz="1200" dirty="0">
                <a:solidFill>
                  <a:srgbClr val="FF0000"/>
                </a:solidFill>
              </a:rPr>
              <a:t>?</a:t>
            </a:r>
          </a:p>
          <a:p>
            <a:pPr fontAlgn="base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 -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실시제품인지 아니면 실시예정제품인지 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심결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시까지 밝혀야 함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</a:endParaRPr>
          </a:p>
          <a:p>
            <a:pPr fontAlgn="base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  - </a:t>
            </a: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</a:rPr>
              <a:t>심결문에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이를 기재</a:t>
            </a:r>
          </a:p>
        </p:txBody>
      </p:sp>
      <p:sp>
        <p:nvSpPr>
          <p:cNvPr id="58" name="말풍선: 모서리가 둥근 사각형 57">
            <a:extLst>
              <a:ext uri="{FF2B5EF4-FFF2-40B4-BE49-F238E27FC236}">
                <a16:creationId xmlns:a16="http://schemas.microsoft.com/office/drawing/2014/main" id="{07D820A1-E750-4C65-9C65-27B169A6C9D5}"/>
              </a:ext>
            </a:extLst>
          </p:cNvPr>
          <p:cNvSpPr/>
          <p:nvPr/>
        </p:nvSpPr>
        <p:spPr>
          <a:xfrm>
            <a:off x="526473" y="5783572"/>
            <a:ext cx="6816438" cy="960525"/>
          </a:xfrm>
          <a:prstGeom prst="wedgeRoundRectCallout">
            <a:avLst>
              <a:gd name="adj1" fmla="val 53702"/>
              <a:gd name="adj2" fmla="val -214864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소극적 권리범위확인심판에서는 심판청구인이 현실적으로 실시하는 기술이 심판청구에서 심판의 대상으로 삼은 구체적인 발명과 다르다고 하더라도 심판청구인이 특정한 발명이 실시가능성이 없을 경우 그 청구의 적법 여부가 문제로 될 수 있을 뿐이고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여전히 심판의 대상은 심판청구인이 특정한 확인대상발명으로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이를 기준으로 특허발명과 대비하여 그 권리범위에 속하는지 여부를 판단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(2020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후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11813)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6" name="Rectangle 14">
            <a:extLst>
              <a:ext uri="{FF2B5EF4-FFF2-40B4-BE49-F238E27FC236}">
                <a16:creationId xmlns:a16="http://schemas.microsoft.com/office/drawing/2014/main" id="{17FCDD56-E85C-4994-132B-C715CFF0BC4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343034" y="4302243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4C296F-6901-9BC7-101F-06AAFE651298}"/>
              </a:ext>
            </a:extLst>
          </p:cNvPr>
          <p:cNvSpPr txBox="1"/>
          <p:nvPr/>
        </p:nvSpPr>
        <p:spPr>
          <a:xfrm>
            <a:off x="5887906" y="3058896"/>
            <a:ext cx="1047310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다툼이 없는</a:t>
            </a:r>
            <a:endParaRPr lang="en-US" altLang="ko-KR" sz="1200" dirty="0"/>
          </a:p>
          <a:p>
            <a:pPr algn="ctr"/>
            <a:r>
              <a:rPr lang="ko-KR" altLang="en-US" sz="1200" dirty="0"/>
              <a:t>경우</a:t>
            </a:r>
            <a:endParaRPr lang="en-US" altLang="ko-KR" sz="1200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C51FBEEE-F01A-87DD-F950-F92438BB742B}"/>
              </a:ext>
            </a:extLst>
          </p:cNvPr>
          <p:cNvCxnSpPr>
            <a:cxnSpLocks/>
            <a:stCxn id="8" idx="2"/>
            <a:endCxn id="6" idx="4"/>
          </p:cNvCxnSpPr>
          <p:nvPr/>
        </p:nvCxnSpPr>
        <p:spPr>
          <a:xfrm>
            <a:off x="6411561" y="3520561"/>
            <a:ext cx="2911" cy="78168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E5F986F3-78BE-F493-8544-55E4CA565F88}"/>
              </a:ext>
            </a:extLst>
          </p:cNvPr>
          <p:cNvSpPr/>
          <p:nvPr/>
        </p:nvSpPr>
        <p:spPr>
          <a:xfrm>
            <a:off x="7009105" y="1947508"/>
            <a:ext cx="5046293" cy="1345432"/>
          </a:xfrm>
          <a:prstGeom prst="wedgeRoundRectCallout">
            <a:avLst>
              <a:gd name="adj1" fmla="val -51358"/>
              <a:gd name="adj2" fmla="val 45902"/>
              <a:gd name="adj3" fmla="val 16667"/>
            </a:avLst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소극적 권리범위확인심판에서는 현재 실시하는 것만이 아니라 장래 실시 예정인 것도 심판대상으로 삼을 수 있다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.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그러나 당사자 사이에 심판청구인이 현재 실시하고 있는 기술이 특허권의 권리범위에 속하는지에 관하여만 다툼이 있을 뿐이고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심판청구인이 장래 실시할 예정이라고 주장하면서 심판대상으로 특정한 확인대상발명이 특허권의 권리범위에 속하지 않는다는 점에 관하여는 아무런 다툼이 없는 경우라면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그러한 확인대상발명을 심판대상으로 하는 소극적 권리범위확인심판은 심판청구의 이익이 없어 허용되지 않는다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(2014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후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2849) .</a:t>
            </a:r>
          </a:p>
        </p:txBody>
      </p:sp>
    </p:spTree>
    <p:extLst>
      <p:ext uri="{BB962C8B-B14F-4D97-AF65-F5344CB8AC3E}">
        <p14:creationId xmlns:p14="http://schemas.microsoft.com/office/powerpoint/2010/main" val="7770071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권리 대 권리 간의 적극적 권리범위확인심판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D3BB6AF1-7F60-452C-A6FA-C26D553DE96B}"/>
              </a:ext>
            </a:extLst>
          </p:cNvPr>
          <p:cNvCxnSpPr/>
          <p:nvPr/>
        </p:nvCxnSpPr>
        <p:spPr>
          <a:xfrm>
            <a:off x="0" y="4678669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C8A4446-9A84-44CF-BF8E-778825646662}"/>
              </a:ext>
            </a:extLst>
          </p:cNvPr>
          <p:cNvSpPr/>
          <p:nvPr/>
        </p:nvSpPr>
        <p:spPr>
          <a:xfrm>
            <a:off x="232372" y="1353610"/>
            <a:ext cx="11681987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sz="1400" dirty="0"/>
              <a:t>[1] </a:t>
            </a:r>
            <a:r>
              <a:rPr lang="ko-KR" altLang="en-US" sz="1400" dirty="0"/>
              <a:t>후 출원에 의하여 등록된 발명을 확인대상발명으로 하여 선 출원에 의한 등록발명의 권리범위에 속한다는 확인을 구하는 적극적 권리범위확인심판은 후 등록된 권리에 대한 무효심판의 확정 전에 그 권리의 효력을 부정하는 결과가 되므로 원칙적으로 허용되지 아니한다</a:t>
            </a:r>
            <a:r>
              <a:rPr lang="en-US" altLang="ko-KR" sz="1400" dirty="0">
                <a:solidFill>
                  <a:srgbClr val="FF0000"/>
                </a:solidFill>
              </a:rPr>
              <a:t>. </a:t>
            </a:r>
            <a:r>
              <a:rPr lang="ko-KR" altLang="en-US" sz="1400" dirty="0">
                <a:highlight>
                  <a:srgbClr val="FFFF00"/>
                </a:highlight>
              </a:rPr>
              <a:t>다만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예외적으로 두 발명이 특허법 제</a:t>
            </a:r>
            <a:r>
              <a:rPr lang="en-US" altLang="ko-KR" sz="1400" dirty="0">
                <a:highlight>
                  <a:srgbClr val="FFFF00"/>
                </a:highlight>
              </a:rPr>
              <a:t>98</a:t>
            </a:r>
            <a:r>
              <a:rPr lang="ko-KR" altLang="en-US" sz="1400" dirty="0">
                <a:highlight>
                  <a:srgbClr val="FFFF00"/>
                </a:highlight>
              </a:rPr>
              <a:t>조에서 규정하는 이용관계에 있어 확인대상발명의 등록의 효력을 부정하지 않고 권리범위의 확인을 구할 수 있는 경우에는 권리 대 권리 간의 적극적 권리범위확인심판의 청구가 허용된다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대법원 </a:t>
            </a:r>
            <a:r>
              <a:rPr lang="en-US" altLang="ko-KR" sz="1400" dirty="0">
                <a:highlight>
                  <a:srgbClr val="FFFF00"/>
                </a:highlight>
              </a:rPr>
              <a:t>2002. 6. 28. </a:t>
            </a:r>
            <a:r>
              <a:rPr lang="ko-KR" altLang="en-US" sz="1400" dirty="0">
                <a:highlight>
                  <a:srgbClr val="FFFF00"/>
                </a:highlight>
              </a:rPr>
              <a:t>선고 </a:t>
            </a:r>
            <a:r>
              <a:rPr lang="en-US" altLang="ko-KR" sz="1400" dirty="0">
                <a:highlight>
                  <a:srgbClr val="FFFF00"/>
                </a:highlight>
              </a:rPr>
              <a:t>99</a:t>
            </a:r>
            <a:r>
              <a:rPr lang="ko-KR" altLang="en-US" sz="1400" dirty="0">
                <a:highlight>
                  <a:srgbClr val="FFFF00"/>
                </a:highlight>
              </a:rPr>
              <a:t>후</a:t>
            </a:r>
            <a:r>
              <a:rPr lang="en-US" altLang="ko-KR" sz="1400" dirty="0">
                <a:highlight>
                  <a:srgbClr val="FFFF00"/>
                </a:highlight>
              </a:rPr>
              <a:t>2433 </a:t>
            </a:r>
            <a:r>
              <a:rPr lang="ko-KR" altLang="en-US" sz="1400" dirty="0">
                <a:highlight>
                  <a:srgbClr val="FFFF00"/>
                </a:highlight>
              </a:rPr>
              <a:t>판결 참조</a:t>
            </a:r>
            <a:r>
              <a:rPr lang="en-US" altLang="ko-KR" sz="1400" dirty="0">
                <a:highlight>
                  <a:srgbClr val="FFFF00"/>
                </a:highlight>
              </a:rPr>
              <a:t>).</a:t>
            </a:r>
            <a:r>
              <a:rPr lang="en-US" altLang="ko-KR" sz="1400" dirty="0"/>
              <a:t> </a:t>
            </a:r>
            <a:r>
              <a:rPr lang="ko-KR" altLang="en-US" sz="1400" dirty="0"/>
              <a:t>한편 선 특허발명과 후 발명이 이용관계에 있는 경우에는 후 발명은 선 특허발명의 권리범위에 속하게 된다</a:t>
            </a:r>
            <a:r>
              <a:rPr lang="en-US" altLang="ko-KR" sz="1400" dirty="0"/>
              <a:t>. </a:t>
            </a:r>
            <a:r>
              <a:rPr lang="ko-KR" altLang="en-US" sz="1400" dirty="0"/>
              <a:t>여기서 두 발명이 이용관계에 있는 경우라고 함은 후 발명이 선 특허발명의 기술적 구성에 새로운 기술적 요소를 부가하는 것으로서</a:t>
            </a:r>
            <a:r>
              <a:rPr lang="en-US" altLang="ko-KR" sz="1400" dirty="0"/>
              <a:t>, </a:t>
            </a:r>
            <a:r>
              <a:rPr lang="ko-KR" altLang="en-US" sz="1400" dirty="0"/>
              <a:t>후 발명이 선 특허발명의 요지를 전부 포함하고 이를 그대로 이용하되</a:t>
            </a:r>
            <a:r>
              <a:rPr lang="en-US" altLang="ko-KR" sz="1400" dirty="0"/>
              <a:t>, </a:t>
            </a:r>
            <a:r>
              <a:rPr lang="ko-KR" altLang="en-US" sz="1400" dirty="0"/>
              <a:t>후 발명 내에서 선 특허발명이 </a:t>
            </a:r>
            <a:r>
              <a:rPr lang="ko-KR" altLang="en-US" sz="1400" dirty="0" err="1"/>
              <a:t>발명으로서의</a:t>
            </a:r>
            <a:r>
              <a:rPr lang="ko-KR" altLang="en-US" sz="1400" dirty="0"/>
              <a:t> </a:t>
            </a:r>
            <a:r>
              <a:rPr lang="ko-KR" altLang="en-US" sz="1400" dirty="0">
                <a:highlight>
                  <a:srgbClr val="FFFF00"/>
                </a:highlight>
              </a:rPr>
              <a:t>일체성을 유지하는 경우</a:t>
            </a:r>
            <a:r>
              <a:rPr lang="ko-KR" altLang="en-US" sz="1400" dirty="0"/>
              <a:t>를 말한다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2001. 8. 21. </a:t>
            </a:r>
            <a:r>
              <a:rPr lang="ko-KR" altLang="en-US" sz="1400" dirty="0"/>
              <a:t>선고 </a:t>
            </a:r>
            <a:r>
              <a:rPr lang="en-US" altLang="ko-KR" sz="1400" dirty="0"/>
              <a:t>98</a:t>
            </a:r>
            <a:r>
              <a:rPr lang="ko-KR" altLang="en-US" sz="1400" dirty="0"/>
              <a:t>후</a:t>
            </a:r>
            <a:r>
              <a:rPr lang="en-US" altLang="ko-KR" sz="1400" dirty="0"/>
              <a:t>522 </a:t>
            </a:r>
            <a:r>
              <a:rPr lang="ko-KR" altLang="en-US" sz="1400" dirty="0"/>
              <a:t>판결 참조</a:t>
            </a:r>
            <a:r>
              <a:rPr lang="en-US" altLang="ko-KR" sz="1400" dirty="0"/>
              <a:t>).</a:t>
            </a:r>
            <a:r>
              <a:rPr lang="ko-KR" altLang="en-US" sz="1400" dirty="0"/>
              <a:t> </a:t>
            </a:r>
            <a:endParaRPr lang="en-US" altLang="ko-KR" sz="1400" dirty="0"/>
          </a:p>
          <a:p>
            <a:pPr algn="just" fontAlgn="base"/>
            <a:r>
              <a:rPr lang="en-US" altLang="ko-KR" sz="1400" dirty="0"/>
              <a:t>[2] </a:t>
            </a:r>
            <a:r>
              <a:rPr lang="ko-KR" altLang="en-US" sz="1400" dirty="0"/>
              <a:t>제</a:t>
            </a:r>
            <a:r>
              <a:rPr lang="en-US" altLang="ko-KR" sz="1400" dirty="0"/>
              <a:t>30</a:t>
            </a:r>
            <a:r>
              <a:rPr lang="ko-KR" altLang="en-US" sz="1400" dirty="0"/>
              <a:t>항 발명은 </a:t>
            </a:r>
            <a:r>
              <a:rPr lang="ko-KR" altLang="en-US" sz="1400" dirty="0">
                <a:highlight>
                  <a:srgbClr val="FFFF00"/>
                </a:highlight>
              </a:rPr>
              <a:t>구이의 눌어붙음 방지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열원 노출면적 확대 등의 효과</a:t>
            </a:r>
            <a:r>
              <a:rPr lang="ko-KR" altLang="en-US" sz="1400" dirty="0"/>
              <a:t>를 위하여 </a:t>
            </a:r>
            <a:r>
              <a:rPr lang="ko-KR" altLang="en-US" sz="1400" dirty="0">
                <a:highlight>
                  <a:srgbClr val="FFFF00"/>
                </a:highlight>
              </a:rPr>
              <a:t>선재를 한 방향</a:t>
            </a:r>
            <a:r>
              <a:rPr lang="ko-KR" altLang="en-US" sz="1400" dirty="0"/>
              <a:t>으로만 형성한 것인 데 비하여</a:t>
            </a:r>
            <a:r>
              <a:rPr lang="en-US" altLang="ko-KR" sz="1400" dirty="0"/>
              <a:t>, </a:t>
            </a:r>
            <a:r>
              <a:rPr lang="ko-KR" altLang="en-US" sz="1400" dirty="0"/>
              <a:t>확인대상발명은 하나의 </a:t>
            </a:r>
            <a:r>
              <a:rPr lang="ko-KR" altLang="en-US" sz="1400" dirty="0" err="1"/>
              <a:t>석쇠틀에서</a:t>
            </a:r>
            <a:r>
              <a:rPr lang="ko-KR" altLang="en-US" sz="1400" dirty="0"/>
              <a:t> 가로</a:t>
            </a:r>
            <a:r>
              <a:rPr lang="en-US" altLang="ko-KR" sz="1400" dirty="0"/>
              <a:t>,  </a:t>
            </a:r>
            <a:r>
              <a:rPr lang="ko-KR" altLang="en-US" sz="1400" dirty="0"/>
              <a:t>세로 방향으로 </a:t>
            </a:r>
            <a:r>
              <a:rPr lang="ko-KR" altLang="en-US" sz="1400" dirty="0">
                <a:highlight>
                  <a:srgbClr val="FFFF00"/>
                </a:highlight>
              </a:rPr>
              <a:t>선재가 교차되는 양방향 구성</a:t>
            </a:r>
            <a:r>
              <a:rPr lang="ko-KR" altLang="en-US" sz="1400" dirty="0"/>
              <a:t>을 채택하고 있었다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심결과</a:t>
            </a:r>
            <a:r>
              <a:rPr lang="ko-KR" altLang="en-US" sz="1400" dirty="0"/>
              <a:t> 원심은 이용관계에 있다고 판단하여 일단 본안판단으로 나아간 후 막상 권리범위 </a:t>
            </a:r>
            <a:r>
              <a:rPr lang="ko-KR" altLang="en-US" sz="1400" dirty="0" err="1"/>
              <a:t>속부</a:t>
            </a:r>
            <a:r>
              <a:rPr lang="ko-KR" altLang="en-US" sz="1400" dirty="0"/>
              <a:t> 실체 판단에서는 확인대상발명의 구성이 제</a:t>
            </a:r>
            <a:r>
              <a:rPr lang="en-US" altLang="ko-KR" sz="1400" dirty="0"/>
              <a:t>30</a:t>
            </a:r>
            <a:r>
              <a:rPr lang="ko-KR" altLang="en-US" sz="1400" dirty="0"/>
              <a:t>항 발명의 권리범위에서 의식적 제외된 구성이라고 보아 권리범위에 속하지 않는다고 판단하였다</a:t>
            </a:r>
            <a:r>
              <a:rPr lang="en-US" altLang="ko-KR" sz="1400" dirty="0"/>
              <a:t>. </a:t>
            </a:r>
            <a:r>
              <a:rPr lang="ko-KR" altLang="en-US" sz="1400" dirty="0"/>
              <a:t>그러나 대법원은</a:t>
            </a:r>
            <a:r>
              <a:rPr lang="en-US" altLang="ko-KR" sz="1400" dirty="0"/>
              <a:t>, </a:t>
            </a:r>
            <a:r>
              <a:rPr lang="ko-KR" altLang="en-US" sz="1400" dirty="0"/>
              <a:t>이용관계 해당 여부에 관한 대법원 </a:t>
            </a:r>
            <a:r>
              <a:rPr lang="en-US" altLang="ko-KR" sz="1400" dirty="0"/>
              <a:t>2001. 8. 21. </a:t>
            </a:r>
            <a:r>
              <a:rPr lang="ko-KR" altLang="en-US" sz="1400" dirty="0"/>
              <a:t>선고 </a:t>
            </a:r>
            <a:r>
              <a:rPr lang="en-US" altLang="ko-KR" sz="1400" dirty="0"/>
              <a:t>98</a:t>
            </a:r>
            <a:r>
              <a:rPr lang="ko-KR" altLang="en-US" sz="1400" dirty="0"/>
              <a:t>후</a:t>
            </a:r>
            <a:r>
              <a:rPr lang="en-US" altLang="ko-KR" sz="1400" dirty="0"/>
              <a:t>522 </a:t>
            </a:r>
            <a:r>
              <a:rPr lang="ko-KR" altLang="en-US" sz="1400" dirty="0"/>
              <a:t>판결의 판단기준을 인용한 다음</a:t>
            </a:r>
            <a:r>
              <a:rPr lang="en-US" altLang="ko-KR" sz="1400" dirty="0"/>
              <a:t>, </a:t>
            </a:r>
            <a:r>
              <a:rPr lang="ko-KR" altLang="en-US" sz="1400" dirty="0"/>
              <a:t>하나의 </a:t>
            </a:r>
            <a:r>
              <a:rPr lang="ko-KR" altLang="en-US" sz="1400" dirty="0" err="1"/>
              <a:t>석쇠틀에서</a:t>
            </a:r>
            <a:r>
              <a:rPr lang="ko-KR" altLang="en-US" sz="1400" dirty="0"/>
              <a:t> 가로</a:t>
            </a:r>
            <a:r>
              <a:rPr lang="en-US" altLang="ko-KR" sz="1400" dirty="0"/>
              <a:t>, </a:t>
            </a:r>
            <a:r>
              <a:rPr lang="ko-KR" altLang="en-US" sz="1400" dirty="0"/>
              <a:t>세로 방향으로 선재가 교차되는 확인대상발명의 </a:t>
            </a:r>
            <a:r>
              <a:rPr lang="ko-KR" altLang="en-US" sz="1400" dirty="0">
                <a:highlight>
                  <a:srgbClr val="FFFF00"/>
                </a:highlight>
              </a:rPr>
              <a:t>양방향 구성은 구이의 눌어붙음 방지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열원 노출면적 확대와 같은 한 방향 구성의 효과</a:t>
            </a:r>
            <a:r>
              <a:rPr lang="ko-KR" altLang="en-US" sz="1400" dirty="0"/>
              <a:t>를 나타낼 수 없어 제</a:t>
            </a:r>
            <a:r>
              <a:rPr lang="en-US" altLang="ko-KR" sz="1400" dirty="0"/>
              <a:t>30</a:t>
            </a:r>
            <a:r>
              <a:rPr lang="ko-KR" altLang="en-US" sz="1400" dirty="0"/>
              <a:t>항 발명과 상이한 구성이라고 할 것이고</a:t>
            </a:r>
            <a:r>
              <a:rPr lang="en-US" altLang="ko-KR" sz="1400" dirty="0"/>
              <a:t>, </a:t>
            </a:r>
            <a:r>
              <a:rPr lang="ko-KR" altLang="en-US" sz="1400" dirty="0"/>
              <a:t>확인대상발명 내에서 제</a:t>
            </a:r>
            <a:r>
              <a:rPr lang="en-US" altLang="ko-KR" sz="1400" dirty="0"/>
              <a:t>30</a:t>
            </a:r>
            <a:r>
              <a:rPr lang="ko-KR" altLang="en-US" sz="1400" dirty="0"/>
              <a:t>항 발명이 </a:t>
            </a:r>
            <a:r>
              <a:rPr lang="ko-KR" altLang="en-US" sz="1400" dirty="0" err="1"/>
              <a:t>발명으로서의</a:t>
            </a:r>
            <a:r>
              <a:rPr lang="ko-KR" altLang="en-US" sz="1400" dirty="0"/>
              <a:t> </a:t>
            </a:r>
            <a:r>
              <a:rPr lang="ko-KR" altLang="en-US" sz="1400" dirty="0">
                <a:highlight>
                  <a:srgbClr val="FFFF00"/>
                </a:highlight>
              </a:rPr>
              <a:t>일체성을 유지하고 있다고 볼 수도 없어</a:t>
            </a:r>
            <a:r>
              <a:rPr lang="ko-KR" altLang="en-US" sz="1400" dirty="0"/>
              <a:t> 두 발명이 이용관계에 있다고 볼 수 없으므로</a:t>
            </a:r>
            <a:r>
              <a:rPr lang="en-US" altLang="ko-KR" sz="1400" dirty="0"/>
              <a:t>, </a:t>
            </a:r>
            <a:r>
              <a:rPr lang="ko-KR" altLang="en-US" sz="1400" dirty="0"/>
              <a:t>이 사건 권리범위확인심판 청구는 후 출원에 의하여 등록된 발명을 확인대상발명으로 하여 선 출원에 의한 등록발명의 권리범위에 속한다는 확인을 구하는 적극적 권리범위확인심판으로서 </a:t>
            </a:r>
            <a:r>
              <a:rPr lang="ko-KR" altLang="en-US" sz="1400" dirty="0" err="1"/>
              <a:t>부적법하다는</a:t>
            </a:r>
            <a:r>
              <a:rPr lang="ko-KR" altLang="en-US" sz="1400" dirty="0"/>
              <a:t> 사례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46" name="모서리가 둥근 직사각형 10">
            <a:extLst>
              <a:ext uri="{FF2B5EF4-FFF2-40B4-BE49-F238E27FC236}">
                <a16:creationId xmlns:a16="http://schemas.microsoft.com/office/drawing/2014/main" id="{1EB2F813-B207-4574-BC6A-9E0259FF1206}"/>
              </a:ext>
            </a:extLst>
          </p:cNvPr>
          <p:cNvSpPr/>
          <p:nvPr/>
        </p:nvSpPr>
        <p:spPr bwMode="auto">
          <a:xfrm>
            <a:off x="378418" y="998802"/>
            <a:ext cx="5180410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2016. 4. 28.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2015</a:t>
            </a:r>
            <a:r>
              <a:rPr lang="ko-KR" altLang="en-US" sz="1400" dirty="0"/>
              <a:t>후</a:t>
            </a:r>
            <a:r>
              <a:rPr lang="en-US" altLang="ko-KR" sz="1400" dirty="0"/>
              <a:t>161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권리범위확인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47" name="Line 5">
            <a:extLst>
              <a:ext uri="{FF2B5EF4-FFF2-40B4-BE49-F238E27FC236}">
                <a16:creationId xmlns:a16="http://schemas.microsoft.com/office/drawing/2014/main" id="{288E448A-3BCC-4569-8DBB-90413EC473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5728671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7EE7B1-E8D1-489B-8A0F-93940CCCEA13}"/>
              </a:ext>
            </a:extLst>
          </p:cNvPr>
          <p:cNvSpPr txBox="1"/>
          <p:nvPr/>
        </p:nvSpPr>
        <p:spPr>
          <a:xfrm>
            <a:off x="594160" y="5984846"/>
            <a:ext cx="123143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A1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2C4868DE-4157-4B3F-8B12-7F9A32C23A5B}"/>
              </a:ext>
            </a:extLst>
          </p:cNvPr>
          <p:cNvSpPr/>
          <p:nvPr/>
        </p:nvSpPr>
        <p:spPr>
          <a:xfrm>
            <a:off x="1132506" y="563473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EE94C42E-AF92-44CA-ADBF-C70C7A0D3FD4}"/>
              </a:ext>
            </a:extLst>
          </p:cNvPr>
          <p:cNvCxnSpPr>
            <a:cxnSpLocks/>
            <a:stCxn id="51" idx="0"/>
            <a:endCxn id="52" idx="4"/>
          </p:cNvCxnSpPr>
          <p:nvPr/>
        </p:nvCxnSpPr>
        <p:spPr>
          <a:xfrm flipH="1" flipV="1">
            <a:off x="1209875" y="5796075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017E97D-AFC2-41B2-9475-D504BCD08F65}"/>
              </a:ext>
            </a:extLst>
          </p:cNvPr>
          <p:cNvSpPr txBox="1"/>
          <p:nvPr/>
        </p:nvSpPr>
        <p:spPr>
          <a:xfrm>
            <a:off x="1748341" y="5123150"/>
            <a:ext cx="87860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A2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5BAD9E75-8A62-43DF-96F9-06204A8715BA}"/>
              </a:ext>
            </a:extLst>
          </p:cNvPr>
          <p:cNvSpPr/>
          <p:nvPr/>
        </p:nvSpPr>
        <p:spPr>
          <a:xfrm>
            <a:off x="2110273" y="5634737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24B9428-8CAE-49FF-BFFB-ADBF91C48DE7}"/>
              </a:ext>
            </a:extLst>
          </p:cNvPr>
          <p:cNvCxnSpPr>
            <a:cxnSpLocks/>
            <a:stCxn id="60" idx="2"/>
            <a:endCxn id="62" idx="0"/>
          </p:cNvCxnSpPr>
          <p:nvPr/>
        </p:nvCxnSpPr>
        <p:spPr>
          <a:xfrm flipH="1">
            <a:off x="2187642" y="5400149"/>
            <a:ext cx="1" cy="234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E6AD9DFB-EA93-434A-B386-05B9344E6019}"/>
              </a:ext>
            </a:extLst>
          </p:cNvPr>
          <p:cNvSpPr txBox="1"/>
          <p:nvPr/>
        </p:nvSpPr>
        <p:spPr>
          <a:xfrm>
            <a:off x="2686908" y="5984846"/>
            <a:ext cx="123143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A1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B40A567B-28AB-4067-85CB-9AF6315F7C9B}"/>
              </a:ext>
            </a:extLst>
          </p:cNvPr>
          <p:cNvSpPr/>
          <p:nvPr/>
        </p:nvSpPr>
        <p:spPr>
          <a:xfrm>
            <a:off x="3225254" y="563473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F62B24AC-E6C5-4FCD-8454-135EF91B9A9E}"/>
              </a:ext>
            </a:extLst>
          </p:cNvPr>
          <p:cNvCxnSpPr>
            <a:cxnSpLocks/>
            <a:stCxn id="67" idx="0"/>
            <a:endCxn id="68" idx="4"/>
          </p:cNvCxnSpPr>
          <p:nvPr/>
        </p:nvCxnSpPr>
        <p:spPr>
          <a:xfrm flipH="1" flipV="1">
            <a:off x="3302623" y="5796075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D1320D81-6B89-47A6-8AB8-9A7432697378}"/>
              </a:ext>
            </a:extLst>
          </p:cNvPr>
          <p:cNvSpPr txBox="1"/>
          <p:nvPr/>
        </p:nvSpPr>
        <p:spPr>
          <a:xfrm>
            <a:off x="3551978" y="5123150"/>
            <a:ext cx="87860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A2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92B8D2E4-7F4F-47A4-A1C5-9EF1664770B0}"/>
              </a:ext>
            </a:extLst>
          </p:cNvPr>
          <p:cNvSpPr/>
          <p:nvPr/>
        </p:nvSpPr>
        <p:spPr>
          <a:xfrm>
            <a:off x="3913910" y="5634737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30A76602-7E44-4256-A283-22E8A1BD4A67}"/>
              </a:ext>
            </a:extLst>
          </p:cNvPr>
          <p:cNvCxnSpPr>
            <a:cxnSpLocks/>
            <a:stCxn id="70" idx="2"/>
            <a:endCxn id="71" idx="0"/>
          </p:cNvCxnSpPr>
          <p:nvPr/>
        </p:nvCxnSpPr>
        <p:spPr>
          <a:xfrm flipH="1">
            <a:off x="3991279" y="5400149"/>
            <a:ext cx="1" cy="234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8EF8EBB4-6135-4F3E-B768-53F2A57A4206}"/>
              </a:ext>
            </a:extLst>
          </p:cNvPr>
          <p:cNvSpPr txBox="1"/>
          <p:nvPr/>
        </p:nvSpPr>
        <p:spPr>
          <a:xfrm>
            <a:off x="4168844" y="5984846"/>
            <a:ext cx="1440096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적극적 권리범위확인심판청구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피청구인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229C8D8C-AF90-4937-B1B0-321C45594C3E}"/>
              </a:ext>
            </a:extLst>
          </p:cNvPr>
          <p:cNvSpPr/>
          <p:nvPr/>
        </p:nvSpPr>
        <p:spPr>
          <a:xfrm>
            <a:off x="4811522" y="563473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244AA6E2-D271-4D9B-ADA2-4A7D8D2A945E}"/>
              </a:ext>
            </a:extLst>
          </p:cNvPr>
          <p:cNvCxnSpPr>
            <a:cxnSpLocks/>
            <a:stCxn id="73" idx="0"/>
            <a:endCxn id="75" idx="4"/>
          </p:cNvCxnSpPr>
          <p:nvPr/>
        </p:nvCxnSpPr>
        <p:spPr>
          <a:xfrm flipH="1" flipV="1">
            <a:off x="4888891" y="5796075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33A8261A-62D9-4FEE-A896-CEECBEE2E097}"/>
              </a:ext>
            </a:extLst>
          </p:cNvPr>
          <p:cNvSpPr txBox="1"/>
          <p:nvPr/>
        </p:nvSpPr>
        <p:spPr>
          <a:xfrm>
            <a:off x="5775914" y="5984846"/>
            <a:ext cx="94296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8380B79-859A-4BED-9B16-321AC96CCED0}"/>
              </a:ext>
            </a:extLst>
          </p:cNvPr>
          <p:cNvSpPr/>
          <p:nvPr/>
        </p:nvSpPr>
        <p:spPr>
          <a:xfrm>
            <a:off x="6170024" y="5634737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79D4FBF6-CF8F-4D50-9F7A-6188C4D5A5D8}"/>
              </a:ext>
            </a:extLst>
          </p:cNvPr>
          <p:cNvCxnSpPr>
            <a:cxnSpLocks/>
            <a:stCxn id="78" idx="0"/>
            <a:endCxn id="80" idx="4"/>
          </p:cNvCxnSpPr>
          <p:nvPr/>
        </p:nvCxnSpPr>
        <p:spPr>
          <a:xfrm flipH="1" flipV="1">
            <a:off x="6247393" y="5796075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3240AF74-3583-44AD-8749-D9244AE9A369}"/>
              </a:ext>
            </a:extLst>
          </p:cNvPr>
          <p:cNvSpPr txBox="1"/>
          <p:nvPr/>
        </p:nvSpPr>
        <p:spPr>
          <a:xfrm>
            <a:off x="6881766" y="5984846"/>
            <a:ext cx="92362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소 제기</a:t>
            </a: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A266187E-E1F1-43AA-98C6-BC717304FFE5}"/>
              </a:ext>
            </a:extLst>
          </p:cNvPr>
          <p:cNvSpPr/>
          <p:nvPr/>
        </p:nvSpPr>
        <p:spPr>
          <a:xfrm>
            <a:off x="7266207" y="563473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05849AD9-88CC-4FC4-8E3D-998083358B5F}"/>
              </a:ext>
            </a:extLst>
          </p:cNvPr>
          <p:cNvCxnSpPr>
            <a:cxnSpLocks/>
            <a:stCxn id="83" idx="0"/>
            <a:endCxn id="84" idx="4"/>
          </p:cNvCxnSpPr>
          <p:nvPr/>
        </p:nvCxnSpPr>
        <p:spPr>
          <a:xfrm flipH="1" flipV="1">
            <a:off x="7343576" y="5796075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07564D6F-88F9-4262-AB34-749988263900}"/>
              </a:ext>
            </a:extLst>
          </p:cNvPr>
          <p:cNvSpPr txBox="1"/>
          <p:nvPr/>
        </p:nvSpPr>
        <p:spPr>
          <a:xfrm>
            <a:off x="7922638" y="5984846"/>
            <a:ext cx="94296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sp>
        <p:nvSpPr>
          <p:cNvPr id="92" name="타원 91">
            <a:extLst>
              <a:ext uri="{FF2B5EF4-FFF2-40B4-BE49-F238E27FC236}">
                <a16:creationId xmlns:a16="http://schemas.microsoft.com/office/drawing/2014/main" id="{DEAE2C98-4912-4502-8985-41A08D06B097}"/>
              </a:ext>
            </a:extLst>
          </p:cNvPr>
          <p:cNvSpPr/>
          <p:nvPr/>
        </p:nvSpPr>
        <p:spPr>
          <a:xfrm>
            <a:off x="8316748" y="5634737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F0D7BA0A-7AFE-441B-9A05-91D7CA22CD1E}"/>
              </a:ext>
            </a:extLst>
          </p:cNvPr>
          <p:cNvCxnSpPr>
            <a:cxnSpLocks/>
            <a:stCxn id="86" idx="0"/>
            <a:endCxn id="92" idx="4"/>
          </p:cNvCxnSpPr>
          <p:nvPr/>
        </p:nvCxnSpPr>
        <p:spPr>
          <a:xfrm flipH="1" flipV="1">
            <a:off x="8394117" y="5796075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03B7CC3E-8C1A-4B2D-868B-CD9B6C3A8B88}"/>
              </a:ext>
            </a:extLst>
          </p:cNvPr>
          <p:cNvSpPr txBox="1"/>
          <p:nvPr/>
        </p:nvSpPr>
        <p:spPr>
          <a:xfrm>
            <a:off x="9002284" y="5984846"/>
            <a:ext cx="92362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甲 상고</a:t>
            </a:r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08257203-4868-421B-801F-472419FBDEC1}"/>
              </a:ext>
            </a:extLst>
          </p:cNvPr>
          <p:cNvSpPr/>
          <p:nvPr/>
        </p:nvSpPr>
        <p:spPr>
          <a:xfrm>
            <a:off x="9386725" y="5634737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6F9ED4B1-F994-4DAD-A693-7A6E4B569E55}"/>
              </a:ext>
            </a:extLst>
          </p:cNvPr>
          <p:cNvCxnSpPr>
            <a:cxnSpLocks/>
            <a:stCxn id="94" idx="0"/>
            <a:endCxn id="105" idx="4"/>
          </p:cNvCxnSpPr>
          <p:nvPr/>
        </p:nvCxnSpPr>
        <p:spPr>
          <a:xfrm flipH="1" flipV="1">
            <a:off x="9464094" y="5796075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1528A1FB-044F-4807-A34E-476BEDA2D2DD}"/>
              </a:ext>
            </a:extLst>
          </p:cNvPr>
          <p:cNvSpPr txBox="1"/>
          <p:nvPr/>
        </p:nvSpPr>
        <p:spPr>
          <a:xfrm>
            <a:off x="9959617" y="5984846"/>
            <a:ext cx="127956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파기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&amp;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환송*</a:t>
            </a: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46120911-3527-4CED-8A3B-6FCF611F0411}"/>
              </a:ext>
            </a:extLst>
          </p:cNvPr>
          <p:cNvSpPr/>
          <p:nvPr/>
        </p:nvSpPr>
        <p:spPr>
          <a:xfrm>
            <a:off x="10522027" y="5634737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50E8C999-507B-453D-99A4-A76F4A0E467D}"/>
              </a:ext>
            </a:extLst>
          </p:cNvPr>
          <p:cNvCxnSpPr>
            <a:cxnSpLocks/>
            <a:stCxn id="108" idx="0"/>
            <a:endCxn id="109" idx="4"/>
          </p:cNvCxnSpPr>
          <p:nvPr/>
        </p:nvCxnSpPr>
        <p:spPr>
          <a:xfrm flipH="1" flipV="1">
            <a:off x="10599396" y="5796075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BF2695EC-2F1E-46BB-ACA5-6BCACD536122}"/>
              </a:ext>
            </a:extLst>
          </p:cNvPr>
          <p:cNvSpPr/>
          <p:nvPr/>
        </p:nvSpPr>
        <p:spPr>
          <a:xfrm>
            <a:off x="378418" y="6446512"/>
            <a:ext cx="2580682" cy="2769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한 방향 선재를 포함한 석쇠</a:t>
            </a: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F51AE38C-77A9-4232-A99D-A93CDC301412}"/>
              </a:ext>
            </a:extLst>
          </p:cNvPr>
          <p:cNvCxnSpPr>
            <a:cxnSpLocks/>
            <a:stCxn id="51" idx="2"/>
            <a:endCxn id="6" idx="0"/>
          </p:cNvCxnSpPr>
          <p:nvPr/>
        </p:nvCxnSpPr>
        <p:spPr>
          <a:xfrm rot="16200000" flipH="1">
            <a:off x="1346984" y="6124736"/>
            <a:ext cx="184667" cy="45888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C4251495-8B6D-44F5-B21C-6DDB8B77D3B8}"/>
              </a:ext>
            </a:extLst>
          </p:cNvPr>
          <p:cNvSpPr/>
          <p:nvPr/>
        </p:nvSpPr>
        <p:spPr>
          <a:xfrm>
            <a:off x="1678282" y="4746171"/>
            <a:ext cx="2580682" cy="2769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양 방향 선재를 포함한 석쇠</a:t>
            </a: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50B26794-8D2E-41A2-95A4-EF0A9B9686A9}"/>
              </a:ext>
            </a:extLst>
          </p:cNvPr>
          <p:cNvCxnSpPr>
            <a:stCxn id="112" idx="2"/>
            <a:endCxn id="60" idx="3"/>
          </p:cNvCxnSpPr>
          <p:nvPr/>
        </p:nvCxnSpPr>
        <p:spPr>
          <a:xfrm rot="5400000">
            <a:off x="2678544" y="4971570"/>
            <a:ext cx="238481" cy="34167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277F450B-AE4D-4089-A255-A132FC47D6A6}"/>
              </a:ext>
            </a:extLst>
          </p:cNvPr>
          <p:cNvSpPr/>
          <p:nvPr/>
        </p:nvSpPr>
        <p:spPr>
          <a:xfrm>
            <a:off x="9811924" y="6511947"/>
            <a:ext cx="1574944" cy="2769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심판원에서 </a:t>
            </a:r>
            <a:r>
              <a:rPr lang="ko-KR" altLang="en-US" sz="1200" dirty="0" err="1">
                <a:solidFill>
                  <a:schemeClr val="tx1"/>
                </a:solidFill>
              </a:rPr>
              <a:t>심결각하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E3A9FA18-9ED8-4BE0-A940-9222A7C5CCD0}"/>
              </a:ext>
            </a:extLst>
          </p:cNvPr>
          <p:cNvCxnSpPr>
            <a:cxnSpLocks/>
            <a:stCxn id="108" idx="3"/>
            <a:endCxn id="113" idx="3"/>
          </p:cNvCxnSpPr>
          <p:nvPr/>
        </p:nvCxnSpPr>
        <p:spPr>
          <a:xfrm>
            <a:off x="11239177" y="6123346"/>
            <a:ext cx="147691" cy="527100"/>
          </a:xfrm>
          <a:prstGeom prst="bentConnector3">
            <a:avLst>
              <a:gd name="adj1" fmla="val 25478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353803C-8954-583F-96BC-77675034FC24}"/>
              </a:ext>
            </a:extLst>
          </p:cNvPr>
          <p:cNvSpPr txBox="1"/>
          <p:nvPr/>
        </p:nvSpPr>
        <p:spPr>
          <a:xfrm>
            <a:off x="6133526" y="6528472"/>
            <a:ext cx="35782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* 소의 이익이 없다는 이유로 파기</a:t>
            </a:r>
            <a:r>
              <a:rPr lang="en-US" altLang="ko-KR" sz="1200" dirty="0"/>
              <a:t>&amp;</a:t>
            </a:r>
            <a:r>
              <a:rPr lang="ko-KR" altLang="en-US" sz="1200" dirty="0" err="1"/>
              <a:t>소각하될</a:t>
            </a:r>
            <a:r>
              <a:rPr lang="ko-KR" altLang="en-US" sz="1200" dirty="0"/>
              <a:t> 수도 있음</a:t>
            </a:r>
          </a:p>
        </p:txBody>
      </p:sp>
    </p:spTree>
    <p:extLst>
      <p:ext uri="{BB962C8B-B14F-4D97-AF65-F5344CB8AC3E}">
        <p14:creationId xmlns:p14="http://schemas.microsoft.com/office/powerpoint/2010/main" val="349179181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권리 대 권리 간의 적극적 권리범위확인심판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672B6BB-2D77-4E43-8B42-06D030FA91F0}"/>
              </a:ext>
            </a:extLst>
          </p:cNvPr>
          <p:cNvCxnSpPr/>
          <p:nvPr/>
        </p:nvCxnSpPr>
        <p:spPr>
          <a:xfrm>
            <a:off x="0" y="1960950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5ED18D-A35C-4094-A735-ACF778B95324}"/>
              </a:ext>
            </a:extLst>
          </p:cNvPr>
          <p:cNvSpPr/>
          <p:nvPr/>
        </p:nvSpPr>
        <p:spPr>
          <a:xfrm>
            <a:off x="232372" y="1357007"/>
            <a:ext cx="116819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400" dirty="0" err="1"/>
              <a:t>선등록</a:t>
            </a:r>
            <a:r>
              <a:rPr lang="ko-KR" altLang="en-US" sz="1400" dirty="0"/>
              <a:t> 특허권자가 </a:t>
            </a:r>
            <a:r>
              <a:rPr lang="ko-KR" altLang="en-US" sz="1400" dirty="0" err="1"/>
              <a:t>후등록</a:t>
            </a:r>
            <a:r>
              <a:rPr lang="ko-KR" altLang="en-US" sz="1400" dirty="0"/>
              <a:t> 특허권자를 상대로 제기하는 적극적 권리범위확인심판은 등록무효절차 이외에서 등록된 권리의 효력을 부인하는 결과가 되어 </a:t>
            </a:r>
            <a:r>
              <a:rPr lang="ko-KR" altLang="en-US" sz="1400" dirty="0" err="1"/>
              <a:t>부적법하다는</a:t>
            </a:r>
            <a:r>
              <a:rPr lang="ko-KR" altLang="en-US" sz="1400" dirty="0"/>
              <a:t> 취지인 점에 비추어 볼 때 </a:t>
            </a:r>
            <a:r>
              <a:rPr lang="ko-KR" altLang="en-US" sz="1400" dirty="0" err="1"/>
              <a:t>후등록</a:t>
            </a:r>
            <a:r>
              <a:rPr lang="ko-KR" altLang="en-US" sz="1400" dirty="0"/>
              <a:t> 특허발명의 신규성 인정 여하에 따라 이러한 원칙적인 법리의 적용 여부가 달라진다고 볼 수는 없다</a:t>
            </a:r>
            <a:r>
              <a:rPr lang="en-US" altLang="ko-KR" sz="1400" dirty="0"/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7" name="모서리가 둥근 직사각형 10">
            <a:extLst>
              <a:ext uri="{FF2B5EF4-FFF2-40B4-BE49-F238E27FC236}">
                <a16:creationId xmlns:a16="http://schemas.microsoft.com/office/drawing/2014/main" id="{45EA68D6-B151-4236-8FC3-05A69090F573}"/>
              </a:ext>
            </a:extLst>
          </p:cNvPr>
          <p:cNvSpPr/>
          <p:nvPr/>
        </p:nvSpPr>
        <p:spPr bwMode="auto">
          <a:xfrm>
            <a:off x="378418" y="1002199"/>
            <a:ext cx="5180410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2016. 4. 28.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2013</a:t>
            </a:r>
            <a:r>
              <a:rPr lang="ko-KR" altLang="en-US" sz="1400" dirty="0"/>
              <a:t>후</a:t>
            </a:r>
            <a:r>
              <a:rPr lang="en-US" altLang="ko-KR" sz="1400" dirty="0"/>
              <a:t>2965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권리범위확인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28" name="Line 5">
            <a:extLst>
              <a:ext uri="{FF2B5EF4-FFF2-40B4-BE49-F238E27FC236}">
                <a16:creationId xmlns:a16="http://schemas.microsoft.com/office/drawing/2014/main" id="{13F99ADD-6D23-4CE0-87DA-F8CCBC916B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4537738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755A33-8626-4A38-968C-F28C1EF81A51}"/>
              </a:ext>
            </a:extLst>
          </p:cNvPr>
          <p:cNvSpPr txBox="1"/>
          <p:nvPr/>
        </p:nvSpPr>
        <p:spPr>
          <a:xfrm>
            <a:off x="594160" y="4793913"/>
            <a:ext cx="123143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A1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C4876FE4-DC4D-4474-8926-D22632F6469D}"/>
              </a:ext>
            </a:extLst>
          </p:cNvPr>
          <p:cNvSpPr/>
          <p:nvPr/>
        </p:nvSpPr>
        <p:spPr>
          <a:xfrm>
            <a:off x="1132506" y="444380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A79FA6F-3539-499D-989D-4B9AAF9734FC}"/>
              </a:ext>
            </a:extLst>
          </p:cNvPr>
          <p:cNvCxnSpPr>
            <a:cxnSpLocks/>
            <a:stCxn id="29" idx="0"/>
            <a:endCxn id="30" idx="4"/>
          </p:cNvCxnSpPr>
          <p:nvPr/>
        </p:nvCxnSpPr>
        <p:spPr>
          <a:xfrm flipH="1" flipV="1">
            <a:off x="1209875" y="460514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B2D769B1-1FF8-4325-BD54-E6AE101BD78D}"/>
              </a:ext>
            </a:extLst>
          </p:cNvPr>
          <p:cNvSpPr txBox="1"/>
          <p:nvPr/>
        </p:nvSpPr>
        <p:spPr>
          <a:xfrm>
            <a:off x="2412573" y="3932217"/>
            <a:ext cx="87860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A2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66BDDFB2-76D3-4B7E-AB78-077EE38E9B88}"/>
              </a:ext>
            </a:extLst>
          </p:cNvPr>
          <p:cNvSpPr/>
          <p:nvPr/>
        </p:nvSpPr>
        <p:spPr>
          <a:xfrm>
            <a:off x="2774505" y="444380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802B4B2-A1A0-419F-B32A-ABED66E6E377}"/>
              </a:ext>
            </a:extLst>
          </p:cNvPr>
          <p:cNvCxnSpPr>
            <a:cxnSpLocks/>
            <a:stCxn id="89" idx="2"/>
            <a:endCxn id="90" idx="0"/>
          </p:cNvCxnSpPr>
          <p:nvPr/>
        </p:nvCxnSpPr>
        <p:spPr>
          <a:xfrm flipH="1">
            <a:off x="2851874" y="4209216"/>
            <a:ext cx="1" cy="234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C7D4FB36-1FFF-453A-9148-2907ED9D291C}"/>
              </a:ext>
            </a:extLst>
          </p:cNvPr>
          <p:cNvSpPr txBox="1"/>
          <p:nvPr/>
        </p:nvSpPr>
        <p:spPr>
          <a:xfrm>
            <a:off x="1487177" y="5413035"/>
            <a:ext cx="1282594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A2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공지</a:t>
            </a: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37053DB1-34AB-4B46-8C67-DD7DCECC940E}"/>
              </a:ext>
            </a:extLst>
          </p:cNvPr>
          <p:cNvSpPr/>
          <p:nvPr/>
        </p:nvSpPr>
        <p:spPr>
          <a:xfrm>
            <a:off x="2051104" y="4443804"/>
            <a:ext cx="154738" cy="16133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61267199-012D-447C-B652-077CC611B18C}"/>
              </a:ext>
            </a:extLst>
          </p:cNvPr>
          <p:cNvCxnSpPr>
            <a:cxnSpLocks/>
            <a:stCxn id="96" idx="0"/>
            <a:endCxn id="97" idx="4"/>
          </p:cNvCxnSpPr>
          <p:nvPr/>
        </p:nvCxnSpPr>
        <p:spPr>
          <a:xfrm flipH="1" flipV="1">
            <a:off x="2128473" y="4605142"/>
            <a:ext cx="1" cy="80789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1067E6A-BCE1-4337-AF3E-5070BF2303F1}"/>
              </a:ext>
            </a:extLst>
          </p:cNvPr>
          <p:cNvSpPr txBox="1"/>
          <p:nvPr/>
        </p:nvSpPr>
        <p:spPr>
          <a:xfrm>
            <a:off x="2686908" y="4793913"/>
            <a:ext cx="123143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A1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46F3AAE3-B0C0-44B6-A2E3-C425FF8291F4}"/>
              </a:ext>
            </a:extLst>
          </p:cNvPr>
          <p:cNvSpPr/>
          <p:nvPr/>
        </p:nvSpPr>
        <p:spPr>
          <a:xfrm>
            <a:off x="3225254" y="444380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8D7137B3-B0C6-43A4-B863-139FBC00A45E}"/>
              </a:ext>
            </a:extLst>
          </p:cNvPr>
          <p:cNvCxnSpPr>
            <a:cxnSpLocks/>
            <a:stCxn id="48" idx="0"/>
            <a:endCxn id="49" idx="4"/>
          </p:cNvCxnSpPr>
          <p:nvPr/>
        </p:nvCxnSpPr>
        <p:spPr>
          <a:xfrm flipH="1" flipV="1">
            <a:off x="3302623" y="460514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13B6228-5768-41BC-AA03-C31DC0829E11}"/>
              </a:ext>
            </a:extLst>
          </p:cNvPr>
          <p:cNvSpPr txBox="1"/>
          <p:nvPr/>
        </p:nvSpPr>
        <p:spPr>
          <a:xfrm>
            <a:off x="3551978" y="3932217"/>
            <a:ext cx="878604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A2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EFD9F0FE-8049-4CB7-A7D0-472A54F99673}"/>
              </a:ext>
            </a:extLst>
          </p:cNvPr>
          <p:cNvSpPr/>
          <p:nvPr/>
        </p:nvSpPr>
        <p:spPr>
          <a:xfrm>
            <a:off x="3913910" y="444380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80A388C6-AFD3-4F81-9BAD-1FC64E00DD5F}"/>
              </a:ext>
            </a:extLst>
          </p:cNvPr>
          <p:cNvCxnSpPr>
            <a:cxnSpLocks/>
            <a:stCxn id="54" idx="2"/>
            <a:endCxn id="55" idx="0"/>
          </p:cNvCxnSpPr>
          <p:nvPr/>
        </p:nvCxnSpPr>
        <p:spPr>
          <a:xfrm flipH="1">
            <a:off x="3991279" y="4209216"/>
            <a:ext cx="1" cy="234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BC8D619F-711E-4FA2-878F-F33AB7FFD294}"/>
              </a:ext>
            </a:extLst>
          </p:cNvPr>
          <p:cNvSpPr txBox="1"/>
          <p:nvPr/>
        </p:nvSpPr>
        <p:spPr>
          <a:xfrm>
            <a:off x="4168844" y="4793913"/>
            <a:ext cx="1440096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적극적 권리범위확인심판청구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피청구인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8F367E6C-A8BC-4CE8-8AB8-89AB9B30235B}"/>
              </a:ext>
            </a:extLst>
          </p:cNvPr>
          <p:cNvSpPr/>
          <p:nvPr/>
        </p:nvSpPr>
        <p:spPr>
          <a:xfrm>
            <a:off x="4811522" y="444380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48B8E814-67B0-4B71-A69D-D801883ED4F3}"/>
              </a:ext>
            </a:extLst>
          </p:cNvPr>
          <p:cNvCxnSpPr>
            <a:cxnSpLocks/>
            <a:stCxn id="57" idx="0"/>
            <a:endCxn id="58" idx="4"/>
          </p:cNvCxnSpPr>
          <p:nvPr/>
        </p:nvCxnSpPr>
        <p:spPr>
          <a:xfrm flipH="1" flipV="1">
            <a:off x="4888891" y="460514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07388689-9DD1-484E-90A2-3B05AC3CD5BB}"/>
              </a:ext>
            </a:extLst>
          </p:cNvPr>
          <p:cNvSpPr txBox="1"/>
          <p:nvPr/>
        </p:nvSpPr>
        <p:spPr>
          <a:xfrm>
            <a:off x="5775914" y="4793913"/>
            <a:ext cx="94296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BB9B45C2-2E17-4A57-AC7C-DB5A67CB989C}"/>
              </a:ext>
            </a:extLst>
          </p:cNvPr>
          <p:cNvSpPr/>
          <p:nvPr/>
        </p:nvSpPr>
        <p:spPr>
          <a:xfrm>
            <a:off x="6170024" y="444380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734C8BC5-0E47-4D6C-BA82-A7B646246515}"/>
              </a:ext>
            </a:extLst>
          </p:cNvPr>
          <p:cNvCxnSpPr>
            <a:cxnSpLocks/>
            <a:stCxn id="61" idx="0"/>
            <a:endCxn id="74" idx="4"/>
          </p:cNvCxnSpPr>
          <p:nvPr/>
        </p:nvCxnSpPr>
        <p:spPr>
          <a:xfrm flipH="1" flipV="1">
            <a:off x="6247393" y="460514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BB05212C-08B6-495B-B3FF-1CBB59E2E73F}"/>
              </a:ext>
            </a:extLst>
          </p:cNvPr>
          <p:cNvSpPr txBox="1"/>
          <p:nvPr/>
        </p:nvSpPr>
        <p:spPr>
          <a:xfrm>
            <a:off x="6881766" y="4793913"/>
            <a:ext cx="92362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甲 소 제기</a:t>
            </a: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795A4AB0-1A45-4A8C-8809-61C1121B80C9}"/>
              </a:ext>
            </a:extLst>
          </p:cNvPr>
          <p:cNvSpPr/>
          <p:nvPr/>
        </p:nvSpPr>
        <p:spPr>
          <a:xfrm>
            <a:off x="7266207" y="444380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BC8869F9-F2B6-4D9D-AD7B-53FDE9466010}"/>
              </a:ext>
            </a:extLst>
          </p:cNvPr>
          <p:cNvCxnSpPr>
            <a:cxnSpLocks/>
            <a:stCxn id="79" idx="0"/>
            <a:endCxn id="81" idx="4"/>
          </p:cNvCxnSpPr>
          <p:nvPr/>
        </p:nvCxnSpPr>
        <p:spPr>
          <a:xfrm flipH="1" flipV="1">
            <a:off x="7343576" y="460514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AAF87F31-49A0-4D05-96C4-4FA508FDE186}"/>
              </a:ext>
            </a:extLst>
          </p:cNvPr>
          <p:cNvSpPr txBox="1"/>
          <p:nvPr/>
        </p:nvSpPr>
        <p:spPr>
          <a:xfrm>
            <a:off x="7922638" y="4793913"/>
            <a:ext cx="94296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515A7D25-0195-4395-8190-735510D8F5B9}"/>
              </a:ext>
            </a:extLst>
          </p:cNvPr>
          <p:cNvSpPr/>
          <p:nvPr/>
        </p:nvSpPr>
        <p:spPr>
          <a:xfrm>
            <a:off x="8316748" y="444380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89A607ED-8796-4DFD-A147-4696AB011EAE}"/>
              </a:ext>
            </a:extLst>
          </p:cNvPr>
          <p:cNvCxnSpPr>
            <a:cxnSpLocks/>
            <a:stCxn id="88" idx="0"/>
            <a:endCxn id="95" idx="4"/>
          </p:cNvCxnSpPr>
          <p:nvPr/>
        </p:nvCxnSpPr>
        <p:spPr>
          <a:xfrm flipH="1" flipV="1">
            <a:off x="8394117" y="460514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D6FF7965-BD27-4F49-88D8-B3BE8153813B}"/>
              </a:ext>
            </a:extLst>
          </p:cNvPr>
          <p:cNvSpPr txBox="1"/>
          <p:nvPr/>
        </p:nvSpPr>
        <p:spPr>
          <a:xfrm>
            <a:off x="9002284" y="4793913"/>
            <a:ext cx="923622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甲 상고</a:t>
            </a: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AC622445-D4FF-46FB-8209-F783D0AC7A56}"/>
              </a:ext>
            </a:extLst>
          </p:cNvPr>
          <p:cNvSpPr/>
          <p:nvPr/>
        </p:nvSpPr>
        <p:spPr>
          <a:xfrm>
            <a:off x="9386725" y="444380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5C93C126-BA9C-4A2B-A0EC-4E01B2AE0E6E}"/>
              </a:ext>
            </a:extLst>
          </p:cNvPr>
          <p:cNvCxnSpPr>
            <a:cxnSpLocks/>
            <a:stCxn id="100" idx="0"/>
            <a:endCxn id="101" idx="4"/>
          </p:cNvCxnSpPr>
          <p:nvPr/>
        </p:nvCxnSpPr>
        <p:spPr>
          <a:xfrm flipH="1" flipV="1">
            <a:off x="9464094" y="460514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BE5C795B-9FE5-4C0C-AD3E-3E2E1CDC1F95}"/>
              </a:ext>
            </a:extLst>
          </p:cNvPr>
          <p:cNvSpPr txBox="1"/>
          <p:nvPr/>
        </p:nvSpPr>
        <p:spPr>
          <a:xfrm>
            <a:off x="10073598" y="4793913"/>
            <a:ext cx="1051598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파기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&amp;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소각하</a:t>
            </a: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DC2D998F-A5FC-44C2-B5EE-40DE19E1A3A9}"/>
              </a:ext>
            </a:extLst>
          </p:cNvPr>
          <p:cNvSpPr/>
          <p:nvPr/>
        </p:nvSpPr>
        <p:spPr>
          <a:xfrm>
            <a:off x="10522027" y="444380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DE726FF3-F1F9-4CFA-AB5E-12F924EFD229}"/>
              </a:ext>
            </a:extLst>
          </p:cNvPr>
          <p:cNvCxnSpPr>
            <a:cxnSpLocks/>
            <a:stCxn id="103" idx="0"/>
            <a:endCxn id="104" idx="4"/>
          </p:cNvCxnSpPr>
          <p:nvPr/>
        </p:nvCxnSpPr>
        <p:spPr>
          <a:xfrm flipH="1" flipV="1">
            <a:off x="10599396" y="460514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말풍선: 모서리가 둥근 사각형 12">
            <a:extLst>
              <a:ext uri="{FF2B5EF4-FFF2-40B4-BE49-F238E27FC236}">
                <a16:creationId xmlns:a16="http://schemas.microsoft.com/office/drawing/2014/main" id="{9C239F21-32D7-45BA-BFD3-8A94DDE446A2}"/>
              </a:ext>
            </a:extLst>
          </p:cNvPr>
          <p:cNvSpPr/>
          <p:nvPr/>
        </p:nvSpPr>
        <p:spPr>
          <a:xfrm>
            <a:off x="6499123" y="5540081"/>
            <a:ext cx="3944726" cy="857837"/>
          </a:xfrm>
          <a:prstGeom prst="wedgeRoundRectCallout">
            <a:avLst>
              <a:gd name="adj1" fmla="val 48725"/>
              <a:gd name="adj2" fmla="val -104834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신규성이 부정되어 권리범위를 인정하지 않더라도 권리의 유효성에 대한 다툼은 특허무효심판에서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이루어져야 한다는 것을 판시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434378-F225-4384-B1CD-FE7BC7DF59D2}"/>
              </a:ext>
            </a:extLst>
          </p:cNvPr>
          <p:cNvSpPr txBox="1"/>
          <p:nvPr/>
        </p:nvSpPr>
        <p:spPr>
          <a:xfrm>
            <a:off x="514351" y="2139590"/>
            <a:ext cx="11293476" cy="11695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>
                <a:highlight>
                  <a:srgbClr val="FFFF00"/>
                </a:highlight>
              </a:rPr>
              <a:t>신규성 부정은 권리범위를 </a:t>
            </a:r>
            <a:r>
              <a:rPr lang="ko-KR" altLang="en-US" sz="1400" dirty="0" err="1">
                <a:highlight>
                  <a:srgbClr val="FFFF00"/>
                </a:highlight>
              </a:rPr>
              <a:t>불인정하는</a:t>
            </a:r>
            <a:r>
              <a:rPr lang="ko-KR" altLang="en-US" sz="1400" dirty="0">
                <a:highlight>
                  <a:srgbClr val="FFFF00"/>
                </a:highlight>
              </a:rPr>
              <a:t> 것이지 권리의 유효성을 부정하지는 않음</a:t>
            </a:r>
            <a:endParaRPr lang="en-US" altLang="ko-KR" sz="1400" dirty="0">
              <a:highlight>
                <a:srgbClr val="FFFF00"/>
              </a:highlight>
            </a:endParaRPr>
          </a:p>
          <a:p>
            <a:pPr marL="285750" indent="-285750">
              <a:buFontTx/>
              <a:buChar char="-"/>
            </a:pPr>
            <a:r>
              <a:rPr lang="ko-KR" altLang="en-US" sz="1400" dirty="0">
                <a:highlight>
                  <a:srgbClr val="FFFF00"/>
                </a:highlight>
              </a:rPr>
              <a:t>권리의 유효성에 대한 다툼은 무효심판의 </a:t>
            </a:r>
            <a:r>
              <a:rPr lang="ko-KR" altLang="en-US" sz="1400" dirty="0" err="1">
                <a:highlight>
                  <a:srgbClr val="FFFF00"/>
                </a:highlight>
              </a:rPr>
              <a:t>전권사항이므로</a:t>
            </a:r>
            <a:r>
              <a:rPr lang="ko-KR" altLang="en-US" sz="1400" dirty="0">
                <a:highlight>
                  <a:srgbClr val="FFFF00"/>
                </a:highlight>
              </a:rPr>
              <a:t> 권리범위확인심판에서 다툴 수 없고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따라서 권리 대 권리 간의 적극적 권리범위확인심판은</a:t>
            </a:r>
            <a:endParaRPr lang="en-US" altLang="ko-KR" sz="1400" dirty="0">
              <a:highlight>
                <a:srgbClr val="FFFF00"/>
              </a:highlight>
            </a:endParaRPr>
          </a:p>
          <a:p>
            <a:r>
              <a:rPr lang="en-US" altLang="ko-KR" sz="1400" dirty="0"/>
              <a:t>      </a:t>
            </a:r>
            <a:r>
              <a:rPr lang="ko-KR" altLang="en-US" sz="1400" dirty="0">
                <a:highlight>
                  <a:srgbClr val="FFFF00"/>
                </a:highlight>
              </a:rPr>
              <a:t>권리의 유효성을 부정하지 않는 이용관계만 가능하고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권리의 유효성을 부정하는 저촉관계는 불가능함</a:t>
            </a:r>
            <a:endParaRPr lang="en-US" altLang="ko-KR" sz="1400" dirty="0">
              <a:highlight>
                <a:srgbClr val="FFFF00"/>
              </a:highlight>
            </a:endParaRPr>
          </a:p>
          <a:p>
            <a:pPr marL="285750" indent="-285750">
              <a:buFontTx/>
              <a:buChar char="-"/>
            </a:pPr>
            <a:r>
              <a:rPr lang="ko-KR" altLang="en-US" sz="1400" dirty="0"/>
              <a:t>그 결과 이용관계가 아닌 권리 대 권리 간의 적극적 권리범위확인심판은 각하되어야 하나</a:t>
            </a:r>
            <a:r>
              <a:rPr lang="en-US" altLang="ko-KR" sz="1400" dirty="0"/>
              <a:t>, </a:t>
            </a:r>
            <a:r>
              <a:rPr lang="ko-KR" altLang="en-US" sz="1400" dirty="0"/>
              <a:t>기각이나 각하나 심판청구인이 심판에서 지는 것은 매한가지</a:t>
            </a:r>
            <a:endParaRPr lang="en-US" altLang="ko-KR" sz="1400" dirty="0"/>
          </a:p>
          <a:p>
            <a:r>
              <a:rPr lang="en-US" altLang="ko-KR" sz="1400" dirty="0"/>
              <a:t>      </a:t>
            </a:r>
            <a:r>
              <a:rPr lang="ko-KR" altLang="en-US" sz="1400" dirty="0"/>
              <a:t>이기 때문에 유리한 </a:t>
            </a:r>
            <a:r>
              <a:rPr lang="ko-KR" altLang="en-US" sz="1400" dirty="0" err="1"/>
              <a:t>심결을</a:t>
            </a:r>
            <a:r>
              <a:rPr lang="ko-KR" altLang="en-US" sz="1400" dirty="0"/>
              <a:t> 받을 가능성이 없고</a:t>
            </a:r>
            <a:r>
              <a:rPr lang="en-US" altLang="ko-KR" sz="1400" dirty="0"/>
              <a:t>, </a:t>
            </a:r>
            <a:r>
              <a:rPr lang="ko-KR" altLang="en-US" sz="1400" dirty="0"/>
              <a:t>따라서 본 사안은 </a:t>
            </a:r>
            <a:r>
              <a:rPr lang="ko-KR" altLang="en-US" sz="1400" dirty="0" err="1"/>
              <a:t>소각하함</a:t>
            </a:r>
            <a:r>
              <a:rPr lang="ko-KR" alt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23863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559A5-0B09-98DB-9B91-E50C43CD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0DD81E3-9E40-F8E2-F57B-E0518EA9C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FE2C5F-D3E5-6785-3177-98EFC8E91F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권리 대 권리 간의 적극적 권리범위확인심판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943296-8DFA-4245-B954-164DBCF8F4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5F85F50-9BB0-7AC6-D4EA-E9BD83210208}"/>
              </a:ext>
            </a:extLst>
          </p:cNvPr>
          <p:cNvCxnSpPr/>
          <p:nvPr/>
        </p:nvCxnSpPr>
        <p:spPr>
          <a:xfrm>
            <a:off x="0" y="3613414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7C27AB7-73B6-453F-55DA-EC3CFFE94F13}"/>
              </a:ext>
            </a:extLst>
          </p:cNvPr>
          <p:cNvSpPr/>
          <p:nvPr/>
        </p:nvSpPr>
        <p:spPr>
          <a:xfrm>
            <a:off x="85725" y="1285289"/>
            <a:ext cx="12106273" cy="2354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ko-KR" sz="1050" dirty="0"/>
              <a:t>[1] </a:t>
            </a:r>
            <a:r>
              <a:rPr lang="ko-KR" altLang="en-US" sz="1050" dirty="0"/>
              <a:t>특허권의 권리범위 확인심판을 청구할 때 심판청구의 대상이 되는 기술내용은 당해 특허발명과 서로 대비할 수 있을 만큼 구체적으로 특정되어야 한다</a:t>
            </a:r>
            <a:r>
              <a:rPr lang="en-US" altLang="ko-KR" sz="1050" dirty="0"/>
              <a:t>. </a:t>
            </a:r>
            <a:r>
              <a:rPr lang="ko-KR" altLang="en-US" sz="1050" dirty="0"/>
              <a:t>그렇지만 그 특정을 위하여 대상물의 구체적인 구성을 전부 기재할 필요는 없고</a:t>
            </a:r>
            <a:r>
              <a:rPr lang="en-US" altLang="ko-KR" sz="1050" dirty="0"/>
              <a:t>, </a:t>
            </a:r>
            <a:r>
              <a:rPr lang="ko-KR" altLang="en-US" sz="1050" dirty="0"/>
              <a:t>특허발명의 구성요소에 대응하는 부분의 구체적인 구성을 기재하면 된다</a:t>
            </a:r>
            <a:r>
              <a:rPr lang="en-US" altLang="ko-KR" sz="1050" dirty="0"/>
              <a:t>. </a:t>
            </a:r>
            <a:r>
              <a:rPr lang="ko-KR" altLang="en-US" sz="1050" dirty="0"/>
              <a:t>또한 그 구체적인 구성의 기재도 특허발명의 구성요소와 대비하여 그 차이점을 판단함에 필요한 정도면 충분하다</a:t>
            </a:r>
            <a:r>
              <a:rPr lang="en-US" altLang="ko-KR" sz="1050" dirty="0"/>
              <a:t>(</a:t>
            </a:r>
            <a:r>
              <a:rPr lang="ko-KR" altLang="en-US" sz="1050" dirty="0"/>
              <a:t>대법원 </a:t>
            </a:r>
            <a:r>
              <a:rPr lang="en-US" altLang="ko-KR" sz="1050" dirty="0"/>
              <a:t>1994. 5. 24. </a:t>
            </a:r>
            <a:r>
              <a:rPr lang="ko-KR" altLang="en-US" sz="1050" dirty="0"/>
              <a:t>선고 </a:t>
            </a:r>
            <a:r>
              <a:rPr lang="en-US" altLang="ko-KR" sz="1050" dirty="0"/>
              <a:t>93</a:t>
            </a:r>
            <a:r>
              <a:rPr lang="ko-KR" altLang="en-US" sz="1050" dirty="0"/>
              <a:t>후</a:t>
            </a:r>
            <a:r>
              <a:rPr lang="en-US" altLang="ko-KR" sz="1050" dirty="0"/>
              <a:t>381 </a:t>
            </a:r>
            <a:r>
              <a:rPr lang="ko-KR" altLang="en-US" sz="1050" dirty="0"/>
              <a:t>판결</a:t>
            </a:r>
            <a:r>
              <a:rPr lang="en-US" altLang="ko-KR" sz="1050" dirty="0"/>
              <a:t>, </a:t>
            </a:r>
            <a:r>
              <a:rPr lang="ko-KR" altLang="en-US" sz="1050" dirty="0"/>
              <a:t>대법원 </a:t>
            </a:r>
            <a:r>
              <a:rPr lang="en-US" altLang="ko-KR" sz="1050" dirty="0"/>
              <a:t>2004. 10. 14. </a:t>
            </a:r>
            <a:r>
              <a:rPr lang="ko-KR" altLang="en-US" sz="1050" dirty="0"/>
              <a:t>선고 </a:t>
            </a:r>
            <a:r>
              <a:rPr lang="en-US" altLang="ko-KR" sz="1050" dirty="0"/>
              <a:t>2003</a:t>
            </a:r>
            <a:r>
              <a:rPr lang="ko-KR" altLang="en-US" sz="1050" dirty="0"/>
              <a:t>후</a:t>
            </a:r>
            <a:r>
              <a:rPr lang="en-US" altLang="ko-KR" sz="1050" dirty="0"/>
              <a:t>2164 </a:t>
            </a:r>
            <a:r>
              <a:rPr lang="ko-KR" altLang="en-US" sz="1050" dirty="0"/>
              <a:t>판결 등 참조</a:t>
            </a:r>
            <a:r>
              <a:rPr lang="en-US" altLang="ko-KR" sz="1050" dirty="0"/>
              <a:t>)</a:t>
            </a:r>
            <a:endParaRPr lang="ko-KR" altLang="en-US" sz="1050" dirty="0"/>
          </a:p>
          <a:p>
            <a:pPr fontAlgn="base"/>
            <a:r>
              <a:rPr lang="en-US" altLang="ko-KR" sz="1050" dirty="0"/>
              <a:t>[2] </a:t>
            </a:r>
            <a:r>
              <a:rPr lang="ko-KR" altLang="en-US" sz="1050" dirty="0"/>
              <a:t>특허권자가 심판을 청구하는 확인대상 발명이 특허권의 권리범위에 속한다는 내용의 적극적 권리범위 확인심판을 청구한 경우</a:t>
            </a:r>
            <a:r>
              <a:rPr lang="en-US" altLang="ko-KR" sz="1050" dirty="0"/>
              <a:t>, </a:t>
            </a:r>
            <a:r>
              <a:rPr lang="ko-KR" altLang="en-US" sz="1050" dirty="0"/>
              <a:t>심판청구인이 특정한 확인대상 발명과 피심판청구인이 실시하고 있는 발명 사이에 동일성이 인정되지 아니하면</a:t>
            </a:r>
            <a:r>
              <a:rPr lang="en-US" altLang="ko-KR" sz="1050" dirty="0"/>
              <a:t>, </a:t>
            </a:r>
            <a:r>
              <a:rPr lang="ko-KR" altLang="en-US" sz="1050" dirty="0"/>
              <a:t>확인대상 발명이 특허권의 권리범위에 속한다는 </a:t>
            </a:r>
            <a:r>
              <a:rPr lang="ko-KR" altLang="en-US" sz="1050" dirty="0" err="1"/>
              <a:t>심결이</a:t>
            </a:r>
            <a:r>
              <a:rPr lang="ko-KR" altLang="en-US" sz="1050" dirty="0"/>
              <a:t> 확정된다고 하더라도</a:t>
            </a:r>
            <a:r>
              <a:rPr lang="en-US" altLang="ko-KR" sz="1050" dirty="0"/>
              <a:t>, </a:t>
            </a:r>
            <a:r>
              <a:rPr lang="ko-KR" altLang="en-US" sz="1050" dirty="0"/>
              <a:t>그 </a:t>
            </a:r>
            <a:r>
              <a:rPr lang="ko-KR" altLang="en-US" sz="1050" dirty="0" err="1"/>
              <a:t>심결은</a:t>
            </a:r>
            <a:r>
              <a:rPr lang="ko-KR" altLang="en-US" sz="1050" dirty="0"/>
              <a:t> 심판청구인이 특정한 확인대상 발명에 대하여만 효력을 미칠 뿐 실제 피심판청구인이 실시하고 있는 발명에 대하여는 아무런 효력이 없다</a:t>
            </a:r>
            <a:r>
              <a:rPr lang="en-US" altLang="ko-KR" sz="1050" dirty="0"/>
              <a:t>. </a:t>
            </a:r>
            <a:r>
              <a:rPr lang="ko-KR" altLang="en-US" sz="1050" dirty="0"/>
              <a:t>이와 같이 피심판청구인이 실시하지 않고 있는 발명을 대상으로 한 적극적 권리범위 확인심판청구는 확인의 이익이 없어 </a:t>
            </a:r>
            <a:r>
              <a:rPr lang="ko-KR" altLang="en-US" sz="1050" dirty="0" err="1"/>
              <a:t>부적법하여</a:t>
            </a:r>
            <a:r>
              <a:rPr lang="ko-KR" altLang="en-US" sz="1050" dirty="0"/>
              <a:t> 각하되어야 한다</a:t>
            </a:r>
            <a:r>
              <a:rPr lang="en-US" altLang="ko-KR" sz="1050" dirty="0"/>
              <a:t>(</a:t>
            </a:r>
            <a:r>
              <a:rPr lang="ko-KR" altLang="en-US" sz="1050" dirty="0"/>
              <a:t>대법원 </a:t>
            </a:r>
            <a:r>
              <a:rPr lang="en-US" altLang="ko-KR" sz="1050" dirty="0"/>
              <a:t>2003. 6. 10. </a:t>
            </a:r>
            <a:r>
              <a:rPr lang="ko-KR" altLang="en-US" sz="1050" dirty="0"/>
              <a:t>선고 </a:t>
            </a:r>
            <a:r>
              <a:rPr lang="en-US" altLang="ko-KR" sz="1050" dirty="0"/>
              <a:t>2002</a:t>
            </a:r>
            <a:r>
              <a:rPr lang="ko-KR" altLang="en-US" sz="1050" dirty="0"/>
              <a:t>후</a:t>
            </a:r>
            <a:r>
              <a:rPr lang="en-US" altLang="ko-KR" sz="1050" dirty="0"/>
              <a:t>2419 </a:t>
            </a:r>
            <a:r>
              <a:rPr lang="ko-KR" altLang="en-US" sz="1050" dirty="0"/>
              <a:t>판결 등 참조</a:t>
            </a:r>
            <a:r>
              <a:rPr lang="en-US" altLang="ko-KR" sz="1050" dirty="0"/>
              <a:t>). </a:t>
            </a:r>
            <a:r>
              <a:rPr lang="ko-KR" altLang="en-US" sz="1050" dirty="0"/>
              <a:t>확인대상 발명과 피심판청구인이 실시하고 있는 발명의 동일성은 피심판청구인이 확인대상 발명을 실시하고 있는지 여부라는 사실 확정에 관한 것이므로 이들 발명이 사실적 관점에서 같다고 보이는 경우에는 그 동일성을 인정할 수 있다</a:t>
            </a:r>
            <a:r>
              <a:rPr lang="en-US" altLang="ko-KR" sz="1050" dirty="0"/>
              <a:t>(</a:t>
            </a:r>
            <a:r>
              <a:rPr lang="ko-KR" altLang="en-US" sz="1050" dirty="0"/>
              <a:t>대법원 </a:t>
            </a:r>
            <a:r>
              <a:rPr lang="en-US" altLang="ko-KR" sz="1050" dirty="0"/>
              <a:t>2012. 10. 25. </a:t>
            </a:r>
            <a:r>
              <a:rPr lang="ko-KR" altLang="en-US" sz="1050" dirty="0"/>
              <a:t>선고 </a:t>
            </a:r>
            <a:r>
              <a:rPr lang="en-US" altLang="ko-KR" sz="1050" dirty="0"/>
              <a:t>2011</a:t>
            </a:r>
            <a:r>
              <a:rPr lang="ko-KR" altLang="en-US" sz="1050" dirty="0"/>
              <a:t>후</a:t>
            </a:r>
            <a:r>
              <a:rPr lang="en-US" altLang="ko-KR" sz="1050" dirty="0"/>
              <a:t>2626 </a:t>
            </a:r>
            <a:r>
              <a:rPr lang="ko-KR" altLang="en-US" sz="1050" dirty="0"/>
              <a:t>판결 등 참조</a:t>
            </a:r>
            <a:r>
              <a:rPr lang="en-US" altLang="ko-KR" sz="1050" dirty="0"/>
              <a:t>).</a:t>
            </a:r>
            <a:endParaRPr lang="ko-KR" altLang="en-US" sz="1050" dirty="0"/>
          </a:p>
          <a:p>
            <a:pPr fontAlgn="base"/>
            <a:r>
              <a:rPr lang="en-US" altLang="ko-KR" sz="1050" dirty="0"/>
              <a:t>[3] </a:t>
            </a:r>
            <a:r>
              <a:rPr lang="ko-KR" altLang="en-US" sz="1050" dirty="0" err="1"/>
              <a:t>선등록</a:t>
            </a:r>
            <a:r>
              <a:rPr lang="ko-KR" altLang="en-US" sz="1050" dirty="0"/>
              <a:t> 특허권자가 </a:t>
            </a:r>
            <a:r>
              <a:rPr lang="ko-KR" altLang="en-US" sz="1050" dirty="0" err="1"/>
              <a:t>후등록</a:t>
            </a:r>
            <a:r>
              <a:rPr lang="ko-KR" altLang="en-US" sz="1050" dirty="0"/>
              <a:t> 특허권자를 상대로 </a:t>
            </a:r>
            <a:r>
              <a:rPr lang="ko-KR" altLang="en-US" sz="1050" dirty="0" err="1"/>
              <a:t>후등록</a:t>
            </a:r>
            <a:r>
              <a:rPr lang="ko-KR" altLang="en-US" sz="1050" dirty="0"/>
              <a:t> 특허발명을 확인대상 발명으로 삼아 </a:t>
            </a:r>
            <a:r>
              <a:rPr lang="ko-KR" altLang="en-US" sz="1050" dirty="0" err="1"/>
              <a:t>선등록</a:t>
            </a:r>
            <a:r>
              <a:rPr lang="ko-KR" altLang="en-US" sz="1050" dirty="0"/>
              <a:t> 특허권의 권리범위에 속한다는 확인을 구하는 적극적 권리범위 확인심판청구는</a:t>
            </a:r>
            <a:r>
              <a:rPr lang="en-US" altLang="ko-KR" sz="1050" dirty="0"/>
              <a:t>, </a:t>
            </a:r>
            <a:r>
              <a:rPr lang="ko-KR" altLang="en-US" sz="1050" dirty="0"/>
              <a:t>등록무효절차 이외에서 등록된 권리의 효력을 부인하는 결과가 되어 확인의 이익이 인정될 수 없으므로 원칙적으로 </a:t>
            </a:r>
            <a:r>
              <a:rPr lang="ko-KR" altLang="en-US" sz="1050" dirty="0" err="1"/>
              <a:t>부적법하다</a:t>
            </a:r>
            <a:r>
              <a:rPr lang="en-US" altLang="ko-KR" sz="1050" dirty="0"/>
              <a:t>(</a:t>
            </a:r>
            <a:r>
              <a:rPr lang="ko-KR" altLang="en-US" sz="1050" dirty="0"/>
              <a:t>대법원 </a:t>
            </a:r>
            <a:r>
              <a:rPr lang="en-US" altLang="ko-KR" sz="1050" dirty="0"/>
              <a:t>2007. 10. 11. </a:t>
            </a:r>
            <a:r>
              <a:rPr lang="ko-KR" altLang="en-US" sz="1050" dirty="0"/>
              <a:t>선고 </a:t>
            </a:r>
            <a:r>
              <a:rPr lang="en-US" altLang="ko-KR" sz="1050" dirty="0"/>
              <a:t>2007</a:t>
            </a:r>
            <a:r>
              <a:rPr lang="ko-KR" altLang="en-US" sz="1050" dirty="0"/>
              <a:t>후</a:t>
            </a:r>
            <a:r>
              <a:rPr lang="en-US" altLang="ko-KR" sz="1050" dirty="0"/>
              <a:t>2766 </a:t>
            </a:r>
            <a:r>
              <a:rPr lang="ko-KR" altLang="en-US" sz="1050" dirty="0"/>
              <a:t>판결</a:t>
            </a:r>
            <a:r>
              <a:rPr lang="en-US" altLang="ko-KR" sz="1050" dirty="0"/>
              <a:t>, </a:t>
            </a:r>
            <a:r>
              <a:rPr lang="ko-KR" altLang="en-US" sz="1050" dirty="0"/>
              <a:t>대법원 </a:t>
            </a:r>
            <a:r>
              <a:rPr lang="en-US" altLang="ko-KR" sz="1050" dirty="0"/>
              <a:t>2016. 4. 28. </a:t>
            </a:r>
            <a:r>
              <a:rPr lang="ko-KR" altLang="en-US" sz="1050" dirty="0"/>
              <a:t>선고 </a:t>
            </a:r>
            <a:r>
              <a:rPr lang="en-US" altLang="ko-KR" sz="1050" dirty="0"/>
              <a:t>2013</a:t>
            </a:r>
            <a:r>
              <a:rPr lang="ko-KR" altLang="en-US" sz="1050" dirty="0"/>
              <a:t>후</a:t>
            </a:r>
            <a:r>
              <a:rPr lang="en-US" altLang="ko-KR" sz="1050" dirty="0"/>
              <a:t>2965 </a:t>
            </a:r>
            <a:r>
              <a:rPr lang="ko-KR" altLang="en-US" sz="1050" dirty="0"/>
              <a:t>판결 등 참조</a:t>
            </a:r>
            <a:r>
              <a:rPr lang="en-US" altLang="ko-KR" sz="1050" dirty="0"/>
              <a:t>). </a:t>
            </a:r>
            <a:r>
              <a:rPr lang="ko-KR" altLang="en-US" sz="1050" dirty="0"/>
              <a:t>다만 예외적으로 두 발명이 특허법 제</a:t>
            </a:r>
            <a:r>
              <a:rPr lang="en-US" altLang="ko-KR" sz="1050" dirty="0"/>
              <a:t>98</a:t>
            </a:r>
            <a:r>
              <a:rPr lang="ko-KR" altLang="en-US" sz="1050" dirty="0"/>
              <a:t>조에서 규정하는 이용관계에 있어 확인대상 발명의 등록의 효력을 부정하지 않고 권리범위의 확인을 구할 수 있는 경우에는 권리 대 권리 간 적극적 권리범위 확인심판의 청구가 허용된다</a:t>
            </a:r>
            <a:r>
              <a:rPr lang="en-US" altLang="ko-KR" sz="1050" dirty="0"/>
              <a:t>(</a:t>
            </a:r>
            <a:r>
              <a:rPr lang="ko-KR" altLang="en-US" sz="1050" dirty="0"/>
              <a:t>대법원 </a:t>
            </a:r>
            <a:r>
              <a:rPr lang="en-US" altLang="ko-KR" sz="1050" dirty="0"/>
              <a:t>2002. 6. 28. </a:t>
            </a:r>
            <a:r>
              <a:rPr lang="ko-KR" altLang="en-US" sz="1050" dirty="0"/>
              <a:t>선고 </a:t>
            </a:r>
            <a:r>
              <a:rPr lang="en-US" altLang="ko-KR" sz="1050" dirty="0"/>
              <a:t>99</a:t>
            </a:r>
            <a:r>
              <a:rPr lang="ko-KR" altLang="en-US" sz="1050" dirty="0"/>
              <a:t>후</a:t>
            </a:r>
            <a:r>
              <a:rPr lang="en-US" altLang="ko-KR" sz="1050" dirty="0"/>
              <a:t>2433 </a:t>
            </a:r>
            <a:r>
              <a:rPr lang="ko-KR" altLang="en-US" sz="1050" dirty="0"/>
              <a:t>판결</a:t>
            </a:r>
            <a:r>
              <a:rPr lang="en-US" altLang="ko-KR" sz="1050" dirty="0"/>
              <a:t>, </a:t>
            </a:r>
            <a:r>
              <a:rPr lang="ko-KR" altLang="en-US" sz="1050" dirty="0"/>
              <a:t>대법원 </a:t>
            </a:r>
            <a:r>
              <a:rPr lang="en-US" altLang="ko-KR" sz="1050" dirty="0"/>
              <a:t>2016. 4. 28. </a:t>
            </a:r>
            <a:r>
              <a:rPr lang="ko-KR" altLang="en-US" sz="1050" dirty="0"/>
              <a:t>선고 </a:t>
            </a:r>
            <a:r>
              <a:rPr lang="en-US" altLang="ko-KR" sz="1050" dirty="0"/>
              <a:t>2015</a:t>
            </a:r>
            <a:r>
              <a:rPr lang="ko-KR" altLang="en-US" sz="1050" dirty="0"/>
              <a:t>후</a:t>
            </a:r>
            <a:r>
              <a:rPr lang="en-US" altLang="ko-KR" sz="1050" dirty="0"/>
              <a:t>161 </a:t>
            </a:r>
            <a:r>
              <a:rPr lang="ko-KR" altLang="en-US" sz="1050" dirty="0"/>
              <a:t>판결 등 참조</a:t>
            </a:r>
            <a:r>
              <a:rPr lang="en-US" altLang="ko-KR" sz="1050" dirty="0"/>
              <a:t>). </a:t>
            </a:r>
            <a:r>
              <a:rPr lang="ko-KR" altLang="en-US" sz="1050" dirty="0">
                <a:highlight>
                  <a:srgbClr val="FFFF00"/>
                </a:highlight>
              </a:rPr>
              <a:t>한편 권리범위 확인심판에서 확인의 이익 유무는 심판청구의 적법 요건에 관한 것으로서 </a:t>
            </a:r>
            <a:r>
              <a:rPr lang="ko-KR" altLang="en-US" sz="1050" dirty="0" err="1">
                <a:highlight>
                  <a:srgbClr val="FFFF00"/>
                </a:highlight>
              </a:rPr>
              <a:t>직권조사사항이므로</a:t>
            </a:r>
            <a:r>
              <a:rPr lang="en-US" altLang="ko-KR" sz="1050" dirty="0">
                <a:highlight>
                  <a:srgbClr val="FFFF00"/>
                </a:highlight>
              </a:rPr>
              <a:t>, </a:t>
            </a:r>
            <a:r>
              <a:rPr lang="ko-KR" altLang="en-US" sz="1050" dirty="0">
                <a:highlight>
                  <a:srgbClr val="FFFF00"/>
                </a:highlight>
              </a:rPr>
              <a:t>법원은 그 판단의 기초자료인 사실과 증거를 직권으로 탐지할 의무까지는 없다고 하더라도 이미 제출된 자료들에 의하여 그 확인의 이익이 있는지 의심이 갈 만한 사정이 보인다면</a:t>
            </a:r>
            <a:r>
              <a:rPr lang="en-US" altLang="ko-KR" sz="1050" dirty="0">
                <a:highlight>
                  <a:srgbClr val="FFFF00"/>
                </a:highlight>
              </a:rPr>
              <a:t>, </a:t>
            </a:r>
            <a:r>
              <a:rPr lang="ko-KR" altLang="en-US" sz="1050" dirty="0">
                <a:highlight>
                  <a:srgbClr val="FFFF00"/>
                </a:highlight>
              </a:rPr>
              <a:t>상대방이 이를 구체적으로 지적하여 다투지 않더라도 이에 관하여 심리</a:t>
            </a:r>
            <a:r>
              <a:rPr lang="en-US" altLang="ko-KR" sz="1050" dirty="0">
                <a:highlight>
                  <a:srgbClr val="FFFF00"/>
                </a:highlight>
              </a:rPr>
              <a:t>․</a:t>
            </a:r>
            <a:r>
              <a:rPr lang="ko-KR" altLang="en-US" sz="1050" dirty="0">
                <a:highlight>
                  <a:srgbClr val="FFFF00"/>
                </a:highlight>
              </a:rPr>
              <a:t>조사할 의무가 있다</a:t>
            </a:r>
            <a:r>
              <a:rPr lang="en-US" altLang="ko-KR" sz="1050" dirty="0">
                <a:highlight>
                  <a:srgbClr val="FFFF00"/>
                </a:highlight>
              </a:rPr>
              <a:t>.</a:t>
            </a:r>
            <a:endParaRPr lang="ko-KR" altLang="en-US" sz="1050" dirty="0">
              <a:highlight>
                <a:srgbClr val="FFFF00"/>
              </a:highlight>
            </a:endParaRPr>
          </a:p>
        </p:txBody>
      </p:sp>
      <p:sp>
        <p:nvSpPr>
          <p:cNvPr id="27" name="모서리가 둥근 직사각형 10">
            <a:extLst>
              <a:ext uri="{FF2B5EF4-FFF2-40B4-BE49-F238E27FC236}">
                <a16:creationId xmlns:a16="http://schemas.microsoft.com/office/drawing/2014/main" id="{CEC9EB70-6C40-15CA-06D9-F4001CEA6BEC}"/>
              </a:ext>
            </a:extLst>
          </p:cNvPr>
          <p:cNvSpPr/>
          <p:nvPr/>
        </p:nvSpPr>
        <p:spPr bwMode="auto">
          <a:xfrm>
            <a:off x="216493" y="1002199"/>
            <a:ext cx="4363911" cy="260874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대법원 </a:t>
            </a:r>
            <a:r>
              <a:rPr lang="en-US" altLang="ko-KR" sz="1200" dirty="0"/>
              <a:t>2025. 9. 11.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2024</a:t>
            </a:r>
            <a:r>
              <a:rPr lang="ko-KR" altLang="en-US" sz="1200" dirty="0"/>
              <a:t>후</a:t>
            </a:r>
            <a:r>
              <a:rPr lang="en-US" altLang="ko-KR" sz="1200" dirty="0"/>
              <a:t>10436 </a:t>
            </a:r>
            <a:r>
              <a:rPr lang="ko-KR" altLang="en-US" sz="1200" dirty="0"/>
              <a:t>판결 </a:t>
            </a:r>
            <a:r>
              <a:rPr lang="en-US" altLang="ko-KR" sz="1200" dirty="0"/>
              <a:t>【</a:t>
            </a:r>
            <a:r>
              <a:rPr lang="ko-KR" altLang="en-US" sz="1200" dirty="0"/>
              <a:t>권리범위확인</a:t>
            </a:r>
            <a:r>
              <a:rPr lang="en-US" altLang="ko-KR" sz="1200" dirty="0"/>
              <a:t>(</a:t>
            </a:r>
            <a:r>
              <a:rPr lang="ko-KR" altLang="en-US" sz="1200" dirty="0" err="1"/>
              <a:t>특</a:t>
            </a:r>
            <a:r>
              <a:rPr lang="en-US" altLang="ko-KR" sz="1200" dirty="0"/>
              <a:t>)】</a:t>
            </a:r>
          </a:p>
        </p:txBody>
      </p:sp>
      <p:sp>
        <p:nvSpPr>
          <p:cNvPr id="28" name="Line 5">
            <a:extLst>
              <a:ext uri="{FF2B5EF4-FFF2-40B4-BE49-F238E27FC236}">
                <a16:creationId xmlns:a16="http://schemas.microsoft.com/office/drawing/2014/main" id="{EA18EF0B-D515-A6B1-3CB6-C96CA9A8FF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126" y="4356763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000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A897BC-FA44-D07D-DBF3-60E05CD7BB93}"/>
              </a:ext>
            </a:extLst>
          </p:cNvPr>
          <p:cNvSpPr txBox="1"/>
          <p:nvPr/>
        </p:nvSpPr>
        <p:spPr>
          <a:xfrm>
            <a:off x="317935" y="4555788"/>
            <a:ext cx="1231432" cy="40011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적극적 권리범위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확인심판 청구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8D8305F-3A54-90DA-6202-7308D735F1D4}"/>
              </a:ext>
            </a:extLst>
          </p:cNvPr>
          <p:cNvSpPr/>
          <p:nvPr/>
        </p:nvSpPr>
        <p:spPr>
          <a:xfrm>
            <a:off x="856281" y="42628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08BC0006-5403-EC5B-DE0D-6C9581C96AB8}"/>
              </a:ext>
            </a:extLst>
          </p:cNvPr>
          <p:cNvCxnSpPr>
            <a:cxnSpLocks/>
            <a:stCxn id="29" idx="0"/>
            <a:endCxn id="30" idx="4"/>
          </p:cNvCxnSpPr>
          <p:nvPr/>
        </p:nvCxnSpPr>
        <p:spPr>
          <a:xfrm flipH="1" flipV="1">
            <a:off x="933650" y="4424167"/>
            <a:ext cx="1" cy="13162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A248AD4D-B135-410F-D82A-0F24C0E92425}"/>
              </a:ext>
            </a:extLst>
          </p:cNvPr>
          <p:cNvSpPr txBox="1"/>
          <p:nvPr/>
        </p:nvSpPr>
        <p:spPr>
          <a:xfrm>
            <a:off x="73617" y="3675425"/>
            <a:ext cx="5369873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ko-KR" altLang="en-US" sz="1000" dirty="0"/>
              <a:t>확인대상발명을 실시하고 있지 않고</a:t>
            </a:r>
            <a:r>
              <a:rPr lang="en-US" altLang="ko-KR" sz="1000" dirty="0"/>
              <a:t>, </a:t>
            </a:r>
            <a:r>
              <a:rPr lang="ko-KR" altLang="en-US" sz="1000" dirty="0"/>
              <a:t>실시하고 있는 발명은 </a:t>
            </a:r>
            <a:r>
              <a:rPr lang="ko-KR" altLang="en-US" sz="1000" dirty="0" err="1"/>
              <a:t>후등록</a:t>
            </a:r>
            <a:r>
              <a:rPr lang="ko-KR" altLang="en-US" sz="1000" dirty="0"/>
              <a:t> 특허발명과 동일하므로</a:t>
            </a:r>
            <a:r>
              <a:rPr lang="en-US" altLang="ko-KR" sz="1000" dirty="0"/>
              <a:t>, </a:t>
            </a:r>
            <a:r>
              <a:rPr lang="ko-KR" altLang="en-US" sz="1000" dirty="0"/>
              <a:t>이 사건 심판청구는 권리 대 권리 간 적극적 권리범위 확인심판청구에 해당하여 </a:t>
            </a:r>
            <a:r>
              <a:rPr lang="ko-KR" altLang="en-US" sz="1000" dirty="0" err="1"/>
              <a:t>부적법하다는</a:t>
            </a:r>
            <a:r>
              <a:rPr lang="ko-KR" altLang="en-US" sz="1000" dirty="0"/>
              <a:t> 취지로 주장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D6543A82-4519-64D6-D724-9B41EBDEA1F5}"/>
              </a:ext>
            </a:extLst>
          </p:cNvPr>
          <p:cNvSpPr/>
          <p:nvPr/>
        </p:nvSpPr>
        <p:spPr>
          <a:xfrm>
            <a:off x="1774879" y="4262829"/>
            <a:ext cx="154738" cy="161338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E687D8-9C8B-20FC-3427-AF1E4555D8AF}"/>
              </a:ext>
            </a:extLst>
          </p:cNvPr>
          <p:cNvSpPr txBox="1"/>
          <p:nvPr/>
        </p:nvSpPr>
        <p:spPr>
          <a:xfrm>
            <a:off x="2722482" y="4574838"/>
            <a:ext cx="770660" cy="246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chemeClr val="tx1"/>
                </a:solidFill>
                <a:latin typeface="+mn-ea"/>
              </a:rPr>
              <a:t>각하심결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2DF10895-943B-76D0-A531-7FC1B24F1C48}"/>
              </a:ext>
            </a:extLst>
          </p:cNvPr>
          <p:cNvSpPr/>
          <p:nvPr/>
        </p:nvSpPr>
        <p:spPr>
          <a:xfrm>
            <a:off x="3030442" y="42628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5A8A2E77-7C2F-4C2C-9928-A633B1E56470}"/>
              </a:ext>
            </a:extLst>
          </p:cNvPr>
          <p:cNvCxnSpPr>
            <a:cxnSpLocks/>
            <a:stCxn id="57" idx="0"/>
            <a:endCxn id="58" idx="4"/>
          </p:cNvCxnSpPr>
          <p:nvPr/>
        </p:nvCxnSpPr>
        <p:spPr>
          <a:xfrm flipH="1" flipV="1">
            <a:off x="3107811" y="4424167"/>
            <a:ext cx="1" cy="1506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5A8E51F0-D9DD-7145-308D-59A817FB7D89}"/>
              </a:ext>
            </a:extLst>
          </p:cNvPr>
          <p:cNvSpPr txBox="1"/>
          <p:nvPr/>
        </p:nvSpPr>
        <p:spPr>
          <a:xfrm>
            <a:off x="5443491" y="4574838"/>
            <a:ext cx="923622" cy="246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인용판결</a:t>
            </a: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14802B69-B1B5-0019-E6E7-96BA7448445B}"/>
              </a:ext>
            </a:extLst>
          </p:cNvPr>
          <p:cNvSpPr/>
          <p:nvPr/>
        </p:nvSpPr>
        <p:spPr>
          <a:xfrm>
            <a:off x="5827932" y="42628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4C0BB2A4-785D-2477-F3B7-D90BACA17665}"/>
              </a:ext>
            </a:extLst>
          </p:cNvPr>
          <p:cNvCxnSpPr>
            <a:cxnSpLocks/>
            <a:stCxn id="79" idx="0"/>
            <a:endCxn id="81" idx="4"/>
          </p:cNvCxnSpPr>
          <p:nvPr/>
        </p:nvCxnSpPr>
        <p:spPr>
          <a:xfrm flipH="1" flipV="1">
            <a:off x="5905301" y="4424167"/>
            <a:ext cx="1" cy="1506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65CBC2D7-896A-286D-7919-578C7E586DAD}"/>
              </a:ext>
            </a:extLst>
          </p:cNvPr>
          <p:cNvSpPr txBox="1"/>
          <p:nvPr/>
        </p:nvSpPr>
        <p:spPr>
          <a:xfrm>
            <a:off x="6570291" y="3830087"/>
            <a:ext cx="923622" cy="24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E6337D77-CE52-7F19-FFA0-AAD043F8BA51}"/>
              </a:ext>
            </a:extLst>
          </p:cNvPr>
          <p:cNvSpPr/>
          <p:nvPr/>
        </p:nvSpPr>
        <p:spPr>
          <a:xfrm>
            <a:off x="6949999" y="4262829"/>
            <a:ext cx="154738" cy="1613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960D2A7C-4005-369E-255F-2DA1A1D1BF7D}"/>
              </a:ext>
            </a:extLst>
          </p:cNvPr>
          <p:cNvCxnSpPr>
            <a:cxnSpLocks/>
            <a:stCxn id="100" idx="2"/>
            <a:endCxn id="101" idx="0"/>
          </p:cNvCxnSpPr>
          <p:nvPr/>
        </p:nvCxnSpPr>
        <p:spPr>
          <a:xfrm flipH="1">
            <a:off x="7027368" y="4076308"/>
            <a:ext cx="4734" cy="18652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1ED6785-F682-7197-D255-6B711759D3AB}"/>
              </a:ext>
            </a:extLst>
          </p:cNvPr>
          <p:cNvSpPr txBox="1"/>
          <p:nvPr/>
        </p:nvSpPr>
        <p:spPr>
          <a:xfrm>
            <a:off x="102193" y="5042332"/>
            <a:ext cx="1480482" cy="70788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확인대상발명을 실시하고 있고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확인대상발명은 특허발명과 이용관계에 있으므로 심판청구는 적법</a:t>
            </a: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955DCB43-91DF-377E-D6A0-37527D4C48FE}"/>
              </a:ext>
            </a:extLst>
          </p:cNvPr>
          <p:cNvCxnSpPr>
            <a:stCxn id="15" idx="0"/>
            <a:endCxn id="29" idx="2"/>
          </p:cNvCxnSpPr>
          <p:nvPr/>
        </p:nvCxnSpPr>
        <p:spPr>
          <a:xfrm rot="5400000" flipH="1" flipV="1">
            <a:off x="844825" y="4953507"/>
            <a:ext cx="86434" cy="9121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FC21DA7-D98D-DBF0-F556-A1840138D63C}"/>
              </a:ext>
            </a:extLst>
          </p:cNvPr>
          <p:cNvSpPr txBox="1"/>
          <p:nvPr/>
        </p:nvSpPr>
        <p:spPr>
          <a:xfrm>
            <a:off x="1617397" y="5042332"/>
            <a:ext cx="2708407" cy="8617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altLang="ko-KR" sz="1000" dirty="0"/>
              <a:t>1. </a:t>
            </a:r>
            <a:r>
              <a:rPr lang="ko-KR" altLang="en-US" sz="1000" dirty="0"/>
              <a:t>확인대상발명이 실시하고 있는 발명과 다르다</a:t>
            </a:r>
            <a:r>
              <a:rPr lang="en-US" altLang="ko-KR" sz="1000" dirty="0"/>
              <a:t>.</a:t>
            </a:r>
          </a:p>
          <a:p>
            <a:pPr algn="just"/>
            <a:r>
              <a:rPr lang="en-US" altLang="ko-KR" sz="1000" dirty="0"/>
              <a:t>2. </a:t>
            </a:r>
            <a:r>
              <a:rPr lang="ko-KR" altLang="en-US" sz="1000" dirty="0"/>
              <a:t>특허발명과 서로 대비할 수 있을 만큼 구체적으로 특정되지 않았다</a:t>
            </a:r>
            <a:r>
              <a:rPr lang="en-US" altLang="ko-KR" sz="1000" dirty="0"/>
              <a:t>.</a:t>
            </a:r>
          </a:p>
          <a:p>
            <a:pPr algn="just"/>
            <a:r>
              <a:rPr lang="en-US" altLang="ko-KR" sz="1000" dirty="0">
                <a:highlight>
                  <a:srgbClr val="FFFF00"/>
                </a:highlight>
              </a:rPr>
              <a:t>3. </a:t>
            </a:r>
            <a:r>
              <a:rPr lang="ko-KR" altLang="en-US" sz="1000" dirty="0">
                <a:highlight>
                  <a:srgbClr val="FFFF00"/>
                </a:highlight>
              </a:rPr>
              <a:t>권리 대 권리 간 적극적 권리범위 확인심판청구로서 </a:t>
            </a:r>
            <a:r>
              <a:rPr lang="ko-KR" altLang="en-US" sz="1000" dirty="0" err="1">
                <a:highlight>
                  <a:srgbClr val="FFFF00"/>
                </a:highlight>
              </a:rPr>
              <a:t>부적법한지</a:t>
            </a:r>
            <a:r>
              <a:rPr lang="ko-KR" altLang="en-US" sz="1000" dirty="0">
                <a:highlight>
                  <a:srgbClr val="FFFF00"/>
                </a:highlight>
              </a:rPr>
              <a:t> 여부에 관하여는 판단하지 않음</a:t>
            </a:r>
            <a:endParaRPr lang="ko-KR" altLang="en-US" sz="1000" dirty="0">
              <a:solidFill>
                <a:schemeClr val="tx1"/>
              </a:solidFill>
              <a:highlight>
                <a:srgbClr val="FFFF00"/>
              </a:highlight>
              <a:latin typeface="+mn-ea"/>
            </a:endParaRPr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96AD7519-30E1-BE69-9B1A-46B5C5C65E29}"/>
              </a:ext>
            </a:extLst>
          </p:cNvPr>
          <p:cNvCxnSpPr>
            <a:cxnSpLocks/>
            <a:stCxn id="20" idx="0"/>
            <a:endCxn id="57" idx="2"/>
          </p:cNvCxnSpPr>
          <p:nvPr/>
        </p:nvCxnSpPr>
        <p:spPr>
          <a:xfrm rot="5400000" flipH="1" flipV="1">
            <a:off x="2929070" y="4863591"/>
            <a:ext cx="221273" cy="13621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F12A0AA-A229-42E3-4E15-88515A2815A5}"/>
              </a:ext>
            </a:extLst>
          </p:cNvPr>
          <p:cNvSpPr txBox="1"/>
          <p:nvPr/>
        </p:nvSpPr>
        <p:spPr>
          <a:xfrm>
            <a:off x="3863106" y="4574838"/>
            <a:ext cx="770660" cy="246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소 제기</a:t>
            </a: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DC244BDB-863C-71DF-2E59-C43AB1B474A8}"/>
              </a:ext>
            </a:extLst>
          </p:cNvPr>
          <p:cNvSpPr/>
          <p:nvPr/>
        </p:nvSpPr>
        <p:spPr>
          <a:xfrm>
            <a:off x="4171066" y="42628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3BDD8204-78A9-DFFB-13C3-356D34E14F6E}"/>
              </a:ext>
            </a:extLst>
          </p:cNvPr>
          <p:cNvCxnSpPr>
            <a:cxnSpLocks/>
            <a:stCxn id="24" idx="0"/>
            <a:endCxn id="32" idx="4"/>
          </p:cNvCxnSpPr>
          <p:nvPr/>
        </p:nvCxnSpPr>
        <p:spPr>
          <a:xfrm flipH="1" flipV="1">
            <a:off x="4248435" y="4424167"/>
            <a:ext cx="1" cy="1506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D260E1D-EB6E-FDCA-E70D-A6C7F48365EE}"/>
              </a:ext>
            </a:extLst>
          </p:cNvPr>
          <p:cNvSpPr txBox="1"/>
          <p:nvPr/>
        </p:nvSpPr>
        <p:spPr>
          <a:xfrm>
            <a:off x="4399376" y="5042332"/>
            <a:ext cx="2583127" cy="116955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altLang="ko-KR" sz="1000" dirty="0"/>
              <a:t>1. </a:t>
            </a:r>
            <a:r>
              <a:rPr lang="ko-KR" altLang="en-US" sz="1000" dirty="0"/>
              <a:t>확인대상발명이 피고가 실시하고 있는 발명과 동일하다</a:t>
            </a:r>
            <a:r>
              <a:rPr lang="en-US" altLang="ko-KR" sz="1000" dirty="0"/>
              <a:t>.</a:t>
            </a:r>
          </a:p>
          <a:p>
            <a:pPr algn="just"/>
            <a:r>
              <a:rPr lang="en-US" altLang="ko-KR" sz="1000" dirty="0"/>
              <a:t>2.</a:t>
            </a:r>
            <a:r>
              <a:rPr lang="ko-KR" altLang="en-US" sz="1000" dirty="0"/>
              <a:t> 특허발명과 서로 대비할 수 있을 만큼 구체적으로 특정되었다</a:t>
            </a:r>
            <a:r>
              <a:rPr lang="en-US" altLang="ko-KR" sz="1000" dirty="0"/>
              <a:t>.</a:t>
            </a:r>
          </a:p>
          <a:p>
            <a:pPr algn="just"/>
            <a:r>
              <a:rPr lang="en-US" altLang="ko-KR" sz="10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3. 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권리 대 권리 간의 적극적 권리범위 확인심판청구로서 </a:t>
            </a:r>
            <a:r>
              <a:rPr lang="ko-KR" altLang="en-US" sz="1000" dirty="0" err="1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부적법한지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00FFFF"/>
                </a:highlight>
                <a:latin typeface="+mn-ea"/>
              </a:rPr>
              <a:t> 여부에 관해서는 판단하지 않음</a:t>
            </a:r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0D19ABB5-0186-D7BB-7E33-85549325EC3E}"/>
              </a:ext>
            </a:extLst>
          </p:cNvPr>
          <p:cNvCxnSpPr>
            <a:cxnSpLocks/>
            <a:stCxn id="34" idx="0"/>
            <a:endCxn id="79" idx="2"/>
          </p:cNvCxnSpPr>
          <p:nvPr/>
        </p:nvCxnSpPr>
        <p:spPr>
          <a:xfrm rot="5400000" flipH="1" flipV="1">
            <a:off x="5687485" y="4824515"/>
            <a:ext cx="221273" cy="2143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2D7C77B-E490-C39C-D1F7-96860980BA86}"/>
              </a:ext>
            </a:extLst>
          </p:cNvPr>
          <p:cNvSpPr txBox="1"/>
          <p:nvPr/>
        </p:nvSpPr>
        <p:spPr>
          <a:xfrm>
            <a:off x="8758854" y="3668162"/>
            <a:ext cx="923622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인용판결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파기환송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59CF4028-13AF-5C9A-8AF0-B326674EB63F}"/>
              </a:ext>
            </a:extLst>
          </p:cNvPr>
          <p:cNvSpPr/>
          <p:nvPr/>
        </p:nvSpPr>
        <p:spPr>
          <a:xfrm>
            <a:off x="9143295" y="4262829"/>
            <a:ext cx="154738" cy="16133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5E4B3E5E-04A3-F773-0CA1-19640F8A89FD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 flipH="1">
            <a:off x="9220664" y="4068272"/>
            <a:ext cx="1" cy="19455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F072B71A-AC6C-2FCC-DA16-A1921F1A8DD6}"/>
              </a:ext>
            </a:extLst>
          </p:cNvPr>
          <p:cNvSpPr txBox="1"/>
          <p:nvPr/>
        </p:nvSpPr>
        <p:spPr>
          <a:xfrm>
            <a:off x="7028275" y="4537507"/>
            <a:ext cx="5061525" cy="224676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altLang="ko-KR" sz="1000" dirty="0"/>
              <a:t>1. </a:t>
            </a:r>
            <a:r>
              <a:rPr lang="ko-KR" altLang="en-US" sz="1000" dirty="0"/>
              <a:t>확인대상발명이 피고가 실시하고 있는 발명과 동일하다</a:t>
            </a:r>
            <a:r>
              <a:rPr lang="en-US" altLang="ko-KR" sz="1000" dirty="0"/>
              <a:t>.</a:t>
            </a:r>
          </a:p>
          <a:p>
            <a:pPr algn="just"/>
            <a:r>
              <a:rPr lang="en-US" altLang="ko-KR" sz="1000" dirty="0"/>
              <a:t>2.</a:t>
            </a:r>
            <a:r>
              <a:rPr lang="ko-KR" altLang="en-US" sz="1000" dirty="0"/>
              <a:t> 특허발명과 서로 대비할 수 있을 만큼 구체적으로 특정되었다</a:t>
            </a:r>
            <a:r>
              <a:rPr lang="en-US" altLang="ko-KR" sz="1000" dirty="0"/>
              <a:t>.</a:t>
            </a:r>
          </a:p>
          <a:p>
            <a:pPr algn="just"/>
            <a:r>
              <a:rPr lang="en-US" altLang="ko-KR" sz="1000" dirty="0"/>
              <a:t>3. </a:t>
            </a:r>
            <a:r>
              <a:rPr lang="ko-KR" altLang="en-US" sz="1000" dirty="0"/>
              <a:t>심판청구가 권리 대 권리 간 적극적 권리범위 확인심판청구에 해당할 경우</a:t>
            </a:r>
            <a:r>
              <a:rPr lang="en-US" altLang="ko-KR" sz="1000" dirty="0"/>
              <a:t>, </a:t>
            </a:r>
            <a:r>
              <a:rPr lang="ko-KR" altLang="en-US" sz="1000" dirty="0"/>
              <a:t>이 사건 확인대상 발명이 </a:t>
            </a:r>
            <a:r>
              <a:rPr lang="ko-KR" altLang="en-US" sz="1000" dirty="0" err="1"/>
              <a:t>선등록</a:t>
            </a:r>
            <a:r>
              <a:rPr lang="ko-KR" altLang="en-US" sz="1000" dirty="0"/>
              <a:t> 특허발명과 이용관계에 있지 않다면 이 사건 심판청구는 그 확인의 이익이 인정될 수 없어 </a:t>
            </a:r>
            <a:r>
              <a:rPr lang="ko-KR" altLang="en-US" sz="1000" dirty="0" err="1"/>
              <a:t>부적법하다고</a:t>
            </a:r>
            <a:r>
              <a:rPr lang="ko-KR" altLang="en-US" sz="1000" dirty="0"/>
              <a:t> 볼 소지가 있다</a:t>
            </a:r>
            <a:r>
              <a:rPr lang="en-US" altLang="ko-KR" sz="1000" dirty="0"/>
              <a:t>. </a:t>
            </a:r>
            <a:r>
              <a:rPr lang="ko-KR" altLang="en-US" sz="1000" dirty="0">
                <a:highlight>
                  <a:srgbClr val="FFFF00"/>
                </a:highlight>
              </a:rPr>
              <a:t>원심으로서는 석명권을 적절히 행사하여 </a:t>
            </a:r>
            <a:r>
              <a:rPr lang="ko-KR" altLang="en-US" sz="1000" dirty="0" err="1">
                <a:highlight>
                  <a:srgbClr val="FFFF00"/>
                </a:highlight>
              </a:rPr>
              <a:t>선등록</a:t>
            </a:r>
            <a:r>
              <a:rPr lang="ko-KR" altLang="en-US" sz="1000" dirty="0">
                <a:highlight>
                  <a:srgbClr val="FFFF00"/>
                </a:highlight>
              </a:rPr>
              <a:t> 특허권자인 원고가 피고의 </a:t>
            </a:r>
            <a:r>
              <a:rPr lang="ko-KR" altLang="en-US" sz="1000" dirty="0" err="1">
                <a:highlight>
                  <a:srgbClr val="FFFF00"/>
                </a:highlight>
              </a:rPr>
              <a:t>후등록특허발명의</a:t>
            </a:r>
            <a:r>
              <a:rPr lang="ko-KR" altLang="en-US" sz="1000" dirty="0">
                <a:highlight>
                  <a:srgbClr val="FFFF00"/>
                </a:highlight>
              </a:rPr>
              <a:t> 구체적인 실시 형태를 심판의 대상인 이 사건 확인대상 발명으로 삼았는지</a:t>
            </a:r>
            <a:r>
              <a:rPr lang="en-US" altLang="ko-KR" sz="1000" dirty="0">
                <a:highlight>
                  <a:srgbClr val="FFFF00"/>
                </a:highlight>
              </a:rPr>
              <a:t>, </a:t>
            </a:r>
            <a:r>
              <a:rPr lang="ko-KR" altLang="en-US" sz="1000" dirty="0">
                <a:highlight>
                  <a:srgbClr val="FFFF00"/>
                </a:highlight>
              </a:rPr>
              <a:t>이 사건 확인대상 발명이 이 사건 특허발명과 이용관계에 있는지 여부 등에 관하여 당사자들의 주장 </a:t>
            </a:r>
            <a:r>
              <a:rPr lang="en-US" altLang="ko-KR" sz="1000" dirty="0">
                <a:highlight>
                  <a:srgbClr val="FFFF00"/>
                </a:highlight>
              </a:rPr>
              <a:t>· </a:t>
            </a:r>
            <a:r>
              <a:rPr lang="ko-KR" altLang="en-US" sz="1000" dirty="0">
                <a:highlight>
                  <a:srgbClr val="FFFF00"/>
                </a:highlight>
              </a:rPr>
              <a:t>증명을 촉구한 다음</a:t>
            </a:r>
            <a:r>
              <a:rPr lang="en-US" altLang="ko-KR" sz="1000" dirty="0">
                <a:highlight>
                  <a:srgbClr val="FFFF00"/>
                </a:highlight>
              </a:rPr>
              <a:t>, </a:t>
            </a:r>
            <a:r>
              <a:rPr lang="ko-KR" altLang="en-US" sz="1000" dirty="0">
                <a:highlight>
                  <a:srgbClr val="FFFF00"/>
                </a:highlight>
              </a:rPr>
              <a:t>그러한 당사자들의 주장 </a:t>
            </a:r>
            <a:r>
              <a:rPr lang="en-US" altLang="ko-KR" sz="1000" dirty="0">
                <a:highlight>
                  <a:srgbClr val="FFFF00"/>
                </a:highlight>
              </a:rPr>
              <a:t>· </a:t>
            </a:r>
            <a:r>
              <a:rPr lang="ko-KR" altLang="en-US" sz="1000" dirty="0">
                <a:highlight>
                  <a:srgbClr val="FFFF00"/>
                </a:highlight>
              </a:rPr>
              <a:t>증명을 바탕으로 이 사건 심판청구가 확인의 이익이 있는지 여부를 </a:t>
            </a:r>
            <a:r>
              <a:rPr lang="ko-KR" altLang="en-US" sz="1000" dirty="0" err="1">
                <a:highlight>
                  <a:srgbClr val="FFFF00"/>
                </a:highlight>
              </a:rPr>
              <a:t>판단하였어야</a:t>
            </a:r>
            <a:r>
              <a:rPr lang="ko-KR" altLang="en-US" sz="1000" dirty="0">
                <a:highlight>
                  <a:srgbClr val="FFFF00"/>
                </a:highlight>
              </a:rPr>
              <a:t> 했다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r>
              <a:rPr lang="ko-KR" altLang="en-US" sz="1000" dirty="0">
                <a:highlight>
                  <a:srgbClr val="FFFF00"/>
                </a:highlight>
              </a:rPr>
              <a:t>그런데도 원심은 이 사건 확인대상 발명이 피고가 실시하고 있는 발명과 동일하고 이 사건 특허발명과 서로 대비할 수 있을 만큼 구체적으로 특정되었다고 판단한 다음</a:t>
            </a:r>
            <a:r>
              <a:rPr lang="en-US" altLang="ko-KR" sz="1000" dirty="0">
                <a:highlight>
                  <a:srgbClr val="FFFF00"/>
                </a:highlight>
              </a:rPr>
              <a:t>, </a:t>
            </a:r>
            <a:r>
              <a:rPr lang="ko-KR" altLang="en-US" sz="1000" dirty="0" err="1">
                <a:highlight>
                  <a:srgbClr val="FFFF00"/>
                </a:highlight>
              </a:rPr>
              <a:t>권리대</a:t>
            </a:r>
            <a:r>
              <a:rPr lang="ko-KR" altLang="en-US" sz="1000" dirty="0">
                <a:highlight>
                  <a:srgbClr val="FFFF00"/>
                </a:highlight>
              </a:rPr>
              <a:t> 권리 간 적극적 권리범위 확인심판에서의 확인의 이익 유무에 관해서 별다른 심리 없이</a:t>
            </a:r>
            <a:r>
              <a:rPr lang="en-US" altLang="ko-KR" sz="1000" dirty="0">
                <a:highlight>
                  <a:srgbClr val="FFFF00"/>
                </a:highlight>
              </a:rPr>
              <a:t>, </a:t>
            </a:r>
            <a:r>
              <a:rPr lang="ko-KR" altLang="en-US" sz="1000" dirty="0">
                <a:highlight>
                  <a:srgbClr val="FFFF00"/>
                </a:highlight>
              </a:rPr>
              <a:t>이 사건 심판청구를 </a:t>
            </a:r>
            <a:r>
              <a:rPr lang="ko-KR" altLang="en-US" sz="1000" dirty="0" err="1">
                <a:highlight>
                  <a:srgbClr val="FFFF00"/>
                </a:highlight>
              </a:rPr>
              <a:t>부적법하다고</a:t>
            </a:r>
            <a:r>
              <a:rPr lang="ko-KR" altLang="en-US" sz="1000" dirty="0">
                <a:highlight>
                  <a:srgbClr val="FFFF00"/>
                </a:highlight>
              </a:rPr>
              <a:t> 본 위 </a:t>
            </a:r>
            <a:r>
              <a:rPr lang="ko-KR" altLang="en-US" sz="1000" dirty="0" err="1">
                <a:highlight>
                  <a:srgbClr val="FFFF00"/>
                </a:highlight>
              </a:rPr>
              <a:t>심결을</a:t>
            </a:r>
            <a:r>
              <a:rPr lang="ko-KR" altLang="en-US" sz="1000" dirty="0">
                <a:highlight>
                  <a:srgbClr val="FFFF00"/>
                </a:highlight>
              </a:rPr>
              <a:t> 취소하였다</a:t>
            </a:r>
            <a:r>
              <a:rPr lang="en-US" altLang="ko-KR" sz="1000" dirty="0">
                <a:highlight>
                  <a:srgbClr val="FFFF00"/>
                </a:highlight>
              </a:rPr>
              <a:t>. </a:t>
            </a:r>
            <a:r>
              <a:rPr lang="ko-KR" altLang="en-US" sz="1000" dirty="0">
                <a:highlight>
                  <a:srgbClr val="FFFF00"/>
                </a:highlight>
              </a:rPr>
              <a:t>이러한 원심의 판단에는 적극적 권리범위 확인심판에서의 확인의 이익에 관한 법리를 오해한 채 필요한 심리를 다하지 아니하고 석명권을 행사하지 않음으로써 판결에 영향을 미친 잘못이 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5F78059E-CC80-D554-2DBF-66B154839B15}"/>
              </a:ext>
            </a:extLst>
          </p:cNvPr>
          <p:cNvCxnSpPr>
            <a:stCxn id="41" idx="4"/>
            <a:endCxn id="44" idx="0"/>
          </p:cNvCxnSpPr>
          <p:nvPr/>
        </p:nvCxnSpPr>
        <p:spPr>
          <a:xfrm rot="16200000" flipH="1">
            <a:off x="9333181" y="4311650"/>
            <a:ext cx="113340" cy="33837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연결선: 꺾임 61">
            <a:extLst>
              <a:ext uri="{FF2B5EF4-FFF2-40B4-BE49-F238E27FC236}">
                <a16:creationId xmlns:a16="http://schemas.microsoft.com/office/drawing/2014/main" id="{F427B1AD-AC73-2F5C-79B0-82AD71EC6DDD}"/>
              </a:ext>
            </a:extLst>
          </p:cNvPr>
          <p:cNvCxnSpPr>
            <a:stCxn id="96" idx="2"/>
            <a:endCxn id="97" idx="0"/>
          </p:cNvCxnSpPr>
          <p:nvPr/>
        </p:nvCxnSpPr>
        <p:spPr>
          <a:xfrm rot="5400000">
            <a:off x="2211754" y="3716029"/>
            <a:ext cx="187294" cy="90630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39452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권리범위확인심판에서의 진보성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CASE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C8A4446-9A84-44CF-BF8E-778825646662}"/>
              </a:ext>
            </a:extLst>
          </p:cNvPr>
          <p:cNvSpPr/>
          <p:nvPr/>
        </p:nvSpPr>
        <p:spPr>
          <a:xfrm>
            <a:off x="232372" y="1353610"/>
            <a:ext cx="11681987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sz="1400" dirty="0">
                <a:highlight>
                  <a:srgbClr val="FFFF00"/>
                </a:highlight>
              </a:rPr>
              <a:t>1) </a:t>
            </a:r>
            <a:r>
              <a:rPr lang="ko-KR" altLang="en-US" sz="1400" dirty="0">
                <a:highlight>
                  <a:srgbClr val="FFFF00"/>
                </a:highlight>
              </a:rPr>
              <a:t>특허법은 특허가 일정한 사유에 해당하는 경우에 별도로 마련한 특허의 무효심판절차를 거쳐 무효로 할 수 있도록 규정하고 있으므로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특허는 일단 등록이 되면 비록 진보성이 없어 당해 특허를 무효로 할 수 있는 사유가 있더라도 특허무효심판에 의하여 무효로 한다는 </a:t>
            </a:r>
            <a:r>
              <a:rPr lang="ko-KR" altLang="en-US" sz="1400" dirty="0" err="1">
                <a:highlight>
                  <a:srgbClr val="FFFF00"/>
                </a:highlight>
              </a:rPr>
              <a:t>심결이</a:t>
            </a:r>
            <a:r>
              <a:rPr lang="ko-KR" altLang="en-US" sz="1400" dirty="0">
                <a:highlight>
                  <a:srgbClr val="FFFF00"/>
                </a:highlight>
              </a:rPr>
              <a:t> 확정되지 않는 한 다른 절차에서 그 특허가 무효임을 전제로 판단할 수는 없다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en-US" altLang="ko-KR" sz="1400" dirty="0">
                <a:highlight>
                  <a:srgbClr val="CCECFF"/>
                </a:highlight>
              </a:rPr>
              <a:t>2) </a:t>
            </a:r>
            <a:r>
              <a:rPr lang="ko-KR" altLang="en-US" sz="1400" dirty="0">
                <a:highlight>
                  <a:srgbClr val="CCECFF"/>
                </a:highlight>
              </a:rPr>
              <a:t>나아가 특허법이 규정하고 있는 권리범위확인심판은 심판청구인이 그 청구에서 심판의 대상으로 삼은 확인대상발명이 특허권의 효력이 미치는 객관적인 범위에 속하는지 여부를 확인하는 목적을 가진 절차이므로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>
                <a:highlight>
                  <a:srgbClr val="CCECFF"/>
                </a:highlight>
              </a:rPr>
              <a:t>그 절차에서 특허발명의 진보성 여부까지 판단하는 것은 특허법이 권리범위확인심판 제도를 두고 있는 목적을 벗어나고 그 제도의 본질에 맞지 않다</a:t>
            </a:r>
            <a:r>
              <a:rPr lang="en-US" altLang="ko-KR" sz="1400" dirty="0">
                <a:highlight>
                  <a:srgbClr val="CCECFF"/>
                </a:highlight>
              </a:rPr>
              <a:t>. </a:t>
            </a:r>
            <a:r>
              <a:rPr lang="en-US" altLang="ko-KR" sz="1400" dirty="0">
                <a:highlight>
                  <a:srgbClr val="FFFF00"/>
                </a:highlight>
              </a:rPr>
              <a:t>3) </a:t>
            </a:r>
            <a:r>
              <a:rPr lang="ko-KR" altLang="en-US" sz="1400" dirty="0">
                <a:highlight>
                  <a:srgbClr val="FFFF00"/>
                </a:highlight>
              </a:rPr>
              <a:t>특허법이 심판이라는 동일한 절차 안에 권리범위확인심판과는 별도로 특허무효심판을 규정하여 특허발명의 진보성 여부가 문제되는 경우 특허무효심판에서 이에 관하여 심리하여 진보성이 부정되면 그 특허를 무효로 하도록 하고 있음에도 진보성 여부를 권리범위확인심판에서까지 판단할 수 있게 하는 것은 본래 특허무효심판의 기능에 속하는 것을 권리범위확인심판에 부여함으로써 특허무효심판의 기능을 상당 부분 약화시킬 우려가 있다는 점에서도 바람직하지 않다</a:t>
            </a:r>
            <a:r>
              <a:rPr lang="en-US" altLang="ko-KR" sz="1400" dirty="0">
                <a:highlight>
                  <a:srgbClr val="FFFF00"/>
                </a:highlight>
              </a:rPr>
              <a:t>. </a:t>
            </a:r>
            <a:r>
              <a:rPr lang="ko-KR" altLang="en-US" sz="1400" dirty="0"/>
              <a:t>따라서 권리범위확인심판에서는 특허발명의 진보성이 부정된다는 이유로 그 권리범위를 부정하여서는 안된다</a:t>
            </a:r>
            <a:r>
              <a:rPr lang="en-US" altLang="ko-KR" sz="1400" dirty="0"/>
              <a:t>. </a:t>
            </a:r>
            <a:r>
              <a:rPr lang="ko-KR" altLang="en-US" sz="1400" dirty="0"/>
              <a:t>다만 대법원은 특허의 일부 또는 전부가 출원 당시 공지공용의 것인 경우까지 청구범위에 기재되어 있다는 이유만으로 권리범위를 인정하여 </a:t>
            </a:r>
            <a:r>
              <a:rPr lang="ko-KR" altLang="en-US" sz="1400" dirty="0" err="1"/>
              <a:t>독점적ㆍ배타적인</a:t>
            </a:r>
            <a:r>
              <a:rPr lang="ko-KR" altLang="en-US" sz="1400" dirty="0"/>
              <a:t> 실시권을 부여할 수는 없으므로 권리범위확인심판에서도 특허무효의 </a:t>
            </a:r>
            <a:r>
              <a:rPr lang="ko-KR" altLang="en-US" sz="1400" dirty="0" err="1"/>
              <a:t>심결</a:t>
            </a:r>
            <a:r>
              <a:rPr lang="ko-KR" altLang="en-US" sz="1400" dirty="0"/>
              <a:t> 유무에 관계없이 그 권리범위를 부정할 수 있다고 보고 있으나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1983. 7. 26. </a:t>
            </a:r>
            <a:r>
              <a:rPr lang="ko-KR" altLang="en-US" sz="1400" dirty="0"/>
              <a:t>선고 </a:t>
            </a:r>
            <a:r>
              <a:rPr lang="en-US" altLang="ko-KR" sz="1400" dirty="0"/>
              <a:t>81</a:t>
            </a:r>
            <a:r>
              <a:rPr lang="ko-KR" altLang="en-US" sz="1400" dirty="0"/>
              <a:t>후</a:t>
            </a:r>
            <a:r>
              <a:rPr lang="en-US" altLang="ko-KR" sz="1400" dirty="0"/>
              <a:t>56 </a:t>
            </a:r>
            <a:r>
              <a:rPr lang="ko-KR" altLang="en-US" sz="1400" dirty="0"/>
              <a:t>전원합의체 판결 등 참조</a:t>
            </a:r>
            <a:r>
              <a:rPr lang="en-US" altLang="ko-KR" sz="1400" dirty="0"/>
              <a:t>), </a:t>
            </a:r>
            <a:r>
              <a:rPr lang="ko-KR" altLang="en-US" sz="1400" dirty="0"/>
              <a:t>이러한 법리를 공지공용의 것이 아니라 그 기술분야에서 통상의 지식을 가진 자가 선행기술에 의하여 용이하게 발명할 수 있는 것뿐이어서 진보성이 부정되는 경우까지 확장할 수는 없다</a:t>
            </a:r>
            <a:r>
              <a:rPr lang="en-US" altLang="ko-KR" sz="1400" dirty="0"/>
              <a:t>. </a:t>
            </a:r>
            <a:r>
              <a:rPr lang="ko-KR" altLang="en-US" sz="1400" dirty="0"/>
              <a:t>위와 같은 법리는 실용신안의 경우에도 마찬가지로 적용된다</a:t>
            </a:r>
            <a:r>
              <a:rPr lang="en-US" altLang="ko-KR" sz="1400" dirty="0"/>
              <a:t>. </a:t>
            </a:r>
            <a:r>
              <a:rPr lang="ko-KR" altLang="en-US" sz="1400" dirty="0"/>
              <a:t>이와 달리 특허발명 또는 </a:t>
            </a:r>
            <a:r>
              <a:rPr lang="ko-KR" altLang="en-US" sz="1400" dirty="0" err="1"/>
              <a:t>등록실용신안이</a:t>
            </a:r>
            <a:r>
              <a:rPr lang="ko-KR" altLang="en-US" sz="1400" dirty="0"/>
              <a:t> 신규성은 있으나 진보성이 없는 경우 이에 관한 권리범위확인심판에서 당연히 그 권리범위를 부정할 수 있다는 취지로 판시한 대법원 </a:t>
            </a:r>
            <a:r>
              <a:rPr lang="en-US" altLang="ko-KR" sz="1400" dirty="0"/>
              <a:t>1991. 3. 12. </a:t>
            </a:r>
            <a:r>
              <a:rPr lang="ko-KR" altLang="en-US" sz="1400" dirty="0"/>
              <a:t>선고 </a:t>
            </a:r>
            <a:r>
              <a:rPr lang="en-US" altLang="ko-KR" sz="1400" dirty="0"/>
              <a:t>90</a:t>
            </a:r>
            <a:r>
              <a:rPr lang="ko-KR" altLang="en-US" sz="1400" dirty="0"/>
              <a:t>후</a:t>
            </a:r>
            <a:r>
              <a:rPr lang="en-US" altLang="ko-KR" sz="1400" dirty="0"/>
              <a:t>823 </a:t>
            </a:r>
            <a:r>
              <a:rPr lang="ko-KR" altLang="en-US" sz="1400" dirty="0"/>
              <a:t>판결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1991. 12. 27. </a:t>
            </a:r>
            <a:r>
              <a:rPr lang="ko-KR" altLang="en-US" sz="1400" dirty="0"/>
              <a:t>선고 </a:t>
            </a:r>
            <a:r>
              <a:rPr lang="en-US" altLang="ko-KR" sz="1400" dirty="0"/>
              <a:t>90</a:t>
            </a:r>
            <a:r>
              <a:rPr lang="ko-KR" altLang="en-US" sz="1400" dirty="0"/>
              <a:t>후</a:t>
            </a:r>
            <a:r>
              <a:rPr lang="en-US" altLang="ko-KR" sz="1400" dirty="0"/>
              <a:t>1468, 1475(</a:t>
            </a:r>
            <a:r>
              <a:rPr lang="ko-KR" altLang="en-US" sz="1400" dirty="0"/>
              <a:t>병합</a:t>
            </a:r>
            <a:r>
              <a:rPr lang="en-US" altLang="ko-KR" sz="1400" dirty="0"/>
              <a:t>) </a:t>
            </a:r>
            <a:r>
              <a:rPr lang="ko-KR" altLang="en-US" sz="1400" dirty="0"/>
              <a:t>판결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1997. 7. 22. </a:t>
            </a:r>
            <a:r>
              <a:rPr lang="ko-KR" altLang="en-US" sz="1400" dirty="0"/>
              <a:t>선고 </a:t>
            </a:r>
            <a:r>
              <a:rPr lang="en-US" altLang="ko-KR" sz="1400" dirty="0"/>
              <a:t>96</a:t>
            </a:r>
            <a:r>
              <a:rPr lang="ko-KR" altLang="en-US" sz="1400" dirty="0"/>
              <a:t>후</a:t>
            </a:r>
            <a:r>
              <a:rPr lang="en-US" altLang="ko-KR" sz="1400" dirty="0"/>
              <a:t>1699 </a:t>
            </a:r>
            <a:r>
              <a:rPr lang="ko-KR" altLang="en-US" sz="1400" dirty="0"/>
              <a:t>판결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1998. 2. 27. </a:t>
            </a:r>
            <a:r>
              <a:rPr lang="ko-KR" altLang="en-US" sz="1400" dirty="0"/>
              <a:t>선고 </a:t>
            </a:r>
            <a:r>
              <a:rPr lang="en-US" altLang="ko-KR" sz="1400" dirty="0"/>
              <a:t>97</a:t>
            </a:r>
            <a:r>
              <a:rPr lang="ko-KR" altLang="en-US" sz="1400" dirty="0"/>
              <a:t>후 </a:t>
            </a:r>
            <a:r>
              <a:rPr lang="en-US" altLang="ko-KR" sz="1400" dirty="0"/>
              <a:t>2583 </a:t>
            </a:r>
            <a:r>
              <a:rPr lang="ko-KR" altLang="en-US" sz="1400" dirty="0"/>
              <a:t>판결 등을 비롯한 같은 취지의 판결들은 이 판결의 견해에 배치되는 범위 내에서 이를 모두 변경하기로 한다</a:t>
            </a:r>
            <a:r>
              <a:rPr lang="en-US" altLang="ko-KR" sz="1400" dirty="0"/>
              <a:t>. </a:t>
            </a:r>
          </a:p>
          <a:p>
            <a:pPr algn="just" fontAlgn="base"/>
            <a:r>
              <a:rPr lang="ko-KR" altLang="en-US" sz="1400" dirty="0"/>
              <a:t>한편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대법원은 특허권침해소송에서 특허권자의 침해금지 또는 손해배상 등의 청구가 권리남용에 해당한다는 항변이 있는 경우 그 당부를 살피기 위한 전제로서 특허발명의 진보성 여부에 대하여 </a:t>
            </a:r>
            <a:r>
              <a:rPr lang="ko-KR" altLang="en-US" sz="1400" dirty="0" err="1"/>
              <a:t>심리ㆍ판단할</a:t>
            </a:r>
            <a:r>
              <a:rPr lang="ko-KR" altLang="en-US" sz="1400" dirty="0"/>
              <a:t> 수 있다는 법리를 선언한 바 있다</a:t>
            </a:r>
            <a:r>
              <a:rPr lang="en-US" altLang="ko-KR" sz="1400" dirty="0"/>
              <a:t>(</a:t>
            </a:r>
            <a:r>
              <a:rPr lang="ko-KR" altLang="en-US" sz="1400" dirty="0"/>
              <a:t>위 </a:t>
            </a:r>
            <a:r>
              <a:rPr lang="en-US" altLang="ko-KR" sz="1400" dirty="0"/>
              <a:t>2010</a:t>
            </a:r>
            <a:r>
              <a:rPr lang="ko-KR" altLang="en-US" sz="1400" dirty="0"/>
              <a:t>다</a:t>
            </a:r>
            <a:r>
              <a:rPr lang="en-US" altLang="ko-KR" sz="1400" dirty="0"/>
              <a:t>95390 </a:t>
            </a:r>
            <a:r>
              <a:rPr lang="ko-KR" altLang="en-US" sz="1400" dirty="0"/>
              <a:t>전원합의체 판결 참조</a:t>
            </a:r>
            <a:r>
              <a:rPr lang="en-US" altLang="ko-KR" sz="1400" dirty="0"/>
              <a:t>). </a:t>
            </a:r>
            <a:r>
              <a:rPr lang="ko-KR" altLang="en-US" sz="1400" dirty="0"/>
              <a:t>그런데</a:t>
            </a:r>
            <a:r>
              <a:rPr lang="ko-KR" altLang="en-US" sz="1400" dirty="0">
                <a:highlight>
                  <a:srgbClr val="CCECFF"/>
                </a:highlight>
              </a:rPr>
              <a:t> </a:t>
            </a:r>
            <a:r>
              <a:rPr lang="en-US" altLang="ko-KR" sz="1400" dirty="0">
                <a:highlight>
                  <a:srgbClr val="CCECFF"/>
                </a:highlight>
              </a:rPr>
              <a:t>4) </a:t>
            </a:r>
            <a:r>
              <a:rPr lang="ko-KR" altLang="en-US" sz="1400" dirty="0">
                <a:highlight>
                  <a:srgbClr val="CCECFF"/>
                </a:highlight>
              </a:rPr>
              <a:t>특허권침해소송에서 권리남용의 항변을 받아들여 특허권 침해를 부정하는 것은 권리의 부존재나 무효가 아닌 권리행사의 제한사유를 이유로 하여 분쟁 당사자 사이의 권리관계를 판단하는 것이고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>
                <a:highlight>
                  <a:srgbClr val="CCECFF"/>
                </a:highlight>
              </a:rPr>
              <a:t>그 판결의 효력도 소송 당사자 사이에서만 미친다</a:t>
            </a:r>
            <a:r>
              <a:rPr lang="en-US" altLang="ko-KR" sz="1400" dirty="0">
                <a:highlight>
                  <a:srgbClr val="CCECFF"/>
                </a:highlight>
              </a:rPr>
              <a:t>. </a:t>
            </a:r>
            <a:r>
              <a:rPr lang="ko-KR" altLang="en-US" sz="1400" dirty="0">
                <a:highlight>
                  <a:srgbClr val="CCECFF"/>
                </a:highlight>
              </a:rPr>
              <a:t>반면에 권리범위확인심판은 어디까지나 특허권의 효력이 미치는 객관적 범위를 대세적으로 확인하는 제한적인 의미를 가질 뿐 특허권침해를 둘러싼 분쟁 당사자 사이의 권리관계를 최종적으로 확인해주는 것이 아니고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>
                <a:highlight>
                  <a:srgbClr val="CCECFF"/>
                </a:highlight>
              </a:rPr>
              <a:t>그 </a:t>
            </a:r>
            <a:r>
              <a:rPr lang="ko-KR" altLang="en-US" sz="1400" dirty="0" err="1">
                <a:highlight>
                  <a:srgbClr val="CCECFF"/>
                </a:highlight>
              </a:rPr>
              <a:t>심결이</a:t>
            </a:r>
            <a:r>
              <a:rPr lang="ko-KR" altLang="en-US" sz="1400" dirty="0">
                <a:highlight>
                  <a:srgbClr val="CCECFF"/>
                </a:highlight>
              </a:rPr>
              <a:t> 확정되면 심판의 </a:t>
            </a:r>
            <a:r>
              <a:rPr lang="ko-KR" altLang="en-US" sz="1400" dirty="0" err="1">
                <a:highlight>
                  <a:srgbClr val="CCECFF"/>
                </a:highlight>
              </a:rPr>
              <a:t>당사자뿐만</a:t>
            </a:r>
            <a:r>
              <a:rPr lang="ko-KR" altLang="en-US" sz="1400" dirty="0">
                <a:highlight>
                  <a:srgbClr val="CCECFF"/>
                </a:highlight>
              </a:rPr>
              <a:t> 아니라 제</a:t>
            </a:r>
            <a:r>
              <a:rPr lang="en-US" altLang="ko-KR" sz="1400" dirty="0">
                <a:highlight>
                  <a:srgbClr val="CCECFF"/>
                </a:highlight>
              </a:rPr>
              <a:t>3</a:t>
            </a:r>
            <a:r>
              <a:rPr lang="ko-KR" altLang="en-US" sz="1400" dirty="0">
                <a:highlight>
                  <a:srgbClr val="CCECFF"/>
                </a:highlight>
              </a:rPr>
              <a:t>자에게도 일사부재리의 효력이 미치는 </a:t>
            </a:r>
            <a:r>
              <a:rPr lang="ko-KR" altLang="en-US" sz="1400" dirty="0" err="1">
                <a:highlight>
                  <a:srgbClr val="CCECFF"/>
                </a:highlight>
              </a:rPr>
              <a:t>대세적</a:t>
            </a:r>
            <a:r>
              <a:rPr lang="ko-KR" altLang="en-US" sz="1400" dirty="0">
                <a:highlight>
                  <a:srgbClr val="CCECFF"/>
                </a:highlight>
              </a:rPr>
              <a:t> 효력을 가진다</a:t>
            </a:r>
            <a:r>
              <a:rPr lang="en-US" altLang="ko-KR" sz="1400" dirty="0">
                <a:highlight>
                  <a:srgbClr val="CCECFF"/>
                </a:highlight>
              </a:rPr>
              <a:t>. </a:t>
            </a:r>
            <a:r>
              <a:rPr lang="ko-KR" altLang="en-US" sz="1400" dirty="0">
                <a:highlight>
                  <a:srgbClr val="CCECFF"/>
                </a:highlight>
              </a:rPr>
              <a:t>따라서 특허권침해소송에서 권리남용의 항변의 내용으로서 진보성이 없다는 주장을 인정하더라도 이는 특허의 </a:t>
            </a:r>
            <a:r>
              <a:rPr lang="ko-KR" altLang="en-US" sz="1400" dirty="0" err="1">
                <a:highlight>
                  <a:srgbClr val="CCECFF"/>
                </a:highlight>
              </a:rPr>
              <a:t>대세적</a:t>
            </a:r>
            <a:r>
              <a:rPr lang="ko-KR" altLang="en-US" sz="1400" dirty="0">
                <a:highlight>
                  <a:srgbClr val="CCECFF"/>
                </a:highlight>
              </a:rPr>
              <a:t> 효력을 특허무효심판에 의해서만 부정할 수 있도록 한 특허법의 기본 구조와 상충되지 않지만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 err="1">
                <a:highlight>
                  <a:srgbClr val="CCECFF"/>
                </a:highlight>
              </a:rPr>
              <a:t>심결에</a:t>
            </a:r>
            <a:r>
              <a:rPr lang="ko-KR" altLang="en-US" sz="1400" dirty="0">
                <a:highlight>
                  <a:srgbClr val="CCECFF"/>
                </a:highlight>
              </a:rPr>
              <a:t> </a:t>
            </a:r>
            <a:r>
              <a:rPr lang="ko-KR" altLang="en-US" sz="1400" dirty="0" err="1">
                <a:highlight>
                  <a:srgbClr val="CCECFF"/>
                </a:highlight>
              </a:rPr>
              <a:t>대세적</a:t>
            </a:r>
            <a:r>
              <a:rPr lang="ko-KR" altLang="en-US" sz="1400" dirty="0">
                <a:highlight>
                  <a:srgbClr val="CCECFF"/>
                </a:highlight>
              </a:rPr>
              <a:t> 효력이 있는 권리범위확인심판에서 진보성 결여를 이유로 무효사유 주장을 인정하게 되면 이는 위와 같은 특허법의 기본 구조와 상충된다</a:t>
            </a:r>
            <a:r>
              <a:rPr lang="en-US" altLang="ko-KR" sz="1400" dirty="0">
                <a:highlight>
                  <a:srgbClr val="CCECFF"/>
                </a:highlight>
              </a:rPr>
              <a:t>.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그러므로 권리범위확인심판에서는 특허권 </a:t>
            </a:r>
            <a:r>
              <a:rPr lang="ko-KR" altLang="en-US" sz="1400" dirty="0" err="1"/>
              <a:t>침해소송에서와는</a:t>
            </a:r>
            <a:r>
              <a:rPr lang="ko-KR" altLang="en-US" sz="1400" dirty="0"/>
              <a:t> 달리 진보성 여부를 특허무효사유로 주장할 수 없고</a:t>
            </a:r>
            <a:r>
              <a:rPr lang="en-US" altLang="ko-KR" sz="1400" dirty="0"/>
              <a:t>, </a:t>
            </a:r>
            <a:r>
              <a:rPr lang="ko-KR" altLang="en-US" sz="1400" dirty="0"/>
              <a:t>이로 인하여 권리범위확인심판과 특허권침해소송에서의 결론이 마치 상반되는 듯이 보인다고 하여 서로 모순될 수 없다</a:t>
            </a:r>
            <a:r>
              <a:rPr lang="en-US" altLang="ko-KR" sz="1400" dirty="0"/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46" name="모서리가 둥근 직사각형 10">
            <a:extLst>
              <a:ext uri="{FF2B5EF4-FFF2-40B4-BE49-F238E27FC236}">
                <a16:creationId xmlns:a16="http://schemas.microsoft.com/office/drawing/2014/main" id="{1EB2F813-B207-4574-BC6A-9E0259FF1206}"/>
              </a:ext>
            </a:extLst>
          </p:cNvPr>
          <p:cNvSpPr/>
          <p:nvPr/>
        </p:nvSpPr>
        <p:spPr bwMode="auto">
          <a:xfrm>
            <a:off x="378417" y="998802"/>
            <a:ext cx="5798095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2014. 3. 20.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2012</a:t>
            </a:r>
            <a:r>
              <a:rPr lang="ko-KR" altLang="en-US" sz="1400" dirty="0"/>
              <a:t>후</a:t>
            </a:r>
            <a:r>
              <a:rPr lang="en-US" altLang="ko-KR" sz="1400" dirty="0"/>
              <a:t>4162 </a:t>
            </a:r>
            <a:r>
              <a:rPr lang="ko-KR" altLang="en-US" sz="1400" dirty="0"/>
              <a:t>전원합의체 판결</a:t>
            </a:r>
            <a:r>
              <a:rPr lang="en-US" altLang="ko-KR" sz="1400" dirty="0"/>
              <a:t>【</a:t>
            </a:r>
            <a:r>
              <a:rPr lang="ko-KR" altLang="en-US" sz="1400" dirty="0"/>
              <a:t>권리범위확인</a:t>
            </a:r>
            <a:r>
              <a:rPr lang="en-US" altLang="ko-KR" sz="1400" dirty="0"/>
              <a:t>(</a:t>
            </a:r>
            <a:r>
              <a:rPr lang="ko-KR" altLang="en-US" sz="1400" dirty="0"/>
              <a:t>실</a:t>
            </a:r>
            <a:r>
              <a:rPr lang="en-US" altLang="ko-KR" sz="1400" dirty="0"/>
              <a:t>)】</a:t>
            </a:r>
          </a:p>
        </p:txBody>
      </p:sp>
    </p:spTree>
    <p:extLst>
      <p:ext uri="{BB962C8B-B14F-4D97-AF65-F5344CB8AC3E}">
        <p14:creationId xmlns:p14="http://schemas.microsoft.com/office/powerpoint/2010/main" val="409463377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135</a:t>
            </a:r>
            <a:r>
              <a:rPr lang="ko-KR" altLang="en-US" dirty="0"/>
              <a:t>조</a:t>
            </a:r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권리범위확인심판의 심리범위 </a:t>
            </a:r>
            <a:r>
              <a:rPr lang="en-US" altLang="ko-KR" dirty="0"/>
              <a:t>vs </a:t>
            </a:r>
            <a:r>
              <a:rPr lang="ko-KR" altLang="en-US" dirty="0" err="1"/>
              <a:t>침해소송의</a:t>
            </a:r>
            <a:r>
              <a:rPr lang="ko-KR" altLang="en-US" dirty="0"/>
              <a:t> </a:t>
            </a:r>
            <a:r>
              <a:rPr lang="ko-KR" altLang="en-US" dirty="0" err="1"/>
              <a:t>심리범위</a:t>
            </a:r>
            <a:endParaRPr lang="ko-KR" altLang="en-US" dirty="0"/>
          </a:p>
        </p:txBody>
      </p:sp>
      <p:sp>
        <p:nvSpPr>
          <p:cNvPr id="3" name="모서리가 둥근 직사각형 2"/>
          <p:cNvSpPr/>
          <p:nvPr/>
        </p:nvSpPr>
        <p:spPr>
          <a:xfrm>
            <a:off x="3886200" y="1841165"/>
            <a:ext cx="7988300" cy="39406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모서리가 둥근 직사각형 28"/>
          <p:cNvSpPr/>
          <p:nvPr/>
        </p:nvSpPr>
        <p:spPr>
          <a:xfrm>
            <a:off x="911424" y="1051499"/>
            <a:ext cx="1152128" cy="434290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/>
              <a:t>침해</a:t>
            </a:r>
            <a:endParaRPr lang="ko-KR" altLang="en-US" sz="2000" dirty="0"/>
          </a:p>
        </p:txBody>
      </p:sp>
      <p:sp>
        <p:nvSpPr>
          <p:cNvPr id="30" name="모서리가 둥근 직사각형 29"/>
          <p:cNvSpPr/>
          <p:nvPr/>
        </p:nvSpPr>
        <p:spPr>
          <a:xfrm>
            <a:off x="2016584" y="1603490"/>
            <a:ext cx="1517032" cy="30611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성립요건</a:t>
            </a:r>
          </a:p>
        </p:txBody>
      </p:sp>
      <p:sp>
        <p:nvSpPr>
          <p:cNvPr id="32" name="모서리가 둥근 직사각형 31"/>
          <p:cNvSpPr/>
          <p:nvPr/>
        </p:nvSpPr>
        <p:spPr>
          <a:xfrm>
            <a:off x="2016584" y="2750091"/>
            <a:ext cx="1517032" cy="300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조치</a:t>
            </a:r>
          </a:p>
        </p:txBody>
      </p:sp>
      <p:sp>
        <p:nvSpPr>
          <p:cNvPr id="37" name="모서리가 둥근 직사각형 36"/>
          <p:cNvSpPr/>
          <p:nvPr/>
        </p:nvSpPr>
        <p:spPr>
          <a:xfrm>
            <a:off x="4039876" y="2366343"/>
            <a:ext cx="1517032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민사</a:t>
            </a:r>
          </a:p>
        </p:txBody>
      </p:sp>
      <p:sp>
        <p:nvSpPr>
          <p:cNvPr id="38" name="모서리가 둥근 직사각형 37"/>
          <p:cNvSpPr/>
          <p:nvPr/>
        </p:nvSpPr>
        <p:spPr>
          <a:xfrm>
            <a:off x="4039876" y="3530592"/>
            <a:ext cx="1517032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형사</a:t>
            </a:r>
          </a:p>
        </p:txBody>
      </p:sp>
      <p:cxnSp>
        <p:nvCxnSpPr>
          <p:cNvPr id="39" name="꺾인 연결선 38"/>
          <p:cNvCxnSpPr>
            <a:stCxn id="29" idx="2"/>
            <a:endCxn id="32" idx="1"/>
          </p:cNvCxnSpPr>
          <p:nvPr/>
        </p:nvCxnSpPr>
        <p:spPr>
          <a:xfrm rot="16200000" flipH="1">
            <a:off x="1044683" y="1928595"/>
            <a:ext cx="1414709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연결선 40"/>
          <p:cNvCxnSpPr>
            <a:stCxn id="29" idx="2"/>
            <a:endCxn id="30" idx="1"/>
          </p:cNvCxnSpPr>
          <p:nvPr/>
        </p:nvCxnSpPr>
        <p:spPr>
          <a:xfrm rot="16200000" flipH="1">
            <a:off x="1616658" y="1356619"/>
            <a:ext cx="270758" cy="529096"/>
          </a:xfrm>
          <a:prstGeom prst="bentConnector2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32" idx="3"/>
            <a:endCxn id="37" idx="1"/>
          </p:cNvCxnSpPr>
          <p:nvPr/>
        </p:nvCxnSpPr>
        <p:spPr>
          <a:xfrm flipV="1">
            <a:off x="3533616" y="2470004"/>
            <a:ext cx="506260" cy="430494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 50"/>
          <p:cNvCxnSpPr>
            <a:stCxn id="32" idx="3"/>
            <a:endCxn id="38" idx="1"/>
          </p:cNvCxnSpPr>
          <p:nvPr/>
        </p:nvCxnSpPr>
        <p:spPr>
          <a:xfrm>
            <a:off x="3533616" y="2900498"/>
            <a:ext cx="506260" cy="733755"/>
          </a:xfrm>
          <a:prstGeom prst="bentConnector3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모서리가 둥근 직사각형 33"/>
          <p:cNvSpPr/>
          <p:nvPr/>
        </p:nvSpPr>
        <p:spPr>
          <a:xfrm>
            <a:off x="4003513" y="1060569"/>
            <a:ext cx="4169915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1. </a:t>
            </a:r>
            <a:r>
              <a:rPr lang="ko-KR" altLang="en-US" sz="1200" dirty="0">
                <a:solidFill>
                  <a:schemeClr val="tx1"/>
                </a:solidFill>
              </a:rPr>
              <a:t>특허권의 존속 중</a:t>
            </a:r>
          </a:p>
        </p:txBody>
      </p:sp>
      <p:sp>
        <p:nvSpPr>
          <p:cNvPr id="40" name="모서리가 둥근 직사각형 39"/>
          <p:cNvSpPr/>
          <p:nvPr/>
        </p:nvSpPr>
        <p:spPr>
          <a:xfrm>
            <a:off x="4003513" y="1326956"/>
            <a:ext cx="4169915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2. </a:t>
            </a:r>
            <a:r>
              <a:rPr lang="ko-KR" altLang="en-US" sz="1200" dirty="0">
                <a:solidFill>
                  <a:schemeClr val="tx1"/>
                </a:solidFill>
              </a:rPr>
              <a:t>정당한 권원이 없는 자</a:t>
            </a:r>
          </a:p>
        </p:txBody>
      </p:sp>
      <p:sp>
        <p:nvSpPr>
          <p:cNvPr id="42" name="모서리가 둥근 직사각형 41"/>
          <p:cNvSpPr/>
          <p:nvPr/>
        </p:nvSpPr>
        <p:spPr>
          <a:xfrm>
            <a:off x="4003513" y="1604559"/>
            <a:ext cx="4169915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3. </a:t>
            </a:r>
            <a:r>
              <a:rPr lang="ko-KR" altLang="en-US" sz="1200" dirty="0">
                <a:solidFill>
                  <a:schemeClr val="tx1"/>
                </a:solidFill>
              </a:rPr>
              <a:t>업으로서</a:t>
            </a:r>
          </a:p>
        </p:txBody>
      </p:sp>
      <p:sp>
        <p:nvSpPr>
          <p:cNvPr id="44" name="모서리가 둥근 직사각형 43"/>
          <p:cNvSpPr/>
          <p:nvPr/>
        </p:nvSpPr>
        <p:spPr>
          <a:xfrm>
            <a:off x="4003513" y="1869291"/>
            <a:ext cx="4169915" cy="32494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>
                <a:solidFill>
                  <a:schemeClr val="bg1"/>
                </a:solidFill>
              </a:rPr>
              <a:t>4. </a:t>
            </a:r>
            <a:r>
              <a:rPr lang="ko-KR" altLang="en-US" sz="1600" dirty="0">
                <a:solidFill>
                  <a:schemeClr val="bg1"/>
                </a:solidFill>
              </a:rPr>
              <a:t>특허발명의 보호범위에 속하는 발명을 실시</a:t>
            </a:r>
          </a:p>
        </p:txBody>
      </p:sp>
      <p:cxnSp>
        <p:nvCxnSpPr>
          <p:cNvPr id="9" name="꺾인 연결선 8"/>
          <p:cNvCxnSpPr>
            <a:stCxn id="30" idx="3"/>
            <a:endCxn id="34" idx="1"/>
          </p:cNvCxnSpPr>
          <p:nvPr/>
        </p:nvCxnSpPr>
        <p:spPr>
          <a:xfrm flipV="1">
            <a:off x="3533617" y="1265829"/>
            <a:ext cx="469897" cy="49071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>
            <a:stCxn id="30" idx="3"/>
            <a:endCxn id="44" idx="1"/>
          </p:cNvCxnSpPr>
          <p:nvPr/>
        </p:nvCxnSpPr>
        <p:spPr>
          <a:xfrm>
            <a:off x="3533616" y="1756548"/>
            <a:ext cx="469897" cy="27521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30" idx="3"/>
            <a:endCxn id="40" idx="1"/>
          </p:cNvCxnSpPr>
          <p:nvPr/>
        </p:nvCxnSpPr>
        <p:spPr>
          <a:xfrm flipV="1">
            <a:off x="3533616" y="1430617"/>
            <a:ext cx="469897" cy="3259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30" idx="3"/>
            <a:endCxn id="42" idx="1"/>
          </p:cNvCxnSpPr>
          <p:nvPr/>
        </p:nvCxnSpPr>
        <p:spPr>
          <a:xfrm flipV="1">
            <a:off x="3533616" y="1708220"/>
            <a:ext cx="469897" cy="4832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모서리가 둥근 직사각형 88"/>
          <p:cNvSpPr/>
          <p:nvPr/>
        </p:nvSpPr>
        <p:spPr>
          <a:xfrm>
            <a:off x="6322187" y="2366343"/>
            <a:ext cx="2084957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침해금지예방청구</a:t>
            </a:r>
          </a:p>
        </p:txBody>
      </p:sp>
      <p:sp>
        <p:nvSpPr>
          <p:cNvPr id="90" name="모서리가 둥근 직사각형 89"/>
          <p:cNvSpPr/>
          <p:nvPr/>
        </p:nvSpPr>
        <p:spPr>
          <a:xfrm>
            <a:off x="6322187" y="2621927"/>
            <a:ext cx="2084957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손해배상청구</a:t>
            </a:r>
          </a:p>
        </p:txBody>
      </p:sp>
      <p:sp>
        <p:nvSpPr>
          <p:cNvPr id="91" name="모서리가 둥근 직사각형 90"/>
          <p:cNvSpPr/>
          <p:nvPr/>
        </p:nvSpPr>
        <p:spPr>
          <a:xfrm>
            <a:off x="6322187" y="2869684"/>
            <a:ext cx="2084957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신용회복청구</a:t>
            </a:r>
          </a:p>
        </p:txBody>
      </p:sp>
      <p:sp>
        <p:nvSpPr>
          <p:cNvPr id="92" name="모서리가 둥근 직사각형 91"/>
          <p:cNvSpPr/>
          <p:nvPr/>
        </p:nvSpPr>
        <p:spPr>
          <a:xfrm>
            <a:off x="6322187" y="3118501"/>
            <a:ext cx="2084957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부당이득반환청구</a:t>
            </a:r>
          </a:p>
        </p:txBody>
      </p:sp>
      <p:sp>
        <p:nvSpPr>
          <p:cNvPr id="93" name="모서리가 둥근 직사각형 92"/>
          <p:cNvSpPr/>
          <p:nvPr/>
        </p:nvSpPr>
        <p:spPr>
          <a:xfrm>
            <a:off x="6322187" y="3461708"/>
            <a:ext cx="2084957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침해죄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4" name="모서리가 둥근 직사각형 93"/>
          <p:cNvSpPr/>
          <p:nvPr/>
        </p:nvSpPr>
        <p:spPr>
          <a:xfrm>
            <a:off x="6322187" y="3709463"/>
            <a:ext cx="2084957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몰수</a:t>
            </a:r>
          </a:p>
        </p:txBody>
      </p:sp>
      <p:sp>
        <p:nvSpPr>
          <p:cNvPr id="95" name="모서리가 둥근 직사각형 94"/>
          <p:cNvSpPr/>
          <p:nvPr/>
        </p:nvSpPr>
        <p:spPr>
          <a:xfrm>
            <a:off x="6322187" y="3958280"/>
            <a:ext cx="2084957" cy="207321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양벌규정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7" name="꺾인 연결선 96"/>
          <p:cNvCxnSpPr>
            <a:stCxn id="37" idx="3"/>
            <a:endCxn id="89" idx="1"/>
          </p:cNvCxnSpPr>
          <p:nvPr/>
        </p:nvCxnSpPr>
        <p:spPr>
          <a:xfrm>
            <a:off x="5556909" y="2470004"/>
            <a:ext cx="765279" cy="967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꺾인 연결선 98"/>
          <p:cNvCxnSpPr>
            <a:stCxn id="37" idx="3"/>
            <a:endCxn id="90" idx="1"/>
          </p:cNvCxnSpPr>
          <p:nvPr/>
        </p:nvCxnSpPr>
        <p:spPr>
          <a:xfrm>
            <a:off x="5556909" y="2470005"/>
            <a:ext cx="765279" cy="25558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꺾인 연결선 100"/>
          <p:cNvCxnSpPr>
            <a:stCxn id="37" idx="3"/>
            <a:endCxn id="91" idx="1"/>
          </p:cNvCxnSpPr>
          <p:nvPr/>
        </p:nvCxnSpPr>
        <p:spPr>
          <a:xfrm>
            <a:off x="5556909" y="2470004"/>
            <a:ext cx="765279" cy="50334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꺾인 연결선 102"/>
          <p:cNvCxnSpPr>
            <a:stCxn id="37" idx="3"/>
            <a:endCxn id="92" idx="1"/>
          </p:cNvCxnSpPr>
          <p:nvPr/>
        </p:nvCxnSpPr>
        <p:spPr>
          <a:xfrm>
            <a:off x="5556909" y="2470004"/>
            <a:ext cx="765279" cy="75215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꺾인 연결선 104"/>
          <p:cNvCxnSpPr>
            <a:stCxn id="38" idx="3"/>
            <a:endCxn id="93" idx="1"/>
          </p:cNvCxnSpPr>
          <p:nvPr/>
        </p:nvCxnSpPr>
        <p:spPr>
          <a:xfrm flipV="1">
            <a:off x="5556909" y="3565368"/>
            <a:ext cx="765279" cy="6888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꺾인 연결선 106"/>
          <p:cNvCxnSpPr>
            <a:stCxn id="38" idx="3"/>
            <a:endCxn id="95" idx="1"/>
          </p:cNvCxnSpPr>
          <p:nvPr/>
        </p:nvCxnSpPr>
        <p:spPr>
          <a:xfrm>
            <a:off x="5556909" y="3634253"/>
            <a:ext cx="765279" cy="42768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꺾인 연결선 108"/>
          <p:cNvCxnSpPr>
            <a:stCxn id="38" idx="3"/>
            <a:endCxn id="94" idx="1"/>
          </p:cNvCxnSpPr>
          <p:nvPr/>
        </p:nvCxnSpPr>
        <p:spPr>
          <a:xfrm>
            <a:off x="5556909" y="3634252"/>
            <a:ext cx="765279" cy="17887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8889744" y="1858804"/>
            <a:ext cx="2984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>
                <a:solidFill>
                  <a:srgbClr val="FF0000"/>
                </a:solidFill>
              </a:rPr>
              <a:t>권리범위확인심판의 심리범위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924680" y="3167056"/>
            <a:ext cx="1486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침해소송의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심리범위</a:t>
            </a:r>
          </a:p>
        </p:txBody>
      </p:sp>
      <p:sp>
        <p:nvSpPr>
          <p:cNvPr id="52" name="모서리가 둥근 직사각형 51"/>
          <p:cNvSpPr/>
          <p:nvPr/>
        </p:nvSpPr>
        <p:spPr>
          <a:xfrm>
            <a:off x="1905000" y="1532216"/>
            <a:ext cx="1752600" cy="2278847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825211"/>
              </p:ext>
            </p:extLst>
          </p:nvPr>
        </p:nvGraphicFramePr>
        <p:xfrm>
          <a:off x="368299" y="4283500"/>
          <a:ext cx="11493501" cy="213055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1726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5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7718">
                  <a:extLst>
                    <a:ext uri="{9D8B030D-6E8A-4147-A177-3AD203B41FA5}">
                      <a16:colId xmlns:a16="http://schemas.microsoft.com/office/drawing/2014/main" val="2463536066"/>
                    </a:ext>
                  </a:extLst>
                </a:gridCol>
                <a:gridCol w="2544404">
                  <a:extLst>
                    <a:ext uri="{9D8B030D-6E8A-4147-A177-3AD203B41FA5}">
                      <a16:colId xmlns:a16="http://schemas.microsoft.com/office/drawing/2014/main" val="1437265358"/>
                    </a:ext>
                  </a:extLst>
                </a:gridCol>
                <a:gridCol w="2613661">
                  <a:extLst>
                    <a:ext uri="{9D8B030D-6E8A-4147-A177-3AD203B41FA5}">
                      <a16:colId xmlns:a16="http://schemas.microsoft.com/office/drawing/2014/main" val="4144874887"/>
                    </a:ext>
                  </a:extLst>
                </a:gridCol>
              </a:tblGrid>
              <a:tr h="141471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피의자의 항변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침해소송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권리범위확인심판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815497"/>
                  </a:ext>
                </a:extLst>
              </a:tr>
              <a:tr h="141471">
                <a:tc rowSpan="7">
                  <a:txBody>
                    <a:bodyPr/>
                    <a:lstStyle/>
                    <a:p>
                      <a:pPr algn="ctr"/>
                      <a:r>
                        <a:rPr lang="ko-KR" altLang="en-US" sz="1100" dirty="0"/>
                        <a:t>침해의 </a:t>
                      </a:r>
                      <a:endParaRPr lang="en-US" altLang="ko-KR" sz="1100" dirty="0"/>
                    </a:p>
                    <a:p>
                      <a:pPr algn="ctr"/>
                      <a:r>
                        <a:rPr lang="ko-KR" altLang="en-US" sz="1100" dirty="0"/>
                        <a:t>성립요건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특허권 존속 中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특허권 당연무효의 항변</a:t>
                      </a:r>
                      <a:r>
                        <a:rPr lang="en-US" altLang="ko-KR" sz="1100" kern="1200" dirty="0"/>
                        <a:t>(</a:t>
                      </a:r>
                      <a:r>
                        <a:rPr lang="ko-KR" altLang="en-US" sz="1100" kern="1200" dirty="0"/>
                        <a:t>행정처분의 공정력 부정</a:t>
                      </a:r>
                      <a:r>
                        <a:rPr lang="en-US" altLang="ko-KR" sz="1100" kern="1200" dirty="0"/>
                        <a:t>)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불인정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불인정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576002894"/>
                  </a:ext>
                </a:extLst>
              </a:tr>
              <a:tr h="141471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64770" marR="64770" marT="17907" marB="17907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정당한 권원 없는 자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실시권의 항변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인정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불인정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823287500"/>
                  </a:ext>
                </a:extLst>
              </a:tr>
              <a:tr h="141471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권리소진의 항변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인정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불인정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960527882"/>
                  </a:ext>
                </a:extLst>
              </a:tr>
              <a:tr h="141471">
                <a:tc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업으로서 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업이 아니라는 항변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인정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불인정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3248111627"/>
                  </a:ext>
                </a:extLst>
              </a:tr>
              <a:tr h="141471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64770" marR="64770" marT="17907" marB="17907" anchor="ctr"/>
                </a:tc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특허발명의 보호범위에 속하는 발명 실시</a:t>
                      </a: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특허권 하자</a:t>
                      </a:r>
                      <a:r>
                        <a:rPr lang="en-US" altLang="ko-KR" sz="1100" kern="1200"/>
                        <a:t>(</a:t>
                      </a:r>
                      <a:r>
                        <a:rPr lang="ko-KR" altLang="en-US" sz="1100" kern="1200"/>
                        <a:t>무효</a:t>
                      </a:r>
                      <a:r>
                        <a:rPr lang="en-US" altLang="ko-KR" sz="1100" kern="1200"/>
                        <a:t>)</a:t>
                      </a:r>
                      <a:r>
                        <a:rPr lang="ko-KR" altLang="en-US" sz="1100" kern="1200"/>
                        <a:t>의 항변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인정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인정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550350"/>
                  </a:ext>
                </a:extLst>
              </a:tr>
              <a:tr h="141471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자유기술의 항변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인정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인정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1881510"/>
                  </a:ext>
                </a:extLst>
              </a:tr>
              <a:tr h="141471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64770" marR="64770" marT="17907" marB="17907" anchor="ctr"/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효력 제한</a:t>
                      </a:r>
                      <a:r>
                        <a:rPr lang="en-US" altLang="ko-KR" sz="1100" kern="1200"/>
                        <a:t>(</a:t>
                      </a:r>
                      <a:r>
                        <a:rPr lang="ko-KR" altLang="en-US" sz="1100" kern="1200"/>
                        <a:t>法 </a:t>
                      </a:r>
                      <a:r>
                        <a:rPr lang="en-US" altLang="ko-KR" sz="1100" kern="1200"/>
                        <a:t>81</a:t>
                      </a:r>
                      <a:r>
                        <a:rPr lang="ko-KR" altLang="en-US" sz="1100" kern="1200"/>
                        <a:t>의</a:t>
                      </a:r>
                      <a:r>
                        <a:rPr lang="en-US" altLang="ko-KR" sz="1100" kern="1200"/>
                        <a:t>3</a:t>
                      </a:r>
                      <a:r>
                        <a:rPr lang="ko-KR" altLang="en-US" sz="1100" kern="1200"/>
                        <a:t>④</a:t>
                      </a:r>
                      <a:r>
                        <a:rPr lang="en-US" altLang="ko-KR" sz="1100" kern="1200"/>
                        <a:t>, 96, 181)</a:t>
                      </a:r>
                      <a:r>
                        <a:rPr lang="ko-KR" altLang="en-US" sz="1100" kern="1200"/>
                        <a:t>의 항변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인정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인정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823515"/>
                  </a:ext>
                </a:extLst>
              </a:tr>
              <a:tr h="141471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+mn-cs"/>
                        </a:rPr>
                        <a:t>조치</a:t>
                      </a:r>
                    </a:p>
                  </a:txBody>
                  <a:tcPr marL="64770" marR="6477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/>
                        <a:t>권리남용의 항변</a:t>
                      </a:r>
                      <a:endParaRPr lang="ko-KR" altLang="en-US" sz="11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인정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kern="1200" dirty="0"/>
                        <a:t>불인정</a:t>
                      </a:r>
                      <a:endParaRPr lang="ko-KR" altLang="en-US" sz="11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9391153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454590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청구범위의 감축과 실질적 변경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172171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875" y="976902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청구범위의 감축이란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청구항을</a:t>
            </a:r>
            <a:r>
              <a:rPr lang="ko-KR" altLang="en-US" sz="1400" dirty="0">
                <a:solidFill>
                  <a:schemeClr val="tx2"/>
                </a:solidFill>
              </a:rPr>
              <a:t> 삭제하거나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청구항을</a:t>
            </a:r>
            <a:r>
              <a:rPr lang="ko-KR" altLang="en-US" sz="1400" dirty="0">
                <a:solidFill>
                  <a:schemeClr val="tx2"/>
                </a:solidFill>
              </a:rPr>
              <a:t> 한정 또는 부가하는 경우를 말한다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청구항을</a:t>
            </a:r>
            <a:r>
              <a:rPr lang="ko-KR" altLang="en-US" sz="1400" dirty="0">
                <a:solidFill>
                  <a:schemeClr val="tx2"/>
                </a:solidFill>
              </a:rPr>
              <a:t> 삭제하는 경우는 실질적 변경이 아니지만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청구항을</a:t>
            </a:r>
            <a:r>
              <a:rPr lang="ko-KR" altLang="en-US" sz="1400" dirty="0">
                <a:solidFill>
                  <a:schemeClr val="tx2"/>
                </a:solidFill>
              </a:rPr>
              <a:t> 한정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상위개념의 기재를 하위개념의 기재로 변경하는 </a:t>
            </a:r>
            <a:r>
              <a:rPr lang="ko-KR" altLang="en-US" sz="1400" dirty="0" err="1">
                <a:solidFill>
                  <a:schemeClr val="tx2"/>
                </a:solidFill>
              </a:rPr>
              <a:t>내적부가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또는 부가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구성요소의 </a:t>
            </a:r>
            <a:r>
              <a:rPr lang="ko-KR" altLang="en-US" sz="1400" dirty="0" err="1">
                <a:solidFill>
                  <a:schemeClr val="tx2"/>
                </a:solidFill>
              </a:rPr>
              <a:t>직렬적</a:t>
            </a:r>
            <a:r>
              <a:rPr lang="ko-KR" altLang="en-US" sz="1400" dirty="0">
                <a:solidFill>
                  <a:schemeClr val="tx2"/>
                </a:solidFill>
              </a:rPr>
              <a:t> 부가인 </a:t>
            </a:r>
            <a:r>
              <a:rPr lang="ko-KR" altLang="en-US" sz="1400" dirty="0" err="1">
                <a:solidFill>
                  <a:schemeClr val="tx2"/>
                </a:solidFill>
              </a:rPr>
              <a:t>외적부가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하는 경우는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청구범위의 감축일지라도 새로운 목적 및 효과를 갖게 되어 실질적 변경에 해당한다면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정정을 허용할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578104" y="2808571"/>
          <a:ext cx="8483600" cy="186808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120900">
                  <a:extLst>
                    <a:ext uri="{9D8B030D-6E8A-4147-A177-3AD203B41FA5}">
                      <a16:colId xmlns:a16="http://schemas.microsoft.com/office/drawing/2014/main" val="976022739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3657432926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3210821213"/>
                    </a:ext>
                  </a:extLst>
                </a:gridCol>
                <a:gridCol w="2120900">
                  <a:extLst>
                    <a:ext uri="{9D8B030D-6E8A-4147-A177-3AD203B41FA5}">
                      <a16:colId xmlns:a16="http://schemas.microsoft.com/office/drawing/2014/main" val="3616854365"/>
                    </a:ext>
                  </a:extLst>
                </a:gridCol>
              </a:tblGrid>
              <a:tr h="46702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청구범위의 감축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원칙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예외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2489548"/>
                  </a:ext>
                </a:extLst>
              </a:tr>
              <a:tr h="46702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청구항</a:t>
                      </a:r>
                      <a:r>
                        <a:rPr lang="ko-KR" altLang="en-US" dirty="0"/>
                        <a:t> 삭제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실질적 변경</a:t>
                      </a:r>
                      <a:r>
                        <a:rPr lang="en-US" altLang="ko-KR" dirty="0"/>
                        <a:t>×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-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2386654"/>
                  </a:ext>
                </a:extLst>
              </a:tr>
              <a:tr h="467022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청구항</a:t>
                      </a:r>
                      <a:r>
                        <a:rPr lang="ko-KR" altLang="en-US" dirty="0"/>
                        <a:t> 범위 축소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한정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실질적 변경</a:t>
                      </a:r>
                      <a:r>
                        <a:rPr lang="en-US" altLang="ko-KR" dirty="0"/>
                        <a:t>×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실질적 변경○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350130"/>
                  </a:ext>
                </a:extLst>
              </a:tr>
              <a:tr h="46702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부가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실질적 변경○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실질적 변경</a:t>
                      </a:r>
                      <a:r>
                        <a:rPr lang="en-US" altLang="ko-KR" dirty="0"/>
                        <a:t>×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1021112"/>
                  </a:ext>
                </a:extLst>
              </a:tr>
            </a:tbl>
          </a:graphicData>
        </a:graphic>
      </p:graphicFrame>
      <p:sp>
        <p:nvSpPr>
          <p:cNvPr id="7" name="모서리가 둥근 직사각형 6"/>
          <p:cNvSpPr/>
          <p:nvPr/>
        </p:nvSpPr>
        <p:spPr>
          <a:xfrm>
            <a:off x="4700016" y="3241049"/>
            <a:ext cx="4521859" cy="1517904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>
            <a:stCxn id="7" idx="2"/>
          </p:cNvCxnSpPr>
          <p:nvPr/>
        </p:nvCxnSpPr>
        <p:spPr>
          <a:xfrm>
            <a:off x="6960946" y="4758953"/>
            <a:ext cx="6782" cy="61264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353507" y="5371601"/>
            <a:ext cx="5214889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dirty="0">
                <a:solidFill>
                  <a:srgbClr val="FF0000"/>
                </a:solidFill>
              </a:rPr>
              <a:t>새로운 목적 및 효과를 갖는지 여부</a:t>
            </a:r>
            <a:endParaRPr lang="en-US" altLang="ko-KR" sz="2800" dirty="0">
              <a:solidFill>
                <a:srgbClr val="FF0000"/>
              </a:solidFill>
            </a:endParaRPr>
          </a:p>
        </p:txBody>
      </p:sp>
      <p:sp>
        <p:nvSpPr>
          <p:cNvPr id="12" name="모서리가 둥근 사각형 설명선 11"/>
          <p:cNvSpPr/>
          <p:nvPr/>
        </p:nvSpPr>
        <p:spPr>
          <a:xfrm>
            <a:off x="9440190" y="3916134"/>
            <a:ext cx="2450379" cy="738664"/>
          </a:xfrm>
          <a:prstGeom prst="wedgeRoundRectCallout">
            <a:avLst>
              <a:gd name="adj1" fmla="val -76793"/>
              <a:gd name="adj2" fmla="val -40988"/>
              <a:gd name="adj3" fmla="val 16667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just" fontAlgn="base" latinLnBrk="1">
              <a:spcBef>
                <a:spcPts val="0"/>
              </a:spcBef>
              <a:spcAft>
                <a:spcPts val="0"/>
              </a:spcAft>
            </a:pPr>
            <a:r>
              <a:rPr lang="ko-KR" altLang="en-US" sz="1200" kern="0" spc="-60" dirty="0">
                <a:solidFill>
                  <a:srgbClr val="000000"/>
                </a:solidFill>
                <a:effectLst/>
                <a:latin typeface="+mn-ea"/>
              </a:rPr>
              <a:t>선택발명이 되어 특허성을 가지게 되고 또 그 하위개념의 발명이 특허명세서에 기재가 되어 있지 아니한 경우</a:t>
            </a:r>
          </a:p>
        </p:txBody>
      </p:sp>
    </p:spTree>
    <p:extLst>
      <p:ext uri="{BB962C8B-B14F-4D97-AF65-F5344CB8AC3E}">
        <p14:creationId xmlns:p14="http://schemas.microsoft.com/office/powerpoint/2010/main" val="27942059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  <a:endParaRPr lang="ko-KR" altLang="en-US" sz="360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sz="2400" dirty="0"/>
              <a:t>제</a:t>
            </a:r>
            <a:r>
              <a:rPr lang="en-US" altLang="ko-KR" sz="2400" dirty="0"/>
              <a:t>136</a:t>
            </a:r>
            <a:r>
              <a:rPr lang="ko-KR" altLang="en-US" sz="2400" dirty="0"/>
              <a:t>조제</a:t>
            </a:r>
            <a:r>
              <a:rPr lang="en-US" altLang="ko-KR" sz="2400" dirty="0"/>
              <a:t>1</a:t>
            </a:r>
            <a:r>
              <a:rPr lang="ko-KR" altLang="en-US" sz="2400" dirty="0" err="1"/>
              <a:t>항제</a:t>
            </a:r>
            <a:r>
              <a:rPr lang="en-US" altLang="ko-KR" sz="2400" dirty="0"/>
              <a:t>3</a:t>
            </a:r>
            <a:r>
              <a:rPr lang="ko-KR" altLang="en-US" sz="2400" dirty="0"/>
              <a:t>호의 </a:t>
            </a:r>
            <a:r>
              <a:rPr lang="en-US" altLang="ko-KR" sz="2400" dirty="0"/>
              <a:t>CASE: </a:t>
            </a:r>
            <a:r>
              <a:rPr lang="ko-KR" altLang="en-US" sz="2400"/>
              <a:t>열 저장 </a:t>
            </a:r>
            <a:r>
              <a:rPr lang="ko-KR" altLang="en-US" sz="2400" dirty="0"/>
              <a:t>팀 사건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672B6BB-2D77-4E43-8B42-06D030FA91F0}"/>
              </a:ext>
            </a:extLst>
          </p:cNvPr>
          <p:cNvCxnSpPr>
            <a:cxnSpLocks/>
          </p:cNvCxnSpPr>
          <p:nvPr/>
        </p:nvCxnSpPr>
        <p:spPr>
          <a:xfrm>
            <a:off x="0" y="2779114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5ED18D-A35C-4094-A735-ACF778B95324}"/>
              </a:ext>
            </a:extLst>
          </p:cNvPr>
          <p:cNvSpPr/>
          <p:nvPr/>
        </p:nvSpPr>
        <p:spPr>
          <a:xfrm>
            <a:off x="232372" y="1357007"/>
            <a:ext cx="1168198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400" dirty="0"/>
              <a:t>구 특허법</a:t>
            </a:r>
            <a:r>
              <a:rPr lang="en-US" altLang="ko-KR" sz="1400" dirty="0"/>
              <a:t>(2009. 1. 30.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9381</a:t>
            </a:r>
            <a:r>
              <a:rPr lang="ko-KR" altLang="en-US" sz="1400" dirty="0"/>
              <a:t>호로 개정되기 전의 것</a:t>
            </a:r>
            <a:r>
              <a:rPr lang="en-US" altLang="ko-KR" sz="1400" dirty="0"/>
              <a:t>) </a:t>
            </a:r>
            <a:r>
              <a:rPr lang="ko-KR" altLang="en-US" sz="1400" dirty="0"/>
              <a:t>제</a:t>
            </a:r>
            <a:r>
              <a:rPr lang="en-US" altLang="ko-KR" sz="1400" dirty="0"/>
              <a:t>133</a:t>
            </a:r>
            <a:r>
              <a:rPr lang="ko-KR" altLang="en-US" sz="1400" dirty="0"/>
              <a:t>조의</a:t>
            </a:r>
            <a:r>
              <a:rPr lang="en-US" altLang="ko-KR" sz="1400" dirty="0"/>
              <a:t>2, </a:t>
            </a:r>
            <a:r>
              <a:rPr lang="ko-KR" altLang="en-US" sz="1400" dirty="0"/>
              <a:t>제</a:t>
            </a:r>
            <a:r>
              <a:rPr lang="en-US" altLang="ko-KR" sz="1400" dirty="0"/>
              <a:t>136</a:t>
            </a:r>
            <a:r>
              <a:rPr lang="ko-KR" altLang="en-US" sz="1400" dirty="0"/>
              <a:t>조 제</a:t>
            </a:r>
            <a:r>
              <a:rPr lang="en-US" altLang="ko-KR" sz="1400" dirty="0"/>
              <a:t>3</a:t>
            </a:r>
            <a:r>
              <a:rPr lang="ko-KR" altLang="en-US" sz="1400" dirty="0"/>
              <a:t>항의 규정 취지에 비추어 보면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오류의 정정에는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1)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청구범위에 관한 기재 자체가 명료하지 아니한 경우 그 의미를 명확하게 하든가 기재상의 불비를 해소하는 것 및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2)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발명의 설명과 청구범위가 일치하지 아니하거나 모순이 있는 경우 이를 통일하여 모순이 없게 하는 것</a:t>
            </a:r>
            <a:r>
              <a:rPr lang="ko-KR" altLang="en-US" sz="1400" dirty="0"/>
              <a:t> 등이 포함된다고 해석된다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2006. 7. 28.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2004</a:t>
            </a:r>
            <a:r>
              <a:rPr lang="ko-KR" altLang="en-US" sz="1400" dirty="0"/>
              <a:t>후</a:t>
            </a:r>
            <a:r>
              <a:rPr lang="en-US" altLang="ko-KR" sz="1400" dirty="0"/>
              <a:t>3096 </a:t>
            </a:r>
            <a:r>
              <a:rPr lang="ko-KR" altLang="en-US" sz="1400" dirty="0"/>
              <a:t>판결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2013. 2. 28.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2011</a:t>
            </a:r>
            <a:r>
              <a:rPr lang="ko-KR" altLang="en-US" sz="1400" dirty="0"/>
              <a:t>후</a:t>
            </a:r>
            <a:r>
              <a:rPr lang="en-US" altLang="ko-KR" sz="1400" dirty="0"/>
              <a:t>3193 </a:t>
            </a:r>
            <a:r>
              <a:rPr lang="ko-KR" altLang="en-US" sz="1400" dirty="0"/>
              <a:t>판결 등 참조</a:t>
            </a:r>
            <a:r>
              <a:rPr lang="en-US" altLang="ko-KR" sz="1400" dirty="0"/>
              <a:t>). </a:t>
            </a:r>
            <a:r>
              <a:rPr lang="ko-KR" altLang="en-US" sz="1400" dirty="0"/>
              <a:t>한편</a:t>
            </a:r>
            <a:r>
              <a:rPr lang="en-US" altLang="ko-KR" sz="1400" dirty="0"/>
              <a:t>, </a:t>
            </a:r>
            <a:r>
              <a:rPr lang="ko-KR" altLang="en-US" sz="1400" dirty="0"/>
              <a:t>청구범위는 발명의 설명에 기재된 기술적 사상의 전부 또는 일부를 특허발명의 보호범위로 특정한 것이고</a:t>
            </a:r>
            <a:r>
              <a:rPr lang="en-US" altLang="ko-KR" sz="1400" dirty="0"/>
              <a:t>, </a:t>
            </a:r>
            <a:r>
              <a:rPr lang="ko-KR" altLang="en-US" sz="1400" dirty="0"/>
              <a:t>발명의 설명에 기재된 모든 기술적 사상이 반드시 청구범위에 포함되어야 하는 것은 아니므로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특별한 사정이 없는 한 청구범위에 기재되어 있지 아니한 사항이 발명의 설명에 포함되어 있다고 하여 발명의 설명과 청구범위가 일치하지 아니하거나 모순이 있는 경우라고 보기는 어렵다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endParaRPr lang="ko-KR" altLang="en-US" sz="14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7" name="모서리가 둥근 직사각형 10">
            <a:extLst>
              <a:ext uri="{FF2B5EF4-FFF2-40B4-BE49-F238E27FC236}">
                <a16:creationId xmlns:a16="http://schemas.microsoft.com/office/drawing/2014/main" id="{45EA68D6-B151-4236-8FC3-05A69090F573}"/>
              </a:ext>
            </a:extLst>
          </p:cNvPr>
          <p:cNvSpPr/>
          <p:nvPr/>
        </p:nvSpPr>
        <p:spPr bwMode="auto">
          <a:xfrm>
            <a:off x="378418" y="1002199"/>
            <a:ext cx="5180410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2016. 11. 25.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2014</a:t>
            </a:r>
            <a:r>
              <a:rPr lang="ko-KR" altLang="en-US" sz="1400" dirty="0"/>
              <a:t>후</a:t>
            </a:r>
            <a:r>
              <a:rPr lang="en-US" altLang="ko-KR" sz="1400" dirty="0"/>
              <a:t>2184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28" name="Line 5">
            <a:extLst>
              <a:ext uri="{FF2B5EF4-FFF2-40B4-BE49-F238E27FC236}">
                <a16:creationId xmlns:a16="http://schemas.microsoft.com/office/drawing/2014/main" id="{13F99ADD-6D23-4CE0-87DA-F8CCBC916B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530" y="3559570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224E4B5-4D84-488F-8D06-D04D26750AFE}"/>
              </a:ext>
            </a:extLst>
          </p:cNvPr>
          <p:cNvSpPr txBox="1"/>
          <p:nvPr/>
        </p:nvSpPr>
        <p:spPr>
          <a:xfrm>
            <a:off x="809769" y="3815745"/>
            <a:ext cx="1373686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무효심판청구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피청구인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120805FA-2C23-44F4-9B48-B348D302DC13}"/>
              </a:ext>
            </a:extLst>
          </p:cNvPr>
          <p:cNvSpPr/>
          <p:nvPr/>
        </p:nvSpPr>
        <p:spPr>
          <a:xfrm>
            <a:off x="1419242" y="346563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E6888D3D-C256-43F6-8C1E-4DAA857AC472}"/>
              </a:ext>
            </a:extLst>
          </p:cNvPr>
          <p:cNvCxnSpPr>
            <a:cxnSpLocks/>
            <a:stCxn id="62" idx="0"/>
            <a:endCxn id="63" idx="4"/>
          </p:cNvCxnSpPr>
          <p:nvPr/>
        </p:nvCxnSpPr>
        <p:spPr>
          <a:xfrm flipH="1" flipV="1">
            <a:off x="1496611" y="3626974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타원 67">
            <a:extLst>
              <a:ext uri="{FF2B5EF4-FFF2-40B4-BE49-F238E27FC236}">
                <a16:creationId xmlns:a16="http://schemas.microsoft.com/office/drawing/2014/main" id="{E553C06C-FA6E-4FEE-B262-1B8A1EEEEF0D}"/>
              </a:ext>
            </a:extLst>
          </p:cNvPr>
          <p:cNvSpPr/>
          <p:nvPr/>
        </p:nvSpPr>
        <p:spPr>
          <a:xfrm>
            <a:off x="6929237" y="3465636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550D6AFC-FECA-4B08-B97D-0882AA74DA74}"/>
              </a:ext>
            </a:extLst>
          </p:cNvPr>
          <p:cNvCxnSpPr>
            <a:cxnSpLocks/>
            <a:endCxn id="68" idx="4"/>
          </p:cNvCxnSpPr>
          <p:nvPr/>
        </p:nvCxnSpPr>
        <p:spPr>
          <a:xfrm flipH="1" flipV="1">
            <a:off x="7006606" y="3626974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B2E886D-348E-4660-9F80-62206C26F4C0}"/>
              </a:ext>
            </a:extLst>
          </p:cNvPr>
          <p:cNvSpPr txBox="1"/>
          <p:nvPr/>
        </p:nvSpPr>
        <p:spPr>
          <a:xfrm>
            <a:off x="3467176" y="3815745"/>
            <a:ext cx="137368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정정청구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D7D5EDEB-FEAB-4929-BAB3-F6D4B602E0A4}"/>
              </a:ext>
            </a:extLst>
          </p:cNvPr>
          <p:cNvSpPr/>
          <p:nvPr/>
        </p:nvSpPr>
        <p:spPr>
          <a:xfrm>
            <a:off x="4076649" y="3465636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1BF1932-E169-4ADA-9A15-E7CFE29178EB}"/>
              </a:ext>
            </a:extLst>
          </p:cNvPr>
          <p:cNvCxnSpPr>
            <a:cxnSpLocks/>
            <a:stCxn id="50" idx="0"/>
            <a:endCxn id="51" idx="4"/>
          </p:cNvCxnSpPr>
          <p:nvPr/>
        </p:nvCxnSpPr>
        <p:spPr>
          <a:xfrm flipH="1" flipV="1">
            <a:off x="4154018" y="3626974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291FE0C1-888E-4BD2-8C7B-2C79F42CFD38}"/>
              </a:ext>
            </a:extLst>
          </p:cNvPr>
          <p:cNvSpPr txBox="1"/>
          <p:nvPr/>
        </p:nvSpPr>
        <p:spPr>
          <a:xfrm>
            <a:off x="2242009" y="4348918"/>
            <a:ext cx="2935738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특허발명의 청구범위 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 등에는 열 저장 팁의 재질로서 금속 또는 세라믹이 기재되어 있는데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</a:p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발명의 설명에는 열 저장 팁의 재질로서 금속 또는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세라믹뿐만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아니라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고밀도 플라스틱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복합물 등도 포함되는 것으로 기재되어 있다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 </a:t>
            </a:r>
          </a:p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 사건 정정청구는 이와 같이 열 저장 팁의 재질로서 청구범위에 기재되어 있지 아니한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고밀도 플라스틱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복합물 등을 발명의 설명에서 삭제하는 것을 내용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으로 한다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9326944-A0BC-4BDA-991E-D0A86122643B}"/>
              </a:ext>
            </a:extLst>
          </p:cNvPr>
          <p:cNvSpPr txBox="1"/>
          <p:nvPr/>
        </p:nvSpPr>
        <p:spPr>
          <a:xfrm>
            <a:off x="6327233" y="3815745"/>
            <a:ext cx="137368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 적법성 판단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3516863-A6B9-4F9F-A011-7019F6C61D8B}"/>
              </a:ext>
            </a:extLst>
          </p:cNvPr>
          <p:cNvSpPr txBox="1"/>
          <p:nvPr/>
        </p:nvSpPr>
        <p:spPr>
          <a:xfrm>
            <a:off x="5547446" y="4934925"/>
            <a:ext cx="2935738" cy="13849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발명의 설명에 기재된 고밀도 플라스틱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복합물 등은 그 기재 자체가 명료하지 아니한 것이라고 볼 수 없다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또한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청구범위에 기재되어 있지 아니한 고밀도 플라스틱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복합물 등이 발명의 설명에 포함되어 있다고 하여 발명의 설명과 청구범위가 일치하지 아니하거나 모순이 있는 경우라고 보기도 어렵다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E3265D5F-AFD6-4D2E-BDCC-A0CCCB6C8E52}"/>
              </a:ext>
            </a:extLst>
          </p:cNvPr>
          <p:cNvCxnSpPr>
            <a:cxnSpLocks/>
            <a:stCxn id="74" idx="0"/>
            <a:endCxn id="79" idx="2"/>
          </p:cNvCxnSpPr>
          <p:nvPr/>
        </p:nvCxnSpPr>
        <p:spPr>
          <a:xfrm flipH="1" flipV="1">
            <a:off x="7014076" y="4607654"/>
            <a:ext cx="1239" cy="3272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8B9CF5F1-49C5-4136-BB2A-1D06192304C0}"/>
              </a:ext>
            </a:extLst>
          </p:cNvPr>
          <p:cNvCxnSpPr>
            <a:stCxn id="50" idx="2"/>
            <a:endCxn id="53" idx="0"/>
          </p:cNvCxnSpPr>
          <p:nvPr/>
        </p:nvCxnSpPr>
        <p:spPr>
          <a:xfrm rot="5400000">
            <a:off x="3803862" y="3998761"/>
            <a:ext cx="256174" cy="44414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0F9DE5B9-E044-451A-8B77-D60BC5D01E96}"/>
              </a:ext>
            </a:extLst>
          </p:cNvPr>
          <p:cNvSpPr txBox="1"/>
          <p:nvPr/>
        </p:nvSpPr>
        <p:spPr>
          <a:xfrm>
            <a:off x="6327233" y="4330655"/>
            <a:ext cx="137368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 불인정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C95C24FD-561D-48C9-86C4-B6501A49FDA6}"/>
              </a:ext>
            </a:extLst>
          </p:cNvPr>
          <p:cNvCxnSpPr>
            <a:cxnSpLocks/>
            <a:stCxn id="79" idx="0"/>
            <a:endCxn id="61" idx="2"/>
          </p:cNvCxnSpPr>
          <p:nvPr/>
        </p:nvCxnSpPr>
        <p:spPr>
          <a:xfrm flipV="1">
            <a:off x="7014076" y="4092744"/>
            <a:ext cx="0" cy="2379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타원 86">
            <a:extLst>
              <a:ext uri="{FF2B5EF4-FFF2-40B4-BE49-F238E27FC236}">
                <a16:creationId xmlns:a16="http://schemas.microsoft.com/office/drawing/2014/main" id="{59B81DAE-DB08-48B6-BD00-25F434480AA8}"/>
              </a:ext>
            </a:extLst>
          </p:cNvPr>
          <p:cNvSpPr/>
          <p:nvPr/>
        </p:nvSpPr>
        <p:spPr>
          <a:xfrm>
            <a:off x="9859193" y="3465636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AFFBDCCF-A47B-44F9-94FA-F80EFB1A2E97}"/>
              </a:ext>
            </a:extLst>
          </p:cNvPr>
          <p:cNvCxnSpPr>
            <a:cxnSpLocks/>
            <a:endCxn id="87" idx="4"/>
          </p:cNvCxnSpPr>
          <p:nvPr/>
        </p:nvCxnSpPr>
        <p:spPr>
          <a:xfrm flipH="1" flipV="1">
            <a:off x="9936562" y="3626974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4F85C706-001E-4F8D-890D-A1A860DA3E62}"/>
              </a:ext>
            </a:extLst>
          </p:cNvPr>
          <p:cNvSpPr txBox="1"/>
          <p:nvPr/>
        </p:nvSpPr>
        <p:spPr>
          <a:xfrm>
            <a:off x="9257189" y="3815745"/>
            <a:ext cx="1373686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무효사유 판단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609201D-C9D4-4B3D-8846-B94D91E5BD5C}"/>
              </a:ext>
            </a:extLst>
          </p:cNvPr>
          <p:cNvSpPr txBox="1"/>
          <p:nvPr/>
        </p:nvSpPr>
        <p:spPr>
          <a:xfrm>
            <a:off x="9256007" y="4330655"/>
            <a:ext cx="1373686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 전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명세서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도면으로 판단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E0E91855-C81C-43EE-A74B-BC2E2FF7A86D}"/>
              </a:ext>
            </a:extLst>
          </p:cNvPr>
          <p:cNvCxnSpPr>
            <a:cxnSpLocks/>
            <a:stCxn id="99" idx="0"/>
          </p:cNvCxnSpPr>
          <p:nvPr/>
        </p:nvCxnSpPr>
        <p:spPr>
          <a:xfrm flipV="1">
            <a:off x="9942850" y="4092745"/>
            <a:ext cx="0" cy="23791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AAFFC041-B6D2-42F5-8D96-A5E3237AF7CB}"/>
              </a:ext>
            </a:extLst>
          </p:cNvPr>
          <p:cNvSpPr txBox="1"/>
          <p:nvPr/>
        </p:nvSpPr>
        <p:spPr>
          <a:xfrm>
            <a:off x="9256007" y="5215570"/>
            <a:ext cx="137368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ACAC1C8C-46A2-4581-8FA4-95CD184B422A}"/>
              </a:ext>
            </a:extLst>
          </p:cNvPr>
          <p:cNvCxnSpPr>
            <a:cxnSpLocks/>
            <a:stCxn id="101" idx="0"/>
          </p:cNvCxnSpPr>
          <p:nvPr/>
        </p:nvCxnSpPr>
        <p:spPr>
          <a:xfrm flipV="1">
            <a:off x="9942850" y="4977660"/>
            <a:ext cx="0" cy="23791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12074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타원 31">
            <a:extLst>
              <a:ext uri="{FF2B5EF4-FFF2-40B4-BE49-F238E27FC236}">
                <a16:creationId xmlns:a16="http://schemas.microsoft.com/office/drawing/2014/main" id="{19B33D72-DCD7-4F6E-2A12-11F7EF92DDBB}"/>
              </a:ext>
            </a:extLst>
          </p:cNvPr>
          <p:cNvSpPr/>
          <p:nvPr/>
        </p:nvSpPr>
        <p:spPr>
          <a:xfrm>
            <a:off x="1854681" y="4096003"/>
            <a:ext cx="177468" cy="17746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6DCB636F-1DB3-EF95-BCBB-E7461FCB7B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특허출원을 하였을 때 특허를 받을 수 있을 것</a:t>
            </a:r>
            <a:r>
              <a:rPr lang="en-US" altLang="ko-KR" sz="2400" dirty="0"/>
              <a:t>(</a:t>
            </a:r>
            <a:r>
              <a:rPr lang="ko-KR" altLang="en-US" sz="2400" dirty="0"/>
              <a:t>제</a:t>
            </a:r>
            <a:r>
              <a:rPr lang="en-US" altLang="ko-KR" sz="2400" dirty="0"/>
              <a:t>136</a:t>
            </a:r>
            <a:r>
              <a:rPr lang="ko-KR" altLang="en-US" sz="2400" dirty="0"/>
              <a:t>조제</a:t>
            </a:r>
            <a:r>
              <a:rPr lang="en-US" altLang="ko-KR" sz="2400" dirty="0"/>
              <a:t>5</a:t>
            </a:r>
            <a:r>
              <a:rPr lang="ko-KR" altLang="en-US" sz="2400" dirty="0"/>
              <a:t>항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Line 5"/>
          <p:cNvSpPr>
            <a:spLocks noChangeShapeType="1"/>
          </p:cNvSpPr>
          <p:nvPr/>
        </p:nvSpPr>
        <p:spPr bwMode="auto">
          <a:xfrm>
            <a:off x="349625" y="3586412"/>
            <a:ext cx="10775576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66467" y="342313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+mn-ea"/>
              </a:rPr>
              <a:t>특허출원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943415" y="342313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설정등록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325903" y="3423133"/>
            <a:ext cx="1145411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+mn-ea"/>
              </a:rPr>
              <a:t>정정심판청구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8D9C16F-8D9A-6B57-C500-C74B829E1EB2}"/>
              </a:ext>
            </a:extLst>
          </p:cNvPr>
          <p:cNvCxnSpPr/>
          <p:nvPr/>
        </p:nvCxnSpPr>
        <p:spPr>
          <a:xfrm>
            <a:off x="77875" y="282307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A88B71B-2B39-2A6D-6F23-B4BB3B008844}"/>
              </a:ext>
            </a:extLst>
          </p:cNvPr>
          <p:cNvSpPr txBox="1"/>
          <p:nvPr/>
        </p:nvSpPr>
        <p:spPr>
          <a:xfrm>
            <a:off x="77875" y="976902"/>
            <a:ext cx="1193632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청구범위를 감축하거나 잘못 기재된 사항을 정정하는 경우에는 정정 후의 청구범위에 적혀 있는 사항이 특허출원을 하였을 때에 특허를 받을 수 있는 것이어야 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法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136⑤).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정정 후의 청구범위에 기재된 발명이 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62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조의 거절이유에 해당하지 않아야 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다만 거절이유 중 배경기술의 기재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42③Ⅱ),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다항제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기재방법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42⑧),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하나의 특허출원의 범위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45)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는 심사의 신속성을 위한 절차적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특허요건이고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특허무효사유가 아니므로 이 요건을 적용하지 않는 것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이 타당하다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한편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청구범위를 감축하거나 잘못 기재된 사항을 정정하는 경우에만 본 요건에 해당하는지 여부를 판단하고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분명하지 아니하게 기재된 사항을 명확하게 하는 경우에는 본 요건에 해당하는지 여부를 판단하지 아니한다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따라서 정정대상으로 삼지 아니한 다른 부분에 분명하지 아니한 기재가 있다고 하더라도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이는 원칙적으로 별도의 정정심판이나 특허무효심판절차에서 다룰 사항에 불과하고 해당 정정을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</a:rPr>
              <a:t>불인정할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 사유는 되지 못한다고 할 것이다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. 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이는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정정한 명세서 또는 도면의 전체에 의하여 정정의 인정 여부를 판단하는데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정정대상으로 삼지 아니한 다른 부분에 분명하지 아니한 기재가 본 요건을 만족하지 못해 정정을 인정해 줄 수 없게 된다면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정정의 인정범위를 너무 좁혀 특허권자의 입장에서 실효적인 대응수단으로 작동할 수 없게 되기 때문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인 것으로 사료된다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.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C9EEB20-E064-0836-127B-5EDF625939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141905"/>
              </p:ext>
            </p:extLst>
          </p:nvPr>
        </p:nvGraphicFramePr>
        <p:xfrm>
          <a:off x="349625" y="4092264"/>
          <a:ext cx="4539669" cy="1832991"/>
        </p:xfrm>
        <a:graphic>
          <a:graphicData uri="http://schemas.openxmlformats.org/drawingml/2006/table">
            <a:tbl>
              <a:tblPr/>
              <a:tblGrid>
                <a:gridCol w="479219">
                  <a:extLst>
                    <a:ext uri="{9D8B030D-6E8A-4147-A177-3AD203B41FA5}">
                      <a16:colId xmlns:a16="http://schemas.microsoft.com/office/drawing/2014/main" val="4132942495"/>
                    </a:ext>
                  </a:extLst>
                </a:gridCol>
                <a:gridCol w="860305">
                  <a:extLst>
                    <a:ext uri="{9D8B030D-6E8A-4147-A177-3AD203B41FA5}">
                      <a16:colId xmlns:a16="http://schemas.microsoft.com/office/drawing/2014/main" val="1490272941"/>
                    </a:ext>
                  </a:extLst>
                </a:gridCol>
                <a:gridCol w="1385745">
                  <a:extLst>
                    <a:ext uri="{9D8B030D-6E8A-4147-A177-3AD203B41FA5}">
                      <a16:colId xmlns:a16="http://schemas.microsoft.com/office/drawing/2014/main" val="3251876981"/>
                    </a:ext>
                  </a:extLst>
                </a:gridCol>
                <a:gridCol w="1814400">
                  <a:extLst>
                    <a:ext uri="{9D8B030D-6E8A-4147-A177-3AD203B41FA5}">
                      <a16:colId xmlns:a16="http://schemas.microsoft.com/office/drawing/2014/main" val="4244405390"/>
                    </a:ext>
                  </a:extLst>
                </a:gridCol>
              </a:tblGrid>
              <a:tr h="25793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+mn-ea"/>
                          <a:ea typeface="+mn-ea"/>
                        </a:rPr>
                        <a:t>정정대상</a:t>
                      </a: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+mn-ea"/>
                          <a:ea typeface="+mn-ea"/>
                        </a:rPr>
                        <a:t>정정심판전 청구범위</a:t>
                      </a: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solidFill>
                            <a:srgbClr val="000000"/>
                          </a:solidFill>
                          <a:effectLst/>
                          <a:highlight>
                            <a:srgbClr val="F2F2F2"/>
                          </a:highlight>
                          <a:latin typeface="+mn-ea"/>
                          <a:ea typeface="+mn-ea"/>
                        </a:rPr>
                        <a:t>정정심판후 청구범위</a:t>
                      </a: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31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정정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사항 </a:t>
                      </a:r>
                      <a:r>
                        <a:rPr lang="en-US" altLang="ko-KR" sz="105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발명의 명칭</a:t>
                      </a: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워드프로세서의 단어목록 </a:t>
                      </a:r>
                      <a:r>
                        <a:rPr lang="ko-KR" altLang="en-US" sz="105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윈도</a:t>
                      </a: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워드프로세서의 단어목록 </a:t>
                      </a:r>
                      <a:r>
                        <a:rPr lang="ko-KR" altLang="en-US" sz="105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윈도를 나타내는 방법</a:t>
                      </a: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506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정정</a:t>
                      </a: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사항 </a:t>
                      </a:r>
                      <a:r>
                        <a:rPr lang="en-US" altLang="ko-KR" sz="105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05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내지</a:t>
                      </a: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청구항 </a:t>
                      </a:r>
                      <a:r>
                        <a:rPr lang="en-US" altLang="ko-KR" sz="105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······ </a:t>
                      </a:r>
                      <a:r>
                        <a:rPr lang="ko-KR" altLang="en-US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단어들</a:t>
                      </a:r>
                      <a:r>
                        <a:rPr lang="en-US" altLang="ko-KR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우선순위가 높은 단어들</a:t>
                      </a:r>
                      <a:r>
                        <a:rPr lang="en-US" altLang="ko-KR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을 화면에 나타내 주게 됨을 특징으로 하는 워드프로세서의 단어목록 </a:t>
                      </a:r>
                      <a:r>
                        <a:rPr lang="ko-KR" altLang="en-US" sz="105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윈도</a:t>
                      </a: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······ </a:t>
                      </a:r>
                      <a:r>
                        <a:rPr lang="ko-KR" altLang="en-US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단어들</a:t>
                      </a:r>
                      <a:r>
                        <a:rPr lang="en-US" altLang="ko-KR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우선순위가 높은 단어들</a:t>
                      </a:r>
                      <a:r>
                        <a:rPr lang="en-US" altLang="ko-KR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5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을 화면에 나타내 주게 됨을 특징으로 하는 워드프로세서의 단어목록 </a:t>
                      </a:r>
                      <a:r>
                        <a:rPr lang="ko-KR" altLang="en-US" sz="105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윈도를 나타내는 방법</a:t>
                      </a:r>
                    </a:p>
                  </a:txBody>
                  <a:tcPr marL="35941" marR="35941" marT="35941" marB="35941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14466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0ACF82F-FDC6-49F6-C0B1-B5A083755073}"/>
              </a:ext>
            </a:extLst>
          </p:cNvPr>
          <p:cNvSpPr txBox="1"/>
          <p:nvPr/>
        </p:nvSpPr>
        <p:spPr>
          <a:xfrm>
            <a:off x="5018311" y="342313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A8C7F8-3C15-4ABB-65A0-CECF0BCF22F1}"/>
              </a:ext>
            </a:extLst>
          </p:cNvPr>
          <p:cNvSpPr txBox="1"/>
          <p:nvPr/>
        </p:nvSpPr>
        <p:spPr>
          <a:xfrm>
            <a:off x="6685743" y="342313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소송제기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819CEBF-7D30-5057-E8EA-AF935560F30B}"/>
              </a:ext>
            </a:extLst>
          </p:cNvPr>
          <p:cNvSpPr txBox="1"/>
          <p:nvPr/>
        </p:nvSpPr>
        <p:spPr>
          <a:xfrm>
            <a:off x="8353175" y="342313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인용판결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FF90F7D9-E814-5E37-71BD-6851084A2A01}"/>
              </a:ext>
            </a:extLst>
          </p:cNvPr>
          <p:cNvCxnSpPr>
            <a:cxnSpLocks/>
            <a:stCxn id="32" idx="0"/>
            <a:endCxn id="42" idx="2"/>
          </p:cNvCxnSpPr>
          <p:nvPr/>
        </p:nvCxnSpPr>
        <p:spPr>
          <a:xfrm rot="5400000" flipH="1" flipV="1">
            <a:off x="2747856" y="2945250"/>
            <a:ext cx="346312" cy="195519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7E558F31-BE0C-DE04-E092-3E0265DCE179}"/>
              </a:ext>
            </a:extLst>
          </p:cNvPr>
          <p:cNvSpPr txBox="1"/>
          <p:nvPr/>
        </p:nvSpPr>
        <p:spPr>
          <a:xfrm>
            <a:off x="5187120" y="4042653"/>
            <a:ext cx="6861443" cy="249299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/>
              <a:t>[1] </a:t>
            </a:r>
            <a:r>
              <a:rPr lang="ko-KR" altLang="en-US" sz="1200" dirty="0"/>
              <a:t>구 특허법상의 정정심판 제도는 특허발명의 명세서나 도면에 잘못된 기재 또는 분명하지 아니한 기재가 있는 경우에 이를 바로 잡아 특허무효를 미리 방지할 뿐만 아니라</a:t>
            </a:r>
            <a:r>
              <a:rPr lang="en-US" altLang="ko-KR" sz="1200" dirty="0"/>
              <a:t>, </a:t>
            </a:r>
            <a:r>
              <a:rPr lang="ko-KR" altLang="en-US" sz="1200" dirty="0"/>
              <a:t>특허권 분쟁이 있는 경우에 그 권리관계를 명확히 하고자 하는데 그 의의가 있는 것이므로</a:t>
            </a:r>
            <a:r>
              <a:rPr lang="en-US" altLang="ko-KR" sz="1200" dirty="0"/>
              <a:t>, </a:t>
            </a:r>
            <a:r>
              <a:rPr lang="ko-KR" altLang="en-US" sz="1200" dirty="0"/>
              <a:t>구 </a:t>
            </a:r>
            <a:r>
              <a:rPr lang="ko-KR" altLang="en-US" sz="1200" dirty="0">
                <a:solidFill>
                  <a:srgbClr val="FF0000"/>
                </a:solidFill>
              </a:rPr>
              <a:t>특허법 제</a:t>
            </a:r>
            <a:r>
              <a:rPr lang="en-US" altLang="ko-KR" sz="1200" dirty="0">
                <a:solidFill>
                  <a:srgbClr val="FF0000"/>
                </a:solidFill>
              </a:rPr>
              <a:t>136</a:t>
            </a:r>
            <a:r>
              <a:rPr lang="ko-KR" altLang="en-US" sz="1200" dirty="0">
                <a:solidFill>
                  <a:srgbClr val="FF0000"/>
                </a:solidFill>
              </a:rPr>
              <a:t>조 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 제</a:t>
            </a:r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r>
              <a:rPr lang="ko-KR" altLang="en-US" sz="1200" dirty="0">
                <a:solidFill>
                  <a:srgbClr val="FF0000"/>
                </a:solidFill>
              </a:rPr>
              <a:t>호의 불명료한 기재에는 청구범위의 기재 내용 자체의 의미는 명백하더라도 발명의 카테고리가 분명하지 아니하여 발명의 내용을 명백히 확정할 수 없는 경우도 포함</a:t>
            </a:r>
            <a:r>
              <a:rPr lang="ko-KR" altLang="en-US" sz="1200" dirty="0"/>
              <a:t>된다고 봄이 타당하다</a:t>
            </a:r>
            <a:r>
              <a:rPr lang="en-US" altLang="ko-KR" sz="1200" dirty="0"/>
              <a:t>. </a:t>
            </a:r>
          </a:p>
          <a:p>
            <a:r>
              <a:rPr lang="en-US" altLang="ko-KR" sz="1200" dirty="0"/>
              <a:t>[2] </a:t>
            </a:r>
            <a:r>
              <a:rPr lang="ko-KR" altLang="en-US" sz="1200" dirty="0"/>
              <a:t>구 특허법 제</a:t>
            </a:r>
            <a:r>
              <a:rPr lang="en-US" altLang="ko-KR" sz="1200" dirty="0"/>
              <a:t>136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 제</a:t>
            </a:r>
            <a:r>
              <a:rPr lang="en-US" altLang="ko-KR" sz="1200" dirty="0"/>
              <a:t>3</a:t>
            </a:r>
            <a:r>
              <a:rPr lang="ko-KR" altLang="en-US" sz="1200" dirty="0"/>
              <a:t>호는 명세서나 도면에 대하여 ‘불명료하게 기재된 것을 석명하는 </a:t>
            </a:r>
            <a:r>
              <a:rPr lang="ko-KR" altLang="en-US" sz="1200" dirty="0" err="1"/>
              <a:t>경우’라고만</a:t>
            </a:r>
            <a:r>
              <a:rPr lang="ko-KR" altLang="en-US" sz="1200" dirty="0"/>
              <a:t> 규정하고 있을 뿐이고</a:t>
            </a:r>
            <a:r>
              <a:rPr lang="en-US" altLang="ko-KR" sz="1200" dirty="0"/>
              <a:t>, 1) ‘</a:t>
            </a:r>
            <a:r>
              <a:rPr lang="ko-KR" altLang="en-US" sz="1200" dirty="0"/>
              <a:t>명세서나 도면에 대하여 불명료하게 기재된 부분 </a:t>
            </a:r>
            <a:r>
              <a:rPr lang="ko-KR" altLang="en-US" sz="1200" dirty="0">
                <a:highlight>
                  <a:srgbClr val="FFFF00"/>
                </a:highlight>
              </a:rPr>
              <a:t>전체</a:t>
            </a:r>
            <a:r>
              <a:rPr lang="ko-KR" altLang="en-US" sz="1200" dirty="0"/>
              <a:t>를 석명하는 </a:t>
            </a:r>
            <a:r>
              <a:rPr lang="ko-KR" altLang="en-US" sz="1200" dirty="0" err="1"/>
              <a:t>경우’라고</a:t>
            </a:r>
            <a:r>
              <a:rPr lang="ko-KR" altLang="en-US" sz="1200" dirty="0"/>
              <a:t> 한정하고 있지 않은 점</a:t>
            </a:r>
            <a:r>
              <a:rPr lang="en-US" altLang="ko-KR" sz="1200" dirty="0"/>
              <a:t>, 2) </a:t>
            </a:r>
            <a:r>
              <a:rPr lang="ko-KR" altLang="en-US" sz="1200" dirty="0"/>
              <a:t>정정심판청구는 </a:t>
            </a:r>
            <a:r>
              <a:rPr lang="ko-KR" altLang="en-US" sz="1200" dirty="0">
                <a:highlight>
                  <a:srgbClr val="FFFF00"/>
                </a:highlight>
              </a:rPr>
              <a:t>횟수의 제한</a:t>
            </a:r>
            <a:r>
              <a:rPr lang="ko-KR" altLang="en-US" sz="1200" dirty="0"/>
              <a:t>이 없어 여러 차례에 걸쳐 할 수 있는 점</a:t>
            </a:r>
            <a:r>
              <a:rPr lang="en-US" altLang="ko-KR" sz="1200" dirty="0"/>
              <a:t>, 3) </a:t>
            </a:r>
            <a:r>
              <a:rPr lang="ko-KR" altLang="en-US" sz="1200" dirty="0"/>
              <a:t>구 특허법은 정정심판과 관련하여 청구범위를 감축하는 경우에만 정정 후의 청구범위에 기재된 사항이 특허 </a:t>
            </a:r>
            <a:r>
              <a:rPr lang="ko-KR" altLang="en-US" sz="1200" dirty="0" err="1"/>
              <a:t>출원시</a:t>
            </a:r>
            <a:r>
              <a:rPr lang="ko-KR" altLang="en-US" sz="1200" dirty="0"/>
              <a:t> 특허를 받을 수 있는 것이어야 한다고 규정하고 있을 뿐이고</a:t>
            </a:r>
            <a:r>
              <a:rPr lang="en-US" altLang="ko-KR" sz="1200" dirty="0"/>
              <a:t>(</a:t>
            </a:r>
            <a:r>
              <a:rPr lang="ko-KR" altLang="en-US" sz="1200" dirty="0"/>
              <a:t>제</a:t>
            </a:r>
            <a:r>
              <a:rPr lang="en-US" altLang="ko-KR" sz="1200" dirty="0"/>
              <a:t>136</a:t>
            </a:r>
            <a:r>
              <a:rPr lang="ko-KR" altLang="en-US" sz="1200" dirty="0"/>
              <a:t>조 제</a:t>
            </a:r>
            <a:r>
              <a:rPr lang="en-US" altLang="ko-KR" sz="1200" dirty="0"/>
              <a:t>3</a:t>
            </a:r>
            <a:r>
              <a:rPr lang="ko-KR" altLang="en-US" sz="1200" dirty="0"/>
              <a:t>항</a:t>
            </a:r>
            <a:r>
              <a:rPr lang="en-US" altLang="ko-KR" sz="1200" dirty="0"/>
              <a:t>), </a:t>
            </a:r>
            <a:r>
              <a:rPr lang="ko-KR" altLang="en-US" sz="1200" dirty="0">
                <a:highlight>
                  <a:srgbClr val="FFFF00"/>
                </a:highlight>
              </a:rPr>
              <a:t>불명료한 기재를 석명하는 경우까지도 위와 같은 특허요건을 구비해야 한다고 규정하고 있지 않은 점 </a:t>
            </a:r>
            <a:r>
              <a:rPr lang="ko-KR" altLang="en-US" sz="1200" dirty="0"/>
              <a:t>등을 고려하면</a:t>
            </a:r>
            <a:r>
              <a:rPr lang="en-US" altLang="ko-KR" sz="1200" dirty="0"/>
              <a:t>,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정정심판청구에서 그 정정대상으로 삼지 않은 다른 부분에 불명료한 기재가 있다고 하더라도</a:t>
            </a:r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이는 원칙적으로 별도의 정정심판이나 무효심판절차에서 다룰 사항에 불과하고 당해 정정심판청구를 기각할 사유는 되지 못한다</a:t>
            </a:r>
            <a:r>
              <a:rPr lang="ko-KR" altLang="en-US" sz="1200" dirty="0"/>
              <a:t>고 보아야 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C6F0E8D-508D-09A5-169A-740D214F8151}"/>
              </a:ext>
            </a:extLst>
          </p:cNvPr>
          <p:cNvSpPr txBox="1"/>
          <p:nvPr/>
        </p:nvSpPr>
        <p:spPr>
          <a:xfrm>
            <a:off x="7505132" y="3761333"/>
            <a:ext cx="28401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특허법원 </a:t>
            </a:r>
            <a:r>
              <a:rPr lang="en-US" altLang="ko-KR" sz="1200" dirty="0">
                <a:solidFill>
                  <a:srgbClr val="FF0000"/>
                </a:solidFill>
              </a:rPr>
              <a:t>2012. 10. 25. </a:t>
            </a:r>
            <a:r>
              <a:rPr lang="ko-KR" altLang="en-US" sz="1200" dirty="0">
                <a:solidFill>
                  <a:srgbClr val="FF0000"/>
                </a:solidFill>
              </a:rPr>
              <a:t>선고 </a:t>
            </a:r>
            <a:r>
              <a:rPr lang="en-US" altLang="ko-KR" sz="1200" dirty="0">
                <a:solidFill>
                  <a:srgbClr val="FF0000"/>
                </a:solidFill>
              </a:rPr>
              <a:t>2012</a:t>
            </a:r>
            <a:r>
              <a:rPr lang="ko-KR" altLang="en-US" sz="1200" dirty="0">
                <a:solidFill>
                  <a:srgbClr val="FF0000"/>
                </a:solidFill>
              </a:rPr>
              <a:t>허</a:t>
            </a:r>
            <a:r>
              <a:rPr lang="en-US" altLang="ko-KR" sz="1200" dirty="0">
                <a:solidFill>
                  <a:srgbClr val="FF0000"/>
                </a:solidFill>
              </a:rPr>
              <a:t>6342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84623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5653342A-DE60-68EC-EE28-9C7CC5587919}"/>
              </a:ext>
            </a:extLst>
          </p:cNvPr>
          <p:cNvSpPr/>
          <p:nvPr/>
        </p:nvSpPr>
        <p:spPr>
          <a:xfrm>
            <a:off x="2505805" y="5368478"/>
            <a:ext cx="2594510" cy="231733"/>
          </a:xfrm>
          <a:prstGeom prst="round2SameRect">
            <a:avLst>
              <a:gd name="adj1" fmla="val 50000"/>
              <a:gd name="adj2" fmla="val 0"/>
            </a:avLst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5">
                    <a:lumMod val="50000"/>
                  </a:schemeClr>
                </a:solidFill>
              </a:rPr>
              <a:t>심판원 계속 중</a:t>
            </a:r>
          </a:p>
        </p:txBody>
      </p:sp>
      <p:sp>
        <p:nvSpPr>
          <p:cNvPr id="8" name="사각형: 둥근 위쪽 모서리 7">
            <a:extLst>
              <a:ext uri="{FF2B5EF4-FFF2-40B4-BE49-F238E27FC236}">
                <a16:creationId xmlns:a16="http://schemas.microsoft.com/office/drawing/2014/main" id="{8F425A68-DED2-184F-07B9-A1C6D8C4AEB7}"/>
              </a:ext>
            </a:extLst>
          </p:cNvPr>
          <p:cNvSpPr/>
          <p:nvPr/>
        </p:nvSpPr>
        <p:spPr>
          <a:xfrm>
            <a:off x="2505805" y="2443173"/>
            <a:ext cx="2594510" cy="231733"/>
          </a:xfrm>
          <a:prstGeom prst="round2SameRect">
            <a:avLst>
              <a:gd name="adj1" fmla="val 50000"/>
              <a:gd name="adj2" fmla="val 0"/>
            </a:avLst>
          </a:prstGeom>
          <a:pattFill prst="pct20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accent5">
                    <a:lumMod val="50000"/>
                  </a:schemeClr>
                </a:solidFill>
              </a:rPr>
              <a:t>심판원 계속 중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D603A43-CB96-4863-9E4F-F285074A94EA}"/>
              </a:ext>
            </a:extLst>
          </p:cNvPr>
          <p:cNvGrpSpPr/>
          <p:nvPr/>
        </p:nvGrpSpPr>
        <p:grpSpPr>
          <a:xfrm>
            <a:off x="2487077" y="5648209"/>
            <a:ext cx="8638111" cy="830847"/>
            <a:chOff x="2487077" y="5573658"/>
            <a:chExt cx="8638111" cy="1051186"/>
          </a:xfrm>
        </p:grpSpPr>
        <p:cxnSp>
          <p:nvCxnSpPr>
            <p:cNvPr id="145" name="직선 연결선 144"/>
            <p:cNvCxnSpPr/>
            <p:nvPr/>
          </p:nvCxnSpPr>
          <p:spPr>
            <a:xfrm>
              <a:off x="2487077" y="5606838"/>
              <a:ext cx="0" cy="100532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직선 연결선 145"/>
            <p:cNvCxnSpPr/>
            <p:nvPr/>
          </p:nvCxnSpPr>
          <p:spPr>
            <a:xfrm>
              <a:off x="5130395" y="5573658"/>
              <a:ext cx="0" cy="100532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직선 연결선 146"/>
            <p:cNvCxnSpPr/>
            <p:nvPr/>
          </p:nvCxnSpPr>
          <p:spPr>
            <a:xfrm>
              <a:off x="9315678" y="5619523"/>
              <a:ext cx="0" cy="100532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직선 연결선 147"/>
            <p:cNvCxnSpPr/>
            <p:nvPr/>
          </p:nvCxnSpPr>
          <p:spPr>
            <a:xfrm>
              <a:off x="11125188" y="5619523"/>
              <a:ext cx="0" cy="100532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 err="1"/>
              <a:t>정정심판</a:t>
            </a:r>
            <a:r>
              <a:rPr lang="ko-KR" altLang="en-US" dirty="0"/>
              <a:t> </a:t>
            </a:r>
            <a:r>
              <a:rPr lang="ko-KR" altLang="en-US" dirty="0" err="1"/>
              <a:t>청구기간의</a:t>
            </a:r>
            <a:r>
              <a:rPr lang="ko-KR" altLang="en-US" dirty="0"/>
              <a:t> 예외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875" y="986046"/>
            <a:ext cx="11936323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200" dirty="0">
                <a:solidFill>
                  <a:srgbClr val="FF0000"/>
                </a:solidFill>
              </a:rPr>
              <a:t>특허취소신청이 특허심판원에 계속 중인 때부터 그 결정이 확정될 때까지의 기간에는 정정심판을 청구할 수 없다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法 </a:t>
            </a:r>
            <a:r>
              <a:rPr lang="en-US" altLang="ko-KR" sz="1200" dirty="0">
                <a:solidFill>
                  <a:srgbClr val="FF0000"/>
                </a:solidFill>
              </a:rPr>
              <a:t>136②Ⅰ</a:t>
            </a:r>
            <a:r>
              <a:rPr lang="ko-KR" altLang="en-US" sz="1200" dirty="0">
                <a:solidFill>
                  <a:srgbClr val="FF0000"/>
                </a:solidFill>
              </a:rPr>
              <a:t>본문</a:t>
            </a:r>
            <a:r>
              <a:rPr lang="en-US" altLang="ko-KR" sz="1200" dirty="0">
                <a:solidFill>
                  <a:srgbClr val="FF0000"/>
                </a:solidFill>
              </a:rPr>
              <a:t>). </a:t>
            </a:r>
            <a:r>
              <a:rPr lang="ko-KR" altLang="en-US" sz="1200" dirty="0">
                <a:solidFill>
                  <a:schemeClr val="tx2"/>
                </a:solidFill>
              </a:rPr>
              <a:t>이는 특허취소신청에 대한 심판의 신속한 처리를 위한 것으로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특허취소신청이 특허심판원에 계속 중인 경우에는 특허권자가 특허의 정정청구를 할 수 있으므로 특허권자에게 방어권이 주어지고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특허법원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대법원에 계속 중인 경우에는 </a:t>
            </a:r>
            <a:r>
              <a:rPr lang="ko-KR" altLang="en-US" sz="1200">
                <a:solidFill>
                  <a:schemeClr val="tx2"/>
                </a:solidFill>
              </a:rPr>
              <a:t>지식재산처장이 특허심판원에 </a:t>
            </a:r>
            <a:r>
              <a:rPr lang="ko-KR" altLang="en-US" sz="1200" dirty="0">
                <a:solidFill>
                  <a:schemeClr val="tx2"/>
                </a:solidFill>
              </a:rPr>
              <a:t>제출하지 않았던 새로운 특허취소신청의 이유나 증거를 제출할 수 없을 것이므로 정정심판을 청구하지 못하더라도 특허권자의 </a:t>
            </a:r>
            <a:r>
              <a:rPr lang="ko-KR" altLang="en-US" sz="1200" dirty="0" err="1">
                <a:solidFill>
                  <a:schemeClr val="tx2"/>
                </a:solidFill>
              </a:rPr>
              <a:t>방어권</a:t>
            </a:r>
            <a:r>
              <a:rPr lang="ko-KR" altLang="en-US" sz="1200" dirty="0">
                <a:solidFill>
                  <a:schemeClr val="tx2"/>
                </a:solidFill>
              </a:rPr>
              <a:t> 행사를 제한하는 것은 아니기 때문이다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다만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특허무효심판의 </a:t>
            </a:r>
            <a:r>
              <a:rPr lang="ko-KR" altLang="en-US" sz="1200" dirty="0" err="1">
                <a:solidFill>
                  <a:srgbClr val="FF0000"/>
                </a:solidFill>
              </a:rPr>
              <a:t>심결</a:t>
            </a:r>
            <a:r>
              <a:rPr lang="ko-KR" altLang="en-US" sz="1200" dirty="0">
                <a:solidFill>
                  <a:srgbClr val="FF0000"/>
                </a:solidFill>
              </a:rPr>
              <a:t> 또는 정정의 무효심판의 </a:t>
            </a:r>
            <a:r>
              <a:rPr lang="ko-KR" altLang="en-US" sz="1200" dirty="0" err="1">
                <a:solidFill>
                  <a:srgbClr val="FF0000"/>
                </a:solidFill>
              </a:rPr>
              <a:t>심결에</a:t>
            </a:r>
            <a:r>
              <a:rPr lang="ko-KR" altLang="en-US" sz="1200" dirty="0">
                <a:solidFill>
                  <a:srgbClr val="FF0000"/>
                </a:solidFill>
              </a:rPr>
              <a:t> 대한 소가 특허법원에 계속 중인 경우에는 특허법원에서 변론이 종결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변론 없이 한 판결의 경우에는 판결의 선고를 말한다</a:t>
            </a:r>
            <a:r>
              <a:rPr lang="en-US" altLang="ko-KR" sz="1200" dirty="0">
                <a:solidFill>
                  <a:srgbClr val="FF0000"/>
                </a:solidFill>
              </a:rPr>
              <a:t>)</a:t>
            </a:r>
            <a:r>
              <a:rPr lang="ko-KR" altLang="en-US" sz="1200" dirty="0">
                <a:solidFill>
                  <a:srgbClr val="FF0000"/>
                </a:solidFill>
              </a:rPr>
              <a:t>된 날까지 정정심판을 청구할 수 있다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法 </a:t>
            </a:r>
            <a:r>
              <a:rPr lang="en-US" altLang="ko-KR" sz="1200" dirty="0">
                <a:solidFill>
                  <a:srgbClr val="FF0000"/>
                </a:solidFill>
              </a:rPr>
              <a:t>136②Ⅰ</a:t>
            </a:r>
            <a:r>
              <a:rPr lang="ko-KR" altLang="en-US" sz="1200" dirty="0">
                <a:solidFill>
                  <a:srgbClr val="FF0000"/>
                </a:solidFill>
              </a:rPr>
              <a:t>단서</a:t>
            </a:r>
            <a:r>
              <a:rPr lang="en-US" altLang="ko-KR" sz="1200" dirty="0">
                <a:solidFill>
                  <a:srgbClr val="FF0000"/>
                </a:solidFill>
              </a:rPr>
              <a:t>).</a:t>
            </a:r>
          </a:p>
        </p:txBody>
      </p:sp>
      <p:sp>
        <p:nvSpPr>
          <p:cNvPr id="29" name="Line 5"/>
          <p:cNvSpPr>
            <a:spLocks noChangeShapeType="1"/>
          </p:cNvSpPr>
          <p:nvPr/>
        </p:nvSpPr>
        <p:spPr bwMode="auto">
          <a:xfrm>
            <a:off x="328662" y="2710233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31" name="타원 30"/>
          <p:cNvSpPr/>
          <p:nvPr/>
        </p:nvSpPr>
        <p:spPr>
          <a:xfrm>
            <a:off x="941691" y="261913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2" name="직선 화살표 연결선 31"/>
          <p:cNvCxnSpPr>
            <a:stCxn id="30" idx="2"/>
            <a:endCxn id="31" idx="0"/>
          </p:cNvCxnSpPr>
          <p:nvPr/>
        </p:nvCxnSpPr>
        <p:spPr>
          <a:xfrm flipH="1" flipV="1">
            <a:off x="1019060" y="2619136"/>
            <a:ext cx="1" cy="18270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타원 52"/>
          <p:cNvSpPr/>
          <p:nvPr/>
        </p:nvSpPr>
        <p:spPr>
          <a:xfrm>
            <a:off x="5042750" y="261913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4" name="직선 화살표 연결선 53"/>
          <p:cNvCxnSpPr>
            <a:stCxn id="52" idx="2"/>
            <a:endCxn id="53" idx="0"/>
          </p:cNvCxnSpPr>
          <p:nvPr/>
        </p:nvCxnSpPr>
        <p:spPr>
          <a:xfrm flipH="1" flipV="1">
            <a:off x="5120119" y="2619136"/>
            <a:ext cx="1" cy="18270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타원 55"/>
          <p:cNvSpPr/>
          <p:nvPr/>
        </p:nvSpPr>
        <p:spPr>
          <a:xfrm>
            <a:off x="2409708" y="2619136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7" name="직선 화살표 연결선 56"/>
          <p:cNvCxnSpPr>
            <a:stCxn id="55" idx="2"/>
            <a:endCxn id="56" idx="0"/>
          </p:cNvCxnSpPr>
          <p:nvPr/>
        </p:nvCxnSpPr>
        <p:spPr>
          <a:xfrm flipH="1">
            <a:off x="2487077" y="2510520"/>
            <a:ext cx="1" cy="1086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타원 58"/>
          <p:cNvSpPr/>
          <p:nvPr/>
        </p:nvSpPr>
        <p:spPr>
          <a:xfrm>
            <a:off x="5747111" y="2619136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0" name="직선 화살표 연결선 59"/>
          <p:cNvCxnSpPr>
            <a:stCxn id="58" idx="2"/>
            <a:endCxn id="59" idx="0"/>
          </p:cNvCxnSpPr>
          <p:nvPr/>
        </p:nvCxnSpPr>
        <p:spPr>
          <a:xfrm flipH="1">
            <a:off x="5824480" y="2510520"/>
            <a:ext cx="1" cy="1086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타원 61"/>
          <p:cNvSpPr/>
          <p:nvPr/>
        </p:nvSpPr>
        <p:spPr>
          <a:xfrm>
            <a:off x="9241370" y="2619136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3" name="직선 화살표 연결선 62"/>
          <p:cNvCxnSpPr>
            <a:stCxn id="61" idx="2"/>
            <a:endCxn id="62" idx="0"/>
          </p:cNvCxnSpPr>
          <p:nvPr/>
        </p:nvCxnSpPr>
        <p:spPr>
          <a:xfrm flipH="1">
            <a:off x="9318739" y="2510520"/>
            <a:ext cx="1" cy="1086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>
            <a:cxnSpLocks/>
          </p:cNvCxnSpPr>
          <p:nvPr/>
        </p:nvCxnSpPr>
        <p:spPr>
          <a:xfrm>
            <a:off x="2487077" y="3079266"/>
            <a:ext cx="263304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>
            <a:cxnSpLocks/>
          </p:cNvCxnSpPr>
          <p:nvPr/>
        </p:nvCxnSpPr>
        <p:spPr>
          <a:xfrm>
            <a:off x="5120119" y="3079266"/>
            <a:ext cx="6005069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2487077" y="2767745"/>
            <a:ext cx="0" cy="100532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/>
          <p:cNvCxnSpPr/>
          <p:nvPr/>
        </p:nvCxnSpPr>
        <p:spPr>
          <a:xfrm>
            <a:off x="5121769" y="3060196"/>
            <a:ext cx="0" cy="100532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/>
          <p:cNvCxnSpPr/>
          <p:nvPr/>
        </p:nvCxnSpPr>
        <p:spPr>
          <a:xfrm>
            <a:off x="9315678" y="3060196"/>
            <a:ext cx="0" cy="100532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/>
          <p:nvPr/>
        </p:nvCxnSpPr>
        <p:spPr>
          <a:xfrm>
            <a:off x="11125188" y="3060196"/>
            <a:ext cx="0" cy="100532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타원 81"/>
          <p:cNvSpPr/>
          <p:nvPr/>
        </p:nvSpPr>
        <p:spPr>
          <a:xfrm>
            <a:off x="11047819" y="261913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229883" y="2929117"/>
            <a:ext cx="128753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정정심판청구불가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25773" y="2929117"/>
            <a:ext cx="376898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정정심판청구불가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새로운 취소신청이유나 증거 제출 불가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86" name="직선 연결선 85"/>
          <p:cNvCxnSpPr>
            <a:cxnSpLocks/>
          </p:cNvCxnSpPr>
          <p:nvPr/>
        </p:nvCxnSpPr>
        <p:spPr>
          <a:xfrm>
            <a:off x="2487077" y="3334752"/>
            <a:ext cx="2633042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3379653" y="3184603"/>
            <a:ext cx="101181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정정청구가능</a:t>
            </a:r>
          </a:p>
        </p:txBody>
      </p:sp>
      <p:cxnSp>
        <p:nvCxnSpPr>
          <p:cNvPr id="88" name="직선 연결선 87"/>
          <p:cNvCxnSpPr>
            <a:cxnSpLocks/>
          </p:cNvCxnSpPr>
          <p:nvPr/>
        </p:nvCxnSpPr>
        <p:spPr>
          <a:xfrm>
            <a:off x="2487077" y="3832910"/>
            <a:ext cx="8638111" cy="1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3253772" y="3693755"/>
            <a:ext cx="7255732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단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ko-KR" altLang="en-US" sz="1200" dirty="0" err="1">
                <a:solidFill>
                  <a:schemeClr val="tx2">
                    <a:lumMod val="50000"/>
                  </a:schemeClr>
                </a:solidFill>
              </a:rPr>
              <a:t>무효심판에</a:t>
            </a:r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 대한 심결취소소송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ko-KR" altLang="en-US" sz="1200" dirty="0" err="1">
                <a:solidFill>
                  <a:schemeClr val="tx2">
                    <a:lumMod val="50000"/>
                  </a:schemeClr>
                </a:solidFill>
              </a:rPr>
              <a:t>무제한설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이 특허법원에 계속 중인 경우에는 변론종결 전까지 정정심판청구 가능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9522" y="2570104"/>
            <a:ext cx="959078" cy="231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특허등록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627881" y="2570104"/>
            <a:ext cx="984478" cy="231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취소결정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853608" y="2108949"/>
            <a:ext cx="1266940" cy="401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특허심판원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특허취소신청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91011" y="2108949"/>
            <a:ext cx="1266940" cy="401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특허법원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취소소송제기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5270" y="2108949"/>
            <a:ext cx="1266940" cy="401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대법원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77250" y="2570104"/>
            <a:ext cx="1295878" cy="231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취소결정확정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0" name="Line 5"/>
          <p:cNvSpPr>
            <a:spLocks noChangeShapeType="1"/>
          </p:cNvSpPr>
          <p:nvPr/>
        </p:nvSpPr>
        <p:spPr bwMode="auto">
          <a:xfrm>
            <a:off x="328662" y="5616923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131" name="타원 130"/>
          <p:cNvSpPr/>
          <p:nvPr/>
        </p:nvSpPr>
        <p:spPr>
          <a:xfrm>
            <a:off x="941691" y="552582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32" name="직선 화살표 연결선 131"/>
          <p:cNvCxnSpPr>
            <a:stCxn id="156" idx="2"/>
            <a:endCxn id="131" idx="0"/>
          </p:cNvCxnSpPr>
          <p:nvPr/>
        </p:nvCxnSpPr>
        <p:spPr>
          <a:xfrm flipH="1" flipV="1">
            <a:off x="1019060" y="5525826"/>
            <a:ext cx="1" cy="18270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타원 132"/>
          <p:cNvSpPr/>
          <p:nvPr/>
        </p:nvSpPr>
        <p:spPr>
          <a:xfrm>
            <a:off x="5047919" y="552582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34" name="직선 화살표 연결선 133"/>
          <p:cNvCxnSpPr>
            <a:stCxn id="157" idx="2"/>
            <a:endCxn id="133" idx="0"/>
          </p:cNvCxnSpPr>
          <p:nvPr/>
        </p:nvCxnSpPr>
        <p:spPr>
          <a:xfrm flipH="1" flipV="1">
            <a:off x="5125288" y="5525826"/>
            <a:ext cx="1" cy="18270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타원 134"/>
          <p:cNvSpPr/>
          <p:nvPr/>
        </p:nvSpPr>
        <p:spPr>
          <a:xfrm>
            <a:off x="2409708" y="5525826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36" name="직선 화살표 연결선 135"/>
          <p:cNvCxnSpPr>
            <a:cxnSpLocks/>
            <a:stCxn id="158" idx="2"/>
            <a:endCxn id="135" idx="0"/>
          </p:cNvCxnSpPr>
          <p:nvPr/>
        </p:nvCxnSpPr>
        <p:spPr>
          <a:xfrm flipH="1">
            <a:off x="2487077" y="5417210"/>
            <a:ext cx="1" cy="1086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타원 136"/>
          <p:cNvSpPr/>
          <p:nvPr/>
        </p:nvSpPr>
        <p:spPr>
          <a:xfrm>
            <a:off x="5747111" y="5525826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38" name="직선 화살표 연결선 137"/>
          <p:cNvCxnSpPr>
            <a:stCxn id="159" idx="2"/>
            <a:endCxn id="137" idx="0"/>
          </p:cNvCxnSpPr>
          <p:nvPr/>
        </p:nvCxnSpPr>
        <p:spPr>
          <a:xfrm flipH="1">
            <a:off x="5824480" y="5417210"/>
            <a:ext cx="1" cy="1086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타원 138"/>
          <p:cNvSpPr/>
          <p:nvPr/>
        </p:nvSpPr>
        <p:spPr>
          <a:xfrm>
            <a:off x="9241370" y="5525826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40" name="직선 화살표 연결선 139"/>
          <p:cNvCxnSpPr>
            <a:stCxn id="160" idx="2"/>
            <a:endCxn id="139" idx="0"/>
          </p:cNvCxnSpPr>
          <p:nvPr/>
        </p:nvCxnSpPr>
        <p:spPr>
          <a:xfrm flipH="1">
            <a:off x="9318739" y="5417210"/>
            <a:ext cx="1" cy="1086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/>
          <p:cNvCxnSpPr>
            <a:cxnSpLocks/>
          </p:cNvCxnSpPr>
          <p:nvPr/>
        </p:nvCxnSpPr>
        <p:spPr>
          <a:xfrm>
            <a:off x="2487077" y="5941301"/>
            <a:ext cx="2643318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/>
          <p:cNvCxnSpPr>
            <a:cxnSpLocks/>
          </p:cNvCxnSpPr>
          <p:nvPr/>
        </p:nvCxnSpPr>
        <p:spPr>
          <a:xfrm>
            <a:off x="5130395" y="5929651"/>
            <a:ext cx="5994793" cy="1165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타원 148"/>
          <p:cNvSpPr/>
          <p:nvPr/>
        </p:nvSpPr>
        <p:spPr>
          <a:xfrm>
            <a:off x="11047819" y="5525826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3229883" y="5791152"/>
            <a:ext cx="1287532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chemeClr val="tx2">
                    <a:lumMod val="50000"/>
                  </a:schemeClr>
                </a:solidFill>
              </a:rPr>
              <a:t>정정심판청구불가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08308" y="5768886"/>
            <a:ext cx="514176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정정심판청구가능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무제한설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)</a:t>
            </a:r>
          </a:p>
          <a:p>
            <a:pPr algn="ctr"/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단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ko-KR" altLang="en-US" sz="1200" dirty="0" err="1">
                <a:solidFill>
                  <a:schemeClr val="tx2">
                    <a:lumMod val="50000"/>
                  </a:schemeClr>
                </a:solidFill>
              </a:rPr>
              <a:t>심결취소소송의</a:t>
            </a:r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 사실심 변론종결 이후에 </a:t>
            </a:r>
            <a:r>
              <a:rPr lang="ko-KR" altLang="en-US" sz="1200" dirty="0" err="1">
                <a:solidFill>
                  <a:schemeClr val="tx2">
                    <a:lumMod val="50000"/>
                  </a:schemeClr>
                </a:solidFill>
              </a:rPr>
              <a:t>정정심결이</a:t>
            </a:r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 확정되면 판결 영향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X</a:t>
            </a:r>
            <a:endParaRPr lang="ko-KR" altLang="en-US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152" name="직선 연결선 151"/>
          <p:cNvCxnSpPr>
            <a:cxnSpLocks/>
          </p:cNvCxnSpPr>
          <p:nvPr/>
        </p:nvCxnSpPr>
        <p:spPr>
          <a:xfrm flipV="1">
            <a:off x="2487077" y="6338425"/>
            <a:ext cx="2633042" cy="1165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2998588" y="6199926"/>
            <a:ext cx="1846980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정정청구가능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(</a:t>
            </a:r>
            <a:r>
              <a:rPr lang="ko-KR" altLang="en-US" sz="1200" dirty="0" err="1">
                <a:solidFill>
                  <a:schemeClr val="tx2">
                    <a:lumMod val="50000"/>
                  </a:schemeClr>
                </a:solidFill>
              </a:rPr>
              <a:t>방어권</a:t>
            </a:r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 부여</a:t>
            </a:r>
            <a:r>
              <a:rPr lang="en-US" altLang="ko-KR" sz="1200" dirty="0">
                <a:solidFill>
                  <a:schemeClr val="tx2">
                    <a:lumMod val="50000"/>
                  </a:schemeClr>
                </a:solidFill>
              </a:rPr>
              <a:t>)</a:t>
            </a:r>
            <a:endParaRPr lang="ko-KR" altLang="en-US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156" name="TextBox 155"/>
          <p:cNvSpPr txBox="1"/>
          <p:nvPr/>
        </p:nvSpPr>
        <p:spPr>
          <a:xfrm>
            <a:off x="539522" y="5476794"/>
            <a:ext cx="959078" cy="231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특허등록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7" name="TextBox 156"/>
          <p:cNvSpPr txBox="1"/>
          <p:nvPr/>
        </p:nvSpPr>
        <p:spPr>
          <a:xfrm>
            <a:off x="4633050" y="5476794"/>
            <a:ext cx="984478" cy="231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무효심결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1744273" y="5015639"/>
            <a:ext cx="1485610" cy="401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특허심판원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특허무효심판청구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191011" y="5015639"/>
            <a:ext cx="1266940" cy="401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특허법원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취소소송제기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8685270" y="5015639"/>
            <a:ext cx="1266940" cy="40157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대법원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477250" y="5476794"/>
            <a:ext cx="1295878" cy="2317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무효심결확정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484</a:t>
            </a:r>
            <a:endParaRPr lang="ko-KR" altLang="en-US" dirty="0"/>
          </a:p>
        </p:txBody>
      </p:sp>
      <p:sp>
        <p:nvSpPr>
          <p:cNvPr id="129" name="TextBox 128"/>
          <p:cNvSpPr txBox="1"/>
          <p:nvPr/>
        </p:nvSpPr>
        <p:spPr>
          <a:xfrm>
            <a:off x="77875" y="4083297"/>
            <a:ext cx="11936323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200" dirty="0">
                <a:solidFill>
                  <a:srgbClr val="FF0000"/>
                </a:solidFill>
              </a:rPr>
              <a:t>특허무효심판 또는 정정의 </a:t>
            </a:r>
            <a:r>
              <a:rPr lang="ko-KR" altLang="en-US" sz="1200" dirty="0" err="1">
                <a:solidFill>
                  <a:srgbClr val="FF0000"/>
                </a:solidFill>
              </a:rPr>
              <a:t>무효심판이</a:t>
            </a:r>
            <a:r>
              <a:rPr lang="ko-KR" altLang="en-US" sz="1200" dirty="0">
                <a:solidFill>
                  <a:srgbClr val="FF0000"/>
                </a:solidFill>
              </a:rPr>
              <a:t> 특허심판원에 계속 중인 기간에는 </a:t>
            </a:r>
            <a:r>
              <a:rPr lang="ko-KR" altLang="en-US" sz="1200" dirty="0" err="1">
                <a:solidFill>
                  <a:srgbClr val="FF0000"/>
                </a:solidFill>
              </a:rPr>
              <a:t>정정심판을</a:t>
            </a:r>
            <a:r>
              <a:rPr lang="ko-KR" altLang="en-US" sz="1200" dirty="0">
                <a:solidFill>
                  <a:srgbClr val="FF0000"/>
                </a:solidFill>
              </a:rPr>
              <a:t> 청구할 수 없다</a:t>
            </a:r>
            <a:r>
              <a:rPr lang="en-US" altLang="ko-KR" sz="1200" dirty="0">
                <a:solidFill>
                  <a:srgbClr val="FF0000"/>
                </a:solidFill>
              </a:rPr>
              <a:t>(</a:t>
            </a:r>
            <a:r>
              <a:rPr lang="ko-KR" altLang="en-US" sz="1200" dirty="0">
                <a:solidFill>
                  <a:srgbClr val="FF0000"/>
                </a:solidFill>
              </a:rPr>
              <a:t>法 </a:t>
            </a:r>
            <a:r>
              <a:rPr lang="en-US" altLang="ko-KR" sz="1200" dirty="0">
                <a:solidFill>
                  <a:srgbClr val="FF0000"/>
                </a:solidFill>
              </a:rPr>
              <a:t>136</a:t>
            </a:r>
            <a:r>
              <a:rPr lang="ko-KR" altLang="en-US" sz="1200" dirty="0">
                <a:solidFill>
                  <a:srgbClr val="FF0000"/>
                </a:solidFill>
              </a:rPr>
              <a:t>②</a:t>
            </a:r>
            <a:r>
              <a:rPr lang="en-US" altLang="ko-KR" sz="1200" dirty="0">
                <a:solidFill>
                  <a:srgbClr val="FF0000"/>
                </a:solidFill>
              </a:rPr>
              <a:t>Ⅱ). </a:t>
            </a:r>
            <a:r>
              <a:rPr lang="ko-KR" altLang="en-US" sz="1200" dirty="0">
                <a:solidFill>
                  <a:schemeClr val="tx2"/>
                </a:solidFill>
              </a:rPr>
              <a:t>이는 해당 절차 내에서 인정되는 특허의 정정청구를 하는 것이 절차의 신속한 진행과 </a:t>
            </a:r>
            <a:r>
              <a:rPr lang="ko-KR" altLang="en-US" sz="1200" dirty="0" err="1">
                <a:solidFill>
                  <a:schemeClr val="tx2"/>
                </a:solidFill>
              </a:rPr>
              <a:t>심결</a:t>
            </a:r>
            <a:r>
              <a:rPr lang="ko-KR" altLang="en-US" sz="1200" dirty="0">
                <a:solidFill>
                  <a:schemeClr val="tx2"/>
                </a:solidFill>
              </a:rPr>
              <a:t> 또는 결정의 </a:t>
            </a:r>
            <a:r>
              <a:rPr lang="ko-KR" altLang="en-US" sz="1200" dirty="0" err="1">
                <a:solidFill>
                  <a:schemeClr val="tx2"/>
                </a:solidFill>
              </a:rPr>
              <a:t>모순ㆍ저촉을</a:t>
            </a:r>
            <a:r>
              <a:rPr lang="ko-KR" altLang="en-US" sz="1200" dirty="0">
                <a:solidFill>
                  <a:schemeClr val="tx2"/>
                </a:solidFill>
              </a:rPr>
              <a:t> 피할 수 있기 때문이다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그러나 특허법원 또는 대법원에 계속되어 있는 경우에는 </a:t>
            </a:r>
            <a:r>
              <a:rPr lang="ko-KR" altLang="en-US" sz="1200" dirty="0" err="1">
                <a:solidFill>
                  <a:schemeClr val="tx2"/>
                </a:solidFill>
              </a:rPr>
              <a:t>정정심판을</a:t>
            </a:r>
            <a:r>
              <a:rPr lang="ko-KR" altLang="en-US" sz="1200" dirty="0">
                <a:solidFill>
                  <a:schemeClr val="tx2"/>
                </a:solidFill>
              </a:rPr>
              <a:t> 청구할 수 있다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이는 특허법원의 </a:t>
            </a:r>
            <a:r>
              <a:rPr lang="ko-KR" altLang="en-US" sz="1200" dirty="0" err="1">
                <a:solidFill>
                  <a:schemeClr val="tx2"/>
                </a:solidFill>
              </a:rPr>
              <a:t>심리범위는</a:t>
            </a:r>
            <a:r>
              <a:rPr lang="ko-KR" altLang="en-US" sz="1200" dirty="0">
                <a:solidFill>
                  <a:schemeClr val="tx2"/>
                </a:solidFill>
              </a:rPr>
              <a:t> 원칙적으로 </a:t>
            </a:r>
            <a:r>
              <a:rPr lang="ko-KR" altLang="en-US" sz="1200" dirty="0" err="1">
                <a:solidFill>
                  <a:schemeClr val="tx2"/>
                </a:solidFill>
              </a:rPr>
              <a:t>무제한설을</a:t>
            </a:r>
            <a:r>
              <a:rPr lang="ko-KR" altLang="en-US" sz="1200" dirty="0">
                <a:solidFill>
                  <a:schemeClr val="tx2"/>
                </a:solidFill>
              </a:rPr>
              <a:t> 채택하고 있기 때문에 무효심판청구인은 소송단계에서 그 전에 제출하였던 증거보다 더 확실한 새로운 증거를 제출할 수 있으므로 </a:t>
            </a:r>
            <a:r>
              <a:rPr lang="ko-KR" altLang="en-US" sz="1200" dirty="0" err="1">
                <a:solidFill>
                  <a:schemeClr val="tx2"/>
                </a:solidFill>
              </a:rPr>
              <a:t>특허권자에게도</a:t>
            </a:r>
            <a:r>
              <a:rPr lang="ko-KR" altLang="en-US" sz="1200" dirty="0">
                <a:solidFill>
                  <a:schemeClr val="tx2"/>
                </a:solidFill>
              </a:rPr>
              <a:t> 그 새로운 증거에 대한 대응방법으로서 </a:t>
            </a:r>
            <a:r>
              <a:rPr lang="ko-KR" altLang="en-US" sz="1200" dirty="0" err="1">
                <a:solidFill>
                  <a:schemeClr val="tx2"/>
                </a:solidFill>
              </a:rPr>
              <a:t>정정심판을</a:t>
            </a:r>
            <a:r>
              <a:rPr lang="ko-KR" altLang="en-US" sz="1200" dirty="0">
                <a:solidFill>
                  <a:schemeClr val="tx2"/>
                </a:solidFill>
              </a:rPr>
              <a:t> 제기할 수 있도록 한 것이다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245F1E9-EFB7-AC34-C487-278AB68AD7BD}"/>
              </a:ext>
            </a:extLst>
          </p:cNvPr>
          <p:cNvCxnSpPr>
            <a:cxnSpLocks/>
          </p:cNvCxnSpPr>
          <p:nvPr/>
        </p:nvCxnSpPr>
        <p:spPr>
          <a:xfrm>
            <a:off x="5121768" y="3334752"/>
            <a:ext cx="6003420" cy="0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907690A-D7CC-B874-EEB5-98E31B7124A6}"/>
              </a:ext>
            </a:extLst>
          </p:cNvPr>
          <p:cNvSpPr txBox="1"/>
          <p:nvPr/>
        </p:nvSpPr>
        <p:spPr>
          <a:xfrm>
            <a:off x="7523863" y="3184603"/>
            <a:ext cx="1011815" cy="276999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정정청구불가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8C266DA-A845-8ADE-A95A-4BA2A79869CF}"/>
              </a:ext>
            </a:extLst>
          </p:cNvPr>
          <p:cNvCxnSpPr>
            <a:cxnSpLocks/>
          </p:cNvCxnSpPr>
          <p:nvPr/>
        </p:nvCxnSpPr>
        <p:spPr>
          <a:xfrm flipV="1">
            <a:off x="5130395" y="6323551"/>
            <a:ext cx="5994793" cy="2652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AC068D21-02EE-9FCD-A016-9EB0D117A960}"/>
              </a:ext>
            </a:extLst>
          </p:cNvPr>
          <p:cNvSpPr txBox="1"/>
          <p:nvPr/>
        </p:nvSpPr>
        <p:spPr>
          <a:xfrm>
            <a:off x="7121080" y="6208891"/>
            <a:ext cx="184698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2">
                    <a:lumMod val="50000"/>
                  </a:schemeClr>
                </a:solidFill>
              </a:rPr>
              <a:t>정정청구불가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0CDA7EE-7BC9-D9C1-4AB0-EBEEF7426356}"/>
              </a:ext>
            </a:extLst>
          </p:cNvPr>
          <p:cNvSpPr/>
          <p:nvPr/>
        </p:nvSpPr>
        <p:spPr>
          <a:xfrm>
            <a:off x="2487078" y="2929117"/>
            <a:ext cx="2555672" cy="51799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830044-ACBD-81F9-6420-CEB49023F05B}"/>
              </a:ext>
            </a:extLst>
          </p:cNvPr>
          <p:cNvSpPr txBox="1"/>
          <p:nvPr/>
        </p:nvSpPr>
        <p:spPr>
          <a:xfrm>
            <a:off x="3299014" y="3414907"/>
            <a:ext cx="12506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solidFill>
                  <a:srgbClr val="FF0000"/>
                </a:solidFill>
              </a:rPr>
              <a:t>방어권</a:t>
            </a:r>
            <a:r>
              <a:rPr lang="ko-KR" altLang="en-US" sz="1600" dirty="0">
                <a:solidFill>
                  <a:srgbClr val="FF0000"/>
                </a:solidFill>
              </a:rPr>
              <a:t> 부여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435212D-5FBF-CA34-AE21-D52AD2B6F00F}"/>
              </a:ext>
            </a:extLst>
          </p:cNvPr>
          <p:cNvSpPr/>
          <p:nvPr/>
        </p:nvSpPr>
        <p:spPr>
          <a:xfrm>
            <a:off x="5197488" y="2929117"/>
            <a:ext cx="5924838" cy="51799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740FC5-09B4-9A33-B29F-8BFF9BD9B9D0}"/>
              </a:ext>
            </a:extLst>
          </p:cNvPr>
          <p:cNvSpPr txBox="1"/>
          <p:nvPr/>
        </p:nvSpPr>
        <p:spPr>
          <a:xfrm>
            <a:off x="7485248" y="3414907"/>
            <a:ext cx="15691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solidFill>
                  <a:srgbClr val="FF0000"/>
                </a:solidFill>
              </a:rPr>
              <a:t>방어권</a:t>
            </a:r>
            <a:r>
              <a:rPr lang="ko-KR" altLang="en-US" sz="1600" dirty="0">
                <a:solidFill>
                  <a:srgbClr val="FF0000"/>
                </a:solidFill>
              </a:rPr>
              <a:t> 불필요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ED8204F-E707-BCE7-7DFF-5F2EBBD39226}"/>
              </a:ext>
            </a:extLst>
          </p:cNvPr>
          <p:cNvSpPr/>
          <p:nvPr/>
        </p:nvSpPr>
        <p:spPr>
          <a:xfrm>
            <a:off x="2487078" y="5778261"/>
            <a:ext cx="2555672" cy="72311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24999C-CFD1-7A77-AC23-AE41C0478333}"/>
              </a:ext>
            </a:extLst>
          </p:cNvPr>
          <p:cNvSpPr txBox="1"/>
          <p:nvPr/>
        </p:nvSpPr>
        <p:spPr>
          <a:xfrm>
            <a:off x="3299014" y="6469171"/>
            <a:ext cx="12506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solidFill>
                  <a:srgbClr val="FF0000"/>
                </a:solidFill>
              </a:rPr>
              <a:t>방어권</a:t>
            </a:r>
            <a:r>
              <a:rPr lang="ko-KR" altLang="en-US" sz="1600" dirty="0">
                <a:solidFill>
                  <a:srgbClr val="FF0000"/>
                </a:solidFill>
              </a:rPr>
              <a:t> 부여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6A3E283-ACDF-F4AD-DCE3-B6271783B43F}"/>
              </a:ext>
            </a:extLst>
          </p:cNvPr>
          <p:cNvSpPr/>
          <p:nvPr/>
        </p:nvSpPr>
        <p:spPr>
          <a:xfrm>
            <a:off x="5148042" y="5778261"/>
            <a:ext cx="5974279" cy="72311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D50D21-B08C-A4FB-CC73-210272866FDA}"/>
              </a:ext>
            </a:extLst>
          </p:cNvPr>
          <p:cNvSpPr txBox="1"/>
          <p:nvPr/>
        </p:nvSpPr>
        <p:spPr>
          <a:xfrm>
            <a:off x="7642355" y="6469171"/>
            <a:ext cx="124116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solidFill>
                  <a:srgbClr val="FF0000"/>
                </a:solidFill>
              </a:rPr>
              <a:t>방어권</a:t>
            </a:r>
            <a:r>
              <a:rPr lang="ko-KR" altLang="en-US" sz="1600" dirty="0">
                <a:solidFill>
                  <a:srgbClr val="FF0000"/>
                </a:solidFill>
              </a:rPr>
              <a:t> 부여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1F7BD0-DAC6-D765-80EC-0B9B85B8625F}"/>
              </a:ext>
            </a:extLst>
          </p:cNvPr>
          <p:cNvSpPr txBox="1"/>
          <p:nvPr/>
        </p:nvSpPr>
        <p:spPr>
          <a:xfrm>
            <a:off x="2368472" y="3076387"/>
            <a:ext cx="13388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accent1"/>
                </a:solidFill>
              </a:rPr>
              <a:t>제</a:t>
            </a:r>
            <a:r>
              <a:rPr lang="en-US" altLang="ko-KR" sz="900" dirty="0">
                <a:solidFill>
                  <a:schemeClr val="accent1"/>
                </a:solidFill>
              </a:rPr>
              <a:t>136</a:t>
            </a:r>
            <a:r>
              <a:rPr lang="ko-KR" altLang="en-US" sz="900" dirty="0">
                <a:solidFill>
                  <a:schemeClr val="accent1"/>
                </a:solidFill>
              </a:rPr>
              <a:t>조제</a:t>
            </a:r>
            <a:r>
              <a:rPr lang="en-US" altLang="ko-KR" sz="900" dirty="0">
                <a:solidFill>
                  <a:schemeClr val="accent1"/>
                </a:solidFill>
              </a:rPr>
              <a:t>2</a:t>
            </a:r>
            <a:r>
              <a:rPr lang="ko-KR" altLang="en-US" sz="900" dirty="0" err="1">
                <a:solidFill>
                  <a:schemeClr val="accent1"/>
                </a:solidFill>
              </a:rPr>
              <a:t>항제</a:t>
            </a:r>
            <a:r>
              <a:rPr lang="en-US" altLang="ko-KR" sz="900" dirty="0">
                <a:solidFill>
                  <a:schemeClr val="accent1"/>
                </a:solidFill>
              </a:rPr>
              <a:t>1</a:t>
            </a:r>
            <a:r>
              <a:rPr lang="ko-KR" altLang="en-US" sz="900" dirty="0" err="1">
                <a:solidFill>
                  <a:schemeClr val="accent1"/>
                </a:solidFill>
              </a:rPr>
              <a:t>호본문</a:t>
            </a:r>
            <a:endParaRPr lang="ko-KR" altLang="en-US" sz="900" dirty="0">
              <a:solidFill>
                <a:schemeClr val="accent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8A839A-22E0-F463-8744-4E69B31493F7}"/>
              </a:ext>
            </a:extLst>
          </p:cNvPr>
          <p:cNvSpPr txBox="1"/>
          <p:nvPr/>
        </p:nvSpPr>
        <p:spPr>
          <a:xfrm>
            <a:off x="9116930" y="3103282"/>
            <a:ext cx="13388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accent1"/>
                </a:solidFill>
              </a:rPr>
              <a:t>제</a:t>
            </a:r>
            <a:r>
              <a:rPr lang="en-US" altLang="ko-KR" sz="900" dirty="0">
                <a:solidFill>
                  <a:schemeClr val="accent1"/>
                </a:solidFill>
              </a:rPr>
              <a:t>136</a:t>
            </a:r>
            <a:r>
              <a:rPr lang="ko-KR" altLang="en-US" sz="900" dirty="0">
                <a:solidFill>
                  <a:schemeClr val="accent1"/>
                </a:solidFill>
              </a:rPr>
              <a:t>조제</a:t>
            </a:r>
            <a:r>
              <a:rPr lang="en-US" altLang="ko-KR" sz="900" dirty="0">
                <a:solidFill>
                  <a:schemeClr val="accent1"/>
                </a:solidFill>
              </a:rPr>
              <a:t>2</a:t>
            </a:r>
            <a:r>
              <a:rPr lang="ko-KR" altLang="en-US" sz="900" dirty="0" err="1">
                <a:solidFill>
                  <a:schemeClr val="accent1"/>
                </a:solidFill>
              </a:rPr>
              <a:t>항제</a:t>
            </a:r>
            <a:r>
              <a:rPr lang="en-US" altLang="ko-KR" sz="900" dirty="0">
                <a:solidFill>
                  <a:schemeClr val="accent1"/>
                </a:solidFill>
              </a:rPr>
              <a:t>1</a:t>
            </a:r>
            <a:r>
              <a:rPr lang="ko-KR" altLang="en-US" sz="900" dirty="0" err="1">
                <a:solidFill>
                  <a:schemeClr val="accent1"/>
                </a:solidFill>
              </a:rPr>
              <a:t>호본문</a:t>
            </a:r>
            <a:endParaRPr lang="ko-KR" altLang="en-US" sz="900" dirty="0">
              <a:solidFill>
                <a:schemeClr val="accent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B8FFDF-DA35-DF77-59B6-806D1F655A37}"/>
              </a:ext>
            </a:extLst>
          </p:cNvPr>
          <p:cNvSpPr txBox="1"/>
          <p:nvPr/>
        </p:nvSpPr>
        <p:spPr>
          <a:xfrm>
            <a:off x="2545282" y="3443539"/>
            <a:ext cx="7537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accent1"/>
                </a:solidFill>
              </a:rPr>
              <a:t>제</a:t>
            </a:r>
            <a:r>
              <a:rPr lang="en-US" altLang="ko-KR" sz="900" dirty="0">
                <a:solidFill>
                  <a:schemeClr val="accent1"/>
                </a:solidFill>
              </a:rPr>
              <a:t>132</a:t>
            </a:r>
            <a:r>
              <a:rPr lang="ko-KR" altLang="en-US" sz="900" dirty="0">
                <a:solidFill>
                  <a:schemeClr val="accent1"/>
                </a:solidFill>
              </a:rPr>
              <a:t>조의</a:t>
            </a:r>
            <a:r>
              <a:rPr lang="en-US" altLang="ko-KR" sz="900" dirty="0">
                <a:solidFill>
                  <a:schemeClr val="accent1"/>
                </a:solidFill>
              </a:rPr>
              <a:t>3</a:t>
            </a:r>
            <a:endParaRPr lang="ko-KR" altLang="en-US" sz="900" dirty="0">
              <a:solidFill>
                <a:schemeClr val="accent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291310-C4A1-6A9C-3661-D3656F28060F}"/>
              </a:ext>
            </a:extLst>
          </p:cNvPr>
          <p:cNvSpPr txBox="1"/>
          <p:nvPr/>
        </p:nvSpPr>
        <p:spPr>
          <a:xfrm>
            <a:off x="9937370" y="3875234"/>
            <a:ext cx="13388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accent1"/>
                </a:solidFill>
              </a:rPr>
              <a:t>제</a:t>
            </a:r>
            <a:r>
              <a:rPr lang="en-US" altLang="ko-KR" sz="900" dirty="0">
                <a:solidFill>
                  <a:schemeClr val="accent1"/>
                </a:solidFill>
              </a:rPr>
              <a:t>136</a:t>
            </a:r>
            <a:r>
              <a:rPr lang="ko-KR" altLang="en-US" sz="900" dirty="0">
                <a:solidFill>
                  <a:schemeClr val="accent1"/>
                </a:solidFill>
              </a:rPr>
              <a:t>조제</a:t>
            </a:r>
            <a:r>
              <a:rPr lang="en-US" altLang="ko-KR" sz="900" dirty="0">
                <a:solidFill>
                  <a:schemeClr val="accent1"/>
                </a:solidFill>
              </a:rPr>
              <a:t>2</a:t>
            </a:r>
            <a:r>
              <a:rPr lang="ko-KR" altLang="en-US" sz="900" dirty="0" err="1">
                <a:solidFill>
                  <a:schemeClr val="accent1"/>
                </a:solidFill>
              </a:rPr>
              <a:t>항제</a:t>
            </a:r>
            <a:r>
              <a:rPr lang="en-US" altLang="ko-KR" sz="900" dirty="0">
                <a:solidFill>
                  <a:schemeClr val="accent1"/>
                </a:solidFill>
              </a:rPr>
              <a:t>1</a:t>
            </a:r>
            <a:r>
              <a:rPr lang="ko-KR" altLang="en-US" sz="900" dirty="0" err="1">
                <a:solidFill>
                  <a:schemeClr val="accent1"/>
                </a:solidFill>
              </a:rPr>
              <a:t>호단서</a:t>
            </a:r>
            <a:endParaRPr lang="ko-KR" altLang="en-US" sz="900" dirty="0">
              <a:solidFill>
                <a:schemeClr val="accent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C8EA36-B15A-1CBE-DDF8-3652F452243C}"/>
              </a:ext>
            </a:extLst>
          </p:cNvPr>
          <p:cNvSpPr txBox="1"/>
          <p:nvPr/>
        </p:nvSpPr>
        <p:spPr>
          <a:xfrm>
            <a:off x="2368472" y="5944982"/>
            <a:ext cx="11304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accent1"/>
                </a:solidFill>
              </a:rPr>
              <a:t>제</a:t>
            </a:r>
            <a:r>
              <a:rPr lang="en-US" altLang="ko-KR" sz="900" dirty="0">
                <a:solidFill>
                  <a:schemeClr val="accent1"/>
                </a:solidFill>
              </a:rPr>
              <a:t>136</a:t>
            </a:r>
            <a:r>
              <a:rPr lang="ko-KR" altLang="en-US" sz="900" dirty="0">
                <a:solidFill>
                  <a:schemeClr val="accent1"/>
                </a:solidFill>
              </a:rPr>
              <a:t>조제</a:t>
            </a:r>
            <a:r>
              <a:rPr lang="en-US" altLang="ko-KR" sz="900" dirty="0">
                <a:solidFill>
                  <a:schemeClr val="accent1"/>
                </a:solidFill>
              </a:rPr>
              <a:t>2</a:t>
            </a:r>
            <a:r>
              <a:rPr lang="ko-KR" altLang="en-US" sz="900" dirty="0" err="1">
                <a:solidFill>
                  <a:schemeClr val="accent1"/>
                </a:solidFill>
              </a:rPr>
              <a:t>항제</a:t>
            </a:r>
            <a:r>
              <a:rPr lang="en-US" altLang="ko-KR" sz="900" dirty="0">
                <a:solidFill>
                  <a:schemeClr val="accent1"/>
                </a:solidFill>
              </a:rPr>
              <a:t>2</a:t>
            </a:r>
            <a:r>
              <a:rPr lang="ko-KR" altLang="en-US" sz="900" dirty="0">
                <a:solidFill>
                  <a:schemeClr val="accent1"/>
                </a:solidFill>
              </a:rPr>
              <a:t>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C00E00-14BF-B22E-C99F-8B01D03FED29}"/>
              </a:ext>
            </a:extLst>
          </p:cNvPr>
          <p:cNvSpPr txBox="1"/>
          <p:nvPr/>
        </p:nvSpPr>
        <p:spPr>
          <a:xfrm>
            <a:off x="8883526" y="5800487"/>
            <a:ext cx="113043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accent1"/>
                </a:solidFill>
              </a:rPr>
              <a:t>제</a:t>
            </a:r>
            <a:r>
              <a:rPr lang="en-US" altLang="ko-KR" sz="900" dirty="0">
                <a:solidFill>
                  <a:schemeClr val="accent1"/>
                </a:solidFill>
              </a:rPr>
              <a:t>136</a:t>
            </a:r>
            <a:r>
              <a:rPr lang="ko-KR" altLang="en-US" sz="900" dirty="0">
                <a:solidFill>
                  <a:schemeClr val="accent1"/>
                </a:solidFill>
              </a:rPr>
              <a:t>조제</a:t>
            </a:r>
            <a:r>
              <a:rPr lang="en-US" altLang="ko-KR" sz="900" dirty="0">
                <a:solidFill>
                  <a:schemeClr val="accent1"/>
                </a:solidFill>
              </a:rPr>
              <a:t>2</a:t>
            </a:r>
            <a:r>
              <a:rPr lang="ko-KR" altLang="en-US" sz="900" dirty="0" err="1">
                <a:solidFill>
                  <a:schemeClr val="accent1"/>
                </a:solidFill>
              </a:rPr>
              <a:t>항제</a:t>
            </a:r>
            <a:r>
              <a:rPr lang="en-US" altLang="ko-KR" sz="900" dirty="0">
                <a:solidFill>
                  <a:schemeClr val="accent1"/>
                </a:solidFill>
              </a:rPr>
              <a:t>2</a:t>
            </a:r>
            <a:r>
              <a:rPr lang="ko-KR" altLang="en-US" sz="900" dirty="0">
                <a:solidFill>
                  <a:schemeClr val="accent1"/>
                </a:solidFill>
              </a:rPr>
              <a:t>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D87631-4BAA-C0C5-BF83-A7FC7A0E3D8F}"/>
              </a:ext>
            </a:extLst>
          </p:cNvPr>
          <p:cNvSpPr txBox="1"/>
          <p:nvPr/>
        </p:nvSpPr>
        <p:spPr>
          <a:xfrm>
            <a:off x="2329048" y="6318551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chemeClr val="accent1"/>
                </a:solidFill>
              </a:rPr>
              <a:t>제</a:t>
            </a:r>
            <a:r>
              <a:rPr lang="en-US" altLang="ko-KR" sz="900" dirty="0">
                <a:solidFill>
                  <a:schemeClr val="accent1"/>
                </a:solidFill>
              </a:rPr>
              <a:t>133</a:t>
            </a:r>
            <a:r>
              <a:rPr lang="ko-KR" altLang="en-US" sz="900" dirty="0">
                <a:solidFill>
                  <a:schemeClr val="accent1"/>
                </a:solidFill>
              </a:rPr>
              <a:t>조의</a:t>
            </a:r>
            <a:r>
              <a:rPr lang="en-US" altLang="ko-KR" sz="900" dirty="0">
                <a:solidFill>
                  <a:schemeClr val="accent1"/>
                </a:solidFill>
              </a:rPr>
              <a:t>2</a:t>
            </a:r>
          </a:p>
          <a:p>
            <a:r>
              <a:rPr lang="ko-KR" altLang="en-US" sz="900" dirty="0">
                <a:solidFill>
                  <a:schemeClr val="accent1"/>
                </a:solidFill>
              </a:rPr>
              <a:t>제</a:t>
            </a:r>
            <a:r>
              <a:rPr lang="en-US" altLang="ko-KR" sz="900" dirty="0">
                <a:solidFill>
                  <a:schemeClr val="accent1"/>
                </a:solidFill>
              </a:rPr>
              <a:t>137</a:t>
            </a:r>
            <a:r>
              <a:rPr lang="ko-KR" altLang="en-US" sz="900" dirty="0">
                <a:solidFill>
                  <a:schemeClr val="accent1"/>
                </a:solidFill>
              </a:rPr>
              <a:t>조제</a:t>
            </a:r>
            <a:r>
              <a:rPr lang="en-US" altLang="ko-KR" sz="900" dirty="0">
                <a:solidFill>
                  <a:schemeClr val="accent1"/>
                </a:solidFill>
              </a:rPr>
              <a:t>3</a:t>
            </a:r>
            <a:r>
              <a:rPr lang="ko-KR" altLang="en-US" sz="900" dirty="0">
                <a:solidFill>
                  <a:schemeClr val="accent1"/>
                </a:solidFill>
              </a:rPr>
              <a:t>항</a:t>
            </a:r>
            <a:r>
              <a:rPr lang="en-US" altLang="ko-KR" sz="900" dirty="0">
                <a:solidFill>
                  <a:schemeClr val="accent1"/>
                </a:solidFill>
              </a:rPr>
              <a:t>, </a:t>
            </a:r>
            <a:r>
              <a:rPr lang="ko-KR" altLang="en-US" sz="900" dirty="0">
                <a:solidFill>
                  <a:schemeClr val="accent1"/>
                </a:solidFill>
              </a:rPr>
              <a:t>제</a:t>
            </a:r>
            <a:r>
              <a:rPr lang="en-US" altLang="ko-KR" sz="900" dirty="0">
                <a:solidFill>
                  <a:schemeClr val="accent1"/>
                </a:solidFill>
              </a:rPr>
              <a:t>4</a:t>
            </a:r>
            <a:r>
              <a:rPr lang="ko-KR" altLang="en-US" sz="900" dirty="0">
                <a:solidFill>
                  <a:schemeClr val="accent1"/>
                </a:solidFill>
              </a:rPr>
              <a:t>항</a:t>
            </a:r>
          </a:p>
        </p:txBody>
      </p:sp>
    </p:spTree>
    <p:extLst>
      <p:ext uri="{BB962C8B-B14F-4D97-AF65-F5344CB8AC3E}">
        <p14:creationId xmlns:p14="http://schemas.microsoft.com/office/powerpoint/2010/main" val="357782635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정정심판의 청구 </a:t>
            </a:r>
            <a:r>
              <a:rPr lang="en-US" altLang="ko-KR" dirty="0">
                <a:solidFill>
                  <a:srgbClr val="525252"/>
                </a:solidFill>
              </a:rPr>
              <a:t>vs </a:t>
            </a:r>
            <a:r>
              <a:rPr lang="ko-KR" altLang="en-US" dirty="0">
                <a:solidFill>
                  <a:srgbClr val="525252"/>
                </a:solidFill>
              </a:rPr>
              <a:t>무효심판의 청구</a:t>
            </a:r>
            <a:r>
              <a:rPr lang="en-US" altLang="ko-KR" dirty="0">
                <a:solidFill>
                  <a:srgbClr val="525252"/>
                </a:solidFill>
              </a:rPr>
              <a:t>(</a:t>
            </a:r>
            <a:r>
              <a:rPr lang="ko-KR" altLang="en-US" dirty="0">
                <a:solidFill>
                  <a:srgbClr val="525252"/>
                </a:solidFill>
              </a:rPr>
              <a:t>취소신청</a:t>
            </a:r>
            <a:r>
              <a:rPr lang="en-US" altLang="ko-KR" dirty="0">
                <a:solidFill>
                  <a:srgbClr val="525252"/>
                </a:solidFill>
              </a:rPr>
              <a:t>)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38" name="Line 5">
            <a:extLst>
              <a:ext uri="{FF2B5EF4-FFF2-40B4-BE49-F238E27FC236}">
                <a16:creationId xmlns:a16="http://schemas.microsoft.com/office/drawing/2014/main" id="{AF5CD259-4E21-4E60-9742-039AF330FE7C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662" y="1514901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E053B32-ECB4-4A42-9C6C-0F80B5BD1B64}"/>
              </a:ext>
            </a:extLst>
          </p:cNvPr>
          <p:cNvSpPr txBox="1"/>
          <p:nvPr/>
        </p:nvSpPr>
        <p:spPr>
          <a:xfrm>
            <a:off x="834365" y="1359523"/>
            <a:ext cx="1559212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특허무효심판청구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FD2A6F-AF05-4BF9-9A19-41D47DD2ED1D}"/>
              </a:ext>
            </a:extLst>
          </p:cNvPr>
          <p:cNvSpPr txBox="1"/>
          <p:nvPr/>
        </p:nvSpPr>
        <p:spPr>
          <a:xfrm>
            <a:off x="3313305" y="1359523"/>
            <a:ext cx="1559212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정정청구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00083D-B7E0-462A-BAFE-DD627B6FF15E}"/>
              </a:ext>
            </a:extLst>
          </p:cNvPr>
          <p:cNvSpPr txBox="1"/>
          <p:nvPr/>
        </p:nvSpPr>
        <p:spPr>
          <a:xfrm>
            <a:off x="5786931" y="1359523"/>
            <a:ext cx="1532906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정정적법성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판단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2488A3-3F11-4A86-9AA6-2B00C3AEF153}"/>
              </a:ext>
            </a:extLst>
          </p:cNvPr>
          <p:cNvSpPr txBox="1"/>
          <p:nvPr/>
        </p:nvSpPr>
        <p:spPr>
          <a:xfrm>
            <a:off x="9327863" y="1359523"/>
            <a:ext cx="1559212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무효사유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판단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BB3FA8B-BE54-4C2C-BC20-5A662E4696DA}"/>
              </a:ext>
            </a:extLst>
          </p:cNvPr>
          <p:cNvSpPr/>
          <p:nvPr/>
        </p:nvSpPr>
        <p:spPr>
          <a:xfrm>
            <a:off x="6696075" y="2012728"/>
            <a:ext cx="3314700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atin typeface="+mn-ea"/>
              </a:rPr>
              <a:t>정정이 적법하면 정정 후 명세서 또는 도면에 의하여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정정이 </a:t>
            </a:r>
            <a:r>
              <a:rPr lang="ko-KR" altLang="en-US" sz="1400" dirty="0" err="1">
                <a:latin typeface="+mn-ea"/>
              </a:rPr>
              <a:t>부적법하면</a:t>
            </a:r>
            <a:r>
              <a:rPr lang="ko-KR" altLang="en-US" sz="1400" dirty="0">
                <a:latin typeface="+mn-ea"/>
              </a:rPr>
              <a:t> 정정 전 명세서 또는 도면에 의하여 특허무효사유를 판단</a:t>
            </a:r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C1D11EAF-6069-4C64-940B-E02F9B69C29B}"/>
              </a:ext>
            </a:extLst>
          </p:cNvPr>
          <p:cNvCxnSpPr>
            <a:cxnSpLocks/>
            <a:stCxn id="41" idx="2"/>
            <a:endCxn id="48" idx="1"/>
          </p:cNvCxnSpPr>
          <p:nvPr/>
        </p:nvCxnSpPr>
        <p:spPr>
          <a:xfrm rot="16200000" flipH="1">
            <a:off x="6276740" y="1962724"/>
            <a:ext cx="695979" cy="142691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96785837-A509-4CFA-AB55-4ED3B99F1EDA}"/>
              </a:ext>
            </a:extLst>
          </p:cNvPr>
          <p:cNvCxnSpPr>
            <a:cxnSpLocks/>
            <a:stCxn id="48" idx="3"/>
            <a:endCxn id="42" idx="2"/>
          </p:cNvCxnSpPr>
          <p:nvPr/>
        </p:nvCxnSpPr>
        <p:spPr>
          <a:xfrm flipV="1">
            <a:off x="10010775" y="1686081"/>
            <a:ext cx="96694" cy="695979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Line 5">
            <a:extLst>
              <a:ext uri="{FF2B5EF4-FFF2-40B4-BE49-F238E27FC236}">
                <a16:creationId xmlns:a16="http://schemas.microsoft.com/office/drawing/2014/main" id="{4886284B-29DB-4435-8E8A-A0B082277F4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662" y="4140440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F18A42E-4B5D-431A-B301-F60EF6FC87DF}"/>
              </a:ext>
            </a:extLst>
          </p:cNvPr>
          <p:cNvSpPr txBox="1"/>
          <p:nvPr/>
        </p:nvSpPr>
        <p:spPr>
          <a:xfrm>
            <a:off x="834365" y="3985062"/>
            <a:ext cx="1559212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+mn-ea"/>
              </a:rPr>
              <a:t>정정심판청구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6F6DF31-BC9F-430C-973C-235CB22B88B3}"/>
              </a:ext>
            </a:extLst>
          </p:cNvPr>
          <p:cNvSpPr txBox="1"/>
          <p:nvPr/>
        </p:nvSpPr>
        <p:spPr>
          <a:xfrm>
            <a:off x="5948856" y="3985062"/>
            <a:ext cx="1532906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정정적법성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판단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8849A180-C4CA-40E2-AB56-F121DFDAE9AF}"/>
              </a:ext>
            </a:extLst>
          </p:cNvPr>
          <p:cNvCxnSpPr/>
          <p:nvPr/>
        </p:nvCxnSpPr>
        <p:spPr>
          <a:xfrm>
            <a:off x="152400" y="3228975"/>
            <a:ext cx="1185720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Line 5">
            <a:extLst>
              <a:ext uri="{FF2B5EF4-FFF2-40B4-BE49-F238E27FC236}">
                <a16:creationId xmlns:a16="http://schemas.microsoft.com/office/drawing/2014/main" id="{A86A8E1C-6656-4EFD-A8D3-3664DB6D0FA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662" y="4859862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3700328-272C-4C4E-A893-0A625C451EAB}"/>
              </a:ext>
            </a:extLst>
          </p:cNvPr>
          <p:cNvSpPr txBox="1"/>
          <p:nvPr/>
        </p:nvSpPr>
        <p:spPr>
          <a:xfrm>
            <a:off x="2874109" y="4704484"/>
            <a:ext cx="1559212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특허무효심판청구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B20D235-0B05-4F4D-AD63-88B25B8C3490}"/>
              </a:ext>
            </a:extLst>
          </p:cNvPr>
          <p:cNvSpPr txBox="1"/>
          <p:nvPr/>
        </p:nvSpPr>
        <p:spPr>
          <a:xfrm>
            <a:off x="8285472" y="4704484"/>
            <a:ext cx="1532906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무효사유판단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B6D56816-B7CD-47A0-A801-4CF9D7080226}"/>
              </a:ext>
            </a:extLst>
          </p:cNvPr>
          <p:cNvSpPr/>
          <p:nvPr/>
        </p:nvSpPr>
        <p:spPr>
          <a:xfrm>
            <a:off x="609600" y="3629025"/>
            <a:ext cx="4095750" cy="1869448"/>
          </a:xfrm>
          <a:custGeom>
            <a:avLst/>
            <a:gdLst>
              <a:gd name="csX0" fmla="*/ 0 w 4095750"/>
              <a:gd name="csY0" fmla="*/ 311581 h 1869448"/>
              <a:gd name="csX1" fmla="*/ 311581 w 4095750"/>
              <a:gd name="csY1" fmla="*/ 0 h 1869448"/>
              <a:gd name="csX2" fmla="*/ 890346 w 4095750"/>
              <a:gd name="csY2" fmla="*/ 0 h 1869448"/>
              <a:gd name="csX3" fmla="*/ 1434384 w 4095750"/>
              <a:gd name="csY3" fmla="*/ 0 h 1869448"/>
              <a:gd name="csX4" fmla="*/ 2047875 w 4095750"/>
              <a:gd name="csY4" fmla="*/ 0 h 1869448"/>
              <a:gd name="csX5" fmla="*/ 2591914 w 4095750"/>
              <a:gd name="csY5" fmla="*/ 0 h 1869448"/>
              <a:gd name="csX6" fmla="*/ 3101227 w 4095750"/>
              <a:gd name="csY6" fmla="*/ 0 h 1869448"/>
              <a:gd name="csX7" fmla="*/ 3784169 w 4095750"/>
              <a:gd name="csY7" fmla="*/ 0 h 1869448"/>
              <a:gd name="csX8" fmla="*/ 4095750 w 4095750"/>
              <a:gd name="csY8" fmla="*/ 311581 h 1869448"/>
              <a:gd name="csX9" fmla="*/ 4095750 w 4095750"/>
              <a:gd name="csY9" fmla="*/ 702084 h 1869448"/>
              <a:gd name="csX10" fmla="*/ 4095750 w 4095750"/>
              <a:gd name="csY10" fmla="*/ 1142438 h 1869448"/>
              <a:gd name="csX11" fmla="*/ 4095750 w 4095750"/>
              <a:gd name="csY11" fmla="*/ 1557867 h 1869448"/>
              <a:gd name="csX12" fmla="*/ 3784169 w 4095750"/>
              <a:gd name="csY12" fmla="*/ 1869448 h 1869448"/>
              <a:gd name="csX13" fmla="*/ 3309582 w 4095750"/>
              <a:gd name="csY13" fmla="*/ 1869448 h 1869448"/>
              <a:gd name="csX14" fmla="*/ 2834995 w 4095750"/>
              <a:gd name="csY14" fmla="*/ 1869448 h 1869448"/>
              <a:gd name="csX15" fmla="*/ 2325682 w 4095750"/>
              <a:gd name="csY15" fmla="*/ 1869448 h 1869448"/>
              <a:gd name="csX16" fmla="*/ 1816369 w 4095750"/>
              <a:gd name="csY16" fmla="*/ 1869448 h 1869448"/>
              <a:gd name="csX17" fmla="*/ 1237604 w 4095750"/>
              <a:gd name="csY17" fmla="*/ 1869448 h 1869448"/>
              <a:gd name="csX18" fmla="*/ 311581 w 4095750"/>
              <a:gd name="csY18" fmla="*/ 1869448 h 1869448"/>
              <a:gd name="csX19" fmla="*/ 0 w 4095750"/>
              <a:gd name="csY19" fmla="*/ 1557867 h 1869448"/>
              <a:gd name="csX20" fmla="*/ 0 w 4095750"/>
              <a:gd name="csY20" fmla="*/ 1142438 h 1869448"/>
              <a:gd name="csX21" fmla="*/ 0 w 4095750"/>
              <a:gd name="csY21" fmla="*/ 764398 h 1869448"/>
              <a:gd name="csX22" fmla="*/ 0 w 4095750"/>
              <a:gd name="csY22" fmla="*/ 311581 h 18694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4095750" h="1869448" extrusionOk="0">
                <a:moveTo>
                  <a:pt x="0" y="311581"/>
                </a:moveTo>
                <a:cubicBezTo>
                  <a:pt x="-22262" y="120637"/>
                  <a:pt x="171617" y="-5225"/>
                  <a:pt x="311581" y="0"/>
                </a:cubicBezTo>
                <a:cubicBezTo>
                  <a:pt x="517120" y="-8744"/>
                  <a:pt x="711660" y="19019"/>
                  <a:pt x="890346" y="0"/>
                </a:cubicBezTo>
                <a:cubicBezTo>
                  <a:pt x="1069033" y="-19019"/>
                  <a:pt x="1270323" y="64739"/>
                  <a:pt x="1434384" y="0"/>
                </a:cubicBezTo>
                <a:cubicBezTo>
                  <a:pt x="1598445" y="-64739"/>
                  <a:pt x="1830651" y="8729"/>
                  <a:pt x="2047875" y="0"/>
                </a:cubicBezTo>
                <a:cubicBezTo>
                  <a:pt x="2265099" y="-8729"/>
                  <a:pt x="2407919" y="64616"/>
                  <a:pt x="2591914" y="0"/>
                </a:cubicBezTo>
                <a:cubicBezTo>
                  <a:pt x="2775909" y="-64616"/>
                  <a:pt x="2907777" y="46122"/>
                  <a:pt x="3101227" y="0"/>
                </a:cubicBezTo>
                <a:cubicBezTo>
                  <a:pt x="3294677" y="-46122"/>
                  <a:pt x="3556033" y="3461"/>
                  <a:pt x="3784169" y="0"/>
                </a:cubicBezTo>
                <a:cubicBezTo>
                  <a:pt x="3985200" y="-29343"/>
                  <a:pt x="4056580" y="126476"/>
                  <a:pt x="4095750" y="311581"/>
                </a:cubicBezTo>
                <a:cubicBezTo>
                  <a:pt x="4119679" y="439375"/>
                  <a:pt x="4091190" y="550260"/>
                  <a:pt x="4095750" y="702084"/>
                </a:cubicBezTo>
                <a:cubicBezTo>
                  <a:pt x="4100310" y="853908"/>
                  <a:pt x="4048607" y="940434"/>
                  <a:pt x="4095750" y="1142438"/>
                </a:cubicBezTo>
                <a:cubicBezTo>
                  <a:pt x="4142893" y="1344442"/>
                  <a:pt x="4059247" y="1413057"/>
                  <a:pt x="4095750" y="1557867"/>
                </a:cubicBezTo>
                <a:cubicBezTo>
                  <a:pt x="4096502" y="1683314"/>
                  <a:pt x="3921918" y="1867764"/>
                  <a:pt x="3784169" y="1869448"/>
                </a:cubicBezTo>
                <a:cubicBezTo>
                  <a:pt x="3558054" y="1892786"/>
                  <a:pt x="3454769" y="1822828"/>
                  <a:pt x="3309582" y="1869448"/>
                </a:cubicBezTo>
                <a:cubicBezTo>
                  <a:pt x="3164395" y="1916068"/>
                  <a:pt x="2944861" y="1825124"/>
                  <a:pt x="2834995" y="1869448"/>
                </a:cubicBezTo>
                <a:cubicBezTo>
                  <a:pt x="2725129" y="1913772"/>
                  <a:pt x="2460025" y="1812258"/>
                  <a:pt x="2325682" y="1869448"/>
                </a:cubicBezTo>
                <a:cubicBezTo>
                  <a:pt x="2191339" y="1926638"/>
                  <a:pt x="1959134" y="1852490"/>
                  <a:pt x="1816369" y="1869448"/>
                </a:cubicBezTo>
                <a:cubicBezTo>
                  <a:pt x="1673604" y="1886406"/>
                  <a:pt x="1431923" y="1835522"/>
                  <a:pt x="1237604" y="1869448"/>
                </a:cubicBezTo>
                <a:cubicBezTo>
                  <a:pt x="1043285" y="1903374"/>
                  <a:pt x="654018" y="1825520"/>
                  <a:pt x="311581" y="1869448"/>
                </a:cubicBezTo>
                <a:cubicBezTo>
                  <a:pt x="163239" y="1850988"/>
                  <a:pt x="13785" y="1728745"/>
                  <a:pt x="0" y="1557867"/>
                </a:cubicBezTo>
                <a:cubicBezTo>
                  <a:pt x="-6536" y="1420534"/>
                  <a:pt x="43980" y="1275367"/>
                  <a:pt x="0" y="1142438"/>
                </a:cubicBezTo>
                <a:cubicBezTo>
                  <a:pt x="-43980" y="1009509"/>
                  <a:pt x="28121" y="889294"/>
                  <a:pt x="0" y="764398"/>
                </a:cubicBezTo>
                <a:cubicBezTo>
                  <a:pt x="-28121" y="639502"/>
                  <a:pt x="19472" y="502129"/>
                  <a:pt x="0" y="311581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591411314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3428013-9245-49B0-9A25-F89D324C50F5}"/>
              </a:ext>
            </a:extLst>
          </p:cNvPr>
          <p:cNvSpPr txBox="1"/>
          <p:nvPr/>
        </p:nvSpPr>
        <p:spPr>
          <a:xfrm>
            <a:off x="1061525" y="5218002"/>
            <a:ext cx="298350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동시에 계속 중일 수 있는가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(</a:t>
            </a:r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조제</a:t>
            </a:r>
            <a:r>
              <a:rPr lang="en-US" altLang="ko-KR" dirty="0"/>
              <a:t>2</a:t>
            </a:r>
            <a:r>
              <a:rPr lang="ko-KR" altLang="en-US" dirty="0" err="1"/>
              <a:t>항제</a:t>
            </a:r>
            <a:r>
              <a:rPr lang="en-US" altLang="ko-KR" dirty="0"/>
              <a:t>2</a:t>
            </a:r>
            <a:r>
              <a:rPr lang="ko-KR" altLang="en-US" dirty="0"/>
              <a:t>호의 해석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AFD409E6-6FD4-44A3-80C4-A16D60E7243A}"/>
              </a:ext>
            </a:extLst>
          </p:cNvPr>
          <p:cNvSpPr/>
          <p:nvPr/>
        </p:nvSpPr>
        <p:spPr>
          <a:xfrm>
            <a:off x="5524500" y="3629025"/>
            <a:ext cx="4667250" cy="1869448"/>
          </a:xfrm>
          <a:custGeom>
            <a:avLst/>
            <a:gdLst>
              <a:gd name="csX0" fmla="*/ 0 w 4667250"/>
              <a:gd name="csY0" fmla="*/ 311581 h 1869448"/>
              <a:gd name="csX1" fmla="*/ 311581 w 4667250"/>
              <a:gd name="csY1" fmla="*/ 0 h 1869448"/>
              <a:gd name="csX2" fmla="*/ 889308 w 4667250"/>
              <a:gd name="csY2" fmla="*/ 0 h 1869448"/>
              <a:gd name="csX3" fmla="*/ 1426594 w 4667250"/>
              <a:gd name="csY3" fmla="*/ 0 h 1869448"/>
              <a:gd name="csX4" fmla="*/ 2044762 w 4667250"/>
              <a:gd name="csY4" fmla="*/ 0 h 1869448"/>
              <a:gd name="csX5" fmla="*/ 2582048 w 4667250"/>
              <a:gd name="csY5" fmla="*/ 0 h 1869448"/>
              <a:gd name="csX6" fmla="*/ 3078893 w 4667250"/>
              <a:gd name="csY6" fmla="*/ 0 h 1869448"/>
              <a:gd name="csX7" fmla="*/ 3575738 w 4667250"/>
              <a:gd name="csY7" fmla="*/ 0 h 1869448"/>
              <a:gd name="csX8" fmla="*/ 4355669 w 4667250"/>
              <a:gd name="csY8" fmla="*/ 0 h 1869448"/>
              <a:gd name="csX9" fmla="*/ 4667250 w 4667250"/>
              <a:gd name="csY9" fmla="*/ 311581 h 1869448"/>
              <a:gd name="csX10" fmla="*/ 4667250 w 4667250"/>
              <a:gd name="csY10" fmla="*/ 714547 h 1869448"/>
              <a:gd name="csX11" fmla="*/ 4667250 w 4667250"/>
              <a:gd name="csY11" fmla="*/ 1117513 h 1869448"/>
              <a:gd name="csX12" fmla="*/ 4667250 w 4667250"/>
              <a:gd name="csY12" fmla="*/ 1557867 h 1869448"/>
              <a:gd name="csX13" fmla="*/ 4355669 w 4667250"/>
              <a:gd name="csY13" fmla="*/ 1869448 h 1869448"/>
              <a:gd name="csX14" fmla="*/ 3737501 w 4667250"/>
              <a:gd name="csY14" fmla="*/ 1869448 h 1869448"/>
              <a:gd name="csX15" fmla="*/ 3240656 w 4667250"/>
              <a:gd name="csY15" fmla="*/ 1869448 h 1869448"/>
              <a:gd name="csX16" fmla="*/ 2743811 w 4667250"/>
              <a:gd name="csY16" fmla="*/ 1869448 h 1869448"/>
              <a:gd name="csX17" fmla="*/ 2166084 w 4667250"/>
              <a:gd name="csY17" fmla="*/ 1869448 h 1869448"/>
              <a:gd name="csX18" fmla="*/ 1588357 w 4667250"/>
              <a:gd name="csY18" fmla="*/ 1869448 h 1869448"/>
              <a:gd name="csX19" fmla="*/ 1051071 w 4667250"/>
              <a:gd name="csY19" fmla="*/ 1869448 h 1869448"/>
              <a:gd name="csX20" fmla="*/ 311581 w 4667250"/>
              <a:gd name="csY20" fmla="*/ 1869448 h 1869448"/>
              <a:gd name="csX21" fmla="*/ 0 w 4667250"/>
              <a:gd name="csY21" fmla="*/ 1557867 h 1869448"/>
              <a:gd name="csX22" fmla="*/ 0 w 4667250"/>
              <a:gd name="csY22" fmla="*/ 1154901 h 1869448"/>
              <a:gd name="csX23" fmla="*/ 0 w 4667250"/>
              <a:gd name="csY23" fmla="*/ 764398 h 1869448"/>
              <a:gd name="csX24" fmla="*/ 0 w 4667250"/>
              <a:gd name="csY24" fmla="*/ 311581 h 18694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4667250" h="1869448" extrusionOk="0">
                <a:moveTo>
                  <a:pt x="0" y="311581"/>
                </a:moveTo>
                <a:cubicBezTo>
                  <a:pt x="-22262" y="120637"/>
                  <a:pt x="171617" y="-5225"/>
                  <a:pt x="311581" y="0"/>
                </a:cubicBezTo>
                <a:cubicBezTo>
                  <a:pt x="555398" y="-50778"/>
                  <a:pt x="607417" y="1896"/>
                  <a:pt x="889308" y="0"/>
                </a:cubicBezTo>
                <a:cubicBezTo>
                  <a:pt x="1171199" y="-1896"/>
                  <a:pt x="1282126" y="39652"/>
                  <a:pt x="1426594" y="0"/>
                </a:cubicBezTo>
                <a:cubicBezTo>
                  <a:pt x="1571062" y="-39652"/>
                  <a:pt x="1765743" y="25036"/>
                  <a:pt x="2044762" y="0"/>
                </a:cubicBezTo>
                <a:cubicBezTo>
                  <a:pt x="2323781" y="-25036"/>
                  <a:pt x="2403951" y="29678"/>
                  <a:pt x="2582048" y="0"/>
                </a:cubicBezTo>
                <a:cubicBezTo>
                  <a:pt x="2760145" y="-29678"/>
                  <a:pt x="2959955" y="59365"/>
                  <a:pt x="3078893" y="0"/>
                </a:cubicBezTo>
                <a:cubicBezTo>
                  <a:pt x="3197832" y="-59365"/>
                  <a:pt x="3424791" y="44441"/>
                  <a:pt x="3575738" y="0"/>
                </a:cubicBezTo>
                <a:cubicBezTo>
                  <a:pt x="3726686" y="-44441"/>
                  <a:pt x="4183670" y="12355"/>
                  <a:pt x="4355669" y="0"/>
                </a:cubicBezTo>
                <a:cubicBezTo>
                  <a:pt x="4543818" y="-30578"/>
                  <a:pt x="4715762" y="136718"/>
                  <a:pt x="4667250" y="311581"/>
                </a:cubicBezTo>
                <a:cubicBezTo>
                  <a:pt x="4711788" y="427915"/>
                  <a:pt x="4640755" y="628137"/>
                  <a:pt x="4667250" y="714547"/>
                </a:cubicBezTo>
                <a:cubicBezTo>
                  <a:pt x="4693745" y="800957"/>
                  <a:pt x="4644747" y="1000237"/>
                  <a:pt x="4667250" y="1117513"/>
                </a:cubicBezTo>
                <a:cubicBezTo>
                  <a:pt x="4689753" y="1234789"/>
                  <a:pt x="4645924" y="1439400"/>
                  <a:pt x="4667250" y="1557867"/>
                </a:cubicBezTo>
                <a:cubicBezTo>
                  <a:pt x="4679770" y="1691716"/>
                  <a:pt x="4559779" y="1880766"/>
                  <a:pt x="4355669" y="1869448"/>
                </a:cubicBezTo>
                <a:cubicBezTo>
                  <a:pt x="4227878" y="1900990"/>
                  <a:pt x="3927935" y="1858622"/>
                  <a:pt x="3737501" y="1869448"/>
                </a:cubicBezTo>
                <a:cubicBezTo>
                  <a:pt x="3547067" y="1880274"/>
                  <a:pt x="3341473" y="1836182"/>
                  <a:pt x="3240656" y="1869448"/>
                </a:cubicBezTo>
                <a:cubicBezTo>
                  <a:pt x="3139839" y="1902714"/>
                  <a:pt x="2979614" y="1843715"/>
                  <a:pt x="2743811" y="1869448"/>
                </a:cubicBezTo>
                <a:cubicBezTo>
                  <a:pt x="2508009" y="1895181"/>
                  <a:pt x="2303436" y="1846072"/>
                  <a:pt x="2166084" y="1869448"/>
                </a:cubicBezTo>
                <a:cubicBezTo>
                  <a:pt x="2028732" y="1892824"/>
                  <a:pt x="1764700" y="1853287"/>
                  <a:pt x="1588357" y="1869448"/>
                </a:cubicBezTo>
                <a:cubicBezTo>
                  <a:pt x="1412014" y="1885609"/>
                  <a:pt x="1266204" y="1825807"/>
                  <a:pt x="1051071" y="1869448"/>
                </a:cubicBezTo>
                <a:cubicBezTo>
                  <a:pt x="835938" y="1913089"/>
                  <a:pt x="638821" y="1811639"/>
                  <a:pt x="311581" y="1869448"/>
                </a:cubicBezTo>
                <a:cubicBezTo>
                  <a:pt x="111940" y="1835749"/>
                  <a:pt x="6691" y="1728389"/>
                  <a:pt x="0" y="1557867"/>
                </a:cubicBezTo>
                <a:cubicBezTo>
                  <a:pt x="-28606" y="1461707"/>
                  <a:pt x="28910" y="1271024"/>
                  <a:pt x="0" y="1154901"/>
                </a:cubicBezTo>
                <a:cubicBezTo>
                  <a:pt x="-28910" y="1038778"/>
                  <a:pt x="33357" y="879114"/>
                  <a:pt x="0" y="764398"/>
                </a:cubicBezTo>
                <a:cubicBezTo>
                  <a:pt x="-33357" y="649682"/>
                  <a:pt x="10338" y="434460"/>
                  <a:pt x="0" y="311581"/>
                </a:cubicBezTo>
                <a:close/>
              </a:path>
            </a:pathLst>
          </a:custGeom>
          <a:noFill/>
          <a:ln w="28575">
            <a:solidFill>
              <a:srgbClr val="FF0000"/>
            </a:solidFill>
            <a:prstDash val="sysDot"/>
            <a:extLst>
              <a:ext uri="{C807C97D-BFC1-408E-A445-0C87EB9F89A2}">
                <ask:lineSketchStyleProps xmlns:ask="http://schemas.microsoft.com/office/drawing/2018/sketchyshapes" sd="591411314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A44C2A5-1638-461A-A7C7-F24E5777FEAE}"/>
              </a:ext>
            </a:extLst>
          </p:cNvPr>
          <p:cNvSpPr txBox="1"/>
          <p:nvPr/>
        </p:nvSpPr>
        <p:spPr>
          <a:xfrm>
            <a:off x="6319762" y="5313807"/>
            <a:ext cx="33290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ko-KR" altLang="en-US" dirty="0"/>
              <a:t>심리순서는</a:t>
            </a:r>
            <a:r>
              <a:rPr lang="en-US" altLang="ko-KR" dirty="0"/>
              <a:t>? (</a:t>
            </a:r>
            <a:r>
              <a:rPr lang="ko-KR" altLang="en-US" dirty="0"/>
              <a:t>제</a:t>
            </a:r>
            <a:r>
              <a:rPr lang="en-US" altLang="ko-KR" dirty="0"/>
              <a:t>164</a:t>
            </a:r>
            <a:r>
              <a:rPr lang="ko-KR" altLang="en-US" dirty="0"/>
              <a:t>조의 해석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A43EAD6-C0BD-41FB-AA37-DCEA54402AB6}"/>
              </a:ext>
            </a:extLst>
          </p:cNvPr>
          <p:cNvSpPr txBox="1"/>
          <p:nvPr/>
        </p:nvSpPr>
        <p:spPr>
          <a:xfrm>
            <a:off x="6319762" y="5780812"/>
            <a:ext cx="3329063" cy="6463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noAutofit/>
          </a:bodyPr>
          <a:lstStyle/>
          <a:p>
            <a:r>
              <a:rPr lang="ko-KR" altLang="en-US" dirty="0"/>
              <a:t>어느 하나의 </a:t>
            </a:r>
            <a:r>
              <a:rPr lang="ko-KR" altLang="en-US" dirty="0" err="1"/>
              <a:t>인용심결의</a:t>
            </a:r>
            <a:r>
              <a:rPr lang="ko-KR" altLang="en-US" dirty="0"/>
              <a:t> 확정시</a:t>
            </a:r>
            <a:endParaRPr lang="en-US" altLang="ko-KR" dirty="0"/>
          </a:p>
          <a:p>
            <a:r>
              <a:rPr lang="ko-KR" altLang="en-US" dirty="0"/>
              <a:t>나머지 심판의 처리는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F05A0DCB-0551-44AA-ACC7-588CB2D071C4}"/>
              </a:ext>
            </a:extLst>
          </p:cNvPr>
          <p:cNvSpPr/>
          <p:nvPr/>
        </p:nvSpPr>
        <p:spPr>
          <a:xfrm>
            <a:off x="5524500" y="1086928"/>
            <a:ext cx="424356" cy="42435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44066C79-275E-4FFD-9309-9EF50C178D09}"/>
              </a:ext>
            </a:extLst>
          </p:cNvPr>
          <p:cNvSpPr/>
          <p:nvPr/>
        </p:nvSpPr>
        <p:spPr>
          <a:xfrm>
            <a:off x="9115685" y="1086928"/>
            <a:ext cx="424356" cy="424356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13705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정정청구시기 </a:t>
            </a:r>
            <a:r>
              <a:rPr lang="en-US" altLang="ko-KR" dirty="0"/>
              <a:t>vs </a:t>
            </a:r>
            <a:r>
              <a:rPr lang="ko-KR" altLang="en-US" dirty="0"/>
              <a:t>정정심판청구시기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1012108"/>
              </p:ext>
            </p:extLst>
          </p:nvPr>
        </p:nvGraphicFramePr>
        <p:xfrm>
          <a:off x="406399" y="2684238"/>
          <a:ext cx="11442701" cy="378402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431901">
                  <a:extLst>
                    <a:ext uri="{9D8B030D-6E8A-4147-A177-3AD203B41FA5}">
                      <a16:colId xmlns:a16="http://schemas.microsoft.com/office/drawing/2014/main" val="921300665"/>
                    </a:ext>
                  </a:extLst>
                </a:gridCol>
                <a:gridCol w="2765372">
                  <a:extLst>
                    <a:ext uri="{9D8B030D-6E8A-4147-A177-3AD203B41FA5}">
                      <a16:colId xmlns:a16="http://schemas.microsoft.com/office/drawing/2014/main" val="2637873674"/>
                    </a:ext>
                  </a:extLst>
                </a:gridCol>
                <a:gridCol w="2622714">
                  <a:extLst>
                    <a:ext uri="{9D8B030D-6E8A-4147-A177-3AD203B41FA5}">
                      <a16:colId xmlns:a16="http://schemas.microsoft.com/office/drawing/2014/main" val="417233727"/>
                    </a:ext>
                  </a:extLst>
                </a:gridCol>
                <a:gridCol w="2622714">
                  <a:extLst>
                    <a:ext uri="{9D8B030D-6E8A-4147-A177-3AD203B41FA5}">
                      <a16:colId xmlns:a16="http://schemas.microsoft.com/office/drawing/2014/main" val="3797537936"/>
                    </a:ext>
                  </a:extLst>
                </a:gridCol>
              </a:tblGrid>
              <a:tr h="38278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시기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종류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 err="1"/>
                        <a:t>정정청구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정정심판청구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207520"/>
                  </a:ext>
                </a:extLst>
              </a:tr>
              <a:tr h="382780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심판원 계속 중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특허취소신청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○</a:t>
                      </a:r>
                      <a:r>
                        <a:rPr lang="en-US" altLang="ko-KR" sz="1400" kern="1200"/>
                        <a:t>(</a:t>
                      </a:r>
                      <a:r>
                        <a:rPr lang="ko-KR" altLang="en-US" sz="1400" kern="1200"/>
                        <a:t>法 </a:t>
                      </a:r>
                      <a:r>
                        <a:rPr lang="en-US" altLang="ko-KR" sz="1400" kern="1200"/>
                        <a:t>132</a:t>
                      </a:r>
                      <a:r>
                        <a:rPr lang="ko-KR" altLang="en-US" sz="1400" kern="1200"/>
                        <a:t>의</a:t>
                      </a:r>
                      <a:r>
                        <a:rPr lang="en-US" altLang="ko-KR" sz="1400" kern="1200"/>
                        <a:t>3)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ctr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/>
                        <a:t>△*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871867599"/>
                  </a:ext>
                </a:extLst>
              </a:tr>
              <a:tr h="3827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특허무효심판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○</a:t>
                      </a:r>
                      <a:r>
                        <a:rPr lang="en-US" altLang="ko-KR" sz="1400" kern="1200"/>
                        <a:t>(</a:t>
                      </a:r>
                      <a:r>
                        <a:rPr lang="ko-KR" altLang="en-US" sz="1400" kern="1200"/>
                        <a:t>法 </a:t>
                      </a:r>
                      <a:r>
                        <a:rPr lang="en-US" altLang="ko-KR" sz="1400" kern="1200"/>
                        <a:t>133</a:t>
                      </a:r>
                      <a:r>
                        <a:rPr lang="ko-KR" altLang="en-US" sz="1400" kern="1200"/>
                        <a:t>의</a:t>
                      </a:r>
                      <a:r>
                        <a:rPr lang="en-US" altLang="ko-KR" sz="1400" kern="1200"/>
                        <a:t>2)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/>
                        <a:t>×</a:t>
                      </a:r>
                      <a:endParaRPr 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990209953"/>
                  </a:ext>
                </a:extLst>
              </a:tr>
              <a:tr h="3827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정정무효심판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○</a:t>
                      </a:r>
                      <a:r>
                        <a:rPr lang="en-US" altLang="ko-KR" sz="1400" kern="1200"/>
                        <a:t>(</a:t>
                      </a:r>
                      <a:r>
                        <a:rPr lang="ko-KR" altLang="en-US" sz="1400" kern="1200"/>
                        <a:t>法 </a:t>
                      </a:r>
                      <a:r>
                        <a:rPr lang="en-US" altLang="ko-KR" sz="1400" kern="1200"/>
                        <a:t>137</a:t>
                      </a:r>
                      <a:r>
                        <a:rPr lang="ko-KR" altLang="en-US" sz="1400" kern="1200"/>
                        <a:t>③④</a:t>
                      </a:r>
                      <a:r>
                        <a:rPr lang="en-US" altLang="ko-KR" sz="1400" kern="1200"/>
                        <a:t>)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/>
                        <a:t>×</a:t>
                      </a:r>
                      <a:endParaRPr 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125027608"/>
                  </a:ext>
                </a:extLst>
              </a:tr>
              <a:tr h="382780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특허법원 </a:t>
                      </a:r>
                      <a:r>
                        <a:rPr lang="en-US" altLang="ko-KR" sz="1400" kern="1200"/>
                        <a:t>/ </a:t>
                      </a:r>
                      <a:r>
                        <a:rPr lang="ko-KR" altLang="en-US" sz="1400" kern="1200"/>
                        <a:t>대법원 계속 중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특허취소신청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/>
                        <a:t>×</a:t>
                      </a:r>
                      <a:endParaRPr 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△*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798086428"/>
                  </a:ext>
                </a:extLst>
              </a:tr>
              <a:tr h="3827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특허무효심판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/>
                        <a:t>×</a:t>
                      </a:r>
                      <a:endParaRPr 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○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2613969700"/>
                  </a:ext>
                </a:extLst>
              </a:tr>
              <a:tr h="3827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정정무효심판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/>
                        <a:t>×</a:t>
                      </a:r>
                      <a:endParaRPr 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○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82361834"/>
                  </a:ext>
                </a:extLst>
              </a:tr>
              <a:tr h="38278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계속 중이지 아니한 경우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/>
                        <a:t>×</a:t>
                      </a:r>
                      <a:endParaRPr 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○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2032310412"/>
                  </a:ext>
                </a:extLst>
              </a:tr>
              <a:tr h="721787">
                <a:tc gridSpan="4">
                  <a:txBody>
                    <a:bodyPr/>
                    <a:lstStyle/>
                    <a:p>
                      <a:pPr marL="85090" marR="17780" indent="-8509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* 특허무효심판의 </a:t>
                      </a:r>
                      <a:r>
                        <a:rPr lang="ko-KR" altLang="en-US" sz="1400" kern="1200" dirty="0" err="1"/>
                        <a:t>심결</a:t>
                      </a:r>
                      <a:r>
                        <a:rPr lang="ko-KR" altLang="en-US" sz="1400" kern="1200" dirty="0"/>
                        <a:t> 또는 정정의 </a:t>
                      </a:r>
                      <a:r>
                        <a:rPr lang="ko-KR" altLang="en-US" sz="1400" kern="1200" dirty="0" err="1"/>
                        <a:t>무효심판의</a:t>
                      </a:r>
                      <a:r>
                        <a:rPr lang="ko-KR" altLang="en-US" sz="1400" kern="1200" dirty="0"/>
                        <a:t> </a:t>
                      </a:r>
                      <a:r>
                        <a:rPr lang="ko-KR" altLang="en-US" sz="1400" kern="1200" dirty="0" err="1"/>
                        <a:t>심결에</a:t>
                      </a:r>
                      <a:r>
                        <a:rPr lang="ko-KR" altLang="en-US" sz="1400" kern="1200" dirty="0"/>
                        <a:t> 대한 소가 특허법원에 계속 중인 경우에는 특허법원에서 변론이 종결</a:t>
                      </a:r>
                      <a:r>
                        <a:rPr lang="en-US" altLang="ko-KR" sz="1400" kern="1200" dirty="0"/>
                        <a:t>(</a:t>
                      </a:r>
                      <a:r>
                        <a:rPr lang="ko-KR" altLang="en-US" sz="1400" kern="1200" dirty="0"/>
                        <a:t>변론 없이 한 판결의 경우에는 판결의 선고를 말한다</a:t>
                      </a:r>
                      <a:r>
                        <a:rPr lang="en-US" altLang="ko-KR" sz="1400" kern="1200" dirty="0"/>
                        <a:t>)</a:t>
                      </a:r>
                      <a:r>
                        <a:rPr lang="ko-KR" altLang="en-US" sz="1400" kern="1200" dirty="0"/>
                        <a:t>된 날까지 정정심판청구 가능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6918057"/>
                  </a:ext>
                </a:extLst>
              </a:tr>
            </a:tbl>
          </a:graphicData>
        </a:graphic>
      </p:graphicFrame>
      <p:cxnSp>
        <p:nvCxnSpPr>
          <p:cNvPr id="5" name="직선 연결선 4"/>
          <p:cNvCxnSpPr/>
          <p:nvPr/>
        </p:nvCxnSpPr>
        <p:spPr>
          <a:xfrm>
            <a:off x="0" y="237177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86046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특허취소신청이 특허심판원에 계속 중인 때부터 그 결정이 확정될 때까지의 기간이나 특허무효심판 또는 정정의 </a:t>
            </a:r>
            <a:r>
              <a:rPr lang="ko-KR" altLang="en-US" sz="1400" dirty="0" err="1">
                <a:solidFill>
                  <a:schemeClr val="tx2"/>
                </a:solidFill>
              </a:rPr>
              <a:t>무효심판이</a:t>
            </a:r>
            <a:r>
              <a:rPr lang="ko-KR" altLang="en-US" sz="1400" dirty="0">
                <a:solidFill>
                  <a:schemeClr val="tx2"/>
                </a:solidFill>
              </a:rPr>
              <a:t> 특허심판원에 계속 중인 기간에는 </a:t>
            </a:r>
            <a:r>
              <a:rPr lang="ko-KR" altLang="en-US" sz="1400" dirty="0" err="1">
                <a:solidFill>
                  <a:schemeClr val="tx2"/>
                </a:solidFill>
              </a:rPr>
              <a:t>정정심판을</a:t>
            </a:r>
            <a:r>
              <a:rPr lang="ko-KR" altLang="en-US" sz="1400" dirty="0">
                <a:solidFill>
                  <a:schemeClr val="tx2"/>
                </a:solidFill>
              </a:rPr>
              <a:t> 청구할 수 없지만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136②), </a:t>
            </a:r>
            <a:r>
              <a:rPr lang="ko-KR" altLang="en-US" sz="1400" dirty="0">
                <a:solidFill>
                  <a:schemeClr val="tx2"/>
                </a:solidFill>
              </a:rPr>
              <a:t>특허취소신청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특허무효심판청구 전에 </a:t>
            </a:r>
            <a:r>
              <a:rPr lang="ko-KR" altLang="en-US" sz="1400" dirty="0" err="1">
                <a:solidFill>
                  <a:schemeClr val="tx2"/>
                </a:solidFill>
              </a:rPr>
              <a:t>정정심판이</a:t>
            </a:r>
            <a:r>
              <a:rPr lang="ko-KR" altLang="en-US" sz="1400" dirty="0">
                <a:solidFill>
                  <a:schemeClr val="tx2"/>
                </a:solidFill>
              </a:rPr>
              <a:t> 청구된 때는 특허취소신청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특허무효심판과 </a:t>
            </a:r>
            <a:r>
              <a:rPr lang="ko-KR" altLang="en-US" sz="1400" dirty="0" err="1">
                <a:solidFill>
                  <a:schemeClr val="tx2"/>
                </a:solidFill>
              </a:rPr>
              <a:t>정정심판이</a:t>
            </a:r>
            <a:r>
              <a:rPr lang="ko-KR" altLang="en-US" sz="1400" dirty="0">
                <a:solidFill>
                  <a:schemeClr val="tx2"/>
                </a:solidFill>
              </a:rPr>
              <a:t> 특허심판원에서 동시에 계속되게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또한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등록무효심결에 대한 </a:t>
            </a:r>
            <a:r>
              <a:rPr lang="ko-KR" altLang="en-US" sz="1400" dirty="0" err="1">
                <a:solidFill>
                  <a:schemeClr val="tx2"/>
                </a:solidFill>
              </a:rPr>
              <a:t>취소소송이</a:t>
            </a:r>
            <a:r>
              <a:rPr lang="ko-KR" altLang="en-US" sz="1400" dirty="0">
                <a:solidFill>
                  <a:schemeClr val="tx2"/>
                </a:solidFill>
              </a:rPr>
              <a:t> 특허법원이나 대법원에 계속 중인 경우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특허취소신청의 경우에는 특허법원에서 변론이 종결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변론 없이 한 판결의 경우에는 판결의 선고를 말한다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된 날까지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에는 독립하여 그 </a:t>
            </a:r>
            <a:r>
              <a:rPr lang="ko-KR" altLang="en-US" sz="1400" dirty="0" err="1">
                <a:solidFill>
                  <a:schemeClr val="tx2"/>
                </a:solidFill>
              </a:rPr>
              <a:t>정정심판을</a:t>
            </a:r>
            <a:r>
              <a:rPr lang="ko-KR" altLang="en-US" sz="1400" dirty="0">
                <a:solidFill>
                  <a:schemeClr val="tx2"/>
                </a:solidFill>
              </a:rPr>
              <a:t> 청구할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이 경우 정정심판제도의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취지상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정정심판을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특허취소신청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특허무효심판에 우선하여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심리ㆍ판단하는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것이 바람직하나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그렇다고 하여 반드시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정정심판을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먼저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심리ㆍ판단하여야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하는 것은 아니다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한편 특허취소신청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특허무효심판을 먼저 심리하는 경우에는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그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판단대상은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정정심판청구 전 특허발명</a:t>
            </a:r>
            <a:r>
              <a:rPr lang="ko-KR" altLang="en-US" sz="1400" dirty="0">
                <a:solidFill>
                  <a:schemeClr val="tx2"/>
                </a:solidFill>
              </a:rPr>
              <a:t>이다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19535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정정심판과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특허취소신청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특허무효심판의 관계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Line 5"/>
          <p:cNvSpPr>
            <a:spLocks noChangeShapeType="1"/>
          </p:cNvSpPr>
          <p:nvPr/>
        </p:nvSpPr>
        <p:spPr bwMode="auto">
          <a:xfrm>
            <a:off x="328662" y="4859642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3456291" y="476854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2720258" y="476854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7" name="직선 화살표 연결선 56"/>
          <p:cNvCxnSpPr>
            <a:cxnSpLocks/>
            <a:stCxn id="55" idx="2"/>
            <a:endCxn id="56" idx="0"/>
          </p:cNvCxnSpPr>
          <p:nvPr/>
        </p:nvCxnSpPr>
        <p:spPr>
          <a:xfrm flipH="1">
            <a:off x="2797627" y="4545629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타원 58"/>
          <p:cNvSpPr/>
          <p:nvPr/>
        </p:nvSpPr>
        <p:spPr>
          <a:xfrm>
            <a:off x="5069939" y="476854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0" name="직선 화살표 연결선 59"/>
          <p:cNvCxnSpPr>
            <a:cxnSpLocks/>
            <a:stCxn id="58" idx="2"/>
            <a:endCxn id="59" idx="0"/>
          </p:cNvCxnSpPr>
          <p:nvPr/>
        </p:nvCxnSpPr>
        <p:spPr>
          <a:xfrm flipH="1">
            <a:off x="5147308" y="4545629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타원 61"/>
          <p:cNvSpPr/>
          <p:nvPr/>
        </p:nvSpPr>
        <p:spPr>
          <a:xfrm>
            <a:off x="8326970" y="476854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3" name="직선 화살표 연결선 62"/>
          <p:cNvCxnSpPr>
            <a:cxnSpLocks/>
            <a:stCxn id="61" idx="2"/>
            <a:endCxn id="62" idx="0"/>
          </p:cNvCxnSpPr>
          <p:nvPr/>
        </p:nvCxnSpPr>
        <p:spPr>
          <a:xfrm flipH="1">
            <a:off x="8404339" y="4545629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751046" y="4025301"/>
            <a:ext cx="2093164" cy="520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특허심판원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특허취소신청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특허무효심판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13839" y="4025301"/>
            <a:ext cx="1266940" cy="520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특허법원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취소소송제기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0870" y="4025301"/>
            <a:ext cx="1266940" cy="52032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대법원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06397"/>
              </p:ext>
            </p:extLst>
          </p:nvPr>
        </p:nvGraphicFramePr>
        <p:xfrm>
          <a:off x="304800" y="1159995"/>
          <a:ext cx="11488132" cy="280212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640526">
                  <a:extLst>
                    <a:ext uri="{9D8B030D-6E8A-4147-A177-3AD203B41FA5}">
                      <a16:colId xmlns:a16="http://schemas.microsoft.com/office/drawing/2014/main" val="1176274871"/>
                    </a:ext>
                  </a:extLst>
                </a:gridCol>
                <a:gridCol w="2334040">
                  <a:extLst>
                    <a:ext uri="{9D8B030D-6E8A-4147-A177-3AD203B41FA5}">
                      <a16:colId xmlns:a16="http://schemas.microsoft.com/office/drawing/2014/main" val="3185924619"/>
                    </a:ext>
                  </a:extLst>
                </a:gridCol>
                <a:gridCol w="3631721">
                  <a:extLst>
                    <a:ext uri="{9D8B030D-6E8A-4147-A177-3AD203B41FA5}">
                      <a16:colId xmlns:a16="http://schemas.microsoft.com/office/drawing/2014/main" val="3343998801"/>
                    </a:ext>
                  </a:extLst>
                </a:gridCol>
                <a:gridCol w="2881845">
                  <a:extLst>
                    <a:ext uri="{9D8B030D-6E8A-4147-A177-3AD203B41FA5}">
                      <a16:colId xmlns:a16="http://schemas.microsoft.com/office/drawing/2014/main" val="470923700"/>
                    </a:ext>
                  </a:extLst>
                </a:gridCol>
              </a:tblGrid>
              <a:tr h="1478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구분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특허심판원에 계속 중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특허법원에 계속 중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대법원에 계속 중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28783"/>
                  </a:ext>
                </a:extLst>
              </a:tr>
              <a:tr h="6300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정정심판에 대한 인용심결이 확정된 경우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정정된 특허발명에 의하여 특허취소사유</a:t>
                      </a:r>
                      <a:r>
                        <a:rPr lang="en-US" altLang="ko-KR" sz="1400" kern="1200" dirty="0"/>
                        <a:t>, </a:t>
                      </a:r>
                      <a:r>
                        <a:rPr lang="ko-KR" altLang="en-US" sz="1400" kern="1200" dirty="0"/>
                        <a:t>특허무효사유를 심리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9070" marR="17780" indent="-17907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/>
                        <a:t>1. </a:t>
                      </a:r>
                      <a:r>
                        <a:rPr lang="ko-KR" altLang="en-US" sz="1400" kern="1200" dirty="0"/>
                        <a:t>특허취소신청의 경우</a:t>
                      </a:r>
                      <a:endParaRPr lang="en-US" altLang="ko-KR" sz="1400" kern="1200" dirty="0"/>
                    </a:p>
                    <a:p>
                      <a:pPr marL="179070" marR="17780" indent="-17907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/>
                        <a:t>    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</a:rPr>
                        <a:t>사실심 변론종결 전 한함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</a:endParaRPr>
                    </a:p>
                    <a:p>
                      <a:pPr marL="88900" marR="17780" indent="-889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/>
                        <a:t>- </a:t>
                      </a:r>
                      <a:r>
                        <a:rPr lang="ko-KR" altLang="en-US" sz="1400" kern="1200" dirty="0" err="1"/>
                        <a:t>취소환송</a:t>
                      </a:r>
                      <a:r>
                        <a:rPr lang="en-US" altLang="ko-KR" sz="1400" kern="1200" dirty="0"/>
                        <a:t>(</a:t>
                      </a:r>
                      <a:r>
                        <a:rPr lang="ko-KR" altLang="en-US" sz="1400" kern="1200" dirty="0"/>
                        <a:t>사실심</a:t>
                      </a:r>
                      <a:r>
                        <a:rPr lang="en-US" altLang="ko-KR" sz="1400" kern="1200" dirty="0"/>
                        <a:t>, </a:t>
                      </a:r>
                      <a:r>
                        <a:rPr lang="ko-KR" altLang="en-US" sz="1400" kern="1200" dirty="0"/>
                        <a:t>단 특허권자의 대응기회</a:t>
                      </a:r>
                      <a:r>
                        <a:rPr lang="en-US" altLang="ko-KR" sz="1400" kern="1200" dirty="0"/>
                        <a:t>(</a:t>
                      </a:r>
                      <a:r>
                        <a:rPr lang="ko-KR" altLang="en-US" sz="1400" kern="1200" dirty="0"/>
                        <a:t>정정청구 기회</a:t>
                      </a:r>
                      <a:r>
                        <a:rPr lang="en-US" altLang="ko-KR" sz="1400" kern="1200" dirty="0"/>
                        <a:t>)</a:t>
                      </a:r>
                      <a:r>
                        <a:rPr lang="ko-KR" altLang="en-US" sz="1400" kern="1200" dirty="0"/>
                        <a:t> 확보 위해 정정된 특허발명에 대하여 심리 불가</a:t>
                      </a:r>
                      <a:r>
                        <a:rPr lang="en-US" altLang="ko-KR" sz="1400" kern="1200" dirty="0"/>
                        <a:t>)</a:t>
                      </a:r>
                      <a:endParaRPr lang="ko-KR" altLang="en-US" sz="1400" kern="1200" dirty="0"/>
                    </a:p>
                    <a:p>
                      <a:pPr marL="179070" marR="17780" indent="-17907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/>
                        <a:t>2. </a:t>
                      </a:r>
                      <a:r>
                        <a:rPr lang="ko-KR" altLang="en-US" sz="1400" kern="1200" dirty="0"/>
                        <a:t>특허무효심판의 경우</a:t>
                      </a:r>
                      <a:endParaRPr lang="en-US" altLang="ko-KR" sz="1400" kern="1200" dirty="0"/>
                    </a:p>
                    <a:p>
                      <a:pPr marL="179070" marR="17780" indent="-17907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/>
                        <a:t>   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</a:rPr>
                        <a:t>사실심 변론종결 전 한함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kern="1200" dirty="0"/>
                    </a:p>
                    <a:p>
                      <a:pPr marL="139700" marR="17780" indent="-1397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/>
                        <a:t>- </a:t>
                      </a:r>
                      <a:r>
                        <a:rPr lang="ko-KR" altLang="en-US" sz="1400" kern="1200" dirty="0"/>
                        <a:t>정정된 특허발명에 의하여 특허무효사유를 심리</a:t>
                      </a:r>
                      <a:r>
                        <a:rPr lang="en-US" altLang="ko-KR" sz="1400" kern="1200" dirty="0"/>
                        <a:t>(</a:t>
                      </a:r>
                      <a:r>
                        <a:rPr lang="ko-KR" altLang="en-US" sz="1400" kern="1200" dirty="0"/>
                        <a:t>사실심</a:t>
                      </a:r>
                      <a:r>
                        <a:rPr lang="en-US" altLang="ko-KR" sz="1400" kern="1200" dirty="0"/>
                        <a:t>, </a:t>
                      </a:r>
                      <a:r>
                        <a:rPr lang="ko-KR" altLang="en-US" sz="1400" kern="1200" dirty="0"/>
                        <a:t>무제한설</a:t>
                      </a:r>
                      <a:r>
                        <a:rPr lang="en-US" altLang="ko-KR" sz="1400" kern="1200" dirty="0"/>
                        <a:t>)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lvl="0" indent="0" algn="just" defTabSz="914400" rtl="0" eaLnBrk="1" fontAlgn="base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kern="1200" dirty="0"/>
                        <a:t>정정 전 특허발명에 의하여 법령 위반이 존재하는지 판단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</a:rPr>
                        <a:t>특허법원의 사실심 변론종결 후 포함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</a:endParaRP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3958218819"/>
                  </a:ext>
                </a:extLst>
              </a:tr>
            </a:tbl>
          </a:graphicData>
        </a:graphic>
      </p:graphicFrame>
      <p:sp>
        <p:nvSpPr>
          <p:cNvPr id="73" name="TextBox 72"/>
          <p:cNvSpPr txBox="1"/>
          <p:nvPr/>
        </p:nvSpPr>
        <p:spPr>
          <a:xfrm>
            <a:off x="2900190" y="5440081"/>
            <a:ext cx="1266940" cy="391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인용심결확정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51614" y="4654107"/>
            <a:ext cx="1266940" cy="39021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정정심판청구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2" name="직선 화살표 연결선 11"/>
          <p:cNvCxnSpPr>
            <a:stCxn id="73" idx="0"/>
            <a:endCxn id="53" idx="4"/>
          </p:cNvCxnSpPr>
          <p:nvPr/>
        </p:nvCxnSpPr>
        <p:spPr>
          <a:xfrm flipV="1">
            <a:off x="3533660" y="4929883"/>
            <a:ext cx="0" cy="5101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타원 77"/>
          <p:cNvSpPr/>
          <p:nvPr/>
        </p:nvSpPr>
        <p:spPr>
          <a:xfrm>
            <a:off x="6478240" y="476854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5922139" y="5440081"/>
            <a:ext cx="1266940" cy="391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인용심결확정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0" name="직선 화살표 연결선 79"/>
          <p:cNvCxnSpPr>
            <a:stCxn id="79" idx="0"/>
            <a:endCxn id="78" idx="4"/>
          </p:cNvCxnSpPr>
          <p:nvPr/>
        </p:nvCxnSpPr>
        <p:spPr>
          <a:xfrm flipV="1">
            <a:off x="6555609" y="4929883"/>
            <a:ext cx="0" cy="5101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타원 80"/>
          <p:cNvSpPr/>
          <p:nvPr/>
        </p:nvSpPr>
        <p:spPr>
          <a:xfrm>
            <a:off x="9653830" y="476854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9097729" y="5440081"/>
            <a:ext cx="1266940" cy="391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인용심결확정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9" name="직선 화살표 연결선 88"/>
          <p:cNvCxnSpPr>
            <a:stCxn id="85" idx="0"/>
            <a:endCxn id="81" idx="4"/>
          </p:cNvCxnSpPr>
          <p:nvPr/>
        </p:nvCxnSpPr>
        <p:spPr>
          <a:xfrm flipV="1">
            <a:off x="9731199" y="4929883"/>
            <a:ext cx="0" cy="5101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2684795" y="5173656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98020" y="5173656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24924" y="5132373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92582" y="885714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22139" y="885714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210359" y="865861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2112429" y="6020989"/>
            <a:ext cx="6096000" cy="7386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>
            <a:spAutoFit/>
          </a:bodyPr>
          <a:lstStyle/>
          <a:p>
            <a:r>
              <a:rPr lang="ko-KR" altLang="en-US" sz="1400" dirty="0"/>
              <a:t>특허발명의 명세서 또는 도면에 대하여 정정을 한다는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확정되었을 때에는 그 정정 후의 명세서 또는 도면에 따라 특허출원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출원공개</a:t>
            </a:r>
            <a:r>
              <a:rPr lang="en-US" altLang="ko-KR" sz="1400" dirty="0"/>
              <a:t>, </a:t>
            </a:r>
            <a:r>
              <a:rPr lang="ko-KR" altLang="en-US" sz="1400" dirty="0"/>
              <a:t>특허결정 또는 </a:t>
            </a:r>
            <a:r>
              <a:rPr lang="ko-KR" altLang="en-US" sz="1400" dirty="0" err="1"/>
              <a:t>심결</a:t>
            </a:r>
            <a:r>
              <a:rPr lang="ko-KR" altLang="en-US" sz="1400" dirty="0"/>
              <a:t> 및 특허권의 설정등록이 된 것으로 본다</a:t>
            </a:r>
            <a:r>
              <a:rPr lang="en-US" altLang="ko-KR" sz="1400" dirty="0"/>
              <a:t>(</a:t>
            </a:r>
            <a:r>
              <a:rPr lang="ko-KR" altLang="en-US" sz="1400" dirty="0"/>
              <a:t>제</a:t>
            </a:r>
            <a:r>
              <a:rPr lang="en-US" altLang="ko-KR" sz="1400" dirty="0"/>
              <a:t>136</a:t>
            </a:r>
            <a:r>
              <a:rPr lang="ko-KR" altLang="en-US" sz="1400" dirty="0"/>
              <a:t>조제</a:t>
            </a:r>
            <a:r>
              <a:rPr lang="en-US" altLang="ko-KR" sz="1400" dirty="0"/>
              <a:t>10</a:t>
            </a:r>
            <a:r>
              <a:rPr lang="ko-KR" altLang="en-US" sz="1400" dirty="0"/>
              <a:t>항</a:t>
            </a:r>
            <a:r>
              <a:rPr lang="en-US" altLang="ko-KR" sz="1400" dirty="0"/>
              <a:t>).</a:t>
            </a:r>
            <a:endParaRPr lang="ko-KR" altLang="en-US" sz="1400" dirty="0"/>
          </a:p>
        </p:txBody>
      </p:sp>
      <p:cxnSp>
        <p:nvCxnSpPr>
          <p:cNvPr id="16" name="꺾인 연결선 15"/>
          <p:cNvCxnSpPr>
            <a:stCxn id="14" idx="0"/>
            <a:endCxn id="73" idx="2"/>
          </p:cNvCxnSpPr>
          <p:nvPr/>
        </p:nvCxnSpPr>
        <p:spPr>
          <a:xfrm rot="16200000" flipV="1">
            <a:off x="4252411" y="5112970"/>
            <a:ext cx="189268" cy="162676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14" idx="0"/>
            <a:endCxn id="79" idx="2"/>
          </p:cNvCxnSpPr>
          <p:nvPr/>
        </p:nvCxnSpPr>
        <p:spPr>
          <a:xfrm rot="5400000" flipH="1" flipV="1">
            <a:off x="5763385" y="5228765"/>
            <a:ext cx="189268" cy="13951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14" idx="0"/>
            <a:endCxn id="85" idx="2"/>
          </p:cNvCxnSpPr>
          <p:nvPr/>
        </p:nvCxnSpPr>
        <p:spPr>
          <a:xfrm rot="5400000" flipH="1" flipV="1">
            <a:off x="7351180" y="3640970"/>
            <a:ext cx="189268" cy="45707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8491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/>
              <a:t>정정심판과 특허취소신청</a:t>
            </a:r>
            <a:r>
              <a:rPr lang="en-US" altLang="ko-KR"/>
              <a:t>, </a:t>
            </a:r>
            <a:r>
              <a:rPr lang="ko-KR" altLang="en-US"/>
              <a:t>특허무효심판의 관계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Line 5"/>
          <p:cNvSpPr>
            <a:spLocks noChangeShapeType="1"/>
          </p:cNvSpPr>
          <p:nvPr/>
        </p:nvSpPr>
        <p:spPr bwMode="auto">
          <a:xfrm>
            <a:off x="328662" y="4146022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3926191" y="40549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936508" y="405492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7" name="직선 화살표 연결선 56"/>
          <p:cNvCxnSpPr>
            <a:stCxn id="55" idx="2"/>
            <a:endCxn id="56" idx="0"/>
          </p:cNvCxnSpPr>
          <p:nvPr/>
        </p:nvCxnSpPr>
        <p:spPr>
          <a:xfrm flipH="1">
            <a:off x="1013877" y="3832009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타원 58"/>
          <p:cNvSpPr/>
          <p:nvPr/>
        </p:nvSpPr>
        <p:spPr>
          <a:xfrm>
            <a:off x="5518511" y="405492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0" name="직선 화살표 연결선 59"/>
          <p:cNvCxnSpPr>
            <a:stCxn id="58" idx="2"/>
            <a:endCxn id="59" idx="0"/>
          </p:cNvCxnSpPr>
          <p:nvPr/>
        </p:nvCxnSpPr>
        <p:spPr>
          <a:xfrm flipH="1">
            <a:off x="5595880" y="3832009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타원 61"/>
          <p:cNvSpPr/>
          <p:nvPr/>
        </p:nvSpPr>
        <p:spPr>
          <a:xfrm>
            <a:off x="8326970" y="4054925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3" name="직선 화살표 연결선 62"/>
          <p:cNvCxnSpPr>
            <a:stCxn id="61" idx="2"/>
            <a:endCxn id="62" idx="0"/>
          </p:cNvCxnSpPr>
          <p:nvPr/>
        </p:nvCxnSpPr>
        <p:spPr>
          <a:xfrm flipH="1">
            <a:off x="8404339" y="3832009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80408" y="3048000"/>
            <a:ext cx="1266940" cy="7840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특허심판원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정정심판청구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62411" y="3048000"/>
            <a:ext cx="1266940" cy="7840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특허법원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취소소송제기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70870" y="3048000"/>
            <a:ext cx="1266940" cy="7840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대법원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0072232"/>
              </p:ext>
            </p:extLst>
          </p:nvPr>
        </p:nvGraphicFramePr>
        <p:xfrm>
          <a:off x="304800" y="1177925"/>
          <a:ext cx="11488132" cy="141528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640526">
                  <a:extLst>
                    <a:ext uri="{9D8B030D-6E8A-4147-A177-3AD203B41FA5}">
                      <a16:colId xmlns:a16="http://schemas.microsoft.com/office/drawing/2014/main" val="1176274871"/>
                    </a:ext>
                  </a:extLst>
                </a:gridCol>
                <a:gridCol w="2949094">
                  <a:extLst>
                    <a:ext uri="{9D8B030D-6E8A-4147-A177-3AD203B41FA5}">
                      <a16:colId xmlns:a16="http://schemas.microsoft.com/office/drawing/2014/main" val="3185924619"/>
                    </a:ext>
                  </a:extLst>
                </a:gridCol>
                <a:gridCol w="3131024">
                  <a:extLst>
                    <a:ext uri="{9D8B030D-6E8A-4147-A177-3AD203B41FA5}">
                      <a16:colId xmlns:a16="http://schemas.microsoft.com/office/drawing/2014/main" val="3343998801"/>
                    </a:ext>
                  </a:extLst>
                </a:gridCol>
                <a:gridCol w="2767488">
                  <a:extLst>
                    <a:ext uri="{9D8B030D-6E8A-4147-A177-3AD203B41FA5}">
                      <a16:colId xmlns:a16="http://schemas.microsoft.com/office/drawing/2014/main" val="470923700"/>
                    </a:ext>
                  </a:extLst>
                </a:gridCol>
              </a:tblGrid>
              <a:tr h="14780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구분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특허심판원에 계속 중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특허법원에 계속 중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대법원에 계속 중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28783"/>
                  </a:ext>
                </a:extLst>
              </a:tr>
              <a:tr h="63006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특허무효심판에 대한 </a:t>
                      </a:r>
                      <a:r>
                        <a:rPr lang="ko-KR" altLang="en-US" sz="1400" kern="1200" dirty="0" err="1"/>
                        <a:t>인용심결</a:t>
                      </a:r>
                      <a:r>
                        <a:rPr lang="en-US" altLang="ko-KR" sz="1400" kern="1200" dirty="0"/>
                        <a:t>/</a:t>
                      </a:r>
                      <a:r>
                        <a:rPr lang="ko-KR" altLang="en-US" sz="1400" kern="1200" dirty="0"/>
                        <a:t>특허취소신청에 대한 취소결정이 확정되어 </a:t>
                      </a:r>
                      <a:r>
                        <a:rPr lang="ko-KR" altLang="en-US" sz="1400" kern="1200" dirty="0" err="1"/>
                        <a:t>소급소멸한</a:t>
                      </a:r>
                      <a:r>
                        <a:rPr lang="ko-KR" altLang="en-US" sz="1400" kern="1200" dirty="0"/>
                        <a:t> 경우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18110" marR="17780" indent="-11811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정정심판은 심결각하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정정심판은 소각하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 err="1"/>
                        <a:t>정정심판은</a:t>
                      </a:r>
                      <a:r>
                        <a:rPr lang="ko-KR" altLang="en-US" sz="1400" kern="1200" dirty="0"/>
                        <a:t> </a:t>
                      </a:r>
                      <a:r>
                        <a:rPr lang="ko-KR" altLang="en-US" sz="1400" kern="1200" dirty="0" err="1"/>
                        <a:t>파기소각하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3958218819"/>
                  </a:ext>
                </a:extLst>
              </a:tr>
            </a:tbl>
          </a:graphicData>
        </a:graphic>
      </p:graphicFrame>
      <p:sp>
        <p:nvSpPr>
          <p:cNvPr id="73" name="TextBox 72"/>
          <p:cNvSpPr txBox="1"/>
          <p:nvPr/>
        </p:nvSpPr>
        <p:spPr>
          <a:xfrm>
            <a:off x="3370090" y="4726461"/>
            <a:ext cx="1266940" cy="391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취소결정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인용심결확정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750214" y="3940487"/>
            <a:ext cx="1310486" cy="39021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특허무효심판청구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특허취소신청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2" name="직선 화살표 연결선 11"/>
          <p:cNvCxnSpPr>
            <a:stCxn id="73" idx="0"/>
            <a:endCxn id="53" idx="4"/>
          </p:cNvCxnSpPr>
          <p:nvPr/>
        </p:nvCxnSpPr>
        <p:spPr>
          <a:xfrm flipV="1">
            <a:off x="4003560" y="4216263"/>
            <a:ext cx="0" cy="5101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타원 77"/>
          <p:cNvSpPr/>
          <p:nvPr/>
        </p:nvSpPr>
        <p:spPr>
          <a:xfrm>
            <a:off x="6922740" y="40549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366639" y="4726461"/>
            <a:ext cx="1266940" cy="391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취소결정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인용심결확정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0" name="직선 화살표 연결선 79"/>
          <p:cNvCxnSpPr>
            <a:stCxn id="79" idx="0"/>
            <a:endCxn id="78" idx="4"/>
          </p:cNvCxnSpPr>
          <p:nvPr/>
        </p:nvCxnSpPr>
        <p:spPr>
          <a:xfrm flipV="1">
            <a:off x="7000109" y="4216263"/>
            <a:ext cx="0" cy="5101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타원 80"/>
          <p:cNvSpPr/>
          <p:nvPr/>
        </p:nvSpPr>
        <p:spPr>
          <a:xfrm>
            <a:off x="9653830" y="40549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9097729" y="4726461"/>
            <a:ext cx="1266940" cy="3916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취소결정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인용심결확정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9" name="직선 화살표 연결선 88"/>
          <p:cNvCxnSpPr>
            <a:stCxn id="85" idx="0"/>
            <a:endCxn id="81" idx="4"/>
          </p:cNvCxnSpPr>
          <p:nvPr/>
        </p:nvCxnSpPr>
        <p:spPr>
          <a:xfrm flipV="1">
            <a:off x="9731199" y="4216263"/>
            <a:ext cx="0" cy="5101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3154695" y="4460036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185768" y="4460036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24924" y="4418753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184655" y="903644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249945" y="903644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306562" y="883791"/>
            <a:ext cx="37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2800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2112428" y="5701818"/>
            <a:ext cx="8390471" cy="30777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특허취소결정이 확정</a:t>
            </a:r>
            <a:r>
              <a:rPr lang="en-US" altLang="ko-KR" sz="1400" dirty="0"/>
              <a:t>/</a:t>
            </a:r>
            <a:r>
              <a:rPr lang="ko-KR" altLang="en-US" sz="1400" dirty="0"/>
              <a:t>특허무효심결이 확정된 때에는 그 특허권은 처음부터 없었던 것으로 본다</a:t>
            </a:r>
            <a:r>
              <a:rPr lang="en-US" altLang="ko-KR" sz="1400" dirty="0"/>
              <a:t>.</a:t>
            </a:r>
            <a:endParaRPr lang="ko-KR" altLang="en-US" sz="1100" dirty="0"/>
          </a:p>
        </p:txBody>
      </p:sp>
      <p:cxnSp>
        <p:nvCxnSpPr>
          <p:cNvPr id="16" name="꺾인 연결선 15"/>
          <p:cNvCxnSpPr>
            <a:stCxn id="14" idx="0"/>
            <a:endCxn id="73" idx="2"/>
          </p:cNvCxnSpPr>
          <p:nvPr/>
        </p:nvCxnSpPr>
        <p:spPr>
          <a:xfrm rot="16200000" flipV="1">
            <a:off x="4863754" y="4257908"/>
            <a:ext cx="583717" cy="23041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14" idx="0"/>
            <a:endCxn id="79" idx="2"/>
          </p:cNvCxnSpPr>
          <p:nvPr/>
        </p:nvCxnSpPr>
        <p:spPr>
          <a:xfrm rot="5400000" flipH="1" flipV="1">
            <a:off x="6362028" y="5063738"/>
            <a:ext cx="583717" cy="69244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stCxn id="14" idx="0"/>
            <a:endCxn id="85" idx="2"/>
          </p:cNvCxnSpPr>
          <p:nvPr/>
        </p:nvCxnSpPr>
        <p:spPr>
          <a:xfrm rot="5400000" flipH="1" flipV="1">
            <a:off x="7727573" y="3698193"/>
            <a:ext cx="583717" cy="342353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3910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사실심 변론종결후 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정정인용심결확정의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CASE</a:t>
            </a:r>
            <a:endParaRPr lang="ko-KR" alt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D3BB6AF1-7F60-452C-A6FA-C26D553DE96B}"/>
              </a:ext>
            </a:extLst>
          </p:cNvPr>
          <p:cNvCxnSpPr/>
          <p:nvPr/>
        </p:nvCxnSpPr>
        <p:spPr>
          <a:xfrm>
            <a:off x="0" y="3229430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C8A4446-9A84-44CF-BF8E-778825646662}"/>
              </a:ext>
            </a:extLst>
          </p:cNvPr>
          <p:cNvSpPr/>
          <p:nvPr/>
        </p:nvSpPr>
        <p:spPr>
          <a:xfrm>
            <a:off x="232372" y="1353610"/>
            <a:ext cx="11681987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300" dirty="0"/>
              <a:t>재심은 확정된 종국판결에 대하여 판결의 효력을 인정할 수 없는 중대한 하자가 있는 경우 예외적으로 판결의 확정에 따른 법적 안정성을 후퇴시켜 그 하자를 시정함으로써 구체적 정의를 실현하고자 마련된 것이다</a:t>
            </a:r>
            <a:r>
              <a:rPr lang="en-US" altLang="ko-KR" sz="1300" dirty="0"/>
              <a:t>(</a:t>
            </a:r>
            <a:r>
              <a:rPr lang="ko-KR" altLang="en-US" sz="1300" dirty="0"/>
              <a:t>대법원 </a:t>
            </a:r>
            <a:r>
              <a:rPr lang="en-US" altLang="ko-KR" sz="1300" dirty="0"/>
              <a:t>1992. 7. 24. </a:t>
            </a:r>
            <a:r>
              <a:rPr lang="ko-KR" altLang="en-US" sz="1300" dirty="0"/>
              <a:t>선고 </a:t>
            </a:r>
            <a:r>
              <a:rPr lang="en-US" altLang="ko-KR" sz="1300" dirty="0"/>
              <a:t>91</a:t>
            </a:r>
            <a:r>
              <a:rPr lang="ko-KR" altLang="en-US" sz="1300" dirty="0"/>
              <a:t>다</a:t>
            </a:r>
            <a:r>
              <a:rPr lang="en-US" altLang="ko-KR" sz="1300" dirty="0"/>
              <a:t>45691 </a:t>
            </a:r>
            <a:r>
              <a:rPr lang="ko-KR" altLang="en-US" sz="1300" dirty="0"/>
              <a:t>판결 등 참조</a:t>
            </a:r>
            <a:r>
              <a:rPr lang="en-US" altLang="ko-KR" sz="1300" dirty="0"/>
              <a:t>). </a:t>
            </a:r>
            <a:r>
              <a:rPr lang="ko-KR" altLang="en-US" sz="1300" dirty="0"/>
              <a:t>행정소송법 제</a:t>
            </a:r>
            <a:r>
              <a:rPr lang="en-US" altLang="ko-KR" sz="1300" dirty="0"/>
              <a:t>8</a:t>
            </a:r>
            <a:r>
              <a:rPr lang="ko-KR" altLang="en-US" sz="1300" dirty="0"/>
              <a:t>조에 따라 </a:t>
            </a:r>
            <a:r>
              <a:rPr lang="ko-KR" altLang="en-US" sz="1300" dirty="0" err="1"/>
              <a:t>심결취소소송에</a:t>
            </a:r>
            <a:r>
              <a:rPr lang="ko-KR" altLang="en-US" sz="1300" dirty="0"/>
              <a:t> 준용되는 민사소송법 제</a:t>
            </a:r>
            <a:r>
              <a:rPr lang="en-US" altLang="ko-KR" sz="1300" dirty="0"/>
              <a:t>451</a:t>
            </a:r>
            <a:r>
              <a:rPr lang="ko-KR" altLang="en-US" sz="1300" dirty="0"/>
              <a:t>조 제</a:t>
            </a:r>
            <a:r>
              <a:rPr lang="en-US" altLang="ko-KR" sz="1300" dirty="0"/>
              <a:t>1</a:t>
            </a:r>
            <a:r>
              <a:rPr lang="ko-KR" altLang="en-US" sz="1300" dirty="0"/>
              <a:t>항 제</a:t>
            </a:r>
            <a:r>
              <a:rPr lang="en-US" altLang="ko-KR" sz="1300" dirty="0"/>
              <a:t>8</a:t>
            </a:r>
            <a:r>
              <a:rPr lang="ko-KR" altLang="en-US" sz="1300" dirty="0"/>
              <a:t>호는 “판결의 기초로 된 행정처분이 다른 행정처분에 의하여 변경된 </a:t>
            </a:r>
            <a:r>
              <a:rPr lang="ko-KR" altLang="en-US" sz="1300" dirty="0" err="1"/>
              <a:t>때”를</a:t>
            </a:r>
            <a:r>
              <a:rPr lang="ko-KR" altLang="en-US" sz="1300" dirty="0"/>
              <a:t> 재심사유로 규정하고 있다</a:t>
            </a:r>
            <a:r>
              <a:rPr lang="en-US" altLang="ko-KR" sz="1300" dirty="0"/>
              <a:t>. </a:t>
            </a:r>
            <a:r>
              <a:rPr lang="ko-KR" altLang="en-US" sz="1300" dirty="0"/>
              <a:t>이는 판결의 심리</a:t>
            </a:r>
            <a:r>
              <a:rPr lang="en-US" altLang="ko-KR" sz="1300" dirty="0"/>
              <a:t>·</a:t>
            </a:r>
            <a:r>
              <a:rPr lang="ko-KR" altLang="en-US" sz="1300" dirty="0"/>
              <a:t>판단 대상이 되는 행정처분 그 자체가 그 후 다른 행정처분에 의하여 확정적</a:t>
            </a:r>
            <a:r>
              <a:rPr lang="en-US" altLang="ko-KR" sz="1300" dirty="0"/>
              <a:t>·</a:t>
            </a:r>
            <a:r>
              <a:rPr lang="ko-KR" altLang="en-US" sz="1300" dirty="0"/>
              <a:t>소급적으로 변경된 경우를 말하는 것이 아니고</a:t>
            </a:r>
            <a:r>
              <a:rPr lang="en-US" altLang="ko-KR" sz="1300" dirty="0"/>
              <a:t>, </a:t>
            </a:r>
            <a:r>
              <a:rPr lang="ko-KR" altLang="en-US" sz="1300" dirty="0"/>
              <a:t>확정판결에 법률적으로 구속력을 미치거나 또는 그 확정판결에서 사실인정의 자료가 된 행정처분이 다른 행정처분에 의하여 확정적</a:t>
            </a:r>
            <a:r>
              <a:rPr lang="en-US" altLang="ko-KR" sz="1300" dirty="0"/>
              <a:t>·</a:t>
            </a:r>
            <a:r>
              <a:rPr lang="ko-KR" altLang="en-US" sz="1300" dirty="0"/>
              <a:t>소급적으로 변경된 경우를 말하는 것이다</a:t>
            </a:r>
            <a:r>
              <a:rPr lang="en-US" altLang="ko-KR" sz="1300" dirty="0"/>
              <a:t>. </a:t>
            </a:r>
            <a:r>
              <a:rPr lang="ko-KR" altLang="en-US" sz="1300" dirty="0"/>
              <a:t>여기서 ‘사실인정의 자료가 </a:t>
            </a:r>
            <a:r>
              <a:rPr lang="ko-KR" altLang="en-US" sz="1300" dirty="0" err="1"/>
              <a:t>되었다’는</a:t>
            </a:r>
            <a:r>
              <a:rPr lang="ko-KR" altLang="en-US" sz="1300" dirty="0"/>
              <a:t> 것은 그 행정처분이 확정판결의 사실인정에 있어서 증거자료로 채택되었고 그 행정처분의 변경이 확정판결의 사실인정에 영향을 미칠 가능성이 있는 경우를 말한다</a:t>
            </a:r>
            <a:r>
              <a:rPr lang="en-US" altLang="ko-KR" sz="1300" dirty="0"/>
              <a:t>(</a:t>
            </a:r>
            <a:r>
              <a:rPr lang="ko-KR" altLang="en-US" sz="1300" dirty="0"/>
              <a:t>대법원 </a:t>
            </a:r>
            <a:r>
              <a:rPr lang="en-US" altLang="ko-KR" sz="1300" dirty="0"/>
              <a:t>1994. 11. 25. </a:t>
            </a:r>
            <a:r>
              <a:rPr lang="ko-KR" altLang="en-US" sz="1300" dirty="0"/>
              <a:t>선고 </a:t>
            </a:r>
            <a:r>
              <a:rPr lang="en-US" altLang="ko-KR" sz="1300" dirty="0"/>
              <a:t>94</a:t>
            </a:r>
            <a:r>
              <a:rPr lang="ko-KR" altLang="en-US" sz="1300" dirty="0"/>
              <a:t>다</a:t>
            </a:r>
            <a:r>
              <a:rPr lang="en-US" altLang="ko-KR" sz="1300" dirty="0"/>
              <a:t>33897 </a:t>
            </a:r>
            <a:r>
              <a:rPr lang="ko-KR" altLang="en-US" sz="1300" dirty="0"/>
              <a:t>판결</a:t>
            </a:r>
            <a:r>
              <a:rPr lang="en-US" altLang="ko-KR" sz="1300" dirty="0"/>
              <a:t>, </a:t>
            </a:r>
            <a:r>
              <a:rPr lang="ko-KR" altLang="en-US" sz="1300" dirty="0"/>
              <a:t>대법원 </a:t>
            </a:r>
            <a:r>
              <a:rPr lang="en-US" altLang="ko-KR" sz="1300" dirty="0"/>
              <a:t>2001. 12. 14. </a:t>
            </a:r>
            <a:r>
              <a:rPr lang="ko-KR" altLang="en-US" sz="1300" dirty="0"/>
              <a:t>선고 </a:t>
            </a:r>
            <a:r>
              <a:rPr lang="en-US" altLang="ko-KR" sz="1300" dirty="0"/>
              <a:t>2000</a:t>
            </a:r>
            <a:r>
              <a:rPr lang="ko-KR" altLang="en-US" sz="1300" dirty="0"/>
              <a:t>다</a:t>
            </a:r>
            <a:r>
              <a:rPr lang="en-US" altLang="ko-KR" sz="1300" dirty="0"/>
              <a:t>12679 </a:t>
            </a:r>
            <a:r>
              <a:rPr lang="ko-KR" altLang="en-US" sz="1300" dirty="0"/>
              <a:t>판결 등 참조</a:t>
            </a:r>
            <a:r>
              <a:rPr lang="en-US" altLang="ko-KR" sz="1300" dirty="0"/>
              <a:t>). </a:t>
            </a:r>
            <a:r>
              <a:rPr lang="ko-KR" altLang="en-US" sz="1300" dirty="0"/>
              <a:t>이에 따르면 특허권자가 정정심판을 청구하여 특허무효심판에 대한 </a:t>
            </a:r>
            <a:r>
              <a:rPr lang="ko-KR" altLang="en-US" sz="1300" dirty="0" err="1"/>
              <a:t>심결취소소송의</a:t>
            </a:r>
            <a:r>
              <a:rPr lang="ko-KR" altLang="en-US" sz="1300" dirty="0"/>
              <a:t> 사실심 변론종결 이후에 특허발명의 명세서 또는 도면</a:t>
            </a:r>
            <a:r>
              <a:rPr lang="en-US" altLang="ko-KR" sz="1300" dirty="0"/>
              <a:t>(</a:t>
            </a:r>
            <a:r>
              <a:rPr lang="ko-KR" altLang="en-US" sz="1300" dirty="0"/>
              <a:t>이하 ‘명세서 </a:t>
            </a:r>
            <a:r>
              <a:rPr lang="ko-KR" altLang="en-US" sz="1300" dirty="0" err="1"/>
              <a:t>등’이라</a:t>
            </a:r>
            <a:r>
              <a:rPr lang="ko-KR" altLang="en-US" sz="1300" dirty="0"/>
              <a:t> 한다</a:t>
            </a:r>
            <a:r>
              <a:rPr lang="en-US" altLang="ko-KR" sz="1300" dirty="0"/>
              <a:t>)</a:t>
            </a:r>
            <a:r>
              <a:rPr lang="ko-KR" altLang="en-US" sz="1300" dirty="0"/>
              <a:t>에 대하여 정정을 한다는 </a:t>
            </a:r>
            <a:r>
              <a:rPr lang="ko-KR" altLang="en-US" sz="1300" dirty="0" err="1"/>
              <a:t>심결</a:t>
            </a:r>
            <a:r>
              <a:rPr lang="en-US" altLang="ko-KR" sz="1300" dirty="0"/>
              <a:t>(</a:t>
            </a:r>
            <a:r>
              <a:rPr lang="ko-KR" altLang="en-US" sz="1300" dirty="0"/>
              <a:t>이하 ‘</a:t>
            </a:r>
            <a:r>
              <a:rPr lang="ko-KR" altLang="en-US" sz="1300" dirty="0" err="1"/>
              <a:t>정정심결’이라</a:t>
            </a:r>
            <a:r>
              <a:rPr lang="ko-KR" altLang="en-US" sz="1300" dirty="0"/>
              <a:t> 한다</a:t>
            </a:r>
            <a:r>
              <a:rPr lang="en-US" altLang="ko-KR" sz="1300" dirty="0"/>
              <a:t>)</a:t>
            </a:r>
            <a:r>
              <a:rPr lang="ko-KR" altLang="en-US" sz="1300" dirty="0"/>
              <a:t>이 확정되더라도 정정 전 명세서 등으로 판단한 원심판결에 민사소송법 제</a:t>
            </a:r>
            <a:r>
              <a:rPr lang="en-US" altLang="ko-KR" sz="1300" dirty="0"/>
              <a:t>451</a:t>
            </a:r>
            <a:r>
              <a:rPr lang="ko-KR" altLang="en-US" sz="1300" dirty="0"/>
              <a:t>조 제</a:t>
            </a:r>
            <a:r>
              <a:rPr lang="en-US" altLang="ko-KR" sz="1300" dirty="0"/>
              <a:t>1</a:t>
            </a:r>
            <a:r>
              <a:rPr lang="ko-KR" altLang="en-US" sz="1300" dirty="0"/>
              <a:t>항 제</a:t>
            </a:r>
            <a:r>
              <a:rPr lang="en-US" altLang="ko-KR" sz="1300" dirty="0"/>
              <a:t>8</a:t>
            </a:r>
            <a:r>
              <a:rPr lang="ko-KR" altLang="en-US" sz="1300" dirty="0"/>
              <a:t>호가 규정한 재심사유가 있다고 볼 수 없다</a:t>
            </a:r>
            <a:r>
              <a:rPr lang="en-US" altLang="ko-KR" sz="1300" dirty="0"/>
              <a:t>.</a:t>
            </a:r>
          </a:p>
        </p:txBody>
      </p:sp>
      <p:sp>
        <p:nvSpPr>
          <p:cNvPr id="46" name="모서리가 둥근 직사각형 10">
            <a:extLst>
              <a:ext uri="{FF2B5EF4-FFF2-40B4-BE49-F238E27FC236}">
                <a16:creationId xmlns:a16="http://schemas.microsoft.com/office/drawing/2014/main" id="{1EB2F813-B207-4574-BC6A-9E0259FF1206}"/>
              </a:ext>
            </a:extLst>
          </p:cNvPr>
          <p:cNvSpPr/>
          <p:nvPr/>
        </p:nvSpPr>
        <p:spPr bwMode="auto">
          <a:xfrm>
            <a:off x="378418" y="998802"/>
            <a:ext cx="5180410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2020. 1. 22.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2016</a:t>
            </a:r>
            <a:r>
              <a:rPr lang="ko-KR" altLang="en-US" sz="1400" dirty="0"/>
              <a:t>후</a:t>
            </a:r>
            <a:r>
              <a:rPr lang="en-US" altLang="ko-KR" sz="1400" dirty="0"/>
              <a:t>2522 </a:t>
            </a:r>
            <a:r>
              <a:rPr lang="ko-KR" altLang="en-US" sz="1400" dirty="0"/>
              <a:t>전원합의체</a:t>
            </a:r>
            <a:r>
              <a:rPr lang="en-US" altLang="ko-KR" sz="1400" dirty="0"/>
              <a:t>【</a:t>
            </a:r>
            <a:r>
              <a:rPr lang="ko-KR" altLang="en-US" sz="1400" dirty="0"/>
              <a:t>정정심판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AB9D320F-0625-4B90-A9FC-E47EB60AA3F4}"/>
              </a:ext>
            </a:extLst>
          </p:cNvPr>
          <p:cNvCxnSpPr/>
          <p:nvPr/>
        </p:nvCxnSpPr>
        <p:spPr>
          <a:xfrm>
            <a:off x="232372" y="4075205"/>
            <a:ext cx="1160030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14">
            <a:extLst>
              <a:ext uri="{FF2B5EF4-FFF2-40B4-BE49-F238E27FC236}">
                <a16:creationId xmlns:a16="http://schemas.microsoft.com/office/drawing/2014/main" id="{44AC4FB1-0252-43E9-A84B-6617D3B7112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34681" y="399867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270E7DB-B056-4345-B070-2D470FDD8303}"/>
              </a:ext>
            </a:extLst>
          </p:cNvPr>
          <p:cNvSpPr txBox="1"/>
          <p:nvPr/>
        </p:nvSpPr>
        <p:spPr>
          <a:xfrm>
            <a:off x="317861" y="3406106"/>
            <a:ext cx="137069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무효심판청구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이해관계인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34038637-7D1C-4A64-9D89-949CC2F123B4}"/>
              </a:ext>
            </a:extLst>
          </p:cNvPr>
          <p:cNvCxnSpPr>
            <a:cxnSpLocks/>
            <a:stCxn id="50" idx="2"/>
            <a:endCxn id="49" idx="4"/>
          </p:cNvCxnSpPr>
          <p:nvPr/>
        </p:nvCxnSpPr>
        <p:spPr>
          <a:xfrm>
            <a:off x="1003208" y="3867771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193EF6F1-3158-4960-8D15-6E78F01860B4}"/>
              </a:ext>
            </a:extLst>
          </p:cNvPr>
          <p:cNvSpPr txBox="1"/>
          <p:nvPr/>
        </p:nvSpPr>
        <p:spPr>
          <a:xfrm>
            <a:off x="1778147" y="3406106"/>
            <a:ext cx="52620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/>
              <a:t>무효심결</a:t>
            </a:r>
            <a:endParaRPr lang="ko-KR" altLang="en-US" sz="1200" dirty="0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084E9FEF-D0FB-4565-9221-3D10B2F53BCA}"/>
              </a:ext>
            </a:extLst>
          </p:cNvPr>
          <p:cNvCxnSpPr>
            <a:cxnSpLocks/>
            <a:stCxn id="55" idx="2"/>
          </p:cNvCxnSpPr>
          <p:nvPr/>
        </p:nvCxnSpPr>
        <p:spPr>
          <a:xfrm>
            <a:off x="2041251" y="3867771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14">
            <a:extLst>
              <a:ext uri="{FF2B5EF4-FFF2-40B4-BE49-F238E27FC236}">
                <a16:creationId xmlns:a16="http://schemas.microsoft.com/office/drawing/2014/main" id="{FF548032-222C-4301-92A8-450C11707C9B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974331" y="399867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8" name="Rectangle 14">
            <a:extLst>
              <a:ext uri="{FF2B5EF4-FFF2-40B4-BE49-F238E27FC236}">
                <a16:creationId xmlns:a16="http://schemas.microsoft.com/office/drawing/2014/main" id="{BB5ACBDF-7B9E-43B6-B13E-8C1E095D13CA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131437" y="399867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857AA28-D2FC-43BA-9B9C-92C9559EFBE1}"/>
              </a:ext>
            </a:extLst>
          </p:cNvPr>
          <p:cNvSpPr txBox="1"/>
          <p:nvPr/>
        </p:nvSpPr>
        <p:spPr>
          <a:xfrm>
            <a:off x="2379340" y="3406106"/>
            <a:ext cx="164124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심결취소소송제기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4290E521-ABD8-4EBD-A52B-01C2F4904074}"/>
              </a:ext>
            </a:extLst>
          </p:cNvPr>
          <p:cNvCxnSpPr>
            <a:cxnSpLocks/>
            <a:stCxn id="59" idx="2"/>
            <a:endCxn id="58" idx="4"/>
          </p:cNvCxnSpPr>
          <p:nvPr/>
        </p:nvCxnSpPr>
        <p:spPr>
          <a:xfrm>
            <a:off x="3199964" y="3867771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126EA89-7E44-4FD3-BBB6-A82576E9F2C1}"/>
              </a:ext>
            </a:extLst>
          </p:cNvPr>
          <p:cNvSpPr txBox="1"/>
          <p:nvPr/>
        </p:nvSpPr>
        <p:spPr>
          <a:xfrm>
            <a:off x="4139627" y="3406106"/>
            <a:ext cx="57776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기각판결</a:t>
            </a:r>
            <a:endParaRPr lang="ko-KR" altLang="en-US" sz="1200" dirty="0"/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526551C4-B03F-4271-B704-AF1A6A5A4D1D}"/>
              </a:ext>
            </a:extLst>
          </p:cNvPr>
          <p:cNvCxnSpPr>
            <a:cxnSpLocks/>
            <a:stCxn id="64" idx="2"/>
            <a:endCxn id="66" idx="4"/>
          </p:cNvCxnSpPr>
          <p:nvPr/>
        </p:nvCxnSpPr>
        <p:spPr>
          <a:xfrm>
            <a:off x="4428507" y="3867771"/>
            <a:ext cx="4518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14">
            <a:extLst>
              <a:ext uri="{FF2B5EF4-FFF2-40B4-BE49-F238E27FC236}">
                <a16:creationId xmlns:a16="http://schemas.microsoft.com/office/drawing/2014/main" id="{A6298882-90DF-46FB-91BD-43C8FAD13C5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361587" y="399867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F5A93A3-3445-4542-814C-8B3AF763C432}"/>
              </a:ext>
            </a:extLst>
          </p:cNvPr>
          <p:cNvSpPr txBox="1"/>
          <p:nvPr/>
        </p:nvSpPr>
        <p:spPr>
          <a:xfrm>
            <a:off x="4852962" y="3406106"/>
            <a:ext cx="104797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상고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26787C32-2A0F-4B74-BAC0-480100EED8E5}"/>
              </a:ext>
            </a:extLst>
          </p:cNvPr>
          <p:cNvCxnSpPr>
            <a:cxnSpLocks/>
            <a:stCxn id="74" idx="2"/>
            <a:endCxn id="79" idx="4"/>
          </p:cNvCxnSpPr>
          <p:nvPr/>
        </p:nvCxnSpPr>
        <p:spPr>
          <a:xfrm>
            <a:off x="5376949" y="3867771"/>
            <a:ext cx="4518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14">
            <a:extLst>
              <a:ext uri="{FF2B5EF4-FFF2-40B4-BE49-F238E27FC236}">
                <a16:creationId xmlns:a16="http://schemas.microsoft.com/office/drawing/2014/main" id="{5AF65C36-5A26-402B-A031-29CBD2633A6D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310029" y="399867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1" name="Rectangle 14">
            <a:extLst>
              <a:ext uri="{FF2B5EF4-FFF2-40B4-BE49-F238E27FC236}">
                <a16:creationId xmlns:a16="http://schemas.microsoft.com/office/drawing/2014/main" id="{0AB0D4A2-4B8A-49AB-B11D-2CBAFDCC4B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578831" y="3998674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09C530F-61B3-44B5-88D5-44262F261D86}"/>
              </a:ext>
            </a:extLst>
          </p:cNvPr>
          <p:cNvSpPr txBox="1"/>
          <p:nvPr/>
        </p:nvSpPr>
        <p:spPr>
          <a:xfrm>
            <a:off x="5138936" y="4317464"/>
            <a:ext cx="101684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인용심결확정</a:t>
            </a: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D82DC272-FB5A-4A7E-B790-6EAAA2FFBE03}"/>
              </a:ext>
            </a:extLst>
          </p:cNvPr>
          <p:cNvCxnSpPr>
            <a:cxnSpLocks/>
            <a:stCxn id="87" idx="0"/>
            <a:endCxn id="81" idx="0"/>
          </p:cNvCxnSpPr>
          <p:nvPr/>
        </p:nvCxnSpPr>
        <p:spPr>
          <a:xfrm flipV="1">
            <a:off x="5647358" y="4151736"/>
            <a:ext cx="2911" cy="1657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8469E66A-9EF5-411D-BD63-BD9B778EB61E}"/>
              </a:ext>
            </a:extLst>
          </p:cNvPr>
          <p:cNvSpPr txBox="1"/>
          <p:nvPr/>
        </p:nvSpPr>
        <p:spPr>
          <a:xfrm>
            <a:off x="6222701" y="3321050"/>
            <a:ext cx="5305180" cy="14148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 err="1">
                <a:solidFill>
                  <a:srgbClr val="FF0000"/>
                </a:solidFill>
              </a:rPr>
              <a:t>인용심결확정으로</a:t>
            </a:r>
            <a:r>
              <a:rPr lang="ko-KR" altLang="en-US" sz="1200" dirty="0">
                <a:solidFill>
                  <a:srgbClr val="FF0000"/>
                </a:solidFill>
              </a:rPr>
              <a:t> 정정된 내용대로 출원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특허결정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등록된 것으로 보지만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특허결정은 </a:t>
            </a:r>
            <a:r>
              <a:rPr lang="ko-KR" altLang="en-US" sz="1200" dirty="0" err="1">
                <a:solidFill>
                  <a:srgbClr val="FF0000"/>
                </a:solidFill>
              </a:rPr>
              <a:t>심결취소소송에서</a:t>
            </a:r>
            <a:r>
              <a:rPr lang="ko-KR" altLang="en-US" sz="1200" dirty="0">
                <a:solidFill>
                  <a:srgbClr val="FF0000"/>
                </a:solidFill>
              </a:rPr>
              <a:t> 심리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판단해야 할 대상일 뿐 판결의 기초가 된 행정처분으로 볼 수 없기 때문에 민소법 제</a:t>
            </a:r>
            <a:r>
              <a:rPr lang="en-US" altLang="ko-KR" sz="1200" dirty="0">
                <a:solidFill>
                  <a:srgbClr val="FF0000"/>
                </a:solidFill>
              </a:rPr>
              <a:t>451</a:t>
            </a:r>
            <a:r>
              <a:rPr lang="ko-KR" altLang="en-US" sz="1200" dirty="0">
                <a:solidFill>
                  <a:srgbClr val="FF0000"/>
                </a:solidFill>
              </a:rPr>
              <a:t>조제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 err="1">
                <a:solidFill>
                  <a:srgbClr val="FF0000"/>
                </a:solidFill>
              </a:rPr>
              <a:t>항제</a:t>
            </a:r>
            <a:r>
              <a:rPr lang="en-US" altLang="ko-KR" sz="1200" dirty="0">
                <a:solidFill>
                  <a:srgbClr val="FF0000"/>
                </a:solidFill>
              </a:rPr>
              <a:t>8</a:t>
            </a:r>
            <a:r>
              <a:rPr lang="ko-KR" altLang="en-US" sz="1200" dirty="0">
                <a:solidFill>
                  <a:srgbClr val="FF0000"/>
                </a:solidFill>
              </a:rPr>
              <a:t>호의 재심사유라는 할 수 없고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따라서 법률심인 대법원에서는 정정 전 특허발명에 의하여 다른 법령 위반이 존재하는지 판단함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만일 법령위반이 존재하여 대법원에서 </a:t>
            </a:r>
            <a:r>
              <a:rPr lang="ko-KR" altLang="en-US" sz="1200" dirty="0" err="1">
                <a:solidFill>
                  <a:srgbClr val="FF0000"/>
                </a:solidFill>
              </a:rPr>
              <a:t>파기환송하면</a:t>
            </a:r>
            <a:r>
              <a:rPr lang="ko-KR" altLang="en-US" sz="1200" dirty="0">
                <a:solidFill>
                  <a:srgbClr val="FF0000"/>
                </a:solidFill>
              </a:rPr>
              <a:t> 사실심인 특허법원에서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정정 후 명세서 또는 도면</a:t>
            </a:r>
            <a:r>
              <a:rPr lang="ko-KR" altLang="en-US" sz="1200" dirty="0">
                <a:solidFill>
                  <a:srgbClr val="FF0000"/>
                </a:solidFill>
              </a:rPr>
              <a:t>을 대상으로 무효사유를 심리함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법령위반이 존재하지 않아서 기각판결이 선고되면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정정심판의 </a:t>
            </a:r>
            <a:r>
              <a:rPr lang="ko-KR" altLang="en-US" sz="1200" dirty="0" err="1">
                <a:solidFill>
                  <a:srgbClr val="FF0000"/>
                </a:solidFill>
                <a:highlight>
                  <a:srgbClr val="FFFF00"/>
                </a:highlight>
              </a:rPr>
              <a:t>인용심결확정은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 무의미한 절차 진행</a:t>
            </a:r>
            <a:r>
              <a:rPr lang="ko-KR" altLang="en-US" sz="1200" dirty="0">
                <a:solidFill>
                  <a:srgbClr val="FF0000"/>
                </a:solidFill>
              </a:rPr>
              <a:t>이 됨</a:t>
            </a:r>
          </a:p>
        </p:txBody>
      </p:sp>
      <p:sp>
        <p:nvSpPr>
          <p:cNvPr id="90" name="Rectangle 14">
            <a:extLst>
              <a:ext uri="{FF2B5EF4-FFF2-40B4-BE49-F238E27FC236}">
                <a16:creationId xmlns:a16="http://schemas.microsoft.com/office/drawing/2014/main" id="{E387AECE-B755-4120-8995-CA02D1DD06D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3593989" y="3998674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F1C778-882F-4DF9-9021-0F8B474BB2CE}"/>
              </a:ext>
            </a:extLst>
          </p:cNvPr>
          <p:cNvSpPr txBox="1"/>
          <p:nvPr/>
        </p:nvSpPr>
        <p:spPr>
          <a:xfrm>
            <a:off x="2977169" y="4317464"/>
            <a:ext cx="137069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정정심판청구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6B9CA08D-F7C1-4B53-A498-15D5B39BEB12}"/>
              </a:ext>
            </a:extLst>
          </p:cNvPr>
          <p:cNvCxnSpPr>
            <a:cxnSpLocks/>
            <a:stCxn id="91" idx="0"/>
            <a:endCxn id="90" idx="0"/>
          </p:cNvCxnSpPr>
          <p:nvPr/>
        </p:nvCxnSpPr>
        <p:spPr>
          <a:xfrm flipV="1">
            <a:off x="3662516" y="4151736"/>
            <a:ext cx="2911" cy="1657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97675E-8DCA-4F36-ABFC-C2BD43DE37A0}"/>
              </a:ext>
            </a:extLst>
          </p:cNvPr>
          <p:cNvSpPr/>
          <p:nvPr/>
        </p:nvSpPr>
        <p:spPr>
          <a:xfrm>
            <a:off x="151963" y="4889816"/>
            <a:ext cx="11899139" cy="193899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/>
              <a:t>민사소송법 제</a:t>
            </a:r>
            <a:r>
              <a:rPr lang="en-US" altLang="ko-KR" sz="1200" dirty="0"/>
              <a:t>451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 제</a:t>
            </a:r>
            <a:r>
              <a:rPr lang="en-US" altLang="ko-KR" sz="1200" dirty="0"/>
              <a:t>8</a:t>
            </a:r>
            <a:r>
              <a:rPr lang="ko-KR" altLang="en-US" sz="1200" dirty="0"/>
              <a:t>호의 “판결의 기초로 된 행정처분이 다른 행정처분에 의하여 변경된 </a:t>
            </a:r>
            <a:r>
              <a:rPr lang="ko-KR" altLang="en-US" sz="1200" dirty="0" err="1"/>
              <a:t>때”라는</a:t>
            </a:r>
            <a:r>
              <a:rPr lang="ko-KR" altLang="en-US" sz="1200" dirty="0"/>
              <a:t> 재심사유는</a:t>
            </a:r>
            <a:r>
              <a:rPr lang="en-US" altLang="ko-KR" sz="1200" dirty="0"/>
              <a:t>, </a:t>
            </a:r>
            <a:r>
              <a:rPr lang="ko-KR" altLang="en-US" sz="1200" dirty="0"/>
              <a:t>판결의 심리</a:t>
            </a:r>
            <a:r>
              <a:rPr lang="en-US" altLang="ko-KR" sz="1200" dirty="0"/>
              <a:t>·</a:t>
            </a:r>
            <a:r>
              <a:rPr lang="ko-KR" altLang="en-US" sz="1200" dirty="0"/>
              <a:t>판단 대상이 되는 행정처분 그 자체가 그 후 다른 행정처분에 의하여 확정적</a:t>
            </a:r>
            <a:r>
              <a:rPr lang="en-US" altLang="ko-KR" sz="1200" dirty="0"/>
              <a:t>·</a:t>
            </a:r>
            <a:r>
              <a:rPr lang="ko-KR" altLang="en-US" sz="1200" dirty="0"/>
              <a:t>소급적으로 변경된 경우를 말하는 것이 아니고</a:t>
            </a:r>
            <a:r>
              <a:rPr lang="en-US" altLang="ko-KR" sz="1200" dirty="0"/>
              <a:t>, ⅰ) </a:t>
            </a:r>
            <a:r>
              <a:rPr lang="ko-KR" altLang="en-US" sz="1200" dirty="0"/>
              <a:t>확정판결에 법률적으로 구속력을 미치거나 또는 그 확정판결에서 사실인정의 자료가 된 행정처분이 다른 행정처분에 의하여 </a:t>
            </a:r>
            <a:r>
              <a:rPr lang="en-US" altLang="ko-KR" sz="1200" dirty="0"/>
              <a:t>ⅱ) </a:t>
            </a:r>
            <a:r>
              <a:rPr lang="ko-KR" altLang="en-US" sz="1200" dirty="0"/>
              <a:t>확정적</a:t>
            </a:r>
            <a:r>
              <a:rPr lang="en-US" altLang="ko-KR" sz="1200" dirty="0"/>
              <a:t>· ⅲ) </a:t>
            </a:r>
            <a:r>
              <a:rPr lang="ko-KR" altLang="en-US" sz="1200" dirty="0"/>
              <a:t>소급적으로 변경된 경우를 말하는 것인데</a:t>
            </a:r>
            <a:r>
              <a:rPr lang="en-US" altLang="ko-KR" sz="1200" dirty="0"/>
              <a:t>, ⅰ) </a:t>
            </a:r>
            <a:r>
              <a:rPr lang="ko-KR" altLang="en-US" sz="1200" dirty="0"/>
              <a:t>심결과의 관계에서 원처분으로 볼 수 있는 특허결정은 </a:t>
            </a:r>
            <a:r>
              <a:rPr lang="ko-KR" altLang="en-US" sz="1200" dirty="0" err="1"/>
              <a:t>심결취소소송에서</a:t>
            </a:r>
            <a:r>
              <a:rPr lang="ko-KR" altLang="en-US" sz="1200" dirty="0"/>
              <a:t> 심리</a:t>
            </a:r>
            <a:r>
              <a:rPr lang="en-US" altLang="ko-KR" sz="1200" dirty="0"/>
              <a:t>·</a:t>
            </a:r>
            <a:r>
              <a:rPr lang="ko-KR" altLang="en-US" sz="1200" dirty="0"/>
              <a:t>판단해야 하는 대상이지 판결의 기초가 되는 행정처분으로 볼 수 없다는 점</a:t>
            </a:r>
            <a:r>
              <a:rPr lang="en-US" altLang="ko-KR" sz="1200" dirty="0"/>
              <a:t>, ⅱ) </a:t>
            </a:r>
            <a:r>
              <a:rPr lang="ko-KR" altLang="en-US" sz="1200" dirty="0"/>
              <a:t>정정이 종전 특허발명과 실질적 동일성을 유지하는 것을 전제로 하는 것이고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정정심결이</a:t>
            </a:r>
            <a:r>
              <a:rPr lang="ko-KR" altLang="en-US" sz="1200" dirty="0"/>
              <a:t> 확정되더라도 일사부재리가 적용되지 않고</a:t>
            </a:r>
            <a:r>
              <a:rPr lang="en-US" altLang="ko-KR" sz="1200" dirty="0"/>
              <a:t>, </a:t>
            </a:r>
            <a:r>
              <a:rPr lang="ko-KR" altLang="en-US" sz="1200" dirty="0"/>
              <a:t>정정무효심판에 의해 다툴 수 있기 때문에 정정 전의 명세서 등에 따른 특허발명의 내용이 확정적으로 변경되었다고 단정할 수 없는 점</a:t>
            </a:r>
            <a:r>
              <a:rPr lang="en-US" altLang="ko-KR" sz="1200" dirty="0"/>
              <a:t>, ⅲ) </a:t>
            </a:r>
            <a:r>
              <a:rPr lang="ko-KR" altLang="en-US" sz="1200" dirty="0"/>
              <a:t>특허법 제</a:t>
            </a:r>
            <a:r>
              <a:rPr lang="en-US" altLang="ko-KR" sz="1200" dirty="0"/>
              <a:t>136</a:t>
            </a:r>
            <a:r>
              <a:rPr lang="ko-KR" altLang="en-US" sz="1200" dirty="0"/>
              <a:t>조 제</a:t>
            </a:r>
            <a:r>
              <a:rPr lang="en-US" altLang="ko-KR" sz="1200" dirty="0"/>
              <a:t>10</a:t>
            </a:r>
            <a:r>
              <a:rPr lang="ko-KR" altLang="en-US" sz="1200" dirty="0"/>
              <a:t>항에서 규정한 정정의 소급효는 사후적으로 명세서 등을 정정하더라도 이미 진행된 특허심사</a:t>
            </a:r>
            <a:r>
              <a:rPr lang="en-US" altLang="ko-KR" sz="1200" dirty="0"/>
              <a:t>·</a:t>
            </a:r>
            <a:r>
              <a:rPr lang="ko-KR" altLang="en-US" sz="1200" dirty="0"/>
              <a:t>심판절차의 내용과 효력을 정정 후 명세서 등에 일체성을 유지하면서 </a:t>
            </a:r>
            <a:r>
              <a:rPr lang="ko-KR" altLang="en-US" sz="1200" dirty="0" err="1"/>
              <a:t>승계시킴으로써</a:t>
            </a:r>
            <a:r>
              <a:rPr lang="ko-KR" altLang="en-US" sz="1200" dirty="0"/>
              <a:t> 특허심사</a:t>
            </a:r>
            <a:r>
              <a:rPr lang="en-US" altLang="ko-KR" sz="1200" dirty="0"/>
              <a:t>·</a:t>
            </a:r>
            <a:r>
              <a:rPr lang="ko-KR" altLang="en-US" sz="1200" dirty="0"/>
              <a:t>심판절차와 조화를 유지하면서 정정제도의 실효성을 추구하고 특허권자가 정정으로 인해 불이익을 받지 않도록 한 것이지</a:t>
            </a:r>
            <a:r>
              <a:rPr lang="en-US" altLang="ko-KR" sz="1200" dirty="0"/>
              <a:t>, </a:t>
            </a:r>
            <a:r>
              <a:rPr lang="ko-KR" altLang="en-US" sz="1200" dirty="0"/>
              <a:t>정정 전의 명세서 등에 따라 발생된 모든 공법적</a:t>
            </a:r>
            <a:r>
              <a:rPr lang="en-US" altLang="ko-KR" sz="1200" dirty="0"/>
              <a:t>, </a:t>
            </a:r>
            <a:r>
              <a:rPr lang="ko-KR" altLang="en-US" sz="1200" dirty="0"/>
              <a:t>사법적 법률관계를 소급적으로 변경시킨다는 취지로 해석하기 어렵다는 점</a:t>
            </a:r>
            <a:r>
              <a:rPr lang="en-US" altLang="ko-KR" sz="1200" dirty="0"/>
              <a:t>, ⅳ) </a:t>
            </a:r>
            <a:r>
              <a:rPr lang="ko-KR" altLang="en-US" sz="1200" dirty="0"/>
              <a:t>사실심 변론종결 후에 확정된 </a:t>
            </a:r>
            <a:r>
              <a:rPr lang="ko-KR" altLang="en-US" sz="1200" dirty="0" err="1"/>
              <a:t>정정심결에</a:t>
            </a:r>
            <a:r>
              <a:rPr lang="ko-KR" altLang="en-US" sz="1200" dirty="0"/>
              <a:t> 따라 청구의 원인이 변경되었다는 이유로 사실심의 판단을 다툴 수 있도록 하는 것은 소송절차와 분쟁의 해결을 현저하게 지연시키는 것인데</a:t>
            </a:r>
            <a:r>
              <a:rPr lang="en-US" altLang="ko-KR" sz="1200" dirty="0"/>
              <a:t>, </a:t>
            </a:r>
            <a:r>
              <a:rPr lang="ko-KR" altLang="en-US" sz="1200" dirty="0"/>
              <a:t>민사소송법 제</a:t>
            </a:r>
            <a:r>
              <a:rPr lang="en-US" altLang="ko-KR" sz="1200" dirty="0"/>
              <a:t>1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항에서 “법원은 소송절차가 공정하고 신속하며 경제적으로 진행되도록 노력하여야 한다</a:t>
            </a:r>
            <a:r>
              <a:rPr lang="en-US" altLang="ko-KR" sz="1200" dirty="0"/>
              <a:t>.”</a:t>
            </a:r>
            <a:r>
              <a:rPr lang="ko-KR" altLang="en-US" sz="1200" dirty="0"/>
              <a:t>라고 규정한 공정</a:t>
            </a:r>
            <a:r>
              <a:rPr lang="en-US" altLang="ko-KR" sz="1200" dirty="0"/>
              <a:t>·</a:t>
            </a:r>
            <a:r>
              <a:rPr lang="ko-KR" altLang="en-US" sz="1200" dirty="0"/>
              <a:t>신속</a:t>
            </a:r>
            <a:r>
              <a:rPr lang="en-US" altLang="ko-KR" sz="1200" dirty="0"/>
              <a:t>·</a:t>
            </a:r>
            <a:r>
              <a:rPr lang="ko-KR" altLang="en-US" sz="1200" dirty="0"/>
              <a:t>경제라는 민사소송의 이상에 비춰 당사자에 의한 소송지연을 적절히 방지할 필요성이 있다는 점을 그 근거로 하고 있다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0001242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대법원 </a:t>
            </a:r>
            <a:r>
              <a:rPr lang="en-US" altLang="ko-KR" dirty="0"/>
              <a:t>2020. 1. 22. </a:t>
            </a:r>
            <a:r>
              <a:rPr lang="ko-KR" altLang="en-US" dirty="0"/>
              <a:t>선고 </a:t>
            </a:r>
            <a:r>
              <a:rPr lang="en-US" altLang="ko-KR" dirty="0"/>
              <a:t>2016</a:t>
            </a:r>
            <a:r>
              <a:rPr lang="ko-KR" altLang="en-US" dirty="0"/>
              <a:t>후</a:t>
            </a:r>
            <a:r>
              <a:rPr lang="en-US" altLang="ko-KR" dirty="0"/>
              <a:t>2522 </a:t>
            </a:r>
            <a:r>
              <a:rPr lang="ko-KR" altLang="en-US" dirty="0"/>
              <a:t>전원합의체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AC9C571E-4073-47B8-AACC-BF02C445C645}"/>
              </a:ext>
            </a:extLst>
          </p:cNvPr>
          <p:cNvCxnSpPr>
            <a:cxnSpLocks/>
          </p:cNvCxnSpPr>
          <p:nvPr/>
        </p:nvCxnSpPr>
        <p:spPr>
          <a:xfrm>
            <a:off x="5457860" y="2375018"/>
            <a:ext cx="0" cy="361620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8B44E4C6-FF14-40B1-9742-F6D047AE39AA}"/>
              </a:ext>
            </a:extLst>
          </p:cNvPr>
          <p:cNvCxnSpPr>
            <a:cxnSpLocks/>
          </p:cNvCxnSpPr>
          <p:nvPr/>
        </p:nvCxnSpPr>
        <p:spPr>
          <a:xfrm flipH="1">
            <a:off x="8879058" y="2375018"/>
            <a:ext cx="72494" cy="361620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B83F9AE-0B3C-432A-B4CB-2617CBE508CB}"/>
              </a:ext>
            </a:extLst>
          </p:cNvPr>
          <p:cNvSpPr/>
          <p:nvPr/>
        </p:nvSpPr>
        <p:spPr>
          <a:xfrm>
            <a:off x="179245" y="6123567"/>
            <a:ext cx="464921" cy="28466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01725E-6BAB-463D-9DEC-E0E656EFB7F7}"/>
              </a:ext>
            </a:extLst>
          </p:cNvPr>
          <p:cNvSpPr txBox="1"/>
          <p:nvPr/>
        </p:nvSpPr>
        <p:spPr>
          <a:xfrm>
            <a:off x="631229" y="6106465"/>
            <a:ext cx="19591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대법원 판단이 도움됨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E050F34A-7AF2-41B4-ACB1-B855C1D69DA6}"/>
              </a:ext>
            </a:extLst>
          </p:cNvPr>
          <p:cNvSpPr/>
          <p:nvPr/>
        </p:nvSpPr>
        <p:spPr>
          <a:xfrm>
            <a:off x="192182" y="6492899"/>
            <a:ext cx="464921" cy="284668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3E29A3B-D202-44B0-9C84-FA35BFCE6CCB}"/>
              </a:ext>
            </a:extLst>
          </p:cNvPr>
          <p:cNvSpPr txBox="1"/>
          <p:nvPr/>
        </p:nvSpPr>
        <p:spPr>
          <a:xfrm>
            <a:off x="644166" y="6475797"/>
            <a:ext cx="19591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대법원 판단이 무용함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C3BBAC17-4293-AB12-5469-9905C242D00C}"/>
              </a:ext>
            </a:extLst>
          </p:cNvPr>
          <p:cNvGrpSpPr/>
          <p:nvPr/>
        </p:nvGrpSpPr>
        <p:grpSpPr>
          <a:xfrm>
            <a:off x="250166" y="756749"/>
            <a:ext cx="11542766" cy="5301152"/>
            <a:chOff x="250166" y="748556"/>
            <a:chExt cx="11542766" cy="5755761"/>
          </a:xfrm>
        </p:grpSpPr>
        <p:sp>
          <p:nvSpPr>
            <p:cNvPr id="37" name="Line 5">
              <a:extLst>
                <a:ext uri="{FF2B5EF4-FFF2-40B4-BE49-F238E27FC236}">
                  <a16:creationId xmlns:a16="http://schemas.microsoft.com/office/drawing/2014/main" id="{5A0D8249-494D-4FCD-ACE6-28800FE215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662" y="1656205"/>
              <a:ext cx="11464270" cy="0"/>
            </a:xfrm>
            <a:prstGeom prst="line">
              <a:avLst/>
            </a:prstGeom>
            <a:noFill/>
            <a:ln w="57150">
              <a:solidFill>
                <a:schemeClr val="bg1">
                  <a:lumMod val="50000"/>
                </a:schemeClr>
              </a:solidFill>
              <a:round/>
              <a:headEnd/>
              <a:tailEnd type="stealth" w="med" len="med"/>
            </a:ln>
          </p:spPr>
          <p:txBody>
            <a:bodyPr/>
            <a:lstStyle/>
            <a:p>
              <a:endParaRPr lang="ko-KR" altLang="en-US" sz="1200">
                <a:latin typeface="+mn-ea"/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B092C759-EA02-4978-AF67-640484427C65}"/>
                </a:ext>
              </a:extLst>
            </p:cNvPr>
            <p:cNvSpPr/>
            <p:nvPr/>
          </p:nvSpPr>
          <p:spPr>
            <a:xfrm>
              <a:off x="1857620" y="1565108"/>
              <a:ext cx="154738" cy="161338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1366CD4D-BB42-486F-818E-79B502401E64}"/>
                </a:ext>
              </a:extLst>
            </p:cNvPr>
            <p:cNvCxnSpPr>
              <a:cxnSpLocks/>
              <a:stCxn id="45" idx="0"/>
              <a:endCxn id="39" idx="4"/>
            </p:cNvCxnSpPr>
            <p:nvPr/>
          </p:nvCxnSpPr>
          <p:spPr>
            <a:xfrm flipH="1" flipV="1">
              <a:off x="1934989" y="1726446"/>
              <a:ext cx="1" cy="131634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22FE7A0-830C-4310-9B6D-FCCF31EBC3E4}"/>
                </a:ext>
              </a:extLst>
            </p:cNvPr>
            <p:cNvSpPr/>
            <p:nvPr/>
          </p:nvSpPr>
          <p:spPr>
            <a:xfrm>
              <a:off x="3532641" y="1565108"/>
              <a:ext cx="154738" cy="161338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5D30D9B3-CF66-45EC-A91B-EC92210A0270}"/>
                </a:ext>
              </a:extLst>
            </p:cNvPr>
            <p:cNvCxnSpPr>
              <a:cxnSpLocks/>
              <a:stCxn id="46" idx="0"/>
              <a:endCxn id="41" idx="4"/>
            </p:cNvCxnSpPr>
            <p:nvPr/>
          </p:nvCxnSpPr>
          <p:spPr>
            <a:xfrm flipH="1" flipV="1">
              <a:off x="3610010" y="1726446"/>
              <a:ext cx="1" cy="131634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65411025-5E57-4548-BA96-333C9DC4AAA1}"/>
                </a:ext>
              </a:extLst>
            </p:cNvPr>
            <p:cNvSpPr/>
            <p:nvPr/>
          </p:nvSpPr>
          <p:spPr>
            <a:xfrm>
              <a:off x="8879058" y="1565108"/>
              <a:ext cx="154738" cy="161338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E7D248EE-8609-4D50-A638-837857FE611A}"/>
                </a:ext>
              </a:extLst>
            </p:cNvPr>
            <p:cNvCxnSpPr>
              <a:cxnSpLocks/>
              <a:stCxn id="47" idx="0"/>
              <a:endCxn id="43" idx="4"/>
            </p:cNvCxnSpPr>
            <p:nvPr/>
          </p:nvCxnSpPr>
          <p:spPr>
            <a:xfrm flipH="1" flipV="1">
              <a:off x="8956427" y="1726446"/>
              <a:ext cx="1" cy="131634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4063B3B-DFB3-4F41-9D4F-FC033BDE7A1F}"/>
                </a:ext>
              </a:extLst>
            </p:cNvPr>
            <p:cNvSpPr txBox="1"/>
            <p:nvPr/>
          </p:nvSpPr>
          <p:spPr>
            <a:xfrm>
              <a:off x="1301520" y="1858080"/>
              <a:ext cx="1266940" cy="43067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특허심판원 </a:t>
              </a:r>
              <a:r>
                <a:rPr lang="ko-KR" altLang="en-US" sz="1200" dirty="0" err="1">
                  <a:solidFill>
                    <a:schemeClr val="tx1"/>
                  </a:solidFill>
                  <a:latin typeface="+mn-ea"/>
                </a:rPr>
                <a:t>심결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특허무효심판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EF2CE4D-7655-4E71-BDA9-26FCB6BB196D}"/>
                </a:ext>
              </a:extLst>
            </p:cNvPr>
            <p:cNvSpPr txBox="1"/>
            <p:nvPr/>
          </p:nvSpPr>
          <p:spPr>
            <a:xfrm>
              <a:off x="2976541" y="1858080"/>
              <a:ext cx="1266940" cy="43067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특허법원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취소소송제기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8E38463-991A-4552-A09B-C43E0C1DD4EE}"/>
                </a:ext>
              </a:extLst>
            </p:cNvPr>
            <p:cNvSpPr txBox="1"/>
            <p:nvPr/>
          </p:nvSpPr>
          <p:spPr>
            <a:xfrm>
              <a:off x="8322958" y="1858080"/>
              <a:ext cx="1266940" cy="43067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대법원 판결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(</a:t>
              </a:r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상고</a:t>
              </a:r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)</a:t>
              </a: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341C2681-412C-4106-B48A-3914CA8F0DB2}"/>
                </a:ext>
              </a:extLst>
            </p:cNvPr>
            <p:cNvSpPr/>
            <p:nvPr/>
          </p:nvSpPr>
          <p:spPr>
            <a:xfrm>
              <a:off x="4327973" y="1565108"/>
              <a:ext cx="154738" cy="161338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7B1AC5E-6D4F-4939-9D40-11E76053EFF0}"/>
                </a:ext>
              </a:extLst>
            </p:cNvPr>
            <p:cNvSpPr txBox="1"/>
            <p:nvPr/>
          </p:nvSpPr>
          <p:spPr>
            <a:xfrm>
              <a:off x="3290564" y="748556"/>
              <a:ext cx="1988892" cy="49535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사실심 변론종결후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정정심판의 </a:t>
              </a:r>
              <a:r>
                <a:rPr lang="ko-KR" altLang="en-US" sz="1200" dirty="0" err="1">
                  <a:solidFill>
                    <a:schemeClr val="tx1"/>
                  </a:solidFill>
                  <a:latin typeface="+mn-ea"/>
                </a:rPr>
                <a:t>인용심결확정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30" name="연결선: 꺾임 29">
              <a:extLst>
                <a:ext uri="{FF2B5EF4-FFF2-40B4-BE49-F238E27FC236}">
                  <a16:creationId xmlns:a16="http://schemas.microsoft.com/office/drawing/2014/main" id="{B9CE115E-E588-4EBD-948B-D65862C2FA96}"/>
                </a:ext>
              </a:extLst>
            </p:cNvPr>
            <p:cNvCxnSpPr>
              <a:cxnSpLocks/>
              <a:endCxn id="51" idx="0"/>
            </p:cNvCxnSpPr>
            <p:nvPr/>
          </p:nvCxnSpPr>
          <p:spPr>
            <a:xfrm rot="5400000">
              <a:off x="4387534" y="1261721"/>
              <a:ext cx="321195" cy="285578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CA2F33B0-56EF-440C-AC28-24D61EED55DF}"/>
                </a:ext>
              </a:extLst>
            </p:cNvPr>
            <p:cNvCxnSpPr/>
            <p:nvPr/>
          </p:nvCxnSpPr>
          <p:spPr>
            <a:xfrm>
              <a:off x="250166" y="2615275"/>
              <a:ext cx="11542766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CDA2CA54-7F1E-4748-8674-F3437095ADBE}"/>
                </a:ext>
              </a:extLst>
            </p:cNvPr>
            <p:cNvCxnSpPr/>
            <p:nvPr/>
          </p:nvCxnSpPr>
          <p:spPr>
            <a:xfrm>
              <a:off x="250166" y="3081101"/>
              <a:ext cx="11542766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8E51682C-77D4-4E63-B0F2-66082430B328}"/>
                </a:ext>
              </a:extLst>
            </p:cNvPr>
            <p:cNvCxnSpPr/>
            <p:nvPr/>
          </p:nvCxnSpPr>
          <p:spPr>
            <a:xfrm>
              <a:off x="250166" y="3564181"/>
              <a:ext cx="11542766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3CC69B13-F611-4E1B-AA0A-7E7BC8639726}"/>
                </a:ext>
              </a:extLst>
            </p:cNvPr>
            <p:cNvCxnSpPr/>
            <p:nvPr/>
          </p:nvCxnSpPr>
          <p:spPr>
            <a:xfrm>
              <a:off x="250166" y="4047260"/>
              <a:ext cx="11542766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F00C2B48-4C2A-4EA7-9A98-3795FCEBD69A}"/>
                </a:ext>
              </a:extLst>
            </p:cNvPr>
            <p:cNvCxnSpPr/>
            <p:nvPr/>
          </p:nvCxnSpPr>
          <p:spPr>
            <a:xfrm>
              <a:off x="250166" y="4541059"/>
              <a:ext cx="11542766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261B34C4-0638-4B69-B755-082A17519EA6}"/>
                </a:ext>
              </a:extLst>
            </p:cNvPr>
            <p:cNvCxnSpPr/>
            <p:nvPr/>
          </p:nvCxnSpPr>
          <p:spPr>
            <a:xfrm>
              <a:off x="250166" y="4998259"/>
              <a:ext cx="11542766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직선 연결선 173">
              <a:extLst>
                <a:ext uri="{FF2B5EF4-FFF2-40B4-BE49-F238E27FC236}">
                  <a16:creationId xmlns:a16="http://schemas.microsoft.com/office/drawing/2014/main" id="{8604B968-F95C-4C9B-BB44-0C82CC0C8D07}"/>
                </a:ext>
              </a:extLst>
            </p:cNvPr>
            <p:cNvCxnSpPr/>
            <p:nvPr/>
          </p:nvCxnSpPr>
          <p:spPr>
            <a:xfrm>
              <a:off x="250166" y="5498591"/>
              <a:ext cx="11542766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80B6189A-16D7-40BA-9E89-A1D7B563283E}"/>
                </a:ext>
              </a:extLst>
            </p:cNvPr>
            <p:cNvCxnSpPr/>
            <p:nvPr/>
          </p:nvCxnSpPr>
          <p:spPr>
            <a:xfrm>
              <a:off x="250166" y="5964417"/>
              <a:ext cx="11542766" cy="0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2393ACA5-4405-4B82-B103-3EF735B24C55}"/>
                </a:ext>
              </a:extLst>
            </p:cNvPr>
            <p:cNvCxnSpPr>
              <a:stCxn id="45" idx="2"/>
            </p:cNvCxnSpPr>
            <p:nvPr/>
          </p:nvCxnSpPr>
          <p:spPr>
            <a:xfrm flipH="1">
              <a:off x="1934989" y="2288758"/>
              <a:ext cx="1" cy="421555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FED00C5D-A409-4E07-9801-0DDADB3AE2F7}"/>
                </a:ext>
              </a:extLst>
            </p:cNvPr>
            <p:cNvSpPr/>
            <p:nvPr/>
          </p:nvSpPr>
          <p:spPr>
            <a:xfrm>
              <a:off x="1022480" y="2447066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CFFD7E66-A132-4923-BB38-DBD77AADBD9A}"/>
                </a:ext>
              </a:extLst>
            </p:cNvPr>
            <p:cNvSpPr/>
            <p:nvPr/>
          </p:nvSpPr>
          <p:spPr>
            <a:xfrm>
              <a:off x="4536726" y="2447066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A1068EF3-57DA-4391-8D54-653ACB2C1674}"/>
                </a:ext>
              </a:extLst>
            </p:cNvPr>
            <p:cNvSpPr/>
            <p:nvPr/>
          </p:nvSpPr>
          <p:spPr>
            <a:xfrm>
              <a:off x="8043917" y="2447066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77" name="말풍선: 모서리가 둥근 사각형 76">
              <a:extLst>
                <a:ext uri="{FF2B5EF4-FFF2-40B4-BE49-F238E27FC236}">
                  <a16:creationId xmlns:a16="http://schemas.microsoft.com/office/drawing/2014/main" id="{BACE92A4-B683-4F7C-8091-4D48DB1B3E7A}"/>
                </a:ext>
              </a:extLst>
            </p:cNvPr>
            <p:cNvSpPr/>
            <p:nvPr/>
          </p:nvSpPr>
          <p:spPr>
            <a:xfrm>
              <a:off x="9839904" y="2149450"/>
              <a:ext cx="1953017" cy="431321"/>
            </a:xfrm>
            <a:prstGeom prst="wedgeRoundRectCallout">
              <a:avLst>
                <a:gd name="adj1" fmla="val -61945"/>
                <a:gd name="adj2" fmla="val 13780"/>
                <a:gd name="adj3" fmla="val 16667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rgbClr val="FFC000"/>
                  </a:solidFill>
                </a:rPr>
                <a:t>상고기각확정</a:t>
              </a:r>
              <a:endParaRPr lang="en-US" altLang="ko-KR" sz="1200" dirty="0">
                <a:solidFill>
                  <a:srgbClr val="FFC000"/>
                </a:solidFill>
              </a:endParaRPr>
            </a:p>
            <a:p>
              <a:pPr algn="ctr"/>
              <a:r>
                <a:rPr lang="en-US" altLang="ko-KR" sz="1000" dirty="0">
                  <a:solidFill>
                    <a:srgbClr val="FFC000"/>
                  </a:solidFill>
                </a:rPr>
                <a:t>(</a:t>
              </a:r>
              <a:r>
                <a:rPr lang="ko-KR" altLang="en-US" sz="1000" dirty="0" err="1">
                  <a:solidFill>
                    <a:srgbClr val="FFC000"/>
                  </a:solidFill>
                </a:rPr>
                <a:t>정정후</a:t>
              </a:r>
              <a:r>
                <a:rPr lang="ko-KR" altLang="en-US" sz="1000" dirty="0">
                  <a:solidFill>
                    <a:srgbClr val="FFC000"/>
                  </a:solidFill>
                </a:rPr>
                <a:t> 명도 의하여 특허 유지</a:t>
              </a:r>
              <a:r>
                <a:rPr lang="en-US" altLang="ko-KR" sz="1000" dirty="0">
                  <a:solidFill>
                    <a:srgbClr val="FFC000"/>
                  </a:solidFill>
                </a:rPr>
                <a:t>)</a:t>
              </a:r>
              <a:endParaRPr lang="ko-KR" altLang="en-US" sz="1000" dirty="0">
                <a:solidFill>
                  <a:srgbClr val="FFC000"/>
                </a:solidFill>
              </a:endParaRPr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E62FA58C-F30A-4280-A899-D2E82A4DCC26}"/>
                </a:ext>
              </a:extLst>
            </p:cNvPr>
            <p:cNvSpPr/>
            <p:nvPr/>
          </p:nvSpPr>
          <p:spPr>
            <a:xfrm>
              <a:off x="1022480" y="2925520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18DD777E-9FAC-48D3-A2F3-4B58E8E27494}"/>
                </a:ext>
              </a:extLst>
            </p:cNvPr>
            <p:cNvSpPr/>
            <p:nvPr/>
          </p:nvSpPr>
          <p:spPr>
            <a:xfrm>
              <a:off x="4536726" y="2925520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25" name="타원 124">
              <a:extLst>
                <a:ext uri="{FF2B5EF4-FFF2-40B4-BE49-F238E27FC236}">
                  <a16:creationId xmlns:a16="http://schemas.microsoft.com/office/drawing/2014/main" id="{93FA0C01-6EB6-4A7A-BFFA-B20176937901}"/>
                </a:ext>
              </a:extLst>
            </p:cNvPr>
            <p:cNvSpPr/>
            <p:nvPr/>
          </p:nvSpPr>
          <p:spPr>
            <a:xfrm>
              <a:off x="8043917" y="2925520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3CF0396B-8014-41E3-96A8-A18DB2B5FE79}"/>
                </a:ext>
              </a:extLst>
            </p:cNvPr>
            <p:cNvSpPr/>
            <p:nvPr/>
          </p:nvSpPr>
          <p:spPr>
            <a:xfrm>
              <a:off x="1022480" y="3415942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30" name="타원 129">
              <a:extLst>
                <a:ext uri="{FF2B5EF4-FFF2-40B4-BE49-F238E27FC236}">
                  <a16:creationId xmlns:a16="http://schemas.microsoft.com/office/drawing/2014/main" id="{94DC2C90-7503-42C4-8398-954B8E52AE8E}"/>
                </a:ext>
              </a:extLst>
            </p:cNvPr>
            <p:cNvSpPr/>
            <p:nvPr/>
          </p:nvSpPr>
          <p:spPr>
            <a:xfrm>
              <a:off x="4536726" y="3415942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32" name="타원 131">
              <a:extLst>
                <a:ext uri="{FF2B5EF4-FFF2-40B4-BE49-F238E27FC236}">
                  <a16:creationId xmlns:a16="http://schemas.microsoft.com/office/drawing/2014/main" id="{060340E7-2970-4C8F-8944-06989BA449C9}"/>
                </a:ext>
              </a:extLst>
            </p:cNvPr>
            <p:cNvSpPr/>
            <p:nvPr/>
          </p:nvSpPr>
          <p:spPr>
            <a:xfrm>
              <a:off x="8043917" y="3415942"/>
              <a:ext cx="281484" cy="281484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특</a:t>
              </a:r>
              <a:endParaRPr lang="ko-KR" altLang="en-US" sz="1200" dirty="0"/>
            </a:p>
          </p:txBody>
        </p:sp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F67E9F69-8CDB-4258-AA63-4AB1E395BA03}"/>
                </a:ext>
              </a:extLst>
            </p:cNvPr>
            <p:cNvSpPr/>
            <p:nvPr/>
          </p:nvSpPr>
          <p:spPr>
            <a:xfrm>
              <a:off x="1022480" y="3894396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89ECBD44-BA4A-4D2E-8C16-F8B1C11B2328}"/>
                </a:ext>
              </a:extLst>
            </p:cNvPr>
            <p:cNvSpPr/>
            <p:nvPr/>
          </p:nvSpPr>
          <p:spPr>
            <a:xfrm>
              <a:off x="4536726" y="3894396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39" name="타원 138">
              <a:extLst>
                <a:ext uri="{FF2B5EF4-FFF2-40B4-BE49-F238E27FC236}">
                  <a16:creationId xmlns:a16="http://schemas.microsoft.com/office/drawing/2014/main" id="{AE163619-BDBC-4C31-9BA7-6FC2622345E5}"/>
                </a:ext>
              </a:extLst>
            </p:cNvPr>
            <p:cNvSpPr/>
            <p:nvPr/>
          </p:nvSpPr>
          <p:spPr>
            <a:xfrm>
              <a:off x="8043917" y="3894396"/>
              <a:ext cx="281484" cy="281484"/>
            </a:xfrm>
            <a:prstGeom prst="ellipse">
              <a:avLst/>
            </a:prstGeom>
            <a:solidFill>
              <a:schemeClr val="accent5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특</a:t>
              </a:r>
              <a:endParaRPr lang="ko-KR" altLang="en-US" sz="1200" dirty="0"/>
            </a:p>
          </p:txBody>
        </p:sp>
        <p:sp>
          <p:nvSpPr>
            <p:cNvPr id="142" name="타원 141">
              <a:extLst>
                <a:ext uri="{FF2B5EF4-FFF2-40B4-BE49-F238E27FC236}">
                  <a16:creationId xmlns:a16="http://schemas.microsoft.com/office/drawing/2014/main" id="{D1F54AF5-435F-46F1-B005-F584327209A4}"/>
                </a:ext>
              </a:extLst>
            </p:cNvPr>
            <p:cNvSpPr/>
            <p:nvPr/>
          </p:nvSpPr>
          <p:spPr>
            <a:xfrm>
              <a:off x="1022480" y="4372850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44" name="타원 143">
              <a:extLst>
                <a:ext uri="{FF2B5EF4-FFF2-40B4-BE49-F238E27FC236}">
                  <a16:creationId xmlns:a16="http://schemas.microsoft.com/office/drawing/2014/main" id="{E698D1D0-BCEA-402A-B631-2487A9525954}"/>
                </a:ext>
              </a:extLst>
            </p:cNvPr>
            <p:cNvSpPr/>
            <p:nvPr/>
          </p:nvSpPr>
          <p:spPr>
            <a:xfrm>
              <a:off x="4536726" y="4372850"/>
              <a:ext cx="281484" cy="28148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특</a:t>
              </a:r>
              <a:endParaRPr lang="ko-KR" altLang="en-US" sz="1200" dirty="0"/>
            </a:p>
          </p:txBody>
        </p:sp>
        <p:sp>
          <p:nvSpPr>
            <p:cNvPr id="146" name="타원 145">
              <a:extLst>
                <a:ext uri="{FF2B5EF4-FFF2-40B4-BE49-F238E27FC236}">
                  <a16:creationId xmlns:a16="http://schemas.microsoft.com/office/drawing/2014/main" id="{8EB94034-1B04-4829-BC24-0B3F36DAC6D6}"/>
                </a:ext>
              </a:extLst>
            </p:cNvPr>
            <p:cNvSpPr/>
            <p:nvPr/>
          </p:nvSpPr>
          <p:spPr>
            <a:xfrm>
              <a:off x="8043917" y="4372850"/>
              <a:ext cx="281484" cy="28148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특</a:t>
              </a:r>
              <a:endParaRPr lang="ko-KR" altLang="en-US" sz="1200" dirty="0"/>
            </a:p>
          </p:txBody>
        </p:sp>
        <p:sp>
          <p:nvSpPr>
            <p:cNvPr id="147" name="말풍선: 모서리가 둥근 사각형 146">
              <a:extLst>
                <a:ext uri="{FF2B5EF4-FFF2-40B4-BE49-F238E27FC236}">
                  <a16:creationId xmlns:a16="http://schemas.microsoft.com/office/drawing/2014/main" id="{AFC3EEFF-4325-47EF-A33F-837F4A474D42}"/>
                </a:ext>
              </a:extLst>
            </p:cNvPr>
            <p:cNvSpPr/>
            <p:nvPr/>
          </p:nvSpPr>
          <p:spPr>
            <a:xfrm>
              <a:off x="9839904" y="4083860"/>
              <a:ext cx="1953013" cy="414070"/>
            </a:xfrm>
            <a:prstGeom prst="wedgeRoundRectCallout">
              <a:avLst>
                <a:gd name="adj1" fmla="val -64764"/>
                <a:gd name="adj2" fmla="val 21472"/>
                <a:gd name="adj3" fmla="val 16667"/>
              </a:avLst>
            </a:prstGeom>
            <a:solidFill>
              <a:schemeClr val="tx1">
                <a:lumMod val="85000"/>
                <a:lumOff val="1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>
                  <a:solidFill>
                    <a:srgbClr val="FFC000"/>
                  </a:solidFill>
                </a:rPr>
                <a:t>상고기각확정</a:t>
              </a:r>
              <a:endParaRPr lang="en-US" altLang="ko-KR" sz="1200" dirty="0">
                <a:solidFill>
                  <a:srgbClr val="FFC000"/>
                </a:solidFill>
              </a:endParaRPr>
            </a:p>
            <a:p>
              <a:pPr algn="ctr"/>
              <a:r>
                <a:rPr lang="en-US" altLang="ko-KR" sz="1000" dirty="0">
                  <a:solidFill>
                    <a:srgbClr val="FFC000"/>
                  </a:solidFill>
                </a:rPr>
                <a:t>(</a:t>
              </a:r>
              <a:r>
                <a:rPr lang="ko-KR" altLang="en-US" sz="1000" dirty="0">
                  <a:solidFill>
                    <a:srgbClr val="FFC000"/>
                  </a:solidFill>
                </a:rPr>
                <a:t>정정과 무관하게 특허 소멸</a:t>
              </a:r>
              <a:r>
                <a:rPr lang="en-US" altLang="ko-KR" sz="1000" dirty="0">
                  <a:solidFill>
                    <a:srgbClr val="FFC000"/>
                  </a:solidFill>
                </a:rPr>
                <a:t>)</a:t>
              </a:r>
              <a:endParaRPr lang="ko-KR" altLang="en-US" sz="1000" dirty="0">
                <a:solidFill>
                  <a:srgbClr val="FFC000"/>
                </a:solidFill>
              </a:endParaRPr>
            </a:p>
          </p:txBody>
        </p:sp>
        <p:sp>
          <p:nvSpPr>
            <p:cNvPr id="149" name="타원 148">
              <a:extLst>
                <a:ext uri="{FF2B5EF4-FFF2-40B4-BE49-F238E27FC236}">
                  <a16:creationId xmlns:a16="http://schemas.microsoft.com/office/drawing/2014/main" id="{06E6EE9F-1966-4B9B-AECA-B246278111EC}"/>
                </a:ext>
              </a:extLst>
            </p:cNvPr>
            <p:cNvSpPr/>
            <p:nvPr/>
          </p:nvSpPr>
          <p:spPr>
            <a:xfrm>
              <a:off x="1022480" y="4851304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51" name="타원 150">
              <a:extLst>
                <a:ext uri="{FF2B5EF4-FFF2-40B4-BE49-F238E27FC236}">
                  <a16:creationId xmlns:a16="http://schemas.microsoft.com/office/drawing/2014/main" id="{5B9FFBD0-DE0D-42E6-A618-E8C2620A79E9}"/>
                </a:ext>
              </a:extLst>
            </p:cNvPr>
            <p:cNvSpPr/>
            <p:nvPr/>
          </p:nvSpPr>
          <p:spPr>
            <a:xfrm>
              <a:off x="4536726" y="4851304"/>
              <a:ext cx="281484" cy="28148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특</a:t>
              </a:r>
              <a:endParaRPr lang="ko-KR" altLang="en-US" sz="1200" dirty="0"/>
            </a:p>
          </p:txBody>
        </p:sp>
        <p:sp>
          <p:nvSpPr>
            <p:cNvPr id="153" name="타원 152">
              <a:extLst>
                <a:ext uri="{FF2B5EF4-FFF2-40B4-BE49-F238E27FC236}">
                  <a16:creationId xmlns:a16="http://schemas.microsoft.com/office/drawing/2014/main" id="{F09276F3-D2E0-486A-9B3C-E0DA0AE63808}"/>
                </a:ext>
              </a:extLst>
            </p:cNvPr>
            <p:cNvSpPr/>
            <p:nvPr/>
          </p:nvSpPr>
          <p:spPr>
            <a:xfrm>
              <a:off x="8043917" y="4851304"/>
              <a:ext cx="281484" cy="28148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특</a:t>
              </a:r>
              <a:endParaRPr lang="ko-KR" altLang="en-US" sz="1200" dirty="0"/>
            </a:p>
          </p:txBody>
        </p:sp>
        <p:sp>
          <p:nvSpPr>
            <p:cNvPr id="156" name="타원 155">
              <a:extLst>
                <a:ext uri="{FF2B5EF4-FFF2-40B4-BE49-F238E27FC236}">
                  <a16:creationId xmlns:a16="http://schemas.microsoft.com/office/drawing/2014/main" id="{DCDAD3FD-D355-4DE8-A845-706A1736ED55}"/>
                </a:ext>
              </a:extLst>
            </p:cNvPr>
            <p:cNvSpPr/>
            <p:nvPr/>
          </p:nvSpPr>
          <p:spPr>
            <a:xfrm>
              <a:off x="1022480" y="5341726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8A9BB545-E086-4D0A-985D-D92078C01E7F}"/>
                </a:ext>
              </a:extLst>
            </p:cNvPr>
            <p:cNvSpPr/>
            <p:nvPr/>
          </p:nvSpPr>
          <p:spPr>
            <a:xfrm>
              <a:off x="4536726" y="5341726"/>
              <a:ext cx="281484" cy="28148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특</a:t>
              </a:r>
            </a:p>
          </p:txBody>
        </p:sp>
        <p:sp>
          <p:nvSpPr>
            <p:cNvPr id="160" name="타원 159">
              <a:extLst>
                <a:ext uri="{FF2B5EF4-FFF2-40B4-BE49-F238E27FC236}">
                  <a16:creationId xmlns:a16="http://schemas.microsoft.com/office/drawing/2014/main" id="{03AC8A19-DC15-4FA9-98E0-49BEFB139F68}"/>
                </a:ext>
              </a:extLst>
            </p:cNvPr>
            <p:cNvSpPr/>
            <p:nvPr/>
          </p:nvSpPr>
          <p:spPr>
            <a:xfrm>
              <a:off x="8043917" y="5341726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63" name="타원 162">
              <a:extLst>
                <a:ext uri="{FF2B5EF4-FFF2-40B4-BE49-F238E27FC236}">
                  <a16:creationId xmlns:a16="http://schemas.microsoft.com/office/drawing/2014/main" id="{4325CBE4-5059-4073-A537-736F6AFFEDA0}"/>
                </a:ext>
              </a:extLst>
            </p:cNvPr>
            <p:cNvSpPr/>
            <p:nvPr/>
          </p:nvSpPr>
          <p:spPr>
            <a:xfrm>
              <a:off x="1022480" y="5820180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F7A51863-1793-4D56-B08C-99DAFC523A6D}"/>
                </a:ext>
              </a:extLst>
            </p:cNvPr>
            <p:cNvSpPr/>
            <p:nvPr/>
          </p:nvSpPr>
          <p:spPr>
            <a:xfrm>
              <a:off x="4536726" y="5820180"/>
              <a:ext cx="281484" cy="281484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 err="1"/>
                <a:t>특</a:t>
              </a:r>
              <a:endParaRPr lang="ko-KR" altLang="en-US" sz="1200" dirty="0"/>
            </a:p>
          </p:txBody>
        </p:sp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99B1812B-F4AC-4246-9727-6F0E1BBAE980}"/>
                </a:ext>
              </a:extLst>
            </p:cNvPr>
            <p:cNvSpPr/>
            <p:nvPr/>
          </p:nvSpPr>
          <p:spPr>
            <a:xfrm>
              <a:off x="8043917" y="5820180"/>
              <a:ext cx="281484" cy="281484"/>
            </a:xfrm>
            <a:prstGeom prst="ellipse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이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E3172DA7-5948-49FB-95D7-A52E62FCD772}"/>
                </a:ext>
              </a:extLst>
            </p:cNvPr>
            <p:cNvSpPr txBox="1"/>
            <p:nvPr/>
          </p:nvSpPr>
          <p:spPr>
            <a:xfrm>
              <a:off x="1301520" y="2385825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 err="1"/>
                <a:t>기각심결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FBFAA3B4-BE9F-4397-B6F2-EEFD1701E6F6}"/>
                </a:ext>
              </a:extLst>
            </p:cNvPr>
            <p:cNvSpPr txBox="1"/>
            <p:nvPr/>
          </p:nvSpPr>
          <p:spPr>
            <a:xfrm>
              <a:off x="4824393" y="2385825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기각판결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17F15066-7809-41F5-8A4E-87EDE8E29CF3}"/>
                </a:ext>
              </a:extLst>
            </p:cNvPr>
            <p:cNvSpPr txBox="1"/>
            <p:nvPr/>
          </p:nvSpPr>
          <p:spPr>
            <a:xfrm>
              <a:off x="8322960" y="2385825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기각판결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79CD756A-1369-4B6F-B64B-55B33503A293}"/>
                </a:ext>
              </a:extLst>
            </p:cNvPr>
            <p:cNvSpPr txBox="1"/>
            <p:nvPr/>
          </p:nvSpPr>
          <p:spPr>
            <a:xfrm>
              <a:off x="1301520" y="2864279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 err="1"/>
                <a:t>기각심결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6AE5AA78-516D-4878-96B4-42817319E031}"/>
                </a:ext>
              </a:extLst>
            </p:cNvPr>
            <p:cNvSpPr txBox="1"/>
            <p:nvPr/>
          </p:nvSpPr>
          <p:spPr>
            <a:xfrm>
              <a:off x="4824393" y="2864279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기각판결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BE5476C9-46BD-4D76-B0B1-CFFD028C244B}"/>
                </a:ext>
              </a:extLst>
            </p:cNvPr>
            <p:cNvSpPr txBox="1"/>
            <p:nvPr/>
          </p:nvSpPr>
          <p:spPr>
            <a:xfrm>
              <a:off x="8322960" y="2864279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인용판결</a:t>
              </a:r>
              <a:r>
                <a:rPr lang="en-US" altLang="ko-KR" sz="1000" dirty="0"/>
                <a:t>-</a:t>
              </a:r>
              <a:r>
                <a:rPr lang="ko-KR" altLang="en-US" sz="1000" dirty="0" err="1"/>
                <a:t>파기환송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8419A14-1A2F-4006-AF3A-1E41B109D0F4}"/>
                </a:ext>
              </a:extLst>
            </p:cNvPr>
            <p:cNvSpPr txBox="1"/>
            <p:nvPr/>
          </p:nvSpPr>
          <p:spPr>
            <a:xfrm>
              <a:off x="4824393" y="3354701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인용판결</a:t>
              </a:r>
              <a:r>
                <a:rPr lang="en-US" altLang="ko-KR" sz="1000" dirty="0"/>
                <a:t>-</a:t>
              </a:r>
              <a:r>
                <a:rPr lang="ko-KR" altLang="en-US" sz="1000" dirty="0" err="1"/>
                <a:t>취소환송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C03A86A-71A7-4343-874D-789106365668}"/>
                </a:ext>
              </a:extLst>
            </p:cNvPr>
            <p:cNvSpPr txBox="1"/>
            <p:nvPr/>
          </p:nvSpPr>
          <p:spPr>
            <a:xfrm>
              <a:off x="8322960" y="3354701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인용판결</a:t>
              </a:r>
              <a:r>
                <a:rPr lang="en-US" altLang="ko-KR" sz="1000" dirty="0"/>
                <a:t>-</a:t>
              </a:r>
              <a:r>
                <a:rPr lang="ko-KR" altLang="en-US" sz="1000" dirty="0" err="1"/>
                <a:t>파기환송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10B290EA-71B6-410E-93B0-37E508EDE496}"/>
                </a:ext>
              </a:extLst>
            </p:cNvPr>
            <p:cNvSpPr txBox="1"/>
            <p:nvPr/>
          </p:nvSpPr>
          <p:spPr>
            <a:xfrm>
              <a:off x="1301520" y="3833155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 err="1"/>
                <a:t>기각심결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48B08322-74CF-4749-8220-AF472A925C45}"/>
                </a:ext>
              </a:extLst>
            </p:cNvPr>
            <p:cNvSpPr txBox="1"/>
            <p:nvPr/>
          </p:nvSpPr>
          <p:spPr>
            <a:xfrm>
              <a:off x="4824393" y="3833155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인용판결</a:t>
              </a:r>
              <a:r>
                <a:rPr lang="en-US" altLang="ko-KR" sz="1000" dirty="0"/>
                <a:t>-</a:t>
              </a:r>
              <a:r>
                <a:rPr lang="ko-KR" altLang="en-US" sz="1000" dirty="0" err="1"/>
                <a:t>취소환송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D64B3DBB-EF5E-4EEE-AB57-84CB2DF39B50}"/>
                </a:ext>
              </a:extLst>
            </p:cNvPr>
            <p:cNvSpPr txBox="1"/>
            <p:nvPr/>
          </p:nvSpPr>
          <p:spPr>
            <a:xfrm>
              <a:off x="8322960" y="3833155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기각판결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73B8661C-9009-49D4-A689-8DCEDD7DFA4D}"/>
                </a:ext>
              </a:extLst>
            </p:cNvPr>
            <p:cNvSpPr txBox="1"/>
            <p:nvPr/>
          </p:nvSpPr>
          <p:spPr>
            <a:xfrm>
              <a:off x="1301520" y="4311609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 err="1"/>
                <a:t>인용심결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3240A9BE-7A4D-4213-B4B7-7A8DCE933A51}"/>
                </a:ext>
              </a:extLst>
            </p:cNvPr>
            <p:cNvSpPr txBox="1"/>
            <p:nvPr/>
          </p:nvSpPr>
          <p:spPr>
            <a:xfrm>
              <a:off x="4824393" y="4311609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기각판결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C08FCC28-1554-4C55-A337-E21DA1E8A71C}"/>
                </a:ext>
              </a:extLst>
            </p:cNvPr>
            <p:cNvSpPr txBox="1"/>
            <p:nvPr/>
          </p:nvSpPr>
          <p:spPr>
            <a:xfrm>
              <a:off x="8322960" y="4311609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기각판결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40433E4D-096D-4C5C-BBA5-BB9AE6B0C68C}"/>
                </a:ext>
              </a:extLst>
            </p:cNvPr>
            <p:cNvSpPr txBox="1"/>
            <p:nvPr/>
          </p:nvSpPr>
          <p:spPr>
            <a:xfrm>
              <a:off x="1301520" y="4790063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 err="1"/>
                <a:t>인용심결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C3B0408A-7ED5-43E3-879E-67DAD17147BB}"/>
                </a:ext>
              </a:extLst>
            </p:cNvPr>
            <p:cNvSpPr txBox="1"/>
            <p:nvPr/>
          </p:nvSpPr>
          <p:spPr>
            <a:xfrm>
              <a:off x="4824393" y="4790063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기각판결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63129FB3-A9FC-4955-BF35-144C7AA03774}"/>
                </a:ext>
              </a:extLst>
            </p:cNvPr>
            <p:cNvSpPr txBox="1"/>
            <p:nvPr/>
          </p:nvSpPr>
          <p:spPr>
            <a:xfrm>
              <a:off x="8322960" y="4790063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인용판결</a:t>
              </a:r>
              <a:r>
                <a:rPr lang="en-US" altLang="ko-KR" sz="1000" dirty="0"/>
                <a:t>-</a:t>
              </a:r>
              <a:r>
                <a:rPr lang="ko-KR" altLang="en-US" sz="1000" dirty="0" err="1"/>
                <a:t>파기환송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71A06CB4-01EC-460D-8849-8B4E73C06D0D}"/>
                </a:ext>
              </a:extLst>
            </p:cNvPr>
            <p:cNvSpPr txBox="1"/>
            <p:nvPr/>
          </p:nvSpPr>
          <p:spPr>
            <a:xfrm>
              <a:off x="1301520" y="5280485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 err="1"/>
                <a:t>인용심결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CE2354CE-679C-4C9E-AAE4-9F06D7D19A65}"/>
                </a:ext>
              </a:extLst>
            </p:cNvPr>
            <p:cNvSpPr txBox="1"/>
            <p:nvPr/>
          </p:nvSpPr>
          <p:spPr>
            <a:xfrm>
              <a:off x="4824393" y="5280485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인용판결</a:t>
              </a:r>
              <a:r>
                <a:rPr lang="en-US" altLang="ko-KR" sz="1000" dirty="0"/>
                <a:t>-</a:t>
              </a:r>
              <a:r>
                <a:rPr lang="ko-KR" altLang="en-US" sz="1000" dirty="0" err="1"/>
                <a:t>취소환송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4D7AB8A0-85E3-41B7-9536-4D5726F85BAF}"/>
                </a:ext>
              </a:extLst>
            </p:cNvPr>
            <p:cNvSpPr txBox="1"/>
            <p:nvPr/>
          </p:nvSpPr>
          <p:spPr>
            <a:xfrm>
              <a:off x="8322960" y="5280485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인용판결</a:t>
              </a:r>
              <a:r>
                <a:rPr lang="en-US" altLang="ko-KR" sz="1000" dirty="0"/>
                <a:t>-</a:t>
              </a:r>
              <a:r>
                <a:rPr lang="ko-KR" altLang="en-US" sz="1000" dirty="0" err="1"/>
                <a:t>파기환송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0F19E96B-AB4E-48CC-A361-9CC696F8C3F4}"/>
                </a:ext>
              </a:extLst>
            </p:cNvPr>
            <p:cNvSpPr txBox="1"/>
            <p:nvPr/>
          </p:nvSpPr>
          <p:spPr>
            <a:xfrm>
              <a:off x="1301520" y="5758939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O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 err="1"/>
                <a:t>인용심결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0A029644-A717-4E7D-8E2F-45FA28165E45}"/>
                </a:ext>
              </a:extLst>
            </p:cNvPr>
            <p:cNvSpPr txBox="1"/>
            <p:nvPr/>
          </p:nvSpPr>
          <p:spPr>
            <a:xfrm>
              <a:off x="4824393" y="5758939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인용판결</a:t>
              </a:r>
              <a:r>
                <a:rPr lang="en-US" altLang="ko-KR" sz="1000" dirty="0"/>
                <a:t>-</a:t>
              </a:r>
              <a:r>
                <a:rPr lang="ko-KR" altLang="en-US" sz="1000" dirty="0" err="1"/>
                <a:t>취소환송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607616AE-9D7F-4B34-BAE3-37904D402643}"/>
                </a:ext>
              </a:extLst>
            </p:cNvPr>
            <p:cNvSpPr txBox="1"/>
            <p:nvPr/>
          </p:nvSpPr>
          <p:spPr>
            <a:xfrm>
              <a:off x="8322960" y="5758939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/>
                <a:t>기각판결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12594BFC-F54C-4EB6-87A9-E57B5DF9994F}"/>
                </a:ext>
              </a:extLst>
            </p:cNvPr>
            <p:cNvSpPr txBox="1"/>
            <p:nvPr/>
          </p:nvSpPr>
          <p:spPr>
            <a:xfrm>
              <a:off x="1301520" y="3354701"/>
              <a:ext cx="1266938" cy="4306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none" rtlCol="0">
              <a:noAutofit/>
            </a:bodyPr>
            <a:lstStyle/>
            <a:p>
              <a:pPr algn="ctr"/>
              <a:r>
                <a:rPr lang="ko-KR" altLang="en-US" sz="1200" dirty="0"/>
                <a:t>무효</a:t>
              </a:r>
              <a:r>
                <a:rPr lang="en-US" altLang="ko-KR" sz="1200" dirty="0"/>
                <a:t>X</a:t>
              </a:r>
            </a:p>
            <a:p>
              <a:pPr algn="ctr"/>
              <a:r>
                <a:rPr lang="en-US" altLang="ko-KR" sz="1000" dirty="0"/>
                <a:t>(</a:t>
              </a:r>
              <a:r>
                <a:rPr lang="ko-KR" altLang="en-US" sz="1000" dirty="0" err="1"/>
                <a:t>기각심결</a:t>
              </a:r>
              <a:r>
                <a:rPr lang="en-US" altLang="ko-KR" sz="1000" dirty="0"/>
                <a:t>)</a:t>
              </a:r>
              <a:endParaRPr lang="ko-KR" altLang="en-US" sz="1000" dirty="0"/>
            </a:p>
          </p:txBody>
        </p:sp>
        <p:sp>
          <p:nvSpPr>
            <p:cNvPr id="126" name="말풍선: 모서리가 둥근 사각형 125">
              <a:extLst>
                <a:ext uri="{FF2B5EF4-FFF2-40B4-BE49-F238E27FC236}">
                  <a16:creationId xmlns:a16="http://schemas.microsoft.com/office/drawing/2014/main" id="{7B49CCF7-F99D-4C3E-A194-AA2B9F935213}"/>
                </a:ext>
              </a:extLst>
            </p:cNvPr>
            <p:cNvSpPr/>
            <p:nvPr/>
          </p:nvSpPr>
          <p:spPr>
            <a:xfrm>
              <a:off x="6341337" y="2816503"/>
              <a:ext cx="1608904" cy="336419"/>
            </a:xfrm>
            <a:prstGeom prst="wedgeRoundRectCallout">
              <a:avLst>
                <a:gd name="adj1" fmla="val -65920"/>
                <a:gd name="adj2" fmla="val -11862"/>
                <a:gd name="adj3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err="1">
                  <a:solidFill>
                    <a:schemeClr val="accent4"/>
                  </a:solidFill>
                </a:rPr>
                <a:t>정정후</a:t>
              </a:r>
              <a:r>
                <a:rPr lang="ko-KR" altLang="en-US" sz="1100" dirty="0">
                  <a:solidFill>
                    <a:schemeClr val="accent4"/>
                  </a:solidFill>
                </a:rPr>
                <a:t> 명도 의하여 심리</a:t>
              </a:r>
              <a:endParaRPr lang="en-US" altLang="ko-KR" sz="1100" dirty="0">
                <a:solidFill>
                  <a:schemeClr val="accent4"/>
                </a:solidFill>
              </a:endParaRPr>
            </a:p>
          </p:txBody>
        </p:sp>
        <p:sp>
          <p:nvSpPr>
            <p:cNvPr id="133" name="말풍선: 모서리가 둥근 사각형 132">
              <a:extLst>
                <a:ext uri="{FF2B5EF4-FFF2-40B4-BE49-F238E27FC236}">
                  <a16:creationId xmlns:a16="http://schemas.microsoft.com/office/drawing/2014/main" id="{04E53B6E-163F-4784-B163-153E0D1A2AEB}"/>
                </a:ext>
              </a:extLst>
            </p:cNvPr>
            <p:cNvSpPr/>
            <p:nvPr/>
          </p:nvSpPr>
          <p:spPr>
            <a:xfrm>
              <a:off x="6341337" y="3306925"/>
              <a:ext cx="1608904" cy="336419"/>
            </a:xfrm>
            <a:prstGeom prst="wedgeRoundRectCallout">
              <a:avLst>
                <a:gd name="adj1" fmla="val -65920"/>
                <a:gd name="adj2" fmla="val -11862"/>
                <a:gd name="adj3" fmla="val 16667"/>
              </a:avLst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err="1">
                  <a:solidFill>
                    <a:schemeClr val="bg1"/>
                  </a:solidFill>
                </a:rPr>
                <a:t>정정후</a:t>
              </a:r>
              <a:r>
                <a:rPr lang="ko-KR" altLang="en-US" sz="1100" dirty="0">
                  <a:solidFill>
                    <a:schemeClr val="bg1"/>
                  </a:solidFill>
                </a:rPr>
                <a:t> 명도 의하여 심리</a:t>
              </a:r>
              <a:endParaRPr lang="en-US" altLang="ko-KR" sz="1100" dirty="0">
                <a:solidFill>
                  <a:schemeClr val="bg1"/>
                </a:solidFill>
              </a:endParaRPr>
            </a:p>
          </p:txBody>
        </p:sp>
        <p:sp>
          <p:nvSpPr>
            <p:cNvPr id="140" name="말풍선: 모서리가 둥근 사각형 139">
              <a:extLst>
                <a:ext uri="{FF2B5EF4-FFF2-40B4-BE49-F238E27FC236}">
                  <a16:creationId xmlns:a16="http://schemas.microsoft.com/office/drawing/2014/main" id="{0C54F97D-7713-4E7B-B0F2-07CC7525280C}"/>
                </a:ext>
              </a:extLst>
            </p:cNvPr>
            <p:cNvSpPr/>
            <p:nvPr/>
          </p:nvSpPr>
          <p:spPr>
            <a:xfrm>
              <a:off x="2838876" y="3785379"/>
              <a:ext cx="1599209" cy="336419"/>
            </a:xfrm>
            <a:prstGeom prst="wedgeRoundRectCallout">
              <a:avLst>
                <a:gd name="adj1" fmla="val -65920"/>
                <a:gd name="adj2" fmla="val -11862"/>
                <a:gd name="adj3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err="1">
                  <a:solidFill>
                    <a:schemeClr val="accent4"/>
                  </a:solidFill>
                </a:rPr>
                <a:t>정정후</a:t>
              </a:r>
              <a:r>
                <a:rPr lang="ko-KR" altLang="en-US" sz="1100" dirty="0">
                  <a:solidFill>
                    <a:schemeClr val="accent4"/>
                  </a:solidFill>
                </a:rPr>
                <a:t> 명도 의하여 심리</a:t>
              </a:r>
              <a:endParaRPr lang="en-US" altLang="ko-KR" sz="1100" dirty="0">
                <a:solidFill>
                  <a:schemeClr val="accent4"/>
                </a:solidFill>
              </a:endParaRPr>
            </a:p>
          </p:txBody>
        </p:sp>
        <p:sp>
          <p:nvSpPr>
            <p:cNvPr id="154" name="말풍선: 모서리가 둥근 사각형 153">
              <a:extLst>
                <a:ext uri="{FF2B5EF4-FFF2-40B4-BE49-F238E27FC236}">
                  <a16:creationId xmlns:a16="http://schemas.microsoft.com/office/drawing/2014/main" id="{9A1B864C-B731-4F75-BB0F-E6F482D6F092}"/>
                </a:ext>
              </a:extLst>
            </p:cNvPr>
            <p:cNvSpPr/>
            <p:nvPr/>
          </p:nvSpPr>
          <p:spPr>
            <a:xfrm>
              <a:off x="6341337" y="4742287"/>
              <a:ext cx="1608904" cy="336419"/>
            </a:xfrm>
            <a:prstGeom prst="wedgeRoundRectCallout">
              <a:avLst>
                <a:gd name="adj1" fmla="val -65920"/>
                <a:gd name="adj2" fmla="val -11862"/>
                <a:gd name="adj3" fmla="val 16667"/>
              </a:avLst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err="1">
                  <a:solidFill>
                    <a:schemeClr val="bg1"/>
                  </a:solidFill>
                </a:rPr>
                <a:t>정정후</a:t>
              </a:r>
              <a:r>
                <a:rPr lang="ko-KR" altLang="en-US" sz="1100" dirty="0">
                  <a:solidFill>
                    <a:schemeClr val="bg1"/>
                  </a:solidFill>
                </a:rPr>
                <a:t> 명도 의하여 심리</a:t>
              </a:r>
              <a:endParaRPr lang="en-US" altLang="ko-KR" sz="1100" dirty="0">
                <a:solidFill>
                  <a:schemeClr val="bg1"/>
                </a:solidFill>
              </a:endParaRPr>
            </a:p>
          </p:txBody>
        </p:sp>
        <p:sp>
          <p:nvSpPr>
            <p:cNvPr id="161" name="말풍선: 모서리가 둥근 사각형 160">
              <a:extLst>
                <a:ext uri="{FF2B5EF4-FFF2-40B4-BE49-F238E27FC236}">
                  <a16:creationId xmlns:a16="http://schemas.microsoft.com/office/drawing/2014/main" id="{2E04EE0E-1F14-4F93-800D-0018418B5234}"/>
                </a:ext>
              </a:extLst>
            </p:cNvPr>
            <p:cNvSpPr/>
            <p:nvPr/>
          </p:nvSpPr>
          <p:spPr>
            <a:xfrm>
              <a:off x="6341337" y="5232709"/>
              <a:ext cx="1608904" cy="336419"/>
            </a:xfrm>
            <a:prstGeom prst="wedgeRoundRectCallout">
              <a:avLst>
                <a:gd name="adj1" fmla="val -65920"/>
                <a:gd name="adj2" fmla="val -11862"/>
                <a:gd name="adj3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err="1">
                  <a:solidFill>
                    <a:schemeClr val="accent4"/>
                  </a:solidFill>
                </a:rPr>
                <a:t>정정후</a:t>
              </a:r>
              <a:r>
                <a:rPr lang="ko-KR" altLang="en-US" sz="1100" dirty="0">
                  <a:solidFill>
                    <a:schemeClr val="accent4"/>
                  </a:solidFill>
                </a:rPr>
                <a:t> 명도 의하여 심리</a:t>
              </a:r>
              <a:endParaRPr lang="en-US" altLang="ko-KR" sz="1100" dirty="0">
                <a:solidFill>
                  <a:schemeClr val="accent4"/>
                </a:solidFill>
              </a:endParaRPr>
            </a:p>
          </p:txBody>
        </p:sp>
        <p:sp>
          <p:nvSpPr>
            <p:cNvPr id="168" name="말풍선: 모서리가 둥근 사각형 167">
              <a:extLst>
                <a:ext uri="{FF2B5EF4-FFF2-40B4-BE49-F238E27FC236}">
                  <a16:creationId xmlns:a16="http://schemas.microsoft.com/office/drawing/2014/main" id="{DAC567A2-A388-44B7-9A65-7FE27E90E14F}"/>
                </a:ext>
              </a:extLst>
            </p:cNvPr>
            <p:cNvSpPr/>
            <p:nvPr/>
          </p:nvSpPr>
          <p:spPr>
            <a:xfrm>
              <a:off x="2838876" y="5711163"/>
              <a:ext cx="1599209" cy="336419"/>
            </a:xfrm>
            <a:prstGeom prst="wedgeRoundRectCallout">
              <a:avLst>
                <a:gd name="adj1" fmla="val -65920"/>
                <a:gd name="adj2" fmla="val -11862"/>
                <a:gd name="adj3" fmla="val 16667"/>
              </a:avLst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err="1">
                  <a:solidFill>
                    <a:schemeClr val="bg1"/>
                  </a:solidFill>
                </a:rPr>
                <a:t>정정후</a:t>
              </a:r>
              <a:r>
                <a:rPr lang="ko-KR" altLang="en-US" sz="1100" dirty="0">
                  <a:solidFill>
                    <a:schemeClr val="bg1"/>
                  </a:solidFill>
                </a:rPr>
                <a:t> 명도 의하여 심리</a:t>
              </a:r>
              <a:endParaRPr lang="en-US" altLang="ko-KR" sz="1100" dirty="0">
                <a:solidFill>
                  <a:schemeClr val="bg1"/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2C8233D2-91D5-4932-B090-E6D95AFC207F}"/>
                </a:ext>
              </a:extLst>
            </p:cNvPr>
            <p:cNvSpPr txBox="1"/>
            <p:nvPr/>
          </p:nvSpPr>
          <p:spPr>
            <a:xfrm>
              <a:off x="9114619" y="748556"/>
              <a:ext cx="1623050" cy="495357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200" dirty="0" err="1">
                  <a:solidFill>
                    <a:schemeClr val="accent2"/>
                  </a:solidFill>
                  <a:latin typeface="+mn-ea"/>
                </a:rPr>
                <a:t>정정전</a:t>
              </a:r>
              <a:r>
                <a:rPr lang="ko-KR" altLang="en-US" sz="1200" dirty="0">
                  <a:solidFill>
                    <a:schemeClr val="accent2"/>
                  </a:solidFill>
                  <a:latin typeface="+mn-ea"/>
                </a:rPr>
                <a:t> 명도에 의해</a:t>
              </a:r>
              <a:endParaRPr lang="en-US" altLang="ko-KR" sz="1200" dirty="0">
                <a:solidFill>
                  <a:schemeClr val="accent2"/>
                </a:solidFill>
                <a:latin typeface="+mn-ea"/>
              </a:endParaRPr>
            </a:p>
            <a:p>
              <a:pPr algn="ctr"/>
              <a:r>
                <a:rPr lang="ko-KR" altLang="en-US" sz="1200" dirty="0">
                  <a:solidFill>
                    <a:schemeClr val="accent2"/>
                  </a:solidFill>
                  <a:latin typeface="+mn-ea"/>
                </a:rPr>
                <a:t>심리</a:t>
              </a:r>
              <a:endParaRPr lang="en-US" altLang="ko-KR" sz="1200" dirty="0">
                <a:solidFill>
                  <a:schemeClr val="accent2"/>
                </a:solidFill>
                <a:latin typeface="+mn-ea"/>
              </a:endParaRPr>
            </a:p>
          </p:txBody>
        </p:sp>
        <p:cxnSp>
          <p:nvCxnSpPr>
            <p:cNvPr id="89" name="연결선: 꺾임 88">
              <a:extLst>
                <a:ext uri="{FF2B5EF4-FFF2-40B4-BE49-F238E27FC236}">
                  <a16:creationId xmlns:a16="http://schemas.microsoft.com/office/drawing/2014/main" id="{8F222A66-39AC-4233-9EBE-3D867EEB6C10}"/>
                </a:ext>
              </a:extLst>
            </p:cNvPr>
            <p:cNvCxnSpPr>
              <a:cxnSpLocks/>
              <a:stCxn id="86" idx="2"/>
              <a:endCxn id="43" idx="0"/>
            </p:cNvCxnSpPr>
            <p:nvPr/>
          </p:nvCxnSpPr>
          <p:spPr>
            <a:xfrm rot="5400000">
              <a:off x="9280688" y="919652"/>
              <a:ext cx="321195" cy="969717"/>
            </a:xfrm>
            <a:prstGeom prst="bentConnector3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FC82812F-71B0-4969-8C17-212E3AB486FC}"/>
                </a:ext>
              </a:extLst>
            </p:cNvPr>
            <p:cNvSpPr/>
            <p:nvPr/>
          </p:nvSpPr>
          <p:spPr>
            <a:xfrm>
              <a:off x="5381856" y="1565108"/>
              <a:ext cx="154738" cy="161338"/>
            </a:xfrm>
            <a:prstGeom prst="ellipse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93" name="직선 화살표 연결선 92">
              <a:extLst>
                <a:ext uri="{FF2B5EF4-FFF2-40B4-BE49-F238E27FC236}">
                  <a16:creationId xmlns:a16="http://schemas.microsoft.com/office/drawing/2014/main" id="{5B883DF4-3E77-466B-A42B-F0269F398DEC}"/>
                </a:ext>
              </a:extLst>
            </p:cNvPr>
            <p:cNvCxnSpPr>
              <a:cxnSpLocks/>
              <a:stCxn id="94" idx="0"/>
              <a:endCxn id="92" idx="4"/>
            </p:cNvCxnSpPr>
            <p:nvPr/>
          </p:nvCxnSpPr>
          <p:spPr>
            <a:xfrm flipH="1" flipV="1">
              <a:off x="5459225" y="1726446"/>
              <a:ext cx="1" cy="131634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6EFA0923-444D-4645-8875-976D11D5C68D}"/>
                </a:ext>
              </a:extLst>
            </p:cNvPr>
            <p:cNvSpPr txBox="1"/>
            <p:nvPr/>
          </p:nvSpPr>
          <p:spPr>
            <a:xfrm>
              <a:off x="4825756" y="1858080"/>
              <a:ext cx="1266940" cy="43067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특허법원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  <a:latin typeface="+mn-ea"/>
                </a:rPr>
                <a:t>판결</a:t>
              </a:r>
              <a:endParaRPr lang="en-US" altLang="ko-KR" sz="12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9" name="연결선: 꺾임 8">
              <a:extLst>
                <a:ext uri="{FF2B5EF4-FFF2-40B4-BE49-F238E27FC236}">
                  <a16:creationId xmlns:a16="http://schemas.microsoft.com/office/drawing/2014/main" id="{1345AB10-50F1-42BB-AE6B-F5286CF2EB7F}"/>
                </a:ext>
              </a:extLst>
            </p:cNvPr>
            <p:cNvCxnSpPr>
              <a:cxnSpLocks/>
              <a:stCxn id="86" idx="1"/>
              <a:endCxn id="92" idx="0"/>
            </p:cNvCxnSpPr>
            <p:nvPr/>
          </p:nvCxnSpPr>
          <p:spPr>
            <a:xfrm rot="10800000" flipV="1">
              <a:off x="5459225" y="996234"/>
              <a:ext cx="3655394" cy="568874"/>
            </a:xfrm>
            <a:prstGeom prst="bentConnector2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AB6AAF7-F8DC-C2FE-A857-B7F46996EECA}"/>
              </a:ext>
            </a:extLst>
          </p:cNvPr>
          <p:cNvSpPr txBox="1"/>
          <p:nvPr/>
        </p:nvSpPr>
        <p:spPr>
          <a:xfrm>
            <a:off x="2590421" y="6161523"/>
            <a:ext cx="9525378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/>
              <a:t>대법원에서 정정 전 특허발명에 의해서 무효가 아니라고 판시하였으니</a:t>
            </a:r>
            <a:r>
              <a:rPr lang="en-US" altLang="ko-KR" sz="1100" dirty="0"/>
              <a:t>, </a:t>
            </a:r>
            <a:r>
              <a:rPr lang="ko-KR" altLang="en-US" sz="1100" dirty="0"/>
              <a:t>특허법원에서는 감축 등을 한 정정 후 특허발명에 의해서 무효가 아니라고 판시할 가능성이 높음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8DFABD-F505-E14A-DC4A-CCA38C29DF5C}"/>
              </a:ext>
            </a:extLst>
          </p:cNvPr>
          <p:cNvSpPr txBox="1"/>
          <p:nvPr/>
        </p:nvSpPr>
        <p:spPr>
          <a:xfrm>
            <a:off x="2603357" y="6524361"/>
            <a:ext cx="9512441" cy="26161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100" dirty="0"/>
              <a:t>대법원에서 정정 전 특허발명에 의해서 무효라고 판시하였으나</a:t>
            </a:r>
            <a:r>
              <a:rPr lang="en-US" altLang="ko-KR" sz="1100" dirty="0"/>
              <a:t>, </a:t>
            </a:r>
            <a:r>
              <a:rPr lang="ko-KR" altLang="en-US" sz="1100" dirty="0"/>
              <a:t>특허법원에서는 감축 등을 한 정정 후 특허발명에 의해서 무효일지 여부를 다시 판단해야 함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C63007-2C78-ACF4-9AB6-086BFDC6ED7E}"/>
              </a:ext>
            </a:extLst>
          </p:cNvPr>
          <p:cNvSpPr txBox="1"/>
          <p:nvPr/>
        </p:nvSpPr>
        <p:spPr>
          <a:xfrm>
            <a:off x="3030243" y="3845842"/>
            <a:ext cx="11897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(2018</a:t>
            </a:r>
            <a:r>
              <a:rPr lang="ko-KR" altLang="en-US" sz="1200" dirty="0">
                <a:solidFill>
                  <a:srgbClr val="FF0000"/>
                </a:solidFill>
              </a:rPr>
              <a:t>후</a:t>
            </a:r>
            <a:r>
              <a:rPr lang="en-US" altLang="ko-KR" sz="1200" dirty="0">
                <a:solidFill>
                  <a:srgbClr val="FF0000"/>
                </a:solidFill>
              </a:rPr>
              <a:t>11124)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72534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취소신청과 무효심판 계속 중 정정청구</a:t>
            </a:r>
            <a:r>
              <a:rPr lang="en-US" altLang="ko-KR" dirty="0"/>
              <a:t>/</a:t>
            </a:r>
            <a:r>
              <a:rPr lang="ko-KR" altLang="en-US" dirty="0"/>
              <a:t>정정심판청구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D7C7B542-DBB1-4C36-90DB-B0550ABB83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790368"/>
              </p:ext>
            </p:extLst>
          </p:nvPr>
        </p:nvGraphicFramePr>
        <p:xfrm>
          <a:off x="846421" y="1405507"/>
          <a:ext cx="10687692" cy="484138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671923">
                  <a:extLst>
                    <a:ext uri="{9D8B030D-6E8A-4147-A177-3AD203B41FA5}">
                      <a16:colId xmlns:a16="http://schemas.microsoft.com/office/drawing/2014/main" val="1875832222"/>
                    </a:ext>
                  </a:extLst>
                </a:gridCol>
                <a:gridCol w="2671923">
                  <a:extLst>
                    <a:ext uri="{9D8B030D-6E8A-4147-A177-3AD203B41FA5}">
                      <a16:colId xmlns:a16="http://schemas.microsoft.com/office/drawing/2014/main" val="3112885057"/>
                    </a:ext>
                  </a:extLst>
                </a:gridCol>
                <a:gridCol w="2671923">
                  <a:extLst>
                    <a:ext uri="{9D8B030D-6E8A-4147-A177-3AD203B41FA5}">
                      <a16:colId xmlns:a16="http://schemas.microsoft.com/office/drawing/2014/main" val="3421592993"/>
                    </a:ext>
                  </a:extLst>
                </a:gridCol>
                <a:gridCol w="2671923">
                  <a:extLst>
                    <a:ext uri="{9D8B030D-6E8A-4147-A177-3AD203B41FA5}">
                      <a16:colId xmlns:a16="http://schemas.microsoft.com/office/drawing/2014/main" val="964438196"/>
                    </a:ext>
                  </a:extLst>
                </a:gridCol>
              </a:tblGrid>
              <a:tr h="1210346">
                <a:tc>
                  <a:txBody>
                    <a:bodyPr/>
                    <a:lstStyle/>
                    <a:p>
                      <a:pPr algn="r" latinLnBrk="1"/>
                      <a:endParaRPr lang="en-US" altLang="ko-KR" sz="1400" dirty="0"/>
                    </a:p>
                    <a:p>
                      <a:pPr algn="r" latinLnBrk="1"/>
                      <a:r>
                        <a:rPr lang="ko-KR" altLang="en-US" sz="1400" dirty="0"/>
                        <a:t>취소신청</a:t>
                      </a:r>
                      <a:endParaRPr lang="en-US" altLang="ko-KR" sz="1400" dirty="0"/>
                    </a:p>
                    <a:p>
                      <a:pPr algn="l" latinLnBrk="1"/>
                      <a:endParaRPr lang="en-US" altLang="ko-KR" sz="1400" dirty="0"/>
                    </a:p>
                    <a:p>
                      <a:pPr algn="l" latinLnBrk="1"/>
                      <a:r>
                        <a:rPr lang="ko-KR" altLang="en-US" sz="1400" dirty="0"/>
                        <a:t>무효심판</a:t>
                      </a: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심판원 계속 中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특허법원 계속 中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대법원 계속 中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92792"/>
                  </a:ext>
                </a:extLst>
              </a:tr>
              <a:tr h="121034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심판원 계속 中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정정청구 가능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法 </a:t>
                      </a:r>
                      <a:r>
                        <a:rPr lang="en-US" altLang="ko-KR" sz="1400" dirty="0"/>
                        <a:t>132</a:t>
                      </a:r>
                      <a:r>
                        <a:rPr lang="ko-KR" altLang="en-US" sz="1400" dirty="0"/>
                        <a:t>의</a:t>
                      </a:r>
                      <a:r>
                        <a:rPr lang="en-US" altLang="ko-KR" sz="1400" dirty="0"/>
                        <a:t>3, 133</a:t>
                      </a:r>
                      <a:r>
                        <a:rPr lang="ko-KR" altLang="en-US" sz="1400" dirty="0"/>
                        <a:t>의</a:t>
                      </a:r>
                      <a:r>
                        <a:rPr lang="en-US" altLang="ko-KR" sz="1400" dirty="0"/>
                        <a:t>2)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정정청구 가능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法 </a:t>
                      </a:r>
                      <a:r>
                        <a:rPr lang="en-US" altLang="ko-KR" sz="1400" dirty="0"/>
                        <a:t>133</a:t>
                      </a:r>
                      <a:r>
                        <a:rPr lang="ko-KR" altLang="en-US" sz="1400" dirty="0"/>
                        <a:t>의</a:t>
                      </a:r>
                      <a:r>
                        <a:rPr lang="en-US" altLang="ko-KR" sz="1400" dirty="0"/>
                        <a:t>2)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/>
                        <a:t>정정청구 가능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法 </a:t>
                      </a:r>
                      <a:r>
                        <a:rPr lang="en-US" altLang="ko-KR" sz="1400" dirty="0"/>
                        <a:t>133</a:t>
                      </a:r>
                      <a:r>
                        <a:rPr lang="ko-KR" altLang="en-US" sz="1400" dirty="0"/>
                        <a:t>의</a:t>
                      </a:r>
                      <a:r>
                        <a:rPr lang="en-US" altLang="ko-KR" sz="1400" dirty="0"/>
                        <a:t>2)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6929416"/>
                  </a:ext>
                </a:extLst>
              </a:tr>
              <a:tr h="17290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특허법원 계속 中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정정청구 가능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法 </a:t>
                      </a:r>
                      <a:r>
                        <a:rPr lang="en-US" altLang="ko-KR" sz="1400" dirty="0"/>
                        <a:t>132</a:t>
                      </a:r>
                      <a:r>
                        <a:rPr lang="ko-KR" altLang="en-US" sz="1400" dirty="0"/>
                        <a:t>의</a:t>
                      </a:r>
                      <a:r>
                        <a:rPr lang="en-US" altLang="ko-KR" sz="1400" dirty="0"/>
                        <a:t>3)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4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정정심판청구 가능</a:t>
                      </a:r>
                      <a:endParaRPr lang="en-US" altLang="ko-KR" sz="1400" dirty="0"/>
                    </a:p>
                    <a:p>
                      <a:pPr algn="l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단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변론종결전까지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algn="l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法 </a:t>
                      </a:r>
                      <a:r>
                        <a:rPr lang="en-US" altLang="ko-KR" sz="1400" dirty="0"/>
                        <a:t>136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Ⅰ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단서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정정심판청구 가능</a:t>
                      </a:r>
                      <a:endParaRPr lang="en-US" altLang="ko-KR" sz="1400" dirty="0"/>
                    </a:p>
                    <a:p>
                      <a:pPr algn="l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단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변론종결전까지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algn="l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法 </a:t>
                      </a:r>
                      <a:r>
                        <a:rPr lang="en-US" altLang="ko-KR" sz="1400" dirty="0"/>
                        <a:t>136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Ⅰ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단서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정정심판청구 가능</a:t>
                      </a:r>
                      <a:endParaRPr lang="en-US" altLang="ko-KR" sz="1400" dirty="0"/>
                    </a:p>
                    <a:p>
                      <a:pPr algn="l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단</a:t>
                      </a:r>
                      <a:r>
                        <a:rPr lang="en-US" altLang="ko-KR" sz="1400" dirty="0"/>
                        <a:t>, </a:t>
                      </a:r>
                      <a:r>
                        <a:rPr lang="ko-KR" altLang="en-US" sz="1400" dirty="0"/>
                        <a:t>변론종결전까지</a:t>
                      </a:r>
                      <a:r>
                        <a:rPr lang="en-US" altLang="ko-KR" sz="1400" dirty="0"/>
                        <a:t>)</a:t>
                      </a:r>
                    </a:p>
                    <a:p>
                      <a:pPr algn="l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法 </a:t>
                      </a:r>
                      <a:r>
                        <a:rPr lang="en-US" altLang="ko-KR" sz="1400" dirty="0"/>
                        <a:t>136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</a:t>
                      </a:r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Ⅰ</a:t>
                      </a:r>
                      <a:r>
                        <a:rPr lang="ko-KR" altLang="en-US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단서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725693"/>
                  </a:ext>
                </a:extLst>
              </a:tr>
              <a:tr h="6916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대법원 계속 中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정정청구 가능</a:t>
                      </a:r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法 </a:t>
                      </a:r>
                      <a:r>
                        <a:rPr lang="en-US" altLang="ko-KR" sz="1400" dirty="0"/>
                        <a:t>132</a:t>
                      </a:r>
                      <a:r>
                        <a:rPr lang="ko-KR" altLang="en-US" sz="1400" dirty="0"/>
                        <a:t>의</a:t>
                      </a:r>
                      <a:r>
                        <a:rPr lang="en-US" altLang="ko-KR" sz="1400" dirty="0"/>
                        <a:t>3)</a:t>
                      </a:r>
                      <a:endParaRPr lang="en-US" altLang="ko-KR" sz="14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×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4210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415840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정정심판과</a:t>
            </a:r>
            <a:r>
              <a:rPr lang="ko-KR" altLang="en-US" dirty="0"/>
              <a:t> </a:t>
            </a:r>
            <a:r>
              <a:rPr lang="ko-KR" altLang="en-US" dirty="0" err="1"/>
              <a:t>침해죄</a:t>
            </a:r>
            <a:endParaRPr lang="ko-KR" alt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Line 5"/>
          <p:cNvSpPr>
            <a:spLocks noChangeShapeType="1"/>
          </p:cNvSpPr>
          <p:nvPr/>
        </p:nvSpPr>
        <p:spPr bwMode="auto">
          <a:xfrm>
            <a:off x="328662" y="3976267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3" name="타원 52"/>
          <p:cNvSpPr/>
          <p:nvPr/>
        </p:nvSpPr>
        <p:spPr>
          <a:xfrm>
            <a:off x="3926191" y="3885170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936508" y="3885170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7" name="직선 화살표 연결선 56"/>
          <p:cNvCxnSpPr>
            <a:stCxn id="55" idx="2"/>
            <a:endCxn id="56" idx="0"/>
          </p:cNvCxnSpPr>
          <p:nvPr/>
        </p:nvCxnSpPr>
        <p:spPr>
          <a:xfrm flipH="1">
            <a:off x="1013877" y="3662254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타원 58"/>
          <p:cNvSpPr/>
          <p:nvPr/>
        </p:nvSpPr>
        <p:spPr>
          <a:xfrm>
            <a:off x="3042011" y="3885170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0" name="직선 화살표 연결선 59"/>
          <p:cNvCxnSpPr>
            <a:stCxn id="58" idx="2"/>
            <a:endCxn id="59" idx="0"/>
          </p:cNvCxnSpPr>
          <p:nvPr/>
        </p:nvCxnSpPr>
        <p:spPr>
          <a:xfrm flipH="1">
            <a:off x="3119380" y="3662254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타원 61"/>
          <p:cNvSpPr/>
          <p:nvPr/>
        </p:nvSpPr>
        <p:spPr>
          <a:xfrm>
            <a:off x="6917270" y="3885170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3" name="직선 화살표 연결선 62"/>
          <p:cNvCxnSpPr>
            <a:stCxn id="61" idx="2"/>
            <a:endCxn id="62" idx="0"/>
          </p:cNvCxnSpPr>
          <p:nvPr/>
        </p:nvCxnSpPr>
        <p:spPr>
          <a:xfrm flipH="1">
            <a:off x="6994639" y="3662254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80408" y="3195745"/>
            <a:ext cx="1266940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특허출원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286000" y="3195745"/>
            <a:ext cx="1666762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착오등록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기술적 범위 특정 불가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53380" y="3195745"/>
            <a:ext cx="1682520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착오인용심결확정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기술적 범위 특정 가능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21468" y="4249809"/>
            <a:ext cx="1266940" cy="391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A2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실시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6" name="직선 연결선 35"/>
          <p:cNvCxnSpPr/>
          <p:nvPr/>
        </p:nvCxnSpPr>
        <p:spPr>
          <a:xfrm>
            <a:off x="49963" y="2779080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27838" y="1357777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청구범위에 </a:t>
            </a:r>
            <a:r>
              <a:rPr lang="ko-KR" altLang="en-US" sz="1400" dirty="0" err="1">
                <a:solidFill>
                  <a:schemeClr val="tx2">
                    <a:lumMod val="50000"/>
                  </a:schemeClr>
                </a:solidFill>
              </a:rPr>
              <a:t>기재불비의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 하자가 있어 권리범위를 인정할 수 없었던 특허발명에 대하여 그 청구범위를 정정하는 </a:t>
            </a:r>
            <a:r>
              <a:rPr lang="ko-KR" altLang="en-US" sz="1400" dirty="0" err="1">
                <a:solidFill>
                  <a:schemeClr val="tx2">
                    <a:lumMod val="50000"/>
                  </a:schemeClr>
                </a:solidFill>
              </a:rPr>
              <a:t>심결이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 확정된 경우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정정 전에 </a:t>
            </a:r>
            <a:r>
              <a:rPr lang="ko-KR" altLang="en-US" sz="1400" dirty="0" err="1">
                <a:solidFill>
                  <a:schemeClr val="tx2">
                    <a:lumMod val="50000"/>
                  </a:schemeClr>
                </a:solidFill>
              </a:rPr>
              <a:t>행하여진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 피고인의 제품 제조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판매행위가 특허권 침해죄에 해당하는지 여부를 판단함에 있어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정정 전의 청구범위를 침해대상 특허발명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으로 하여야 한다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. 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이와 같은 </a:t>
            </a:r>
            <a:r>
              <a:rPr lang="ko-KR" altLang="en-US" sz="1400" dirty="0" err="1">
                <a:solidFill>
                  <a:schemeClr val="tx2">
                    <a:lumMod val="50000"/>
                  </a:schemeClr>
                </a:solidFill>
              </a:rPr>
              <a:t>정정심결이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 확정된 경우 그 정정이 별도의 정정무효심판절차에 의하여 무효로 되지 아니하는 한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그 특허발명은 처음부터 정정된 청구범위에 따라 특허권 설정등록이 된 것으로 보아야 하지만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헌법 제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13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1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형법 제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1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1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항의 입법 취지 및 특허발명의 청구범위는 특허권자가 독점하여 실시할 수 있는 영역과 제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3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자가 침해해서는 아니 되는 영역을 객관적으로 획정하여 대외적으로 공시하는 규범적 효력이 있는 점에 비추어 보면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, 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</a:rPr>
              <a:t>피고인의 행위가 특허권 침해죄에 해당하는지 여부를 판단함에 있어 정정 후의 청구범위를 침해대상 특허발명으로 삼는 것이 피고인에게 불리한 결과를 가져오는 경우까지도 정정의 소급적 효력이 당연히 미친다고 할 수는 없기 때문이다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</a:rPr>
              <a:t>. </a:t>
            </a:r>
          </a:p>
        </p:txBody>
      </p:sp>
      <p:sp>
        <p:nvSpPr>
          <p:cNvPr id="38" name="타원 37"/>
          <p:cNvSpPr/>
          <p:nvPr/>
        </p:nvSpPr>
        <p:spPr>
          <a:xfrm>
            <a:off x="5091528" y="3885170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9" name="직선 화살표 연결선 38"/>
          <p:cNvCxnSpPr>
            <a:stCxn id="40" idx="2"/>
            <a:endCxn id="38" idx="0"/>
          </p:cNvCxnSpPr>
          <p:nvPr/>
        </p:nvCxnSpPr>
        <p:spPr>
          <a:xfrm flipH="1">
            <a:off x="5168897" y="3662254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35428" y="3195745"/>
            <a:ext cx="1266940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A1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정정심판청구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자유형 6"/>
          <p:cNvSpPr/>
          <p:nvPr/>
        </p:nvSpPr>
        <p:spPr>
          <a:xfrm>
            <a:off x="3987800" y="4021245"/>
            <a:ext cx="7721600" cy="609600"/>
          </a:xfrm>
          <a:custGeom>
            <a:avLst/>
            <a:gdLst>
              <a:gd name="connsiteX0" fmla="*/ 0 w 7721600"/>
              <a:gd name="connsiteY0" fmla="*/ 0 h 609600"/>
              <a:gd name="connsiteX1" fmla="*/ 0 w 7721600"/>
              <a:gd name="connsiteY1" fmla="*/ 609600 h 609600"/>
              <a:gd name="connsiteX2" fmla="*/ 7721600 w 7721600"/>
              <a:gd name="connsiteY2" fmla="*/ 609600 h 60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721600" h="609600">
                <a:moveTo>
                  <a:pt x="0" y="0"/>
                </a:moveTo>
                <a:lnTo>
                  <a:pt x="0" y="609600"/>
                </a:lnTo>
                <a:lnTo>
                  <a:pt x="7721600" y="609600"/>
                </a:lnTo>
              </a:path>
            </a:pathLst>
          </a:custGeom>
          <a:noFill/>
          <a:ln w="28575">
            <a:solidFill>
              <a:schemeClr val="accent2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8796285" y="3885170"/>
            <a:ext cx="154738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4" name="직선 화살표 연결선 43"/>
          <p:cNvCxnSpPr>
            <a:stCxn id="45" idx="2"/>
            <a:endCxn id="43" idx="0"/>
          </p:cNvCxnSpPr>
          <p:nvPr/>
        </p:nvCxnSpPr>
        <p:spPr>
          <a:xfrm flipH="1">
            <a:off x="8873654" y="3662254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240185" y="3195745"/>
            <a:ext cx="1266940" cy="46650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침해소송제기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타원 7"/>
          <p:cNvSpPr/>
          <p:nvPr/>
        </p:nvSpPr>
        <p:spPr>
          <a:xfrm>
            <a:off x="493177" y="4954564"/>
            <a:ext cx="520700" cy="5207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rgbClr val="0070C0"/>
                </a:solidFill>
              </a:rPr>
              <a:t>1</a:t>
            </a:r>
            <a:endParaRPr lang="ko-KR" altLang="en-US" sz="2800" dirty="0">
              <a:solidFill>
                <a:srgbClr val="0070C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79204" y="5055132"/>
            <a:ext cx="8600431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정정무효심판에 의하여 </a:t>
            </a:r>
            <a:r>
              <a:rPr lang="ko-KR" altLang="en-US" dirty="0" err="1"/>
              <a:t>무효심결이</a:t>
            </a:r>
            <a:r>
              <a:rPr lang="ko-KR" altLang="en-US" dirty="0"/>
              <a:t> 확정되기 전까지 타 절차에서 당연무효라고 할 수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8" name="타원 47"/>
          <p:cNvSpPr/>
          <p:nvPr/>
        </p:nvSpPr>
        <p:spPr>
          <a:xfrm>
            <a:off x="493177" y="5609141"/>
            <a:ext cx="520700" cy="520700"/>
          </a:xfrm>
          <a:prstGeom prst="ellipse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rgbClr val="FF0000"/>
                </a:solidFill>
              </a:rPr>
              <a:t>2</a:t>
            </a:r>
            <a:endParaRPr lang="ko-KR" altLang="en-US" sz="2800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179204" y="5709709"/>
            <a:ext cx="6211957" cy="36933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dirty="0"/>
              <a:t>정정 후 </a:t>
            </a:r>
            <a:r>
              <a:rPr lang="ko-KR" altLang="en-US" dirty="0" err="1"/>
              <a:t>청구범위</a:t>
            </a:r>
            <a:r>
              <a:rPr lang="en-US" altLang="ko-KR" dirty="0"/>
              <a:t>(A1)</a:t>
            </a:r>
            <a:r>
              <a:rPr lang="ko-KR" altLang="en-US" dirty="0"/>
              <a:t>만 침해인 경우에는 </a:t>
            </a:r>
            <a:r>
              <a:rPr lang="ko-KR" altLang="en-US" dirty="0" err="1"/>
              <a:t>침해죄를</a:t>
            </a:r>
            <a:r>
              <a:rPr lang="ko-KR" altLang="en-US" dirty="0"/>
              <a:t> 물을 수 없다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D0708C92-4590-458E-87B0-B54DF79C9D0C}"/>
              </a:ext>
            </a:extLst>
          </p:cNvPr>
          <p:cNvSpPr/>
          <p:nvPr/>
        </p:nvSpPr>
        <p:spPr>
          <a:xfrm>
            <a:off x="8077200" y="5609142"/>
            <a:ext cx="3800475" cy="654576"/>
          </a:xfrm>
          <a:prstGeom prst="wedgeRoundRectCallout">
            <a:avLst>
              <a:gd name="adj1" fmla="val -67199"/>
              <a:gd name="adj2" fmla="val -17256"/>
              <a:gd name="adj3" fmla="val 16667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침해 성립요건</a:t>
            </a:r>
            <a:r>
              <a:rPr lang="en-US" altLang="ko-KR" sz="1600" dirty="0">
                <a:solidFill>
                  <a:schemeClr val="accent2">
                    <a:lumMod val="50000"/>
                  </a:schemeClr>
                </a:solidFill>
              </a:rPr>
              <a:t>(A1)</a:t>
            </a:r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을 만족함을</a:t>
            </a:r>
            <a:endParaRPr lang="en-US" altLang="ko-KR" sz="1600" dirty="0">
              <a:solidFill>
                <a:schemeClr val="accent2">
                  <a:lumMod val="50000"/>
                </a:schemeClr>
              </a:solidFill>
            </a:endParaRPr>
          </a:p>
          <a:p>
            <a:pPr algn="ctr"/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전제로 </a:t>
            </a:r>
            <a:r>
              <a:rPr lang="ko-KR" altLang="en-US" sz="1600" dirty="0" err="1">
                <a:solidFill>
                  <a:schemeClr val="accent2">
                    <a:lumMod val="50000"/>
                  </a:schemeClr>
                </a:solidFill>
              </a:rPr>
              <a:t>침해죄</a:t>
            </a:r>
            <a:r>
              <a:rPr lang="en-US" altLang="ko-KR" sz="1600" dirty="0">
                <a:solidFill>
                  <a:schemeClr val="accent2">
                    <a:lumMod val="50000"/>
                  </a:schemeClr>
                </a:solidFill>
              </a:rPr>
              <a:t>(A)</a:t>
            </a:r>
            <a:r>
              <a:rPr lang="ko-KR" altLang="en-US" sz="1600" dirty="0">
                <a:solidFill>
                  <a:schemeClr val="accent2">
                    <a:lumMod val="50000"/>
                  </a:schemeClr>
                </a:solidFill>
              </a:rPr>
              <a:t>에 해당하는지 판단</a:t>
            </a:r>
            <a:endParaRPr lang="en-US" altLang="ko-KR" sz="16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" name="모서리가 둥근 직사각형 10">
            <a:extLst>
              <a:ext uri="{FF2B5EF4-FFF2-40B4-BE49-F238E27FC236}">
                <a16:creationId xmlns:a16="http://schemas.microsoft.com/office/drawing/2014/main" id="{C11707D4-207F-CAFA-CC8E-F1C3F5A97034}"/>
              </a:ext>
            </a:extLst>
          </p:cNvPr>
          <p:cNvSpPr/>
          <p:nvPr/>
        </p:nvSpPr>
        <p:spPr bwMode="auto">
          <a:xfrm>
            <a:off x="378418" y="998802"/>
            <a:ext cx="5180410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 </a:t>
            </a:r>
            <a:r>
              <a:rPr lang="en-US" altLang="ko-KR" sz="1400" dirty="0"/>
              <a:t>2005. 10. 14. </a:t>
            </a:r>
            <a:r>
              <a:rPr lang="ko-KR" altLang="en-US" sz="1400" dirty="0"/>
              <a:t>선고 </a:t>
            </a:r>
            <a:r>
              <a:rPr lang="en-US" altLang="ko-KR" sz="1400" dirty="0"/>
              <a:t>2005</a:t>
            </a:r>
            <a:r>
              <a:rPr lang="ko-KR" altLang="en-US" sz="1400" dirty="0"/>
              <a:t>도</a:t>
            </a:r>
            <a:r>
              <a:rPr lang="en-US" altLang="ko-KR" sz="1400"/>
              <a:t>1262 </a:t>
            </a:r>
            <a:r>
              <a:rPr lang="en-US" altLang="ko-KR" sz="1400" dirty="0"/>
              <a:t>【</a:t>
            </a:r>
            <a:r>
              <a:rPr lang="ko-KR" altLang="en-US" sz="1400" dirty="0"/>
              <a:t>특허법위반</a:t>
            </a:r>
            <a:r>
              <a:rPr lang="en-US" altLang="ko-KR" sz="1400" dirty="0"/>
              <a:t>】</a:t>
            </a:r>
          </a:p>
        </p:txBody>
      </p:sp>
    </p:spTree>
    <p:extLst>
      <p:ext uri="{BB962C8B-B14F-4D97-AF65-F5344CB8AC3E}">
        <p14:creationId xmlns:p14="http://schemas.microsoft.com/office/powerpoint/2010/main" val="234192546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137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정정무효심판의 청구시기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672B6BB-2D77-4E43-8B42-06D030FA91F0}"/>
              </a:ext>
            </a:extLst>
          </p:cNvPr>
          <p:cNvCxnSpPr/>
          <p:nvPr/>
        </p:nvCxnSpPr>
        <p:spPr>
          <a:xfrm>
            <a:off x="0" y="3172889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5ED18D-A35C-4094-A735-ACF778B95324}"/>
              </a:ext>
            </a:extLst>
          </p:cNvPr>
          <p:cNvSpPr/>
          <p:nvPr/>
        </p:nvSpPr>
        <p:spPr>
          <a:xfrm>
            <a:off x="232372" y="1357007"/>
            <a:ext cx="1168198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sz="1400" dirty="0"/>
              <a:t>[1] </a:t>
            </a:r>
            <a:r>
              <a:rPr lang="ko-KR" altLang="en-US" sz="1400" dirty="0"/>
              <a:t>특허를 무효로 하는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확정되었음에도 불구하고 정정무효심판청구에 대한 </a:t>
            </a:r>
            <a:r>
              <a:rPr lang="ko-KR" altLang="en-US" sz="1400" dirty="0" err="1"/>
              <a:t>기각심결의</a:t>
            </a:r>
            <a:r>
              <a:rPr lang="ko-KR" altLang="en-US" sz="1400" dirty="0"/>
              <a:t> 취소를 구할 법률상의 이익이 존재하는지 여부</a:t>
            </a:r>
            <a:r>
              <a:rPr lang="en-US" altLang="ko-KR" sz="1400" dirty="0"/>
              <a:t>(</a:t>
            </a:r>
            <a:r>
              <a:rPr lang="ko-KR" altLang="en-US" sz="1400" dirty="0"/>
              <a:t>소극</a:t>
            </a:r>
            <a:r>
              <a:rPr lang="en-US" altLang="ko-KR" sz="1400" dirty="0"/>
              <a:t>): </a:t>
            </a:r>
            <a:r>
              <a:rPr lang="ko-KR" altLang="en-US" sz="1400" dirty="0"/>
              <a:t>특허를 무효로 한다는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확정된 때에는 그 특허권은 처음부터 없었던 것으로 보게 되므로</a:t>
            </a:r>
            <a:r>
              <a:rPr lang="en-US" altLang="ko-KR" sz="1400" dirty="0"/>
              <a:t>, </a:t>
            </a:r>
            <a:r>
              <a:rPr lang="ko-KR" altLang="en-US" sz="1400" dirty="0"/>
              <a:t>무효로 된 특허에 대한 정정의 무효를 구하는 심판은 그 정정의 대상이 없어지게 된 결과 정정 자체의 무효를 구할 이익도 없어진다고 할 것이다</a:t>
            </a:r>
            <a:r>
              <a:rPr lang="en-US" altLang="ko-KR" sz="1400" dirty="0"/>
              <a:t>. </a:t>
            </a:r>
          </a:p>
          <a:p>
            <a:pPr algn="just" fontAlgn="base"/>
            <a:r>
              <a:rPr lang="en-US" altLang="ko-KR" sz="1400" dirty="0"/>
              <a:t>[2] </a:t>
            </a:r>
            <a:r>
              <a:rPr lang="ko-KR" altLang="en-US" sz="1400" dirty="0"/>
              <a:t>특허법 제</a:t>
            </a:r>
            <a:r>
              <a:rPr lang="en-US" altLang="ko-KR" sz="1400" dirty="0"/>
              <a:t>136</a:t>
            </a:r>
            <a:r>
              <a:rPr lang="ko-KR" altLang="en-US" sz="1400" dirty="0"/>
              <a:t>조 제</a:t>
            </a:r>
            <a:r>
              <a:rPr lang="en-US" altLang="ko-KR" sz="1400" dirty="0"/>
              <a:t>8</a:t>
            </a:r>
            <a:r>
              <a:rPr lang="ko-KR" altLang="en-US" sz="1400" dirty="0"/>
              <a:t>항에 의하여 </a:t>
            </a:r>
            <a:r>
              <a:rPr lang="ko-KR" altLang="en-US" sz="1400" dirty="0" err="1"/>
              <a:t>정정심결이</a:t>
            </a:r>
            <a:r>
              <a:rPr lang="ko-KR" altLang="en-US" sz="1400" dirty="0"/>
              <a:t> 확정된 때에는 정정 후의 명세서 또는 도면에 의하여 </a:t>
            </a:r>
            <a:r>
              <a:rPr lang="ko-KR" altLang="en-US" sz="1400" dirty="0" err="1"/>
              <a:t>특허출원되고</a:t>
            </a:r>
            <a:r>
              <a:rPr lang="ko-KR" altLang="en-US" sz="1400" dirty="0"/>
              <a:t> 이후 이에 입각하여 특허권 설정등록까지의 절차가 이루어진 것으로 간주하는 것은 무효부분을 포함하는 특허를 본래 유효로 되어야 할 범위 내에서 존속시키기 위한 것이므로</a:t>
            </a:r>
            <a:r>
              <a:rPr lang="en-US" altLang="ko-KR" sz="1400" dirty="0"/>
              <a:t>, </a:t>
            </a:r>
            <a:r>
              <a:rPr lang="ko-KR" altLang="en-US" sz="1400" dirty="0"/>
              <a:t>조약에 의한 우선권 주장의 기초가 된 최초의 출원서 또는 </a:t>
            </a:r>
            <a:r>
              <a:rPr lang="ko-KR" altLang="en-US" sz="1400" dirty="0" err="1"/>
              <a:t>출원공개된</a:t>
            </a:r>
            <a:r>
              <a:rPr lang="ko-KR" altLang="en-US" sz="1400" dirty="0"/>
              <a:t> 출원서에 첨부한 명세서 또는 도면에 기재된 사항이 그 후 정정되었다 하더라도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그 정정내용이 조약에 의한 우선권 주장의 기초가 된 발명의 내용 또는 신규성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․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진보성 판단에 제공되는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선행기술로서의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발명의 내용에 영향을 미칠 수 없다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따라서 이와 다른 전제에서 특허가 무효로 된 이후에도 여전히 그 정정의 무효심판을 청구할 이익이 있다는 상고이유의 주장은 받아들일 수 없다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27" name="모서리가 둥근 직사각형 10">
            <a:extLst>
              <a:ext uri="{FF2B5EF4-FFF2-40B4-BE49-F238E27FC236}">
                <a16:creationId xmlns:a16="http://schemas.microsoft.com/office/drawing/2014/main" id="{45EA68D6-B151-4236-8FC3-05A69090F573}"/>
              </a:ext>
            </a:extLst>
          </p:cNvPr>
          <p:cNvSpPr/>
          <p:nvPr/>
        </p:nvSpPr>
        <p:spPr bwMode="auto">
          <a:xfrm>
            <a:off x="378418" y="1002199"/>
            <a:ext cx="5717582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2011. 6. 30.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2011</a:t>
            </a:r>
            <a:r>
              <a:rPr lang="ko-KR" altLang="en-US" sz="1400" dirty="0"/>
              <a:t>후</a:t>
            </a:r>
            <a:r>
              <a:rPr lang="en-US" altLang="ko-KR" sz="1400" dirty="0"/>
              <a:t>620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취소결정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</a:t>
            </a:r>
            <a:r>
              <a:rPr lang="ko-KR" altLang="en-US" sz="1400" dirty="0" err="1"/>
              <a:t>심결취소의소</a:t>
            </a:r>
            <a:r>
              <a:rPr lang="en-US" altLang="ko-KR" sz="1400" dirty="0"/>
              <a:t>】</a:t>
            </a:r>
          </a:p>
        </p:txBody>
      </p:sp>
      <p:sp>
        <p:nvSpPr>
          <p:cNvPr id="28" name="Line 5">
            <a:extLst>
              <a:ext uri="{FF2B5EF4-FFF2-40B4-BE49-F238E27FC236}">
                <a16:creationId xmlns:a16="http://schemas.microsoft.com/office/drawing/2014/main" id="{13F99ADD-6D23-4CE0-87DA-F8CCBC916BF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4881317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755A33-8626-4A38-968C-F28C1EF81A51}"/>
              </a:ext>
            </a:extLst>
          </p:cNvPr>
          <p:cNvSpPr txBox="1"/>
          <p:nvPr/>
        </p:nvSpPr>
        <p:spPr>
          <a:xfrm>
            <a:off x="706017" y="5137492"/>
            <a:ext cx="1007716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甲 국내출원</a:t>
            </a:r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C4876FE4-DC4D-4474-8926-D22632F6469D}"/>
              </a:ext>
            </a:extLst>
          </p:cNvPr>
          <p:cNvSpPr/>
          <p:nvPr/>
        </p:nvSpPr>
        <p:spPr>
          <a:xfrm>
            <a:off x="1132506" y="4787383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CA79FA6F-3539-499D-989D-4B9AAF9734FC}"/>
              </a:ext>
            </a:extLst>
          </p:cNvPr>
          <p:cNvCxnSpPr>
            <a:cxnSpLocks/>
          </p:cNvCxnSpPr>
          <p:nvPr/>
        </p:nvCxnSpPr>
        <p:spPr>
          <a:xfrm flipV="1">
            <a:off x="1209875" y="4948721"/>
            <a:ext cx="0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B2D769B1-1FF8-4325-BD54-E6AE101BD78D}"/>
              </a:ext>
            </a:extLst>
          </p:cNvPr>
          <p:cNvSpPr txBox="1"/>
          <p:nvPr/>
        </p:nvSpPr>
        <p:spPr>
          <a:xfrm>
            <a:off x="1464328" y="4275796"/>
            <a:ext cx="101016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乙 국내출원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66BDDFB2-76D3-4B7E-AB78-077EE38E9B88}"/>
              </a:ext>
            </a:extLst>
          </p:cNvPr>
          <p:cNvSpPr/>
          <p:nvPr/>
        </p:nvSpPr>
        <p:spPr>
          <a:xfrm>
            <a:off x="1892042" y="4787383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E802B4B2-A1A0-419F-B32A-ABED66E6E377}"/>
              </a:ext>
            </a:extLst>
          </p:cNvPr>
          <p:cNvCxnSpPr>
            <a:cxnSpLocks/>
          </p:cNvCxnSpPr>
          <p:nvPr/>
        </p:nvCxnSpPr>
        <p:spPr>
          <a:xfrm>
            <a:off x="1969411" y="4552795"/>
            <a:ext cx="0" cy="234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C7D4FB36-1FFF-453A-9148-2907ED9D291C}"/>
              </a:ext>
            </a:extLst>
          </p:cNvPr>
          <p:cNvSpPr txBox="1"/>
          <p:nvPr/>
        </p:nvSpPr>
        <p:spPr>
          <a:xfrm>
            <a:off x="568578" y="5534579"/>
            <a:ext cx="128259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청구범위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제직연결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위사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E5C795B-9FE5-4C0C-AD3E-3E2E1CDC1F95}"/>
              </a:ext>
            </a:extLst>
          </p:cNvPr>
          <p:cNvSpPr txBox="1"/>
          <p:nvPr/>
        </p:nvSpPr>
        <p:spPr>
          <a:xfrm>
            <a:off x="8706572" y="5137492"/>
            <a:ext cx="105159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자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무효심결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확정</a:t>
            </a:r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DC2D998F-A5FC-44C2-B5EE-40DE19E1A3A9}"/>
              </a:ext>
            </a:extLst>
          </p:cNvPr>
          <p:cNvSpPr/>
          <p:nvPr/>
        </p:nvSpPr>
        <p:spPr>
          <a:xfrm>
            <a:off x="9155001" y="4787383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DE726FF3-F1F9-4CFA-AB5E-12F924EFD229}"/>
              </a:ext>
            </a:extLst>
          </p:cNvPr>
          <p:cNvCxnSpPr>
            <a:cxnSpLocks/>
            <a:stCxn id="103" idx="0"/>
            <a:endCxn id="104" idx="4"/>
          </p:cNvCxnSpPr>
          <p:nvPr/>
        </p:nvCxnSpPr>
        <p:spPr>
          <a:xfrm flipH="1" flipV="1">
            <a:off x="9232370" y="494872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D7D09F4F-390C-487C-9160-4A473B69DE97}"/>
              </a:ext>
            </a:extLst>
          </p:cNvPr>
          <p:cNvCxnSpPr/>
          <p:nvPr/>
        </p:nvCxnSpPr>
        <p:spPr>
          <a:xfrm flipV="1">
            <a:off x="1209875" y="5414491"/>
            <a:ext cx="0" cy="1200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5A1D5F2-777B-4242-9C03-42D40BC2CA09}"/>
              </a:ext>
            </a:extLst>
          </p:cNvPr>
          <p:cNvSpPr txBox="1"/>
          <p:nvPr/>
        </p:nvSpPr>
        <p:spPr>
          <a:xfrm>
            <a:off x="1328114" y="3734675"/>
            <a:ext cx="128259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청구범위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제직연결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경사</a:t>
            </a: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485C3744-A984-4468-B595-2FEC80680800}"/>
              </a:ext>
            </a:extLst>
          </p:cNvPr>
          <p:cNvCxnSpPr>
            <a:cxnSpLocks/>
          </p:cNvCxnSpPr>
          <p:nvPr/>
        </p:nvCxnSpPr>
        <p:spPr>
          <a:xfrm flipV="1">
            <a:off x="1969411" y="4196340"/>
            <a:ext cx="0" cy="794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9ADCF200-8AE7-4237-BB91-80B813E7AFD3}"/>
              </a:ext>
            </a:extLst>
          </p:cNvPr>
          <p:cNvSpPr txBox="1"/>
          <p:nvPr/>
        </p:nvSpPr>
        <p:spPr>
          <a:xfrm>
            <a:off x="3023761" y="4134017"/>
            <a:ext cx="1010166" cy="438582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乙 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PCT</a:t>
            </a: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출원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bg1"/>
                </a:solidFill>
                <a:latin typeface="+mn-ea"/>
              </a:rPr>
              <a:t>지정국</a:t>
            </a: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:</a:t>
            </a:r>
            <a:r>
              <a:rPr lang="ko-KR" altLang="en-US" sz="1000" dirty="0">
                <a:solidFill>
                  <a:schemeClr val="bg1"/>
                </a:solidFill>
                <a:latin typeface="+mn-ea"/>
              </a:rPr>
              <a:t>중국</a:t>
            </a:r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)</a:t>
            </a:r>
            <a:endParaRPr lang="ko-KR" alt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CD0EC83C-C220-406E-969B-97B2C6EA8A26}"/>
              </a:ext>
            </a:extLst>
          </p:cNvPr>
          <p:cNvSpPr/>
          <p:nvPr/>
        </p:nvSpPr>
        <p:spPr>
          <a:xfrm>
            <a:off x="3451475" y="4787383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16BE73D5-EDBA-43B3-A27C-02A12D77355E}"/>
              </a:ext>
            </a:extLst>
          </p:cNvPr>
          <p:cNvCxnSpPr>
            <a:cxnSpLocks/>
          </p:cNvCxnSpPr>
          <p:nvPr/>
        </p:nvCxnSpPr>
        <p:spPr>
          <a:xfrm>
            <a:off x="3528844" y="4552795"/>
            <a:ext cx="0" cy="234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9A5F8268-4841-4F6D-8203-2F41C236AD2C}"/>
              </a:ext>
            </a:extLst>
          </p:cNvPr>
          <p:cNvSpPr txBox="1"/>
          <p:nvPr/>
        </p:nvSpPr>
        <p:spPr>
          <a:xfrm>
            <a:off x="2887547" y="3488121"/>
            <a:ext cx="128259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청구범위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제직연결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경사</a:t>
            </a:r>
          </a:p>
        </p:txBody>
      </p: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9D8C8C2A-6A30-4E51-BB25-603F02F5D561}"/>
              </a:ext>
            </a:extLst>
          </p:cNvPr>
          <p:cNvCxnSpPr>
            <a:cxnSpLocks/>
            <a:stCxn id="64" idx="2"/>
            <a:endCxn id="60" idx="0"/>
          </p:cNvCxnSpPr>
          <p:nvPr/>
        </p:nvCxnSpPr>
        <p:spPr>
          <a:xfrm>
            <a:off x="3528844" y="3949786"/>
            <a:ext cx="0" cy="18423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06B3B1CF-F66D-406D-B550-4C42D4AA7028}"/>
              </a:ext>
            </a:extLst>
          </p:cNvPr>
          <p:cNvSpPr txBox="1"/>
          <p:nvPr/>
        </p:nvSpPr>
        <p:spPr>
          <a:xfrm>
            <a:off x="2497890" y="5137492"/>
            <a:ext cx="1007716" cy="4385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PCT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50" dirty="0" err="1">
                <a:solidFill>
                  <a:schemeClr val="tx1"/>
                </a:solidFill>
                <a:latin typeface="+mn-ea"/>
              </a:rPr>
              <a:t>지정국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:</a:t>
            </a:r>
            <a:r>
              <a:rPr lang="ko-KR" altLang="en-US" sz="1050" dirty="0">
                <a:solidFill>
                  <a:schemeClr val="tx1"/>
                </a:solidFill>
                <a:latin typeface="+mn-ea"/>
              </a:rPr>
              <a:t>중국</a:t>
            </a:r>
            <a:r>
              <a:rPr lang="en-US" altLang="ko-KR" sz="105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CF862A65-3A48-4E50-B2D8-50D35E86032F}"/>
              </a:ext>
            </a:extLst>
          </p:cNvPr>
          <p:cNvSpPr/>
          <p:nvPr/>
        </p:nvSpPr>
        <p:spPr>
          <a:xfrm>
            <a:off x="2924379" y="4787383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B6237C14-10A7-48F8-8D8E-FEB24362D2A3}"/>
              </a:ext>
            </a:extLst>
          </p:cNvPr>
          <p:cNvCxnSpPr>
            <a:cxnSpLocks/>
          </p:cNvCxnSpPr>
          <p:nvPr/>
        </p:nvCxnSpPr>
        <p:spPr>
          <a:xfrm flipV="1">
            <a:off x="3001748" y="4948721"/>
            <a:ext cx="0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AE3D18F7-2A0F-4B4F-81C1-6E5752233E33}"/>
              </a:ext>
            </a:extLst>
          </p:cNvPr>
          <p:cNvSpPr txBox="1"/>
          <p:nvPr/>
        </p:nvSpPr>
        <p:spPr>
          <a:xfrm>
            <a:off x="2360451" y="5799557"/>
            <a:ext cx="128259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청구범위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제직연결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경사</a:t>
            </a: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412C6066-9A07-4693-A9A0-5E64C84669D5}"/>
              </a:ext>
            </a:extLst>
          </p:cNvPr>
          <p:cNvCxnSpPr/>
          <p:nvPr/>
        </p:nvCxnSpPr>
        <p:spPr>
          <a:xfrm flipV="1">
            <a:off x="3001748" y="5414491"/>
            <a:ext cx="0" cy="1200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C949F70-DBF8-4404-8760-59AF6BFDDE16}"/>
              </a:ext>
            </a:extLst>
          </p:cNvPr>
          <p:cNvSpPr txBox="1"/>
          <p:nvPr/>
        </p:nvSpPr>
        <p:spPr>
          <a:xfrm>
            <a:off x="3763889" y="5137492"/>
            <a:ext cx="1007716" cy="27699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甲 국내등록</a:t>
            </a: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519741A0-3324-4F2F-9799-E357189C9F98}"/>
              </a:ext>
            </a:extLst>
          </p:cNvPr>
          <p:cNvSpPr/>
          <p:nvPr/>
        </p:nvSpPr>
        <p:spPr>
          <a:xfrm>
            <a:off x="4190377" y="4787383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CA4B5DE3-8CE5-4745-9701-A44D127FC3D0}"/>
              </a:ext>
            </a:extLst>
          </p:cNvPr>
          <p:cNvCxnSpPr>
            <a:cxnSpLocks/>
            <a:stCxn id="71" idx="0"/>
            <a:endCxn id="72" idx="4"/>
          </p:cNvCxnSpPr>
          <p:nvPr/>
        </p:nvCxnSpPr>
        <p:spPr>
          <a:xfrm flipH="1" flipV="1">
            <a:off x="4267746" y="494872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630FB699-DFDE-4B08-9CAF-EC1B8FFCB3A5}"/>
              </a:ext>
            </a:extLst>
          </p:cNvPr>
          <p:cNvSpPr txBox="1"/>
          <p:nvPr/>
        </p:nvSpPr>
        <p:spPr>
          <a:xfrm>
            <a:off x="4848972" y="5137492"/>
            <a:ext cx="1007716" cy="46166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甲 정정심판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청구</a:t>
            </a:r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BAB0B559-12F3-4324-A168-59D37C1C1D3F}"/>
              </a:ext>
            </a:extLst>
          </p:cNvPr>
          <p:cNvSpPr/>
          <p:nvPr/>
        </p:nvSpPr>
        <p:spPr>
          <a:xfrm>
            <a:off x="5275460" y="4787383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ED4F6533-9725-4326-94E6-F40DADA87F4B}"/>
              </a:ext>
            </a:extLst>
          </p:cNvPr>
          <p:cNvCxnSpPr>
            <a:cxnSpLocks/>
            <a:stCxn id="76" idx="0"/>
            <a:endCxn id="78" idx="4"/>
          </p:cNvCxnSpPr>
          <p:nvPr/>
        </p:nvCxnSpPr>
        <p:spPr>
          <a:xfrm flipH="1" flipV="1">
            <a:off x="5352829" y="494872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AE722F1C-EA5F-43ED-BE71-F36D780E2A19}"/>
              </a:ext>
            </a:extLst>
          </p:cNvPr>
          <p:cNvSpPr txBox="1"/>
          <p:nvPr/>
        </p:nvSpPr>
        <p:spPr>
          <a:xfrm>
            <a:off x="4711532" y="5714727"/>
            <a:ext cx="128259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청구범위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제직연결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경사</a:t>
            </a: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EB7647B2-6FA0-4AEB-9E8E-E351432DC158}"/>
              </a:ext>
            </a:extLst>
          </p:cNvPr>
          <p:cNvCxnSpPr/>
          <p:nvPr/>
        </p:nvCxnSpPr>
        <p:spPr>
          <a:xfrm flipV="1">
            <a:off x="5352829" y="5594639"/>
            <a:ext cx="0" cy="1200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586F39C8-9C63-4984-AF16-B0C31B527EBF}"/>
              </a:ext>
            </a:extLst>
          </p:cNvPr>
          <p:cNvSpPr txBox="1"/>
          <p:nvPr/>
        </p:nvSpPr>
        <p:spPr>
          <a:xfrm>
            <a:off x="6199156" y="5137492"/>
            <a:ext cx="1007716" cy="46166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甲 </a:t>
            </a:r>
            <a:r>
              <a:rPr lang="ko-KR" altLang="en-US" sz="1200" dirty="0" err="1">
                <a:solidFill>
                  <a:schemeClr val="bg1"/>
                </a:solidFill>
                <a:latin typeface="+mn-ea"/>
              </a:rPr>
              <a:t>인용심결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확정</a:t>
            </a: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2BF31581-F1EB-49D8-85A5-5DFAF7BE15DC}"/>
              </a:ext>
            </a:extLst>
          </p:cNvPr>
          <p:cNvSpPr/>
          <p:nvPr/>
        </p:nvSpPr>
        <p:spPr>
          <a:xfrm>
            <a:off x="6625644" y="4787383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EF89AACA-45ED-4CB4-840B-8D44F6C2A3F6}"/>
              </a:ext>
            </a:extLst>
          </p:cNvPr>
          <p:cNvCxnSpPr>
            <a:cxnSpLocks/>
            <a:stCxn id="84" idx="0"/>
            <a:endCxn id="85" idx="4"/>
          </p:cNvCxnSpPr>
          <p:nvPr/>
        </p:nvCxnSpPr>
        <p:spPr>
          <a:xfrm flipH="1" flipV="1">
            <a:off x="6703013" y="4948721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0A0F8C98-BA52-4498-814A-AE337AA83E4A}"/>
              </a:ext>
            </a:extLst>
          </p:cNvPr>
          <p:cNvSpPr txBox="1"/>
          <p:nvPr/>
        </p:nvSpPr>
        <p:spPr>
          <a:xfrm>
            <a:off x="6061716" y="5714727"/>
            <a:ext cx="1282594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청구범위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제직연결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경사</a:t>
            </a: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15905726-E3DD-4D56-8B59-549E508AE619}"/>
              </a:ext>
            </a:extLst>
          </p:cNvPr>
          <p:cNvCxnSpPr/>
          <p:nvPr/>
        </p:nvCxnSpPr>
        <p:spPr>
          <a:xfrm flipV="1">
            <a:off x="6703013" y="5594639"/>
            <a:ext cx="0" cy="1200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93F0A74A-EDB2-44DB-8C29-4FD836D592AA}"/>
              </a:ext>
            </a:extLst>
          </p:cNvPr>
          <p:cNvSpPr txBox="1"/>
          <p:nvPr/>
        </p:nvSpPr>
        <p:spPr>
          <a:xfrm>
            <a:off x="6816172" y="4113871"/>
            <a:ext cx="1010166" cy="46166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乙 정정무효심판청구</a:t>
            </a:r>
          </a:p>
        </p:txBody>
      </p:sp>
      <p:sp>
        <p:nvSpPr>
          <p:cNvPr id="105" name="타원 104">
            <a:extLst>
              <a:ext uri="{FF2B5EF4-FFF2-40B4-BE49-F238E27FC236}">
                <a16:creationId xmlns:a16="http://schemas.microsoft.com/office/drawing/2014/main" id="{E0AA145D-4499-4B7F-A6A9-8FB3FB1891FC}"/>
              </a:ext>
            </a:extLst>
          </p:cNvPr>
          <p:cNvSpPr/>
          <p:nvPr/>
        </p:nvSpPr>
        <p:spPr>
          <a:xfrm>
            <a:off x="7243886" y="4787383"/>
            <a:ext cx="154738" cy="161338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65A9AA4C-9005-48ED-BF23-C46E78692246}"/>
              </a:ext>
            </a:extLst>
          </p:cNvPr>
          <p:cNvCxnSpPr>
            <a:cxnSpLocks/>
          </p:cNvCxnSpPr>
          <p:nvPr/>
        </p:nvCxnSpPr>
        <p:spPr>
          <a:xfrm>
            <a:off x="7321255" y="4552795"/>
            <a:ext cx="0" cy="234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E127C6EE-010B-460D-B45A-A1378E587390}"/>
              </a:ext>
            </a:extLst>
          </p:cNvPr>
          <p:cNvSpPr txBox="1"/>
          <p:nvPr/>
        </p:nvSpPr>
        <p:spPr>
          <a:xfrm>
            <a:off x="7882315" y="4123396"/>
            <a:ext cx="494420" cy="46166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기각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1200" dirty="0" err="1">
                <a:solidFill>
                  <a:schemeClr val="bg1"/>
                </a:solidFill>
                <a:latin typeface="+mn-ea"/>
              </a:rPr>
              <a:t>심결</a:t>
            </a:r>
            <a:endParaRPr lang="ko-KR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9" name="타원 108">
            <a:extLst>
              <a:ext uri="{FF2B5EF4-FFF2-40B4-BE49-F238E27FC236}">
                <a16:creationId xmlns:a16="http://schemas.microsoft.com/office/drawing/2014/main" id="{B66FD8F4-FF7D-4A6F-91B4-D96CBFF24571}"/>
              </a:ext>
            </a:extLst>
          </p:cNvPr>
          <p:cNvSpPr/>
          <p:nvPr/>
        </p:nvSpPr>
        <p:spPr>
          <a:xfrm>
            <a:off x="8052854" y="4787383"/>
            <a:ext cx="154738" cy="161338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ED46D622-51AE-406F-98C8-A600F2CF4AC9}"/>
              </a:ext>
            </a:extLst>
          </p:cNvPr>
          <p:cNvCxnSpPr>
            <a:cxnSpLocks/>
            <a:stCxn id="108" idx="2"/>
          </p:cNvCxnSpPr>
          <p:nvPr/>
        </p:nvCxnSpPr>
        <p:spPr>
          <a:xfrm>
            <a:off x="8129525" y="4585061"/>
            <a:ext cx="698" cy="23089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FAC7C706-4661-4DFE-9A3E-E0BDE1D76DCE}"/>
              </a:ext>
            </a:extLst>
          </p:cNvPr>
          <p:cNvSpPr txBox="1"/>
          <p:nvPr/>
        </p:nvSpPr>
        <p:spPr>
          <a:xfrm>
            <a:off x="8433738" y="4123396"/>
            <a:ext cx="494420" cy="461665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소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제기</a:t>
            </a:r>
          </a:p>
        </p:txBody>
      </p:sp>
      <p:sp>
        <p:nvSpPr>
          <p:cNvPr id="112" name="타원 111">
            <a:extLst>
              <a:ext uri="{FF2B5EF4-FFF2-40B4-BE49-F238E27FC236}">
                <a16:creationId xmlns:a16="http://schemas.microsoft.com/office/drawing/2014/main" id="{E81797E6-5843-4538-ABE7-43E52FF236F3}"/>
              </a:ext>
            </a:extLst>
          </p:cNvPr>
          <p:cNvSpPr/>
          <p:nvPr/>
        </p:nvSpPr>
        <p:spPr>
          <a:xfrm>
            <a:off x="8604277" y="4787383"/>
            <a:ext cx="154738" cy="161338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D0CD381C-7912-45A8-B0B9-54638B2CD688}"/>
              </a:ext>
            </a:extLst>
          </p:cNvPr>
          <p:cNvCxnSpPr>
            <a:cxnSpLocks/>
            <a:stCxn id="111" idx="2"/>
          </p:cNvCxnSpPr>
          <p:nvPr/>
        </p:nvCxnSpPr>
        <p:spPr>
          <a:xfrm>
            <a:off x="8680948" y="4585061"/>
            <a:ext cx="698" cy="23089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3D7CA88-8EC1-4929-911F-614EF49FB915}"/>
              </a:ext>
            </a:extLst>
          </p:cNvPr>
          <p:cNvSpPr txBox="1"/>
          <p:nvPr/>
        </p:nvSpPr>
        <p:spPr>
          <a:xfrm>
            <a:off x="5275460" y="3293857"/>
            <a:ext cx="616289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200" dirty="0"/>
              <a:t>해외출원에 대한 특허요건 심사 시에 발명의 동일성이 배척됨으로써 우선권 주장의 기초가 될 수 없을 것이어서</a:t>
            </a:r>
            <a:r>
              <a:rPr lang="en-US" altLang="ko-KR" sz="1200" dirty="0"/>
              <a:t>, </a:t>
            </a:r>
            <a:r>
              <a:rPr lang="ko-KR" altLang="en-US" sz="1200" dirty="0"/>
              <a:t>비록 국내에서 이 사건 특허발명에 대한 </a:t>
            </a:r>
            <a:r>
              <a:rPr lang="ko-KR" altLang="en-US" sz="1200" dirty="0" err="1"/>
              <a:t>등록무효심결이</a:t>
            </a:r>
            <a:r>
              <a:rPr lang="ko-KR" altLang="en-US" sz="1200" dirty="0"/>
              <a:t> 확정되었다고 하더라도</a:t>
            </a:r>
            <a:r>
              <a:rPr lang="en-US" altLang="ko-KR" sz="1200" dirty="0"/>
              <a:t>, </a:t>
            </a:r>
            <a:r>
              <a:rPr lang="ko-KR" altLang="en-US" sz="1200" dirty="0"/>
              <a:t>乙에게는 이 사건 정정무효심판청구에 대한 </a:t>
            </a:r>
            <a:r>
              <a:rPr lang="ko-KR" altLang="en-US" sz="1200" dirty="0" err="1"/>
              <a:t>기각심결의</a:t>
            </a:r>
            <a:r>
              <a:rPr lang="ko-KR" altLang="en-US" sz="1200" dirty="0"/>
              <a:t> 취소를 구할 법률상의 이익이 존재한다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F1DB7450-254D-4CB0-8F92-1E3A3F23B65C}"/>
              </a:ext>
            </a:extLst>
          </p:cNvPr>
          <p:cNvSpPr/>
          <p:nvPr/>
        </p:nvSpPr>
        <p:spPr>
          <a:xfrm>
            <a:off x="9550987" y="4787383"/>
            <a:ext cx="154738" cy="161338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4837E85C-2D0D-4390-9D7C-0D1F84849FFE}"/>
              </a:ext>
            </a:extLst>
          </p:cNvPr>
          <p:cNvCxnSpPr>
            <a:endCxn id="114" idx="0"/>
          </p:cNvCxnSpPr>
          <p:nvPr/>
        </p:nvCxnSpPr>
        <p:spPr>
          <a:xfrm>
            <a:off x="9628356" y="3940188"/>
            <a:ext cx="0" cy="84719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0207F1F-74F8-4F02-A2F0-A10FFC193D09}"/>
              </a:ext>
            </a:extLst>
          </p:cNvPr>
          <p:cNvSpPr txBox="1"/>
          <p:nvPr/>
        </p:nvSpPr>
        <p:spPr>
          <a:xfrm>
            <a:off x="9238665" y="4123175"/>
            <a:ext cx="7793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乙의 주장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1070EF50-DBDA-44A4-96BE-4A3B15FAF272}"/>
              </a:ext>
            </a:extLst>
          </p:cNvPr>
          <p:cNvSpPr txBox="1"/>
          <p:nvPr/>
        </p:nvSpPr>
        <p:spPr>
          <a:xfrm>
            <a:off x="10366651" y="4123396"/>
            <a:ext cx="494420" cy="461665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소</a:t>
            </a:r>
            <a:endParaRPr lang="en-US" altLang="ko-KR" sz="1200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각하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6A2D36FE-427B-4EDB-A668-20644F613399}"/>
              </a:ext>
            </a:extLst>
          </p:cNvPr>
          <p:cNvSpPr/>
          <p:nvPr/>
        </p:nvSpPr>
        <p:spPr>
          <a:xfrm>
            <a:off x="10537190" y="4787383"/>
            <a:ext cx="154738" cy="161338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3699D9F7-3EEE-4F35-84C7-BB58026F24F6}"/>
              </a:ext>
            </a:extLst>
          </p:cNvPr>
          <p:cNvCxnSpPr>
            <a:cxnSpLocks/>
            <a:stCxn id="115" idx="2"/>
          </p:cNvCxnSpPr>
          <p:nvPr/>
        </p:nvCxnSpPr>
        <p:spPr>
          <a:xfrm>
            <a:off x="10613861" y="4585061"/>
            <a:ext cx="698" cy="23089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DD76493-3377-4C4A-B70D-FA530BD5E589}"/>
              </a:ext>
            </a:extLst>
          </p:cNvPr>
          <p:cNvSpPr/>
          <p:nvPr/>
        </p:nvSpPr>
        <p:spPr>
          <a:xfrm>
            <a:off x="7515225" y="5747562"/>
            <a:ext cx="4210050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200" dirty="0">
                <a:solidFill>
                  <a:srgbClr val="333333"/>
                </a:solidFill>
                <a:latin typeface="Rix모던고딕 L" panose="02020603020101020101" pitchFamily="18" charset="-127"/>
              </a:rPr>
              <a:t>국제출원에 대한 특허요건을 심사하는 해당 국가가</a:t>
            </a:r>
            <a:r>
              <a:rPr lang="en-US" altLang="ko-KR" sz="1200" dirty="0">
                <a:solidFill>
                  <a:srgbClr val="333333"/>
                </a:solidFill>
                <a:latin typeface="Rix모던고딕 L" panose="02020603020101020101" pitchFamily="18" charset="-127"/>
              </a:rPr>
              <a:t>, </a:t>
            </a:r>
            <a:r>
              <a:rPr lang="ko-KR" altLang="en-US" sz="1200" dirty="0">
                <a:solidFill>
                  <a:srgbClr val="333333"/>
                </a:solidFill>
                <a:latin typeface="Rix모던고딕 L" panose="02020603020101020101" pitchFamily="18" charset="-127"/>
              </a:rPr>
              <a:t>이 사건 특허발명이 그 해당 국가에서의 출원에 대한 우선권 주장의 기초가 될 수 있는지 여부에 관한 판단을 함에 있어</a:t>
            </a:r>
            <a:r>
              <a:rPr lang="en-US" altLang="ko-KR" sz="1200" dirty="0">
                <a:solidFill>
                  <a:srgbClr val="333333"/>
                </a:solidFill>
                <a:latin typeface="Rix모던고딕 L" panose="02020603020101020101" pitchFamily="18" charset="-127"/>
              </a:rPr>
              <a:t>, </a:t>
            </a:r>
            <a:r>
              <a:rPr lang="ko-KR" altLang="en-US" sz="1200" dirty="0">
                <a:solidFill>
                  <a:srgbClr val="333333"/>
                </a:solidFill>
                <a:latin typeface="Rix모던고딕 L" panose="02020603020101020101" pitchFamily="18" charset="-127"/>
              </a:rPr>
              <a:t>이 사건 특허발명에 대한 우리나라 법원의 정정 </a:t>
            </a:r>
            <a:r>
              <a:rPr lang="ko-KR" altLang="en-US" sz="1200" dirty="0" err="1">
                <a:solidFill>
                  <a:srgbClr val="333333"/>
                </a:solidFill>
                <a:latin typeface="Rix모던고딕 L" panose="02020603020101020101" pitchFamily="18" charset="-127"/>
              </a:rPr>
              <a:t>유무효</a:t>
            </a:r>
            <a:r>
              <a:rPr lang="ko-KR" altLang="en-US" sz="1200" dirty="0">
                <a:solidFill>
                  <a:srgbClr val="333333"/>
                </a:solidFill>
                <a:latin typeface="Rix모던고딕 L" panose="02020603020101020101" pitchFamily="18" charset="-127"/>
              </a:rPr>
              <a:t> 판단 결과에 구속된다고 볼 근거는 없다</a:t>
            </a:r>
            <a:r>
              <a:rPr lang="en-US" altLang="ko-KR" sz="1200" dirty="0">
                <a:solidFill>
                  <a:srgbClr val="333333"/>
                </a:solidFill>
                <a:latin typeface="Rix모던고딕 L" panose="02020603020101020101" pitchFamily="18" charset="-127"/>
              </a:rPr>
              <a:t>.</a:t>
            </a:r>
            <a:endParaRPr lang="ko-KR" altLang="en-US" sz="1200" dirty="0"/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6A4922F4-B768-48C0-BA2D-9D0BBBE01D65}"/>
              </a:ext>
            </a:extLst>
          </p:cNvPr>
          <p:cNvCxnSpPr>
            <a:stCxn id="32" idx="3"/>
            <a:endCxn id="115" idx="3"/>
          </p:cNvCxnSpPr>
          <p:nvPr/>
        </p:nvCxnSpPr>
        <p:spPr>
          <a:xfrm flipH="1" flipV="1">
            <a:off x="10861071" y="4354229"/>
            <a:ext cx="864204" cy="1901165"/>
          </a:xfrm>
          <a:prstGeom prst="bentConnector3">
            <a:avLst>
              <a:gd name="adj1" fmla="val -26452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689B226-9890-49B8-ADA5-DDBA70A62DFE}"/>
              </a:ext>
            </a:extLst>
          </p:cNvPr>
          <p:cNvCxnSpPr>
            <a:stCxn id="69" idx="0"/>
            <a:endCxn id="66" idx="2"/>
          </p:cNvCxnSpPr>
          <p:nvPr/>
        </p:nvCxnSpPr>
        <p:spPr>
          <a:xfrm flipV="1">
            <a:off x="3001748" y="5576074"/>
            <a:ext cx="0" cy="22348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3665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5CD6F-DC91-F32E-5C95-B6B49692F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B84A202-92BF-958A-799A-17717F2CC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164394-6BFB-C97F-7F1A-EC50D76E9D5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 err="1"/>
              <a:t>심판각론</a:t>
            </a:r>
            <a:r>
              <a:rPr lang="ko-KR" altLang="en-US" dirty="0"/>
              <a:t> 정리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5DAF05-27E8-D949-D76C-7916B5A7A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FE7C57-218E-255C-9663-EF9451CC9E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494</a:t>
            </a:r>
            <a:endParaRPr lang="ko-KR" altLang="en-US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86B9E67-0A7E-22D5-81AA-127CB358E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434427"/>
              </p:ext>
            </p:extLst>
          </p:nvPr>
        </p:nvGraphicFramePr>
        <p:xfrm>
          <a:off x="340659" y="1103545"/>
          <a:ext cx="11528613" cy="5479492"/>
        </p:xfrm>
        <a:graphic>
          <a:graphicData uri="http://schemas.openxmlformats.org/drawingml/2006/table">
            <a:tbl>
              <a:tblPr/>
              <a:tblGrid>
                <a:gridCol w="278338">
                  <a:extLst>
                    <a:ext uri="{9D8B030D-6E8A-4147-A177-3AD203B41FA5}">
                      <a16:colId xmlns:a16="http://schemas.microsoft.com/office/drawing/2014/main" val="3934749613"/>
                    </a:ext>
                  </a:extLst>
                </a:gridCol>
                <a:gridCol w="564344">
                  <a:extLst>
                    <a:ext uri="{9D8B030D-6E8A-4147-A177-3AD203B41FA5}">
                      <a16:colId xmlns:a16="http://schemas.microsoft.com/office/drawing/2014/main" val="173878342"/>
                    </a:ext>
                  </a:extLst>
                </a:gridCol>
                <a:gridCol w="2569213">
                  <a:extLst>
                    <a:ext uri="{9D8B030D-6E8A-4147-A177-3AD203B41FA5}">
                      <a16:colId xmlns:a16="http://schemas.microsoft.com/office/drawing/2014/main" val="1412896013"/>
                    </a:ext>
                  </a:extLst>
                </a:gridCol>
                <a:gridCol w="2420367">
                  <a:extLst>
                    <a:ext uri="{9D8B030D-6E8A-4147-A177-3AD203B41FA5}">
                      <a16:colId xmlns:a16="http://schemas.microsoft.com/office/drawing/2014/main" val="484685258"/>
                    </a:ext>
                  </a:extLst>
                </a:gridCol>
                <a:gridCol w="2580753">
                  <a:extLst>
                    <a:ext uri="{9D8B030D-6E8A-4147-A177-3AD203B41FA5}">
                      <a16:colId xmlns:a16="http://schemas.microsoft.com/office/drawing/2014/main" val="4509842"/>
                    </a:ext>
                  </a:extLst>
                </a:gridCol>
                <a:gridCol w="3115598">
                  <a:extLst>
                    <a:ext uri="{9D8B030D-6E8A-4147-A177-3AD203B41FA5}">
                      <a16:colId xmlns:a16="http://schemas.microsoft.com/office/drawing/2014/main" val="345234348"/>
                    </a:ext>
                  </a:extLst>
                </a:gridCol>
              </a:tblGrid>
              <a:tr h="6683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 도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거절결정불복심판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정정심판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정정심판</a:t>
                      </a: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1590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EBE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권리범위확인심판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741647"/>
                  </a:ext>
                </a:extLst>
              </a:tr>
              <a:tr h="129766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요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건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청구인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출원인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특허권자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특허권자</a:t>
                      </a: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0490" marR="17780" indent="-11049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적극적 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특허권자 또는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전용실시권자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10490" marR="17780" indent="-11049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6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6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소극적 </a:t>
                      </a:r>
                      <a:r>
                        <a:rPr lang="en-US" altLang="ko-KR" sz="1000" kern="0" spc="-6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1000" kern="0" spc="-6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실시한 적</a:t>
                      </a:r>
                      <a:r>
                        <a:rPr lang="en-US" altLang="ko-KR" sz="1000" kern="0" spc="-6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-6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하고 있거나 예정이 있는 이해관계인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823449"/>
                  </a:ext>
                </a:extLst>
              </a:tr>
              <a:tr h="1301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피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청구인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20000"/>
                        </a:lnSpc>
                        <a:buNone/>
                      </a:pPr>
                      <a:r>
                        <a:rPr 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0490" marR="17780" indent="-11049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적극적 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실시한 적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실시하고 있는 이해관계인</a:t>
                      </a:r>
                    </a:p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소극적 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특허권자 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733298"/>
                  </a:ext>
                </a:extLst>
              </a:tr>
              <a:tr h="3200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대상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거절결정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02870" marR="17780" indent="-10287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청구범위의 감축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잘못 기재된 사항의 정정 및 분명하지 아니하게 기재된 사항의 명확화 중 어느 하나</a:t>
                      </a:r>
                    </a:p>
                    <a:p>
                      <a:pPr marL="106680" marR="17780" indent="-10668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특허발명의 명세서ㆍ도면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잘못 기재된 사항의 정정은 최초 명세서ㆍ도면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10490" marR="17780" indent="-11049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청구범위를 실질적으로 확장하거나 변경하지 아니할 것</a:t>
                      </a:r>
                    </a:p>
                    <a:p>
                      <a:pPr marL="102870" marR="17780" indent="-10287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7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kern="0" spc="-7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청구범위의 감축</a:t>
                      </a:r>
                      <a:r>
                        <a:rPr lang="en-US" altLang="ko-KR" sz="1000" kern="0" spc="-7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7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잘못 기재된 사항의 정정은 정정 후의 청구범위에 적혀 있는 사항이 특허출원을 하였을 때 특허를 받을 수 있을 것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02870" marR="17780" indent="-10287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청구범위의 감축</a:t>
                      </a:r>
                      <a:r>
                        <a:rPr lang="en-US" altLang="ko-KR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잘못 기재된 사항의 정정 및 분명하지 아니하게 기재된 사항의 명확화 중 어느 하나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06680" marR="17780" indent="-10668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특허발명의 명세서ㆍ도면</a:t>
                      </a:r>
                      <a:r>
                        <a:rPr lang="en-US" altLang="ko-KR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잘못 기재된 사항의 정정은 최초 명세서ㆍ도면</a:t>
                      </a:r>
                      <a:r>
                        <a:rPr lang="en-US" altLang="ko-KR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10490" marR="17780" indent="-11049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청구범위를 실질적으로 확장하거나 변경하지 아니할 것</a:t>
                      </a:r>
                    </a:p>
                    <a:p>
                      <a:pPr marL="102870" marR="17780" indent="-10287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7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kern="0" spc="-7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청구범위의 감축</a:t>
                      </a:r>
                      <a:r>
                        <a:rPr lang="en-US" altLang="ko-KR" sz="1000" kern="0" spc="-7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7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잘못 기재된 사항의 정정은 정정 후의 청구범위에 적혀 있는 사항이 특허출원을 하였을 때 특허를 받을 수 있을 것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청구항마다 가능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0422445"/>
                  </a:ext>
                </a:extLst>
              </a:tr>
              <a:tr h="32007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시기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등본송달받은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날로부터 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개월 이내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연장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추후보완 가능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11760" marR="17780" indent="-11176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존속기간 중은 물론 장래를 향해 소멸한 경우도 가능</a:t>
                      </a:r>
                    </a:p>
                    <a:p>
                      <a:pPr marL="111760" marR="17780" indent="-11176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특허취소신청이 특허심판원에 계속 중인 때부터 그 결정이 확정될 때까지의 기간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정정무효심판의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심결에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대한 소가 특허법원에 계속 중인 경우에는 특허법원에서 변론이 종결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변론 없이 한 판결의 경우에는 판결의 선고를 말한다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된 날까지 가능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과 특허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정정무효심판이 특허심판원에 계속 중인 기간에는 불가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11760" marR="17780" indent="-11176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존속기간 중은 물론 장래를 향해 소멸한 경우도 가능</a:t>
                      </a:r>
                    </a:p>
                    <a:p>
                      <a:pPr marL="111760" marR="17780" indent="-11176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특허취소신청이 특허심판원에 계속 중인 때부터 그 결정이 확정될 때까지의 기간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특허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정정무효심판의 심결에 대한 소가 특허법원에 계속 중인 경우에는 특허법원에서 변론이 종결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변론 없이 한 판결의 경우에는 판결의 선고를 말한다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된 날까지 가능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과 특허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정정무효심판이 특허심판원에 계속 중인 기간에는 불가</a:t>
                      </a: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특허권 존속기간 중에만 가능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031585"/>
                  </a:ext>
                </a:extLst>
              </a:tr>
              <a:tr h="193450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절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출원일 및 출원번호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발명의 명칭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특허거절결정일을 추가 기재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정정한 명세서 또는 도면의 첨부</a:t>
                      </a:r>
                    </a:p>
                    <a:p>
                      <a:pPr marL="111760" marR="17780" indent="-11176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전용실시권자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허락에 의한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통상실시권자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직무발명에 대한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통상실시권자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및 질권자의 동의서를 첨부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동의받아야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하는 자가 무효심판청구한 경우 제외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정정한 명세서 또는 도면의 첨부</a:t>
                      </a:r>
                    </a:p>
                    <a:p>
                      <a:pPr marL="111760" marR="17780" indent="-11176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전용실시권자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허락에 의한 통상실시권자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직무발명에 대한 통상실시권자 및 질권자의 동의서를 첨부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동의받아야 하는 자가 무효심판청구한 경우 제외</a:t>
                      </a:r>
                      <a:r>
                        <a:rPr lang="en-US" altLang="ko-KR" sz="1000" kern="0" spc="-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9220" marR="17780" indent="-10922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확인대상발명의 설명서 및 필요한 도면의 첨부</a:t>
                      </a:r>
                    </a:p>
                    <a:p>
                      <a:pPr marL="115570" marR="17780" indent="-11557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부본 송달 및 답변서 제출기회 부여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017744"/>
                  </a:ext>
                </a:extLst>
              </a:tr>
              <a:tr h="2567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진행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0490" marR="17780" indent="-11049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7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7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보정각하도 함께 불복한 경우 심리범위 포함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10490" marR="17780" indent="-11049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심사에서 밟은 절차의</a:t>
                      </a:r>
                      <a:b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효력이 심판에도 미침</a:t>
                      </a:r>
                    </a:p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거절이유 전면적 심리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21920" marR="17780" indent="-12192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정정사유를 만족하는지 직권심리 후 의견서를 제출할 수 있는 기회 부여</a:t>
                      </a:r>
                    </a:p>
                    <a:p>
                      <a:pPr marL="116840" marR="17780" indent="-11684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심리종결통지 전까지 정정명세서 또는 도면의 보정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21920" marR="17780" indent="-12192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정정사유를 만족하는지</a:t>
                      </a:r>
                      <a:r>
                        <a:rPr lang="ko-KR" altLang="en-US" sz="10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직권심리 후 의견서를 제출할 수 있는 기회 부여</a:t>
                      </a:r>
                    </a:p>
                    <a:p>
                      <a:pPr marL="116840" marR="17780" indent="-11684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심리종결통지 전까지 정정명세서 또는 도면의 보정</a:t>
                      </a: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확인대상발명이 특허발명의 권리범위에 속하는지 심리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660938"/>
                  </a:ext>
                </a:extLst>
              </a:tr>
              <a:tr h="1934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종료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34620" marR="17780" indent="-13462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심판청구가 타당한 경우 원거절결정을 취소하고 자판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특허심결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또는 환송</a:t>
                      </a:r>
                    </a:p>
                    <a:p>
                      <a:pPr marL="110490" marR="17780" indent="-11049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환송 시 심사관의 기속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10490" marR="17780" indent="-11049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일부인용ㆍ기각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불가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일부인용ㆍ기각 불가</a:t>
                      </a:r>
                      <a:endParaRPr lang="ko-KR" altLang="en-US" sz="100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730" marR="17780" indent="-12573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심판청구가 타당하지 않은 경우 </a:t>
                      </a:r>
                      <a:r>
                        <a:rPr lang="ko-KR" altLang="en-US" sz="1000" kern="0" spc="-8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기각한다고 하여야 되며</a:t>
                      </a:r>
                      <a:r>
                        <a:rPr lang="en-US" altLang="ko-KR" sz="1000" kern="0" spc="-8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8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청구취지에 반하는 심결을 해서는 안됨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25730" marR="17780" indent="-12573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8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8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청구항별 취하 가능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5279463"/>
                  </a:ext>
                </a:extLst>
              </a:tr>
              <a:tr h="25676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효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과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인용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34620" marR="17780" indent="-13462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특허결정된 경우 특허료 내면 특허권 발생</a:t>
                      </a:r>
                    </a:p>
                    <a:p>
                      <a:pPr marL="166370" marR="17780" indent="-16637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연장등록결정된 경우 지식재산처장이 특허원부 등록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특허공보 게재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10490" marR="17780" indent="-11049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정정된 내용대로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출원ㆍ공개ㆍ결정ㆍ심결ㆍ등록된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것으로 간주</a:t>
                      </a:r>
                    </a:p>
                    <a:p>
                      <a:pPr marL="113030" marR="17780" indent="-11303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심판원장이 지식재산처장에게 알리면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지식재산처장이 특허공보에 게재</a:t>
                      </a:r>
                    </a:p>
                    <a:p>
                      <a:pPr marL="113030" marR="17780" indent="-11303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침해죄는 정정 전 청구범위 기준 판단</a:t>
                      </a:r>
                    </a:p>
                    <a:p>
                      <a:pPr marL="113030" marR="17780" indent="-11303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정정전후 과실 추정 불변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10490" marR="17780" indent="-11049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정정된 내용대로 </a:t>
                      </a:r>
                      <a:r>
                        <a:rPr lang="ko-KR" altLang="en-US" sz="1000" kern="0" spc="-50" dirty="0" err="1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출원ㆍ공개ㆍ결정ㆍ심결ㆍ등록된</a:t>
                      </a:r>
                      <a:r>
                        <a:rPr lang="ko-KR" altLang="en-US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것으로 간주</a:t>
                      </a: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13030" marR="17780" indent="-11303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심판원장이 지식재산처장에게 알리면</a:t>
                      </a:r>
                      <a:r>
                        <a:rPr lang="en-US" altLang="ko-KR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지식재산처장이 특허공보에 게재</a:t>
                      </a: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13030" marR="17780" indent="-11303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침해죄는 정정 전 청구범위 기준 판단</a:t>
                      </a: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13030" marR="17780" indent="-11303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정정전후 과실 추정 불변</a:t>
                      </a: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보호범위의 공적 확인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법원의 기속력 불인정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042748"/>
                  </a:ext>
                </a:extLst>
              </a:tr>
              <a:tr h="6683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기각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거절결정 확정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정정의 불인정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정정의 불인정</a:t>
                      </a: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636257"/>
                  </a:ext>
                </a:extLst>
              </a:tr>
              <a:tr h="6683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심판비용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청구인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패심자 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190656"/>
                  </a:ext>
                </a:extLst>
              </a:tr>
              <a:tr h="6683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일사부재리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부적용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적극적 권리범위확인심판과 소극적 권리범위확인심판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9635327"/>
                  </a:ext>
                </a:extLst>
              </a:tr>
              <a:tr h="6683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참가 여부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불허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정보제공 가능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허용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761950"/>
                  </a:ext>
                </a:extLst>
              </a:tr>
              <a:tr h="66830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 고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ko-KR" altLang="en-US" sz="10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000"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1590" cap="flat" cmpd="sng" algn="ctr">
                      <a:solidFill>
                        <a:srgbClr val="35879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04140" marR="17780" indent="-10414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정정심판과 특허취소신청</a:t>
                      </a:r>
                      <a:r>
                        <a:rPr lang="en-US" altLang="ko-KR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특허무효심판의 관계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권리 사이의 권리범위확인심판</a:t>
                      </a:r>
                    </a:p>
                  </a:txBody>
                  <a:tcPr marL="10639" marR="10639" marT="10639" marB="10639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447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57679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01A9C-9155-00E8-B4F3-C6DD639C9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0BD117E-26FB-E731-0BF1-63AB0599C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B78E895-65AD-67E7-5F60-AA1FCBB0F6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 err="1"/>
              <a:t>심판각론</a:t>
            </a:r>
            <a:r>
              <a:rPr lang="ko-KR" altLang="en-US" dirty="0"/>
              <a:t> 정리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EA3429-F0FD-9F85-97E1-19B9880B8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ECC019-071E-46A9-8F94-38254274CE5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494</a:t>
            </a:r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66977E43-7C48-18E2-9B6B-8A6B3C2512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1728977"/>
              </p:ext>
            </p:extLst>
          </p:nvPr>
        </p:nvGraphicFramePr>
        <p:xfrm>
          <a:off x="331694" y="1093632"/>
          <a:ext cx="11528612" cy="5502948"/>
        </p:xfrm>
        <a:graphic>
          <a:graphicData uri="http://schemas.openxmlformats.org/drawingml/2006/table">
            <a:tbl>
              <a:tblPr/>
              <a:tblGrid>
                <a:gridCol w="302682">
                  <a:extLst>
                    <a:ext uri="{9D8B030D-6E8A-4147-A177-3AD203B41FA5}">
                      <a16:colId xmlns:a16="http://schemas.microsoft.com/office/drawing/2014/main" val="2244661496"/>
                    </a:ext>
                  </a:extLst>
                </a:gridCol>
                <a:gridCol w="531036">
                  <a:extLst>
                    <a:ext uri="{9D8B030D-6E8A-4147-A177-3AD203B41FA5}">
                      <a16:colId xmlns:a16="http://schemas.microsoft.com/office/drawing/2014/main" val="1791577908"/>
                    </a:ext>
                  </a:extLst>
                </a:gridCol>
                <a:gridCol w="3323704">
                  <a:extLst>
                    <a:ext uri="{9D8B030D-6E8A-4147-A177-3AD203B41FA5}">
                      <a16:colId xmlns:a16="http://schemas.microsoft.com/office/drawing/2014/main" val="107403720"/>
                    </a:ext>
                  </a:extLst>
                </a:gridCol>
                <a:gridCol w="2631598">
                  <a:extLst>
                    <a:ext uri="{9D8B030D-6E8A-4147-A177-3AD203B41FA5}">
                      <a16:colId xmlns:a16="http://schemas.microsoft.com/office/drawing/2014/main" val="4155811053"/>
                    </a:ext>
                  </a:extLst>
                </a:gridCol>
                <a:gridCol w="1855213">
                  <a:extLst>
                    <a:ext uri="{9D8B030D-6E8A-4147-A177-3AD203B41FA5}">
                      <a16:colId xmlns:a16="http://schemas.microsoft.com/office/drawing/2014/main" val="1240283449"/>
                    </a:ext>
                  </a:extLst>
                </a:gridCol>
                <a:gridCol w="2884379">
                  <a:extLst>
                    <a:ext uri="{9D8B030D-6E8A-4147-A177-3AD203B41FA5}">
                      <a16:colId xmlns:a16="http://schemas.microsoft.com/office/drawing/2014/main" val="2971000449"/>
                    </a:ext>
                  </a:extLst>
                </a:gridCol>
              </a:tblGrid>
              <a:tr h="12300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 도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특허무효심판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연장등록무효심판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정정무효심판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통상실시권허락심판</a:t>
                      </a:r>
                      <a:endParaRPr lang="ko-KR" altLang="en-US" sz="1000" kern="0" spc="-1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558414"/>
                  </a:ext>
                </a:extLst>
              </a:tr>
              <a:tr h="230753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요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건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청구인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2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이해관계인</a:t>
                      </a:r>
                      <a:r>
                        <a:rPr lang="en-US" altLang="ko-KR" sz="1000" kern="0" spc="-12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12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00" kern="0" spc="-12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00" kern="0" spc="-12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호 본문의 경우 특허를 받을 수 있는 권리를 가진 자</a:t>
                      </a:r>
                      <a:r>
                        <a:rPr lang="en-US" altLang="ko-KR" sz="1000" kern="0" spc="-12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kern="0" spc="-12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또는</a:t>
                      </a:r>
                      <a:endParaRPr lang="en-US" altLang="ko-KR" sz="1000" kern="0" spc="-12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2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심사관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이해관계인 또는 심사관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29540" marR="17780" indent="-12954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일반적 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후출원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특허권자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전용실시권자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통상실시권자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25730" marR="17780" indent="-12573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크로스 라이선스 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통상실시권을 허락한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선출원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권리자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389145"/>
                  </a:ext>
                </a:extLst>
              </a:tr>
              <a:tr h="44625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피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청구인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특허권자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129540" marR="17780" indent="-12954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일반적 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선출원 특허권자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전용실시권자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실용실안권자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디자인권자</a:t>
                      </a:r>
                    </a:p>
                    <a:p>
                      <a:pPr marL="109220" marR="17780" indent="-10922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크로스 라이선스 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통상실시권을 허락받은 후출원 특허권자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전용실시권자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662278"/>
                  </a:ext>
                </a:extLst>
              </a:tr>
              <a:tr h="5540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대상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청구항마다 특허무효사유에 해당함을 이유로 청구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허가 등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등록지연에 따른 연장등록이 연장등록무효사유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거절이유와 동일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해당함을 이유로 청구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KoPub바탕체 Medium" panose="02020603020101020101" pitchFamily="18" charset="-127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특허취소신청에서의 정정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특허무효심판 또는 정정무효심판에서의 정정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정정심판에서의 정정이 정정무효사유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정정사유와 동일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해당함을 이유로 청구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이용ㆍ저촉관계</a:t>
                      </a:r>
                    </a:p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실시허락 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00330" marR="17780" indent="-10033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자기의 특허발명의 실시에 필요한 범위 이내일 것</a:t>
                      </a:r>
                    </a:p>
                    <a:p>
                      <a:pPr marL="100330" marR="17780" indent="-10033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선출원된 타인의 특허발명 또는 등록실용신안과 비교하여 기술상의 진보가 있을 것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161457"/>
                  </a:ext>
                </a:extLst>
              </a:tr>
              <a:tr h="1230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시기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존속기간 중은 물론 장래를 향해 소멸한 경우도 가능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타방 권리 존속 중에만 가능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289380"/>
                  </a:ext>
                </a:extLst>
              </a:tr>
              <a:tr h="338504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절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부본 송달 및 답변서 제출기회 부여</a:t>
                      </a:r>
                    </a:p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등록한 권리자에게 취지 통지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115570" marR="17780" indent="-11557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청구서에 자기의 권리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타인의 권리 특정과 범위ㆍ기간ㆍ대가의 추가 기재</a:t>
                      </a:r>
                    </a:p>
                    <a:p>
                      <a:pPr marL="107950" marR="17780" indent="-10795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부본 송달 및 답변서 제출기회 부여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1092236"/>
                  </a:ext>
                </a:extLst>
              </a:tr>
              <a:tr h="2307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진행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7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신청한 청구항에 대해서 특허무효사유가 있는지 심리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연장등록무효사유가 있는지 심리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KoPub바탕체 Medium" panose="02020603020101020101" pitchFamily="18" charset="-127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정정무효사유가 있는지 심리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이용ㆍ저촉관계에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있는지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기술적 진보 여부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범위ㆍ기간ㆍ대가ㆍ지급시기ㆍ지급방법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등에 관해 심리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9643767"/>
                  </a:ext>
                </a:extLst>
              </a:tr>
              <a:tr h="2307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종료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30810" marR="17780" indent="-13081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청구항마다 일부인용ㆍ기각 가능</a:t>
                      </a:r>
                    </a:p>
                    <a:p>
                      <a:pPr marL="130810" marR="17780" indent="-13081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청구항별 취하 가능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30810" marR="17780" indent="-130810" algn="l" fontAlgn="base" latinLnBrk="1">
                        <a:lnSpc>
                          <a:spcPct val="100000"/>
                        </a:lnSpc>
                        <a:buNone/>
                      </a:pP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KoPub바탕체 Medium" panose="02020603020101020101" pitchFamily="18" charset="-127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endParaRPr lang="ko-KR" altLang="en-US" sz="10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심결의 주문에 통상실시권의 범위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기간 및 대가를 구체적으로 명시하여 인용심결</a:t>
                      </a:r>
                      <a:endParaRPr lang="ko-KR" altLang="en-US" sz="10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146972"/>
                  </a:ext>
                </a:extLst>
              </a:tr>
              <a:tr h="661758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효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과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인용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특허권이 처음부터 없었던 것으로 간주</a:t>
                      </a:r>
                      <a:endParaRPr lang="en-US" altLang="ko-KR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후발적 무효사유는 발생 시부터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장래효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13030" marR="17780" indent="-11303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연장등록이 처음부터 없었던 것으로 간주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연장기간을 초과하여 등록된 경우에는 초과된 기간에 대해서만 연장등록 불인정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25413" marR="17780" indent="-125413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하나의 허가 등에 대하여 둘 이상의 특허권의 존속기간이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연장등록된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경우 존속기간의 연장등록출원은 처음부터 없었던 것으로 간주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KoPub바탕체 Medium" panose="02020603020101020101" pitchFamily="18" charset="-127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정정이 처음부터 없었던 것으로 간주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통상실시권 허락</a:t>
                      </a:r>
                    </a:p>
                    <a:p>
                      <a:pPr marL="110490" marR="17780" indent="-11049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실시권은 해당 특허권과 함께 이전하며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함께 소멸</a:t>
                      </a:r>
                    </a:p>
                    <a:p>
                      <a:pPr marL="110490" marR="17780" indent="-11049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대가 지급하지 않거나 공탁하지 않으면 실시불가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812216"/>
                  </a:ext>
                </a:extLst>
              </a:tr>
              <a:tr h="1230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기각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7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특허권의 유지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연장등록의 유지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KoPub바탕체 Medium" panose="02020603020101020101" pitchFamily="18" charset="-127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정정의 유지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통상실시권 불허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3647450"/>
                  </a:ext>
                </a:extLst>
              </a:tr>
              <a:tr h="12300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심판비용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패심자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청구인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8060126"/>
                  </a:ext>
                </a:extLst>
              </a:tr>
              <a:tr h="136696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일사부재리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전부무효심판과 일부무효심판</a:t>
                      </a:r>
                      <a:r>
                        <a:rPr lang="en-US" altLang="ko-KR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3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적용</a:t>
                      </a: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929932"/>
                  </a:ext>
                </a:extLst>
              </a:tr>
              <a:tr h="12300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참가 여부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허용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보조 참가만이 허용</a:t>
                      </a:r>
                      <a:endParaRPr lang="ko-KR" altLang="en-US" sz="1000" kern="0" spc="-50">
                        <a:solidFill>
                          <a:schemeClr val="tx1"/>
                        </a:solidFill>
                        <a:effectLst/>
                        <a:latin typeface="KoPub바탕체 Medium" panose="02020603020101020101" pitchFamily="18" charset="-127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688056"/>
                  </a:ext>
                </a:extLst>
              </a:tr>
              <a:tr h="446256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 고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1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특허무효심판이 심판원에 계속 중 정정청구 가능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20000"/>
                        </a:lnSpc>
                        <a:buNone/>
                      </a:pPr>
                      <a:endParaRPr lang="ko-KR" altLang="en-US" sz="1000" kern="0" spc="-50" dirty="0">
                        <a:solidFill>
                          <a:srgbClr val="000000"/>
                        </a:solidFill>
                        <a:effectLst/>
                        <a:latin typeface="KoPub바탕체 Medium" panose="02020603020101020101" pitchFamily="18" charset="-127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정정무효심판이 심판원에 계속 중 정정청구 가능</a:t>
                      </a: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5730" marR="17780" indent="-125730" algn="l" fontAlgn="base" latinLnBrk="1">
                        <a:lnSpc>
                          <a:spcPct val="100000"/>
                        </a:lnSpc>
                        <a:buNone/>
                      </a:pP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크로스 라이선스 요건 </a:t>
                      </a:r>
                    </a:p>
                    <a:p>
                      <a:pPr marL="85090" marR="17780" indent="-85090" algn="l" fontAlgn="base" latinLnBrk="0">
                        <a:lnSpc>
                          <a:spcPct val="100000"/>
                        </a:lnSpc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통상실시권허락심판에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의하여 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실시권허락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후출원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권리자가 실시허락</a:t>
                      </a: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×</a:t>
                      </a:r>
                    </a:p>
                    <a:p>
                      <a:pPr marL="17780" marR="17780" indent="0" algn="l" fontAlgn="base" latinLnBrk="1">
                        <a:lnSpc>
                          <a:spcPct val="100000"/>
                        </a:lnSpc>
                        <a:buFontTx/>
                        <a:buNone/>
                      </a:pPr>
                      <a:r>
                        <a:rPr lang="en-US" altLang="ko-KR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00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허락받아</a:t>
                      </a:r>
                      <a:r>
                        <a:rPr lang="ko-KR" altLang="en-US" sz="100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실시하려는 특허발명의 범위 이내일 것</a:t>
                      </a:r>
                      <a:endParaRPr lang="ko-KR" altLang="en-US" sz="1000" kern="0" spc="-50" dirty="0">
                        <a:solidFill>
                          <a:schemeClr val="tx1"/>
                        </a:solidFill>
                        <a:effectLst/>
                        <a:latin typeface="KoPub바탕체 Medium" panose="02020603020101020101" pitchFamily="18" charset="-127"/>
                      </a:endParaRPr>
                    </a:p>
                  </a:txBody>
                  <a:tcPr marL="10785" marR="10785" marT="10785" marB="10785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07379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0525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2~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특허취소신청 </a:t>
            </a:r>
            <a:r>
              <a:rPr lang="en-US" altLang="ko-KR" dirty="0"/>
              <a:t>vs </a:t>
            </a:r>
            <a:r>
              <a:rPr lang="ko-KR" altLang="en-US" dirty="0"/>
              <a:t>특허무효심판</a:t>
            </a:r>
          </a:p>
        </p:txBody>
      </p:sp>
      <p:sp>
        <p:nvSpPr>
          <p:cNvPr id="20" name="Line 5"/>
          <p:cNvSpPr>
            <a:spLocks noChangeShapeType="1"/>
          </p:cNvSpPr>
          <p:nvPr/>
        </p:nvSpPr>
        <p:spPr bwMode="auto">
          <a:xfrm>
            <a:off x="404862" y="2177522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69308" y="2682036"/>
            <a:ext cx="1266940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설정등록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1968199" y="20864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3" name="직선 화살표 연결선 32"/>
          <p:cNvCxnSpPr>
            <a:stCxn id="34" idx="2"/>
            <a:endCxn id="32" idx="0"/>
          </p:cNvCxnSpPr>
          <p:nvPr/>
        </p:nvCxnSpPr>
        <p:spPr>
          <a:xfrm flipH="1">
            <a:off x="2045568" y="1863509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412099" y="1397000"/>
            <a:ext cx="1266940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특허취소신청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누구든지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40" name="타원 39"/>
          <p:cNvSpPr/>
          <p:nvPr/>
        </p:nvSpPr>
        <p:spPr>
          <a:xfrm>
            <a:off x="1030595" y="20864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3" name="직선 화살표 연결선 12"/>
          <p:cNvCxnSpPr>
            <a:stCxn id="28" idx="0"/>
            <a:endCxn id="40" idx="4"/>
          </p:cNvCxnSpPr>
          <p:nvPr/>
        </p:nvCxnSpPr>
        <p:spPr>
          <a:xfrm flipV="1">
            <a:off x="1102778" y="2247763"/>
            <a:ext cx="5186" cy="43427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2895600" y="1863509"/>
            <a:ext cx="0" cy="97092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102778" y="2576965"/>
            <a:ext cx="1792822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272402" y="2191439"/>
            <a:ext cx="1575392" cy="4665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등록공고일후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6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월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1" name="타원 50"/>
          <p:cNvSpPr/>
          <p:nvPr/>
        </p:nvSpPr>
        <p:spPr>
          <a:xfrm>
            <a:off x="2822394" y="20864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592626" y="2682036"/>
            <a:ext cx="1266940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심리개시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서면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53" name="타원 52"/>
          <p:cNvSpPr/>
          <p:nvPr/>
        </p:nvSpPr>
        <p:spPr>
          <a:xfrm>
            <a:off x="4153913" y="20864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4" name="직선 화살표 연결선 53"/>
          <p:cNvCxnSpPr>
            <a:stCxn id="52" idx="0"/>
            <a:endCxn id="53" idx="4"/>
          </p:cNvCxnSpPr>
          <p:nvPr/>
        </p:nvCxnSpPr>
        <p:spPr>
          <a:xfrm flipV="1">
            <a:off x="4226096" y="2247763"/>
            <a:ext cx="5186" cy="43427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3592626" y="3441700"/>
            <a:ext cx="1266940" cy="4251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기각결정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0" name="직선 화살표 연결선 49"/>
          <p:cNvCxnSpPr>
            <a:stCxn id="52" idx="2"/>
            <a:endCxn id="56" idx="0"/>
          </p:cNvCxnSpPr>
          <p:nvPr/>
        </p:nvCxnSpPr>
        <p:spPr>
          <a:xfrm>
            <a:off x="4226096" y="3148545"/>
            <a:ext cx="0" cy="29315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402121" y="3171764"/>
            <a:ext cx="906530" cy="2826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취소사유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×</a:t>
            </a:r>
          </a:p>
        </p:txBody>
      </p:sp>
      <p:sp>
        <p:nvSpPr>
          <p:cNvPr id="60" name="타원 59"/>
          <p:cNvSpPr/>
          <p:nvPr/>
        </p:nvSpPr>
        <p:spPr>
          <a:xfrm>
            <a:off x="5827309" y="20864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7" name="꺾인 연결선 56"/>
          <p:cNvCxnSpPr>
            <a:stCxn id="52" idx="3"/>
            <a:endCxn id="60" idx="4"/>
          </p:cNvCxnSpPr>
          <p:nvPr/>
        </p:nvCxnSpPr>
        <p:spPr>
          <a:xfrm flipV="1">
            <a:off x="4859566" y="2247763"/>
            <a:ext cx="1045112" cy="66752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4755127" y="2678932"/>
            <a:ext cx="1354868" cy="4224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취소사유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○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특허권자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관여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cxnSp>
        <p:nvCxnSpPr>
          <p:cNvPr id="65" name="직선 화살표 연결선 64"/>
          <p:cNvCxnSpPr>
            <a:stCxn id="66" idx="2"/>
          </p:cNvCxnSpPr>
          <p:nvPr/>
        </p:nvCxnSpPr>
        <p:spPr>
          <a:xfrm>
            <a:off x="5904678" y="1863509"/>
            <a:ext cx="0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129156" y="1397000"/>
            <a:ext cx="1551044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 기회 부여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취소증거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추가 不可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6949790" y="2682036"/>
            <a:ext cx="1266940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심판관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취소결정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승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71" name="타원 70"/>
          <p:cNvSpPr/>
          <p:nvPr/>
        </p:nvSpPr>
        <p:spPr>
          <a:xfrm>
            <a:off x="7511077" y="20864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2" name="직선 화살표 연결선 71"/>
          <p:cNvCxnSpPr>
            <a:stCxn id="70" idx="0"/>
            <a:endCxn id="71" idx="4"/>
          </p:cNvCxnSpPr>
          <p:nvPr/>
        </p:nvCxnSpPr>
        <p:spPr>
          <a:xfrm flipV="1">
            <a:off x="7583260" y="2247763"/>
            <a:ext cx="5186" cy="43427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타원 73"/>
          <p:cNvSpPr/>
          <p:nvPr/>
        </p:nvSpPr>
        <p:spPr>
          <a:xfrm>
            <a:off x="8974380" y="20864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5" name="직선 화살표 연결선 74"/>
          <p:cNvCxnSpPr>
            <a:stCxn id="76" idx="2"/>
          </p:cNvCxnSpPr>
          <p:nvPr/>
        </p:nvCxnSpPr>
        <p:spPr>
          <a:xfrm>
            <a:off x="9051749" y="1863509"/>
            <a:ext cx="0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8276227" y="1397000"/>
            <a:ext cx="1551044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취소결정에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대한 소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지식재산처장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피고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58591" y="2682036"/>
            <a:ext cx="1266940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소송수행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지식재산처장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78" name="타원 77"/>
          <p:cNvSpPr/>
          <p:nvPr/>
        </p:nvSpPr>
        <p:spPr>
          <a:xfrm>
            <a:off x="10419878" y="2086425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9" name="직선 화살표 연결선 78"/>
          <p:cNvCxnSpPr>
            <a:stCxn id="77" idx="0"/>
            <a:endCxn id="78" idx="4"/>
          </p:cNvCxnSpPr>
          <p:nvPr/>
        </p:nvCxnSpPr>
        <p:spPr>
          <a:xfrm flipV="1">
            <a:off x="10492061" y="2247763"/>
            <a:ext cx="5186" cy="43427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1" name="모서리가 둥근 직사각형 7170"/>
          <p:cNvSpPr/>
          <p:nvPr/>
        </p:nvSpPr>
        <p:spPr>
          <a:xfrm>
            <a:off x="279400" y="1028700"/>
            <a:ext cx="751195" cy="673100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취소</a:t>
            </a:r>
            <a:endParaRPr lang="en-US" altLang="ko-KR" dirty="0"/>
          </a:p>
          <a:p>
            <a:pPr algn="ctr"/>
            <a:r>
              <a:rPr lang="ko-KR" altLang="en-US" dirty="0"/>
              <a:t>신청</a:t>
            </a:r>
          </a:p>
        </p:txBody>
      </p:sp>
      <p:cxnSp>
        <p:nvCxnSpPr>
          <p:cNvPr id="81" name="직선 연결선 80"/>
          <p:cNvCxnSpPr/>
          <p:nvPr/>
        </p:nvCxnSpPr>
        <p:spPr>
          <a:xfrm flipH="1">
            <a:off x="336431" y="3887140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Line 5"/>
          <p:cNvSpPr>
            <a:spLocks noChangeShapeType="1"/>
          </p:cNvSpPr>
          <p:nvPr/>
        </p:nvSpPr>
        <p:spPr bwMode="auto">
          <a:xfrm>
            <a:off x="404862" y="5290326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69308" y="5794840"/>
            <a:ext cx="1266940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설정등록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5" name="타원 84"/>
          <p:cNvSpPr/>
          <p:nvPr/>
        </p:nvSpPr>
        <p:spPr>
          <a:xfrm>
            <a:off x="1968199" y="51992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6" name="직선 화살표 연결선 85"/>
          <p:cNvCxnSpPr>
            <a:stCxn id="87" idx="2"/>
            <a:endCxn id="85" idx="0"/>
          </p:cNvCxnSpPr>
          <p:nvPr/>
        </p:nvCxnSpPr>
        <p:spPr>
          <a:xfrm flipH="1">
            <a:off x="2045568" y="4976313"/>
            <a:ext cx="1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/>
          <p:cNvSpPr txBox="1"/>
          <p:nvPr/>
        </p:nvSpPr>
        <p:spPr>
          <a:xfrm>
            <a:off x="1412099" y="4509804"/>
            <a:ext cx="1266940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무효심판청구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이해관계인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88" name="타원 87"/>
          <p:cNvSpPr/>
          <p:nvPr/>
        </p:nvSpPr>
        <p:spPr>
          <a:xfrm>
            <a:off x="1030595" y="51992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9" name="직선 화살표 연결선 88"/>
          <p:cNvCxnSpPr>
            <a:stCxn id="84" idx="0"/>
            <a:endCxn id="88" idx="4"/>
          </p:cNvCxnSpPr>
          <p:nvPr/>
        </p:nvCxnSpPr>
        <p:spPr>
          <a:xfrm flipV="1">
            <a:off x="1102778" y="5360567"/>
            <a:ext cx="5186" cy="43427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/>
          <p:nvPr/>
        </p:nvCxnSpPr>
        <p:spPr>
          <a:xfrm>
            <a:off x="1102778" y="5689769"/>
            <a:ext cx="1792822" cy="0"/>
          </a:xfrm>
          <a:prstGeom prst="line">
            <a:avLst/>
          </a:prstGeom>
          <a:ln w="127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/>
          <p:cNvSpPr txBox="1"/>
          <p:nvPr/>
        </p:nvSpPr>
        <p:spPr>
          <a:xfrm>
            <a:off x="1272402" y="5304243"/>
            <a:ext cx="1575392" cy="4665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존속 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장래소멸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592626" y="5794840"/>
            <a:ext cx="1266940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심리개시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구술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서면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95" name="타원 94"/>
          <p:cNvSpPr/>
          <p:nvPr/>
        </p:nvSpPr>
        <p:spPr>
          <a:xfrm>
            <a:off x="4153913" y="51992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6" name="직선 화살표 연결선 95"/>
          <p:cNvCxnSpPr>
            <a:stCxn id="94" idx="0"/>
            <a:endCxn id="95" idx="4"/>
          </p:cNvCxnSpPr>
          <p:nvPr/>
        </p:nvCxnSpPr>
        <p:spPr>
          <a:xfrm flipV="1">
            <a:off x="4226096" y="5360567"/>
            <a:ext cx="5186" cy="43427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타원 96"/>
          <p:cNvSpPr/>
          <p:nvPr/>
        </p:nvSpPr>
        <p:spPr>
          <a:xfrm>
            <a:off x="5827309" y="51992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1" name="직선 화살표 연결선 100"/>
          <p:cNvCxnSpPr>
            <a:stCxn id="102" idx="2"/>
          </p:cNvCxnSpPr>
          <p:nvPr/>
        </p:nvCxnSpPr>
        <p:spPr>
          <a:xfrm>
            <a:off x="5904678" y="4976313"/>
            <a:ext cx="0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5129156" y="4509804"/>
            <a:ext cx="1551044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 기회 부여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무효증거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추가 가능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6949790" y="5794840"/>
            <a:ext cx="1266940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심판관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무효심결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승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04" name="타원 103"/>
          <p:cNvSpPr/>
          <p:nvPr/>
        </p:nvSpPr>
        <p:spPr>
          <a:xfrm>
            <a:off x="7511077" y="51992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5" name="직선 화살표 연결선 104"/>
          <p:cNvCxnSpPr>
            <a:stCxn id="103" idx="0"/>
            <a:endCxn id="104" idx="4"/>
          </p:cNvCxnSpPr>
          <p:nvPr/>
        </p:nvCxnSpPr>
        <p:spPr>
          <a:xfrm flipV="1">
            <a:off x="7583260" y="5360567"/>
            <a:ext cx="5186" cy="43427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타원 105"/>
          <p:cNvSpPr/>
          <p:nvPr/>
        </p:nvSpPr>
        <p:spPr>
          <a:xfrm>
            <a:off x="8974380" y="51992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7" name="직선 화살표 연결선 106"/>
          <p:cNvCxnSpPr>
            <a:stCxn id="108" idx="2"/>
          </p:cNvCxnSpPr>
          <p:nvPr/>
        </p:nvCxnSpPr>
        <p:spPr>
          <a:xfrm>
            <a:off x="9051749" y="4976313"/>
            <a:ext cx="0" cy="2229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8276227" y="4509804"/>
            <a:ext cx="1551044" cy="46650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무효심결에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대한 소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피고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858591" y="5794840"/>
            <a:ext cx="1266940" cy="4665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소송수행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</a:p>
        </p:txBody>
      </p:sp>
      <p:sp>
        <p:nvSpPr>
          <p:cNvPr id="110" name="타원 109"/>
          <p:cNvSpPr/>
          <p:nvPr/>
        </p:nvSpPr>
        <p:spPr>
          <a:xfrm>
            <a:off x="10419878" y="5199229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1" name="직선 화살표 연결선 110"/>
          <p:cNvCxnSpPr>
            <a:stCxn id="109" idx="0"/>
            <a:endCxn id="110" idx="4"/>
          </p:cNvCxnSpPr>
          <p:nvPr/>
        </p:nvCxnSpPr>
        <p:spPr>
          <a:xfrm flipV="1">
            <a:off x="10492061" y="5360567"/>
            <a:ext cx="5186" cy="43427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모서리가 둥근 직사각형 111"/>
          <p:cNvSpPr/>
          <p:nvPr/>
        </p:nvSpPr>
        <p:spPr>
          <a:xfrm>
            <a:off x="279400" y="4141504"/>
            <a:ext cx="751195" cy="673100"/>
          </a:xfrm>
          <a:prstGeom prst="roundRect">
            <a:avLst/>
          </a:prstGeom>
          <a:solidFill>
            <a:schemeClr val="accent4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무효</a:t>
            </a:r>
            <a:endParaRPr lang="en-US" altLang="ko-KR" dirty="0"/>
          </a:p>
          <a:p>
            <a:pPr algn="ctr"/>
            <a:r>
              <a:rPr lang="ko-KR" altLang="en-US" dirty="0"/>
              <a:t>심판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496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897066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85" name="직선 연결선 7184">
            <a:extLst>
              <a:ext uri="{FF2B5EF4-FFF2-40B4-BE49-F238E27FC236}">
                <a16:creationId xmlns:a16="http://schemas.microsoft.com/office/drawing/2014/main" id="{D544153B-4557-45E7-B47E-898EFB317BE6}"/>
              </a:ext>
            </a:extLst>
          </p:cNvPr>
          <p:cNvCxnSpPr/>
          <p:nvPr/>
        </p:nvCxnSpPr>
        <p:spPr>
          <a:xfrm>
            <a:off x="8219657" y="838268"/>
            <a:ext cx="0" cy="5712643"/>
          </a:xfrm>
          <a:prstGeom prst="line">
            <a:avLst/>
          </a:prstGeom>
          <a:ln w="12700">
            <a:solidFill>
              <a:schemeClr val="accent2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74" name="직사각형 7173">
            <a:extLst>
              <a:ext uri="{FF2B5EF4-FFF2-40B4-BE49-F238E27FC236}">
                <a16:creationId xmlns:a16="http://schemas.microsoft.com/office/drawing/2014/main" id="{C4A702BA-4018-4751-BCBF-BBA66D807327}"/>
              </a:ext>
            </a:extLst>
          </p:cNvPr>
          <p:cNvSpPr/>
          <p:nvPr/>
        </p:nvSpPr>
        <p:spPr>
          <a:xfrm>
            <a:off x="9667757" y="3744525"/>
            <a:ext cx="177114" cy="1908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78" name="직사각형 7177">
            <a:extLst>
              <a:ext uri="{FF2B5EF4-FFF2-40B4-BE49-F238E27FC236}">
                <a16:creationId xmlns:a16="http://schemas.microsoft.com/office/drawing/2014/main" id="{33748893-04F7-4503-9B97-2ECD8B336EFD}"/>
              </a:ext>
            </a:extLst>
          </p:cNvPr>
          <p:cNvSpPr/>
          <p:nvPr/>
        </p:nvSpPr>
        <p:spPr>
          <a:xfrm>
            <a:off x="5842897" y="3051098"/>
            <a:ext cx="3868222" cy="15089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27B78BE1-1F0A-4935-88F3-0EB82724F8D7}"/>
              </a:ext>
            </a:extLst>
          </p:cNvPr>
          <p:cNvCxnSpPr/>
          <p:nvPr/>
        </p:nvCxnSpPr>
        <p:spPr>
          <a:xfrm flipV="1">
            <a:off x="8772442" y="3873432"/>
            <a:ext cx="0" cy="171940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938D899-074E-4238-B445-FC7C2579985A}"/>
              </a:ext>
            </a:extLst>
          </p:cNvPr>
          <p:cNvSpPr/>
          <p:nvPr/>
        </p:nvSpPr>
        <p:spPr>
          <a:xfrm>
            <a:off x="1294055" y="1328466"/>
            <a:ext cx="4354903" cy="4600276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2~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특허취소신청의 절차</a:t>
            </a:r>
          </a:p>
        </p:txBody>
      </p:sp>
      <p:cxnSp>
        <p:nvCxnSpPr>
          <p:cNvPr id="81" name="직선 연결선 80"/>
          <p:cNvCxnSpPr>
            <a:cxnSpLocks/>
          </p:cNvCxnSpPr>
          <p:nvPr/>
        </p:nvCxnSpPr>
        <p:spPr>
          <a:xfrm flipH="1">
            <a:off x="440937" y="3873432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497</a:t>
            </a:r>
            <a:endParaRPr lang="ko-KR" altLang="en-US" dirty="0"/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C9DC8ECC-2340-4ABB-98A6-C5CE5E7F9322}"/>
              </a:ext>
            </a:extLst>
          </p:cNvPr>
          <p:cNvCxnSpPr/>
          <p:nvPr/>
        </p:nvCxnSpPr>
        <p:spPr>
          <a:xfrm flipH="1">
            <a:off x="440937" y="1826109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F1F2E47E-DC84-466C-9DCC-C37A3DA64AE1}"/>
              </a:ext>
            </a:extLst>
          </p:cNvPr>
          <p:cNvCxnSpPr/>
          <p:nvPr/>
        </p:nvCxnSpPr>
        <p:spPr>
          <a:xfrm flipH="1">
            <a:off x="440937" y="5592833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모서리가 둥근 직사각형 7170">
            <a:extLst>
              <a:ext uri="{FF2B5EF4-FFF2-40B4-BE49-F238E27FC236}">
                <a16:creationId xmlns:a16="http://schemas.microsoft.com/office/drawing/2014/main" id="{44401AF0-EDD6-485C-B868-BD1533BA66B7}"/>
              </a:ext>
            </a:extLst>
          </p:cNvPr>
          <p:cNvSpPr/>
          <p:nvPr/>
        </p:nvSpPr>
        <p:spPr>
          <a:xfrm>
            <a:off x="229997" y="3544228"/>
            <a:ext cx="751195" cy="673096"/>
          </a:xfrm>
          <a:prstGeom prst="roundRect">
            <a:avLst>
              <a:gd name="adj" fmla="val 32073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dirty="0"/>
              <a:t>지식재산처장</a:t>
            </a:r>
          </a:p>
        </p:txBody>
      </p:sp>
      <p:sp>
        <p:nvSpPr>
          <p:cNvPr id="69" name="모서리가 둥근 직사각형 7170">
            <a:extLst>
              <a:ext uri="{FF2B5EF4-FFF2-40B4-BE49-F238E27FC236}">
                <a16:creationId xmlns:a16="http://schemas.microsoft.com/office/drawing/2014/main" id="{CCBD624E-0C21-44C0-A9E4-4CE17E323FC8}"/>
              </a:ext>
            </a:extLst>
          </p:cNvPr>
          <p:cNvSpPr/>
          <p:nvPr/>
        </p:nvSpPr>
        <p:spPr>
          <a:xfrm>
            <a:off x="229997" y="5256285"/>
            <a:ext cx="751195" cy="673096"/>
          </a:xfrm>
          <a:prstGeom prst="roundRect">
            <a:avLst>
              <a:gd name="adj" fmla="val 33473"/>
            </a:avLst>
          </a:prstGeom>
          <a:solidFill>
            <a:schemeClr val="accent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dirty="0"/>
              <a:t>특허권자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2172051-D881-402C-A6B0-6115AB883588}"/>
              </a:ext>
            </a:extLst>
          </p:cNvPr>
          <p:cNvSpPr/>
          <p:nvPr/>
        </p:nvSpPr>
        <p:spPr>
          <a:xfrm>
            <a:off x="1066038" y="3544226"/>
            <a:ext cx="480767" cy="673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설정등록</a:t>
            </a: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BE1AE111-1C4B-411F-9607-A20FAA44B48F}"/>
              </a:ext>
            </a:extLst>
          </p:cNvPr>
          <p:cNvSpPr/>
          <p:nvPr/>
        </p:nvSpPr>
        <p:spPr>
          <a:xfrm>
            <a:off x="1631646" y="3544226"/>
            <a:ext cx="480767" cy="673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등록공고</a:t>
            </a:r>
          </a:p>
        </p:txBody>
      </p:sp>
      <p:sp>
        <p:nvSpPr>
          <p:cNvPr id="80" name="모서리가 둥근 직사각형 7170">
            <a:extLst>
              <a:ext uri="{FF2B5EF4-FFF2-40B4-BE49-F238E27FC236}">
                <a16:creationId xmlns:a16="http://schemas.microsoft.com/office/drawing/2014/main" id="{6DA9B593-9E82-49E6-96FD-D8F1A152F0DE}"/>
              </a:ext>
            </a:extLst>
          </p:cNvPr>
          <p:cNvSpPr/>
          <p:nvPr/>
        </p:nvSpPr>
        <p:spPr>
          <a:xfrm>
            <a:off x="229997" y="1489561"/>
            <a:ext cx="751195" cy="673096"/>
          </a:xfrm>
          <a:prstGeom prst="roundRect">
            <a:avLst>
              <a:gd name="adj" fmla="val 32073"/>
            </a:avLst>
          </a:prstGeom>
          <a:solidFill>
            <a:schemeClr val="accent4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dirty="0"/>
              <a:t>신청인</a:t>
            </a:r>
          </a:p>
        </p:txBody>
      </p:sp>
      <p:sp>
        <p:nvSpPr>
          <p:cNvPr id="82" name="모서리가 둥근 직사각형 7170">
            <a:extLst>
              <a:ext uri="{FF2B5EF4-FFF2-40B4-BE49-F238E27FC236}">
                <a16:creationId xmlns:a16="http://schemas.microsoft.com/office/drawing/2014/main" id="{15C917EE-E73D-4F91-91AA-78F9B19C53F1}"/>
              </a:ext>
            </a:extLst>
          </p:cNvPr>
          <p:cNvSpPr/>
          <p:nvPr/>
        </p:nvSpPr>
        <p:spPr>
          <a:xfrm>
            <a:off x="2197254" y="3544228"/>
            <a:ext cx="751195" cy="673096"/>
          </a:xfrm>
          <a:prstGeom prst="roundRect">
            <a:avLst>
              <a:gd name="adj" fmla="val 32073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dirty="0"/>
              <a:t>심판원장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A20AF960-E160-4D2F-8A04-11812AE11373}"/>
              </a:ext>
            </a:extLst>
          </p:cNvPr>
          <p:cNvSpPr/>
          <p:nvPr/>
        </p:nvSpPr>
        <p:spPr>
          <a:xfrm>
            <a:off x="3139020" y="3544226"/>
            <a:ext cx="480767" cy="673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방식심사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9C99D4C2-0D58-42C0-BA31-ECE78B65C5CA}"/>
              </a:ext>
            </a:extLst>
          </p:cNvPr>
          <p:cNvCxnSpPr>
            <a:cxnSpLocks/>
          </p:cNvCxnSpPr>
          <p:nvPr/>
        </p:nvCxnSpPr>
        <p:spPr>
          <a:xfrm>
            <a:off x="3033292" y="1826109"/>
            <a:ext cx="0" cy="201009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모서리가 둥근 직사각형 7170">
            <a:extLst>
              <a:ext uri="{FF2B5EF4-FFF2-40B4-BE49-F238E27FC236}">
                <a16:creationId xmlns:a16="http://schemas.microsoft.com/office/drawing/2014/main" id="{9E5FFB07-9A69-488D-A974-4E16DE5129ED}"/>
              </a:ext>
            </a:extLst>
          </p:cNvPr>
          <p:cNvSpPr/>
          <p:nvPr/>
        </p:nvSpPr>
        <p:spPr>
          <a:xfrm>
            <a:off x="3693165" y="3544228"/>
            <a:ext cx="751195" cy="673096"/>
          </a:xfrm>
          <a:prstGeom prst="roundRect">
            <a:avLst>
              <a:gd name="adj" fmla="val 32073"/>
            </a:avLst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200" dirty="0"/>
              <a:t>합의체</a:t>
            </a:r>
            <a:endParaRPr lang="en-US" altLang="ko-KR" sz="1200" dirty="0"/>
          </a:p>
          <a:p>
            <a:pPr algn="ctr"/>
            <a:r>
              <a:rPr lang="en-US" altLang="ko-KR" sz="1000" dirty="0"/>
              <a:t>(</a:t>
            </a:r>
            <a:r>
              <a:rPr lang="ko-KR" altLang="en-US" sz="1000" dirty="0"/>
              <a:t>심판장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63DF36C3-F6E3-43E2-ABD5-DD3D8D2C8AA4}"/>
              </a:ext>
            </a:extLst>
          </p:cNvPr>
          <p:cNvSpPr/>
          <p:nvPr/>
        </p:nvSpPr>
        <p:spPr>
          <a:xfrm>
            <a:off x="4529093" y="3544226"/>
            <a:ext cx="480767" cy="673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방식심리</a:t>
            </a: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98B3438F-EA51-46CD-A61C-396C77B23190}"/>
              </a:ext>
            </a:extLst>
          </p:cNvPr>
          <p:cNvCxnSpPr>
            <a:cxnSpLocks/>
          </p:cNvCxnSpPr>
          <p:nvPr/>
        </p:nvCxnSpPr>
        <p:spPr>
          <a:xfrm>
            <a:off x="5116616" y="3873432"/>
            <a:ext cx="0" cy="171940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9D64F34-7A4C-4CC7-9AE8-2D7248113D2D}"/>
              </a:ext>
            </a:extLst>
          </p:cNvPr>
          <p:cNvCxnSpPr/>
          <p:nvPr/>
        </p:nvCxnSpPr>
        <p:spPr>
          <a:xfrm flipV="1">
            <a:off x="5402370" y="3873432"/>
            <a:ext cx="0" cy="171940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208A9C03-E715-4A39-8DBC-D7F1AA7859AD}"/>
              </a:ext>
            </a:extLst>
          </p:cNvPr>
          <p:cNvSpPr/>
          <p:nvPr/>
        </p:nvSpPr>
        <p:spPr>
          <a:xfrm>
            <a:off x="6051634" y="3544226"/>
            <a:ext cx="805991" cy="673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심리개시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b="1" dirty="0">
                <a:solidFill>
                  <a:srgbClr val="FF0000"/>
                </a:solidFill>
              </a:rPr>
              <a:t>서면</a:t>
            </a:r>
            <a:r>
              <a:rPr lang="en-US" altLang="ko-KR" sz="900" dirty="0">
                <a:solidFill>
                  <a:schemeClr val="tx1"/>
                </a:solidFill>
              </a:rPr>
              <a:t>/</a:t>
            </a:r>
            <a:r>
              <a:rPr lang="ko-KR" altLang="en-US" sz="900" dirty="0">
                <a:solidFill>
                  <a:schemeClr val="tx1"/>
                </a:solidFill>
              </a:rPr>
              <a:t>직권</a:t>
            </a:r>
            <a:r>
              <a:rPr lang="en-US" altLang="ko-KR" sz="900" dirty="0">
                <a:solidFill>
                  <a:schemeClr val="tx1"/>
                </a:solidFill>
              </a:rPr>
              <a:t>/</a:t>
            </a:r>
            <a:r>
              <a:rPr lang="ko-KR" altLang="en-US" sz="900" b="1" dirty="0">
                <a:solidFill>
                  <a:srgbClr val="FF0000"/>
                </a:solidFill>
              </a:rPr>
              <a:t>병합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3" name="순서도: 판단 112">
            <a:extLst>
              <a:ext uri="{FF2B5EF4-FFF2-40B4-BE49-F238E27FC236}">
                <a16:creationId xmlns:a16="http://schemas.microsoft.com/office/drawing/2014/main" id="{BF629753-8B09-4EDA-9789-361F07DD4D1A}"/>
              </a:ext>
            </a:extLst>
          </p:cNvPr>
          <p:cNvSpPr/>
          <p:nvPr/>
        </p:nvSpPr>
        <p:spPr>
          <a:xfrm>
            <a:off x="7024633" y="3553653"/>
            <a:ext cx="805990" cy="673096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취소신청이유</a:t>
            </a:r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1A895FEC-4726-49E4-830F-022C56ABA1DD}"/>
              </a:ext>
            </a:extLst>
          </p:cNvPr>
          <p:cNvSpPr/>
          <p:nvPr/>
        </p:nvSpPr>
        <p:spPr>
          <a:xfrm>
            <a:off x="7985781" y="3544226"/>
            <a:ext cx="480767" cy="673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취소이유통지</a:t>
            </a:r>
          </a:p>
        </p:txBody>
      </p:sp>
      <p:sp>
        <p:nvSpPr>
          <p:cNvPr id="115" name="순서도: 판단 114">
            <a:extLst>
              <a:ext uri="{FF2B5EF4-FFF2-40B4-BE49-F238E27FC236}">
                <a16:creationId xmlns:a16="http://schemas.microsoft.com/office/drawing/2014/main" id="{04B7A317-9F13-474E-9F58-C71EFFEA5198}"/>
              </a:ext>
            </a:extLst>
          </p:cNvPr>
          <p:cNvSpPr/>
          <p:nvPr/>
        </p:nvSpPr>
        <p:spPr>
          <a:xfrm>
            <a:off x="8861767" y="3553653"/>
            <a:ext cx="805990" cy="673096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취소신청이유</a:t>
            </a:r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F46B7150-FF0A-48B0-A303-5531CA8605B0}"/>
              </a:ext>
            </a:extLst>
          </p:cNvPr>
          <p:cNvSpPr/>
          <p:nvPr/>
        </p:nvSpPr>
        <p:spPr>
          <a:xfrm>
            <a:off x="10653339" y="3544226"/>
            <a:ext cx="480767" cy="6730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등본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송달</a:t>
            </a:r>
          </a:p>
        </p:txBody>
      </p: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67754BBD-63BE-4E39-B70C-220C790F607D}"/>
              </a:ext>
            </a:extLst>
          </p:cNvPr>
          <p:cNvSpPr/>
          <p:nvPr/>
        </p:nvSpPr>
        <p:spPr>
          <a:xfrm>
            <a:off x="9844871" y="3619696"/>
            <a:ext cx="631353" cy="249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기각결정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3C58D318-EB94-4790-A140-EE70A7E60EF4}"/>
              </a:ext>
            </a:extLst>
          </p:cNvPr>
          <p:cNvSpPr/>
          <p:nvPr/>
        </p:nvSpPr>
        <p:spPr>
          <a:xfrm>
            <a:off x="9844871" y="3861922"/>
            <a:ext cx="631353" cy="2496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취소결정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317C86-B237-4B4E-A0FF-970CAC71EF36}"/>
              </a:ext>
            </a:extLst>
          </p:cNvPr>
          <p:cNvSpPr txBox="1"/>
          <p:nvPr/>
        </p:nvSpPr>
        <p:spPr>
          <a:xfrm>
            <a:off x="2644712" y="2407704"/>
            <a:ext cx="437940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취소</a:t>
            </a:r>
            <a:endParaRPr lang="en-US" altLang="ko-KR" sz="1100" dirty="0"/>
          </a:p>
          <a:p>
            <a:r>
              <a:rPr lang="ko-KR" altLang="en-US" sz="1100" dirty="0"/>
              <a:t>신청</a:t>
            </a:r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D0ADA3AE-9C46-483B-A244-DA4AD16D5AF7}"/>
              </a:ext>
            </a:extLst>
          </p:cNvPr>
          <p:cNvSpPr/>
          <p:nvPr/>
        </p:nvSpPr>
        <p:spPr>
          <a:xfrm>
            <a:off x="3135359" y="1489561"/>
            <a:ext cx="480767" cy="6730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보정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A9E7F888-BF43-43A4-A927-215B169DC59B}"/>
              </a:ext>
            </a:extLst>
          </p:cNvPr>
          <p:cNvSpPr txBox="1"/>
          <p:nvPr/>
        </p:nvSpPr>
        <p:spPr>
          <a:xfrm>
            <a:off x="2112413" y="1198867"/>
            <a:ext cx="2823209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설정등록이 있는 날로부터 등록공고일후 </a:t>
            </a:r>
            <a:r>
              <a:rPr lang="en-US" altLang="ko-KR" sz="1100" dirty="0"/>
              <a:t>6</a:t>
            </a:r>
            <a:r>
              <a:rPr lang="ko-KR" altLang="en-US" sz="1100" dirty="0"/>
              <a:t>개월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4B4C9AC-1238-48EF-BA8D-199E864EE18D}"/>
              </a:ext>
            </a:extLst>
          </p:cNvPr>
          <p:cNvCxnSpPr>
            <a:cxnSpLocks/>
          </p:cNvCxnSpPr>
          <p:nvPr/>
        </p:nvCxnSpPr>
        <p:spPr>
          <a:xfrm>
            <a:off x="3616126" y="1988342"/>
            <a:ext cx="203283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288AB78-79E5-4077-ABE9-A092DAD6EACE}"/>
              </a:ext>
            </a:extLst>
          </p:cNvPr>
          <p:cNvSpPr/>
          <p:nvPr/>
        </p:nvSpPr>
        <p:spPr>
          <a:xfrm>
            <a:off x="3548668" y="2022984"/>
            <a:ext cx="2294229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dirty="0"/>
              <a:t>취소신청기간에 취소신청이유 및 </a:t>
            </a:r>
          </a:p>
          <a:p>
            <a:r>
              <a:rPr lang="ko-KR" altLang="en-US" sz="1100" dirty="0"/>
              <a:t>증거의 보정을 자유롭게 가능</a:t>
            </a:r>
          </a:p>
          <a:p>
            <a:r>
              <a:rPr lang="en-US" altLang="ko-KR" sz="1100" dirty="0"/>
              <a:t>(</a:t>
            </a:r>
            <a:r>
              <a:rPr lang="ko-KR" altLang="en-US" sz="1100" dirty="0"/>
              <a:t>단</a:t>
            </a:r>
            <a:r>
              <a:rPr lang="en-US" altLang="ko-KR" sz="1100" dirty="0"/>
              <a:t>, </a:t>
            </a:r>
            <a:r>
              <a:rPr lang="ko-KR" altLang="en-US" sz="1100" dirty="0"/>
              <a:t>취소이유통지 시에는 그 때까지</a:t>
            </a:r>
            <a:r>
              <a:rPr lang="en-US" altLang="ko-KR" sz="1100" dirty="0"/>
              <a:t>) </a:t>
            </a:r>
            <a:endParaRPr lang="ko-KR" altLang="en-US" sz="1100" dirty="0"/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B96D455B-23CD-4606-840E-BA57A3ED6CB7}"/>
              </a:ext>
            </a:extLst>
          </p:cNvPr>
          <p:cNvSpPr/>
          <p:nvPr/>
        </p:nvSpPr>
        <p:spPr>
          <a:xfrm>
            <a:off x="6418249" y="1489561"/>
            <a:ext cx="480767" cy="6730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취하</a:t>
            </a: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E5AA457B-F178-4883-8CCD-C239B6055672}"/>
              </a:ext>
            </a:extLst>
          </p:cNvPr>
          <p:cNvCxnSpPr>
            <a:cxnSpLocks/>
          </p:cNvCxnSpPr>
          <p:nvPr/>
        </p:nvCxnSpPr>
        <p:spPr>
          <a:xfrm>
            <a:off x="6899016" y="1988342"/>
            <a:ext cx="3994707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85E0F784-EC57-458F-BC8E-D9B1D2ED98F3}"/>
              </a:ext>
            </a:extLst>
          </p:cNvPr>
          <p:cNvSpPr/>
          <p:nvPr/>
        </p:nvSpPr>
        <p:spPr>
          <a:xfrm>
            <a:off x="6831558" y="2022984"/>
            <a:ext cx="406216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ko-KR" altLang="en-US" sz="1100" dirty="0"/>
              <a:t>결정등본송달 전까지 청구항마다 취하가능</a:t>
            </a:r>
            <a:endParaRPr lang="en-US" altLang="ko-KR" sz="1100" dirty="0"/>
          </a:p>
          <a:p>
            <a:pPr algn="ctr" fontAlgn="base"/>
            <a:r>
              <a:rPr lang="ko-KR" altLang="en-US" sz="1100" dirty="0"/>
              <a:t> </a:t>
            </a:r>
            <a:r>
              <a:rPr lang="en-US" altLang="ko-KR" sz="1100" dirty="0"/>
              <a:t>(</a:t>
            </a:r>
            <a:r>
              <a:rPr lang="ko-KR" altLang="en-US" sz="1100" dirty="0"/>
              <a:t>단</a:t>
            </a:r>
            <a:r>
              <a:rPr lang="en-US" altLang="ko-KR" sz="1100" dirty="0"/>
              <a:t>, </a:t>
            </a:r>
            <a:r>
              <a:rPr lang="ko-KR" altLang="en-US" sz="1100" dirty="0"/>
              <a:t>취소이유통지시에는 그 때까지</a:t>
            </a:r>
            <a:r>
              <a:rPr lang="en-US" altLang="ko-KR" sz="1100" dirty="0"/>
              <a:t>) </a:t>
            </a:r>
            <a:endParaRPr lang="ko-KR" altLang="en-US" sz="1100" dirty="0"/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931AECF3-6EF8-492F-B73B-BE86243D68A1}"/>
              </a:ext>
            </a:extLst>
          </p:cNvPr>
          <p:cNvCxnSpPr>
            <a:cxnSpLocks/>
            <a:stCxn id="116" idx="2"/>
          </p:cNvCxnSpPr>
          <p:nvPr/>
        </p:nvCxnSpPr>
        <p:spPr>
          <a:xfrm>
            <a:off x="10893723" y="4217322"/>
            <a:ext cx="0" cy="137551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6AC3C637-4E12-4E14-8FE7-4F0C179C3F86}"/>
              </a:ext>
            </a:extLst>
          </p:cNvPr>
          <p:cNvCxnSpPr>
            <a:cxnSpLocks/>
            <a:stCxn id="116" idx="0"/>
          </p:cNvCxnSpPr>
          <p:nvPr/>
        </p:nvCxnSpPr>
        <p:spPr>
          <a:xfrm flipV="1">
            <a:off x="10893723" y="1826110"/>
            <a:ext cx="0" cy="171811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직사각형 125">
            <a:extLst>
              <a:ext uri="{FF2B5EF4-FFF2-40B4-BE49-F238E27FC236}">
                <a16:creationId xmlns:a16="http://schemas.microsoft.com/office/drawing/2014/main" id="{6A881A36-4259-4F9D-BE67-F6BA2BAB4FAE}"/>
              </a:ext>
            </a:extLst>
          </p:cNvPr>
          <p:cNvSpPr/>
          <p:nvPr/>
        </p:nvSpPr>
        <p:spPr>
          <a:xfrm>
            <a:off x="11175762" y="1489561"/>
            <a:ext cx="791464" cy="67309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기각결정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불복불가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F012297C-B3A1-403C-9C33-6CB53E7B9846}"/>
              </a:ext>
            </a:extLst>
          </p:cNvPr>
          <p:cNvSpPr txBox="1"/>
          <p:nvPr/>
        </p:nvSpPr>
        <p:spPr>
          <a:xfrm>
            <a:off x="4485011" y="4366184"/>
            <a:ext cx="69121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100" dirty="0"/>
              <a:t>신청서 </a:t>
            </a:r>
            <a:endParaRPr lang="en-US" altLang="ko-KR" sz="1100" dirty="0"/>
          </a:p>
          <a:p>
            <a:pPr algn="ctr"/>
            <a:r>
              <a:rPr lang="ko-KR" altLang="en-US" sz="1100" dirty="0"/>
              <a:t>부본송달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EBF6E42-8C3D-4A2A-9BEF-8D7E5A72443F}"/>
              </a:ext>
            </a:extLst>
          </p:cNvPr>
          <p:cNvSpPr/>
          <p:nvPr/>
        </p:nvSpPr>
        <p:spPr>
          <a:xfrm>
            <a:off x="5315216" y="4560020"/>
            <a:ext cx="94448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 latinLnBrk="0"/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취소신청기간</a:t>
            </a:r>
            <a:endParaRPr lang="en-US" altLang="ko-KR" sz="1100" kern="0" dirty="0">
              <a:solidFill>
                <a:srgbClr val="000000"/>
              </a:solidFill>
              <a:latin typeface="+mn-ea"/>
            </a:endParaRPr>
          </a:p>
          <a:p>
            <a:pPr algn="ctr" fontAlgn="base" latinLnBrk="0"/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만료 전 </a:t>
            </a:r>
            <a:endParaRPr lang="en-US" altLang="ko-KR" sz="1100" kern="0" dirty="0">
              <a:solidFill>
                <a:srgbClr val="000000"/>
              </a:solidFill>
              <a:latin typeface="+mn-ea"/>
            </a:endParaRPr>
          </a:p>
          <a:p>
            <a:pPr algn="ctr" fontAlgn="base" latinLnBrk="0"/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심리개시 </a:t>
            </a:r>
            <a:endParaRPr lang="en-US" altLang="ko-KR" sz="1100" kern="0" dirty="0">
              <a:solidFill>
                <a:srgbClr val="000000"/>
              </a:solidFill>
              <a:latin typeface="+mn-ea"/>
            </a:endParaRPr>
          </a:p>
          <a:p>
            <a:pPr algn="ctr" fontAlgn="base" latinLnBrk="0"/>
            <a:r>
              <a:rPr lang="ko-KR" altLang="en-US" sz="1100" kern="0" dirty="0">
                <a:solidFill>
                  <a:srgbClr val="000000"/>
                </a:solidFill>
                <a:latin typeface="+mn-ea"/>
              </a:rPr>
              <a:t>요구가능</a:t>
            </a:r>
          </a:p>
        </p:txBody>
      </p:sp>
      <p:cxnSp>
        <p:nvCxnSpPr>
          <p:cNvPr id="31" name="연결선: 꺾임 30">
            <a:extLst>
              <a:ext uri="{FF2B5EF4-FFF2-40B4-BE49-F238E27FC236}">
                <a16:creationId xmlns:a16="http://schemas.microsoft.com/office/drawing/2014/main" id="{4403B0B2-8551-47CA-B7D0-E32BD33D5767}"/>
              </a:ext>
            </a:extLst>
          </p:cNvPr>
          <p:cNvCxnSpPr>
            <a:stCxn id="113" idx="0"/>
            <a:endCxn id="117" idx="0"/>
          </p:cNvCxnSpPr>
          <p:nvPr/>
        </p:nvCxnSpPr>
        <p:spPr>
          <a:xfrm rot="16200000" flipH="1">
            <a:off x="8761066" y="2220214"/>
            <a:ext cx="66043" cy="2732920"/>
          </a:xfrm>
          <a:prstGeom prst="bentConnector3">
            <a:avLst>
              <a:gd name="adj1" fmla="val -346138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69" name="연결선: 꺾임 7168">
            <a:extLst>
              <a:ext uri="{FF2B5EF4-FFF2-40B4-BE49-F238E27FC236}">
                <a16:creationId xmlns:a16="http://schemas.microsoft.com/office/drawing/2014/main" id="{9C12CDC9-2014-42A4-BA35-413B1318319A}"/>
              </a:ext>
            </a:extLst>
          </p:cNvPr>
          <p:cNvCxnSpPr>
            <a:stCxn id="115" idx="0"/>
            <a:endCxn id="117" idx="0"/>
          </p:cNvCxnSpPr>
          <p:nvPr/>
        </p:nvCxnSpPr>
        <p:spPr>
          <a:xfrm rot="16200000" flipH="1">
            <a:off x="9679633" y="3138781"/>
            <a:ext cx="66043" cy="895786"/>
          </a:xfrm>
          <a:prstGeom prst="bentConnector3">
            <a:avLst>
              <a:gd name="adj1" fmla="val -346138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3473E0A7-CEF1-4114-B368-77C3F4819842}"/>
              </a:ext>
            </a:extLst>
          </p:cNvPr>
          <p:cNvSpPr txBox="1"/>
          <p:nvPr/>
        </p:nvSpPr>
        <p:spPr>
          <a:xfrm>
            <a:off x="7043489" y="3313345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556EC417-B1A6-4ACC-B3BC-4871CB33EFC1}"/>
              </a:ext>
            </a:extLst>
          </p:cNvPr>
          <p:cNvSpPr txBox="1"/>
          <p:nvPr/>
        </p:nvSpPr>
        <p:spPr>
          <a:xfrm>
            <a:off x="8873894" y="3313345"/>
            <a:ext cx="3962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NO</a:t>
            </a:r>
            <a:endParaRPr lang="ko-KR" altLang="en-US" sz="11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E443FB8-033A-4ADE-ACD3-026C61B3F465}"/>
              </a:ext>
            </a:extLst>
          </p:cNvPr>
          <p:cNvSpPr txBox="1"/>
          <p:nvPr/>
        </p:nvSpPr>
        <p:spPr>
          <a:xfrm>
            <a:off x="7641919" y="3574593"/>
            <a:ext cx="4363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YES</a:t>
            </a:r>
            <a:endParaRPr lang="ko-KR" altLang="en-US" sz="1100" dirty="0"/>
          </a:p>
        </p:txBody>
      </p:sp>
      <p:cxnSp>
        <p:nvCxnSpPr>
          <p:cNvPr id="7176" name="연결선: 꺾임 7175">
            <a:extLst>
              <a:ext uri="{FF2B5EF4-FFF2-40B4-BE49-F238E27FC236}">
                <a16:creationId xmlns:a16="http://schemas.microsoft.com/office/drawing/2014/main" id="{12208E40-BB17-41D2-A360-856A845D5C39}"/>
              </a:ext>
            </a:extLst>
          </p:cNvPr>
          <p:cNvCxnSpPr>
            <a:stCxn id="115" idx="2"/>
            <a:endCxn id="118" idx="2"/>
          </p:cNvCxnSpPr>
          <p:nvPr/>
        </p:nvCxnSpPr>
        <p:spPr>
          <a:xfrm rot="5400000" flipH="1" flipV="1">
            <a:off x="9655071" y="3721272"/>
            <a:ext cx="115168" cy="895786"/>
          </a:xfrm>
          <a:prstGeom prst="bentConnector3">
            <a:avLst>
              <a:gd name="adj1" fmla="val -19849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E62C0C96-269E-4A5C-AC8D-68492ED7E4D4}"/>
              </a:ext>
            </a:extLst>
          </p:cNvPr>
          <p:cNvSpPr txBox="1"/>
          <p:nvPr/>
        </p:nvSpPr>
        <p:spPr>
          <a:xfrm>
            <a:off x="9252787" y="4216520"/>
            <a:ext cx="43633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YES</a:t>
            </a:r>
            <a:endParaRPr lang="ko-KR" altLang="en-US" sz="1100" dirty="0"/>
          </a:p>
        </p:txBody>
      </p:sp>
      <p:cxnSp>
        <p:nvCxnSpPr>
          <p:cNvPr id="133" name="직선 화살표 연결선 132">
            <a:extLst>
              <a:ext uri="{FF2B5EF4-FFF2-40B4-BE49-F238E27FC236}">
                <a16:creationId xmlns:a16="http://schemas.microsoft.com/office/drawing/2014/main" id="{90C6542F-3636-4D0D-83EF-7D39BA144E9F}"/>
              </a:ext>
            </a:extLst>
          </p:cNvPr>
          <p:cNvCxnSpPr>
            <a:cxnSpLocks/>
            <a:stCxn id="114" idx="2"/>
          </p:cNvCxnSpPr>
          <p:nvPr/>
        </p:nvCxnSpPr>
        <p:spPr>
          <a:xfrm flipH="1">
            <a:off x="8219197" y="4217322"/>
            <a:ext cx="6968" cy="137551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474FC616-48E3-4E0C-8D94-63AAA80BB3AE}"/>
              </a:ext>
            </a:extLst>
          </p:cNvPr>
          <p:cNvSpPr/>
          <p:nvPr/>
        </p:nvSpPr>
        <p:spPr>
          <a:xfrm>
            <a:off x="8377068" y="5249064"/>
            <a:ext cx="790757" cy="6730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의견제출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정정청구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3EB65F87-AA49-4EB6-8167-74D927368D29}"/>
              </a:ext>
            </a:extLst>
          </p:cNvPr>
          <p:cNvSpPr/>
          <p:nvPr/>
        </p:nvSpPr>
        <p:spPr>
          <a:xfrm>
            <a:off x="11175762" y="5244270"/>
            <a:ext cx="791464" cy="6730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취소결정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소 제기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지식재산처장 피고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A24230C-4AA6-4653-82D6-8A6FA2B91B97}"/>
              </a:ext>
            </a:extLst>
          </p:cNvPr>
          <p:cNvSpPr txBox="1"/>
          <p:nvPr/>
        </p:nvSpPr>
        <p:spPr>
          <a:xfrm>
            <a:off x="7586843" y="2921882"/>
            <a:ext cx="691215" cy="26161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본안심리</a:t>
            </a: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F69496AF-7066-423E-8224-C07DE1A79DD9}"/>
              </a:ext>
            </a:extLst>
          </p:cNvPr>
          <p:cNvSpPr/>
          <p:nvPr/>
        </p:nvSpPr>
        <p:spPr>
          <a:xfrm>
            <a:off x="5998002" y="2582778"/>
            <a:ext cx="1045487" cy="306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적법성 심리</a:t>
            </a:r>
          </a:p>
        </p:txBody>
      </p:sp>
      <p:cxnSp>
        <p:nvCxnSpPr>
          <p:cNvPr id="7181" name="연결선: 꺾임 7180">
            <a:extLst>
              <a:ext uri="{FF2B5EF4-FFF2-40B4-BE49-F238E27FC236}">
                <a16:creationId xmlns:a16="http://schemas.microsoft.com/office/drawing/2014/main" id="{28E01943-5B7B-4DCB-A3A1-E4A2BF37ED9C}"/>
              </a:ext>
            </a:extLst>
          </p:cNvPr>
          <p:cNvCxnSpPr>
            <a:stCxn id="98" idx="0"/>
            <a:endCxn id="140" idx="1"/>
          </p:cNvCxnSpPr>
          <p:nvPr/>
        </p:nvCxnSpPr>
        <p:spPr>
          <a:xfrm rot="5400000" flipH="1" flipV="1">
            <a:off x="4979671" y="2525896"/>
            <a:ext cx="808137" cy="122852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83" name="연결선: 꺾임 7182">
            <a:extLst>
              <a:ext uri="{FF2B5EF4-FFF2-40B4-BE49-F238E27FC236}">
                <a16:creationId xmlns:a16="http://schemas.microsoft.com/office/drawing/2014/main" id="{C0565285-A9DF-4429-AA3F-51A736CC2196}"/>
              </a:ext>
            </a:extLst>
          </p:cNvPr>
          <p:cNvCxnSpPr>
            <a:stCxn id="140" idx="3"/>
            <a:endCxn id="139" idx="0"/>
          </p:cNvCxnSpPr>
          <p:nvPr/>
        </p:nvCxnSpPr>
        <p:spPr>
          <a:xfrm>
            <a:off x="7043489" y="2736089"/>
            <a:ext cx="888962" cy="185793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86" name="화살표: 왼쪽 7185">
            <a:extLst>
              <a:ext uri="{FF2B5EF4-FFF2-40B4-BE49-F238E27FC236}">
                <a16:creationId xmlns:a16="http://schemas.microsoft.com/office/drawing/2014/main" id="{64F2238D-ECC1-4B23-B983-E1D872302007}"/>
              </a:ext>
            </a:extLst>
          </p:cNvPr>
          <p:cNvSpPr/>
          <p:nvPr/>
        </p:nvSpPr>
        <p:spPr>
          <a:xfrm>
            <a:off x="4529093" y="800560"/>
            <a:ext cx="3687645" cy="529873"/>
          </a:xfrm>
          <a:prstGeom prst="leftArrow">
            <a:avLst>
              <a:gd name="adj1" fmla="val 71349"/>
              <a:gd name="adj2" fmla="val 50000"/>
            </a:avLst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지식재산처</a:t>
            </a:r>
            <a:r>
              <a:rPr lang="en-US" altLang="ko-KR" dirty="0"/>
              <a:t>(</a:t>
            </a:r>
            <a:r>
              <a:rPr lang="ko-KR" altLang="en-US" dirty="0"/>
              <a:t>심판원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vs </a:t>
            </a:r>
            <a:r>
              <a:rPr lang="ko-KR" altLang="en-US" dirty="0"/>
              <a:t>취소신청인</a:t>
            </a:r>
          </a:p>
        </p:txBody>
      </p:sp>
      <p:sp>
        <p:nvSpPr>
          <p:cNvPr id="7187" name="화살표: 오른쪽 7186">
            <a:extLst>
              <a:ext uri="{FF2B5EF4-FFF2-40B4-BE49-F238E27FC236}">
                <a16:creationId xmlns:a16="http://schemas.microsoft.com/office/drawing/2014/main" id="{0EA850E6-91EE-4F95-8DA3-BBA07E15B25A}"/>
              </a:ext>
            </a:extLst>
          </p:cNvPr>
          <p:cNvSpPr/>
          <p:nvPr/>
        </p:nvSpPr>
        <p:spPr>
          <a:xfrm>
            <a:off x="8213149" y="6126705"/>
            <a:ext cx="3835415" cy="574599"/>
          </a:xfrm>
          <a:prstGeom prst="rightArrow">
            <a:avLst>
              <a:gd name="adj1" fmla="val 72968"/>
              <a:gd name="adj2" fmla="val 50000"/>
            </a:avLst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지식재산처</a:t>
            </a:r>
            <a:r>
              <a:rPr lang="en-US" altLang="ko-KR" dirty="0"/>
              <a:t>(</a:t>
            </a:r>
            <a:r>
              <a:rPr lang="ko-KR" altLang="en-US" dirty="0"/>
              <a:t>심판원</a:t>
            </a:r>
            <a:r>
              <a:rPr lang="en-US" altLang="ko-KR" dirty="0"/>
              <a:t>)</a:t>
            </a:r>
            <a:r>
              <a:rPr lang="ko-KR" altLang="en-US" dirty="0"/>
              <a:t> </a:t>
            </a:r>
            <a:r>
              <a:rPr lang="en-US" altLang="ko-KR" dirty="0"/>
              <a:t>vs </a:t>
            </a:r>
            <a:r>
              <a:rPr lang="ko-KR" altLang="en-US" dirty="0"/>
              <a:t>특허권자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518A1-BFAE-41C5-A7BE-953BBFFEA651}"/>
              </a:ext>
            </a:extLst>
          </p:cNvPr>
          <p:cNvSpPr txBox="1"/>
          <p:nvPr/>
        </p:nvSpPr>
        <p:spPr>
          <a:xfrm>
            <a:off x="4268202" y="4817730"/>
            <a:ext cx="806631" cy="41549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altLang="ko-KR" sz="1050" dirty="0"/>
              <a:t>(</a:t>
            </a:r>
            <a:r>
              <a:rPr lang="ko-KR" altLang="en-US" sz="1050" dirty="0"/>
              <a:t>답변서</a:t>
            </a:r>
            <a:endParaRPr lang="en-US" altLang="ko-KR" sz="1050" dirty="0"/>
          </a:p>
          <a:p>
            <a:pPr algn="ctr"/>
            <a:r>
              <a:rPr lang="ko-KR" altLang="en-US" sz="1050" dirty="0"/>
              <a:t>제출기회</a:t>
            </a:r>
            <a:r>
              <a:rPr lang="en-US" altLang="ko-KR" sz="1050" dirty="0"/>
              <a:t>X)</a:t>
            </a:r>
            <a:endParaRPr lang="ko-KR" altLang="en-US" sz="105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15B74F-B916-4594-B6F7-437A1DFDDD61}"/>
              </a:ext>
            </a:extLst>
          </p:cNvPr>
          <p:cNvSpPr txBox="1"/>
          <p:nvPr/>
        </p:nvSpPr>
        <p:spPr>
          <a:xfrm>
            <a:off x="7602118" y="3063327"/>
            <a:ext cx="2330315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/>
              <a:t>(</a:t>
            </a:r>
            <a:r>
              <a:rPr lang="ko-KR" altLang="en-US" sz="1050" dirty="0"/>
              <a:t>의견제출기회</a:t>
            </a:r>
            <a:r>
              <a:rPr lang="en-US" altLang="ko-KR" sz="1050" dirty="0"/>
              <a:t>X)</a:t>
            </a:r>
            <a:endParaRPr lang="ko-KR" altLang="en-US" sz="105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01CF774-1F6B-4B45-9AC6-E91A291725A5}"/>
              </a:ext>
            </a:extLst>
          </p:cNvPr>
          <p:cNvSpPr txBox="1"/>
          <p:nvPr/>
        </p:nvSpPr>
        <p:spPr>
          <a:xfrm>
            <a:off x="7033794" y="4683066"/>
            <a:ext cx="2330315" cy="2539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/>
              <a:t>(</a:t>
            </a:r>
            <a:r>
              <a:rPr lang="ko-KR" altLang="en-US" sz="1050" dirty="0"/>
              <a:t>의견제출기회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</p:spTree>
    <p:extLst>
      <p:ext uri="{BB962C8B-B14F-4D97-AF65-F5344CB8AC3E}">
        <p14:creationId xmlns:p14="http://schemas.microsoft.com/office/powerpoint/2010/main" val="268388859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2~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특허취소신청과</a:t>
            </a:r>
            <a:r>
              <a:rPr lang="en-US" altLang="ko-KR" dirty="0"/>
              <a:t> </a:t>
            </a:r>
            <a:r>
              <a:rPr lang="ko-KR" altLang="en-US" dirty="0"/>
              <a:t>특허무효심판의 법조문 비교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6727030"/>
              </p:ext>
            </p:extLst>
          </p:nvPr>
        </p:nvGraphicFramePr>
        <p:xfrm>
          <a:off x="317501" y="1277581"/>
          <a:ext cx="11569700" cy="483305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619035">
                  <a:extLst>
                    <a:ext uri="{9D8B030D-6E8A-4147-A177-3AD203B41FA5}">
                      <a16:colId xmlns:a16="http://schemas.microsoft.com/office/drawing/2014/main" val="4122316602"/>
                    </a:ext>
                  </a:extLst>
                </a:gridCol>
                <a:gridCol w="5950665">
                  <a:extLst>
                    <a:ext uri="{9D8B030D-6E8A-4147-A177-3AD203B41FA5}">
                      <a16:colId xmlns:a16="http://schemas.microsoft.com/office/drawing/2014/main" val="3501181814"/>
                    </a:ext>
                  </a:extLst>
                </a:gridCol>
              </a:tblGrid>
              <a:tr h="820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특허취소신청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특허무효심판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54057"/>
                  </a:ext>
                </a:extLst>
              </a:tr>
              <a:tr h="179557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2【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  <a:endParaRPr lang="ko-KR" altLang="en-US" sz="1200" kern="0" spc="-80" dirty="0">
                        <a:effectLst/>
                      </a:endParaRPr>
                    </a:p>
                    <a:p>
                      <a:pPr marL="142240" marR="0" indent="-14224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누구든지 특허권의 설정등록일부터 </a:t>
                      </a:r>
                      <a:r>
                        <a:rPr lang="ko-KR" altLang="en-US" sz="1200" kern="0" spc="-80" dirty="0" err="1">
                          <a:effectLst/>
                        </a:rPr>
                        <a:t>등록공고일</a:t>
                      </a:r>
                      <a:r>
                        <a:rPr lang="ko-KR" altLang="en-US" sz="1200" kern="0" spc="-80" dirty="0">
                          <a:effectLst/>
                        </a:rPr>
                        <a:t> 후 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개월이 되는 날까지 그 특허가 다음 각 호의 어느 하나에 해당하는 경우에는 특허심판원장에게 특허취소신청을 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이 경우 청구범위의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청구항이</a:t>
                      </a:r>
                      <a:r>
                        <a:rPr lang="ko-KR" altLang="en-US" sz="1200" kern="0" spc="-80" dirty="0">
                          <a:effectLst/>
                        </a:rPr>
                        <a:t> 둘 이상인 경우에는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청구항마다</a:t>
                      </a:r>
                      <a:r>
                        <a:rPr lang="ko-KR" altLang="en-US" sz="1200" kern="0" spc="-80" dirty="0">
                          <a:effectLst/>
                        </a:rPr>
                        <a:t> 특허취소신청을 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  <a:endParaRPr lang="ko-KR" altLang="en-US" sz="1200" kern="0" spc="-80" dirty="0">
                        <a:effectLst/>
                      </a:endParaRPr>
                    </a:p>
                    <a:p>
                      <a:pPr marL="218440" marR="0" indent="-21844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1.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29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같은 조 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 err="1">
                          <a:effectLst/>
                        </a:rPr>
                        <a:t>항제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호에 해당하는 경우와 같은 호에 해당하는 발명에 의하여 쉽게 발명할 수 있는 경우는 제외한다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에 위반된 경우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2.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항부터 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항까지의 규정에 위반된 경우 </a:t>
                      </a:r>
                    </a:p>
                    <a:p>
                      <a:pPr marL="140970" marR="0" indent="-14097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예외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항에도 불구하고 특허공보에 게재된 제</a:t>
                      </a:r>
                      <a:r>
                        <a:rPr lang="en-US" altLang="ko-KR" sz="1200" kern="0" spc="-80" dirty="0">
                          <a:effectLst/>
                        </a:rPr>
                        <a:t>87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 err="1">
                          <a:effectLst/>
                        </a:rPr>
                        <a:t>항제</a:t>
                      </a:r>
                      <a:r>
                        <a:rPr lang="en-US" altLang="ko-KR" sz="1200" kern="0" spc="-80" dirty="0">
                          <a:effectLst/>
                        </a:rPr>
                        <a:t>7</a:t>
                      </a:r>
                      <a:r>
                        <a:rPr lang="ko-KR" altLang="en-US" sz="1200" kern="0" spc="-80" dirty="0">
                          <a:effectLst/>
                        </a:rPr>
                        <a:t>호에 따른 </a:t>
                      </a:r>
                      <a:r>
                        <a:rPr lang="ko-KR" altLang="en-US" sz="1200" kern="0" spc="-80" dirty="0" err="1">
                          <a:effectLst/>
                        </a:rPr>
                        <a:t>선행기술에</a:t>
                      </a:r>
                      <a:r>
                        <a:rPr lang="ko-KR" altLang="en-US" sz="1200" kern="0" spc="-80" dirty="0">
                          <a:effectLst/>
                        </a:rPr>
                        <a:t> 기초한 이유로는 특허취소신청을 할 수 없다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  <a:endParaRPr lang="ko-KR" altLang="en-US" sz="1200" kern="0" spc="-8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133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특허의 무효심판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  <a:endParaRPr lang="ko-KR" altLang="en-US" sz="1200" kern="0" spc="-80" dirty="0">
                        <a:effectLst/>
                      </a:endParaRPr>
                    </a:p>
                    <a:p>
                      <a:pPr marL="135890" marR="0" indent="-13589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주체적 및 객체적 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이해관계인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호 본문의 경우에는 특허를 받을 수 있는 권리를 가진 자만 해당한다</a:t>
                      </a:r>
                      <a:r>
                        <a:rPr lang="en-US" altLang="ko-KR" sz="1200" kern="0" spc="-80" dirty="0"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또는 심사관은 특허가 다음 각 호의 어느 하나에 해당하는 경우에는 무효심판을 청구할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이 경우 청구범위의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청구항이</a:t>
                      </a:r>
                      <a:r>
                        <a:rPr lang="ko-KR" altLang="en-US" sz="1200" kern="0" spc="-80" dirty="0">
                          <a:effectLst/>
                        </a:rPr>
                        <a:t> 둘 이상인 경우에는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청구항마다</a:t>
                      </a:r>
                      <a:r>
                        <a:rPr lang="ko-KR" altLang="en-US" sz="1200" kern="0" spc="-80" dirty="0">
                          <a:effectLst/>
                        </a:rPr>
                        <a:t> 청구할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endParaRPr lang="ko-KR" altLang="en-US" sz="1200" kern="0" spc="-80" dirty="0"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1.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25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외국인의 권리능력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29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100" dirty="0" err="1">
                          <a:solidFill>
                            <a:srgbClr val="FF0000"/>
                          </a:solidFill>
                          <a:effectLst/>
                        </a:rPr>
                        <a:t>특허요건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32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특허를 받을 수 없는 발명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항부터 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항까지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100" dirty="0" err="1">
                          <a:solidFill>
                            <a:srgbClr val="FF0000"/>
                          </a:solidFill>
                          <a:effectLst/>
                        </a:rPr>
                        <a:t>선출원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42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 err="1">
                          <a:effectLst/>
                        </a:rPr>
                        <a:t>항제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호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일반적인 발명의 설명 </a:t>
                      </a:r>
                      <a:r>
                        <a:rPr lang="ko-KR" altLang="en-US" sz="1200" kern="0" spc="-100" dirty="0" err="1">
                          <a:solidFill>
                            <a:srgbClr val="FF0000"/>
                          </a:solidFill>
                          <a:effectLst/>
                        </a:rPr>
                        <a:t>기재방법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또는 같은 조 제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100" dirty="0" err="1">
                          <a:solidFill>
                            <a:srgbClr val="FF0000"/>
                          </a:solidFill>
                          <a:effectLst/>
                        </a:rPr>
                        <a:t>청구범위</a:t>
                      </a:r>
                      <a:r>
                        <a:rPr lang="ko-KR" altLang="en-US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kern="0" spc="-100" dirty="0" err="1">
                          <a:solidFill>
                            <a:srgbClr val="FF0000"/>
                          </a:solidFill>
                          <a:effectLst/>
                        </a:rPr>
                        <a:t>기재방법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kern="0" spc="-100" dirty="0" err="1">
                          <a:solidFill>
                            <a:srgbClr val="FF0000"/>
                          </a:solidFill>
                          <a:effectLst/>
                        </a:rPr>
                        <a:t>기재원칙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을 위반한 경우</a:t>
                      </a: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2.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33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본문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특허를 받을 수 있는 자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따른 특허를 받을 수 있는 권리를 가지지 아니하거나 제</a:t>
                      </a:r>
                      <a:r>
                        <a:rPr lang="en-US" altLang="ko-KR" sz="1200" kern="0" spc="-80" dirty="0">
                          <a:effectLst/>
                        </a:rPr>
                        <a:t>44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100" dirty="0" err="1">
                          <a:solidFill>
                            <a:srgbClr val="FF0000"/>
                          </a:solidFill>
                          <a:effectLst/>
                        </a:rPr>
                        <a:t>공동출원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를 위반한 경우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다만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99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</a:t>
                      </a:r>
                      <a:r>
                        <a:rPr lang="ko-KR" altLang="en-US" sz="1200" kern="0" spc="-80" dirty="0" err="1">
                          <a:effectLst/>
                        </a:rPr>
                        <a:t>이전등록된</a:t>
                      </a:r>
                      <a:r>
                        <a:rPr lang="ko-KR" altLang="en-US" sz="1200" kern="0" spc="-80" dirty="0">
                          <a:effectLst/>
                        </a:rPr>
                        <a:t> 경우에는 제외한다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  <a:endParaRPr lang="ko-KR" altLang="en-US" sz="1200" kern="0" spc="-80" dirty="0">
                        <a:effectLst/>
                      </a:endParaRPr>
                    </a:p>
                    <a:p>
                      <a:pPr marL="227330" marR="0" indent="-22733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3.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33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단서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특허를 받을 수 없는 자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따라 특허를 받을 수 없는 경우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58775" algn="l"/>
                          <a:tab pos="152400" algn="l"/>
                          <a:tab pos="358775" algn="l"/>
                        </a:tabLst>
                      </a:pPr>
                      <a:r>
                        <a:rPr lang="en-US" altLang="ko-KR" sz="1200" kern="0" spc="-100" dirty="0">
                          <a:effectLst/>
                        </a:rPr>
                        <a:t>4. </a:t>
                      </a:r>
                      <a:r>
                        <a:rPr lang="ko-KR" altLang="en-US" sz="1200" kern="0" spc="-100" dirty="0" err="1">
                          <a:effectLst/>
                        </a:rPr>
                        <a:t>특허된</a:t>
                      </a:r>
                      <a:r>
                        <a:rPr lang="ko-KR" altLang="en-US" sz="1200" kern="0" spc="-100" dirty="0">
                          <a:effectLst/>
                        </a:rPr>
                        <a:t> 후 그 특허권자가 제</a:t>
                      </a:r>
                      <a:r>
                        <a:rPr lang="en-US" altLang="ko-KR" sz="1200" kern="0" spc="-100" dirty="0">
                          <a:effectLst/>
                        </a:rPr>
                        <a:t>25</a:t>
                      </a:r>
                      <a:r>
                        <a:rPr lang="ko-KR" altLang="en-US" sz="1200" kern="0" spc="-100" dirty="0">
                          <a:effectLst/>
                        </a:rPr>
                        <a:t>조에 따라 특허권을 누릴 수 없는 자로 되거나 그 특허가 조약을 위반한 경우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5. </a:t>
                      </a:r>
                      <a:r>
                        <a:rPr lang="ko-KR" altLang="en-US" sz="1200" kern="0" spc="-80" dirty="0">
                          <a:effectLst/>
                        </a:rPr>
                        <a:t>조약을 위반하여 특허를 받을 수 없는 경우</a:t>
                      </a:r>
                    </a:p>
                    <a:p>
                      <a:pPr marL="0" marR="0" indent="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36525" algn="l"/>
                          <a:tab pos="358775" algn="l"/>
                          <a:tab pos="152400" algn="l"/>
                          <a:tab pos="358775" algn="l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6.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47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 전단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신규사항추가금지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외국어특허출원의 경우 원문의 범위만</a:t>
                      </a:r>
                      <a:r>
                        <a:rPr lang="en-US" altLang="ko-KR" sz="1200" kern="0" spc="-10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따른 범위를 벗어난 보정인 경우</a:t>
                      </a:r>
                    </a:p>
                    <a:p>
                      <a:pPr marL="252730" marR="0" indent="-25273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7.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52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범위를 벗어난 </a:t>
                      </a:r>
                      <a:r>
                        <a:rPr lang="ko-KR" altLang="en-US" sz="1200" kern="0" spc="-80" dirty="0" err="1">
                          <a:effectLst/>
                        </a:rPr>
                        <a:t>분할출원인</a:t>
                      </a:r>
                      <a:r>
                        <a:rPr lang="ko-KR" altLang="en-US" sz="1200" kern="0" spc="-80" dirty="0">
                          <a:effectLst/>
                        </a:rPr>
                        <a:t> 경우 또는 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52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항 각 호 외의 부분 전단에 따른 범위를 벗어난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분리출원인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경우</a:t>
                      </a:r>
                    </a:p>
                    <a:p>
                      <a:pPr marL="252730" marR="0" indent="-25273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8.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53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범위를 벗어난 </a:t>
                      </a:r>
                      <a:r>
                        <a:rPr lang="ko-KR" altLang="en-US" sz="1200" kern="0" spc="-80" dirty="0" err="1">
                          <a:effectLst/>
                        </a:rPr>
                        <a:t>변경출원인</a:t>
                      </a:r>
                      <a:r>
                        <a:rPr lang="ko-KR" altLang="en-US" sz="1200" kern="0" spc="-80" dirty="0">
                          <a:effectLst/>
                        </a:rPr>
                        <a:t> 경우</a:t>
                      </a:r>
                    </a:p>
                    <a:p>
                      <a:pPr marL="147320" marR="0" indent="-14732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시기적 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심판은 특허권이 소멸된 후에도 청구할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  <a:endParaRPr lang="ko-KR" altLang="en-US" sz="1200" kern="0" spc="-80" dirty="0">
                        <a:effectLst/>
                      </a:endParaRPr>
                    </a:p>
                    <a:p>
                      <a:pPr marL="154940" marR="0" indent="-15494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③ 생략</a:t>
                      </a:r>
                    </a:p>
                    <a:p>
                      <a:pPr marL="171450" marR="0" indent="-171450" algn="just" fontAlgn="base" latinLnBrk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152400" algn="l"/>
                          <a:tab pos="359410" algn="l"/>
                          <a:tab pos="152400" algn="l"/>
                          <a:tab pos="359410" algn="l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④ </a:t>
                      </a:r>
                      <a:r>
                        <a:rPr lang="ko-KR" altLang="en-US" sz="1200" kern="0" spc="-180" dirty="0">
                          <a:effectLst/>
                        </a:rPr>
                        <a:t>생략</a:t>
                      </a:r>
                      <a:endParaRPr lang="ko-KR" altLang="en-US" sz="1200" kern="0" spc="-18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1743411643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498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194308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2~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특허취소신청과</a:t>
            </a:r>
            <a:r>
              <a:rPr lang="en-US" altLang="ko-KR" dirty="0"/>
              <a:t> </a:t>
            </a:r>
            <a:r>
              <a:rPr lang="ko-KR" altLang="en-US" dirty="0"/>
              <a:t>특허무효심판의 법조문 비교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125041"/>
              </p:ext>
            </p:extLst>
          </p:nvPr>
        </p:nvGraphicFramePr>
        <p:xfrm>
          <a:off x="317501" y="1036281"/>
          <a:ext cx="11569700" cy="571088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619035">
                  <a:extLst>
                    <a:ext uri="{9D8B030D-6E8A-4147-A177-3AD203B41FA5}">
                      <a16:colId xmlns:a16="http://schemas.microsoft.com/office/drawing/2014/main" val="4122316602"/>
                    </a:ext>
                  </a:extLst>
                </a:gridCol>
                <a:gridCol w="5950665">
                  <a:extLst>
                    <a:ext uri="{9D8B030D-6E8A-4147-A177-3AD203B41FA5}">
                      <a16:colId xmlns:a16="http://schemas.microsoft.com/office/drawing/2014/main" val="3501181814"/>
                    </a:ext>
                  </a:extLst>
                </a:gridCol>
              </a:tblGrid>
              <a:tr h="820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특허취소신청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특허무효심판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54057"/>
                  </a:ext>
                </a:extLst>
              </a:tr>
              <a:tr h="179557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3【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특허취소신청절차에서의 특허의 정정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특허취소신청절차가 진행 중인 특허에 대한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특허권자는</a:t>
                      </a:r>
                      <a:r>
                        <a:rPr lang="ko-KR" altLang="en-US" sz="1200" kern="0" spc="-80" dirty="0">
                          <a:effectLst/>
                        </a:rPr>
                        <a:t>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각 호의 어느 하나에 해당하는 경우에만 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13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특허취소결정하려고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특허의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취소이유를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통지하고 의견서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제출기회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부여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따라 지정된 기간에 특허발명의 명세서 또는 도면에 대하여 정정청구를 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여러 차례 정정이 있는 경우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정정청구를 하였을 때에는 해당 특허취소신청절차에서 그 </a:t>
                      </a:r>
                      <a:r>
                        <a:rPr lang="ko-KR" altLang="en-US" sz="1200" kern="0" spc="-80" dirty="0" err="1">
                          <a:effectLst/>
                        </a:rPr>
                        <a:t>정정청구</a:t>
                      </a:r>
                      <a:r>
                        <a:rPr lang="ko-KR" altLang="en-US" sz="1200" kern="0" spc="-80" dirty="0">
                          <a:effectLst/>
                        </a:rPr>
                        <a:t> 전에 한 </a:t>
                      </a:r>
                      <a:r>
                        <a:rPr lang="ko-KR" altLang="en-US" sz="1200" kern="0" spc="-80" dirty="0" err="1">
                          <a:effectLst/>
                        </a:rPr>
                        <a:t>정정청구는</a:t>
                      </a:r>
                      <a:r>
                        <a:rPr lang="ko-KR" altLang="en-US" sz="1200" kern="0" spc="-80" dirty="0">
                          <a:effectLst/>
                        </a:rPr>
                        <a:t> 취하된 것으로 본다</a:t>
                      </a:r>
                      <a:r>
                        <a:rPr lang="en-US" altLang="ko-KR" sz="1200" kern="0" spc="-80" dirty="0">
                          <a:effectLst/>
                        </a:rPr>
                        <a:t>. 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준용규정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</a:t>
                      </a:r>
                      <a:r>
                        <a:rPr lang="ko-KR" altLang="en-US" sz="1200" kern="0" spc="-80" dirty="0" err="1">
                          <a:effectLst/>
                        </a:rPr>
                        <a:t>정정청구에</a:t>
                      </a:r>
                      <a:r>
                        <a:rPr lang="ko-KR" altLang="en-US" sz="1200" kern="0" spc="-80" dirty="0">
                          <a:effectLst/>
                        </a:rPr>
                        <a:t> 관하여는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항부터 제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항까지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정정심판의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객체적 요건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8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정정심판의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주체적 요건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10</a:t>
                      </a:r>
                      <a:r>
                        <a:rPr lang="ko-KR" altLang="en-US" sz="1200" kern="0" spc="-80" dirty="0">
                          <a:effectLst/>
                        </a:rPr>
                        <a:t>항부터 제</a:t>
                      </a:r>
                      <a:r>
                        <a:rPr lang="en-US" altLang="ko-KR" sz="1200" kern="0" spc="-80" dirty="0">
                          <a:effectLst/>
                        </a:rPr>
                        <a:t>13</a:t>
                      </a:r>
                      <a:r>
                        <a:rPr lang="ko-KR" altLang="en-US" sz="1200" kern="0" spc="-80" dirty="0">
                          <a:effectLst/>
                        </a:rPr>
                        <a:t>항까지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소급효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명세서 또는 도면의 보정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통보 및 특허공보에 게재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],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139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공동심판청구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및 제</a:t>
                      </a:r>
                      <a:r>
                        <a:rPr lang="en-US" altLang="ko-KR" sz="1200" kern="0" spc="-80" dirty="0">
                          <a:effectLst/>
                        </a:rPr>
                        <a:t>140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 err="1">
                          <a:effectLst/>
                        </a:rPr>
                        <a:t>항ㆍ제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 err="1">
                          <a:effectLst/>
                        </a:rPr>
                        <a:t>항ㆍ제</a:t>
                      </a:r>
                      <a:r>
                        <a:rPr lang="en-US" altLang="ko-KR" sz="1200" kern="0" spc="-80" dirty="0">
                          <a:effectLst/>
                        </a:rPr>
                        <a:t>5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정정심판의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청구 및 보정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을 준용한다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이 경우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11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명세서 또는 도면의 보정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중 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162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심리의 종결이 통지되기 전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같은 조 제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심리가 재개된 경우에는 그 후 다시 같은 조 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심리의 종결이 통지되기 전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에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는 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13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정정청구가능기간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또는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정정심판의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직권심리에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대한 의견서 제출기간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따라 지정된 기간에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로 본다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④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정정청구의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취하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</a:t>
                      </a:r>
                      <a:r>
                        <a:rPr lang="ko-KR" altLang="en-US" sz="1200" kern="0" spc="-80" dirty="0" err="1">
                          <a:effectLst/>
                        </a:rPr>
                        <a:t>정정청구는</a:t>
                      </a:r>
                      <a:r>
                        <a:rPr lang="ko-KR" altLang="en-US" sz="1200" kern="0" spc="-80" dirty="0">
                          <a:effectLst/>
                        </a:rPr>
                        <a:t> 다음 각 호의 어느 하나에 해당하는 기간에만 취하할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1.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정정을 청구할 수 있도록 지정된 기간과 그 기간의 만료일부터 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개월 이내의 기간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2.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항에서 준용하는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정정심판의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직권심리에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대한 의견서 제출기간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따라 지정된 기간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⑤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특허출원하였을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때 특허를 받을 수 있을 것의 판단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항을 적용할 때 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에 따라 특허취소신청이 된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청구항을</a:t>
                      </a:r>
                      <a:r>
                        <a:rPr lang="ko-KR" altLang="en-US" sz="1200" kern="0" spc="-80" dirty="0">
                          <a:effectLst/>
                        </a:rPr>
                        <a:t> 정정하는 경우에는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5</a:t>
                      </a:r>
                      <a:r>
                        <a:rPr lang="ko-KR" altLang="en-US" sz="1200" kern="0" spc="-80" dirty="0">
                          <a:effectLst/>
                        </a:rPr>
                        <a:t>항을 준용하지 아니한다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133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2【</a:t>
                      </a:r>
                      <a:r>
                        <a:rPr lang="ko-KR" altLang="en-US" sz="1200" kern="0" spc="-80" dirty="0">
                          <a:effectLst/>
                        </a:rPr>
                        <a:t>특허무효심판절차에서의 특허의 정정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133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특허무효심판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따른 심판의 피청구인은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각 호의 어느 하나에 해당하는 경우에만 제</a:t>
                      </a:r>
                      <a:r>
                        <a:rPr lang="en-US" altLang="ko-KR" sz="1200" kern="0" spc="-80" dirty="0">
                          <a:effectLst/>
                        </a:rPr>
                        <a:t>147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답변서 제출기간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 </a:t>
                      </a:r>
                      <a:r>
                        <a:rPr lang="ko-KR" altLang="en-US" sz="1200" kern="0" spc="-80" dirty="0">
                          <a:effectLst/>
                        </a:rPr>
                        <a:t>또는 제</a:t>
                      </a:r>
                      <a:r>
                        <a:rPr lang="en-US" altLang="ko-KR" sz="1200" kern="0" spc="-80" dirty="0">
                          <a:effectLst/>
                        </a:rPr>
                        <a:t>159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후단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의견서 제출기간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따라 지정된 기간에 특허발명의 명세서 또는 도면에 대하여 정정청구를 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이 경우 심판장이 제</a:t>
                      </a:r>
                      <a:r>
                        <a:rPr lang="en-US" altLang="ko-KR" sz="1200" kern="0" spc="-80" dirty="0">
                          <a:effectLst/>
                        </a:rPr>
                        <a:t>147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지정된 기간 후에도 청구인이 증거를 제출하거나 새로운 무효사유를 주장함으로 인하여 정정청구를 허용할 필요가 있다고 인정하는 경우에는 기간을 정하여 정정청구를 하게 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여러 차례 정정이 있는 경우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정정청구를 하였을 때에는 해당 무효심판절차에서 그 </a:t>
                      </a:r>
                      <a:r>
                        <a:rPr lang="ko-KR" altLang="en-US" sz="1200" kern="0" spc="-80" dirty="0" err="1">
                          <a:effectLst/>
                        </a:rPr>
                        <a:t>정정청구</a:t>
                      </a:r>
                      <a:r>
                        <a:rPr lang="ko-KR" altLang="en-US" sz="1200" kern="0" spc="-80" dirty="0">
                          <a:effectLst/>
                        </a:rPr>
                        <a:t> 전에 한 </a:t>
                      </a:r>
                      <a:r>
                        <a:rPr lang="ko-KR" altLang="en-US" sz="1200" kern="0" spc="-80" dirty="0" err="1">
                          <a:effectLst/>
                        </a:rPr>
                        <a:t>정정청구는</a:t>
                      </a:r>
                      <a:r>
                        <a:rPr lang="ko-KR" altLang="en-US" sz="1200" kern="0" spc="-80" dirty="0">
                          <a:effectLst/>
                        </a:rPr>
                        <a:t> 취하된 것으로 본다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송달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</a:t>
                      </a:r>
                      <a:r>
                        <a:rPr lang="ko-KR" altLang="en-US" sz="1200" kern="0" spc="-80" dirty="0" err="1">
                          <a:effectLst/>
                        </a:rPr>
                        <a:t>정정청구가</a:t>
                      </a:r>
                      <a:r>
                        <a:rPr lang="ko-KR" altLang="en-US" sz="1200" kern="0" spc="-80" dirty="0">
                          <a:effectLst/>
                        </a:rPr>
                        <a:t> 있을 때에는 그 청구서의 부본을 제</a:t>
                      </a:r>
                      <a:r>
                        <a:rPr lang="en-US" altLang="ko-KR" sz="1200" kern="0" spc="-80" dirty="0">
                          <a:effectLst/>
                        </a:rPr>
                        <a:t>133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심판의 청구인에게 송달하여야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④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준용규정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</a:t>
                      </a:r>
                      <a:r>
                        <a:rPr lang="ko-KR" altLang="en-US" sz="1200" kern="0" spc="-80" dirty="0" err="1">
                          <a:effectLst/>
                        </a:rPr>
                        <a:t>정정청구에</a:t>
                      </a:r>
                      <a:r>
                        <a:rPr lang="ko-KR" altLang="en-US" sz="1200" kern="0" spc="-80" dirty="0">
                          <a:effectLst/>
                        </a:rPr>
                        <a:t> 관하여는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항부터 제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항까지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정정심판의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객체적 요건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8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정정심판의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주체적 요건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 </a:t>
                      </a:r>
                      <a:r>
                        <a:rPr lang="ko-KR" altLang="en-US" sz="1200" kern="0" spc="-80" dirty="0">
                          <a:effectLst/>
                        </a:rPr>
                        <a:t>및 제</a:t>
                      </a:r>
                      <a:r>
                        <a:rPr lang="en-US" altLang="ko-KR" sz="1200" kern="0" spc="-80" dirty="0">
                          <a:effectLst/>
                        </a:rPr>
                        <a:t>10</a:t>
                      </a:r>
                      <a:r>
                        <a:rPr lang="ko-KR" altLang="en-US" sz="1200" kern="0" spc="-80" dirty="0">
                          <a:effectLst/>
                        </a:rPr>
                        <a:t>항부터 제</a:t>
                      </a:r>
                      <a:r>
                        <a:rPr lang="en-US" altLang="ko-KR" sz="1200" kern="0" spc="-80" dirty="0">
                          <a:effectLst/>
                        </a:rPr>
                        <a:t>13</a:t>
                      </a:r>
                      <a:r>
                        <a:rPr lang="ko-KR" altLang="en-US" sz="1200" kern="0" spc="-80" dirty="0">
                          <a:effectLst/>
                        </a:rPr>
                        <a:t>항까지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소급효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명세서 또는 도면의 보정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통보 및 특허공보에 게재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139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공동심판청구</a:t>
                      </a:r>
                      <a:r>
                        <a:rPr lang="en-US" altLang="ko-KR" sz="1200" kern="0" spc="-80" dirty="0">
                          <a:effectLst/>
                        </a:rPr>
                        <a:t>] </a:t>
                      </a:r>
                      <a:r>
                        <a:rPr lang="ko-KR" altLang="en-US" sz="1200" kern="0" spc="-80" dirty="0">
                          <a:effectLst/>
                        </a:rPr>
                        <a:t>및 제</a:t>
                      </a:r>
                      <a:r>
                        <a:rPr lang="en-US" altLang="ko-KR" sz="1200" kern="0" spc="-80" dirty="0">
                          <a:effectLst/>
                        </a:rPr>
                        <a:t>140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 err="1">
                          <a:effectLst/>
                        </a:rPr>
                        <a:t>항ㆍ제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 err="1">
                          <a:effectLst/>
                        </a:rPr>
                        <a:t>항ㆍ제</a:t>
                      </a:r>
                      <a:r>
                        <a:rPr lang="en-US" altLang="ko-KR" sz="1200" kern="0" spc="-80" dirty="0">
                          <a:effectLst/>
                        </a:rPr>
                        <a:t>5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정정심판의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청구 및 보정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을 준용한다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이 경우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11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명세서 또는 도면의 보정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중 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162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심리의 종결이 통지되기 전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같은 조 제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심리가 재개된 경우에는 그 후 다시 같은 조 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심리의 종결이 통지되기 전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에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는 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133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정정청구가능기간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또는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정정심판의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직권심리에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대한 의견서 제출기간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따라 지정된 기간에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로 본다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⑤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정정청구의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취하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</a:t>
                      </a:r>
                      <a:r>
                        <a:rPr lang="ko-KR" altLang="en-US" sz="1200" kern="0" spc="-80" dirty="0" err="1">
                          <a:effectLst/>
                        </a:rPr>
                        <a:t>정정청구는</a:t>
                      </a:r>
                      <a:r>
                        <a:rPr lang="ko-KR" altLang="en-US" sz="1200" kern="0" spc="-80" dirty="0">
                          <a:effectLst/>
                        </a:rPr>
                        <a:t> 다음 각 호의 어느 하나에 해당하는 기간에만 취하할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1.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정정을 청구할 수 있도록 지정된 기간과 그 기간의 만료일부터 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개월 이내의 기간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2.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항에서 준용하는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정정심판의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직권심리에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대한 의견서 제출기간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따라 지정된 기간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⑥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특허출원하였을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때 특허를 받을 수 있을 것의 판단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항을 적용할 때 제</a:t>
                      </a:r>
                      <a:r>
                        <a:rPr lang="en-US" altLang="ko-KR" sz="1200" kern="0" spc="-80" dirty="0">
                          <a:effectLst/>
                        </a:rPr>
                        <a:t>133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특허무효심판이 청구된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청구항을</a:t>
                      </a:r>
                      <a:r>
                        <a:rPr lang="ko-KR" altLang="en-US" sz="1200" kern="0" spc="-80" dirty="0">
                          <a:effectLst/>
                        </a:rPr>
                        <a:t> 정정하는 경우에는 제</a:t>
                      </a:r>
                      <a:r>
                        <a:rPr lang="en-US" altLang="ko-KR" sz="1200" kern="0" spc="-80" dirty="0">
                          <a:effectLst/>
                        </a:rPr>
                        <a:t>136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5</a:t>
                      </a:r>
                      <a:r>
                        <a:rPr lang="ko-KR" altLang="en-US" sz="1200" kern="0" spc="-80" dirty="0">
                          <a:effectLst/>
                        </a:rPr>
                        <a:t>항을 준용하지 아니한다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1743411643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499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546433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2~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특허취소신청과</a:t>
            </a:r>
            <a:r>
              <a:rPr lang="en-US" altLang="ko-KR" dirty="0"/>
              <a:t> </a:t>
            </a:r>
            <a:r>
              <a:rPr lang="ko-KR" altLang="en-US" dirty="0"/>
              <a:t>특허무효심판의 법조문 비교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157008"/>
              </p:ext>
            </p:extLst>
          </p:nvPr>
        </p:nvGraphicFramePr>
        <p:xfrm>
          <a:off x="317501" y="1036281"/>
          <a:ext cx="11569700" cy="483305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619035">
                  <a:extLst>
                    <a:ext uri="{9D8B030D-6E8A-4147-A177-3AD203B41FA5}">
                      <a16:colId xmlns:a16="http://schemas.microsoft.com/office/drawing/2014/main" val="4122316602"/>
                    </a:ext>
                  </a:extLst>
                </a:gridCol>
                <a:gridCol w="5950665">
                  <a:extLst>
                    <a:ext uri="{9D8B030D-6E8A-4147-A177-3AD203B41FA5}">
                      <a16:colId xmlns:a16="http://schemas.microsoft.com/office/drawing/2014/main" val="3501181814"/>
                    </a:ext>
                  </a:extLst>
                </a:gridCol>
              </a:tblGrid>
              <a:tr h="820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특허취소신청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특허무효심판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54057"/>
                  </a:ext>
                </a:extLst>
              </a:tr>
              <a:tr h="1795570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4【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특허취소신청의 방식 등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취소신청서의 제출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특허취소신청을 하려는 자는 다음 각 호의 사항을 적은 특허취소신청서를 특허심판원장에게 제출하여야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1. </a:t>
                      </a:r>
                      <a:r>
                        <a:rPr lang="ko-KR" altLang="en-US" sz="1200" u="sng" kern="0" spc="-80" dirty="0">
                          <a:effectLst/>
                        </a:rPr>
                        <a:t>신청인</a:t>
                      </a:r>
                      <a:r>
                        <a:rPr lang="ko-KR" altLang="en-US" sz="1200" kern="0" spc="-80" dirty="0">
                          <a:effectLst/>
                        </a:rPr>
                        <a:t>의 성명 및 주소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법인인 경우에는 그 명칭 및 영업소의 소재지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2. </a:t>
                      </a:r>
                      <a:r>
                        <a:rPr lang="ko-KR" altLang="en-US" sz="1200" kern="0" spc="-80" dirty="0">
                          <a:effectLst/>
                        </a:rPr>
                        <a:t>대리인이 있는 경우에는 그 대리인의 성명 및 주소나 영업소의 소재지</a:t>
                      </a:r>
                      <a:r>
                        <a:rPr lang="en-US" altLang="ko-KR" sz="1200" kern="0" spc="-80" dirty="0"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effectLst/>
                        </a:rPr>
                        <a:t>대리인이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특허법인ㆍ특허법인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유한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인 경우에는 그 명칭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사무소의 소재지 및 지정된 변리사의 성명</a:t>
                      </a:r>
                      <a:r>
                        <a:rPr lang="en-US" altLang="ko-KR" sz="1200" kern="0" spc="-80" dirty="0">
                          <a:effectLst/>
                        </a:rPr>
                        <a:t>]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3.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특허취소신청의 대상이 되는 특허의 표시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4.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특허취소신청의 이유 및 증거의 표시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취소신청서의 보정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제출된 특허취소신청서의 보정은 그 요지를 변경할 수 없다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다만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기간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그 기간 중 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13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특허취소결정하려고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특허의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취소이유를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통지하고 의견서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제출기회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부여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에 따른 통지가 있는 경우에는 통지한 때까지로 한정한다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에 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 err="1">
                          <a:effectLst/>
                        </a:rPr>
                        <a:t>항제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호의 사항을 보정하는 경우에는 그러하지 아니하다</a:t>
                      </a:r>
                      <a:r>
                        <a:rPr lang="en-US" altLang="ko-KR" sz="1200" kern="0" spc="-80" dirty="0">
                          <a:effectLst/>
                        </a:rPr>
                        <a:t>. 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부본 송달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특허취소신청이 있으면 그 신청서의 부본을 특허권자에게 송달하여야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④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통지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특허취소신청이 있으면 그 사실을 해당 특허권의 전용실시권자나 그 밖에 그 특허에 관하여 등록을 한 권리를 가지는 자에게 알려야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140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심판청구방식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심판청구서의 제출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심판을 청구하려는 자는 다음 각 호의 사항을 적은 심판청구서를 특허심판원장에게 제출하여야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1. </a:t>
                      </a:r>
                      <a:r>
                        <a:rPr lang="ko-KR" altLang="en-US" sz="1200" kern="0" spc="-80" dirty="0">
                          <a:effectLst/>
                        </a:rPr>
                        <a:t>당사자의 성명 및 주소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법인인 경우에는 그 명칭 및 영업소의 소재지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2. </a:t>
                      </a:r>
                      <a:r>
                        <a:rPr lang="ko-KR" altLang="en-US" sz="1200" kern="0" spc="-80" dirty="0">
                          <a:effectLst/>
                        </a:rPr>
                        <a:t>대리인이 있는 경우에는 그 대리인의 성명 및 주소나 영업소의 소재지</a:t>
                      </a:r>
                      <a:r>
                        <a:rPr lang="en-US" altLang="ko-KR" sz="1200" kern="0" spc="-80" dirty="0"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effectLst/>
                        </a:rPr>
                        <a:t>대리인이 특허법인</a:t>
                      </a:r>
                      <a:r>
                        <a:rPr lang="en-US" altLang="ko-KR" sz="1200" kern="0" spc="-80" dirty="0">
                          <a:effectLst/>
                        </a:rPr>
                        <a:t>·</a:t>
                      </a:r>
                      <a:r>
                        <a:rPr lang="ko-KR" altLang="en-US" sz="1200" kern="0" spc="-80" dirty="0">
                          <a:effectLst/>
                        </a:rPr>
                        <a:t>특허법인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유한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인 경우에는 그 명칭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사무소의 소재지 및 지정된 변리사의 성명</a:t>
                      </a:r>
                      <a:r>
                        <a:rPr lang="en-US" altLang="ko-KR" sz="1200" kern="0" spc="-80" dirty="0">
                          <a:effectLst/>
                        </a:rPr>
                        <a:t>]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3. 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심판사건의</a:t>
                      </a:r>
                      <a:r>
                        <a:rPr lang="ko-KR" altLang="en-US" sz="1200" kern="0" spc="-80" dirty="0">
                          <a:effectLst/>
                        </a:rPr>
                        <a:t> 표시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4. </a:t>
                      </a:r>
                      <a:r>
                        <a:rPr lang="ko-KR" altLang="en-US" sz="1200" kern="0" spc="-80" dirty="0">
                          <a:effectLst/>
                        </a:rPr>
                        <a:t>청구의 취지 및 그 이유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②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심판청구서의 보정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제출된 심판청구서의 보정은 그 요지를 변경할 수 없다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다만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다음 각 호의 어느 하나에 해당하는 경우에는 그러하지 아니하다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1.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 err="1">
                          <a:effectLst/>
                        </a:rPr>
                        <a:t>항제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호에 따른 당사자 중 특허권자의 기재를 바로잡기 위하여 보정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특허권자를</a:t>
                      </a:r>
                      <a:r>
                        <a:rPr lang="ko-KR" altLang="en-US" sz="1200" kern="0" spc="-80" dirty="0">
                          <a:effectLst/>
                        </a:rPr>
                        <a:t> 추가하는 것을 포함하되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청구인이 특허권자인 경우에는 추가되는 특허권자의 동의가 있는 경우로 한정한다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하는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2.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 err="1">
                          <a:effectLst/>
                        </a:rPr>
                        <a:t>항제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호에 따른 청구의 이유를 보정하는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3. </a:t>
                      </a:r>
                      <a:r>
                        <a:rPr lang="ko-KR" altLang="en-US" sz="1200" kern="0" spc="-80" dirty="0">
                          <a:effectLst/>
                        </a:rPr>
                        <a:t>생략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147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답변서 제출 등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부본 송달 및 답변서 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제출기회의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부여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심판이 청구되면 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심판청구서</a:t>
                      </a:r>
                      <a:r>
                        <a:rPr lang="ko-KR" altLang="en-US" sz="1200" kern="0" spc="-80" dirty="0">
                          <a:effectLst/>
                        </a:rPr>
                        <a:t> 부본을 피청구인에게 송달하고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기간을 정하여 답변서를 제출할 수 있는 기회를 주어야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(</a:t>
                      </a:r>
                      <a:r>
                        <a:rPr lang="ko-KR" altLang="en-US" sz="1200" kern="0" spc="-80" dirty="0">
                          <a:effectLst/>
                        </a:rPr>
                        <a:t>답변서 부본 송달</a:t>
                      </a:r>
                      <a:r>
                        <a:rPr lang="en-US" altLang="ko-KR" sz="1200" kern="0" spc="-80" dirty="0"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항의 답변서를 받았을 때에는 그 부본을 청구인에게 송달하여야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133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특허의 무효심판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④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통지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심판이 청구된 경우에는 그 취지를 해당 특허권의 전용실시권자나 그 밖에 특허에 관하여 등록을 한 권리를 가지는 자에게 알려야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1743411643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500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764536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2~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특허취소신청과</a:t>
            </a:r>
            <a:r>
              <a:rPr lang="en-US" altLang="ko-KR" dirty="0"/>
              <a:t> </a:t>
            </a:r>
            <a:r>
              <a:rPr lang="ko-KR" altLang="en-US" dirty="0"/>
              <a:t>특허무효심판의 법조문 비교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306999"/>
              </p:ext>
            </p:extLst>
          </p:nvPr>
        </p:nvGraphicFramePr>
        <p:xfrm>
          <a:off x="317501" y="1036281"/>
          <a:ext cx="11569700" cy="505251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619035">
                  <a:extLst>
                    <a:ext uri="{9D8B030D-6E8A-4147-A177-3AD203B41FA5}">
                      <a16:colId xmlns:a16="http://schemas.microsoft.com/office/drawing/2014/main" val="4122316602"/>
                    </a:ext>
                  </a:extLst>
                </a:gridCol>
                <a:gridCol w="5950665">
                  <a:extLst>
                    <a:ext uri="{9D8B030D-6E8A-4147-A177-3AD203B41FA5}">
                      <a16:colId xmlns:a16="http://schemas.microsoft.com/office/drawing/2014/main" val="3501181814"/>
                    </a:ext>
                  </a:extLst>
                </a:gridCol>
              </a:tblGrid>
              <a:tr h="18290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특허취소신청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특허무효심판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54057"/>
                  </a:ext>
                </a:extLst>
              </a:tr>
              <a:tr h="2057096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5【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특허취소신청서 등의 </a:t>
                      </a:r>
                      <a:r>
                        <a:rPr lang="ko-KR" altLang="en-US" sz="1200" kern="0" spc="-80" dirty="0" err="1">
                          <a:effectLst/>
                        </a:rPr>
                        <a:t>보정ㆍ각하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대상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다음 각 호의 어느 하나에 해당하는 경우에는 기간을 정하여 그 보정을 명하여야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1.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특허취소신청서가 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u="sng" kern="0" spc="-80" dirty="0">
                          <a:effectLst/>
                        </a:rPr>
                        <a:t>(</a:t>
                      </a:r>
                      <a:r>
                        <a:rPr lang="ko-KR" altLang="en-US" sz="1200" u="sng" kern="0" spc="-80" dirty="0">
                          <a:effectLst/>
                        </a:rPr>
                        <a:t>같은 항 제</a:t>
                      </a:r>
                      <a:r>
                        <a:rPr lang="en-US" altLang="ko-KR" sz="1200" u="sng" kern="0" spc="-80" dirty="0">
                          <a:effectLst/>
                        </a:rPr>
                        <a:t>4</a:t>
                      </a:r>
                      <a:r>
                        <a:rPr lang="ko-KR" altLang="en-US" sz="1200" u="sng" kern="0" spc="-80" dirty="0">
                          <a:effectLst/>
                        </a:rPr>
                        <a:t>호는 제외한다</a:t>
                      </a:r>
                      <a:r>
                        <a:rPr lang="en-US" altLang="ko-KR" sz="1200" u="sng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을 위반한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2.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특허취소신청에 관한 절차가 다음 각 목의 어느 하나에 해당하는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  가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또는 제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조를 위반한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  나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이 법 또는 이 법에 따른 명령으로 정하는 방식을 위반한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  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82</a:t>
                      </a:r>
                      <a:r>
                        <a:rPr lang="ko-KR" altLang="en-US" sz="1200" kern="0" spc="-80" dirty="0">
                          <a:effectLst/>
                        </a:rPr>
                        <a:t>조에 따라 내야 할 수수료를 내지 아니한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각하결정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보정명령을 받은 자가 지정된 기간에 보정을 하지 아니하거나 보정한 사항이 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항을 위반한 경우에는 특허취소신청서 또는 해당 절차와 관련된 청구 또는 신청 등을 결정으로 각하하여야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방식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</a:t>
                      </a:r>
                      <a:r>
                        <a:rPr lang="ko-KR" altLang="en-US" sz="1200" kern="0" spc="-80" dirty="0" err="1">
                          <a:effectLst/>
                        </a:rPr>
                        <a:t>각하결정은</a:t>
                      </a:r>
                      <a:r>
                        <a:rPr lang="ko-KR" altLang="en-US" sz="1200" kern="0" spc="-80" dirty="0">
                          <a:effectLst/>
                        </a:rPr>
                        <a:t> 서면으로 하여야 하며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그 이유를 붙여야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141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심판청구서</a:t>
                      </a:r>
                      <a:r>
                        <a:rPr lang="ko-KR" altLang="en-US" sz="1200" kern="0" spc="-80" dirty="0">
                          <a:effectLst/>
                        </a:rPr>
                        <a:t> 등의 각하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대상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다음 각 호의 어느 하나에 해당하는 경우에는 기간을 정하여 그 보정을 명하여야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다만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보정할 사항이 경미하고 명확한 경우에는 직권으로 보정할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1. </a:t>
                      </a:r>
                      <a:r>
                        <a:rPr lang="ko-KR" altLang="en-US" sz="1200" kern="0" spc="-80" dirty="0">
                          <a:effectLst/>
                        </a:rPr>
                        <a:t>심판청구서가 제</a:t>
                      </a:r>
                      <a:r>
                        <a:rPr lang="en-US" altLang="ko-KR" sz="1200" kern="0" spc="-80" dirty="0">
                          <a:effectLst/>
                        </a:rPr>
                        <a:t>140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및 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항부터 제</a:t>
                      </a:r>
                      <a:r>
                        <a:rPr lang="en-US" altLang="ko-KR" sz="1200" kern="0" spc="-80" dirty="0">
                          <a:effectLst/>
                        </a:rPr>
                        <a:t>5</a:t>
                      </a:r>
                      <a:r>
                        <a:rPr lang="ko-KR" altLang="en-US" sz="1200" kern="0" spc="-80" dirty="0">
                          <a:effectLst/>
                        </a:rPr>
                        <a:t>항까지 또는 제</a:t>
                      </a:r>
                      <a:r>
                        <a:rPr lang="en-US" altLang="ko-KR" sz="1200" kern="0" spc="-80" dirty="0">
                          <a:effectLst/>
                        </a:rPr>
                        <a:t>140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심판청구서</a:t>
                      </a:r>
                      <a:r>
                        <a:rPr lang="ko-KR" altLang="en-US" sz="1200" kern="0" spc="-80" dirty="0">
                          <a:effectLst/>
                        </a:rPr>
                        <a:t> 기재</a:t>
                      </a:r>
                      <a:r>
                        <a:rPr lang="en-US" altLang="ko-KR" sz="1200" kern="0" spc="-80" dirty="0"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을 위반한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2. </a:t>
                      </a:r>
                      <a:r>
                        <a:rPr lang="ko-KR" altLang="en-US" sz="1200" kern="0" spc="-80" dirty="0">
                          <a:effectLst/>
                        </a:rPr>
                        <a:t>심판에 관한 절차가 다음 각 목의 어느 하나에 해당하는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  가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effectLst/>
                        </a:rPr>
                        <a:t>미성년자 등의 행위능력</a:t>
                      </a:r>
                      <a:r>
                        <a:rPr lang="en-US" altLang="ko-KR" sz="1200" kern="0" spc="-80" dirty="0">
                          <a:effectLst/>
                        </a:rPr>
                        <a:t>] </a:t>
                      </a:r>
                      <a:r>
                        <a:rPr lang="ko-KR" altLang="en-US" sz="1200" kern="0" spc="-80" dirty="0">
                          <a:effectLst/>
                        </a:rPr>
                        <a:t>또는 제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effectLst/>
                        </a:rPr>
                        <a:t>대리권의 범위</a:t>
                      </a:r>
                      <a:r>
                        <a:rPr lang="en-US" altLang="ko-KR" sz="1200" kern="0" spc="-80" dirty="0"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를 위반한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  나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82</a:t>
                      </a:r>
                      <a:r>
                        <a:rPr lang="ko-KR" altLang="en-US" sz="1200" kern="0" spc="-80" dirty="0">
                          <a:effectLst/>
                        </a:rPr>
                        <a:t>조에 따라 내야 할 수수료를 내지 아니한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  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이 법 또는 이 법에 따른 명령으로 정하는 방식을 위반한 경우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각하결정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보정명령을 받은 자가 지정된 기간에 보정을 하지 아니하거나 보정한 사항이 제</a:t>
                      </a:r>
                      <a:r>
                        <a:rPr lang="en-US" altLang="ko-KR" sz="1200" kern="0" spc="-80" dirty="0">
                          <a:effectLst/>
                        </a:rPr>
                        <a:t>140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 또는 제</a:t>
                      </a:r>
                      <a:r>
                        <a:rPr lang="en-US" altLang="ko-KR" sz="1200" kern="0" spc="-80" dirty="0">
                          <a:effectLst/>
                        </a:rPr>
                        <a:t>140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항을 위반한 경우에는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심판청구서</a:t>
                      </a:r>
                      <a:r>
                        <a:rPr lang="ko-KR" altLang="en-US" sz="1200" kern="0" spc="-80" dirty="0">
                          <a:effectLst/>
                        </a:rPr>
                        <a:t> 또는 해당 절차와 관련된 청구나 신청 등을 결정으로 각하하여야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방식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결정은 서면으로 하여야 하며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그 이유를 붙여야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④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직권보정의 절차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통지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단서에 따라 직권보정을 하려면 그 직권보정 사항을 청구인에게 통지하여야 한다</a:t>
                      </a: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⑤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직권보정의 절차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의견서의 제출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청구인은 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단서에 따른 직권보정 사항을 받아들일 수 없으면 직권보정 사항의 통지를 받은 날부터 </a:t>
                      </a:r>
                      <a:r>
                        <a:rPr lang="en-US" altLang="ko-KR" sz="1200" kern="0" spc="-80" dirty="0">
                          <a:effectLst/>
                        </a:rPr>
                        <a:t>7</a:t>
                      </a:r>
                      <a:r>
                        <a:rPr lang="ko-KR" altLang="en-US" sz="1200" kern="0" spc="-80" dirty="0">
                          <a:effectLst/>
                        </a:rPr>
                        <a:t>일 이내에 그 직권보정 사항에 대한 의견서를 심판장에게 제출하여야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⑥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직권보정의 효과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의견서가 제출된 경우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청구인이 제</a:t>
                      </a:r>
                      <a:r>
                        <a:rPr lang="en-US" altLang="ko-KR" sz="1200" kern="0" spc="-80" dirty="0">
                          <a:effectLst/>
                        </a:rPr>
                        <a:t>5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의견서를 제출한 경우에는 해당 직권보정 사항은 처음부터 없었던 것으로 본다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b="0" kern="0" spc="-80" dirty="0">
                          <a:solidFill>
                            <a:schemeClr val="tx1"/>
                          </a:solidFill>
                          <a:effectLst/>
                        </a:rPr>
                        <a:t>⑦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직권보정의 효과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명백히 잘못된 경우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단서에 따른 직권보정이 명백히 잘못된 경우 그 직권보정은 처음부터 없었던 것으로 본다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1743411643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501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79448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2~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특허취소신청과</a:t>
            </a:r>
            <a:r>
              <a:rPr lang="en-US" altLang="ko-KR" dirty="0"/>
              <a:t> </a:t>
            </a:r>
            <a:r>
              <a:rPr lang="ko-KR" altLang="en-US" dirty="0"/>
              <a:t>특허무효심판의 법조문 비교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8080134"/>
              </p:ext>
            </p:extLst>
          </p:nvPr>
        </p:nvGraphicFramePr>
        <p:xfrm>
          <a:off x="317501" y="1036281"/>
          <a:ext cx="11569700" cy="417901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619035">
                  <a:extLst>
                    <a:ext uri="{9D8B030D-6E8A-4147-A177-3AD203B41FA5}">
                      <a16:colId xmlns:a16="http://schemas.microsoft.com/office/drawing/2014/main" val="4122316602"/>
                    </a:ext>
                  </a:extLst>
                </a:gridCol>
                <a:gridCol w="5950665">
                  <a:extLst>
                    <a:ext uri="{9D8B030D-6E8A-4147-A177-3AD203B41FA5}">
                      <a16:colId xmlns:a16="http://schemas.microsoft.com/office/drawing/2014/main" val="3501181814"/>
                    </a:ext>
                  </a:extLst>
                </a:gridCol>
              </a:tblGrid>
              <a:tr h="18290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특허취소신청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특허무효심판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54057"/>
                  </a:ext>
                </a:extLst>
              </a:tr>
              <a:tr h="938652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6【</a:t>
                      </a:r>
                      <a:r>
                        <a:rPr lang="ko-KR" altLang="en-US" sz="1200" kern="0" spc="-80" dirty="0">
                          <a:effectLst/>
                        </a:rPr>
                        <a:t>보정할 수 없는 특허취소신청의 </a:t>
                      </a:r>
                      <a:r>
                        <a:rPr lang="ko-KR" altLang="en-US" sz="1200" kern="0" spc="-80" dirty="0" err="1">
                          <a:effectLst/>
                        </a:rPr>
                        <a:t>각하결정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대상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7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합의체는 </a:t>
                      </a:r>
                      <a:r>
                        <a:rPr lang="ko-KR" altLang="en-US" sz="1200" kern="0" spc="-80" dirty="0" err="1">
                          <a:effectLst/>
                        </a:rPr>
                        <a:t>부적법한</a:t>
                      </a:r>
                      <a:r>
                        <a:rPr lang="ko-KR" altLang="en-US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특허취소신청으로서</a:t>
                      </a:r>
                      <a:r>
                        <a:rPr lang="ko-KR" altLang="en-US" sz="1200" kern="0" spc="-80" dirty="0">
                          <a:effectLst/>
                        </a:rPr>
                        <a:t> 그 흠을 보정할 수 없을 때에는 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항에도 불구하고 특허권자에게 특허취소신청서의 부본을 송달하지 아니하고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결정으로 그 특허취소신청을 각하할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불복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</a:t>
                      </a:r>
                      <a:r>
                        <a:rPr lang="ko-KR" altLang="en-US" sz="1200" kern="0" spc="-80" dirty="0" err="1">
                          <a:effectLst/>
                        </a:rPr>
                        <a:t>각하결정에</a:t>
                      </a:r>
                      <a:r>
                        <a:rPr lang="ko-KR" altLang="en-US" sz="1200" kern="0" spc="-80" dirty="0">
                          <a:effectLst/>
                        </a:rPr>
                        <a:t> 대해서는 불복할 수 없다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142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보정할 수 없는 심판청구의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심결각하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 err="1">
                          <a:effectLst/>
                        </a:rPr>
                        <a:t>부적법한</a:t>
                      </a:r>
                      <a:r>
                        <a:rPr lang="ko-KR" altLang="en-US" sz="1200" kern="0" spc="-80" dirty="0">
                          <a:effectLst/>
                        </a:rPr>
                        <a:t> 심판청구로서 그 흠을 보정할 수 없을 때에는 피청구인에게 답변서 제출의 기회를 주지 아니하고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심결로써</a:t>
                      </a:r>
                      <a:r>
                        <a:rPr lang="ko-KR" altLang="en-US" sz="1200" kern="0" spc="-80" dirty="0">
                          <a:effectLst/>
                        </a:rPr>
                        <a:t> 그 청구를 각하할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1905232879"/>
                  </a:ext>
                </a:extLst>
              </a:tr>
              <a:tr h="1194346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7【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특허취소신청의 합의체 등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심판의 주체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특허취소신청은 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명 또는 </a:t>
                      </a:r>
                      <a:r>
                        <a:rPr lang="en-US" altLang="ko-KR" sz="1200" kern="0" spc="-80" dirty="0">
                          <a:effectLst/>
                        </a:rPr>
                        <a:t>5</a:t>
                      </a:r>
                      <a:r>
                        <a:rPr lang="ko-KR" altLang="en-US" sz="1200" kern="0" spc="-80" dirty="0">
                          <a:effectLst/>
                        </a:rPr>
                        <a:t>명의 심판관으로 구성되는 합의체가 심리하여 결정한다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준용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항의 합의체 및 이를 구성하는 심판관에 관하여는 제</a:t>
                      </a:r>
                      <a:r>
                        <a:rPr lang="en-US" altLang="ko-KR" sz="1200" kern="0" spc="-80" dirty="0">
                          <a:effectLst/>
                        </a:rPr>
                        <a:t>143</a:t>
                      </a:r>
                      <a:r>
                        <a:rPr lang="ko-KR" altLang="en-US" sz="1200" kern="0" spc="-80" dirty="0">
                          <a:effectLst/>
                        </a:rPr>
                        <a:t>조부터 제</a:t>
                      </a:r>
                      <a:r>
                        <a:rPr lang="en-US" altLang="ko-KR" sz="1200" kern="0" spc="-80" dirty="0">
                          <a:effectLst/>
                        </a:rPr>
                        <a:t>145</a:t>
                      </a:r>
                      <a:r>
                        <a:rPr lang="ko-KR" altLang="en-US" sz="1200" kern="0" spc="-80" dirty="0">
                          <a:effectLst/>
                        </a:rPr>
                        <a:t>조까지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심판관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심판장의 자격 및 지정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146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 err="1">
                          <a:effectLst/>
                        </a:rPr>
                        <a:t>항ㆍ제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심판관합의체의 합의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148</a:t>
                      </a:r>
                      <a:r>
                        <a:rPr lang="ko-KR" altLang="en-US" sz="1200" kern="0" spc="-80" dirty="0">
                          <a:effectLst/>
                        </a:rPr>
                        <a:t>조부터 제</a:t>
                      </a:r>
                      <a:r>
                        <a:rPr lang="en-US" altLang="ko-KR" sz="1200" kern="0" spc="-80" dirty="0">
                          <a:effectLst/>
                        </a:rPr>
                        <a:t>153</a:t>
                      </a:r>
                      <a:r>
                        <a:rPr lang="ko-KR" altLang="en-US" sz="1200" kern="0" spc="-80" dirty="0">
                          <a:effectLst/>
                        </a:rPr>
                        <a:t>조까지 및 제</a:t>
                      </a:r>
                      <a:r>
                        <a:rPr lang="en-US" altLang="ko-KR" sz="1200" kern="0" spc="-80" dirty="0">
                          <a:effectLst/>
                        </a:rPr>
                        <a:t>153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심판관의 제척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기피 및 회피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를 준용한다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이 경우 제</a:t>
                      </a:r>
                      <a:r>
                        <a:rPr lang="en-US" altLang="ko-KR" sz="1200" kern="0" spc="-80" dirty="0">
                          <a:effectLst/>
                        </a:rPr>
                        <a:t>148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호 중 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은 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특허취소결정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으로 본다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146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심판의 합의체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심판의 주체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심판은 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명 또는 </a:t>
                      </a:r>
                      <a:r>
                        <a:rPr lang="en-US" altLang="ko-KR" sz="1200" kern="0" spc="-80" dirty="0">
                          <a:effectLst/>
                        </a:rPr>
                        <a:t>5</a:t>
                      </a:r>
                      <a:r>
                        <a:rPr lang="ko-KR" altLang="en-US" sz="1200" kern="0" spc="-80" dirty="0">
                          <a:effectLst/>
                        </a:rPr>
                        <a:t>명의 심판관으로 구성되는 합의체가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합의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과반수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항의 합의체의 합의는 과반수로 결정한다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합의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비공개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심판의 합의는 공개하지 아니한다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1382467337"/>
                  </a:ext>
                </a:extLst>
              </a:tr>
              <a:tr h="1194346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8【</a:t>
                      </a:r>
                      <a:r>
                        <a:rPr lang="ko-KR" altLang="en-US" sz="1200" kern="0" spc="-80" dirty="0">
                          <a:effectLst/>
                        </a:rPr>
                        <a:t>심리의 방식 등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서면심리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특허취소신청에 관한 심리는 서면으로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특허권자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인에게 절차의 정지원인이 있는 경우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공유인 특허권의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특허권자</a:t>
                      </a:r>
                      <a:r>
                        <a:rPr lang="ko-KR" altLang="en-US" sz="1200" kern="0" spc="-80" dirty="0">
                          <a:effectLst/>
                        </a:rPr>
                        <a:t> 중 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인에게 특허취소신청절차의 중단 또는 중지의 원인이 있으면 모두에게 그 효력이 발생한다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154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심리 등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심리방식의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선택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심판은 구술심리 또는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서면심리로</a:t>
                      </a:r>
                      <a:r>
                        <a:rPr lang="ko-KR" altLang="en-US" sz="1200" kern="0" spc="-80" dirty="0">
                          <a:effectLst/>
                        </a:rPr>
                        <a:t> 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다만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당사자가 구술심리를 신청하였을 때에는 서면심리만으로 결정할 수 있다고 인정되는 경우 외에는 구술심리를 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139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 err="1">
                          <a:effectLst/>
                        </a:rPr>
                        <a:t>공동심판의</a:t>
                      </a:r>
                      <a:r>
                        <a:rPr lang="ko-KR" altLang="en-US" sz="1200" kern="0" spc="-80" dirty="0">
                          <a:effectLst/>
                        </a:rPr>
                        <a:t> 청구 등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④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청구인ㆍ피청구인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인의 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정지원인이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있는 경우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또는 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청구인이나 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피청구인 중 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인에게 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심판절차의</a:t>
                      </a:r>
                      <a:r>
                        <a:rPr lang="ko-KR" altLang="en-US" sz="1200" kern="0" spc="-80" dirty="0">
                          <a:effectLst/>
                        </a:rPr>
                        <a:t> 중단 또는 중지의 원인이 있으면 모두에게 그 효력이 발생한다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624847616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502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193882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2~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특허취소신청과</a:t>
            </a:r>
            <a:r>
              <a:rPr lang="en-US" altLang="ko-KR" dirty="0"/>
              <a:t> </a:t>
            </a:r>
            <a:r>
              <a:rPr lang="ko-KR" altLang="en-US" dirty="0"/>
              <a:t>특허무효심판의 법조문 비교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90251"/>
              </p:ext>
            </p:extLst>
          </p:nvPr>
        </p:nvGraphicFramePr>
        <p:xfrm>
          <a:off x="317501" y="1036281"/>
          <a:ext cx="11569700" cy="505467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619035">
                  <a:extLst>
                    <a:ext uri="{9D8B030D-6E8A-4147-A177-3AD203B41FA5}">
                      <a16:colId xmlns:a16="http://schemas.microsoft.com/office/drawing/2014/main" val="4122316602"/>
                    </a:ext>
                  </a:extLst>
                </a:gridCol>
                <a:gridCol w="5950665">
                  <a:extLst>
                    <a:ext uri="{9D8B030D-6E8A-4147-A177-3AD203B41FA5}">
                      <a16:colId xmlns:a16="http://schemas.microsoft.com/office/drawing/2014/main" val="3501181814"/>
                    </a:ext>
                  </a:extLst>
                </a:gridCol>
              </a:tblGrid>
              <a:tr h="533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특허취소신청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특허무효심판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54057"/>
                  </a:ext>
                </a:extLst>
              </a:tr>
              <a:tr h="430718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9【</a:t>
                      </a:r>
                      <a:r>
                        <a:rPr lang="ko-KR" altLang="en-US" sz="1200" kern="0" spc="-80" dirty="0">
                          <a:effectLst/>
                        </a:rPr>
                        <a:t>참가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보조참가의 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특허권에 관하여 권리를 가진 자 또는 이해관계를 가진 자는 특허취소신청에 대한 결정이 있을 때까지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특허권자를</a:t>
                      </a:r>
                      <a:r>
                        <a:rPr lang="ko-KR" altLang="en-US" sz="1200" kern="0" spc="-80" dirty="0">
                          <a:effectLst/>
                        </a:rPr>
                        <a:t> 보조하기 위하여 그 심리에 참가할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준용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항의 참가에 관하여는 제</a:t>
                      </a:r>
                      <a:r>
                        <a:rPr lang="en-US" altLang="ko-KR" sz="1200" kern="0" spc="-80" dirty="0">
                          <a:effectLst/>
                        </a:rPr>
                        <a:t>155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보조참가의 효과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 err="1">
                          <a:effectLst/>
                        </a:rPr>
                        <a:t>ㆍ제</a:t>
                      </a:r>
                      <a:r>
                        <a:rPr lang="en-US" altLang="ko-KR" sz="1200" kern="0" spc="-80" dirty="0">
                          <a:effectLst/>
                        </a:rPr>
                        <a:t>5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참가인 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인에게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정지원인이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있는 경우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및 제</a:t>
                      </a:r>
                      <a:r>
                        <a:rPr lang="en-US" altLang="ko-KR" sz="1200" kern="0" spc="-80" dirty="0">
                          <a:effectLst/>
                        </a:rPr>
                        <a:t>156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참가의 절차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를 준용한다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155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참가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당사자 참가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139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심판을 청구할 수 있는 자는 심리가 종결될 때까지 그 심판에 참가할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당사자 참가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효과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참가인은 </a:t>
                      </a:r>
                      <a:r>
                        <a:rPr lang="ko-KR" altLang="en-US" sz="1200" kern="0" spc="-80" dirty="0" err="1">
                          <a:effectLst/>
                        </a:rPr>
                        <a:t>피참가인이</a:t>
                      </a:r>
                      <a:r>
                        <a:rPr lang="ko-KR" altLang="en-US" sz="1200" kern="0" spc="-80" dirty="0">
                          <a:effectLst/>
                        </a:rPr>
                        <a:t> 그 심판의 청구를 취하한 후에도 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심판절차를</a:t>
                      </a:r>
                      <a:r>
                        <a:rPr lang="ko-KR" altLang="en-US" sz="1200" kern="0" spc="-80" dirty="0">
                          <a:effectLst/>
                        </a:rPr>
                        <a:t> 속행할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보조 참가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심판의 결과에 대하여 이해관계를 가진 자는 심리가 종결될 때까지 당사자의 어느 한쪽을 보조하기 위하여 그 심판에 참가할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④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보조 참가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효과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참가인은 모든 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심판절차를</a:t>
                      </a:r>
                      <a:r>
                        <a:rPr lang="ko-KR" altLang="en-US" sz="1200" kern="0" spc="-80" dirty="0">
                          <a:effectLst/>
                        </a:rPr>
                        <a:t> 밟을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⑤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참가인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1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인에게 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정지원인이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있는 경우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또는 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참가인에게 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심판절차의</a:t>
                      </a:r>
                      <a:r>
                        <a:rPr lang="ko-KR" altLang="en-US" sz="1200" kern="0" spc="-80" dirty="0">
                          <a:effectLst/>
                        </a:rPr>
                        <a:t> 중단 또는 중지의 원인이 있으면 그 중단 또는 중지는 </a:t>
                      </a:r>
                      <a:r>
                        <a:rPr lang="ko-KR" altLang="en-US" sz="1200" kern="0" spc="-80" dirty="0" err="1">
                          <a:effectLst/>
                        </a:rPr>
                        <a:t>피참가인에</a:t>
                      </a:r>
                      <a:r>
                        <a:rPr lang="ko-KR" altLang="en-US" sz="1200" kern="0" spc="-80" dirty="0">
                          <a:effectLst/>
                        </a:rPr>
                        <a:t> 대해서도 그 효력이 발생한다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156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참가의 신청 및 결정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신청서 제출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심판에 참가하려는 자는 참가신청서를 심판장에게 제출하여야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의견서 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제출기회의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부여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참가신청이 있는 경우에는 참가신청서 부본을 당사자 및 다른 참가인에게 송달하고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기간을 정하여 의견서를 제출할 수 있는 기회를 주어야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참가여부의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결정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참가신청이 있는 경우에는 심판으로 그 참가 여부를 결정하여야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④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방식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결정은 서면으로 하여야 하며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그 이유를 붙여야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⑤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불복 不可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결정에 대해서는 불복할 수 없다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394184570"/>
                  </a:ext>
                </a:extLst>
              </a:tr>
              <a:tr h="430718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10【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특허취소신청의 심리에서의 </a:t>
                      </a:r>
                      <a:r>
                        <a:rPr lang="ko-KR" altLang="en-US" sz="1200" kern="0" spc="-80" dirty="0" err="1">
                          <a:effectLst/>
                        </a:rPr>
                        <a:t>직권심리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범위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심판관은 특허취소신청에 관하여 특허취소신청인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특허권자</a:t>
                      </a:r>
                      <a:r>
                        <a:rPr lang="ko-KR" altLang="en-US" sz="1200" kern="0" spc="-80" dirty="0">
                          <a:effectLst/>
                        </a:rPr>
                        <a:t> 또는 참가인이 제출하지 아니한 이유에 대해서도 심리할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한계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심판관은 특허취소신청에 관하여 특허취소신청인이 신청하지 아니한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청구항에</a:t>
                      </a:r>
                      <a:r>
                        <a:rPr lang="ko-KR" altLang="en-US" sz="1200" kern="0" spc="-80" dirty="0">
                          <a:effectLst/>
                        </a:rPr>
                        <a:t> 대해서는 심리할 수 없다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159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 err="1">
                          <a:effectLst/>
                        </a:rPr>
                        <a:t>직권심리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범위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심판에서는 당사자 또는 참가인이 신청하지 아니한 이유에 대해서도 심리할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의견서 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제출기회의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부여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이 경우 당사자 및 참가인에게 기간을 정하여 그 이유에 대하여 의견을 진술할 수 있는 기회를 주어야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한계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심판에서는 청구인이 신청하지 아니한 청구의 취지에 대해서는 심리할 수 없다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3278175653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503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040409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2~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특허취소신청과</a:t>
            </a:r>
            <a:r>
              <a:rPr lang="en-US" altLang="ko-KR" dirty="0"/>
              <a:t> </a:t>
            </a:r>
            <a:r>
              <a:rPr lang="ko-KR" altLang="en-US" dirty="0"/>
              <a:t>특허무효심판의 법조문 비교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0687257"/>
              </p:ext>
            </p:extLst>
          </p:nvPr>
        </p:nvGraphicFramePr>
        <p:xfrm>
          <a:off x="317501" y="1036281"/>
          <a:ext cx="11569700" cy="575851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619035">
                  <a:extLst>
                    <a:ext uri="{9D8B030D-6E8A-4147-A177-3AD203B41FA5}">
                      <a16:colId xmlns:a16="http://schemas.microsoft.com/office/drawing/2014/main" val="4122316602"/>
                    </a:ext>
                  </a:extLst>
                </a:gridCol>
                <a:gridCol w="5950665">
                  <a:extLst>
                    <a:ext uri="{9D8B030D-6E8A-4147-A177-3AD203B41FA5}">
                      <a16:colId xmlns:a16="http://schemas.microsoft.com/office/drawing/2014/main" val="3501181814"/>
                    </a:ext>
                  </a:extLst>
                </a:gridCol>
              </a:tblGrid>
              <a:tr h="533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특허취소신청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특허무효심판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54057"/>
                  </a:ext>
                </a:extLst>
              </a:tr>
              <a:tr h="430718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11【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특허취소신청의 병합 또는 분리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병합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심판관 합의체는 하나의 특허권에 관한 둘 이상의 특허취소신청에 대해서는 특별한 사정이 있는 경우를 제외하고는 그 심리를 병합하여 결정하여야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분리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심판관 합의체는 특허취소신청의 심리에 필요하다고 인정하는 경우에는 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병합된 심리를 분리할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160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심리</a:t>
                      </a:r>
                      <a:r>
                        <a:rPr lang="en-US" altLang="ko-KR" sz="1200" kern="0" spc="-80" dirty="0">
                          <a:effectLst/>
                        </a:rPr>
                        <a:t>·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심결의</a:t>
                      </a:r>
                      <a:r>
                        <a:rPr lang="ko-KR" altLang="en-US" sz="1200" kern="0" spc="-80" dirty="0">
                          <a:effectLst/>
                        </a:rPr>
                        <a:t> 병합 또는 분리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심판관은 당사자 양쪽 또는 어느 한쪽이 동일한 둘 이상의 심판에 대하여 심리 또는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심결을</a:t>
                      </a:r>
                      <a:r>
                        <a:rPr lang="ko-KR" altLang="en-US" sz="1200" kern="0" spc="-80" dirty="0">
                          <a:effectLst/>
                        </a:rPr>
                        <a:t> 병합하거나 분리할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394184570"/>
                  </a:ext>
                </a:extLst>
              </a:tr>
              <a:tr h="430718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12【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특허취소신청의 취하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시기적 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특허취소신청은 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14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</a:t>
                      </a:r>
                      <a:r>
                        <a:rPr lang="ko-KR" altLang="en-US" sz="1200" kern="0" spc="-80" dirty="0" err="1">
                          <a:effectLst/>
                        </a:rPr>
                        <a:t>결정등본이</a:t>
                      </a:r>
                      <a:r>
                        <a:rPr lang="ko-KR" altLang="en-US" sz="1200" kern="0" spc="-80" dirty="0">
                          <a:effectLst/>
                        </a:rPr>
                        <a:t> 송달되기 전까지만 취하할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다만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13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특허권자</a:t>
                      </a:r>
                      <a:r>
                        <a:rPr lang="ko-KR" altLang="en-US" sz="1200" kern="0" spc="-80" dirty="0">
                          <a:effectLst/>
                        </a:rPr>
                        <a:t> 및 참가인에게 특허의 </a:t>
                      </a:r>
                      <a:r>
                        <a:rPr lang="ko-KR" altLang="en-US" sz="1200" kern="0" spc="-80" dirty="0" err="1">
                          <a:effectLst/>
                        </a:rPr>
                        <a:t>취소이유가</a:t>
                      </a:r>
                      <a:r>
                        <a:rPr lang="ko-KR" altLang="en-US" sz="1200" kern="0" spc="-80" dirty="0">
                          <a:effectLst/>
                        </a:rPr>
                        <a:t> 통지된 후에는 취하할 수 없다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객체적 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둘 이상의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청구항에</a:t>
                      </a:r>
                      <a:r>
                        <a:rPr lang="ko-KR" altLang="en-US" sz="1200" kern="0" spc="-80" dirty="0">
                          <a:effectLst/>
                        </a:rPr>
                        <a:t> 관하여 특허취소신청이 있는 경우에는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청구항마다</a:t>
                      </a:r>
                      <a:r>
                        <a:rPr lang="ko-KR" altLang="en-US" sz="1200" kern="0" spc="-80" dirty="0">
                          <a:effectLst/>
                        </a:rPr>
                        <a:t> 취하할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효과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또는 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취하가 있으면 그 특허취소신청 또는 그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청구항에</a:t>
                      </a:r>
                      <a:r>
                        <a:rPr lang="ko-KR" altLang="en-US" sz="1200" kern="0" spc="-80" dirty="0">
                          <a:effectLst/>
                        </a:rPr>
                        <a:t> 대한 특허취소신청은 처음부터 없었던 것으로 본다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161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심판청구의 취하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주체적 및 시기적 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심판청구는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심결이</a:t>
                      </a:r>
                      <a:r>
                        <a:rPr lang="ko-KR" altLang="en-US" sz="1200" kern="0" spc="-80" dirty="0">
                          <a:effectLst/>
                        </a:rPr>
                        <a:t> 확정될 때까지 취하할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다만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답변서가 제출된 후에는 상대방의 동의를 받아야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객체적 요건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둘 이상의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청구항에</a:t>
                      </a:r>
                      <a:r>
                        <a:rPr lang="ko-KR" altLang="en-US" sz="1200" kern="0" spc="-80" dirty="0">
                          <a:effectLst/>
                        </a:rPr>
                        <a:t> 관하여 제</a:t>
                      </a:r>
                      <a:r>
                        <a:rPr lang="en-US" altLang="ko-KR" sz="1200" kern="0" spc="-80" dirty="0">
                          <a:effectLst/>
                        </a:rPr>
                        <a:t>133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항의 무효심판 또는 제</a:t>
                      </a:r>
                      <a:r>
                        <a:rPr lang="en-US" altLang="ko-KR" sz="1200" kern="0" spc="-80" dirty="0">
                          <a:effectLst/>
                        </a:rPr>
                        <a:t>135</a:t>
                      </a:r>
                      <a:r>
                        <a:rPr lang="ko-KR" altLang="en-US" sz="1200" kern="0" spc="-80" dirty="0">
                          <a:effectLst/>
                        </a:rPr>
                        <a:t>조의 권리범위 </a:t>
                      </a:r>
                      <a:r>
                        <a:rPr lang="ko-KR" altLang="en-US" sz="1200" kern="0" spc="-80" dirty="0" err="1">
                          <a:effectLst/>
                        </a:rPr>
                        <a:t>확인심판을</a:t>
                      </a:r>
                      <a:r>
                        <a:rPr lang="ko-KR" altLang="en-US" sz="1200" kern="0" spc="-80" dirty="0">
                          <a:effectLst/>
                        </a:rPr>
                        <a:t> 청구하였을 때에는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청구항마다</a:t>
                      </a:r>
                      <a:r>
                        <a:rPr lang="ko-KR" altLang="en-US" sz="1200" kern="0" spc="-80" dirty="0">
                          <a:effectLst/>
                        </a:rPr>
                        <a:t> 취하할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효과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또는 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취하가 있으면 그 심판청구 또는 그 </a:t>
                      </a:r>
                      <a:r>
                        <a:rPr lang="ko-KR" altLang="en-US" sz="1200" kern="0" spc="-80" dirty="0" err="1">
                          <a:effectLst/>
                        </a:rPr>
                        <a:t>청구항에</a:t>
                      </a:r>
                      <a:r>
                        <a:rPr lang="ko-KR" altLang="en-US" sz="1200" kern="0" spc="-80" dirty="0">
                          <a:effectLst/>
                        </a:rPr>
                        <a:t> 대한 심판청구는 처음부터 없었던 것으로 본다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4112709460"/>
                  </a:ext>
                </a:extLst>
              </a:tr>
              <a:tr h="430718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13【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특허취소신청에 대한 결정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취소결정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의의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심판관 합의체는 특허취소신청이 이유 있다고 인정되는 때에는 그 특허를 취소한다는 취지의 결정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이하 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특허취소결정</a:t>
                      </a:r>
                      <a:r>
                        <a:rPr lang="en-US" altLang="ko-KR" sz="1200" kern="0" spc="-80" dirty="0">
                          <a:effectLst/>
                        </a:rPr>
                        <a:t>"</a:t>
                      </a:r>
                      <a:r>
                        <a:rPr lang="ko-KR" altLang="en-US" sz="1200" kern="0" spc="-80" dirty="0">
                          <a:effectLst/>
                        </a:rPr>
                        <a:t>이라 한다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을 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  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취소결정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절차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특허취소결정을 하려는 때에는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특허권자</a:t>
                      </a:r>
                      <a:r>
                        <a:rPr lang="ko-KR" altLang="en-US" sz="1200" kern="0" spc="-80" dirty="0">
                          <a:effectLst/>
                        </a:rPr>
                        <a:t> 및 참가인에게 특허의 </a:t>
                      </a:r>
                      <a:r>
                        <a:rPr lang="ko-KR" altLang="en-US" sz="1200" kern="0" spc="-80" dirty="0" err="1">
                          <a:effectLst/>
                        </a:rPr>
                        <a:t>취소이유를</a:t>
                      </a:r>
                      <a:r>
                        <a:rPr lang="ko-KR" altLang="en-US" sz="1200" kern="0" spc="-80" dirty="0">
                          <a:effectLst/>
                        </a:rPr>
                        <a:t> 통지하고 기간을 정하여 의견서를 제출할 기회를 주어야 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③</a:t>
                      </a:r>
                      <a:r>
                        <a:rPr lang="en-US" altLang="ko-KR" sz="1200" kern="0" spc="-80" dirty="0">
                          <a:solidFill>
                            <a:schemeClr val="accent1"/>
                          </a:solidFill>
                          <a:effectLst/>
                        </a:rPr>
                        <a:t>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취소결정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효과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특허취소결정이 확정된 때에는 그 특허권은 처음부터 없었던 것으로 본다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④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기각결정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의의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심판관 합의체는 특허취소신청이 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 각 호의 어느 하나에 해당하지 아니하거나 같은 조 제</a:t>
                      </a:r>
                      <a:r>
                        <a:rPr lang="en-US" altLang="ko-KR" sz="1200" kern="0" spc="-80" dirty="0">
                          <a:effectLst/>
                        </a:rPr>
                        <a:t>2</a:t>
                      </a:r>
                      <a:r>
                        <a:rPr lang="ko-KR" altLang="en-US" sz="1200" kern="0" spc="-80" dirty="0">
                          <a:effectLst/>
                        </a:rPr>
                        <a:t>항을 위반한 것으로 인정되는 경우에는 결정으로 그 특허취소신청을 기각하여야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⑤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기각결정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: 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불복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기각결정에 대해서는 불복할 수 없다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162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심결에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의한 종료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심판은 특별한 규정이 있는 경우를 제외하고는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심결로써</a:t>
                      </a:r>
                      <a:r>
                        <a:rPr lang="ko-KR" altLang="en-US" sz="1200" kern="0" spc="-80" dirty="0">
                          <a:effectLst/>
                        </a:rPr>
                        <a:t> 종결한다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159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 err="1">
                          <a:effectLst/>
                        </a:rPr>
                        <a:t>직권심리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범위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심판에서는 당사자 또는 참가인이 신청하지 아니한 이유에 대해서도 심리할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의견서 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제출기회의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부여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이 경우 당사자 및 참가인에게 기간을 정하여 그 이유에 대하여 의견을 진술할 수 있는 기회를 주어야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133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>
                          <a:effectLst/>
                        </a:rPr>
                        <a:t>특허의 무효심판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③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효과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특허를 무효로 한다는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심결이</a:t>
                      </a:r>
                      <a:r>
                        <a:rPr lang="ko-KR" altLang="en-US" sz="1200" kern="0" spc="-80" dirty="0">
                          <a:effectLst/>
                        </a:rPr>
                        <a:t> 확정된 경우에는 그 특허권은 처음부터 없었던 것으로 본다</a:t>
                      </a:r>
                      <a:r>
                        <a:rPr lang="en-US" altLang="ko-KR" sz="1200" kern="0" spc="-80" dirty="0">
                          <a:effectLst/>
                        </a:rPr>
                        <a:t>. </a:t>
                      </a:r>
                      <a:r>
                        <a:rPr lang="ko-KR" altLang="en-US" sz="1200" kern="0" spc="-80" dirty="0">
                          <a:effectLst/>
                        </a:rPr>
                        <a:t>다만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 err="1">
                          <a:effectLst/>
                        </a:rPr>
                        <a:t>항제</a:t>
                      </a:r>
                      <a:r>
                        <a:rPr lang="en-US" altLang="ko-KR" sz="1200" kern="0" spc="-80" dirty="0">
                          <a:effectLst/>
                        </a:rPr>
                        <a:t>4</a:t>
                      </a:r>
                      <a:r>
                        <a:rPr lang="ko-KR" altLang="en-US" sz="1200" kern="0" spc="-80" dirty="0">
                          <a:effectLst/>
                        </a:rPr>
                        <a:t>호에 따라 특허를 무효로 한다는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심결이</a:t>
                      </a:r>
                      <a:r>
                        <a:rPr lang="ko-KR" altLang="en-US" sz="1200" kern="0" spc="-80" dirty="0">
                          <a:effectLst/>
                        </a:rPr>
                        <a:t> 확정된 경우에는 특허권은 그 특허가 같은 호에 해당하게 된 때부터 없었던 것으로 본다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162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심결에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의한 종료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심판은 특별한 규정이 있는 경우를 제외하고는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심결로써</a:t>
                      </a:r>
                      <a:r>
                        <a:rPr lang="ko-KR" altLang="en-US" sz="1200" kern="0" spc="-80" dirty="0">
                          <a:effectLst/>
                        </a:rPr>
                        <a:t> 종결한다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1384292259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504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40419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2~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132</a:t>
            </a:r>
            <a:r>
              <a:rPr lang="ko-KR" altLang="en-US" dirty="0"/>
              <a:t>조의</a:t>
            </a:r>
            <a:r>
              <a:rPr lang="en-US" altLang="ko-KR" dirty="0"/>
              <a:t>15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특허취소신청과</a:t>
            </a:r>
            <a:r>
              <a:rPr lang="en-US" altLang="ko-KR" dirty="0"/>
              <a:t> </a:t>
            </a:r>
            <a:r>
              <a:rPr lang="ko-KR" altLang="en-US" dirty="0"/>
              <a:t>특허무효심판의 법조문 비교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91840"/>
              </p:ext>
            </p:extLst>
          </p:nvPr>
        </p:nvGraphicFramePr>
        <p:xfrm>
          <a:off x="317501" y="1036281"/>
          <a:ext cx="11569700" cy="571304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619035">
                  <a:extLst>
                    <a:ext uri="{9D8B030D-6E8A-4147-A177-3AD203B41FA5}">
                      <a16:colId xmlns:a16="http://schemas.microsoft.com/office/drawing/2014/main" val="4122316602"/>
                    </a:ext>
                  </a:extLst>
                </a:gridCol>
                <a:gridCol w="5950665">
                  <a:extLst>
                    <a:ext uri="{9D8B030D-6E8A-4147-A177-3AD203B41FA5}">
                      <a16:colId xmlns:a16="http://schemas.microsoft.com/office/drawing/2014/main" val="3501181814"/>
                    </a:ext>
                  </a:extLst>
                </a:gridCol>
              </a:tblGrid>
              <a:tr h="5332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특허취소신청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특허무효심판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54057"/>
                  </a:ext>
                </a:extLst>
              </a:tr>
              <a:tr h="430718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14【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특허취소신청의 결정 방식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결정의 방식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특허취소신청에 대한 결정은 다음 각 호의 사항을 적은 서면으로 하여야 하며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결정을 한 심판관은 그 서면에 기명날인하여야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1.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특허취소신청사건의 번호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2. </a:t>
                      </a:r>
                      <a:r>
                        <a:rPr lang="ko-KR" altLang="en-US" sz="1200" kern="0" spc="-80" dirty="0">
                          <a:effectLst/>
                        </a:rPr>
                        <a:t>특허취소신청인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특허권자</a:t>
                      </a:r>
                      <a:r>
                        <a:rPr lang="ko-KR" altLang="en-US" sz="1200" kern="0" spc="-80" dirty="0">
                          <a:effectLst/>
                        </a:rPr>
                        <a:t> 및 참가인의 성명 및 주소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법인인 경우에는 그 명칭 및 영업소의 소재지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3. </a:t>
                      </a:r>
                      <a:r>
                        <a:rPr lang="ko-KR" altLang="en-US" sz="1200" kern="0" spc="-80" dirty="0">
                          <a:effectLst/>
                        </a:rPr>
                        <a:t>대리인이 있는 경우에는 그 대리인의 성명 및 주소나 영업소의 소재지</a:t>
                      </a:r>
                      <a:r>
                        <a:rPr lang="en-US" altLang="ko-KR" sz="1200" kern="0" spc="-80" dirty="0"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effectLst/>
                        </a:rPr>
                        <a:t>대리인이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특허법인ㆍ특허법인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유한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인 경우에는 그 명칭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사무소의 소재지 및 지정된 변리사의 성명</a:t>
                      </a:r>
                      <a:r>
                        <a:rPr lang="en-US" altLang="ko-KR" sz="1200" kern="0" spc="-80" dirty="0">
                          <a:effectLst/>
                        </a:rPr>
                        <a:t>]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4. </a:t>
                      </a:r>
                      <a:r>
                        <a:rPr lang="ko-KR" altLang="en-US" sz="1200" kern="0" spc="-80" dirty="0">
                          <a:effectLst/>
                        </a:rPr>
                        <a:t>결정에 관련된 특허의 표시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5. </a:t>
                      </a:r>
                      <a:r>
                        <a:rPr lang="ko-KR" altLang="en-US" sz="1200" kern="0" spc="-80" dirty="0">
                          <a:effectLst/>
                        </a:rPr>
                        <a:t>결정의 결론 및 이유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6. </a:t>
                      </a:r>
                      <a:r>
                        <a:rPr lang="ko-KR" altLang="en-US" sz="1200" kern="0" spc="-80" dirty="0" err="1">
                          <a:effectLst/>
                        </a:rPr>
                        <a:t>결정연월일</a:t>
                      </a: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송달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특허취소신청에 대한 결정이 있는 때에는 그 결정의 등본을 특허취소신청인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 err="1">
                          <a:effectLst/>
                        </a:rPr>
                        <a:t>특허권자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참가인 및 그 특허취소신청에 대한 심리에 참가를 신청하였으나 그 신청이 거부된 자에게 송달하여야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162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effectLst/>
                        </a:rPr>
                        <a:t>【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</a:t>
                      </a:r>
                      <a:r>
                        <a:rPr lang="en-US" altLang="ko-KR" sz="1200" kern="0" spc="-80" dirty="0">
                          <a:effectLst/>
                        </a:rPr>
                        <a:t>】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①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심결에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의한 종료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>
                          <a:effectLst/>
                        </a:rPr>
                        <a:t>심판은 특별한 규정이 있는 경우를 제외하고는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심결로써</a:t>
                      </a:r>
                      <a:r>
                        <a:rPr lang="ko-KR" altLang="en-US" sz="1200" kern="0" spc="-80" dirty="0">
                          <a:effectLst/>
                        </a:rPr>
                        <a:t> 종결한다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②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심결의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 방식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</a:t>
                      </a:r>
                      <a:r>
                        <a:rPr lang="ko-KR" altLang="en-US" sz="1200" kern="0" spc="-80" dirty="0">
                          <a:effectLst/>
                        </a:rPr>
                        <a:t>항의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심결은</a:t>
                      </a:r>
                      <a:r>
                        <a:rPr lang="ko-KR" altLang="en-US" sz="1200" kern="0" spc="-80" dirty="0">
                          <a:effectLst/>
                        </a:rPr>
                        <a:t> 다음 각 호의 사항을 적은 서면으로 하여야 하며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심결을</a:t>
                      </a:r>
                      <a:r>
                        <a:rPr lang="ko-KR" altLang="en-US" sz="1200" kern="0" spc="-80" dirty="0">
                          <a:effectLst/>
                        </a:rPr>
                        <a:t> 한 심판관은 그 서면에 기명날인하여야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1. </a:t>
                      </a:r>
                      <a:r>
                        <a:rPr lang="ko-KR" altLang="en-US" sz="1200" kern="0" spc="-80" dirty="0">
                          <a:effectLst/>
                        </a:rPr>
                        <a:t>심판의 번호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2. </a:t>
                      </a:r>
                      <a:r>
                        <a:rPr lang="ko-KR" altLang="en-US" sz="1200" kern="0" spc="-80" dirty="0">
                          <a:effectLst/>
                        </a:rPr>
                        <a:t>당사자 및 참가인의 성명 및 주소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법인인 경우에는 그 명칭 및 영업소의 소재지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3. </a:t>
                      </a:r>
                      <a:r>
                        <a:rPr lang="ko-KR" altLang="en-US" sz="1200" kern="0" spc="-80" dirty="0">
                          <a:effectLst/>
                        </a:rPr>
                        <a:t>대리인이 있는 경우에는 그 대리인의 성명 및 주소나 영업소의 소재지</a:t>
                      </a:r>
                      <a:r>
                        <a:rPr lang="en-US" altLang="ko-KR" sz="1200" kern="0" spc="-80" dirty="0"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effectLst/>
                        </a:rPr>
                        <a:t>대리인이 특허법인</a:t>
                      </a:r>
                      <a:r>
                        <a:rPr lang="en-US" altLang="ko-KR" sz="1200" kern="0" spc="-80" dirty="0">
                          <a:effectLst/>
                        </a:rPr>
                        <a:t>·</a:t>
                      </a:r>
                      <a:r>
                        <a:rPr lang="ko-KR" altLang="en-US" sz="1200" kern="0" spc="-80" dirty="0">
                          <a:effectLst/>
                        </a:rPr>
                        <a:t>특허법인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유한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  <a:r>
                        <a:rPr lang="ko-KR" altLang="en-US" sz="1200" kern="0" spc="-80" dirty="0">
                          <a:effectLst/>
                        </a:rPr>
                        <a:t>인 경우에는 그 명칭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사무소의 소재지 및 지정된 변리사의 성명</a:t>
                      </a:r>
                      <a:r>
                        <a:rPr lang="en-US" altLang="ko-KR" sz="1200" kern="0" spc="-80" dirty="0">
                          <a:effectLst/>
                        </a:rPr>
                        <a:t>]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4. 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심판사건의</a:t>
                      </a:r>
                      <a:r>
                        <a:rPr lang="ko-KR" altLang="en-US" sz="1200" kern="0" spc="-80" dirty="0">
                          <a:effectLst/>
                        </a:rPr>
                        <a:t> 표시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  </a:t>
                      </a:r>
                      <a:r>
                        <a:rPr lang="en-US" altLang="ko-KR" sz="1200" kern="0" spc="-80" dirty="0">
                          <a:effectLst/>
                        </a:rPr>
                        <a:t>5.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심결의</a:t>
                      </a:r>
                      <a:r>
                        <a:rPr lang="ko-KR" altLang="en-US" sz="1200" kern="0" spc="-80" dirty="0">
                          <a:effectLst/>
                        </a:rPr>
                        <a:t> 주문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138</a:t>
                      </a:r>
                      <a:r>
                        <a:rPr lang="ko-KR" altLang="en-US" sz="1200" kern="0" spc="-80" dirty="0">
                          <a:effectLst/>
                        </a:rPr>
                        <a:t>조에 따른 심판의 경우에는 통상실시권의 범위</a:t>
                      </a:r>
                      <a:r>
                        <a:rPr lang="en-US" altLang="ko-KR" sz="1200" kern="0" spc="-80" dirty="0">
                          <a:effectLst/>
                        </a:rPr>
                        <a:t>·</a:t>
                      </a:r>
                      <a:r>
                        <a:rPr lang="ko-KR" altLang="en-US" sz="1200" kern="0" spc="-80" dirty="0">
                          <a:effectLst/>
                        </a:rPr>
                        <a:t>기간 및 대가를 포함한다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6.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심결의</a:t>
                      </a:r>
                      <a:r>
                        <a:rPr lang="ko-KR" altLang="en-US" sz="1200" kern="0" spc="-80" dirty="0">
                          <a:effectLst/>
                        </a:rPr>
                        <a:t> 이유</a:t>
                      </a:r>
                      <a:r>
                        <a:rPr lang="en-US" altLang="ko-KR" sz="1200" kern="0" spc="-80" dirty="0">
                          <a:effectLst/>
                        </a:rPr>
                        <a:t>(</a:t>
                      </a:r>
                      <a:r>
                        <a:rPr lang="ko-KR" altLang="en-US" sz="1200" kern="0" spc="-80" dirty="0">
                          <a:effectLst/>
                        </a:rPr>
                        <a:t>청구의 취지 및 그 이유의 요지를 포함한다</a:t>
                      </a:r>
                      <a:r>
                        <a:rPr lang="en-US" altLang="ko-KR" sz="1200" kern="0" spc="-80" dirty="0">
                          <a:effectLst/>
                        </a:rPr>
                        <a:t>)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  7.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심결연월일</a:t>
                      </a:r>
                      <a:endParaRPr lang="ko-KR" altLang="en-US" sz="1200" kern="0" spc="-80" dirty="0">
                        <a:effectLst/>
                      </a:endParaRP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③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심리종결통지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사건이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심결을</a:t>
                      </a:r>
                      <a:r>
                        <a:rPr lang="ko-KR" altLang="en-US" sz="1200" kern="0" spc="-80" dirty="0">
                          <a:effectLst/>
                        </a:rPr>
                        <a:t> 할 정도로 성숙하였을 때에는 심리의 종결을 당사자 및 참가인에게 통지하여야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④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심리재개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필요하다고 인정하면 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따라 </a:t>
                      </a:r>
                      <a:r>
                        <a:rPr lang="ko-KR" altLang="en-US" sz="1200" kern="0" spc="-80" dirty="0" err="1">
                          <a:effectLst/>
                        </a:rPr>
                        <a:t>심리종결을</a:t>
                      </a:r>
                      <a:r>
                        <a:rPr lang="ko-KR" altLang="en-US" sz="1200" kern="0" spc="-80" dirty="0">
                          <a:effectLst/>
                        </a:rPr>
                        <a:t> 통지한 후에도 당사자 또는 참가인의 신청에 의하여 또는 직권으로 심리를 재개할 수 있다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⑤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 err="1">
                          <a:solidFill>
                            <a:schemeClr val="accent1"/>
                          </a:solidFill>
                          <a:effectLst/>
                        </a:rPr>
                        <a:t>심결시기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심결은</a:t>
                      </a:r>
                      <a:r>
                        <a:rPr lang="ko-KR" altLang="en-US" sz="1200" kern="0" spc="-80" dirty="0">
                          <a:effectLst/>
                        </a:rPr>
                        <a:t> 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항에 따른 심리종결통지를 한 날부터 </a:t>
                      </a:r>
                      <a:r>
                        <a:rPr lang="en-US" altLang="ko-KR" sz="1200" kern="0" spc="-80" dirty="0">
                          <a:effectLst/>
                        </a:rPr>
                        <a:t>20</a:t>
                      </a:r>
                      <a:r>
                        <a:rPr lang="ko-KR" altLang="en-US" sz="1200" kern="0" spc="-80" dirty="0">
                          <a:effectLst/>
                        </a:rPr>
                        <a:t>일 이내에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200" kern="0" spc="-80" dirty="0">
                          <a:effectLst/>
                        </a:rPr>
                        <a:t>⑥ 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송달</a:t>
                      </a:r>
                      <a:r>
                        <a:rPr lang="en-US" altLang="ko-KR" sz="12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심판장은 </a:t>
                      </a:r>
                      <a:r>
                        <a:rPr lang="ko-KR" altLang="en-US" sz="1200" kern="0" spc="-80" dirty="0" err="1">
                          <a:effectLst/>
                        </a:rPr>
                        <a:t>심결</a:t>
                      </a:r>
                      <a:r>
                        <a:rPr lang="ko-KR" altLang="en-US" sz="1200" kern="0" spc="-80" dirty="0">
                          <a:effectLst/>
                        </a:rPr>
                        <a:t> 또는 결정이 있으면 그 등본을 당사자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참가인 및 심판에 참가신청을 하였으나 그 신청이 거부된 자에게 송달하여야 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1743411643"/>
                  </a:ext>
                </a:extLst>
              </a:tr>
              <a:tr h="430718"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132</a:t>
                      </a:r>
                      <a:r>
                        <a:rPr lang="ko-KR" altLang="en-US" sz="1200" kern="0" spc="-80" dirty="0">
                          <a:effectLst/>
                        </a:rPr>
                        <a:t>조의</a:t>
                      </a:r>
                      <a:r>
                        <a:rPr lang="en-US" altLang="ko-KR" sz="1200" kern="0" spc="-80" dirty="0">
                          <a:effectLst/>
                        </a:rPr>
                        <a:t>15【</a:t>
                      </a:r>
                      <a:r>
                        <a:rPr lang="ko-KR" altLang="en-US" sz="1200" kern="0" spc="-80" dirty="0" err="1">
                          <a:effectLst/>
                        </a:rPr>
                        <a:t>심판규정의</a:t>
                      </a:r>
                      <a:r>
                        <a:rPr lang="ko-KR" altLang="en-US" sz="1200" kern="0" spc="-80" dirty="0">
                          <a:effectLst/>
                        </a:rPr>
                        <a:t> 특허취소신청에의 준용</a:t>
                      </a:r>
                      <a:r>
                        <a:rPr lang="en-US" altLang="ko-KR" sz="1200" kern="0" spc="-80" dirty="0">
                          <a:effectLst/>
                        </a:rPr>
                        <a:t>】 </a:t>
                      </a:r>
                    </a:p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200" kern="0" spc="-80" dirty="0">
                          <a:effectLst/>
                        </a:rPr>
                        <a:t>특허취소신청의 </a:t>
                      </a:r>
                      <a:r>
                        <a:rPr lang="ko-KR" altLang="en-US" sz="1200" kern="0" spc="-80" dirty="0" err="1">
                          <a:effectLst/>
                        </a:rPr>
                        <a:t>심리ㆍ결정에</a:t>
                      </a:r>
                      <a:r>
                        <a:rPr lang="ko-KR" altLang="en-US" sz="1200" kern="0" spc="-80" dirty="0">
                          <a:effectLst/>
                        </a:rPr>
                        <a:t> 관하여는 제</a:t>
                      </a:r>
                      <a:r>
                        <a:rPr lang="en-US" altLang="ko-KR" sz="1200" kern="0" spc="-80" dirty="0">
                          <a:effectLst/>
                        </a:rPr>
                        <a:t>147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당사자 심문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157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증거조사 및 증거보전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158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심판의 진행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164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소송과의 관계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, </a:t>
                      </a:r>
                      <a:r>
                        <a:rPr lang="ko-KR" altLang="en-US" sz="1200" kern="0" spc="-80" dirty="0">
                          <a:effectLst/>
                        </a:rPr>
                        <a:t>제</a:t>
                      </a:r>
                      <a:r>
                        <a:rPr lang="en-US" altLang="ko-KR" sz="1200" kern="0" spc="-80" dirty="0">
                          <a:effectLst/>
                        </a:rPr>
                        <a:t>165</a:t>
                      </a:r>
                      <a:r>
                        <a:rPr lang="ko-KR" altLang="en-US" sz="1200" kern="0" spc="-80" dirty="0">
                          <a:effectLst/>
                        </a:rPr>
                        <a:t>조제</a:t>
                      </a:r>
                      <a:r>
                        <a:rPr lang="en-US" altLang="ko-KR" sz="1200" kern="0" spc="-80" dirty="0">
                          <a:effectLst/>
                        </a:rPr>
                        <a:t>3</a:t>
                      </a:r>
                      <a:r>
                        <a:rPr lang="ko-KR" altLang="en-US" sz="1200" kern="0" spc="-80" dirty="0">
                          <a:effectLst/>
                        </a:rPr>
                        <a:t>항부터 제</a:t>
                      </a:r>
                      <a:r>
                        <a:rPr lang="en-US" altLang="ko-KR" sz="1200" kern="0" spc="-80" dirty="0">
                          <a:effectLst/>
                        </a:rPr>
                        <a:t>6</a:t>
                      </a:r>
                      <a:r>
                        <a:rPr lang="ko-KR" altLang="en-US" sz="1200" kern="0" spc="-80" dirty="0">
                          <a:effectLst/>
                        </a:rPr>
                        <a:t>항까지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청구인의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심판비용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부담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en-US" altLang="ko-KR" sz="1200" kern="0" spc="-80" dirty="0">
                          <a:effectLst/>
                        </a:rPr>
                        <a:t> </a:t>
                      </a:r>
                      <a:r>
                        <a:rPr lang="ko-KR" altLang="en-US" sz="1200" kern="0" spc="-80" dirty="0">
                          <a:effectLst/>
                        </a:rPr>
                        <a:t>및 제</a:t>
                      </a:r>
                      <a:r>
                        <a:rPr lang="en-US" altLang="ko-KR" sz="1200" kern="0" spc="-80" dirty="0">
                          <a:effectLst/>
                        </a:rPr>
                        <a:t>166</a:t>
                      </a:r>
                      <a:r>
                        <a:rPr lang="ko-KR" altLang="en-US" sz="1200" kern="0" spc="-80" dirty="0">
                          <a:effectLst/>
                        </a:rPr>
                        <a:t>조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[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심판비용액</a:t>
                      </a:r>
                      <a:r>
                        <a:rPr lang="ko-KR" altLang="en-US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 또는 대가에 대한 </a:t>
                      </a:r>
                      <a:r>
                        <a:rPr lang="ko-KR" altLang="en-US" sz="12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집행권원</a:t>
                      </a:r>
                      <a:r>
                        <a:rPr lang="en-US" altLang="ko-KR" sz="1200" kern="0" spc="-80" dirty="0">
                          <a:solidFill>
                            <a:srgbClr val="FF0000"/>
                          </a:solidFill>
                          <a:effectLst/>
                        </a:rPr>
                        <a:t>]</a:t>
                      </a:r>
                      <a:r>
                        <a:rPr lang="ko-KR" altLang="en-US" sz="1200" kern="0" spc="-80" dirty="0">
                          <a:effectLst/>
                        </a:rPr>
                        <a:t>를 준용한다</a:t>
                      </a:r>
                      <a:r>
                        <a:rPr lang="en-US" altLang="ko-KR" sz="1200" kern="0" spc="-80" dirty="0">
                          <a:effectLst/>
                        </a:rPr>
                        <a:t>.</a:t>
                      </a: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just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200" kern="0" spc="-80" dirty="0">
                        <a:effectLst/>
                      </a:endParaRP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2637477321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505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606685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제</a:t>
            </a:r>
            <a:r>
              <a:rPr lang="en-US" altLang="ko-KR" sz="2000" dirty="0"/>
              <a:t>132</a:t>
            </a:r>
            <a:r>
              <a:rPr lang="ko-KR" altLang="en-US" sz="2000" dirty="0"/>
              <a:t>조의</a:t>
            </a:r>
            <a:r>
              <a:rPr lang="en-US" altLang="ko-KR" sz="2000" dirty="0"/>
              <a:t>3, </a:t>
            </a:r>
            <a:br>
              <a:rPr lang="en-US" altLang="ko-KR" sz="2000" dirty="0"/>
            </a:br>
            <a:r>
              <a:rPr lang="ko-KR" altLang="en-US" sz="2000" dirty="0"/>
              <a:t>제</a:t>
            </a:r>
            <a:r>
              <a:rPr lang="en-US" altLang="ko-KR" sz="2000" dirty="0"/>
              <a:t>133</a:t>
            </a:r>
            <a:r>
              <a:rPr lang="ko-KR" altLang="en-US" sz="2000" dirty="0"/>
              <a:t>조의</a:t>
            </a:r>
            <a:r>
              <a:rPr lang="en-US" altLang="ko-KR" sz="2000" dirty="0"/>
              <a:t>2, </a:t>
            </a:r>
            <a:r>
              <a:rPr lang="ko-KR" altLang="en-US" sz="2000" dirty="0"/>
              <a:t>제</a:t>
            </a:r>
            <a:r>
              <a:rPr lang="en-US" altLang="ko-KR" sz="2000" dirty="0"/>
              <a:t>137</a:t>
            </a:r>
            <a:r>
              <a:rPr lang="ko-KR" altLang="en-US" sz="2000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보정 단위 </a:t>
            </a:r>
            <a:r>
              <a:rPr lang="en-US" altLang="ko-KR" dirty="0"/>
              <a:t>vs </a:t>
            </a:r>
            <a:r>
              <a:rPr lang="ko-KR" altLang="en-US" dirty="0"/>
              <a:t>정정 단위</a:t>
            </a:r>
            <a:r>
              <a:rPr lang="en-US" altLang="ko-KR" dirty="0"/>
              <a:t>: </a:t>
            </a:r>
            <a:r>
              <a:rPr lang="ko-KR" altLang="en-US" dirty="0"/>
              <a:t>제</a:t>
            </a:r>
            <a:r>
              <a:rPr lang="en-US" altLang="ko-KR" dirty="0"/>
              <a:t>133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r>
              <a:rPr lang="ko-KR" altLang="en-US" dirty="0"/>
              <a:t>제</a:t>
            </a:r>
            <a:r>
              <a:rPr lang="en-US" altLang="ko-KR" dirty="0"/>
              <a:t>2</a:t>
            </a:r>
            <a:r>
              <a:rPr lang="ko-KR" altLang="en-US" dirty="0"/>
              <a:t>항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Line 5"/>
          <p:cNvSpPr>
            <a:spLocks noChangeShapeType="1"/>
          </p:cNvSpPr>
          <p:nvPr/>
        </p:nvSpPr>
        <p:spPr bwMode="auto">
          <a:xfrm>
            <a:off x="328662" y="1533492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36162" y="137021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+mn-ea"/>
              </a:rPr>
              <a:t>특허출원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98796" y="137021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실체심사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551381" y="137021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보정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6162" y="1860050"/>
            <a:ext cx="1013110" cy="13568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1380" y="2127933"/>
            <a:ext cx="1013110" cy="22967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30596" y="137021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보정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30595" y="2126255"/>
            <a:ext cx="1013110" cy="23135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8794" y="1860050"/>
            <a:ext cx="1013110" cy="13568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A2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B2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C1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36873" y="137021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설정등록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030035" y="137021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정정청구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7336" y="137021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정정청구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71588" y="1370213"/>
            <a:ext cx="101311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심리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030035" y="1860050"/>
            <a:ext cx="1013110" cy="13568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A3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B2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C2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7335" y="1860050"/>
            <a:ext cx="1013110" cy="135687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A4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B2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C2</a:t>
            </a:r>
          </a:p>
          <a:p>
            <a:pPr marL="342900" indent="-342900">
              <a:buAutoNum type="arabicPeriod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D2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62396" y="2577180"/>
            <a:ext cx="1013110" cy="2481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3.    C1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25087" y="2357610"/>
            <a:ext cx="1018618" cy="21956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marL="342900" indent="-342900">
              <a:buAutoNum type="arabicPeriod" startAt="2"/>
            </a:pP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B2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1388126" y="1860050"/>
            <a:ext cx="2644047" cy="1356875"/>
          </a:xfrm>
          <a:prstGeom prst="roundRect">
            <a:avLst>
              <a:gd name="adj" fmla="val 32168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/>
          <p:cNvSpPr txBox="1"/>
          <p:nvPr/>
        </p:nvSpPr>
        <p:spPr>
          <a:xfrm>
            <a:off x="1773127" y="3982120"/>
            <a:ext cx="1871026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/>
              <a:t>보정은 </a:t>
            </a:r>
            <a:r>
              <a:rPr lang="ko-KR" altLang="en-US" sz="2000" dirty="0" err="1"/>
              <a:t>개소단위</a:t>
            </a:r>
            <a:endParaRPr lang="en-US" altLang="ko-KR" sz="2000" dirty="0"/>
          </a:p>
        </p:txBody>
      </p:sp>
      <p:cxnSp>
        <p:nvCxnSpPr>
          <p:cNvPr id="51" name="직선 화살표 연결선 50"/>
          <p:cNvCxnSpPr/>
          <p:nvPr/>
        </p:nvCxnSpPr>
        <p:spPr>
          <a:xfrm>
            <a:off x="4805349" y="3448279"/>
            <a:ext cx="0" cy="1216887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모서리가 둥근 직사각형 51"/>
          <p:cNvSpPr/>
          <p:nvPr/>
        </p:nvSpPr>
        <p:spPr>
          <a:xfrm>
            <a:off x="4173189" y="1729822"/>
            <a:ext cx="1307478" cy="1718457"/>
          </a:xfrm>
          <a:prstGeom prst="roundRect">
            <a:avLst>
              <a:gd name="adj" fmla="val 32168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/>
          <p:cNvSpPr txBox="1"/>
          <p:nvPr/>
        </p:nvSpPr>
        <p:spPr>
          <a:xfrm>
            <a:off x="3710230" y="4665166"/>
            <a:ext cx="2190238" cy="13234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보정된 부분과 보정되지 않은 부분을 합한 청구범위에 대하여 심사진행</a:t>
            </a:r>
            <a:endParaRPr lang="en-US" altLang="ko-KR" sz="2000" dirty="0"/>
          </a:p>
        </p:txBody>
      </p:sp>
      <p:cxnSp>
        <p:nvCxnSpPr>
          <p:cNvPr id="54" name="직선 화살표 연결선 53"/>
          <p:cNvCxnSpPr>
            <a:endCxn id="50" idx="0"/>
          </p:cNvCxnSpPr>
          <p:nvPr/>
        </p:nvCxnSpPr>
        <p:spPr>
          <a:xfrm>
            <a:off x="2688597" y="3216925"/>
            <a:ext cx="20043" cy="765195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모서리가 둥근 직사각형 54"/>
          <p:cNvSpPr/>
          <p:nvPr/>
        </p:nvSpPr>
        <p:spPr>
          <a:xfrm>
            <a:off x="6882851" y="1729822"/>
            <a:ext cx="1307478" cy="1718457"/>
          </a:xfrm>
          <a:prstGeom prst="roundRect">
            <a:avLst>
              <a:gd name="adj" fmla="val 32168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직선 화살표 연결선 55"/>
          <p:cNvCxnSpPr/>
          <p:nvPr/>
        </p:nvCxnSpPr>
        <p:spPr>
          <a:xfrm>
            <a:off x="7536590" y="3448279"/>
            <a:ext cx="0" cy="733896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996539" y="4246524"/>
            <a:ext cx="1107997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err="1"/>
              <a:t>취하간주</a:t>
            </a:r>
            <a:endParaRPr lang="en-US" altLang="ko-KR" sz="2000" dirty="0"/>
          </a:p>
        </p:txBody>
      </p:sp>
      <p:sp>
        <p:nvSpPr>
          <p:cNvPr id="58" name="모서리가 둥근 직사각형 57"/>
          <p:cNvSpPr/>
          <p:nvPr/>
        </p:nvSpPr>
        <p:spPr>
          <a:xfrm>
            <a:off x="8285035" y="1729822"/>
            <a:ext cx="1307478" cy="1718457"/>
          </a:xfrm>
          <a:prstGeom prst="roundRect">
            <a:avLst>
              <a:gd name="adj" fmla="val 32168"/>
            </a:avLst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화살표 연결선 58"/>
          <p:cNvCxnSpPr/>
          <p:nvPr/>
        </p:nvCxnSpPr>
        <p:spPr>
          <a:xfrm>
            <a:off x="8938774" y="3448279"/>
            <a:ext cx="0" cy="733896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446126" y="4213474"/>
            <a:ext cx="3346806" cy="13234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/>
              <a:t>정정은 </a:t>
            </a:r>
            <a:r>
              <a:rPr lang="ko-KR" altLang="en-US" sz="2000" dirty="0" err="1"/>
              <a:t>개소단위가</a:t>
            </a:r>
            <a:r>
              <a:rPr lang="ko-KR" altLang="en-US" sz="2000" dirty="0"/>
              <a:t> 아니며</a:t>
            </a:r>
            <a:r>
              <a:rPr lang="en-US" altLang="ko-KR" sz="2000" dirty="0"/>
              <a:t>, </a:t>
            </a:r>
          </a:p>
          <a:p>
            <a:pPr algn="ctr"/>
            <a:r>
              <a:rPr lang="ko-KR" altLang="en-US" sz="2000" dirty="0"/>
              <a:t>정정을 청구한 전체에 대하여 </a:t>
            </a:r>
            <a:endParaRPr lang="en-US" altLang="ko-KR" sz="2000" dirty="0"/>
          </a:p>
          <a:p>
            <a:pPr algn="ctr"/>
            <a:r>
              <a:rPr lang="ko-KR" altLang="en-US" sz="2000" dirty="0"/>
              <a:t>인용을 구하는 것이기 때문에 </a:t>
            </a:r>
            <a:r>
              <a:rPr lang="ko-KR" altLang="en-US" sz="2000" dirty="0" err="1"/>
              <a:t>일부인용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일부기각은</a:t>
            </a:r>
            <a:r>
              <a:rPr lang="ko-KR" altLang="en-US" sz="2000" dirty="0"/>
              <a:t> 不許</a:t>
            </a:r>
            <a:endParaRPr lang="en-US" altLang="ko-KR" sz="2000" dirty="0"/>
          </a:p>
        </p:txBody>
      </p:sp>
      <p:sp>
        <p:nvSpPr>
          <p:cNvPr id="19" name="모서리가 둥근 사각형 설명선 18"/>
          <p:cNvSpPr/>
          <p:nvPr/>
        </p:nvSpPr>
        <p:spPr>
          <a:xfrm>
            <a:off x="1164572" y="4946573"/>
            <a:ext cx="2162522" cy="793215"/>
          </a:xfrm>
          <a:prstGeom prst="wedgeRoundRectCallout">
            <a:avLst>
              <a:gd name="adj1" fmla="val 65329"/>
              <a:gd name="adj2" fmla="val -41535"/>
              <a:gd name="adj3" fmla="val 16667"/>
            </a:avLst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보정된 부분을 어디까지 인정할 것인지는 </a:t>
            </a:r>
            <a:r>
              <a:rPr lang="ko-KR" altLang="en-US" sz="1400" dirty="0" err="1">
                <a:solidFill>
                  <a:schemeClr val="tx1"/>
                </a:solidFill>
              </a:rPr>
              <a:t>보정시기에</a:t>
            </a:r>
            <a:r>
              <a:rPr lang="ko-KR" altLang="en-US" sz="1400" dirty="0">
                <a:solidFill>
                  <a:schemeClr val="tx1"/>
                </a:solidFill>
              </a:rPr>
              <a:t> 따라 차이가 있음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506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9E019C-CB2E-B59E-3A9A-5FCE33FAE72E}"/>
              </a:ext>
            </a:extLst>
          </p:cNvPr>
          <p:cNvSpPr txBox="1"/>
          <p:nvPr/>
        </p:nvSpPr>
        <p:spPr>
          <a:xfrm>
            <a:off x="6367702" y="5733628"/>
            <a:ext cx="4757497" cy="919401"/>
          </a:xfrm>
          <a:prstGeom prst="wedgeRoundRectCallout">
            <a:avLst>
              <a:gd name="adj1" fmla="val -3846"/>
              <a:gd name="adj2" fmla="val -113986"/>
              <a:gd name="adj3" fmla="val 16667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/>
              <a:t>[</a:t>
            </a:r>
            <a:r>
              <a:rPr lang="ko-KR" altLang="en-US" sz="1200" dirty="0"/>
              <a:t>정정청구의 취지</a:t>
            </a:r>
            <a:r>
              <a:rPr lang="en-US" altLang="ko-KR" sz="1200" dirty="0"/>
              <a:t>]</a:t>
            </a:r>
          </a:p>
          <a:p>
            <a:r>
              <a:rPr lang="en-US" altLang="ko-KR" sz="1200" dirty="0"/>
              <a:t>"</a:t>
            </a:r>
            <a:r>
              <a:rPr lang="ko-KR" altLang="en-US" sz="1200" dirty="0"/>
              <a:t>특허 제</a:t>
            </a:r>
            <a:r>
              <a:rPr lang="en-US" altLang="ko-KR" sz="1200" dirty="0"/>
              <a:t>0749481</a:t>
            </a:r>
            <a:r>
              <a:rPr lang="ko-KR" altLang="en-US" sz="1200" dirty="0"/>
              <a:t>호의 특허발명의 명세서를 정정명세서의 기재내용으로 정정하는 청구를 인정한다</a:t>
            </a:r>
            <a:r>
              <a:rPr lang="en-US" altLang="ko-KR" sz="1200" dirty="0"/>
              <a:t>."</a:t>
            </a:r>
          </a:p>
          <a:p>
            <a:r>
              <a:rPr lang="ko-KR" altLang="en-US" sz="1200" dirty="0"/>
              <a:t>라는 결정을 구합니다</a:t>
            </a:r>
            <a:r>
              <a:rPr lang="en-US" altLang="ko-KR" sz="1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388303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제</a:t>
            </a:r>
            <a:r>
              <a:rPr lang="en-US" altLang="ko-KR" sz="2000" dirty="0"/>
              <a:t>132</a:t>
            </a:r>
            <a:r>
              <a:rPr lang="ko-KR" altLang="en-US" sz="2000" dirty="0"/>
              <a:t>조의</a:t>
            </a:r>
            <a:r>
              <a:rPr lang="en-US" altLang="ko-KR" sz="2000" dirty="0"/>
              <a:t>3, </a:t>
            </a:r>
            <a:br>
              <a:rPr lang="en-US" altLang="ko-KR" sz="2000" dirty="0"/>
            </a:br>
            <a:r>
              <a:rPr lang="ko-KR" altLang="en-US" sz="2000" dirty="0"/>
              <a:t>제</a:t>
            </a:r>
            <a:r>
              <a:rPr lang="en-US" altLang="ko-KR" sz="2000" dirty="0"/>
              <a:t>133</a:t>
            </a:r>
            <a:r>
              <a:rPr lang="ko-KR" altLang="en-US" sz="2000" dirty="0"/>
              <a:t>조의</a:t>
            </a:r>
            <a:r>
              <a:rPr lang="en-US" altLang="ko-KR" sz="2000" dirty="0"/>
              <a:t>2, </a:t>
            </a:r>
            <a:r>
              <a:rPr lang="ko-KR" altLang="en-US" sz="2000" dirty="0"/>
              <a:t>제</a:t>
            </a:r>
            <a:r>
              <a:rPr lang="en-US" altLang="ko-KR" sz="2000" dirty="0"/>
              <a:t>137</a:t>
            </a:r>
            <a:r>
              <a:rPr lang="ko-KR" altLang="en-US" sz="2000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정정청구의 취하</a:t>
            </a:r>
            <a:r>
              <a:rPr lang="en-US" altLang="ko-KR" dirty="0"/>
              <a:t>: </a:t>
            </a:r>
            <a:r>
              <a:rPr lang="ko-KR" altLang="en-US" dirty="0"/>
              <a:t>제</a:t>
            </a:r>
            <a:r>
              <a:rPr lang="en-US" altLang="ko-KR" dirty="0"/>
              <a:t>133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r>
              <a:rPr lang="ko-KR" altLang="en-US" dirty="0"/>
              <a:t>제</a:t>
            </a:r>
            <a:r>
              <a:rPr lang="en-US" altLang="ko-KR" dirty="0"/>
              <a:t>5</a:t>
            </a:r>
            <a:r>
              <a:rPr lang="ko-KR" altLang="en-US" dirty="0"/>
              <a:t>항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171556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875" y="976902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정정청구는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</a:rPr>
              <a:t>정정청구를 할 수 있는 기간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132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3①, 133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2①, 137③)</a:t>
            </a:r>
            <a:r>
              <a:rPr lang="ko-KR" altLang="en-US" sz="1400" dirty="0">
                <a:solidFill>
                  <a:schemeClr val="tx2"/>
                </a:solidFill>
              </a:rPr>
              <a:t>과 그 기간의 만료일로부터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개월 이내의 기간</a:t>
            </a:r>
            <a:r>
              <a:rPr lang="en-US" altLang="ko-KR" sz="1400" dirty="0">
                <a:solidFill>
                  <a:schemeClr val="tx2"/>
                </a:solidFill>
              </a:rPr>
              <a:t>, ⅱ) </a:t>
            </a:r>
            <a:r>
              <a:rPr lang="ko-KR" altLang="en-US" sz="1400" dirty="0" err="1">
                <a:solidFill>
                  <a:schemeClr val="tx2"/>
                </a:solidFill>
              </a:rPr>
              <a:t>정정청구의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직권심리에</a:t>
            </a:r>
            <a:r>
              <a:rPr lang="ko-KR" altLang="en-US" sz="1400" dirty="0">
                <a:solidFill>
                  <a:schemeClr val="tx2"/>
                </a:solidFill>
              </a:rPr>
              <a:t> 의한 의견서 제출기간 중 어느 하나에 해당하는 기간에만 취하할 수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</a:rPr>
              <a:t>132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3④, 133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2⑤, 137④ </a:t>
            </a:r>
            <a:r>
              <a:rPr lang="ko-KR" altLang="en-US" sz="1400" dirty="0">
                <a:solidFill>
                  <a:schemeClr val="tx2"/>
                </a:solidFill>
              </a:rPr>
              <a:t>준용 </a:t>
            </a:r>
            <a:r>
              <a:rPr lang="en-US" altLang="ko-KR" sz="1400" dirty="0">
                <a:solidFill>
                  <a:schemeClr val="tx2"/>
                </a:solidFill>
              </a:rPr>
              <a:t>133</a:t>
            </a:r>
            <a:r>
              <a:rPr lang="ko-KR" altLang="en-US" sz="1400" dirty="0">
                <a:solidFill>
                  <a:schemeClr val="tx2"/>
                </a:solidFill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</a:rPr>
              <a:t>2⑤). </a:t>
            </a:r>
            <a:r>
              <a:rPr lang="ko-KR" altLang="en-US" sz="1400" dirty="0">
                <a:solidFill>
                  <a:schemeClr val="tx2"/>
                </a:solidFill>
              </a:rPr>
              <a:t>이는 인정된 정정청구를 취하하면 특허취소신청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특허무효심판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정정무효심판의 심리 대상이 바뀌어 심리 지연의 문제가 발생하기 때문에 취하의 시기를 제한하는 것이다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507</a:t>
            </a:r>
            <a:endParaRPr lang="ko-KR" alt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>
            <a:off x="2605763" y="2913218"/>
            <a:ext cx="1601110" cy="369352"/>
          </a:xfrm>
          <a:prstGeom prst="round2SameRect">
            <a:avLst>
              <a:gd name="adj1" fmla="val 0"/>
              <a:gd name="adj2" fmla="val 50000"/>
            </a:avLst>
          </a:prstGeom>
          <a:pattFill prst="ltHorz">
            <a:fgClr>
              <a:schemeClr val="bg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양쪽 모서리가 둥근 사각형 51"/>
          <p:cNvSpPr/>
          <p:nvPr/>
        </p:nvSpPr>
        <p:spPr>
          <a:xfrm>
            <a:off x="4414376" y="2913218"/>
            <a:ext cx="1601110" cy="369352"/>
          </a:xfrm>
          <a:prstGeom prst="round2SameRect">
            <a:avLst>
              <a:gd name="adj1" fmla="val 0"/>
              <a:gd name="adj2" fmla="val 50000"/>
            </a:avLst>
          </a:prstGeom>
          <a:pattFill prst="ltHorz">
            <a:fgClr>
              <a:schemeClr val="bg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양쪽 모서리가 둥근 사각형 52"/>
          <p:cNvSpPr/>
          <p:nvPr/>
        </p:nvSpPr>
        <p:spPr>
          <a:xfrm>
            <a:off x="6423687" y="2913218"/>
            <a:ext cx="1601110" cy="369352"/>
          </a:xfrm>
          <a:prstGeom prst="round2SameRect">
            <a:avLst>
              <a:gd name="adj1" fmla="val 0"/>
              <a:gd name="adj2" fmla="val 50000"/>
            </a:avLst>
          </a:prstGeom>
          <a:pattFill prst="ltHorz">
            <a:fgClr>
              <a:schemeClr val="bg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양쪽 모서리가 둥근 사각형 53"/>
          <p:cNvSpPr/>
          <p:nvPr/>
        </p:nvSpPr>
        <p:spPr>
          <a:xfrm>
            <a:off x="9696520" y="2913218"/>
            <a:ext cx="1601110" cy="369352"/>
          </a:xfrm>
          <a:prstGeom prst="round2SameRect">
            <a:avLst>
              <a:gd name="adj1" fmla="val 0"/>
              <a:gd name="adj2" fmla="val 5000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>
            <a:off x="459294" y="2913218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4460" y="2163779"/>
            <a:ext cx="1490466" cy="515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특허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정정무효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심판청구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1072323" y="2842192"/>
            <a:ext cx="154738" cy="12579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7" name="직선 화살표 연결선 6"/>
          <p:cNvCxnSpPr>
            <a:cxnSpLocks/>
            <a:stCxn id="15" idx="2"/>
            <a:endCxn id="23" idx="0"/>
          </p:cNvCxnSpPr>
          <p:nvPr/>
        </p:nvCxnSpPr>
        <p:spPr>
          <a:xfrm flipH="1">
            <a:off x="1149692" y="2679626"/>
            <a:ext cx="1" cy="16256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72294" y="2163779"/>
            <a:ext cx="1266940" cy="515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부본송달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타원 27"/>
          <p:cNvSpPr/>
          <p:nvPr/>
        </p:nvSpPr>
        <p:spPr>
          <a:xfrm>
            <a:off x="2528394" y="2842192"/>
            <a:ext cx="154738" cy="12579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9" name="직선 화살표 연결선 28"/>
          <p:cNvCxnSpPr>
            <a:cxnSpLocks/>
            <a:stCxn id="27" idx="2"/>
            <a:endCxn id="28" idx="0"/>
          </p:cNvCxnSpPr>
          <p:nvPr/>
        </p:nvCxnSpPr>
        <p:spPr>
          <a:xfrm flipH="1">
            <a:off x="2605763" y="2679626"/>
            <a:ext cx="1" cy="16256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439385" y="2163779"/>
            <a:ext cx="1990360" cy="515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증거서류제출</a:t>
            </a:r>
            <a:r>
              <a:rPr lang="en-US" altLang="ko-KR" sz="1400" dirty="0">
                <a:solidFill>
                  <a:schemeClr val="tx1"/>
                </a:solidFill>
                <a:latin typeface="+mn-ea"/>
              </a:rPr>
              <a:t>/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새로운 </a:t>
            </a:r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무효사유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주장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4357195" y="2842192"/>
            <a:ext cx="154738" cy="12579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0" name="직선 화살표 연결선 39"/>
          <p:cNvCxnSpPr>
            <a:cxnSpLocks/>
            <a:stCxn id="35" idx="2"/>
            <a:endCxn id="36" idx="0"/>
          </p:cNvCxnSpPr>
          <p:nvPr/>
        </p:nvCxnSpPr>
        <p:spPr>
          <a:xfrm flipH="1">
            <a:off x="4434564" y="2679626"/>
            <a:ext cx="1" cy="16256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808628" y="2163779"/>
            <a:ext cx="1266940" cy="515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직권심리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159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조제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6364728" y="2842192"/>
            <a:ext cx="154738" cy="12579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3" name="직선 화살표 연결선 42"/>
          <p:cNvCxnSpPr>
            <a:cxnSpLocks/>
            <a:stCxn id="41" idx="2"/>
            <a:endCxn id="42" idx="0"/>
          </p:cNvCxnSpPr>
          <p:nvPr/>
        </p:nvCxnSpPr>
        <p:spPr>
          <a:xfrm flipH="1">
            <a:off x="6442097" y="2679626"/>
            <a:ext cx="1" cy="16256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567021" y="1828782"/>
            <a:ext cx="1266940" cy="5158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정정청구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7435330" y="2842192"/>
            <a:ext cx="154738" cy="12579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071523" y="1828782"/>
            <a:ext cx="1266940" cy="5158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직권심리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136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조제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6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ko-KR" sz="14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50" name="타원 49"/>
          <p:cNvSpPr/>
          <p:nvPr/>
        </p:nvSpPr>
        <p:spPr>
          <a:xfrm>
            <a:off x="9627623" y="2842192"/>
            <a:ext cx="154738" cy="12579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1" name="직선 화살표 연결선 50"/>
          <p:cNvCxnSpPr>
            <a:cxnSpLocks/>
            <a:stCxn id="47" idx="2"/>
            <a:endCxn id="50" idx="0"/>
          </p:cNvCxnSpPr>
          <p:nvPr/>
        </p:nvCxnSpPr>
        <p:spPr>
          <a:xfrm flipH="1">
            <a:off x="9704992" y="2344629"/>
            <a:ext cx="1" cy="4975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2614167" y="3391786"/>
            <a:ext cx="1592706" cy="455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/>
              <a:t>답변서 제출기간</a:t>
            </a:r>
            <a:endParaRPr lang="en-US" altLang="ko-KR" sz="1600" dirty="0"/>
          </a:p>
          <a:p>
            <a:pPr algn="ctr"/>
            <a:r>
              <a:rPr lang="en-US" altLang="ko-KR" sz="1600" dirty="0"/>
              <a:t>(+1</a:t>
            </a:r>
            <a:r>
              <a:rPr lang="ko-KR" altLang="en-US" sz="1600" dirty="0"/>
              <a:t>개월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55" name="직사각형 54"/>
          <p:cNvSpPr/>
          <p:nvPr/>
        </p:nvSpPr>
        <p:spPr>
          <a:xfrm>
            <a:off x="4422780" y="3391786"/>
            <a:ext cx="1592706" cy="455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/>
              <a:t>심판장 정한 기간</a:t>
            </a:r>
            <a:endParaRPr lang="en-US" altLang="ko-KR" sz="1600" dirty="0"/>
          </a:p>
          <a:p>
            <a:pPr algn="ctr"/>
            <a:r>
              <a:rPr lang="en-US" altLang="ko-KR" sz="1600" dirty="0"/>
              <a:t>(+1</a:t>
            </a:r>
            <a:r>
              <a:rPr lang="ko-KR" altLang="en-US" sz="1600" dirty="0"/>
              <a:t>개월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56" name="직사각형 55"/>
          <p:cNvSpPr/>
          <p:nvPr/>
        </p:nvSpPr>
        <p:spPr>
          <a:xfrm>
            <a:off x="6430996" y="3391786"/>
            <a:ext cx="1592706" cy="455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/>
              <a:t>의견서 제출기간</a:t>
            </a:r>
            <a:endParaRPr lang="en-US" altLang="ko-KR" sz="1600" dirty="0"/>
          </a:p>
          <a:p>
            <a:pPr algn="ctr"/>
            <a:r>
              <a:rPr lang="en-US" altLang="ko-KR" sz="1600" dirty="0"/>
              <a:t>(+1</a:t>
            </a:r>
            <a:r>
              <a:rPr lang="ko-KR" altLang="en-US" sz="1600" dirty="0"/>
              <a:t>개월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57" name="직사각형 56"/>
          <p:cNvSpPr/>
          <p:nvPr/>
        </p:nvSpPr>
        <p:spPr>
          <a:xfrm>
            <a:off x="9704992" y="3391786"/>
            <a:ext cx="1592706" cy="263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/>
              <a:t>의견서 제출기간</a:t>
            </a:r>
            <a:endParaRPr lang="en-US" altLang="ko-KR" sz="1600" dirty="0"/>
          </a:p>
        </p:txBody>
      </p:sp>
      <p:cxnSp>
        <p:nvCxnSpPr>
          <p:cNvPr id="9" name="꺾인 연결선 8"/>
          <p:cNvCxnSpPr>
            <a:cxnSpLocks/>
            <a:stCxn id="44" idx="2"/>
            <a:endCxn id="45" idx="0"/>
          </p:cNvCxnSpPr>
          <p:nvPr/>
        </p:nvCxnSpPr>
        <p:spPr>
          <a:xfrm rot="5400000">
            <a:off x="7607814" y="2249514"/>
            <a:ext cx="497563" cy="6877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5E524BC-8262-4715-82F1-F8E558454D73}"/>
              </a:ext>
            </a:extLst>
          </p:cNvPr>
          <p:cNvCxnSpPr/>
          <p:nvPr/>
        </p:nvCxnSpPr>
        <p:spPr>
          <a:xfrm>
            <a:off x="0" y="4155541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양쪽 모서리가 둥근 사각형 52">
            <a:extLst>
              <a:ext uri="{FF2B5EF4-FFF2-40B4-BE49-F238E27FC236}">
                <a16:creationId xmlns:a16="http://schemas.microsoft.com/office/drawing/2014/main" id="{40211CED-2AD5-478A-9EE8-18C07A5E2949}"/>
              </a:ext>
            </a:extLst>
          </p:cNvPr>
          <p:cNvSpPr/>
          <p:nvPr/>
        </p:nvSpPr>
        <p:spPr>
          <a:xfrm>
            <a:off x="6423687" y="5470131"/>
            <a:ext cx="1601110" cy="369352"/>
          </a:xfrm>
          <a:prstGeom prst="round2SameRect">
            <a:avLst>
              <a:gd name="adj1" fmla="val 0"/>
              <a:gd name="adj2" fmla="val 50000"/>
            </a:avLst>
          </a:prstGeom>
          <a:pattFill prst="ltHorz">
            <a:fgClr>
              <a:schemeClr val="bg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양쪽 모서리가 둥근 사각형 53">
            <a:extLst>
              <a:ext uri="{FF2B5EF4-FFF2-40B4-BE49-F238E27FC236}">
                <a16:creationId xmlns:a16="http://schemas.microsoft.com/office/drawing/2014/main" id="{E3A5BDD4-FB4E-4420-9BF3-774F61DB5E4E}"/>
              </a:ext>
            </a:extLst>
          </p:cNvPr>
          <p:cNvSpPr/>
          <p:nvPr/>
        </p:nvSpPr>
        <p:spPr>
          <a:xfrm>
            <a:off x="9696520" y="5470131"/>
            <a:ext cx="1601110" cy="369352"/>
          </a:xfrm>
          <a:prstGeom prst="round2SameRect">
            <a:avLst>
              <a:gd name="adj1" fmla="val 0"/>
              <a:gd name="adj2" fmla="val 5000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Line 5">
            <a:extLst>
              <a:ext uri="{FF2B5EF4-FFF2-40B4-BE49-F238E27FC236}">
                <a16:creationId xmlns:a16="http://schemas.microsoft.com/office/drawing/2014/main" id="{4E8ACBAE-1081-4570-9310-84ECFE70F1F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294" y="5470131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503395F-8017-44AE-8875-FA0BF9B9E663}"/>
              </a:ext>
            </a:extLst>
          </p:cNvPr>
          <p:cNvSpPr txBox="1"/>
          <p:nvPr/>
        </p:nvSpPr>
        <p:spPr>
          <a:xfrm>
            <a:off x="404460" y="4720692"/>
            <a:ext cx="1490466" cy="515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취소신청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A9E2E1DE-E5DC-4E7B-A49C-70D93B4AD9B9}"/>
              </a:ext>
            </a:extLst>
          </p:cNvPr>
          <p:cNvSpPr/>
          <p:nvPr/>
        </p:nvSpPr>
        <p:spPr>
          <a:xfrm>
            <a:off x="1072323" y="5399105"/>
            <a:ext cx="154738" cy="12579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ADE2D0DC-B25D-4C89-8A61-D72D23988F81}"/>
              </a:ext>
            </a:extLst>
          </p:cNvPr>
          <p:cNvCxnSpPr>
            <a:cxnSpLocks/>
            <a:stCxn id="88" idx="2"/>
            <a:endCxn id="89" idx="0"/>
          </p:cNvCxnSpPr>
          <p:nvPr/>
        </p:nvCxnSpPr>
        <p:spPr>
          <a:xfrm flipH="1">
            <a:off x="1149692" y="5236539"/>
            <a:ext cx="1" cy="16256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1900965C-E9FA-429C-9AFB-66F28A901833}"/>
              </a:ext>
            </a:extLst>
          </p:cNvPr>
          <p:cNvSpPr txBox="1"/>
          <p:nvPr/>
        </p:nvSpPr>
        <p:spPr>
          <a:xfrm>
            <a:off x="5448866" y="4720692"/>
            <a:ext cx="1986464" cy="51584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직권심리하여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취소결정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하고자 취소이유통지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8" name="타원 97">
            <a:extLst>
              <a:ext uri="{FF2B5EF4-FFF2-40B4-BE49-F238E27FC236}">
                <a16:creationId xmlns:a16="http://schemas.microsoft.com/office/drawing/2014/main" id="{15CA4EAC-3590-451B-A96E-78CEA828C019}"/>
              </a:ext>
            </a:extLst>
          </p:cNvPr>
          <p:cNvSpPr/>
          <p:nvPr/>
        </p:nvSpPr>
        <p:spPr>
          <a:xfrm>
            <a:off x="6364728" y="5399105"/>
            <a:ext cx="154738" cy="12579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BECFE495-37AE-44C9-90A9-F7544EC71122}"/>
              </a:ext>
            </a:extLst>
          </p:cNvPr>
          <p:cNvCxnSpPr>
            <a:cxnSpLocks/>
            <a:stCxn id="97" idx="2"/>
            <a:endCxn id="98" idx="0"/>
          </p:cNvCxnSpPr>
          <p:nvPr/>
        </p:nvCxnSpPr>
        <p:spPr>
          <a:xfrm flipH="1">
            <a:off x="6442097" y="5236539"/>
            <a:ext cx="1" cy="16256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14958F02-84BF-445B-9CDE-EB73B89CCD81}"/>
              </a:ext>
            </a:extLst>
          </p:cNvPr>
          <p:cNvSpPr txBox="1"/>
          <p:nvPr/>
        </p:nvSpPr>
        <p:spPr>
          <a:xfrm>
            <a:off x="7567021" y="4385695"/>
            <a:ext cx="1266940" cy="5158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정정청구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6E1E3CA7-D45A-4A13-87CB-7140C88F8C2D}"/>
              </a:ext>
            </a:extLst>
          </p:cNvPr>
          <p:cNvSpPr/>
          <p:nvPr/>
        </p:nvSpPr>
        <p:spPr>
          <a:xfrm>
            <a:off x="7435330" y="5399105"/>
            <a:ext cx="154738" cy="12579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C2565F8-BBAD-480F-9A90-3E1BCC2CD43E}"/>
              </a:ext>
            </a:extLst>
          </p:cNvPr>
          <p:cNvSpPr txBox="1"/>
          <p:nvPr/>
        </p:nvSpPr>
        <p:spPr>
          <a:xfrm>
            <a:off x="9071523" y="4385695"/>
            <a:ext cx="1266940" cy="5158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직권심리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3" name="타원 102">
            <a:extLst>
              <a:ext uri="{FF2B5EF4-FFF2-40B4-BE49-F238E27FC236}">
                <a16:creationId xmlns:a16="http://schemas.microsoft.com/office/drawing/2014/main" id="{DA3EBE10-E30C-48A0-AF3A-8B3918A93C68}"/>
              </a:ext>
            </a:extLst>
          </p:cNvPr>
          <p:cNvSpPr/>
          <p:nvPr/>
        </p:nvSpPr>
        <p:spPr>
          <a:xfrm>
            <a:off x="9627623" y="5399105"/>
            <a:ext cx="154738" cy="125791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71BE3D0B-E540-4537-8A32-87DB1F50E199}"/>
              </a:ext>
            </a:extLst>
          </p:cNvPr>
          <p:cNvCxnSpPr>
            <a:cxnSpLocks/>
            <a:stCxn id="102" idx="2"/>
            <a:endCxn id="103" idx="0"/>
          </p:cNvCxnSpPr>
          <p:nvPr/>
        </p:nvCxnSpPr>
        <p:spPr>
          <a:xfrm flipH="1">
            <a:off x="9704992" y="4901542"/>
            <a:ext cx="1" cy="4975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C1CB655C-B2C5-4E38-98B2-FA3B62872F9B}"/>
              </a:ext>
            </a:extLst>
          </p:cNvPr>
          <p:cNvSpPr/>
          <p:nvPr/>
        </p:nvSpPr>
        <p:spPr>
          <a:xfrm>
            <a:off x="6430996" y="5948699"/>
            <a:ext cx="1592706" cy="4559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/>
              <a:t>의견서 제출기간</a:t>
            </a:r>
            <a:endParaRPr lang="en-US" altLang="ko-KR" sz="1600" dirty="0"/>
          </a:p>
          <a:p>
            <a:pPr algn="ctr"/>
            <a:r>
              <a:rPr lang="en-US" altLang="ko-KR" sz="1600" dirty="0"/>
              <a:t>(+1</a:t>
            </a:r>
            <a:r>
              <a:rPr lang="ko-KR" altLang="en-US" sz="1600" dirty="0"/>
              <a:t>개월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1B0803C9-2A71-4536-9ADB-F5854FC49297}"/>
              </a:ext>
            </a:extLst>
          </p:cNvPr>
          <p:cNvSpPr/>
          <p:nvPr/>
        </p:nvSpPr>
        <p:spPr>
          <a:xfrm>
            <a:off x="9704992" y="5948699"/>
            <a:ext cx="1592706" cy="263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600" dirty="0"/>
              <a:t>의견서 제출기간</a:t>
            </a:r>
            <a:endParaRPr lang="en-US" altLang="ko-KR" sz="1600" dirty="0"/>
          </a:p>
        </p:txBody>
      </p:sp>
      <p:cxnSp>
        <p:nvCxnSpPr>
          <p:cNvPr id="109" name="꺾인 연결선 8">
            <a:extLst>
              <a:ext uri="{FF2B5EF4-FFF2-40B4-BE49-F238E27FC236}">
                <a16:creationId xmlns:a16="http://schemas.microsoft.com/office/drawing/2014/main" id="{701C705B-4980-49F2-B460-26147A67BA10}"/>
              </a:ext>
            </a:extLst>
          </p:cNvPr>
          <p:cNvCxnSpPr>
            <a:cxnSpLocks/>
            <a:stCxn id="100" idx="2"/>
            <a:endCxn id="101" idx="0"/>
          </p:cNvCxnSpPr>
          <p:nvPr/>
        </p:nvCxnSpPr>
        <p:spPr>
          <a:xfrm rot="5400000">
            <a:off x="7607814" y="4806427"/>
            <a:ext cx="497563" cy="6877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75381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000" dirty="0"/>
              <a:t>제</a:t>
            </a:r>
            <a:r>
              <a:rPr lang="en-US" altLang="ko-KR" sz="2000" dirty="0"/>
              <a:t>132</a:t>
            </a:r>
            <a:r>
              <a:rPr lang="ko-KR" altLang="en-US" sz="2000" dirty="0"/>
              <a:t>조의</a:t>
            </a:r>
            <a:r>
              <a:rPr lang="en-US" altLang="ko-KR" sz="2000" dirty="0"/>
              <a:t>3, </a:t>
            </a:r>
            <a:br>
              <a:rPr lang="en-US" altLang="ko-KR" sz="2000" dirty="0"/>
            </a:br>
            <a:r>
              <a:rPr lang="ko-KR" altLang="en-US" sz="2000" dirty="0"/>
              <a:t>제</a:t>
            </a:r>
            <a:r>
              <a:rPr lang="en-US" altLang="ko-KR" sz="2000" dirty="0"/>
              <a:t>133</a:t>
            </a:r>
            <a:r>
              <a:rPr lang="ko-KR" altLang="en-US" sz="2000" dirty="0"/>
              <a:t>조의</a:t>
            </a:r>
            <a:r>
              <a:rPr lang="en-US" altLang="ko-KR" sz="2000" dirty="0"/>
              <a:t>2, </a:t>
            </a:r>
            <a:r>
              <a:rPr lang="ko-KR" altLang="en-US" sz="2000" dirty="0"/>
              <a:t>제</a:t>
            </a:r>
            <a:r>
              <a:rPr lang="en-US" altLang="ko-KR" sz="2000" dirty="0"/>
              <a:t>137</a:t>
            </a:r>
            <a:r>
              <a:rPr lang="ko-KR" altLang="en-US" sz="2000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sz="2000" dirty="0"/>
              <a:t>특허출원을 하였을 때에 특허를 받을 수 있을 것의 판단</a:t>
            </a:r>
            <a:r>
              <a:rPr lang="en-US" altLang="ko-KR" sz="2000" dirty="0"/>
              <a:t>: </a:t>
            </a:r>
            <a:r>
              <a:rPr lang="ko-KR" altLang="en-US" sz="2000" dirty="0"/>
              <a:t>제</a:t>
            </a:r>
            <a:r>
              <a:rPr lang="en-US" altLang="ko-KR" sz="2000" dirty="0"/>
              <a:t>133</a:t>
            </a:r>
            <a:r>
              <a:rPr lang="ko-KR" altLang="en-US" sz="2000" dirty="0"/>
              <a:t>조의</a:t>
            </a:r>
            <a:r>
              <a:rPr lang="en-US" altLang="ko-KR" sz="2000" dirty="0"/>
              <a:t>2</a:t>
            </a:r>
            <a:r>
              <a:rPr lang="ko-KR" altLang="en-US" sz="2000" dirty="0"/>
              <a:t>제</a:t>
            </a:r>
            <a:r>
              <a:rPr lang="en-US" altLang="ko-KR" sz="2000" dirty="0"/>
              <a:t>6</a:t>
            </a:r>
            <a:r>
              <a:rPr lang="ko-KR" altLang="en-US" sz="2000" dirty="0"/>
              <a:t>항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258102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875" y="976902"/>
            <a:ext cx="1193632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청구범위를 감축하거나 잘못 기재된 사항을 정정하는 경우에는 정정 후의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청구범위에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적혀 있는 사항이 특허출원을 하였을 때에 특허를 받을 수 있는 것이어야 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132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의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3③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및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133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의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2④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준용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136⑤, 137④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준용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133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의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2④).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다만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특허취소신청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특허무효심판이 청구된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청구항을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정정하는 경우에는 「특허출원을 하였을 때에 특허를 받을 수 있을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것」은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적용되지 아니한다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法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132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의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3⑤, 133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의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2⑥). </a:t>
            </a:r>
            <a:r>
              <a:rPr lang="ko-KR" altLang="en-US" sz="1400" dirty="0">
                <a:solidFill>
                  <a:schemeClr val="tx2"/>
                </a:solidFill>
              </a:rPr>
              <a:t>이는 특허취소신청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특허무효심판절차에서의 </a:t>
            </a:r>
            <a:r>
              <a:rPr lang="ko-KR" altLang="en-US" sz="1400" dirty="0" err="1">
                <a:solidFill>
                  <a:schemeClr val="tx2"/>
                </a:solidFill>
              </a:rPr>
              <a:t>정정청구에</a:t>
            </a:r>
            <a:r>
              <a:rPr lang="ko-KR" altLang="en-US" sz="1400" dirty="0">
                <a:solidFill>
                  <a:schemeClr val="tx2"/>
                </a:solidFill>
              </a:rPr>
              <a:t> 대하여 해당 청구항의 「특허출원을 하였을 때에 특허를 받을 수 있을 </a:t>
            </a:r>
            <a:r>
              <a:rPr lang="ko-KR" altLang="en-US" sz="1400" dirty="0" err="1">
                <a:solidFill>
                  <a:schemeClr val="tx2"/>
                </a:solidFill>
              </a:rPr>
              <a:t>것」을</a:t>
            </a:r>
            <a:r>
              <a:rPr lang="ko-KR" altLang="en-US" sz="1400" dirty="0">
                <a:solidFill>
                  <a:schemeClr val="tx2"/>
                </a:solidFill>
              </a:rPr>
              <a:t> 판단한 후 특허취소신청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특허무효심판 대상 </a:t>
            </a:r>
            <a:r>
              <a:rPr lang="ko-KR" altLang="en-US" sz="1400" dirty="0" err="1">
                <a:solidFill>
                  <a:schemeClr val="tx2"/>
                </a:solidFill>
              </a:rPr>
              <a:t>청구항에</a:t>
            </a:r>
            <a:r>
              <a:rPr lang="ko-KR" altLang="en-US" sz="1400" dirty="0">
                <a:solidFill>
                  <a:schemeClr val="tx2"/>
                </a:solidFill>
              </a:rPr>
              <a:t> 대하여 다시 특허취소사유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특허무효사유의 유무를 판단하는 것은 실질적으로 동일한 내용을 중복적으로 판단하여 심리의 부담이 가중되고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특허취소신청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특허무효심판의 최종적 </a:t>
            </a:r>
            <a:r>
              <a:rPr lang="ko-KR" altLang="en-US" sz="1400" dirty="0" err="1">
                <a:solidFill>
                  <a:schemeClr val="tx2"/>
                </a:solidFill>
              </a:rPr>
              <a:t>판단사항인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취소이유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무효이유를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결정</a:t>
            </a:r>
            <a:r>
              <a:rPr lang="en-US" altLang="ko-KR" sz="1400">
                <a:solidFill>
                  <a:schemeClr val="tx2"/>
                </a:solidFill>
              </a:rPr>
              <a:t>)</a:t>
            </a:r>
            <a:r>
              <a:rPr lang="ko-KR" altLang="en-US" sz="140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전에 미리 알려주는 결과가 되어 이로 인하여 심리의 지연이 초래되는 문제점이 있기 때문이다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특허취소신청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특허무효심판이 청구되지 아니한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청구항을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정정하는 경우에는 이와 같은 요건을 판단하여야 함은 자명하다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>
            <a:off x="328662" y="2943651"/>
            <a:ext cx="1146427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9306" y="2788273"/>
            <a:ext cx="218933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특허무효심판청구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98246" y="2788273"/>
            <a:ext cx="218933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정정청구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77187" y="2788273"/>
            <a:ext cx="2152394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정정적법성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판단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12804" y="2788273"/>
            <a:ext cx="2189330" cy="32655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무효사유</a:t>
            </a:r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 판단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9306" y="3249974"/>
            <a:ext cx="2189330" cy="52880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청구항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1, </a:t>
            </a:r>
            <a:r>
              <a:rPr lang="ko-KR" altLang="en-US" sz="1400" dirty="0" err="1">
                <a:solidFill>
                  <a:schemeClr val="tx1"/>
                </a:solidFill>
              </a:rPr>
              <a:t>청구항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에 대한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특허무효심판청구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2998246" y="3249974"/>
            <a:ext cx="2189330" cy="52880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청구항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1, </a:t>
            </a:r>
            <a:r>
              <a:rPr lang="ko-KR" altLang="en-US" sz="1400" dirty="0" err="1">
                <a:solidFill>
                  <a:schemeClr val="tx1"/>
                </a:solidFill>
              </a:rPr>
              <a:t>청구항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3</a:t>
            </a:r>
            <a:r>
              <a:rPr lang="ko-KR" altLang="en-US" sz="1400" dirty="0">
                <a:solidFill>
                  <a:schemeClr val="tx1"/>
                </a:solidFill>
              </a:rPr>
              <a:t>에 대한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정정청구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5440251" y="3249974"/>
            <a:ext cx="2189330" cy="175168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청구항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3</a:t>
            </a:r>
            <a:r>
              <a:rPr lang="ko-KR" altLang="en-US" sz="1400" dirty="0">
                <a:solidFill>
                  <a:schemeClr val="tx1"/>
                </a:solidFill>
              </a:rPr>
              <a:t>에 대해서는 특허출원을 하였을 때에 특허를 받을 수 있을 것을 판단하여야 하지만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</a:rPr>
              <a:t>청구항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에 대해서는 특허출원을 하였을 때에 특허를 받을 수 있을 것을 판단하지 아니함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9012804" y="3249974"/>
            <a:ext cx="2189330" cy="127795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신청한 취지인 </a:t>
            </a:r>
            <a:r>
              <a:rPr lang="ko-KR" altLang="en-US" sz="1400" dirty="0" err="1">
                <a:solidFill>
                  <a:schemeClr val="tx1"/>
                </a:solidFill>
              </a:rPr>
              <a:t>청구항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과 </a:t>
            </a:r>
            <a:r>
              <a:rPr lang="ko-KR" altLang="en-US" sz="1400" dirty="0" err="1">
                <a:solidFill>
                  <a:schemeClr val="tx1"/>
                </a:solidFill>
              </a:rPr>
              <a:t>청구항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에 대해서만 특허무효사유를 판단할 수 있으며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 err="1">
                <a:solidFill>
                  <a:schemeClr val="tx1"/>
                </a:solidFill>
              </a:rPr>
              <a:t>청구항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en-US" altLang="ko-KR" sz="1400" dirty="0">
                <a:solidFill>
                  <a:schemeClr val="tx1"/>
                </a:solidFill>
              </a:rPr>
              <a:t>3</a:t>
            </a:r>
            <a:r>
              <a:rPr lang="ko-KR" altLang="en-US" sz="1400" dirty="0">
                <a:solidFill>
                  <a:schemeClr val="tx1"/>
                </a:solidFill>
              </a:rPr>
              <a:t>에 대해서는 판단할 수 없음</a:t>
            </a:r>
          </a:p>
        </p:txBody>
      </p:sp>
      <p:sp>
        <p:nvSpPr>
          <p:cNvPr id="33" name="타원 32"/>
          <p:cNvSpPr/>
          <p:nvPr/>
        </p:nvSpPr>
        <p:spPr>
          <a:xfrm>
            <a:off x="8322969" y="285255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8796133" y="4663301"/>
            <a:ext cx="2622672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400" dirty="0">
                <a:latin typeface="+mn-ea"/>
              </a:rPr>
              <a:t>정정이 적법하면 정정 후 명세서 또는 도면에 의하여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정정이 </a:t>
            </a:r>
            <a:r>
              <a:rPr lang="ko-KR" altLang="en-US" sz="1400" dirty="0" err="1">
                <a:latin typeface="+mn-ea"/>
              </a:rPr>
              <a:t>부적법하면</a:t>
            </a:r>
            <a:r>
              <a:rPr lang="ko-KR" altLang="en-US" sz="1400" dirty="0">
                <a:latin typeface="+mn-ea"/>
              </a:rPr>
              <a:t> 정정 전 명세서 또는 도면에 의하여 특허무효사유를 판단</a:t>
            </a:r>
          </a:p>
        </p:txBody>
      </p:sp>
      <p:cxnSp>
        <p:nvCxnSpPr>
          <p:cNvPr id="11" name="꺾인 연결선 10"/>
          <p:cNvCxnSpPr>
            <a:stCxn id="8" idx="1"/>
            <a:endCxn id="33" idx="4"/>
          </p:cNvCxnSpPr>
          <p:nvPr/>
        </p:nvCxnSpPr>
        <p:spPr>
          <a:xfrm rot="10800000">
            <a:off x="8400339" y="3013893"/>
            <a:ext cx="395795" cy="2126463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363100"/>
              </p:ext>
            </p:extLst>
          </p:nvPr>
        </p:nvGraphicFramePr>
        <p:xfrm>
          <a:off x="328661" y="5189956"/>
          <a:ext cx="7300919" cy="14833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34063">
                  <a:extLst>
                    <a:ext uri="{9D8B030D-6E8A-4147-A177-3AD203B41FA5}">
                      <a16:colId xmlns:a16="http://schemas.microsoft.com/office/drawing/2014/main" val="970776889"/>
                    </a:ext>
                  </a:extLst>
                </a:gridCol>
                <a:gridCol w="1616714">
                  <a:extLst>
                    <a:ext uri="{9D8B030D-6E8A-4147-A177-3AD203B41FA5}">
                      <a16:colId xmlns:a16="http://schemas.microsoft.com/office/drawing/2014/main" val="2875979203"/>
                    </a:ext>
                  </a:extLst>
                </a:gridCol>
                <a:gridCol w="1616714">
                  <a:extLst>
                    <a:ext uri="{9D8B030D-6E8A-4147-A177-3AD203B41FA5}">
                      <a16:colId xmlns:a16="http://schemas.microsoft.com/office/drawing/2014/main" val="3971055471"/>
                    </a:ext>
                  </a:extLst>
                </a:gridCol>
                <a:gridCol w="1616714">
                  <a:extLst>
                    <a:ext uri="{9D8B030D-6E8A-4147-A177-3AD203B41FA5}">
                      <a16:colId xmlns:a16="http://schemas.microsoft.com/office/drawing/2014/main" val="1162206"/>
                    </a:ext>
                  </a:extLst>
                </a:gridCol>
                <a:gridCol w="1616714">
                  <a:extLst>
                    <a:ext uri="{9D8B030D-6E8A-4147-A177-3AD203B41FA5}">
                      <a16:colId xmlns:a16="http://schemas.microsoft.com/office/drawing/2014/main" val="1323810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청구항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특허무효심판청구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/>
                        <a:t>정정청구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정정적법성판단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무효사유판단</a:t>
                      </a: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498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9718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4678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endParaRPr lang="ko-KR" alt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×(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159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항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1056632"/>
                  </a:ext>
                </a:extLst>
              </a:tr>
            </a:tbl>
          </a:graphicData>
        </a:graphic>
      </p:graphicFrame>
      <p:sp>
        <p:nvSpPr>
          <p:cNvPr id="37" name="모서리가 둥근 직사각형 36"/>
          <p:cNvSpPr/>
          <p:nvPr/>
        </p:nvSpPr>
        <p:spPr>
          <a:xfrm>
            <a:off x="4382611" y="5614079"/>
            <a:ext cx="3246970" cy="281672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8889107" y="6177338"/>
            <a:ext cx="2172390" cy="4001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 err="1">
                <a:solidFill>
                  <a:srgbClr val="FF0000"/>
                </a:solidFill>
              </a:rPr>
              <a:t>특허요건</a:t>
            </a:r>
            <a:r>
              <a:rPr lang="ko-KR" altLang="en-US" sz="2000" dirty="0">
                <a:solidFill>
                  <a:srgbClr val="FF0000"/>
                </a:solidFill>
              </a:rPr>
              <a:t> 중복 판단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cxnSp>
        <p:nvCxnSpPr>
          <p:cNvPr id="39" name="직선 화살표 연결선 38"/>
          <p:cNvCxnSpPr>
            <a:stCxn id="37" idx="3"/>
            <a:endCxn id="38" idx="1"/>
          </p:cNvCxnSpPr>
          <p:nvPr/>
        </p:nvCxnSpPr>
        <p:spPr>
          <a:xfrm>
            <a:off x="7629581" y="5754915"/>
            <a:ext cx="1259526" cy="62247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슬라이드 번호 개체 틀 4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508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955000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132</a:t>
            </a:r>
            <a:r>
              <a:rPr lang="ko-KR" altLang="en-US" sz="1600" dirty="0"/>
              <a:t>조의</a:t>
            </a:r>
            <a:r>
              <a:rPr lang="en-US" altLang="ko-KR" sz="1600" dirty="0"/>
              <a:t>3, </a:t>
            </a:r>
            <a:br>
              <a:rPr lang="en-US" altLang="ko-KR" sz="1600" dirty="0"/>
            </a:br>
            <a:r>
              <a:rPr lang="ko-KR" altLang="en-US" sz="1600" dirty="0"/>
              <a:t>제</a:t>
            </a:r>
            <a:r>
              <a:rPr lang="en-US" altLang="ko-KR" sz="1600" dirty="0"/>
              <a:t>133</a:t>
            </a:r>
            <a:r>
              <a:rPr lang="ko-KR" altLang="en-US" sz="1600" dirty="0"/>
              <a:t>조의</a:t>
            </a:r>
            <a:r>
              <a:rPr lang="en-US" altLang="ko-KR" sz="1600" dirty="0"/>
              <a:t>2, </a:t>
            </a:r>
            <a:r>
              <a:rPr lang="ko-KR" altLang="en-US" sz="1600" dirty="0"/>
              <a:t>제</a:t>
            </a:r>
            <a:r>
              <a:rPr lang="en-US" altLang="ko-KR" sz="1600" dirty="0"/>
              <a:t>137</a:t>
            </a:r>
            <a:r>
              <a:rPr lang="ko-KR" altLang="en-US" sz="1600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일체 분가분의 </a:t>
            </a:r>
            <a:r>
              <a:rPr lang="en-US" altLang="ko-KR" dirty="0"/>
              <a:t>SET CASE</a:t>
            </a:r>
            <a:endParaRPr lang="ko-KR" altLang="en-US" dirty="0"/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C744699-A9D8-41E8-AC09-E31EE1EB6442}"/>
              </a:ext>
            </a:extLst>
          </p:cNvPr>
          <p:cNvCxnSpPr/>
          <p:nvPr/>
        </p:nvCxnSpPr>
        <p:spPr>
          <a:xfrm>
            <a:off x="0" y="2957445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8F9BA11-776F-458B-AEBF-785908167EF1}"/>
              </a:ext>
            </a:extLst>
          </p:cNvPr>
          <p:cNvSpPr/>
          <p:nvPr/>
        </p:nvSpPr>
        <p:spPr>
          <a:xfrm>
            <a:off x="232372" y="1357007"/>
            <a:ext cx="1168198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400" dirty="0"/>
              <a:t>특허무효심판절차에서 정정청구가 있는 경우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정정의 인정 여부는 무효심판절차에 대한 결정절차에서 함께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심리되는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것이므로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독립된 정정심판청구의 경우와 달리 정정만이 따로 확정되는 것이 아니라 무효심판의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심결이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확정되는 때에 함께 확정된다</a:t>
            </a:r>
            <a:r>
              <a:rPr lang="ko-KR" altLang="en-US" sz="1400" dirty="0"/>
              <a:t> 할 </a:t>
            </a:r>
            <a:r>
              <a:rPr lang="ko-KR" altLang="en-US" sz="1400" dirty="0" err="1"/>
              <a:t>것인바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2008.6.26.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2006</a:t>
            </a:r>
            <a:r>
              <a:rPr lang="ko-KR" altLang="en-US" sz="1400" dirty="0"/>
              <a:t>후</a:t>
            </a:r>
            <a:r>
              <a:rPr lang="en-US" altLang="ko-KR" sz="1400" dirty="0"/>
              <a:t>2912 </a:t>
            </a:r>
            <a:r>
              <a:rPr lang="ko-KR" altLang="en-US" sz="1400" dirty="0"/>
              <a:t>판결 참조</a:t>
            </a:r>
            <a:r>
              <a:rPr lang="en-US" altLang="ko-KR" sz="1400" dirty="0"/>
              <a:t>), </a:t>
            </a:r>
            <a:r>
              <a:rPr lang="ko-KR" altLang="en-US" sz="1400" dirty="0"/>
              <a:t>위에서 본 바와 같이 원심판결 중 이 사건 정정청구 및 이 사건 제</a:t>
            </a:r>
            <a:r>
              <a:rPr lang="en-US" altLang="ko-KR" sz="1400" dirty="0"/>
              <a:t>1, 2, 4, 5</a:t>
            </a:r>
            <a:r>
              <a:rPr lang="ko-KR" altLang="en-US" sz="1400" dirty="0"/>
              <a:t>항 발명의 특허무효에 관한 부분에 대한 피고들의 상고는 이유 없다 할 것이나</a:t>
            </a:r>
            <a:r>
              <a:rPr lang="en-US" altLang="ko-KR" sz="1400" dirty="0"/>
              <a:t>, </a:t>
            </a:r>
            <a:r>
              <a:rPr lang="ko-KR" altLang="en-US" sz="1400" dirty="0"/>
              <a:t>원심판결 중 이 사건 제</a:t>
            </a:r>
            <a:r>
              <a:rPr lang="en-US" altLang="ko-KR" sz="1400" dirty="0"/>
              <a:t>3</a:t>
            </a:r>
            <a:r>
              <a:rPr lang="ko-KR" altLang="en-US" sz="1400" dirty="0"/>
              <a:t>항 발명의 특허무효에 관한 부분에 대한 피고들의 상고를 받아들이는 이상</a:t>
            </a:r>
            <a:r>
              <a:rPr lang="en-US" altLang="ko-KR" sz="1400" dirty="0"/>
              <a:t>, </a:t>
            </a:r>
            <a:r>
              <a:rPr lang="ko-KR" altLang="en-US" sz="1400" dirty="0"/>
              <a:t>이와 함께 확정되어야 할 이 사건 정정청구에 관한 부분도 파기를 면할 수 없다</a:t>
            </a:r>
            <a:r>
              <a:rPr lang="en-US" altLang="ko-KR" sz="1400" dirty="0"/>
              <a:t>. </a:t>
            </a:r>
            <a:r>
              <a:rPr lang="ko-KR" altLang="en-US" sz="1400" dirty="0"/>
              <a:t>한편 특허의 등록무효 여부는 </a:t>
            </a:r>
            <a:r>
              <a:rPr lang="ko-KR" altLang="en-US" sz="1400" dirty="0" err="1"/>
              <a:t>청구항별로</a:t>
            </a:r>
            <a:r>
              <a:rPr lang="ko-KR" altLang="en-US" sz="1400" dirty="0"/>
              <a:t> 판단하여야 하더라도</a:t>
            </a:r>
            <a:r>
              <a:rPr lang="en-US" altLang="ko-KR" sz="1400" dirty="0"/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특허무효심판절차에서의 정정청구는 특별한 사정이 없는 한 불가분의 관계에 있어 일체로서 허용 여부를 판단하여야 할 것인데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/>
              <a:t>이 사건 정정청구는 그 정정사항이 이 사건 제</a:t>
            </a:r>
            <a:r>
              <a:rPr lang="en-US" altLang="ko-KR" sz="1400" dirty="0"/>
              <a:t>1</a:t>
            </a:r>
            <a:r>
              <a:rPr lang="ko-KR" altLang="en-US" sz="1400" dirty="0"/>
              <a:t>항 내지 제</a:t>
            </a:r>
            <a:r>
              <a:rPr lang="en-US" altLang="ko-KR" sz="1400" dirty="0"/>
              <a:t>5</a:t>
            </a:r>
            <a:r>
              <a:rPr lang="ko-KR" altLang="en-US" sz="1400" dirty="0"/>
              <a:t>항 발명 전체에 걸쳐 있으므로</a:t>
            </a:r>
            <a:r>
              <a:rPr lang="en-US" altLang="ko-KR" sz="1400" dirty="0"/>
              <a:t>, </a:t>
            </a:r>
            <a:r>
              <a:rPr lang="ko-KR" altLang="en-US" sz="1400" dirty="0"/>
              <a:t>원심판결 중 이 사건 제</a:t>
            </a:r>
            <a:r>
              <a:rPr lang="en-US" altLang="ko-KR" sz="1400" dirty="0"/>
              <a:t>1, 2, 4, 5</a:t>
            </a:r>
            <a:r>
              <a:rPr lang="ko-KR" altLang="en-US" sz="1400" dirty="0"/>
              <a:t>항 발명의 특허무효에 관한 부분도 따로 확정되지 못한 채 이 사건 정정청구에 관한 부분과 함께 파기되어야 할 것이어서</a:t>
            </a:r>
            <a:r>
              <a:rPr lang="en-US" altLang="ko-KR" sz="1400" dirty="0"/>
              <a:t>, </a:t>
            </a:r>
            <a:r>
              <a:rPr lang="ko-KR" altLang="en-US" sz="1400" dirty="0"/>
              <a:t>결국 원심판결 전부가 파기되어야 할 것이다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25" name="모서리가 둥근 직사각형 10">
            <a:extLst>
              <a:ext uri="{FF2B5EF4-FFF2-40B4-BE49-F238E27FC236}">
                <a16:creationId xmlns:a16="http://schemas.microsoft.com/office/drawing/2014/main" id="{3C6798E9-4EAF-4AE7-8EAB-18677724C63A}"/>
              </a:ext>
            </a:extLst>
          </p:cNvPr>
          <p:cNvSpPr/>
          <p:nvPr/>
        </p:nvSpPr>
        <p:spPr bwMode="auto">
          <a:xfrm>
            <a:off x="378418" y="1002199"/>
            <a:ext cx="4981233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2009. 1. 15.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2007</a:t>
            </a:r>
            <a:r>
              <a:rPr lang="ko-KR" altLang="en-US" sz="1400" dirty="0"/>
              <a:t>후</a:t>
            </a:r>
            <a:r>
              <a:rPr lang="en-US" altLang="ko-KR" sz="1400" dirty="0"/>
              <a:t>1053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26" name="Line 5">
            <a:extLst>
              <a:ext uri="{FF2B5EF4-FFF2-40B4-BE49-F238E27FC236}">
                <a16:creationId xmlns:a16="http://schemas.microsoft.com/office/drawing/2014/main" id="{DBBEAF54-6B41-4742-A0EA-2407F31F5D5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4604798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FBA2356-8A66-4A3C-B7DB-C04B2D7AA2E5}"/>
              </a:ext>
            </a:extLst>
          </p:cNvPr>
          <p:cNvSpPr txBox="1"/>
          <p:nvPr/>
        </p:nvSpPr>
        <p:spPr>
          <a:xfrm>
            <a:off x="443331" y="4860973"/>
            <a:ext cx="1231432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무효심판청구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피청구인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849268B-B0FB-4358-AB91-5BCA2359EB24}"/>
              </a:ext>
            </a:extLst>
          </p:cNvPr>
          <p:cNvSpPr/>
          <p:nvPr/>
        </p:nvSpPr>
        <p:spPr>
          <a:xfrm>
            <a:off x="981677" y="451086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7F0775D-D883-44F5-B2A4-82C569C014EE}"/>
              </a:ext>
            </a:extLst>
          </p:cNvPr>
          <p:cNvCxnSpPr>
            <a:cxnSpLocks/>
            <a:stCxn id="27" idx="0"/>
            <a:endCxn id="28" idx="4"/>
          </p:cNvCxnSpPr>
          <p:nvPr/>
        </p:nvCxnSpPr>
        <p:spPr>
          <a:xfrm flipH="1" flipV="1">
            <a:off x="1059046" y="467220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B4BBA55-F185-4B18-B1A7-2744660ACD9F}"/>
              </a:ext>
            </a:extLst>
          </p:cNvPr>
          <p:cNvSpPr txBox="1"/>
          <p:nvPr/>
        </p:nvSpPr>
        <p:spPr>
          <a:xfrm>
            <a:off x="2154964" y="4860973"/>
            <a:ext cx="127365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정정청구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71AB77AA-DFA4-4318-8DF5-213C188A89D4}"/>
              </a:ext>
            </a:extLst>
          </p:cNvPr>
          <p:cNvSpPr/>
          <p:nvPr/>
        </p:nvSpPr>
        <p:spPr>
          <a:xfrm>
            <a:off x="2714419" y="451086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066DDC00-EBA1-4BEF-88DA-F3EACD2EA70F}"/>
              </a:ext>
            </a:extLst>
          </p:cNvPr>
          <p:cNvCxnSpPr>
            <a:cxnSpLocks/>
            <a:stCxn id="30" idx="0"/>
            <a:endCxn id="31" idx="4"/>
          </p:cNvCxnSpPr>
          <p:nvPr/>
        </p:nvCxnSpPr>
        <p:spPr>
          <a:xfrm flipH="1" flipV="1">
            <a:off x="2791788" y="467220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ED003A90-19F1-4644-9672-2E70B9DEBCDA}"/>
              </a:ext>
            </a:extLst>
          </p:cNvPr>
          <p:cNvSpPr txBox="1"/>
          <p:nvPr/>
        </p:nvSpPr>
        <p:spPr>
          <a:xfrm>
            <a:off x="2088973" y="5439971"/>
            <a:ext cx="140563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-5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484CBF3F-2E44-4863-AF87-1A0606A81DAC}"/>
              </a:ext>
            </a:extLst>
          </p:cNvPr>
          <p:cNvCxnSpPr>
            <a:cxnSpLocks/>
            <a:stCxn id="33" idx="0"/>
            <a:endCxn id="30" idx="2"/>
          </p:cNvCxnSpPr>
          <p:nvPr/>
        </p:nvCxnSpPr>
        <p:spPr>
          <a:xfrm flipV="1">
            <a:off x="2791789" y="5137972"/>
            <a:ext cx="0" cy="30199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B805BF3D-2242-4A0F-B4EF-2DAE976BD6C5}"/>
              </a:ext>
            </a:extLst>
          </p:cNvPr>
          <p:cNvSpPr txBox="1"/>
          <p:nvPr/>
        </p:nvSpPr>
        <p:spPr>
          <a:xfrm>
            <a:off x="356230" y="5439971"/>
            <a:ext cx="140563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-5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C0F23E03-2B84-4A43-ABC7-BDAB4AC406C9}"/>
              </a:ext>
            </a:extLst>
          </p:cNvPr>
          <p:cNvCxnSpPr>
            <a:cxnSpLocks/>
            <a:stCxn id="73" idx="0"/>
            <a:endCxn id="27" idx="2"/>
          </p:cNvCxnSpPr>
          <p:nvPr/>
        </p:nvCxnSpPr>
        <p:spPr>
          <a:xfrm flipV="1">
            <a:off x="1059046" y="5322638"/>
            <a:ext cx="1" cy="11733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B7D3C3D2-99FF-4AD2-9FB4-F5FC9C3DE17E}"/>
              </a:ext>
            </a:extLst>
          </p:cNvPr>
          <p:cNvSpPr txBox="1"/>
          <p:nvPr/>
        </p:nvSpPr>
        <p:spPr>
          <a:xfrm>
            <a:off x="3653228" y="4860973"/>
            <a:ext cx="127365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31CBA78C-43A1-4440-B727-CDE77FA4D16F}"/>
              </a:ext>
            </a:extLst>
          </p:cNvPr>
          <p:cNvSpPr/>
          <p:nvPr/>
        </p:nvSpPr>
        <p:spPr>
          <a:xfrm>
            <a:off x="4212683" y="451086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6AF38C5E-7A0A-4528-A00F-FFC6D0C39D5B}"/>
              </a:ext>
            </a:extLst>
          </p:cNvPr>
          <p:cNvCxnSpPr>
            <a:cxnSpLocks/>
            <a:stCxn id="75" idx="0"/>
            <a:endCxn id="76" idx="4"/>
          </p:cNvCxnSpPr>
          <p:nvPr/>
        </p:nvCxnSpPr>
        <p:spPr>
          <a:xfrm flipH="1" flipV="1">
            <a:off x="4290052" y="467220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4E448B2B-B76C-44BB-9734-8CED3A96021E}"/>
              </a:ext>
            </a:extLst>
          </p:cNvPr>
          <p:cNvSpPr txBox="1"/>
          <p:nvPr/>
        </p:nvSpPr>
        <p:spPr>
          <a:xfrm>
            <a:off x="2988456" y="5908403"/>
            <a:ext cx="2603194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정정청구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무효여부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정정후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-5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항에 대한 기각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46FE9569-EC6C-46F5-AE4B-2C87360B768A}"/>
              </a:ext>
            </a:extLst>
          </p:cNvPr>
          <p:cNvCxnSpPr>
            <a:cxnSpLocks/>
            <a:stCxn id="78" idx="0"/>
            <a:endCxn id="75" idx="2"/>
          </p:cNvCxnSpPr>
          <p:nvPr/>
        </p:nvCxnSpPr>
        <p:spPr>
          <a:xfrm flipV="1">
            <a:off x="4290053" y="5137972"/>
            <a:ext cx="0" cy="77043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484CEFE5-0B59-4524-9C8B-4AAF415500C3}"/>
              </a:ext>
            </a:extLst>
          </p:cNvPr>
          <p:cNvSpPr txBox="1"/>
          <p:nvPr/>
        </p:nvSpPr>
        <p:spPr>
          <a:xfrm>
            <a:off x="5088722" y="4860973"/>
            <a:ext cx="1231432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소제기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피고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타원 80">
            <a:extLst>
              <a:ext uri="{FF2B5EF4-FFF2-40B4-BE49-F238E27FC236}">
                <a16:creationId xmlns:a16="http://schemas.microsoft.com/office/drawing/2014/main" id="{30580A5B-7F0A-42A2-BC13-76B6362B4F3F}"/>
              </a:ext>
            </a:extLst>
          </p:cNvPr>
          <p:cNvSpPr/>
          <p:nvPr/>
        </p:nvSpPr>
        <p:spPr>
          <a:xfrm>
            <a:off x="5627068" y="4510864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8BEBDD9A-989C-4911-84AB-F672AC216E57}"/>
              </a:ext>
            </a:extLst>
          </p:cNvPr>
          <p:cNvCxnSpPr>
            <a:cxnSpLocks/>
            <a:stCxn id="80" idx="0"/>
            <a:endCxn id="81" idx="4"/>
          </p:cNvCxnSpPr>
          <p:nvPr/>
        </p:nvCxnSpPr>
        <p:spPr>
          <a:xfrm flipH="1" flipV="1">
            <a:off x="5704437" y="467220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6E686278-3112-4858-AF7A-4D9682D4D712}"/>
              </a:ext>
            </a:extLst>
          </p:cNvPr>
          <p:cNvSpPr txBox="1"/>
          <p:nvPr/>
        </p:nvSpPr>
        <p:spPr>
          <a:xfrm>
            <a:off x="5001621" y="5439971"/>
            <a:ext cx="140563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-5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7FAC7CBC-12F1-4CB8-B940-54EC83EBB0C1}"/>
              </a:ext>
            </a:extLst>
          </p:cNvPr>
          <p:cNvCxnSpPr>
            <a:cxnSpLocks/>
            <a:stCxn id="83" idx="0"/>
            <a:endCxn id="80" idx="2"/>
          </p:cNvCxnSpPr>
          <p:nvPr/>
        </p:nvCxnSpPr>
        <p:spPr>
          <a:xfrm flipV="1">
            <a:off x="5704437" y="5322638"/>
            <a:ext cx="1" cy="11733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1E74D723-DD61-4813-9D09-28EAC9CBBDC3}"/>
              </a:ext>
            </a:extLst>
          </p:cNvPr>
          <p:cNvSpPr txBox="1"/>
          <p:nvPr/>
        </p:nvSpPr>
        <p:spPr>
          <a:xfrm>
            <a:off x="6453088" y="4860973"/>
            <a:ext cx="127365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판결</a:t>
            </a: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769B5428-A9B2-4970-A0E5-CF7836A17DF8}"/>
              </a:ext>
            </a:extLst>
          </p:cNvPr>
          <p:cNvCxnSpPr>
            <a:cxnSpLocks/>
            <a:stCxn id="85" idx="0"/>
          </p:cNvCxnSpPr>
          <p:nvPr/>
        </p:nvCxnSpPr>
        <p:spPr>
          <a:xfrm flipH="1" flipV="1">
            <a:off x="7089912" y="467220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9F351BD5-D8D8-4038-991A-737FEA264476}"/>
              </a:ext>
            </a:extLst>
          </p:cNvPr>
          <p:cNvSpPr txBox="1"/>
          <p:nvPr/>
        </p:nvSpPr>
        <p:spPr>
          <a:xfrm>
            <a:off x="5788316" y="5882280"/>
            <a:ext cx="2603194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정정청구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불인정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무효여부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정정전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-5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항에 대한 인용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취소환송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85207B32-8C14-43E2-BB5C-F26C71715F0C}"/>
              </a:ext>
            </a:extLst>
          </p:cNvPr>
          <p:cNvCxnSpPr>
            <a:cxnSpLocks/>
            <a:stCxn id="87" idx="0"/>
            <a:endCxn id="85" idx="2"/>
          </p:cNvCxnSpPr>
          <p:nvPr/>
        </p:nvCxnSpPr>
        <p:spPr>
          <a:xfrm flipV="1">
            <a:off x="7089913" y="5137972"/>
            <a:ext cx="0" cy="74430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타원 88">
            <a:extLst>
              <a:ext uri="{FF2B5EF4-FFF2-40B4-BE49-F238E27FC236}">
                <a16:creationId xmlns:a16="http://schemas.microsoft.com/office/drawing/2014/main" id="{61FAF03C-904D-444E-B50B-9BCDDDF91629}"/>
              </a:ext>
            </a:extLst>
          </p:cNvPr>
          <p:cNvSpPr/>
          <p:nvPr/>
        </p:nvSpPr>
        <p:spPr>
          <a:xfrm>
            <a:off x="7012543" y="451086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AE0E255-920D-4A83-BC0F-AC5AE9D7BD1B}"/>
              </a:ext>
            </a:extLst>
          </p:cNvPr>
          <p:cNvSpPr txBox="1"/>
          <p:nvPr/>
        </p:nvSpPr>
        <p:spPr>
          <a:xfrm>
            <a:off x="7804105" y="4860973"/>
            <a:ext cx="1273650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 상고</a:t>
            </a: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DDAD382E-9780-44AB-9E60-07046F4ABADD}"/>
              </a:ext>
            </a:extLst>
          </p:cNvPr>
          <p:cNvSpPr/>
          <p:nvPr/>
        </p:nvSpPr>
        <p:spPr>
          <a:xfrm>
            <a:off x="8363560" y="4510864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0434BE4A-2323-4946-A97F-6473EFF0F6F6}"/>
              </a:ext>
            </a:extLst>
          </p:cNvPr>
          <p:cNvCxnSpPr>
            <a:cxnSpLocks/>
            <a:stCxn id="90" idx="0"/>
            <a:endCxn id="91" idx="4"/>
          </p:cNvCxnSpPr>
          <p:nvPr/>
        </p:nvCxnSpPr>
        <p:spPr>
          <a:xfrm flipH="1" flipV="1">
            <a:off x="8440929" y="467220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30E42292-E9B1-4CBF-ACAD-A552906F7BAB}"/>
              </a:ext>
            </a:extLst>
          </p:cNvPr>
          <p:cNvSpPr txBox="1"/>
          <p:nvPr/>
        </p:nvSpPr>
        <p:spPr>
          <a:xfrm>
            <a:off x="9714578" y="4860973"/>
            <a:ext cx="1273650" cy="2769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판결</a:t>
            </a: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D726EB77-D72D-4EFC-A8C7-B0FEED46501A}"/>
              </a:ext>
            </a:extLst>
          </p:cNvPr>
          <p:cNvCxnSpPr>
            <a:cxnSpLocks/>
            <a:stCxn id="93" idx="0"/>
          </p:cNvCxnSpPr>
          <p:nvPr/>
        </p:nvCxnSpPr>
        <p:spPr>
          <a:xfrm flipH="1" flipV="1">
            <a:off x="10351402" y="467220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1C54413D-BB43-4AE8-BD42-03A6F781E3AA}"/>
              </a:ext>
            </a:extLst>
          </p:cNvPr>
          <p:cNvSpPr txBox="1"/>
          <p:nvPr/>
        </p:nvSpPr>
        <p:spPr>
          <a:xfrm>
            <a:off x="8613548" y="5242198"/>
            <a:ext cx="3473405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무효여부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정정불인정을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전제로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항이 무효사유 부존재로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파기환송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정정청구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무효심판과 함께 확정되어야 하고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일체로서 허용여부를 판단하기 때문에 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-5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항에 대한 정정청구도 </a:t>
            </a:r>
            <a:r>
              <a:rPr lang="ko-KR" altLang="en-US" sz="1200" dirty="0" err="1">
                <a:solidFill>
                  <a:srgbClr val="FF0000"/>
                </a:solidFill>
                <a:latin typeface="+mn-ea"/>
              </a:rPr>
              <a:t>파기환송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정정인정여부를 다시 판단해야 함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)</a:t>
            </a:r>
          </a:p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무효여부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1, 2, 4, 5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항도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정정불인정을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전제로 판단했기 때문에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파기환송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결론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원심판결 전부가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파기환송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A2D085B7-7A5D-48F1-898E-201E78F85DEC}"/>
              </a:ext>
            </a:extLst>
          </p:cNvPr>
          <p:cNvCxnSpPr>
            <a:cxnSpLocks/>
            <a:stCxn id="95" idx="0"/>
            <a:endCxn id="93" idx="2"/>
          </p:cNvCxnSpPr>
          <p:nvPr/>
        </p:nvCxnSpPr>
        <p:spPr>
          <a:xfrm flipV="1">
            <a:off x="10350251" y="5137972"/>
            <a:ext cx="1152" cy="10422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타원 96">
            <a:extLst>
              <a:ext uri="{FF2B5EF4-FFF2-40B4-BE49-F238E27FC236}">
                <a16:creationId xmlns:a16="http://schemas.microsoft.com/office/drawing/2014/main" id="{543704FC-1E2C-4020-861D-BDE29D6AD05D}"/>
              </a:ext>
            </a:extLst>
          </p:cNvPr>
          <p:cNvSpPr/>
          <p:nvPr/>
        </p:nvSpPr>
        <p:spPr>
          <a:xfrm>
            <a:off x="10274033" y="4510864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787AEE7-28D7-4802-870D-D84A4EEFFEF0}"/>
              </a:ext>
            </a:extLst>
          </p:cNvPr>
          <p:cNvSpPr/>
          <p:nvPr/>
        </p:nvSpPr>
        <p:spPr>
          <a:xfrm>
            <a:off x="7880358" y="3230976"/>
            <a:ext cx="1022304" cy="2392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/>
              <a:t>정정청구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39B2E2D-8AC9-4485-9E4B-A3FD739F9903}"/>
              </a:ext>
            </a:extLst>
          </p:cNvPr>
          <p:cNvSpPr/>
          <p:nvPr/>
        </p:nvSpPr>
        <p:spPr>
          <a:xfrm>
            <a:off x="7880358" y="3507318"/>
            <a:ext cx="1022304" cy="23921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무효심판청구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5B47C83-8C66-4355-A2AB-893CB8ADA18F}"/>
              </a:ext>
            </a:extLst>
          </p:cNvPr>
          <p:cNvSpPr/>
          <p:nvPr/>
        </p:nvSpPr>
        <p:spPr>
          <a:xfrm>
            <a:off x="9560523" y="3048414"/>
            <a:ext cx="308109" cy="2392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1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84F1E32-2E10-463D-BE53-3D34679C233A}"/>
              </a:ext>
            </a:extLst>
          </p:cNvPr>
          <p:cNvSpPr/>
          <p:nvPr/>
        </p:nvSpPr>
        <p:spPr>
          <a:xfrm>
            <a:off x="9560523" y="3324756"/>
            <a:ext cx="308109" cy="2392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2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A14716E-4002-4F34-9570-1D0326AA78E9}"/>
              </a:ext>
            </a:extLst>
          </p:cNvPr>
          <p:cNvSpPr/>
          <p:nvPr/>
        </p:nvSpPr>
        <p:spPr>
          <a:xfrm>
            <a:off x="9560523" y="3597294"/>
            <a:ext cx="308109" cy="2392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049C0B6-F8A8-46D7-ADA3-47CE55F004C8}"/>
              </a:ext>
            </a:extLst>
          </p:cNvPr>
          <p:cNvSpPr/>
          <p:nvPr/>
        </p:nvSpPr>
        <p:spPr>
          <a:xfrm>
            <a:off x="9560523" y="3873636"/>
            <a:ext cx="308109" cy="2392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4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AAEF5E8-E5BA-49F9-B2A7-B82045F58EAD}"/>
              </a:ext>
            </a:extLst>
          </p:cNvPr>
          <p:cNvSpPr/>
          <p:nvPr/>
        </p:nvSpPr>
        <p:spPr>
          <a:xfrm>
            <a:off x="9560523" y="4140246"/>
            <a:ext cx="308109" cy="2392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5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987D6C72-AE58-4BEF-BCAB-0680A70F470F}"/>
              </a:ext>
            </a:extLst>
          </p:cNvPr>
          <p:cNvCxnSpPr>
            <a:stCxn id="5" idx="3"/>
            <a:endCxn id="44" idx="1"/>
          </p:cNvCxnSpPr>
          <p:nvPr/>
        </p:nvCxnSpPr>
        <p:spPr>
          <a:xfrm flipV="1">
            <a:off x="8902662" y="3168021"/>
            <a:ext cx="657861" cy="1825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984A5A2C-BE48-4373-89CF-2119F34A5081}"/>
              </a:ext>
            </a:extLst>
          </p:cNvPr>
          <p:cNvCxnSpPr>
            <a:stCxn id="5" idx="3"/>
            <a:endCxn id="48" idx="1"/>
          </p:cNvCxnSpPr>
          <p:nvPr/>
        </p:nvCxnSpPr>
        <p:spPr>
          <a:xfrm>
            <a:off x="8902662" y="3350583"/>
            <a:ext cx="657861" cy="9092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id="{DD5FC010-A902-424F-9F8C-42C7B98E08B3}"/>
              </a:ext>
            </a:extLst>
          </p:cNvPr>
          <p:cNvCxnSpPr>
            <a:cxnSpLocks/>
            <a:stCxn id="5" idx="3"/>
            <a:endCxn id="47" idx="1"/>
          </p:cNvCxnSpPr>
          <p:nvPr/>
        </p:nvCxnSpPr>
        <p:spPr>
          <a:xfrm>
            <a:off x="8902662" y="3350583"/>
            <a:ext cx="657861" cy="64266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2982BAEC-A0C6-4AD8-B72A-EBFD793DB936}"/>
              </a:ext>
            </a:extLst>
          </p:cNvPr>
          <p:cNvCxnSpPr>
            <a:cxnSpLocks/>
            <a:stCxn id="5" idx="3"/>
            <a:endCxn id="46" idx="1"/>
          </p:cNvCxnSpPr>
          <p:nvPr/>
        </p:nvCxnSpPr>
        <p:spPr>
          <a:xfrm>
            <a:off x="8902662" y="3350583"/>
            <a:ext cx="657861" cy="36631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0B4D032D-5CC9-42B7-8F26-6B9E4437C14A}"/>
              </a:ext>
            </a:extLst>
          </p:cNvPr>
          <p:cNvCxnSpPr>
            <a:cxnSpLocks/>
            <a:stCxn id="5" idx="3"/>
            <a:endCxn id="45" idx="1"/>
          </p:cNvCxnSpPr>
          <p:nvPr/>
        </p:nvCxnSpPr>
        <p:spPr>
          <a:xfrm>
            <a:off x="8902662" y="3350583"/>
            <a:ext cx="657861" cy="93780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560B65F-0799-43D6-97A7-15FE29D2F3D9}"/>
              </a:ext>
            </a:extLst>
          </p:cNvPr>
          <p:cNvSpPr/>
          <p:nvPr/>
        </p:nvSpPr>
        <p:spPr>
          <a:xfrm>
            <a:off x="7804105" y="3138420"/>
            <a:ext cx="1197020" cy="72007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F3F76C-4F32-47AA-82A9-5C4111E05E71}"/>
              </a:ext>
            </a:extLst>
          </p:cNvPr>
          <p:cNvSpPr txBox="1"/>
          <p:nvPr/>
        </p:nvSpPr>
        <p:spPr>
          <a:xfrm>
            <a:off x="7983227" y="3888446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함께 확정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4A87F3F-EACA-45DE-AD2F-861A2A0918D1}"/>
              </a:ext>
            </a:extLst>
          </p:cNvPr>
          <p:cNvSpPr/>
          <p:nvPr/>
        </p:nvSpPr>
        <p:spPr>
          <a:xfrm>
            <a:off x="9501172" y="2985255"/>
            <a:ext cx="462585" cy="1482059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BC84DF3-518C-4087-B4B0-1998E2751239}"/>
              </a:ext>
            </a:extLst>
          </p:cNvPr>
          <p:cNvSpPr txBox="1"/>
          <p:nvPr/>
        </p:nvSpPr>
        <p:spPr>
          <a:xfrm>
            <a:off x="9955454" y="3449206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함께 확정</a:t>
            </a:r>
          </a:p>
        </p:txBody>
      </p:sp>
      <p:graphicFrame>
        <p:nvGraphicFramePr>
          <p:cNvPr id="6" name="표 7">
            <a:extLst>
              <a:ext uri="{FF2B5EF4-FFF2-40B4-BE49-F238E27FC236}">
                <a16:creationId xmlns:a16="http://schemas.microsoft.com/office/drawing/2014/main" id="{7D36ED5A-567F-D8F4-92EA-58CF09123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905723"/>
              </p:ext>
            </p:extLst>
          </p:nvPr>
        </p:nvGraphicFramePr>
        <p:xfrm>
          <a:off x="3039291" y="3029129"/>
          <a:ext cx="4361579" cy="14020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88195">
                  <a:extLst>
                    <a:ext uri="{9D8B030D-6E8A-4147-A177-3AD203B41FA5}">
                      <a16:colId xmlns:a16="http://schemas.microsoft.com/office/drawing/2014/main" val="1230576302"/>
                    </a:ext>
                  </a:extLst>
                </a:gridCol>
                <a:gridCol w="1786692">
                  <a:extLst>
                    <a:ext uri="{9D8B030D-6E8A-4147-A177-3AD203B41FA5}">
                      <a16:colId xmlns:a16="http://schemas.microsoft.com/office/drawing/2014/main" val="2440479529"/>
                    </a:ext>
                  </a:extLst>
                </a:gridCol>
                <a:gridCol w="1786692">
                  <a:extLst>
                    <a:ext uri="{9D8B030D-6E8A-4147-A177-3AD203B41FA5}">
                      <a16:colId xmlns:a16="http://schemas.microsoft.com/office/drawing/2014/main" val="10888272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무효심판청구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정정 전 청구범위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정정청구 불인정 전제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정정 후 청구범위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정정청구 인정 전제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7749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A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A1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307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B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B1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7401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C1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131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D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D1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601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E1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62829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9462EEA-D606-8AD7-A5A3-935EF659319B}"/>
              </a:ext>
            </a:extLst>
          </p:cNvPr>
          <p:cNvSpPr txBox="1"/>
          <p:nvPr/>
        </p:nvSpPr>
        <p:spPr>
          <a:xfrm>
            <a:off x="3554378" y="6343945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A1-E1</a:t>
            </a:r>
            <a:endParaRPr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E75791-BAA0-90C8-6FB0-3EEBF1964F2F}"/>
              </a:ext>
            </a:extLst>
          </p:cNvPr>
          <p:cNvSpPr txBox="1"/>
          <p:nvPr/>
        </p:nvSpPr>
        <p:spPr>
          <a:xfrm>
            <a:off x="6535882" y="6343945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A-E</a:t>
            </a:r>
            <a:endParaRPr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E7506F-82A5-0430-0C7D-4595CABD2E07}"/>
              </a:ext>
            </a:extLst>
          </p:cNvPr>
          <p:cNvSpPr txBox="1"/>
          <p:nvPr/>
        </p:nvSpPr>
        <p:spPr>
          <a:xfrm>
            <a:off x="10598858" y="4907139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C</a:t>
            </a:r>
            <a:endParaRPr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09F7A7-28E8-EE6B-D56F-AF7954BA0DCB}"/>
              </a:ext>
            </a:extLst>
          </p:cNvPr>
          <p:cNvSpPr txBox="1"/>
          <p:nvPr/>
        </p:nvSpPr>
        <p:spPr>
          <a:xfrm>
            <a:off x="10892487" y="6382045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highlight>
                  <a:srgbClr val="FFFF00"/>
                </a:highlight>
              </a:rPr>
              <a:t>A, B, D, E</a:t>
            </a:r>
            <a:endParaRPr lang="ko-KR" alt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3007303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77EF3-6564-22B1-3CA5-B13B362BA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E70C63-29E9-BF14-3980-1C7F2CEDF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1600" dirty="0"/>
              <a:t>제</a:t>
            </a:r>
            <a:r>
              <a:rPr lang="en-US" altLang="ko-KR" sz="1600" dirty="0"/>
              <a:t>132</a:t>
            </a:r>
            <a:r>
              <a:rPr lang="ko-KR" altLang="en-US" sz="1600" dirty="0"/>
              <a:t>조의</a:t>
            </a:r>
            <a:r>
              <a:rPr lang="en-US" altLang="ko-KR" sz="1600" dirty="0"/>
              <a:t>3, </a:t>
            </a:r>
            <a:br>
              <a:rPr lang="en-US" altLang="ko-KR" sz="1600" dirty="0"/>
            </a:br>
            <a:r>
              <a:rPr lang="ko-KR" altLang="en-US" sz="1600" dirty="0"/>
              <a:t>제</a:t>
            </a:r>
            <a:r>
              <a:rPr lang="en-US" altLang="ko-KR" sz="1600" dirty="0"/>
              <a:t>133</a:t>
            </a:r>
            <a:r>
              <a:rPr lang="ko-KR" altLang="en-US" sz="1600" dirty="0"/>
              <a:t>조의</a:t>
            </a:r>
            <a:r>
              <a:rPr lang="en-US" altLang="ko-KR" sz="1600" dirty="0"/>
              <a:t>2, </a:t>
            </a:r>
            <a:r>
              <a:rPr lang="ko-KR" altLang="en-US" sz="1600" dirty="0"/>
              <a:t>제</a:t>
            </a:r>
            <a:r>
              <a:rPr lang="en-US" altLang="ko-KR" sz="1600" dirty="0"/>
              <a:t>137</a:t>
            </a:r>
            <a:r>
              <a:rPr lang="ko-KR" altLang="en-US" sz="1600" dirty="0"/>
              <a:t>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2AB86B-B594-ED77-13F2-6A7E7D79A9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무효심판에서의 정정청구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08E1D3CC-6DE1-7554-580E-A8B7BFAD655D}"/>
              </a:ext>
            </a:extLst>
          </p:cNvPr>
          <p:cNvSpPr/>
          <p:nvPr/>
        </p:nvSpPr>
        <p:spPr>
          <a:xfrm>
            <a:off x="35861" y="1321147"/>
            <a:ext cx="5382625" cy="193899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000" dirty="0"/>
              <a:t>특허발명의 보호범위는 청구범위에 적혀 있는 사항에 의하여 </a:t>
            </a:r>
            <a:r>
              <a:rPr lang="ko-KR" altLang="en-US" sz="1000" dirty="0" err="1"/>
              <a:t>정하여지고</a:t>
            </a:r>
            <a:r>
              <a:rPr lang="en-US" altLang="ko-KR" sz="1000" dirty="0"/>
              <a:t>(</a:t>
            </a:r>
            <a:r>
              <a:rPr lang="ko-KR" altLang="en-US" sz="1000" dirty="0"/>
              <a:t>특허법 제</a:t>
            </a:r>
            <a:r>
              <a:rPr lang="en-US" altLang="ko-KR" sz="1000" dirty="0"/>
              <a:t>97</a:t>
            </a:r>
            <a:r>
              <a:rPr lang="ko-KR" altLang="en-US" sz="1000" dirty="0"/>
              <a:t>조</a:t>
            </a:r>
            <a:r>
              <a:rPr lang="en-US" altLang="ko-KR" sz="1000" dirty="0"/>
              <a:t>), </a:t>
            </a:r>
            <a:r>
              <a:rPr lang="ko-KR" altLang="en-US" sz="1000" dirty="0"/>
              <a:t>발명의 설명이나 도면 등에 의하여 그 보호범위를 제한하거나 확장하는 것은 원칙적으로 허용되지 않는다</a:t>
            </a:r>
            <a:r>
              <a:rPr lang="en-US" altLang="ko-KR" sz="1000" dirty="0"/>
              <a:t>. </a:t>
            </a:r>
            <a:r>
              <a:rPr lang="ko-KR" altLang="en-US" sz="1000" dirty="0"/>
              <a:t>다만 청구범위에 적혀 있는 사항은 발명의 설명이나 도면 등을 참작해야 그 기술적인 의미를 정확하게 이해할 수 있으므로</a:t>
            </a:r>
            <a:r>
              <a:rPr lang="en-US" altLang="ko-KR" sz="1000" dirty="0"/>
              <a:t>, </a:t>
            </a:r>
            <a:r>
              <a:rPr lang="ko-KR" altLang="en-US" sz="1000" dirty="0"/>
              <a:t>청구범위에 적혀 있는 사항의 해석은 문언의 일반적인 의미 내용을 기초로 하면서도 발명의 설명이나 도면 등을 참작하여 문언에 의하여 표현하고자 하는 기술적 의의를 고찰한 다음 </a:t>
            </a:r>
            <a:r>
              <a:rPr lang="ko-KR" altLang="en-US" sz="1000" dirty="0" err="1"/>
              <a:t>객관적ㆍ합리적으로</a:t>
            </a:r>
            <a:r>
              <a:rPr lang="ko-KR" altLang="en-US" sz="1000" dirty="0"/>
              <a:t> 하여야 한다</a:t>
            </a:r>
            <a:r>
              <a:rPr lang="en-US" altLang="ko-KR" sz="1000" dirty="0"/>
              <a:t>. </a:t>
            </a:r>
            <a:r>
              <a:rPr lang="ko-KR" altLang="en-US" sz="1000" dirty="0"/>
              <a:t>그러나 발명의 설명과 도면 등을 참작한다고 하더라도 발명의 설명이나 도면 등 다른 기재에 따라 청구범위를 제한하거나 확장하여 해석하는 것은 허용되지 않는다</a:t>
            </a:r>
            <a:r>
              <a:rPr lang="en-US" altLang="ko-KR" sz="1000" dirty="0"/>
              <a:t>(</a:t>
            </a:r>
            <a:r>
              <a:rPr lang="ko-KR" altLang="en-US" sz="1000" dirty="0"/>
              <a:t>대법원 </a:t>
            </a:r>
            <a:r>
              <a:rPr lang="en-US" altLang="ko-KR" sz="1000" dirty="0"/>
              <a:t>2015. 5. 14. </a:t>
            </a:r>
            <a:r>
              <a:rPr lang="ko-KR" altLang="en-US" sz="1000" dirty="0"/>
              <a:t>선고 </a:t>
            </a:r>
            <a:r>
              <a:rPr lang="en-US" altLang="ko-KR" sz="1000" dirty="0"/>
              <a:t>2014</a:t>
            </a:r>
            <a:r>
              <a:rPr lang="ko-KR" altLang="en-US" sz="1000" dirty="0"/>
              <a:t>후</a:t>
            </a:r>
            <a:r>
              <a:rPr lang="en-US" altLang="ko-KR" sz="1000" dirty="0"/>
              <a:t>2788 </a:t>
            </a:r>
            <a:r>
              <a:rPr lang="ko-KR" altLang="en-US" sz="1000" dirty="0"/>
              <a:t>판결</a:t>
            </a:r>
            <a:r>
              <a:rPr lang="en-US" altLang="ko-KR" sz="1000" dirty="0"/>
              <a:t>, </a:t>
            </a:r>
            <a:r>
              <a:rPr lang="ko-KR" altLang="en-US" sz="1000" dirty="0"/>
              <a:t>대법원 </a:t>
            </a:r>
            <a:r>
              <a:rPr lang="en-US" altLang="ko-KR" sz="1000" dirty="0"/>
              <a:t>2020. 4. 9. </a:t>
            </a:r>
            <a:r>
              <a:rPr lang="ko-KR" altLang="en-US" sz="1000" dirty="0"/>
              <a:t>선고 </a:t>
            </a:r>
            <a:r>
              <a:rPr lang="en-US" altLang="ko-KR" sz="1000" dirty="0"/>
              <a:t>2018</a:t>
            </a:r>
            <a:r>
              <a:rPr lang="ko-KR" altLang="en-US" sz="1000" dirty="0"/>
              <a:t>후</a:t>
            </a:r>
            <a:r>
              <a:rPr lang="en-US" altLang="ko-KR" sz="1000" dirty="0"/>
              <a:t>12202 </a:t>
            </a:r>
            <a:r>
              <a:rPr lang="ko-KR" altLang="en-US" sz="1000" dirty="0"/>
              <a:t>판결 등 참조</a:t>
            </a:r>
            <a:r>
              <a:rPr lang="en-US" altLang="ko-KR" sz="1000" dirty="0"/>
              <a:t>).</a:t>
            </a:r>
          </a:p>
          <a:p>
            <a:pPr algn="just" fontAlgn="base"/>
            <a:r>
              <a:rPr lang="ko-KR" altLang="en-US" sz="1000" dirty="0">
                <a:solidFill>
                  <a:srgbClr val="FF0000"/>
                </a:solidFill>
              </a:rPr>
              <a:t>한편 특허법 제</a:t>
            </a:r>
            <a:r>
              <a:rPr lang="en-US" altLang="ko-KR" sz="1000" dirty="0">
                <a:solidFill>
                  <a:srgbClr val="FF0000"/>
                </a:solidFill>
              </a:rPr>
              <a:t>136</a:t>
            </a:r>
            <a:r>
              <a:rPr lang="ko-KR" altLang="en-US" sz="1000" dirty="0">
                <a:solidFill>
                  <a:srgbClr val="FF0000"/>
                </a:solidFill>
              </a:rPr>
              <a:t>조 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항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4</a:t>
            </a:r>
            <a:r>
              <a:rPr lang="ko-KR" altLang="en-US" sz="1000" dirty="0">
                <a:solidFill>
                  <a:srgbClr val="FF0000"/>
                </a:solidFill>
              </a:rPr>
              <a:t>항에서는 청구범위를 감축하는 경우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잘못 기재된 사항을 정정하는 경우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분명하지 아니하게 기재된 사항을 명확하게 하는 경우에 한하여 특허권자가 특허발명의 명세서 또는 도면에 대하여 정정심판을 청구할 수 있도록 하면서 이에 따른 정정은 청구범위를 실질적으로 확장하거나 변경할 수 없다고 규정하고 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5" name="모서리가 둥근 직사각형 10">
            <a:extLst>
              <a:ext uri="{FF2B5EF4-FFF2-40B4-BE49-F238E27FC236}">
                <a16:creationId xmlns:a16="http://schemas.microsoft.com/office/drawing/2014/main" id="{A8F07FC4-DF96-F9D9-6EFA-EFC0D937B567}"/>
              </a:ext>
            </a:extLst>
          </p:cNvPr>
          <p:cNvSpPr/>
          <p:nvPr/>
        </p:nvSpPr>
        <p:spPr bwMode="auto">
          <a:xfrm>
            <a:off x="10864" y="1002199"/>
            <a:ext cx="4184617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대법원 </a:t>
            </a:r>
            <a:r>
              <a:rPr lang="en-US" altLang="ko-KR" sz="1200" dirty="0"/>
              <a:t>2025. 6. 26.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2023</a:t>
            </a:r>
            <a:r>
              <a:rPr lang="ko-KR" altLang="en-US" sz="1200" dirty="0"/>
              <a:t>후</a:t>
            </a:r>
            <a:r>
              <a:rPr lang="en-US" altLang="ko-KR" sz="1200" dirty="0"/>
              <a:t>11487 </a:t>
            </a:r>
            <a:r>
              <a:rPr lang="ko-KR" altLang="en-US" sz="1200" dirty="0"/>
              <a:t>판결 </a:t>
            </a:r>
            <a:r>
              <a:rPr lang="en-US" altLang="ko-KR" sz="1200" dirty="0"/>
              <a:t>【</a:t>
            </a:r>
            <a:r>
              <a:rPr lang="ko-KR" altLang="en-US" sz="1200" dirty="0"/>
              <a:t>등록무효</a:t>
            </a:r>
            <a:r>
              <a:rPr lang="en-US" altLang="ko-KR" sz="1200" dirty="0"/>
              <a:t>(</a:t>
            </a:r>
            <a:r>
              <a:rPr lang="ko-KR" altLang="en-US" sz="1200" dirty="0" err="1"/>
              <a:t>특</a:t>
            </a:r>
            <a:r>
              <a:rPr lang="en-US" altLang="ko-KR" sz="1200" dirty="0"/>
              <a:t>)】</a:t>
            </a:r>
          </a:p>
        </p:txBody>
      </p:sp>
      <p:sp>
        <p:nvSpPr>
          <p:cNvPr id="26" name="Line 5">
            <a:extLst>
              <a:ext uri="{FF2B5EF4-FFF2-40B4-BE49-F238E27FC236}">
                <a16:creationId xmlns:a16="http://schemas.microsoft.com/office/drawing/2014/main" id="{1AA11C1E-0458-5668-3FC0-53BE9B1EB3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4084845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000">
              <a:latin typeface="+mn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446064-95CE-0C8B-8A65-3C3CEAAD23EB}"/>
              </a:ext>
            </a:extLst>
          </p:cNvPr>
          <p:cNvSpPr txBox="1"/>
          <p:nvPr/>
        </p:nvSpPr>
        <p:spPr>
          <a:xfrm>
            <a:off x="443331" y="4341020"/>
            <a:ext cx="1231432" cy="246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특허출원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2436144-823C-0490-C52C-DA0D5C377BF0}"/>
              </a:ext>
            </a:extLst>
          </p:cNvPr>
          <p:cNvSpPr/>
          <p:nvPr/>
        </p:nvSpPr>
        <p:spPr>
          <a:xfrm>
            <a:off x="981677" y="399091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B8C2A34C-70CB-CD19-2DF3-5A8AC5B40DF4}"/>
              </a:ext>
            </a:extLst>
          </p:cNvPr>
          <p:cNvCxnSpPr>
            <a:cxnSpLocks/>
            <a:stCxn id="27" idx="0"/>
            <a:endCxn id="28" idx="4"/>
          </p:cNvCxnSpPr>
          <p:nvPr/>
        </p:nvCxnSpPr>
        <p:spPr>
          <a:xfrm flipH="1" flipV="1">
            <a:off x="1059046" y="415224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52373BEE-57C8-1E8A-1B53-56A9D8F984AB}"/>
              </a:ext>
            </a:extLst>
          </p:cNvPr>
          <p:cNvSpPr txBox="1"/>
          <p:nvPr/>
        </p:nvSpPr>
        <p:spPr>
          <a:xfrm>
            <a:off x="443331" y="4884158"/>
            <a:ext cx="1231432" cy="5539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/>
            <a:r>
              <a:rPr lang="ko-KR" altLang="en-US" sz="1000" dirty="0">
                <a:solidFill>
                  <a:schemeClr val="tx1"/>
                </a:solidFill>
              </a:rPr>
              <a:t>선행기술 </a:t>
            </a:r>
            <a:r>
              <a:rPr lang="en-US" altLang="ko-KR" sz="1000" dirty="0">
                <a:solidFill>
                  <a:schemeClr val="tx1"/>
                </a:solidFill>
              </a:rPr>
              <a:t>1</a:t>
            </a:r>
            <a:r>
              <a:rPr lang="ko-KR" altLang="en-US" sz="1000" dirty="0">
                <a:solidFill>
                  <a:schemeClr val="tx1"/>
                </a:solidFill>
              </a:rPr>
              <a:t>에 의한 </a:t>
            </a:r>
            <a:r>
              <a:rPr lang="ko-KR" altLang="en-US" sz="1000" dirty="0" err="1">
                <a:solidFill>
                  <a:schemeClr val="tx1"/>
                </a:solidFill>
              </a:rPr>
              <a:t>공지예외적용주장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fontAlgn="base"/>
            <a:r>
              <a:rPr lang="ko-KR" altLang="en-US" sz="1000" dirty="0">
                <a:solidFill>
                  <a:schemeClr val="tx1"/>
                </a:solidFill>
              </a:rPr>
              <a:t>출원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E1F16207-04FB-08BC-B16C-D1FFD191975D}"/>
              </a:ext>
            </a:extLst>
          </p:cNvPr>
          <p:cNvCxnSpPr>
            <a:cxnSpLocks/>
            <a:stCxn id="73" idx="0"/>
            <a:endCxn id="27" idx="2"/>
          </p:cNvCxnSpPr>
          <p:nvPr/>
        </p:nvCxnSpPr>
        <p:spPr>
          <a:xfrm flipV="1">
            <a:off x="1059047" y="4587241"/>
            <a:ext cx="0" cy="29691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4BA48AE7-C00C-470D-A115-232D82652AFC}"/>
              </a:ext>
            </a:extLst>
          </p:cNvPr>
          <p:cNvSpPr txBox="1"/>
          <p:nvPr/>
        </p:nvSpPr>
        <p:spPr>
          <a:xfrm>
            <a:off x="3487179" y="4341020"/>
            <a:ext cx="1075856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소극적 권리범위 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청구</a:t>
            </a: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CB72FCEC-E999-1F52-2B4F-A1A0C6F02807}"/>
              </a:ext>
            </a:extLst>
          </p:cNvPr>
          <p:cNvCxnSpPr>
            <a:cxnSpLocks/>
            <a:stCxn id="85" idx="0"/>
          </p:cNvCxnSpPr>
          <p:nvPr/>
        </p:nvCxnSpPr>
        <p:spPr>
          <a:xfrm flipH="1" flipV="1">
            <a:off x="4025106" y="415224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타원 88">
            <a:extLst>
              <a:ext uri="{FF2B5EF4-FFF2-40B4-BE49-F238E27FC236}">
                <a16:creationId xmlns:a16="http://schemas.microsoft.com/office/drawing/2014/main" id="{1049E402-BADB-A050-8D28-E25FBD16B0EC}"/>
              </a:ext>
            </a:extLst>
          </p:cNvPr>
          <p:cNvSpPr/>
          <p:nvPr/>
        </p:nvSpPr>
        <p:spPr>
          <a:xfrm>
            <a:off x="3947737" y="3990911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02575D6-CE82-23B2-8889-6F73D45FF745}"/>
              </a:ext>
            </a:extLst>
          </p:cNvPr>
          <p:cNvSpPr txBox="1"/>
          <p:nvPr/>
        </p:nvSpPr>
        <p:spPr>
          <a:xfrm>
            <a:off x="3186790" y="3322174"/>
            <a:ext cx="1457288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무효심판청구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진보성 위반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기재불비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1" name="타원 90">
            <a:extLst>
              <a:ext uri="{FF2B5EF4-FFF2-40B4-BE49-F238E27FC236}">
                <a16:creationId xmlns:a16="http://schemas.microsoft.com/office/drawing/2014/main" id="{2319D805-6A60-B2E1-5FB7-412BEA0B61F2}"/>
              </a:ext>
            </a:extLst>
          </p:cNvPr>
          <p:cNvSpPr/>
          <p:nvPr/>
        </p:nvSpPr>
        <p:spPr>
          <a:xfrm>
            <a:off x="4410112" y="399091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2E94EC5-B3E1-C3A8-8E8E-A9B6AA43E01D}"/>
              </a:ext>
            </a:extLst>
          </p:cNvPr>
          <p:cNvSpPr txBox="1"/>
          <p:nvPr/>
        </p:nvSpPr>
        <p:spPr>
          <a:xfrm>
            <a:off x="3196140" y="4898868"/>
            <a:ext cx="2791196" cy="116955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정정된 청구항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000" dirty="0" err="1">
                <a:solidFill>
                  <a:schemeClr val="tx1"/>
                </a:solidFill>
              </a:rPr>
              <a:t>안지오텐신</a:t>
            </a:r>
            <a:r>
              <a:rPr lang="en-US" altLang="ko-KR" sz="1000" dirty="0">
                <a:solidFill>
                  <a:schemeClr val="tx1"/>
                </a:solidFill>
              </a:rPr>
              <a:t>-2-</a:t>
            </a:r>
            <a:r>
              <a:rPr lang="ko-KR" altLang="en-US" sz="1000" dirty="0">
                <a:solidFill>
                  <a:schemeClr val="tx1"/>
                </a:solidFill>
              </a:rPr>
              <a:t>수용체 차단제로서 </a:t>
            </a:r>
            <a:r>
              <a:rPr lang="ko-KR" altLang="en-US" sz="1000" dirty="0" err="1">
                <a:solidFill>
                  <a:schemeClr val="tx1"/>
                </a:solidFill>
              </a:rPr>
              <a:t>피마살탄</a:t>
            </a:r>
            <a:r>
              <a:rPr lang="ko-KR" altLang="en-US" sz="1000" dirty="0">
                <a:solidFill>
                  <a:schemeClr val="tx1"/>
                </a:solidFill>
              </a:rPr>
              <a:t> 칼륨염 또는 이의 수화물 </a:t>
            </a:r>
            <a:r>
              <a:rPr lang="en-US" altLang="ko-KR" sz="1000" dirty="0">
                <a:solidFill>
                  <a:schemeClr val="tx1"/>
                </a:solidFill>
              </a:rPr>
              <a:t>30</a:t>
            </a:r>
            <a:r>
              <a:rPr lang="ko-KR" altLang="en-US" sz="1000" dirty="0">
                <a:solidFill>
                  <a:schemeClr val="tx1"/>
                </a:solidFill>
              </a:rPr>
              <a:t>㎎</a:t>
            </a:r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 err="1">
                <a:solidFill>
                  <a:srgbClr val="FF0000"/>
                </a:solidFill>
              </a:rPr>
              <a:t>파마살탄</a:t>
            </a:r>
            <a:r>
              <a:rPr lang="ko-KR" altLang="en-US" sz="1000" dirty="0">
                <a:solidFill>
                  <a:srgbClr val="FF0000"/>
                </a:solidFill>
              </a:rPr>
              <a:t> 칼륨염으로 </a:t>
            </a:r>
            <a:r>
              <a:rPr lang="en-US" altLang="ko-KR" sz="1000" dirty="0" err="1">
                <a:solidFill>
                  <a:srgbClr val="FF0000"/>
                </a:solidFill>
              </a:rPr>
              <a:t>30mg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r>
              <a:rPr lang="ko-KR" altLang="en-US" sz="1000" dirty="0"/>
              <a:t> 및 </a:t>
            </a:r>
            <a:r>
              <a:rPr lang="ko-KR" altLang="en-US" sz="1000" dirty="0">
                <a:solidFill>
                  <a:schemeClr val="tx1"/>
                </a:solidFill>
              </a:rPr>
              <a:t>칼슘 채널 차단제로서 </a:t>
            </a:r>
            <a:r>
              <a:rPr lang="ko-KR" altLang="en-US" sz="1000" dirty="0" err="1">
                <a:solidFill>
                  <a:schemeClr val="tx1"/>
                </a:solidFill>
              </a:rPr>
              <a:t>암로디핀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</a:rPr>
              <a:t>베실레이트염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5</a:t>
            </a:r>
            <a:r>
              <a:rPr lang="ko-KR" altLang="en-US" sz="1000" dirty="0">
                <a:solidFill>
                  <a:schemeClr val="tx1"/>
                </a:solidFill>
              </a:rPr>
              <a:t>㎎</a:t>
            </a:r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 err="1">
                <a:solidFill>
                  <a:srgbClr val="FF0000"/>
                </a:solidFill>
              </a:rPr>
              <a:t>암로디핀으로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en-US" altLang="ko-KR" sz="1000" dirty="0" err="1">
                <a:solidFill>
                  <a:srgbClr val="FF0000"/>
                </a:solidFill>
              </a:rPr>
              <a:t>5mg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r>
              <a:rPr lang="ko-KR" altLang="en-US" sz="1000" dirty="0"/>
              <a:t>을 포함하는 혈압 강하용 약제학적 </a:t>
            </a:r>
            <a:r>
              <a:rPr lang="ko-KR" altLang="en-US" sz="1000" dirty="0" err="1"/>
              <a:t>조성물</a:t>
            </a:r>
            <a:endParaRPr lang="ko-KR" altLang="en-US" sz="1000" dirty="0"/>
          </a:p>
          <a:p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정정사유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특허법 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136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항제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호의 분명하지 아니한 기재의 명확화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C73ED1-0514-BAE8-2573-F8506E203DC6}"/>
              </a:ext>
            </a:extLst>
          </p:cNvPr>
          <p:cNvSpPr txBox="1"/>
          <p:nvPr/>
        </p:nvSpPr>
        <p:spPr>
          <a:xfrm>
            <a:off x="1822296" y="4341020"/>
            <a:ext cx="1231432" cy="24622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특허등록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852D465E-2021-F111-FA6C-CE05F1AFE893}"/>
              </a:ext>
            </a:extLst>
          </p:cNvPr>
          <p:cNvSpPr/>
          <p:nvPr/>
        </p:nvSpPr>
        <p:spPr>
          <a:xfrm>
            <a:off x="2360642" y="3990911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1CA065F-93E4-E4E6-0C7D-4F675E47C805}"/>
              </a:ext>
            </a:extLst>
          </p:cNvPr>
          <p:cNvCxnSpPr>
            <a:cxnSpLocks/>
            <a:stCxn id="8" idx="0"/>
            <a:endCxn id="14" idx="4"/>
          </p:cNvCxnSpPr>
          <p:nvPr/>
        </p:nvCxnSpPr>
        <p:spPr>
          <a:xfrm flipH="1" flipV="1">
            <a:off x="2438011" y="415224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BCF1AAF-9911-A3A3-DC8A-7EACF235AD40}"/>
              </a:ext>
            </a:extLst>
          </p:cNvPr>
          <p:cNvSpPr txBox="1"/>
          <p:nvPr/>
        </p:nvSpPr>
        <p:spPr>
          <a:xfrm>
            <a:off x="1735195" y="4884158"/>
            <a:ext cx="1405632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fontAlgn="base"/>
            <a:r>
              <a:rPr lang="ko-KR" altLang="en-US" sz="1000" dirty="0" err="1">
                <a:solidFill>
                  <a:srgbClr val="FF0000"/>
                </a:solidFill>
              </a:rPr>
              <a:t>안지오텐신</a:t>
            </a:r>
            <a:r>
              <a:rPr lang="en-US" altLang="ko-KR" sz="1000" dirty="0">
                <a:solidFill>
                  <a:srgbClr val="FF0000"/>
                </a:solidFill>
              </a:rPr>
              <a:t>-2-</a:t>
            </a:r>
            <a:r>
              <a:rPr lang="ko-KR" altLang="en-US" sz="1000" dirty="0">
                <a:solidFill>
                  <a:srgbClr val="FF0000"/>
                </a:solidFill>
              </a:rPr>
              <a:t>수용체 차단제로서 </a:t>
            </a:r>
            <a:r>
              <a:rPr lang="ko-KR" altLang="en-US" sz="1000" dirty="0" err="1">
                <a:solidFill>
                  <a:srgbClr val="FF0000"/>
                </a:solidFill>
              </a:rPr>
              <a:t>피마살탄</a:t>
            </a:r>
            <a:r>
              <a:rPr lang="ko-KR" altLang="en-US" sz="1000" dirty="0">
                <a:solidFill>
                  <a:srgbClr val="FF0000"/>
                </a:solidFill>
              </a:rPr>
              <a:t> 칼륨염 또는 이의 수화물 </a:t>
            </a:r>
            <a:r>
              <a:rPr lang="en-US" altLang="ko-KR" sz="1000" dirty="0">
                <a:solidFill>
                  <a:srgbClr val="FF0000"/>
                </a:solidFill>
              </a:rPr>
              <a:t>30</a:t>
            </a:r>
            <a:r>
              <a:rPr lang="ko-KR" altLang="en-US" sz="1000" dirty="0">
                <a:solidFill>
                  <a:srgbClr val="FF0000"/>
                </a:solidFill>
              </a:rPr>
              <a:t>㎎</a:t>
            </a:r>
            <a:r>
              <a:rPr lang="ko-KR" altLang="en-US" sz="1000" dirty="0"/>
              <a:t> 및 </a:t>
            </a:r>
            <a:r>
              <a:rPr lang="ko-KR" altLang="en-US" sz="1000" dirty="0">
                <a:solidFill>
                  <a:srgbClr val="FF0000"/>
                </a:solidFill>
              </a:rPr>
              <a:t>칼슘 채널 차단제로서 </a:t>
            </a:r>
            <a:r>
              <a:rPr lang="ko-KR" altLang="en-US" sz="1000" dirty="0" err="1">
                <a:solidFill>
                  <a:srgbClr val="FF0000"/>
                </a:solidFill>
              </a:rPr>
              <a:t>암로디핀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ko-KR" altLang="en-US" sz="1000" dirty="0" err="1">
                <a:solidFill>
                  <a:srgbClr val="FF0000"/>
                </a:solidFill>
              </a:rPr>
              <a:t>베실레이트염</a:t>
            </a:r>
            <a:r>
              <a:rPr lang="ko-KR" altLang="en-US" sz="1000" dirty="0">
                <a:solidFill>
                  <a:srgbClr val="FF0000"/>
                </a:solidFill>
              </a:rPr>
              <a:t> </a:t>
            </a:r>
            <a:r>
              <a:rPr lang="en-US" altLang="ko-KR" sz="1000" dirty="0">
                <a:solidFill>
                  <a:srgbClr val="FF0000"/>
                </a:solidFill>
              </a:rPr>
              <a:t>5</a:t>
            </a:r>
            <a:r>
              <a:rPr lang="ko-KR" altLang="en-US" sz="1000" dirty="0">
                <a:solidFill>
                  <a:srgbClr val="FF0000"/>
                </a:solidFill>
              </a:rPr>
              <a:t>㎎</a:t>
            </a:r>
            <a:r>
              <a:rPr lang="ko-KR" altLang="en-US" sz="1000" dirty="0"/>
              <a:t>을 포함하는 혈압 강하용 약제학적 </a:t>
            </a:r>
            <a:r>
              <a:rPr lang="ko-KR" altLang="en-US" sz="1000" dirty="0" err="1"/>
              <a:t>조성물</a:t>
            </a:r>
            <a:endParaRPr lang="ko-KR" altLang="en-US" sz="1000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C001AB8-C0A7-894A-31D9-D2465504C74D}"/>
              </a:ext>
            </a:extLst>
          </p:cNvPr>
          <p:cNvCxnSpPr>
            <a:cxnSpLocks/>
            <a:stCxn id="18" idx="0"/>
            <a:endCxn id="8" idx="2"/>
          </p:cNvCxnSpPr>
          <p:nvPr/>
        </p:nvCxnSpPr>
        <p:spPr>
          <a:xfrm flipV="1">
            <a:off x="2438011" y="4587241"/>
            <a:ext cx="1" cy="29691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98EE6C9-770A-1EF9-9ED3-618C6E65F3F7}"/>
              </a:ext>
            </a:extLst>
          </p:cNvPr>
          <p:cNvSpPr txBox="1"/>
          <p:nvPr/>
        </p:nvSpPr>
        <p:spPr>
          <a:xfrm>
            <a:off x="5398800" y="4341020"/>
            <a:ext cx="490058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기각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심결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57087F46-7322-086C-3053-657EC740D72B}"/>
              </a:ext>
            </a:extLst>
          </p:cNvPr>
          <p:cNvCxnSpPr>
            <a:cxnSpLocks/>
            <a:stCxn id="36" idx="0"/>
          </p:cNvCxnSpPr>
          <p:nvPr/>
        </p:nvCxnSpPr>
        <p:spPr>
          <a:xfrm flipH="1" flipV="1">
            <a:off x="5634863" y="4152249"/>
            <a:ext cx="8966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922DB471-3497-757F-45C1-5193C9929545}"/>
              </a:ext>
            </a:extLst>
          </p:cNvPr>
          <p:cNvSpPr/>
          <p:nvPr/>
        </p:nvSpPr>
        <p:spPr>
          <a:xfrm>
            <a:off x="5557494" y="3990911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F76B0-843B-A104-0EA5-7B3F41CB75D7}"/>
              </a:ext>
            </a:extLst>
          </p:cNvPr>
          <p:cNvSpPr txBox="1"/>
          <p:nvPr/>
        </p:nvSpPr>
        <p:spPr>
          <a:xfrm>
            <a:off x="6569618" y="4341020"/>
            <a:ext cx="490058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소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제기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EF1D2CC0-EACB-8561-8AD8-7B76691968B0}"/>
              </a:ext>
            </a:extLst>
          </p:cNvPr>
          <p:cNvCxnSpPr>
            <a:cxnSpLocks/>
            <a:stCxn id="42" idx="0"/>
          </p:cNvCxnSpPr>
          <p:nvPr/>
        </p:nvCxnSpPr>
        <p:spPr>
          <a:xfrm flipH="1" flipV="1">
            <a:off x="6814646" y="415224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타원 49">
            <a:extLst>
              <a:ext uri="{FF2B5EF4-FFF2-40B4-BE49-F238E27FC236}">
                <a16:creationId xmlns:a16="http://schemas.microsoft.com/office/drawing/2014/main" id="{D3860FF1-1697-5A2D-38B0-FB4E74AAE083}"/>
              </a:ext>
            </a:extLst>
          </p:cNvPr>
          <p:cNvSpPr/>
          <p:nvPr/>
        </p:nvSpPr>
        <p:spPr>
          <a:xfrm>
            <a:off x="6737277" y="3990911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56806BB-17DE-86FE-BF92-54069BEF1950}"/>
              </a:ext>
            </a:extLst>
          </p:cNvPr>
          <p:cNvSpPr txBox="1"/>
          <p:nvPr/>
        </p:nvSpPr>
        <p:spPr>
          <a:xfrm>
            <a:off x="7309464" y="4341020"/>
            <a:ext cx="490058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98F22D8E-03B6-5268-251F-653541ECB107}"/>
              </a:ext>
            </a:extLst>
          </p:cNvPr>
          <p:cNvCxnSpPr>
            <a:cxnSpLocks/>
            <a:stCxn id="51" idx="0"/>
          </p:cNvCxnSpPr>
          <p:nvPr/>
        </p:nvCxnSpPr>
        <p:spPr>
          <a:xfrm flipH="1" flipV="1">
            <a:off x="7554492" y="415224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타원 53">
            <a:extLst>
              <a:ext uri="{FF2B5EF4-FFF2-40B4-BE49-F238E27FC236}">
                <a16:creationId xmlns:a16="http://schemas.microsoft.com/office/drawing/2014/main" id="{C20F0BDC-B586-B5DB-E9A7-CE167D868290}"/>
              </a:ext>
            </a:extLst>
          </p:cNvPr>
          <p:cNvSpPr/>
          <p:nvPr/>
        </p:nvSpPr>
        <p:spPr>
          <a:xfrm>
            <a:off x="7477123" y="3990911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61BB920-3089-ED3A-3372-DB91575268DA}"/>
              </a:ext>
            </a:extLst>
          </p:cNvPr>
          <p:cNvSpPr txBox="1"/>
          <p:nvPr/>
        </p:nvSpPr>
        <p:spPr>
          <a:xfrm>
            <a:off x="8121027" y="4341020"/>
            <a:ext cx="490058" cy="24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80110A60-E5CE-6DB0-A9D5-91E30FFDB56C}"/>
              </a:ext>
            </a:extLst>
          </p:cNvPr>
          <p:cNvCxnSpPr>
            <a:cxnSpLocks/>
            <a:stCxn id="57" idx="0"/>
          </p:cNvCxnSpPr>
          <p:nvPr/>
        </p:nvCxnSpPr>
        <p:spPr>
          <a:xfrm flipH="1" flipV="1">
            <a:off x="8366055" y="415224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타원 59">
            <a:extLst>
              <a:ext uri="{FF2B5EF4-FFF2-40B4-BE49-F238E27FC236}">
                <a16:creationId xmlns:a16="http://schemas.microsoft.com/office/drawing/2014/main" id="{BAC22AC5-FF64-D9D0-3DD4-AEC2976D3BB8}"/>
              </a:ext>
            </a:extLst>
          </p:cNvPr>
          <p:cNvSpPr/>
          <p:nvPr/>
        </p:nvSpPr>
        <p:spPr>
          <a:xfrm>
            <a:off x="8288686" y="3990911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7D2C045-BD6A-429D-3A65-0CCC27B7B3D1}"/>
              </a:ext>
            </a:extLst>
          </p:cNvPr>
          <p:cNvSpPr txBox="1"/>
          <p:nvPr/>
        </p:nvSpPr>
        <p:spPr>
          <a:xfrm>
            <a:off x="8809708" y="4341020"/>
            <a:ext cx="735824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인용판결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취소환송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63DD2F82-F382-3D68-28E9-7E0BE780BFFE}"/>
              </a:ext>
            </a:extLst>
          </p:cNvPr>
          <p:cNvCxnSpPr>
            <a:cxnSpLocks/>
            <a:stCxn id="61" idx="0"/>
          </p:cNvCxnSpPr>
          <p:nvPr/>
        </p:nvCxnSpPr>
        <p:spPr>
          <a:xfrm flipH="1" flipV="1">
            <a:off x="9177619" y="4152249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타원 62">
            <a:extLst>
              <a:ext uri="{FF2B5EF4-FFF2-40B4-BE49-F238E27FC236}">
                <a16:creationId xmlns:a16="http://schemas.microsoft.com/office/drawing/2014/main" id="{716EAEBA-DFB6-E873-A5C7-563A580E7CE4}"/>
              </a:ext>
            </a:extLst>
          </p:cNvPr>
          <p:cNvSpPr/>
          <p:nvPr/>
        </p:nvSpPr>
        <p:spPr>
          <a:xfrm>
            <a:off x="9100250" y="3990911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B65D398-7B82-B910-EC2A-4D1F0E9FB866}"/>
              </a:ext>
            </a:extLst>
          </p:cNvPr>
          <p:cNvSpPr txBox="1"/>
          <p:nvPr/>
        </p:nvSpPr>
        <p:spPr>
          <a:xfrm>
            <a:off x="5014168" y="3313209"/>
            <a:ext cx="472232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정정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청구</a:t>
            </a:r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83D2A7E7-2915-20FA-4044-A096DC4B1D0D}"/>
              </a:ext>
            </a:extLst>
          </p:cNvPr>
          <p:cNvSpPr/>
          <p:nvPr/>
        </p:nvSpPr>
        <p:spPr>
          <a:xfrm>
            <a:off x="5172915" y="399091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69B21995-FA37-AAEF-A4DA-9BC739F9D6F6}"/>
              </a:ext>
            </a:extLst>
          </p:cNvPr>
          <p:cNvCxnSpPr>
            <a:cxnSpLocks/>
            <a:stCxn id="100" idx="2"/>
            <a:endCxn id="101" idx="0"/>
          </p:cNvCxnSpPr>
          <p:nvPr/>
        </p:nvCxnSpPr>
        <p:spPr>
          <a:xfrm>
            <a:off x="5250284" y="3713319"/>
            <a:ext cx="0" cy="2775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F6B84021-7997-66C6-C095-15ACE8C91DCC}"/>
              </a:ext>
            </a:extLst>
          </p:cNvPr>
          <p:cNvSpPr txBox="1"/>
          <p:nvPr/>
        </p:nvSpPr>
        <p:spPr>
          <a:xfrm>
            <a:off x="5854982" y="3313209"/>
            <a:ext cx="671324" cy="3847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dirty="0">
                <a:solidFill>
                  <a:schemeClr val="tx1"/>
                </a:solidFill>
                <a:latin typeface="+mn-ea"/>
              </a:rPr>
              <a:t>정정인정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4F578CE1-F558-A4D7-6495-17ACA9172BE5}"/>
              </a:ext>
            </a:extLst>
          </p:cNvPr>
          <p:cNvCxnSpPr>
            <a:cxnSpLocks/>
            <a:stCxn id="112" idx="2"/>
            <a:endCxn id="117" idx="0"/>
          </p:cNvCxnSpPr>
          <p:nvPr/>
        </p:nvCxnSpPr>
        <p:spPr>
          <a:xfrm>
            <a:off x="6190644" y="3697930"/>
            <a:ext cx="1242" cy="29298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타원 116">
            <a:extLst>
              <a:ext uri="{FF2B5EF4-FFF2-40B4-BE49-F238E27FC236}">
                <a16:creationId xmlns:a16="http://schemas.microsoft.com/office/drawing/2014/main" id="{2460C6C0-E95C-8E2C-72BD-2767E04B955C}"/>
              </a:ext>
            </a:extLst>
          </p:cNvPr>
          <p:cNvSpPr/>
          <p:nvPr/>
        </p:nvSpPr>
        <p:spPr>
          <a:xfrm>
            <a:off x="6114517" y="399091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CA50542-7D40-F025-54A1-4CB296CD34CF}"/>
              </a:ext>
            </a:extLst>
          </p:cNvPr>
          <p:cNvSpPr txBox="1"/>
          <p:nvPr/>
        </p:nvSpPr>
        <p:spPr>
          <a:xfrm>
            <a:off x="6914423" y="3313209"/>
            <a:ext cx="471148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소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제기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20" name="직선 연결선 119">
            <a:extLst>
              <a:ext uri="{FF2B5EF4-FFF2-40B4-BE49-F238E27FC236}">
                <a16:creationId xmlns:a16="http://schemas.microsoft.com/office/drawing/2014/main" id="{3F50CFBC-9751-CF05-E47A-8845E55C4BDA}"/>
              </a:ext>
            </a:extLst>
          </p:cNvPr>
          <p:cNvCxnSpPr>
            <a:cxnSpLocks/>
            <a:stCxn id="119" idx="2"/>
            <a:endCxn id="121" idx="0"/>
          </p:cNvCxnSpPr>
          <p:nvPr/>
        </p:nvCxnSpPr>
        <p:spPr>
          <a:xfrm>
            <a:off x="7149997" y="3713319"/>
            <a:ext cx="1242" cy="2775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타원 120">
            <a:extLst>
              <a:ext uri="{FF2B5EF4-FFF2-40B4-BE49-F238E27FC236}">
                <a16:creationId xmlns:a16="http://schemas.microsoft.com/office/drawing/2014/main" id="{86161FD5-3E47-E8A0-9589-8542E1B8ADA8}"/>
              </a:ext>
            </a:extLst>
          </p:cNvPr>
          <p:cNvSpPr/>
          <p:nvPr/>
        </p:nvSpPr>
        <p:spPr>
          <a:xfrm>
            <a:off x="7073870" y="399091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6989815-A90F-EEE1-C0A4-F0FE4535B9CD}"/>
              </a:ext>
            </a:extLst>
          </p:cNvPr>
          <p:cNvSpPr txBox="1"/>
          <p:nvPr/>
        </p:nvSpPr>
        <p:spPr>
          <a:xfrm>
            <a:off x="7740170" y="3313209"/>
            <a:ext cx="471148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기각판결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38FEDBC0-1C3C-5551-BD31-5C1A86666E2C}"/>
              </a:ext>
            </a:extLst>
          </p:cNvPr>
          <p:cNvCxnSpPr>
            <a:cxnSpLocks/>
            <a:stCxn id="123" idx="2"/>
            <a:endCxn id="125" idx="0"/>
          </p:cNvCxnSpPr>
          <p:nvPr/>
        </p:nvCxnSpPr>
        <p:spPr>
          <a:xfrm>
            <a:off x="7975744" y="3713319"/>
            <a:ext cx="1242" cy="2775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타원 124">
            <a:extLst>
              <a:ext uri="{FF2B5EF4-FFF2-40B4-BE49-F238E27FC236}">
                <a16:creationId xmlns:a16="http://schemas.microsoft.com/office/drawing/2014/main" id="{42BF9394-3687-3E99-5CD6-DE2185CC7DAF}"/>
              </a:ext>
            </a:extLst>
          </p:cNvPr>
          <p:cNvSpPr/>
          <p:nvPr/>
        </p:nvSpPr>
        <p:spPr>
          <a:xfrm>
            <a:off x="7899617" y="399091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03A94DA0-177C-82B3-6AEC-2858F9871E01}"/>
              </a:ext>
            </a:extLst>
          </p:cNvPr>
          <p:cNvSpPr txBox="1"/>
          <p:nvPr/>
        </p:nvSpPr>
        <p:spPr>
          <a:xfrm>
            <a:off x="8581409" y="3456643"/>
            <a:ext cx="471148" cy="2462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상고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7DB15640-E645-BB48-6D87-6F540A4E899F}"/>
              </a:ext>
            </a:extLst>
          </p:cNvPr>
          <p:cNvCxnSpPr>
            <a:cxnSpLocks/>
            <a:stCxn id="126" idx="2"/>
            <a:endCxn id="128" idx="0"/>
          </p:cNvCxnSpPr>
          <p:nvPr/>
        </p:nvCxnSpPr>
        <p:spPr>
          <a:xfrm>
            <a:off x="8816983" y="3702864"/>
            <a:ext cx="1242" cy="2880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타원 127">
            <a:extLst>
              <a:ext uri="{FF2B5EF4-FFF2-40B4-BE49-F238E27FC236}">
                <a16:creationId xmlns:a16="http://schemas.microsoft.com/office/drawing/2014/main" id="{7025CC60-074F-3A3E-2014-31290E40D824}"/>
              </a:ext>
            </a:extLst>
          </p:cNvPr>
          <p:cNvSpPr/>
          <p:nvPr/>
        </p:nvSpPr>
        <p:spPr>
          <a:xfrm>
            <a:off x="8740856" y="399091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CF1E09F-C8F4-FF55-9738-46085F673185}"/>
              </a:ext>
            </a:extLst>
          </p:cNvPr>
          <p:cNvSpPr txBox="1"/>
          <p:nvPr/>
        </p:nvSpPr>
        <p:spPr>
          <a:xfrm>
            <a:off x="9537013" y="3313209"/>
            <a:ext cx="671324" cy="3847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인용판결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900" dirty="0" err="1">
                <a:solidFill>
                  <a:schemeClr val="tx1"/>
                </a:solidFill>
                <a:latin typeface="+mn-ea"/>
              </a:rPr>
              <a:t>취소환송</a:t>
            </a:r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96703086-5DC3-356B-EA0C-30EA6D0F88BB}"/>
              </a:ext>
            </a:extLst>
          </p:cNvPr>
          <p:cNvCxnSpPr>
            <a:cxnSpLocks/>
            <a:stCxn id="131" idx="2"/>
            <a:endCxn id="133" idx="0"/>
          </p:cNvCxnSpPr>
          <p:nvPr/>
        </p:nvCxnSpPr>
        <p:spPr>
          <a:xfrm>
            <a:off x="9872675" y="3697930"/>
            <a:ext cx="1242" cy="29298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타원 132">
            <a:extLst>
              <a:ext uri="{FF2B5EF4-FFF2-40B4-BE49-F238E27FC236}">
                <a16:creationId xmlns:a16="http://schemas.microsoft.com/office/drawing/2014/main" id="{110C4A08-699C-8B1C-7C22-576C1D4CA69A}"/>
              </a:ext>
            </a:extLst>
          </p:cNvPr>
          <p:cNvSpPr/>
          <p:nvPr/>
        </p:nvSpPr>
        <p:spPr>
          <a:xfrm>
            <a:off x="9796548" y="3990911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+mn-ea"/>
            </a:endParaRPr>
          </a:p>
        </p:txBody>
      </p:sp>
      <p:cxnSp>
        <p:nvCxnSpPr>
          <p:cNvPr id="137" name="연결선: 꺾임 136">
            <a:extLst>
              <a:ext uri="{FF2B5EF4-FFF2-40B4-BE49-F238E27FC236}">
                <a16:creationId xmlns:a16="http://schemas.microsoft.com/office/drawing/2014/main" id="{E9BC8175-01F9-8145-5644-1E27C9796019}"/>
              </a:ext>
            </a:extLst>
          </p:cNvPr>
          <p:cNvCxnSpPr>
            <a:cxnSpLocks/>
            <a:stCxn id="101" idx="4"/>
            <a:endCxn id="95" idx="0"/>
          </p:cNvCxnSpPr>
          <p:nvPr/>
        </p:nvCxnSpPr>
        <p:spPr>
          <a:xfrm rot="5400000">
            <a:off x="4547702" y="4196285"/>
            <a:ext cx="746619" cy="658546"/>
          </a:xfrm>
          <a:prstGeom prst="bentConnector3">
            <a:avLst>
              <a:gd name="adj1" fmla="val 8842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B24F54EC-1C45-9474-C34C-96259B0E19C3}"/>
              </a:ext>
            </a:extLst>
          </p:cNvPr>
          <p:cNvSpPr txBox="1"/>
          <p:nvPr/>
        </p:nvSpPr>
        <p:spPr>
          <a:xfrm>
            <a:off x="6038655" y="4898868"/>
            <a:ext cx="3304341" cy="193899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34938" indent="-134938">
              <a:buAutoNum type="arabicPeriod"/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공지예외적용주장을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한 선행기술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에 의한 자유실시기술의 주장은 허용되지 않는다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134938" indent="-134938"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특허발명의 기술적인 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의미는 ‘</a:t>
            </a:r>
            <a:r>
              <a:rPr lang="ko-KR" altLang="en-US" sz="1000" dirty="0" err="1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피마살탄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 칼륨염 </a:t>
            </a:r>
            <a:r>
              <a:rPr lang="en-US" altLang="ko-KR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30㎎ 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또는 </a:t>
            </a:r>
            <a:r>
              <a:rPr lang="ko-KR" altLang="en-US" sz="1000" dirty="0" err="1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피마살탄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 칼륨염의 수화물 </a:t>
            </a:r>
            <a:r>
              <a:rPr lang="en-US" altLang="ko-KR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30㎎’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과 ‘</a:t>
            </a:r>
            <a:r>
              <a:rPr lang="ko-KR" altLang="en-US" sz="1000" dirty="0" err="1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암로디핀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베실레이트염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5㎎’</a:t>
            </a:r>
            <a:r>
              <a:rPr lang="ko-KR" altLang="en-US" sz="1000" dirty="0">
                <a:solidFill>
                  <a:schemeClr val="tx1"/>
                </a:solidFill>
                <a:highlight>
                  <a:srgbClr val="FFFF00"/>
                </a:highlight>
                <a:latin typeface="+mn-ea"/>
              </a:rPr>
              <a:t>을 포함하여 혈압 강하의 약리효과를 나타내는 약제학적 조성물로 정확하게 이해할 수 있고 이와 다르게 해석할 여지가 없으므로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원심으로서는 이 사건 특허발명의 기술적 구성을 ‘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피마살탄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칼륨염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30㎎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또는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피마살탄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칼륨염의 수화물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30㎎’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및 ‘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암로디핀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베실레이트염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5㎎’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을 포함하는 혈압 강하용 약제학적 조성물에 관한 것으로 확정한 다음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이를 기초로 확인대상 발명이 이 사건 특허발명의 권리범위에 속하는지 여부를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심리ㆍ판단하였어야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한다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D196C42-3566-6059-F61F-C27CCE10CF51}"/>
              </a:ext>
            </a:extLst>
          </p:cNvPr>
          <p:cNvSpPr txBox="1"/>
          <p:nvPr/>
        </p:nvSpPr>
        <p:spPr>
          <a:xfrm>
            <a:off x="9419436" y="4898868"/>
            <a:ext cx="2643668" cy="163121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134938" indent="-134938"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청구범위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문언적인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의미 내용을 기초로 발명의 설명 등을 참작하면 청구항이 문언 그대로 정확하게 이해될 수 있고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다르게 해석될 여지가 없다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134938" indent="-134938"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정정청구는 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136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항제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호의 분명하지 아니한 기재를 명확하게 하는 경우가 아니고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이를 인정하면 청구범위를 실질적으로 변경할 여지도 있다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marL="134938" indent="-134938">
              <a:buAutoNum type="arabicPeriod"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따라서 원심은 정정 전 청구범위를 기준으로 무효사유가 있는지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판단하였어야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한다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</a:p>
        </p:txBody>
      </p:sp>
      <p:cxnSp>
        <p:nvCxnSpPr>
          <p:cNvPr id="150" name="연결선: 꺾임 149">
            <a:extLst>
              <a:ext uri="{FF2B5EF4-FFF2-40B4-BE49-F238E27FC236}">
                <a16:creationId xmlns:a16="http://schemas.microsoft.com/office/drawing/2014/main" id="{42D3003E-2B6A-B4E2-C335-49F35D6CEA45}"/>
              </a:ext>
            </a:extLst>
          </p:cNvPr>
          <p:cNvCxnSpPr>
            <a:stCxn id="90" idx="2"/>
            <a:endCxn id="91" idx="0"/>
          </p:cNvCxnSpPr>
          <p:nvPr/>
        </p:nvCxnSpPr>
        <p:spPr>
          <a:xfrm rot="16200000" flipH="1">
            <a:off x="4067144" y="3570573"/>
            <a:ext cx="268627" cy="57204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연결선: 꺾임 150">
            <a:extLst>
              <a:ext uri="{FF2B5EF4-FFF2-40B4-BE49-F238E27FC236}">
                <a16:creationId xmlns:a16="http://schemas.microsoft.com/office/drawing/2014/main" id="{B7F36880-23B2-11BE-2AAA-346BBD036DEB}"/>
              </a:ext>
            </a:extLst>
          </p:cNvPr>
          <p:cNvCxnSpPr>
            <a:cxnSpLocks/>
            <a:stCxn id="61" idx="2"/>
            <a:endCxn id="144" idx="0"/>
          </p:cNvCxnSpPr>
          <p:nvPr/>
        </p:nvCxnSpPr>
        <p:spPr>
          <a:xfrm rot="5400000">
            <a:off x="8355354" y="4076602"/>
            <a:ext cx="157738" cy="148679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연결선: 꺾임 153">
            <a:extLst>
              <a:ext uri="{FF2B5EF4-FFF2-40B4-BE49-F238E27FC236}">
                <a16:creationId xmlns:a16="http://schemas.microsoft.com/office/drawing/2014/main" id="{8368E63F-9474-3DB4-768E-1AA0C7C03D14}"/>
              </a:ext>
            </a:extLst>
          </p:cNvPr>
          <p:cNvCxnSpPr>
            <a:cxnSpLocks/>
            <a:stCxn id="133" idx="4"/>
            <a:endCxn id="145" idx="0"/>
          </p:cNvCxnSpPr>
          <p:nvPr/>
        </p:nvCxnSpPr>
        <p:spPr>
          <a:xfrm rot="16200000" flipH="1">
            <a:off x="9934284" y="4091881"/>
            <a:ext cx="746619" cy="86735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61857A2D-7BF4-BB11-289F-48998BCD77F6}"/>
              </a:ext>
            </a:extLst>
          </p:cNvPr>
          <p:cNvSpPr/>
          <p:nvPr/>
        </p:nvSpPr>
        <p:spPr>
          <a:xfrm>
            <a:off x="5486400" y="1321147"/>
            <a:ext cx="6601825" cy="193899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000" dirty="0">
                <a:solidFill>
                  <a:srgbClr val="FF0000"/>
                </a:solidFill>
              </a:rPr>
              <a:t>구 특허법</a:t>
            </a:r>
            <a:r>
              <a:rPr lang="en-US" altLang="ko-KR" sz="1000" dirty="0">
                <a:solidFill>
                  <a:srgbClr val="FF0000"/>
                </a:solidFill>
              </a:rPr>
              <a:t>(2011. 12. 2. </a:t>
            </a:r>
            <a:r>
              <a:rPr lang="ko-KR" altLang="en-US" sz="1000" dirty="0">
                <a:solidFill>
                  <a:srgbClr val="FF0000"/>
                </a:solidFill>
              </a:rPr>
              <a:t>법률 제</a:t>
            </a:r>
            <a:r>
              <a:rPr lang="en-US" altLang="ko-KR" sz="1000" dirty="0">
                <a:solidFill>
                  <a:srgbClr val="FF0000"/>
                </a:solidFill>
              </a:rPr>
              <a:t>11117</a:t>
            </a:r>
            <a:r>
              <a:rPr lang="ko-KR" altLang="en-US" sz="1000" dirty="0">
                <a:solidFill>
                  <a:srgbClr val="FF0000"/>
                </a:solidFill>
              </a:rPr>
              <a:t>호로 개정되기 전의 것</a:t>
            </a:r>
            <a:r>
              <a:rPr lang="en-US" altLang="ko-KR" sz="1000" dirty="0">
                <a:solidFill>
                  <a:srgbClr val="FF0000"/>
                </a:solidFill>
              </a:rPr>
              <a:t>) </a:t>
            </a:r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30</a:t>
            </a:r>
            <a:r>
              <a:rPr lang="ko-KR" altLang="en-US" sz="1000" dirty="0">
                <a:solidFill>
                  <a:srgbClr val="FF0000"/>
                </a:solidFill>
              </a:rPr>
              <a:t>조 제</a:t>
            </a:r>
            <a:r>
              <a:rPr lang="en-US" altLang="ko-KR" sz="1000" dirty="0">
                <a:solidFill>
                  <a:srgbClr val="FF0000"/>
                </a:solidFill>
              </a:rPr>
              <a:t>1</a:t>
            </a:r>
            <a:r>
              <a:rPr lang="ko-KR" altLang="en-US" sz="1000" dirty="0">
                <a:solidFill>
                  <a:srgbClr val="FF0000"/>
                </a:solidFill>
              </a:rPr>
              <a:t>항에서 정한 </a:t>
            </a:r>
            <a:r>
              <a:rPr lang="ko-KR" altLang="en-US" sz="1000" dirty="0" err="1">
                <a:solidFill>
                  <a:srgbClr val="FF0000"/>
                </a:solidFill>
              </a:rPr>
              <a:t>공지예외</a:t>
            </a:r>
            <a:r>
              <a:rPr lang="ko-KR" altLang="en-US" sz="1000" dirty="0">
                <a:solidFill>
                  <a:srgbClr val="FF0000"/>
                </a:solidFill>
              </a:rPr>
              <a:t> 규정의 문언과 내용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입법 취지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>
                <a:solidFill>
                  <a:srgbClr val="FF0000"/>
                </a:solidFill>
              </a:rPr>
              <a:t>자유실시기술 법리의 본질 및 기능 등을 종합하여 보면</a:t>
            </a:r>
            <a:r>
              <a:rPr lang="en-US" altLang="ko-KR" sz="1000" dirty="0">
                <a:solidFill>
                  <a:srgbClr val="FF0000"/>
                </a:solidFill>
              </a:rPr>
              <a:t>, </a:t>
            </a:r>
            <a:r>
              <a:rPr lang="ko-KR" altLang="en-US" sz="1000" dirty="0" err="1">
                <a:solidFill>
                  <a:srgbClr val="FF0000"/>
                </a:solidFill>
              </a:rPr>
              <a:t>공지예외</a:t>
            </a:r>
            <a:r>
              <a:rPr lang="ko-KR" altLang="en-US" sz="1000" dirty="0">
                <a:solidFill>
                  <a:srgbClr val="FF0000"/>
                </a:solidFill>
              </a:rPr>
              <a:t> 규정을 </a:t>
            </a:r>
            <a:r>
              <a:rPr lang="ko-KR" altLang="en-US" sz="1000" dirty="0" err="1">
                <a:solidFill>
                  <a:srgbClr val="FF0000"/>
                </a:solidFill>
              </a:rPr>
              <a:t>적용받아</a:t>
            </a:r>
            <a:r>
              <a:rPr lang="ko-KR" altLang="en-US" sz="1000" dirty="0">
                <a:solidFill>
                  <a:srgbClr val="FF0000"/>
                </a:solidFill>
              </a:rPr>
              <a:t> 특허를 받은 특허발명의 경우 확인대상 발명이 그 특허권의 권리범위에 속하는지를 판단할 때에는 자유실시기술 주장 즉</a:t>
            </a:r>
            <a:r>
              <a:rPr lang="en-US" altLang="ko-KR" sz="1000" dirty="0">
                <a:solidFill>
                  <a:srgbClr val="FF0000"/>
                </a:solidFill>
              </a:rPr>
              <a:t>, ‘</a:t>
            </a:r>
            <a:r>
              <a:rPr lang="ko-KR" altLang="en-US" sz="1000" dirty="0">
                <a:solidFill>
                  <a:srgbClr val="FF0000"/>
                </a:solidFill>
              </a:rPr>
              <a:t>발명이 속하는 기술분야에서 통상의 지식을 가진 사람</a:t>
            </a:r>
            <a:r>
              <a:rPr lang="en-US" altLang="ko-KR" sz="1000" dirty="0">
                <a:solidFill>
                  <a:srgbClr val="FF0000"/>
                </a:solidFill>
              </a:rPr>
              <a:t>(</a:t>
            </a:r>
            <a:r>
              <a:rPr lang="ko-KR" altLang="en-US" sz="1000" dirty="0">
                <a:solidFill>
                  <a:srgbClr val="FF0000"/>
                </a:solidFill>
              </a:rPr>
              <a:t>이하 ’통상의 </a:t>
            </a:r>
            <a:r>
              <a:rPr lang="ko-KR" altLang="en-US" sz="1000" dirty="0" err="1">
                <a:solidFill>
                  <a:srgbClr val="FF0000"/>
                </a:solidFill>
              </a:rPr>
              <a:t>기술자‘라</a:t>
            </a:r>
            <a:r>
              <a:rPr lang="ko-KR" altLang="en-US" sz="1000" dirty="0">
                <a:solidFill>
                  <a:srgbClr val="FF0000"/>
                </a:solidFill>
              </a:rPr>
              <a:t> 한다</a:t>
            </a:r>
            <a:r>
              <a:rPr lang="en-US" altLang="ko-KR" sz="1000" dirty="0">
                <a:solidFill>
                  <a:srgbClr val="FF0000"/>
                </a:solidFill>
              </a:rPr>
              <a:t>)</a:t>
            </a:r>
            <a:r>
              <a:rPr lang="ko-KR" altLang="en-US" sz="1000" dirty="0">
                <a:solidFill>
                  <a:srgbClr val="FF0000"/>
                </a:solidFill>
              </a:rPr>
              <a:t>이 </a:t>
            </a:r>
            <a:r>
              <a:rPr lang="ko-KR" altLang="en-US" sz="1000" dirty="0" err="1">
                <a:solidFill>
                  <a:srgbClr val="FF0000"/>
                </a:solidFill>
              </a:rPr>
              <a:t>공지예외</a:t>
            </a:r>
            <a:r>
              <a:rPr lang="ko-KR" altLang="en-US" sz="1000" dirty="0">
                <a:solidFill>
                  <a:srgbClr val="FF0000"/>
                </a:solidFill>
              </a:rPr>
              <a:t> 규정의 적용 근거가 된 공지기술로부터 확인대상 발명을 쉽게 실시할 수 있어 확인대상 발명이 특허권의 권리범위에 속하지 </a:t>
            </a:r>
            <a:r>
              <a:rPr lang="ko-KR" altLang="en-US" sz="1000" dirty="0" err="1">
                <a:solidFill>
                  <a:srgbClr val="FF0000"/>
                </a:solidFill>
              </a:rPr>
              <a:t>않는다’는</a:t>
            </a:r>
            <a:r>
              <a:rPr lang="ko-KR" altLang="en-US" sz="1000" dirty="0">
                <a:solidFill>
                  <a:srgbClr val="FF0000"/>
                </a:solidFill>
              </a:rPr>
              <a:t> 주장은 허용되지 않는다고 보아야 한다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</a:p>
          <a:p>
            <a:pPr algn="just" fontAlgn="base"/>
            <a:r>
              <a:rPr lang="ko-KR" altLang="en-US" sz="1000" dirty="0"/>
              <a:t>특허발명의 보호범위는 청구범위에 적혀 있는 사항에 의하여 </a:t>
            </a:r>
            <a:r>
              <a:rPr lang="ko-KR" altLang="en-US" sz="1000" dirty="0" err="1"/>
              <a:t>정하여지고</a:t>
            </a:r>
            <a:r>
              <a:rPr lang="en-US" altLang="ko-KR" sz="1000" dirty="0"/>
              <a:t>(</a:t>
            </a:r>
            <a:r>
              <a:rPr lang="ko-KR" altLang="en-US" sz="1000" dirty="0"/>
              <a:t>특허법 제</a:t>
            </a:r>
            <a:r>
              <a:rPr lang="en-US" altLang="ko-KR" sz="1000" dirty="0"/>
              <a:t>97</a:t>
            </a:r>
            <a:r>
              <a:rPr lang="ko-KR" altLang="en-US" sz="1000" dirty="0"/>
              <a:t>조</a:t>
            </a:r>
            <a:r>
              <a:rPr lang="en-US" altLang="ko-KR" sz="1000" dirty="0"/>
              <a:t>), </a:t>
            </a:r>
            <a:r>
              <a:rPr lang="ko-KR" altLang="en-US" sz="1000" dirty="0"/>
              <a:t>발명의 설명이나 도면 등에 의하여 그 보호범위를 제한하거나 확장하는 것은 원칙적으로 허용되지 않는다</a:t>
            </a:r>
            <a:r>
              <a:rPr lang="en-US" altLang="ko-KR" sz="1000" dirty="0"/>
              <a:t>. </a:t>
            </a:r>
            <a:r>
              <a:rPr lang="ko-KR" altLang="en-US" sz="1000" dirty="0"/>
              <a:t>다만 청구범위에 적혀 있는 사항은 발명의 설명이나 도면 등을 참작해야 그 기술적인 의미를 정확하게 이해할 수 있으므로</a:t>
            </a:r>
            <a:r>
              <a:rPr lang="en-US" altLang="ko-KR" sz="1000" dirty="0"/>
              <a:t>, </a:t>
            </a:r>
            <a:r>
              <a:rPr lang="ko-KR" altLang="en-US" sz="1000" dirty="0"/>
              <a:t>청구범위에 적혀 있는 사항의 해석은 문언의 일반적인 의미 내용을 기초로 하면서도 발명의 설명이나 도면 등을 참작하여 문언에 의하여 표현하고자 하는 기술적 의의를 고찰한 다음 </a:t>
            </a:r>
            <a:r>
              <a:rPr lang="ko-KR" altLang="en-US" sz="1000" dirty="0" err="1"/>
              <a:t>객관적ㆍ합리적으로</a:t>
            </a:r>
            <a:r>
              <a:rPr lang="ko-KR" altLang="en-US" sz="1000" dirty="0"/>
              <a:t> 하여야 한다</a:t>
            </a:r>
            <a:r>
              <a:rPr lang="en-US" altLang="ko-KR" sz="1000" dirty="0"/>
              <a:t>. </a:t>
            </a:r>
            <a:r>
              <a:rPr lang="ko-KR" altLang="en-US" sz="1000" dirty="0"/>
              <a:t>그러나 발명의 설명과 도면 등을 참작한다고 하더라도 발명의 설명이나 도면 등 다른 기재에 따라 청구범위를 제한하거나 확장하여 해석하는 것은 허용되지 않는다</a:t>
            </a:r>
            <a:r>
              <a:rPr lang="en-US" altLang="ko-KR" sz="1000" dirty="0"/>
              <a:t>(</a:t>
            </a:r>
            <a:r>
              <a:rPr lang="ko-KR" altLang="en-US" sz="1000" dirty="0"/>
              <a:t>대법원 </a:t>
            </a:r>
            <a:r>
              <a:rPr lang="en-US" altLang="ko-KR" sz="1000" dirty="0"/>
              <a:t>2015. 5. 14. </a:t>
            </a:r>
            <a:r>
              <a:rPr lang="ko-KR" altLang="en-US" sz="1000" dirty="0"/>
              <a:t>선고 </a:t>
            </a:r>
            <a:r>
              <a:rPr lang="en-US" altLang="ko-KR" sz="1000" dirty="0"/>
              <a:t>2014</a:t>
            </a:r>
            <a:r>
              <a:rPr lang="ko-KR" altLang="en-US" sz="1000" dirty="0"/>
              <a:t>후</a:t>
            </a:r>
            <a:r>
              <a:rPr lang="en-US" altLang="ko-KR" sz="1000" dirty="0"/>
              <a:t>2788 </a:t>
            </a:r>
            <a:r>
              <a:rPr lang="ko-KR" altLang="en-US" sz="1000" dirty="0"/>
              <a:t>판결</a:t>
            </a:r>
            <a:r>
              <a:rPr lang="en-US" altLang="ko-KR" sz="1000" dirty="0"/>
              <a:t>, </a:t>
            </a:r>
            <a:r>
              <a:rPr lang="ko-KR" altLang="en-US" sz="1000" dirty="0"/>
              <a:t>대법원 </a:t>
            </a:r>
            <a:r>
              <a:rPr lang="en-US" altLang="ko-KR" sz="1000" dirty="0"/>
              <a:t>2020. 4. 9. </a:t>
            </a:r>
            <a:r>
              <a:rPr lang="ko-KR" altLang="en-US" sz="1000" dirty="0"/>
              <a:t>선고 </a:t>
            </a:r>
            <a:r>
              <a:rPr lang="en-US" altLang="ko-KR" sz="1000" dirty="0"/>
              <a:t>2018</a:t>
            </a:r>
            <a:r>
              <a:rPr lang="ko-KR" altLang="en-US" sz="1000" dirty="0"/>
              <a:t>후</a:t>
            </a:r>
            <a:r>
              <a:rPr lang="en-US" altLang="ko-KR" sz="1000" dirty="0"/>
              <a:t>12202 </a:t>
            </a:r>
            <a:r>
              <a:rPr lang="ko-KR" altLang="en-US" sz="1000" dirty="0"/>
              <a:t>판결 등 참조</a:t>
            </a:r>
            <a:r>
              <a:rPr lang="en-US" altLang="ko-KR" sz="1000" dirty="0"/>
              <a:t>).</a:t>
            </a:r>
            <a:endParaRPr lang="ko-KR" altLang="en-US" sz="1000" dirty="0"/>
          </a:p>
        </p:txBody>
      </p:sp>
      <p:sp>
        <p:nvSpPr>
          <p:cNvPr id="158" name="모서리가 둥근 직사각형 10">
            <a:extLst>
              <a:ext uri="{FF2B5EF4-FFF2-40B4-BE49-F238E27FC236}">
                <a16:creationId xmlns:a16="http://schemas.microsoft.com/office/drawing/2014/main" id="{7145A89A-8F01-D31F-5831-35F5ADC9E673}"/>
              </a:ext>
            </a:extLst>
          </p:cNvPr>
          <p:cNvSpPr/>
          <p:nvPr/>
        </p:nvSpPr>
        <p:spPr bwMode="auto">
          <a:xfrm>
            <a:off x="5483155" y="1002199"/>
            <a:ext cx="4395949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대법원 </a:t>
            </a:r>
            <a:r>
              <a:rPr lang="en-US" altLang="ko-KR" sz="1200" dirty="0"/>
              <a:t>2025. 6. 26.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2023</a:t>
            </a:r>
            <a:r>
              <a:rPr lang="ko-KR" altLang="en-US" sz="1200" dirty="0"/>
              <a:t>후</a:t>
            </a:r>
            <a:r>
              <a:rPr lang="en-US" altLang="ko-KR" sz="1200" dirty="0"/>
              <a:t>11562 </a:t>
            </a:r>
            <a:r>
              <a:rPr lang="ko-KR" altLang="en-US" sz="1200" dirty="0"/>
              <a:t>판결 </a:t>
            </a:r>
            <a:r>
              <a:rPr lang="en-US" altLang="ko-KR" sz="1200" dirty="0"/>
              <a:t>【</a:t>
            </a:r>
            <a:r>
              <a:rPr lang="ko-KR" altLang="en-US" sz="1200" dirty="0"/>
              <a:t>권리범위확인</a:t>
            </a:r>
            <a:r>
              <a:rPr lang="en-US" altLang="ko-KR" sz="1200" dirty="0"/>
              <a:t>(</a:t>
            </a:r>
            <a:r>
              <a:rPr lang="ko-KR" altLang="en-US" sz="1200" dirty="0" err="1"/>
              <a:t>특</a:t>
            </a:r>
            <a:r>
              <a:rPr lang="en-US" altLang="ko-KR" sz="1200" dirty="0"/>
              <a:t>)】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F4AFBE96-9D02-0F3E-64B5-0F09B6244BB0}"/>
              </a:ext>
            </a:extLst>
          </p:cNvPr>
          <p:cNvSpPr txBox="1"/>
          <p:nvPr/>
        </p:nvSpPr>
        <p:spPr>
          <a:xfrm>
            <a:off x="9797942" y="4282260"/>
            <a:ext cx="10948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2023</a:t>
            </a:r>
            <a:r>
              <a:rPr lang="ko-KR" altLang="en-US" sz="1200" dirty="0">
                <a:solidFill>
                  <a:srgbClr val="FF0000"/>
                </a:solidFill>
              </a:rPr>
              <a:t>후</a:t>
            </a:r>
            <a:r>
              <a:rPr lang="en-US" altLang="ko-KR" sz="1200" dirty="0">
                <a:solidFill>
                  <a:srgbClr val="FF0000"/>
                </a:solidFill>
              </a:rPr>
              <a:t>11487 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D4BED771-A9DA-D13E-63FE-664C6D16F605}"/>
              </a:ext>
            </a:extLst>
          </p:cNvPr>
          <p:cNvSpPr txBox="1"/>
          <p:nvPr/>
        </p:nvSpPr>
        <p:spPr>
          <a:xfrm>
            <a:off x="7800778" y="4587241"/>
            <a:ext cx="10948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2023</a:t>
            </a:r>
            <a:r>
              <a:rPr lang="ko-KR" altLang="en-US" sz="1200" dirty="0">
                <a:solidFill>
                  <a:srgbClr val="FF0000"/>
                </a:solidFill>
              </a:rPr>
              <a:t>후</a:t>
            </a:r>
            <a:r>
              <a:rPr lang="en-US" altLang="ko-KR" sz="1200" dirty="0">
                <a:solidFill>
                  <a:srgbClr val="FF0000"/>
                </a:solidFill>
              </a:rPr>
              <a:t>11562 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01576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sz="2400" dirty="0" err="1"/>
              <a:t>정정심판과</a:t>
            </a:r>
            <a:r>
              <a:rPr lang="ko-KR" altLang="en-US" sz="2400" dirty="0"/>
              <a:t> 특허무효심판절차에서의 특허의 정정 법조문 비교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587315"/>
              </p:ext>
            </p:extLst>
          </p:nvPr>
        </p:nvGraphicFramePr>
        <p:xfrm>
          <a:off x="184729" y="973051"/>
          <a:ext cx="11677070" cy="571500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8171871">
                  <a:extLst>
                    <a:ext uri="{9D8B030D-6E8A-4147-A177-3AD203B41FA5}">
                      <a16:colId xmlns:a16="http://schemas.microsoft.com/office/drawing/2014/main" val="371552522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1959867"/>
                    </a:ext>
                  </a:extLst>
                </a:gridCol>
              </a:tblGrid>
              <a:tr h="2037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정정심판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제</a:t>
                      </a:r>
                      <a:r>
                        <a:rPr lang="en-US" altLang="ko-KR" sz="1100" dirty="0"/>
                        <a:t>136</a:t>
                      </a:r>
                      <a:r>
                        <a:rPr lang="ko-KR" altLang="en-US" sz="1100" dirty="0"/>
                        <a:t>조</a:t>
                      </a:r>
                      <a:r>
                        <a:rPr lang="en-US" altLang="ko-KR" sz="1100" dirty="0"/>
                        <a:t>)</a:t>
                      </a:r>
                      <a:endParaRPr lang="ko-KR" altLang="en-US" sz="11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특허무효심판절차에서의</a:t>
                      </a:r>
                      <a:r>
                        <a:rPr lang="ko-KR" altLang="en-US" sz="1100" dirty="0"/>
                        <a:t> 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특허의 정정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제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133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조의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2)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33114"/>
                  </a:ext>
                </a:extLst>
              </a:tr>
              <a:tr h="3064689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정정심판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</a:t>
                      </a:r>
                      <a:r>
                        <a:rPr lang="ko-KR" altLang="en-US" sz="110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특허권자는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다음 각 호의 어느 하나에 해당하는 경우에는 특허발명의 명세서 또는 도면에 대하여 </a:t>
                      </a:r>
                      <a:r>
                        <a:rPr lang="ko-KR" altLang="en-US" sz="110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정정심판을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청구할 수 있다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1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청구범위를 감축하는 경우</a:t>
                      </a:r>
                    </a:p>
                    <a:p>
                      <a:pPr fontAlgn="base" latinLnBrk="1"/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잘못 기재된 사항을 정정하는 경우</a:t>
                      </a:r>
                    </a:p>
                    <a:p>
                      <a:pPr fontAlgn="base" latinLnBrk="1"/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분명하지 아니하게 기재된 사항을 명확하게 하는 경우</a:t>
                      </a: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항에도 불구하고 다음 각 호의 어느 하나에 해당하는 기간에는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정정심판을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청구할 수 없다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특허취소신청이 특허심판원에 계속 중인 때부터 그 결정이 확정될 때까지의 기간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특허무효심판의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또는 정정의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무효심판의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심결에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대한 소가 특허법원에 계속 중인 경우에는 특허법원에서 변론이 종결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변론 없이 한 판결의 경우에는 판결의 선고를 말한다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된 날까지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정정심판을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청구할 수 있다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특허무효심판 또는 정정의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무효심판이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특허심판원에 계속 중인 기간</a:t>
                      </a: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명세서 또는 도면의 정정은 특허발명의 명세서 또는 도면에 기재된 사항의 범위에서 할 수 있다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호에 따라 잘못된 기재를 정정하는 경우에는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출원서에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최초로 첨부된 명세서 또는 도면에 기재된 사항의 범위에서 할 수 있다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명세서 또는 도면의 정정은 청구범위를 실질적으로 확장하거나 변경할 수 없다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정정 중 같은 항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 또는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호에 해당하는 정정은 정정 후의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청구범위에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적혀 있는 사항이 특허출원을 하였을 때에 특허를 받을 수 있는 것이어야 한다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⑥ 심판관은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심판청구가 다음 각 호의 어느 하나에 해당한다고 인정하는 경우에는 청구인에게 그 이유를 통지하고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기간을 정하여 의견서를 제출할 수 있는 기회를 주어야 한다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fontAlgn="base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각 호의 어느 하나에 해당하지 아니한 경우</a:t>
                      </a:r>
                    </a:p>
                    <a:p>
                      <a:pPr fontAlgn="base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범위를 벗어난 경우</a:t>
                      </a:r>
                    </a:p>
                    <a:p>
                      <a:pPr fontAlgn="base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위반한 경우</a:t>
                      </a: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⑦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10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정정심판은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특허권이 소멸된 후에도 청구할 수 있다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특허취소결정이 확정되거나 특허를 무효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호에 의한 무효는 제외한다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한다는 </a:t>
                      </a:r>
                      <a:r>
                        <a:rPr lang="ko-KR" altLang="en-US" sz="110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심결이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확정된 후에는 그러하지 아니하다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100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⑧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특허권자는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전용실시권자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질권자와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및 「발명진흥법」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통상실시권을 갖는 자의 동의를 받아야만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정정심판을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청구할 수 있다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다만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특허권자가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정정심판을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청구하기 위하여 동의를 받아야 하는 자가 무효심판을 청구한 경우에는 그러하지 아니하다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⑨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정정심판에는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155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 및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156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조를 적용하지 아니한다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⑩ 특허발명의 명세서 또는 도면에 대하여 정정을 한다는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심결이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확정되었을 때에는 그 정정 후의 명세서 또는 도면에 따라 특허출원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출원공개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특허결정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또는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특허권의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설정등록이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된 것으로 본다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⑪ 청구인은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심리의 종결이 통지되기 전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같은 조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심리가 재개된 경우에는 그 후 다시 같은 조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심리의 종결이 통지되기 전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심판청구서에 첨부된 정정한 명세서 또는 도면에 대하여 보정할 수 있다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⑫ 특허발명의 명세서 또는 도면에 대한 정정을 한다는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심결이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있는 경우 특허심판원장은 그 내용을 지식재산처장에게 알려야 한다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⑬ 지식재산처장은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통보가 있으면 이를 특허공보에 게재하여야 한다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2【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특허무효심판절차에서의 특허의 정정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심판의 피청구인은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각 호의 어느 하나에 해당하는 경우에만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159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후단에 따라 지정된 기간에 특허발명의 명세서 또는 도면에 대하여 정정청구를 할 수 있다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심판장이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147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기간 후에도 청구인이 증거를 제출하거나 새로운 무효사유를 주장함으로 인하여 정정청구를 허용할 필요가 있다고 인정하는 경우에는 기간을 정하여 정정청구를 하게 할 수 있다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정정청구를 하였을 때에는 해당 무효심판절차에서 그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전에 한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정정청구는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취하된 것으로 본다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심판장은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정정청구가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있을 때에는 그 청구서의 부본을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심판의 청구인에게 송달하여야 한다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1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100" kern="1200" dirty="0" err="1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정정청구에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관하여는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준용한다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중 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162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심리의 종결이 통지되기 전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같은 조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심리가 재개된 경우에는 그 후 다시 같은 조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심리의 종결이 통지되기 전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기간에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본다</a:t>
                      </a:r>
                      <a:r>
                        <a:rPr lang="en-US" altLang="ko-KR" sz="11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정정청구는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다음 각 호의 어느 하나에 해당하는 기간에만 취하할 수 있다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정정을 청구할 수 있도록 지정된 기간과 그 기간의 만료일부터 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이내의 기간</a:t>
                      </a:r>
                    </a:p>
                    <a:p>
                      <a:pPr fontAlgn="base" latinLnBrk="1"/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항에서 준용하는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기간</a:t>
                      </a:r>
                    </a:p>
                    <a:p>
                      <a:pPr fontAlgn="base" latinLnBrk="1"/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⑥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적용할 때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특허무효심판이 청구된 </a:t>
                      </a:r>
                      <a:r>
                        <a:rPr lang="ko-KR" altLang="en-US" sz="11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청구항을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정정하는 경우에는 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준용하지 아니한다</a:t>
                      </a:r>
                      <a:r>
                        <a:rPr lang="en-US" altLang="ko-KR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305079"/>
                  </a:ext>
                </a:extLst>
              </a:tr>
            </a:tbl>
          </a:graphicData>
        </a:graphic>
      </p:graphicFrame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510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69351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 err="1"/>
              <a:t>정정청구의</a:t>
            </a:r>
            <a:r>
              <a:rPr lang="ko-KR" altLang="en-US" dirty="0"/>
              <a:t> 법조문 비교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0492321"/>
              </p:ext>
            </p:extLst>
          </p:nvPr>
        </p:nvGraphicFramePr>
        <p:xfrm>
          <a:off x="184731" y="973051"/>
          <a:ext cx="11724504" cy="58521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908168">
                  <a:extLst>
                    <a:ext uri="{9D8B030D-6E8A-4147-A177-3AD203B41FA5}">
                      <a16:colId xmlns:a16="http://schemas.microsoft.com/office/drawing/2014/main" val="3715525229"/>
                    </a:ext>
                  </a:extLst>
                </a:gridCol>
                <a:gridCol w="3908168">
                  <a:extLst>
                    <a:ext uri="{9D8B030D-6E8A-4147-A177-3AD203B41FA5}">
                      <a16:colId xmlns:a16="http://schemas.microsoft.com/office/drawing/2014/main" val="141959867"/>
                    </a:ext>
                  </a:extLst>
                </a:gridCol>
                <a:gridCol w="3908168">
                  <a:extLst>
                    <a:ext uri="{9D8B030D-6E8A-4147-A177-3AD203B41FA5}">
                      <a16:colId xmlns:a16="http://schemas.microsoft.com/office/drawing/2014/main" val="2937501546"/>
                    </a:ext>
                  </a:extLst>
                </a:gridCol>
              </a:tblGrid>
              <a:tr h="20375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특허취소신청절차에서의 특허의 정정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132</a:t>
                      </a:r>
                      <a:r>
                        <a:rPr lang="ko-KR" altLang="en-US" sz="1200" dirty="0"/>
                        <a:t>조의</a:t>
                      </a:r>
                      <a:r>
                        <a:rPr lang="en-US" altLang="ko-KR" sz="1200" dirty="0"/>
                        <a:t>3)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특허무효심판절차에서의 특허의 정정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133</a:t>
                      </a:r>
                      <a:r>
                        <a:rPr lang="ko-KR" altLang="en-US" sz="1200" dirty="0"/>
                        <a:t>조의</a:t>
                      </a:r>
                      <a:r>
                        <a:rPr lang="en-US" altLang="ko-KR" sz="1200" dirty="0"/>
                        <a:t>2)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정정무효심판절차에서의 특허의 정정</a:t>
                      </a:r>
                      <a:r>
                        <a:rPr lang="en-US" altLang="ko-KR" sz="1200" dirty="0"/>
                        <a:t>(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137</a:t>
                      </a:r>
                      <a:r>
                        <a:rPr lang="ko-KR" altLang="en-US" sz="1200" dirty="0"/>
                        <a:t>조제</a:t>
                      </a:r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항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제</a:t>
                      </a:r>
                      <a:r>
                        <a:rPr lang="en-US" altLang="ko-KR" sz="1200" dirty="0"/>
                        <a:t>4</a:t>
                      </a:r>
                      <a:r>
                        <a:rPr lang="ko-KR" altLang="en-US" sz="1200" dirty="0"/>
                        <a:t>항</a:t>
                      </a:r>
                      <a:r>
                        <a:rPr lang="en-US" altLang="ko-KR" sz="1200" dirty="0"/>
                        <a:t>)</a:t>
                      </a:r>
                      <a:endParaRPr lang="ko-KR" altLang="en-US" sz="1200" dirty="0"/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33114"/>
                  </a:ext>
                </a:extLst>
              </a:tr>
              <a:tr h="3064689"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3【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특허취소신청절차에서의 특허의 정정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 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특허취소신청절차가 진행 중인 특허에 대한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특허권자는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각 호의 어느 하나에 해당하는 경우에만 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132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기간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특허발명의 명세서 또는 도면에 대하여 정정청구를 할 수 있다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정정청구를 하였을 때에는 해당 특허취소신청절차에서 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전에 한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정정청구는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취하된 것으로 본다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fontAlgn="base" latinLnBrk="1"/>
                      <a:endParaRPr lang="en-US" altLang="ko-KR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정정청구에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관하여는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항ㆍ제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항ㆍ제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준용한다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중 “제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심리의 종결이 통지되기 전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같은 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심리가 재개된 경우에는 그 후 다시 같은 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심리의 종결이 통지되기 전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에”는 “제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기간에”로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본다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정정청구는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다음 각 호의 어느 하나에 해당하는 기간에만 취하할 수 있다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정정을 청구할 수 있도록 지정된 기간과 그 기간의 만료일부터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이내의 기간</a:t>
                      </a:r>
                    </a:p>
                    <a:p>
                      <a:pPr fontAlgn="base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항에서 준용하는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기간</a:t>
                      </a: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적용할 때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따라 특허취소신청이 된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청구항을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정정하는 경우에는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준용하지 아니한다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2【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특허무효심판절차에서의 특허의 정정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①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심판의 피청구인은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각 호의 어느 하나에 해당하는 경우에만 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147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159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후단에 따라 지정된 기간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특허발명의 명세서 또는 도면에 대하여 정정청구를 할 수 있다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심판장이 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147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기간 후에도 청구인이 증거를 제출하거나 새로운 무효사유를 주장함으로 인하여 정정청구를 허용할 필요가 있다고 인정하는 경우에는 기간을 정하여 정정청구를 하게 할 수 있다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②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정정청구를 하였을 때에는 해당 무효심판절차에서 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전에 한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정정청구는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취하된 것으로 본다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심판장은 제</a:t>
                      </a:r>
                      <a:r>
                        <a:rPr lang="en-US" altLang="ko-KR" sz="12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200" kern="1200" dirty="0" err="1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정정청구가</a:t>
                      </a:r>
                      <a:r>
                        <a:rPr lang="ko-KR" altLang="en-US" sz="12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있을 때에는 그 청구서의 부본을 제</a:t>
                      </a:r>
                      <a:r>
                        <a:rPr lang="en-US" altLang="ko-KR" sz="12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2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심판의 청구인에게 송달하여야 한다</a:t>
                      </a:r>
                      <a:r>
                        <a:rPr lang="en-US" altLang="ko-KR" sz="120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accen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정정청구에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관하여는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및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140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준용한다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중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심리의 종결이 통지되기 전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같은 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심리가 재개된 경우에는 그 후 다시 같은 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심리의 종결이 통지되기 전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기간에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본다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⑤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정정청구는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다음 각 호의 어느 하나에 해당하는 기간에만 취하할 수 있다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fontAlgn="base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정정을 청구할 수 있도록 지정된 기간과 그 기간의 만료일부터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이내의 기간</a:t>
                      </a:r>
                    </a:p>
                    <a:p>
                      <a:pPr fontAlgn="base" latinLnBrk="1"/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항에서 준용하는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기간</a:t>
                      </a: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⑥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적용할 때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특허무효심판이 청구된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청구항을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정정하는 경우에는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항을 준용하지 아니한다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정정의 무효심판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】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③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무효심판의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피청구인은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각 호의 어느 하나에 해당하는 경우에만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147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또는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후단에 따라 지정된 기간에 특허발명의 명세서 또는 도면의 정정을 청구할 수 있다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심판장이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147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따라 지정된 기간 후에도 청구인이 증거를 제출하거나 새로운 무효사유를 주장함으로 인하여 정정의 청구를 허용할 필요가 있다고 인정하는 경우에는 기간을 정하여 정정청구를 하게 할 수 있다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fontAlgn="base" latinLnBrk="1"/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④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항에 따른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정정청구에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관하여는 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항부터 제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항까지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규정을 준용한다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경우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중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은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보고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같은 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후단 중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보며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같은 조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 각 호 외의 부분 및 같은 항 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 중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각각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본다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305079"/>
                  </a:ext>
                </a:extLst>
              </a:tr>
            </a:tbl>
          </a:graphicData>
        </a:graphic>
      </p:graphicFrame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511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2240D82-FF40-4CC1-98AC-8D6D45658F4A}"/>
              </a:ext>
            </a:extLst>
          </p:cNvPr>
          <p:cNvSpPr/>
          <p:nvPr/>
        </p:nvSpPr>
        <p:spPr>
          <a:xfrm>
            <a:off x="4130040" y="3307186"/>
            <a:ext cx="3870960" cy="5485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525BEFDB-F323-4DE5-BEEC-827184CF817E}"/>
              </a:ext>
            </a:extLst>
          </p:cNvPr>
          <p:cNvCxnSpPr/>
          <p:nvPr/>
        </p:nvCxnSpPr>
        <p:spPr>
          <a:xfrm flipH="1">
            <a:off x="3169920" y="3566160"/>
            <a:ext cx="944880" cy="0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0F4EBAB-DBC3-49AF-9243-9A25D471EC36}"/>
              </a:ext>
            </a:extLst>
          </p:cNvPr>
          <p:cNvSpPr txBox="1"/>
          <p:nvPr/>
        </p:nvSpPr>
        <p:spPr>
          <a:xfrm>
            <a:off x="2533997" y="3276600"/>
            <a:ext cx="620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rgbClr val="FF0000"/>
                </a:solidFill>
              </a:rPr>
              <a:t> X</a:t>
            </a:r>
            <a:endParaRPr lang="ko-KR" altLang="en-US" sz="3600" dirty="0">
              <a:solidFill>
                <a:srgbClr val="FF0000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0F6900-31BA-486E-B2C4-90DD421D8E47}"/>
              </a:ext>
            </a:extLst>
          </p:cNvPr>
          <p:cNvSpPr/>
          <p:nvPr/>
        </p:nvSpPr>
        <p:spPr>
          <a:xfrm>
            <a:off x="184730" y="6200502"/>
            <a:ext cx="7816269" cy="5725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0102BC7-07B3-420A-8AC5-D288F0546F6C}"/>
              </a:ext>
            </a:extLst>
          </p:cNvPr>
          <p:cNvCxnSpPr>
            <a:cxnSpLocks/>
            <a:stCxn id="11" idx="3"/>
          </p:cNvCxnSpPr>
          <p:nvPr/>
        </p:nvCxnSpPr>
        <p:spPr>
          <a:xfrm flipV="1">
            <a:off x="8000999" y="6449860"/>
            <a:ext cx="1981201" cy="36904"/>
          </a:xfrm>
          <a:prstGeom prst="straightConnector1">
            <a:avLst/>
          </a:prstGeom>
          <a:ln w="12700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E36DE43-42C2-46DC-9A68-B8AA2C38F706}"/>
              </a:ext>
            </a:extLst>
          </p:cNvPr>
          <p:cNvSpPr txBox="1"/>
          <p:nvPr/>
        </p:nvSpPr>
        <p:spPr>
          <a:xfrm>
            <a:off x="9833957" y="6126695"/>
            <a:ext cx="620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dirty="0">
                <a:solidFill>
                  <a:srgbClr val="FF0000"/>
                </a:solidFill>
              </a:rPr>
              <a:t> X</a:t>
            </a:r>
            <a:endParaRPr lang="ko-KR" altLang="en-US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98071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512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400" dirty="0"/>
              <a:t>참고노트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/>
              <a:t>정정청구의 법조문 구조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969FE3-D782-8DDA-7C2D-881802DFB140}"/>
              </a:ext>
            </a:extLst>
          </p:cNvPr>
          <p:cNvSpPr txBox="1"/>
          <p:nvPr/>
        </p:nvSpPr>
        <p:spPr>
          <a:xfrm>
            <a:off x="238003" y="1342712"/>
            <a:ext cx="2350907" cy="307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136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r>
              <a:rPr lang="en-US" altLang="ko-KR" sz="1400" dirty="0">
                <a:solidFill>
                  <a:schemeClr val="bg1"/>
                </a:solidFill>
              </a:rPr>
              <a:t>【</a:t>
            </a:r>
            <a:r>
              <a:rPr lang="ko-KR" altLang="en-US" sz="1400" dirty="0">
                <a:solidFill>
                  <a:schemeClr val="bg1"/>
                </a:solidFill>
              </a:rPr>
              <a:t>정정심판</a:t>
            </a:r>
            <a:r>
              <a:rPr lang="en-US" altLang="ko-KR" sz="1400" dirty="0">
                <a:solidFill>
                  <a:schemeClr val="bg1"/>
                </a:solidFill>
              </a:rPr>
              <a:t>】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4EF934-4A13-3FCF-5B73-1B7859EB134F}"/>
              </a:ext>
            </a:extLst>
          </p:cNvPr>
          <p:cNvSpPr txBox="1"/>
          <p:nvPr/>
        </p:nvSpPr>
        <p:spPr>
          <a:xfrm>
            <a:off x="3682296" y="1342712"/>
            <a:ext cx="3994854" cy="307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133</a:t>
            </a:r>
            <a:r>
              <a:rPr lang="ko-KR" altLang="en-US" sz="1400" dirty="0">
                <a:solidFill>
                  <a:schemeClr val="bg1"/>
                </a:solidFill>
              </a:rPr>
              <a:t>조의</a:t>
            </a:r>
            <a:r>
              <a:rPr lang="en-US" altLang="ko-KR" sz="1400" dirty="0">
                <a:solidFill>
                  <a:schemeClr val="bg1"/>
                </a:solidFill>
              </a:rPr>
              <a:t>2【</a:t>
            </a:r>
            <a:r>
              <a:rPr lang="ko-KR" altLang="en-US" sz="1400" dirty="0">
                <a:solidFill>
                  <a:schemeClr val="bg1"/>
                </a:solidFill>
              </a:rPr>
              <a:t>특허무효심판절차에서의 특허의 정정</a:t>
            </a:r>
            <a:r>
              <a:rPr lang="en-US" altLang="ko-KR" sz="1400" dirty="0">
                <a:solidFill>
                  <a:schemeClr val="bg1"/>
                </a:solidFill>
              </a:rPr>
              <a:t>】</a:t>
            </a:r>
          </a:p>
        </p:txBody>
      </p:sp>
      <p:sp>
        <p:nvSpPr>
          <p:cNvPr id="71" name="도넛 82">
            <a:extLst>
              <a:ext uri="{FF2B5EF4-FFF2-40B4-BE49-F238E27FC236}">
                <a16:creationId xmlns:a16="http://schemas.microsoft.com/office/drawing/2014/main" id="{AED10495-76D5-0A7E-E470-7D51621830CA}"/>
              </a:ext>
            </a:extLst>
          </p:cNvPr>
          <p:cNvSpPr/>
          <p:nvPr/>
        </p:nvSpPr>
        <p:spPr>
          <a:xfrm>
            <a:off x="2780391" y="1736863"/>
            <a:ext cx="199609" cy="184678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79" name="곱셈 기호 85">
            <a:extLst>
              <a:ext uri="{FF2B5EF4-FFF2-40B4-BE49-F238E27FC236}">
                <a16:creationId xmlns:a16="http://schemas.microsoft.com/office/drawing/2014/main" id="{6A250C99-2481-9E86-8AB5-3F5A397FBA4D}"/>
              </a:ext>
            </a:extLst>
          </p:cNvPr>
          <p:cNvSpPr/>
          <p:nvPr/>
        </p:nvSpPr>
        <p:spPr>
          <a:xfrm>
            <a:off x="2980000" y="1840288"/>
            <a:ext cx="311205" cy="316567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467EEE-D6F4-178B-49C2-5728536BB036}"/>
              </a:ext>
            </a:extLst>
          </p:cNvPr>
          <p:cNvSpPr txBox="1"/>
          <p:nvPr/>
        </p:nvSpPr>
        <p:spPr>
          <a:xfrm>
            <a:off x="238003" y="1701289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① </a:t>
            </a:r>
            <a:r>
              <a:rPr lang="ko-KR" altLang="en-US" sz="1400" dirty="0"/>
              <a:t>요건</a:t>
            </a:r>
            <a:r>
              <a:rPr lang="en-US" altLang="ko-KR" sz="1400" dirty="0"/>
              <a:t>(</a:t>
            </a:r>
            <a:r>
              <a:rPr lang="ko-KR" altLang="en-US" sz="1400" dirty="0"/>
              <a:t>주체</a:t>
            </a:r>
            <a:r>
              <a:rPr lang="en-US" altLang="ko-KR" sz="1400" dirty="0"/>
              <a:t>/</a:t>
            </a:r>
            <a:r>
              <a:rPr lang="ko-KR" altLang="en-US" sz="1400" dirty="0"/>
              <a:t>객체</a:t>
            </a:r>
            <a:r>
              <a:rPr lang="en-US" altLang="ko-KR" sz="1400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ED253D-AB24-AD3A-9669-AE98AA21B4D2}"/>
              </a:ext>
            </a:extLst>
          </p:cNvPr>
          <p:cNvSpPr txBox="1"/>
          <p:nvPr/>
        </p:nvSpPr>
        <p:spPr>
          <a:xfrm>
            <a:off x="238003" y="2024828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② 요건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시기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38B995-4BB5-073A-BC68-59512BBEC3F8}"/>
              </a:ext>
            </a:extLst>
          </p:cNvPr>
          <p:cNvSpPr txBox="1"/>
          <p:nvPr/>
        </p:nvSpPr>
        <p:spPr>
          <a:xfrm>
            <a:off x="238003" y="2335863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③ </a:t>
            </a:r>
            <a:r>
              <a:rPr lang="ko-KR" altLang="en-US" sz="1400" dirty="0"/>
              <a:t>요건</a:t>
            </a:r>
            <a:r>
              <a:rPr lang="en-US" altLang="ko-KR" sz="1400" dirty="0"/>
              <a:t>(</a:t>
            </a:r>
            <a:r>
              <a:rPr lang="ko-KR" altLang="en-US" sz="1400" dirty="0"/>
              <a:t>객체</a:t>
            </a:r>
            <a:r>
              <a:rPr lang="en-US" altLang="ko-KR" sz="1400" dirty="0"/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9E91F9-6068-DC4D-08B3-5754ED7755A2}"/>
              </a:ext>
            </a:extLst>
          </p:cNvPr>
          <p:cNvSpPr txBox="1"/>
          <p:nvPr/>
        </p:nvSpPr>
        <p:spPr>
          <a:xfrm>
            <a:off x="238003" y="2641944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④ </a:t>
            </a:r>
            <a:r>
              <a:rPr lang="ko-KR" altLang="en-US" sz="1400" dirty="0"/>
              <a:t>요건</a:t>
            </a:r>
            <a:r>
              <a:rPr lang="en-US" altLang="ko-KR" sz="1400" dirty="0"/>
              <a:t>(</a:t>
            </a:r>
            <a:r>
              <a:rPr lang="ko-KR" altLang="en-US" sz="1400" dirty="0"/>
              <a:t>객체</a:t>
            </a:r>
            <a:r>
              <a:rPr lang="en-US" altLang="ko-KR" sz="1400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1DAD03-260D-6F1E-B50D-DCD41FD435BE}"/>
              </a:ext>
            </a:extLst>
          </p:cNvPr>
          <p:cNvSpPr txBox="1"/>
          <p:nvPr/>
        </p:nvSpPr>
        <p:spPr>
          <a:xfrm>
            <a:off x="238003" y="2961093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kern="1200" dirty="0">
                <a:effectLst/>
                <a:latin typeface="+mn-lt"/>
                <a:ea typeface="+mn-ea"/>
                <a:cs typeface="+mn-cs"/>
              </a:rPr>
              <a:t>⑤</a:t>
            </a:r>
            <a:r>
              <a:rPr lang="en-US" altLang="ko-KR" sz="1400" dirty="0"/>
              <a:t> </a:t>
            </a:r>
            <a:r>
              <a:rPr lang="ko-KR" altLang="en-US" sz="1400" dirty="0"/>
              <a:t>요건</a:t>
            </a:r>
            <a:r>
              <a:rPr lang="en-US" altLang="ko-KR" sz="1400" dirty="0"/>
              <a:t>(</a:t>
            </a:r>
            <a:r>
              <a:rPr lang="ko-KR" altLang="en-US" sz="1400" dirty="0"/>
              <a:t>객체</a:t>
            </a:r>
            <a:r>
              <a:rPr lang="en-US" altLang="ko-KR" sz="1400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9C0651-C269-97FF-FD89-EF0FF4D59EB3}"/>
              </a:ext>
            </a:extLst>
          </p:cNvPr>
          <p:cNvSpPr txBox="1"/>
          <p:nvPr/>
        </p:nvSpPr>
        <p:spPr>
          <a:xfrm>
            <a:off x="238003" y="3284632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dirty="0"/>
              <a:t>⑥ 절차</a:t>
            </a:r>
            <a:r>
              <a:rPr lang="en-US" altLang="ko-KR" sz="1400" dirty="0"/>
              <a:t>(</a:t>
            </a:r>
            <a:r>
              <a:rPr lang="ko-KR" altLang="en-US" sz="1400" dirty="0"/>
              <a:t>직권심리</a:t>
            </a:r>
            <a:r>
              <a:rPr lang="en-US" altLang="ko-KR" sz="1400" dirty="0"/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9C1F63-7582-88DB-4DCD-91A0DBC8E65D}"/>
              </a:ext>
            </a:extLst>
          </p:cNvPr>
          <p:cNvSpPr txBox="1"/>
          <p:nvPr/>
        </p:nvSpPr>
        <p:spPr>
          <a:xfrm>
            <a:off x="238003" y="3595668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⑦ </a:t>
            </a:r>
            <a:r>
              <a:rPr lang="ko-KR" altLang="en-US" sz="1400" dirty="0">
                <a:solidFill>
                  <a:schemeClr val="bg1"/>
                </a:solidFill>
              </a:rPr>
              <a:t>요건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시기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268ADB-0914-FD79-429A-E5702023EE7F}"/>
              </a:ext>
            </a:extLst>
          </p:cNvPr>
          <p:cNvSpPr txBox="1"/>
          <p:nvPr/>
        </p:nvSpPr>
        <p:spPr>
          <a:xfrm>
            <a:off x="238003" y="3901748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⑧ </a:t>
            </a:r>
            <a:r>
              <a:rPr lang="ko-KR" altLang="en-US" sz="1400" dirty="0"/>
              <a:t>요건</a:t>
            </a:r>
            <a:r>
              <a:rPr lang="en-US" altLang="ko-KR" sz="1400" dirty="0"/>
              <a:t>(</a:t>
            </a:r>
            <a:r>
              <a:rPr lang="ko-KR" altLang="en-US" sz="1400" dirty="0"/>
              <a:t>주체</a:t>
            </a:r>
            <a:r>
              <a:rPr lang="en-US" altLang="ko-KR" sz="14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F59494-E1DA-A82F-B56A-C4CADFE1548F}"/>
              </a:ext>
            </a:extLst>
          </p:cNvPr>
          <p:cNvSpPr txBox="1"/>
          <p:nvPr/>
        </p:nvSpPr>
        <p:spPr>
          <a:xfrm>
            <a:off x="238003" y="4235484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⑨ </a:t>
            </a:r>
            <a:r>
              <a:rPr lang="ko-KR" altLang="en-US" sz="1400" dirty="0">
                <a:solidFill>
                  <a:schemeClr val="bg1"/>
                </a:solidFill>
              </a:rPr>
              <a:t>절차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 err="1">
                <a:solidFill>
                  <a:schemeClr val="bg1"/>
                </a:solidFill>
              </a:rPr>
              <a:t>결정계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5161DF-0536-999E-9912-CD0F1C84D34C}"/>
              </a:ext>
            </a:extLst>
          </p:cNvPr>
          <p:cNvSpPr txBox="1"/>
          <p:nvPr/>
        </p:nvSpPr>
        <p:spPr>
          <a:xfrm>
            <a:off x="238003" y="4541564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⑩ </a:t>
            </a:r>
            <a:r>
              <a:rPr lang="ko-KR" altLang="en-US" sz="1400" dirty="0"/>
              <a:t>효과</a:t>
            </a:r>
            <a:endParaRPr lang="en-US" altLang="ko-KR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C330D0-69FB-44EF-ADEA-A9A9293B9EC6}"/>
              </a:ext>
            </a:extLst>
          </p:cNvPr>
          <p:cNvSpPr txBox="1"/>
          <p:nvPr/>
        </p:nvSpPr>
        <p:spPr>
          <a:xfrm>
            <a:off x="238003" y="4868093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kern="1200" dirty="0">
                <a:effectLst/>
                <a:latin typeface="+mn-lt"/>
                <a:ea typeface="+mn-ea"/>
                <a:cs typeface="+mn-cs"/>
              </a:rPr>
              <a:t>⑪</a:t>
            </a:r>
            <a:r>
              <a:rPr lang="en-US" altLang="ko-KR" sz="1400" dirty="0"/>
              <a:t> </a:t>
            </a:r>
            <a:r>
              <a:rPr lang="ko-KR" altLang="en-US" sz="1400" dirty="0"/>
              <a:t>절차</a:t>
            </a:r>
            <a:r>
              <a:rPr lang="en-US" altLang="ko-KR" sz="1400" dirty="0"/>
              <a:t>(</a:t>
            </a:r>
            <a:r>
              <a:rPr lang="ko-KR" altLang="en-US" sz="1400" dirty="0"/>
              <a:t>보정</a:t>
            </a:r>
            <a:r>
              <a:rPr lang="en-US" altLang="ko-KR" sz="1400" dirty="0"/>
              <a:t>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C46909-110F-C1F0-3263-E75A59AD83A1}"/>
              </a:ext>
            </a:extLst>
          </p:cNvPr>
          <p:cNvSpPr txBox="1"/>
          <p:nvPr/>
        </p:nvSpPr>
        <p:spPr>
          <a:xfrm>
            <a:off x="238003" y="5191632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dirty="0"/>
              <a:t>⑫ 절차</a:t>
            </a:r>
            <a:r>
              <a:rPr lang="en-US" altLang="ko-KR" sz="1400" dirty="0"/>
              <a:t>(</a:t>
            </a:r>
            <a:r>
              <a:rPr lang="ko-KR" altLang="en-US" sz="1400" dirty="0"/>
              <a:t>통지</a:t>
            </a:r>
            <a:r>
              <a:rPr lang="en-US" altLang="ko-KR" sz="1400" dirty="0"/>
              <a:t>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E8E1D0-1318-0008-AC9C-A49158EAE745}"/>
              </a:ext>
            </a:extLst>
          </p:cNvPr>
          <p:cNvSpPr txBox="1"/>
          <p:nvPr/>
        </p:nvSpPr>
        <p:spPr>
          <a:xfrm>
            <a:off x="238003" y="5502667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⑬ </a:t>
            </a:r>
            <a:r>
              <a:rPr lang="ko-KR" altLang="en-US" sz="1400" dirty="0"/>
              <a:t>절차</a:t>
            </a:r>
            <a:r>
              <a:rPr lang="en-US" altLang="ko-KR" sz="1400" dirty="0"/>
              <a:t>(</a:t>
            </a:r>
            <a:r>
              <a:rPr lang="ko-KR" altLang="en-US" sz="1400" dirty="0"/>
              <a:t>게재</a:t>
            </a:r>
            <a:r>
              <a:rPr lang="en-US" altLang="ko-KR" sz="1400" dirty="0"/>
              <a:t>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D1991AD-E7FD-F01E-19FE-B91F39A77C35}"/>
              </a:ext>
            </a:extLst>
          </p:cNvPr>
          <p:cNvSpPr txBox="1"/>
          <p:nvPr/>
        </p:nvSpPr>
        <p:spPr>
          <a:xfrm>
            <a:off x="3682296" y="1695175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① </a:t>
            </a:r>
            <a:r>
              <a:rPr lang="ko-KR" altLang="en-US" sz="1400" dirty="0">
                <a:solidFill>
                  <a:schemeClr val="bg1"/>
                </a:solidFill>
              </a:rPr>
              <a:t>요건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주체</a:t>
            </a:r>
            <a:r>
              <a:rPr lang="en-US" altLang="ko-KR" sz="1400" dirty="0">
                <a:solidFill>
                  <a:schemeClr val="bg1"/>
                </a:solidFill>
              </a:rPr>
              <a:t>/</a:t>
            </a:r>
            <a:r>
              <a:rPr lang="ko-KR" altLang="en-US" sz="1400" dirty="0">
                <a:solidFill>
                  <a:schemeClr val="bg1"/>
                </a:solidFill>
              </a:rPr>
              <a:t>객체</a:t>
            </a:r>
            <a:r>
              <a:rPr lang="en-US" altLang="ko-KR" sz="1400" dirty="0">
                <a:solidFill>
                  <a:schemeClr val="bg1"/>
                </a:solidFill>
              </a:rPr>
              <a:t>/</a:t>
            </a:r>
            <a:r>
              <a:rPr lang="ko-KR" altLang="en-US" sz="1400" dirty="0">
                <a:solidFill>
                  <a:schemeClr val="bg1"/>
                </a:solidFill>
              </a:rPr>
              <a:t>시기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970F3B-FD6C-0EFD-3DD1-4FFE347263E0}"/>
              </a:ext>
            </a:extLst>
          </p:cNvPr>
          <p:cNvSpPr txBox="1"/>
          <p:nvPr/>
        </p:nvSpPr>
        <p:spPr>
          <a:xfrm>
            <a:off x="3682296" y="2018714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dirty="0"/>
              <a:t>② 절차</a:t>
            </a:r>
            <a:r>
              <a:rPr lang="en-US" altLang="ko-KR" sz="1400" dirty="0"/>
              <a:t>(</a:t>
            </a:r>
            <a:r>
              <a:rPr lang="ko-KR" altLang="en-US" sz="1400" dirty="0"/>
              <a:t>여러 차례 정정</a:t>
            </a:r>
            <a:r>
              <a:rPr lang="en-US" altLang="ko-KR" sz="1400" dirty="0"/>
              <a:t>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67899C-FA49-605E-C5DD-76A999F3809F}"/>
              </a:ext>
            </a:extLst>
          </p:cNvPr>
          <p:cNvSpPr txBox="1"/>
          <p:nvPr/>
        </p:nvSpPr>
        <p:spPr>
          <a:xfrm>
            <a:off x="3682296" y="2329749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③ </a:t>
            </a:r>
            <a:r>
              <a:rPr lang="ko-KR" altLang="en-US" sz="1400" dirty="0">
                <a:solidFill>
                  <a:schemeClr val="bg1"/>
                </a:solidFill>
              </a:rPr>
              <a:t>절차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부본 송달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4C9C2F9-A299-8F68-CB21-D9EEA257C0B8}"/>
              </a:ext>
            </a:extLst>
          </p:cNvPr>
          <p:cNvSpPr txBox="1"/>
          <p:nvPr/>
        </p:nvSpPr>
        <p:spPr>
          <a:xfrm>
            <a:off x="3682296" y="2635830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④ </a:t>
            </a:r>
            <a:r>
              <a:rPr lang="ko-KR" altLang="en-US" sz="1400" dirty="0"/>
              <a:t>요건</a:t>
            </a:r>
            <a:r>
              <a:rPr lang="en-US" altLang="ko-KR" sz="1400" dirty="0"/>
              <a:t>/</a:t>
            </a:r>
            <a:r>
              <a:rPr lang="ko-KR" altLang="en-US" sz="1400" dirty="0"/>
              <a:t>절차</a:t>
            </a:r>
            <a:r>
              <a:rPr lang="en-US" altLang="ko-KR" sz="1400" dirty="0"/>
              <a:t>/</a:t>
            </a:r>
            <a:r>
              <a:rPr lang="ko-KR" altLang="en-US" sz="1400" dirty="0"/>
              <a:t>효과</a:t>
            </a:r>
            <a:endParaRPr lang="en-US" altLang="ko-KR" sz="14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A3613B-F27E-B8B3-F7EB-4BAD77E47510}"/>
              </a:ext>
            </a:extLst>
          </p:cNvPr>
          <p:cNvSpPr txBox="1"/>
          <p:nvPr/>
        </p:nvSpPr>
        <p:spPr>
          <a:xfrm>
            <a:off x="3682296" y="2954979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kern="1200" dirty="0">
                <a:effectLst/>
                <a:latin typeface="+mn-lt"/>
                <a:ea typeface="+mn-ea"/>
                <a:cs typeface="+mn-cs"/>
              </a:rPr>
              <a:t>⑤</a:t>
            </a:r>
            <a:r>
              <a:rPr lang="en-US" altLang="ko-KR" sz="1400" dirty="0"/>
              <a:t> </a:t>
            </a:r>
            <a:r>
              <a:rPr lang="ko-KR" altLang="en-US" sz="1400" dirty="0"/>
              <a:t>절차</a:t>
            </a:r>
            <a:r>
              <a:rPr lang="en-US" altLang="ko-KR" sz="1400" dirty="0"/>
              <a:t>(</a:t>
            </a:r>
            <a:r>
              <a:rPr lang="ko-KR" altLang="en-US" sz="1400" dirty="0"/>
              <a:t>취하</a:t>
            </a:r>
            <a:r>
              <a:rPr lang="en-US" altLang="ko-KR" sz="1400" dirty="0"/>
              <a:t>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8F7BF8-3152-B435-02CB-46D9F97B8810}"/>
              </a:ext>
            </a:extLst>
          </p:cNvPr>
          <p:cNvSpPr txBox="1"/>
          <p:nvPr/>
        </p:nvSpPr>
        <p:spPr>
          <a:xfrm>
            <a:off x="3682296" y="3278518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⑥ 요건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객체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80A9A01E-B596-88E3-B03F-6B7C89D943F1}"/>
              </a:ext>
            </a:extLst>
          </p:cNvPr>
          <p:cNvCxnSpPr>
            <a:stCxn id="14" idx="3"/>
            <a:endCxn id="38" idx="1"/>
          </p:cNvCxnSpPr>
          <p:nvPr/>
        </p:nvCxnSpPr>
        <p:spPr>
          <a:xfrm>
            <a:off x="2588910" y="2476004"/>
            <a:ext cx="1093386" cy="29996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667F9AA6-6CFD-2DE7-0015-71786FD1B789}"/>
              </a:ext>
            </a:extLst>
          </p:cNvPr>
          <p:cNvCxnSpPr>
            <a:stCxn id="15" idx="3"/>
            <a:endCxn id="38" idx="1"/>
          </p:cNvCxnSpPr>
          <p:nvPr/>
        </p:nvCxnSpPr>
        <p:spPr>
          <a:xfrm flipV="1">
            <a:off x="2588910" y="2775971"/>
            <a:ext cx="1093386" cy="61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02BC653F-3312-EA89-2A6E-8B4BFA26E256}"/>
              </a:ext>
            </a:extLst>
          </p:cNvPr>
          <p:cNvCxnSpPr>
            <a:stCxn id="12" idx="3"/>
            <a:endCxn id="35" idx="1"/>
          </p:cNvCxnSpPr>
          <p:nvPr/>
        </p:nvCxnSpPr>
        <p:spPr>
          <a:xfrm flipV="1">
            <a:off x="2588910" y="1835316"/>
            <a:ext cx="1093386" cy="611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A1652E9-1AFB-0D8F-04E8-5635C85F4EB8}"/>
              </a:ext>
            </a:extLst>
          </p:cNvPr>
          <p:cNvCxnSpPr>
            <a:stCxn id="5" idx="3"/>
            <a:endCxn id="38" idx="1"/>
          </p:cNvCxnSpPr>
          <p:nvPr/>
        </p:nvCxnSpPr>
        <p:spPr>
          <a:xfrm flipV="1">
            <a:off x="2588910" y="2775971"/>
            <a:ext cx="1093386" cy="3252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A7E4C8A9-FBDF-FB9C-3D02-4D9CB15F59EE}"/>
              </a:ext>
            </a:extLst>
          </p:cNvPr>
          <p:cNvCxnSpPr>
            <a:stCxn id="7" idx="3"/>
            <a:endCxn id="38" idx="1"/>
          </p:cNvCxnSpPr>
          <p:nvPr/>
        </p:nvCxnSpPr>
        <p:spPr>
          <a:xfrm flipV="1">
            <a:off x="2588910" y="2775971"/>
            <a:ext cx="1093386" cy="64880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6CB00C41-9D83-5465-D6EB-0290B29DB63F}"/>
              </a:ext>
            </a:extLst>
          </p:cNvPr>
          <p:cNvCxnSpPr>
            <a:stCxn id="9" idx="3"/>
            <a:endCxn id="38" idx="1"/>
          </p:cNvCxnSpPr>
          <p:nvPr/>
        </p:nvCxnSpPr>
        <p:spPr>
          <a:xfrm flipV="1">
            <a:off x="2588910" y="2775971"/>
            <a:ext cx="1093386" cy="126591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6083C160-E09E-7583-2F9E-F5CFDE305264}"/>
              </a:ext>
            </a:extLst>
          </p:cNvPr>
          <p:cNvCxnSpPr>
            <a:stCxn id="11" idx="3"/>
            <a:endCxn id="38" idx="1"/>
          </p:cNvCxnSpPr>
          <p:nvPr/>
        </p:nvCxnSpPr>
        <p:spPr>
          <a:xfrm flipV="1">
            <a:off x="2588910" y="2775971"/>
            <a:ext cx="1093386" cy="19057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430307D3-6DD1-5876-B6E8-48E8340C7F9C}"/>
              </a:ext>
            </a:extLst>
          </p:cNvPr>
          <p:cNvCxnSpPr>
            <a:stCxn id="17" idx="3"/>
            <a:endCxn id="38" idx="1"/>
          </p:cNvCxnSpPr>
          <p:nvPr/>
        </p:nvCxnSpPr>
        <p:spPr>
          <a:xfrm flipV="1">
            <a:off x="2588910" y="2775971"/>
            <a:ext cx="1093386" cy="22322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4F9DFA0E-1108-853F-2059-A4C71B0C8FD2}"/>
              </a:ext>
            </a:extLst>
          </p:cNvPr>
          <p:cNvCxnSpPr>
            <a:stCxn id="29" idx="3"/>
            <a:endCxn id="38" idx="1"/>
          </p:cNvCxnSpPr>
          <p:nvPr/>
        </p:nvCxnSpPr>
        <p:spPr>
          <a:xfrm flipV="1">
            <a:off x="2588910" y="2775971"/>
            <a:ext cx="1093386" cy="255580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E4338233-FC38-A2B0-BF43-FC31E5BB81B8}"/>
              </a:ext>
            </a:extLst>
          </p:cNvPr>
          <p:cNvCxnSpPr>
            <a:stCxn id="30" idx="3"/>
            <a:endCxn id="38" idx="1"/>
          </p:cNvCxnSpPr>
          <p:nvPr/>
        </p:nvCxnSpPr>
        <p:spPr>
          <a:xfrm flipV="1">
            <a:off x="2588910" y="2775971"/>
            <a:ext cx="1093386" cy="286683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08A9E46A-5D65-6E9E-8D88-6DD911D50D26}"/>
              </a:ext>
            </a:extLst>
          </p:cNvPr>
          <p:cNvCxnSpPr>
            <a:stCxn id="8" idx="3"/>
            <a:endCxn id="35" idx="1"/>
          </p:cNvCxnSpPr>
          <p:nvPr/>
        </p:nvCxnSpPr>
        <p:spPr>
          <a:xfrm flipV="1">
            <a:off x="2588910" y="1835316"/>
            <a:ext cx="1093386" cy="190049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30AE12E0-CAAD-C6F2-6127-767A1C736E5C}"/>
              </a:ext>
            </a:extLst>
          </p:cNvPr>
          <p:cNvCxnSpPr>
            <a:stCxn id="13" idx="3"/>
            <a:endCxn id="35" idx="1"/>
          </p:cNvCxnSpPr>
          <p:nvPr/>
        </p:nvCxnSpPr>
        <p:spPr>
          <a:xfrm flipV="1">
            <a:off x="2588910" y="1835316"/>
            <a:ext cx="1093386" cy="32965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DD220030-E317-91DD-B1A5-75E7186B5707}"/>
              </a:ext>
            </a:extLst>
          </p:cNvPr>
          <p:cNvCxnSpPr>
            <a:stCxn id="5" idx="3"/>
            <a:endCxn id="40" idx="1"/>
          </p:cNvCxnSpPr>
          <p:nvPr/>
        </p:nvCxnSpPr>
        <p:spPr>
          <a:xfrm>
            <a:off x="2588910" y="3101234"/>
            <a:ext cx="1093386" cy="31742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도넛 82">
            <a:extLst>
              <a:ext uri="{FF2B5EF4-FFF2-40B4-BE49-F238E27FC236}">
                <a16:creationId xmlns:a16="http://schemas.microsoft.com/office/drawing/2014/main" id="{922BECD8-2020-CD23-C9B5-08C8B934A879}"/>
              </a:ext>
            </a:extLst>
          </p:cNvPr>
          <p:cNvSpPr/>
          <p:nvPr/>
        </p:nvSpPr>
        <p:spPr>
          <a:xfrm>
            <a:off x="3520186" y="2651283"/>
            <a:ext cx="324219" cy="299967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86" name="곱셈 기호 85">
            <a:extLst>
              <a:ext uri="{FF2B5EF4-FFF2-40B4-BE49-F238E27FC236}">
                <a16:creationId xmlns:a16="http://schemas.microsoft.com/office/drawing/2014/main" id="{71D24D5E-D584-A6AB-D9D7-D3BF2BD0090B}"/>
              </a:ext>
            </a:extLst>
          </p:cNvPr>
          <p:cNvSpPr/>
          <p:nvPr/>
        </p:nvSpPr>
        <p:spPr>
          <a:xfrm>
            <a:off x="3254320" y="2099003"/>
            <a:ext cx="311205" cy="316567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88" name="곱셈 기호 85">
            <a:extLst>
              <a:ext uri="{FF2B5EF4-FFF2-40B4-BE49-F238E27FC236}">
                <a16:creationId xmlns:a16="http://schemas.microsoft.com/office/drawing/2014/main" id="{073A9BD6-4723-6038-39A0-8EA9F4036319}"/>
              </a:ext>
            </a:extLst>
          </p:cNvPr>
          <p:cNvSpPr/>
          <p:nvPr/>
        </p:nvSpPr>
        <p:spPr>
          <a:xfrm>
            <a:off x="3520186" y="3246219"/>
            <a:ext cx="311205" cy="316567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F6AE6314-29CB-1786-F548-DF9E106F0409}"/>
              </a:ext>
            </a:extLst>
          </p:cNvPr>
          <p:cNvSpPr txBox="1"/>
          <p:nvPr/>
        </p:nvSpPr>
        <p:spPr>
          <a:xfrm>
            <a:off x="7987591" y="1342712"/>
            <a:ext cx="3994854" cy="307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132</a:t>
            </a:r>
            <a:r>
              <a:rPr lang="ko-KR" altLang="en-US" sz="1400" dirty="0">
                <a:solidFill>
                  <a:schemeClr val="bg1"/>
                </a:solidFill>
              </a:rPr>
              <a:t>조의</a:t>
            </a:r>
            <a:r>
              <a:rPr lang="en-US" altLang="ko-KR" sz="1400" dirty="0">
                <a:solidFill>
                  <a:schemeClr val="bg1"/>
                </a:solidFill>
              </a:rPr>
              <a:t>3【</a:t>
            </a:r>
            <a:r>
              <a:rPr lang="ko-KR" altLang="en-US" sz="1400" dirty="0">
                <a:solidFill>
                  <a:schemeClr val="bg1"/>
                </a:solidFill>
              </a:rPr>
              <a:t>특허취소신청절차에서의 특허의 정정</a:t>
            </a:r>
            <a:r>
              <a:rPr lang="en-US" altLang="ko-KR" sz="1400" dirty="0">
                <a:solidFill>
                  <a:schemeClr val="bg1"/>
                </a:solidFill>
              </a:rPr>
              <a:t>】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3A3C8E0-1393-03BD-D718-D301F53A34DA}"/>
              </a:ext>
            </a:extLst>
          </p:cNvPr>
          <p:cNvSpPr txBox="1"/>
          <p:nvPr/>
        </p:nvSpPr>
        <p:spPr>
          <a:xfrm>
            <a:off x="7987591" y="1695175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① </a:t>
            </a:r>
            <a:r>
              <a:rPr lang="ko-KR" altLang="en-US" sz="1400" dirty="0"/>
              <a:t>요건</a:t>
            </a:r>
            <a:r>
              <a:rPr lang="en-US" altLang="ko-KR" sz="1400" dirty="0"/>
              <a:t>(</a:t>
            </a:r>
            <a:r>
              <a:rPr lang="ko-KR" altLang="en-US" sz="1400" dirty="0"/>
              <a:t>주체</a:t>
            </a:r>
            <a:r>
              <a:rPr lang="en-US" altLang="ko-KR" sz="1400" dirty="0"/>
              <a:t>/</a:t>
            </a:r>
            <a:r>
              <a:rPr lang="ko-KR" altLang="en-US" sz="1400" dirty="0"/>
              <a:t>객체</a:t>
            </a:r>
            <a:r>
              <a:rPr lang="en-US" altLang="ko-KR" sz="1400" dirty="0"/>
              <a:t>/</a:t>
            </a:r>
            <a:r>
              <a:rPr lang="ko-KR" altLang="en-US" sz="1400" dirty="0"/>
              <a:t>시기</a:t>
            </a:r>
            <a:r>
              <a:rPr lang="en-US" altLang="ko-KR" sz="1400" dirty="0"/>
              <a:t>)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995740EC-774C-30BE-F592-7D78F71384F2}"/>
              </a:ext>
            </a:extLst>
          </p:cNvPr>
          <p:cNvSpPr txBox="1"/>
          <p:nvPr/>
        </p:nvSpPr>
        <p:spPr>
          <a:xfrm>
            <a:off x="7987591" y="2018714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dirty="0"/>
              <a:t>② 절차</a:t>
            </a:r>
            <a:r>
              <a:rPr lang="en-US" altLang="ko-KR" sz="1400" dirty="0"/>
              <a:t>(</a:t>
            </a:r>
            <a:r>
              <a:rPr lang="ko-KR" altLang="en-US" sz="1400" dirty="0"/>
              <a:t>여러 차례 정정</a:t>
            </a:r>
            <a:r>
              <a:rPr lang="en-US" altLang="ko-KR" sz="1400" dirty="0"/>
              <a:t>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20344E2-9D8B-A75B-0E3A-B811DDA5E188}"/>
              </a:ext>
            </a:extLst>
          </p:cNvPr>
          <p:cNvSpPr txBox="1"/>
          <p:nvPr/>
        </p:nvSpPr>
        <p:spPr>
          <a:xfrm>
            <a:off x="7987591" y="2329749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③ </a:t>
            </a:r>
            <a:r>
              <a:rPr lang="ko-KR" altLang="en-US" sz="1400" dirty="0"/>
              <a:t>요건</a:t>
            </a:r>
            <a:r>
              <a:rPr lang="en-US" altLang="ko-KR" sz="1400" dirty="0"/>
              <a:t>/</a:t>
            </a:r>
            <a:r>
              <a:rPr lang="ko-KR" altLang="en-US" sz="1400" dirty="0"/>
              <a:t>절차</a:t>
            </a:r>
            <a:r>
              <a:rPr lang="en-US" altLang="ko-KR" sz="1400" dirty="0"/>
              <a:t>/</a:t>
            </a:r>
            <a:r>
              <a:rPr lang="ko-KR" altLang="en-US" sz="1400" dirty="0"/>
              <a:t>효과</a:t>
            </a:r>
            <a:endParaRPr lang="en-US" altLang="ko-KR" sz="140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3A33C2B-0B91-5E0A-CB2F-5E53FFBE5C6B}"/>
              </a:ext>
            </a:extLst>
          </p:cNvPr>
          <p:cNvSpPr txBox="1"/>
          <p:nvPr/>
        </p:nvSpPr>
        <p:spPr>
          <a:xfrm>
            <a:off x="7987591" y="2635830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④ </a:t>
            </a:r>
            <a:r>
              <a:rPr lang="ko-KR" altLang="en-US" sz="1400" dirty="0"/>
              <a:t>절차</a:t>
            </a:r>
            <a:r>
              <a:rPr lang="en-US" altLang="ko-KR" sz="1400" dirty="0"/>
              <a:t>(</a:t>
            </a:r>
            <a:r>
              <a:rPr lang="ko-KR" altLang="en-US" sz="1400" dirty="0"/>
              <a:t>취하</a:t>
            </a:r>
            <a:r>
              <a:rPr lang="en-US" altLang="ko-KR" sz="1400" dirty="0"/>
              <a:t>)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29E4913-B78E-D1E9-1B8A-3392D2C9C65A}"/>
              </a:ext>
            </a:extLst>
          </p:cNvPr>
          <p:cNvSpPr txBox="1"/>
          <p:nvPr/>
        </p:nvSpPr>
        <p:spPr>
          <a:xfrm>
            <a:off x="7987591" y="2954979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kern="1200" dirty="0">
                <a:effectLst/>
                <a:latin typeface="+mn-lt"/>
                <a:ea typeface="+mn-ea"/>
                <a:cs typeface="+mn-cs"/>
              </a:rPr>
              <a:t>⑤ 요건</a:t>
            </a:r>
            <a:r>
              <a:rPr lang="en-US" altLang="ko-KR" sz="1400" kern="1200" dirty="0"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400" kern="1200" dirty="0">
                <a:effectLst/>
                <a:latin typeface="+mn-lt"/>
                <a:ea typeface="+mn-ea"/>
                <a:cs typeface="+mn-cs"/>
              </a:rPr>
              <a:t>객체</a:t>
            </a:r>
            <a:r>
              <a:rPr lang="en-US" altLang="ko-KR" sz="1400" kern="1200" dirty="0">
                <a:effectLst/>
                <a:latin typeface="+mn-lt"/>
                <a:ea typeface="+mn-ea"/>
                <a:cs typeface="+mn-cs"/>
              </a:rPr>
              <a:t>)</a:t>
            </a:r>
            <a:endParaRPr lang="en-US" altLang="ko-KR" sz="14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25B7C5F9-EEF8-9E74-87CB-E2715D1B4DDE}"/>
              </a:ext>
            </a:extLst>
          </p:cNvPr>
          <p:cNvSpPr txBox="1"/>
          <p:nvPr/>
        </p:nvSpPr>
        <p:spPr>
          <a:xfrm>
            <a:off x="7987591" y="4182030"/>
            <a:ext cx="3994854" cy="307777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137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r>
              <a:rPr lang="en-US" altLang="ko-KR" sz="1400" dirty="0">
                <a:solidFill>
                  <a:schemeClr val="bg1"/>
                </a:solidFill>
              </a:rPr>
              <a:t>【</a:t>
            </a:r>
            <a:r>
              <a:rPr lang="ko-KR" altLang="en-US" sz="1400" dirty="0">
                <a:solidFill>
                  <a:schemeClr val="bg1"/>
                </a:solidFill>
              </a:rPr>
              <a:t>정정의 무효심판</a:t>
            </a:r>
            <a:r>
              <a:rPr lang="en-US" altLang="ko-KR" sz="1400" dirty="0">
                <a:solidFill>
                  <a:schemeClr val="bg1"/>
                </a:solidFill>
              </a:rPr>
              <a:t>】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9BD1621-7978-A159-C819-CF9FA586C6C0}"/>
              </a:ext>
            </a:extLst>
          </p:cNvPr>
          <p:cNvSpPr txBox="1"/>
          <p:nvPr/>
        </p:nvSpPr>
        <p:spPr>
          <a:xfrm>
            <a:off x="7987591" y="4534493"/>
            <a:ext cx="2350907" cy="28028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① </a:t>
            </a:r>
            <a:r>
              <a:rPr lang="ko-KR" altLang="en-US" sz="1400" dirty="0"/>
              <a:t>요건</a:t>
            </a:r>
            <a:r>
              <a:rPr lang="en-US" altLang="ko-KR" sz="1400" dirty="0"/>
              <a:t>(</a:t>
            </a:r>
            <a:r>
              <a:rPr lang="ko-KR" altLang="en-US" sz="1400" dirty="0"/>
              <a:t>주체</a:t>
            </a:r>
            <a:r>
              <a:rPr lang="en-US" altLang="ko-KR" sz="1400" dirty="0"/>
              <a:t>/</a:t>
            </a:r>
            <a:r>
              <a:rPr lang="ko-KR" altLang="en-US" sz="1400" dirty="0"/>
              <a:t>객체</a:t>
            </a:r>
            <a:r>
              <a:rPr lang="en-US" altLang="ko-KR" sz="1400" dirty="0"/>
              <a:t>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FCD8DFEE-4DDF-5708-A5C2-831DE3275AE8}"/>
              </a:ext>
            </a:extLst>
          </p:cNvPr>
          <p:cNvSpPr txBox="1"/>
          <p:nvPr/>
        </p:nvSpPr>
        <p:spPr>
          <a:xfrm>
            <a:off x="7987591" y="4858032"/>
            <a:ext cx="2350907" cy="28028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dirty="0"/>
              <a:t>② 요건</a:t>
            </a:r>
            <a:r>
              <a:rPr lang="en-US" altLang="ko-KR" sz="1400" dirty="0"/>
              <a:t>(</a:t>
            </a:r>
            <a:r>
              <a:rPr lang="ko-KR" altLang="en-US" sz="1400" dirty="0"/>
              <a:t>시기</a:t>
            </a:r>
            <a:r>
              <a:rPr lang="en-US" altLang="ko-KR" sz="1400" dirty="0"/>
              <a:t>) </a:t>
            </a:r>
            <a:r>
              <a:rPr lang="ko-KR" altLang="en-US" sz="1400" dirty="0"/>
              <a:t>및 절차</a:t>
            </a:r>
            <a:endParaRPr lang="en-US" altLang="ko-KR" sz="14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339467A-FA0A-C6BD-341F-01F7B191514F}"/>
              </a:ext>
            </a:extLst>
          </p:cNvPr>
          <p:cNvSpPr txBox="1"/>
          <p:nvPr/>
        </p:nvSpPr>
        <p:spPr>
          <a:xfrm>
            <a:off x="7987591" y="5169067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③ </a:t>
            </a:r>
            <a:r>
              <a:rPr lang="ko-KR" altLang="en-US" sz="1400" dirty="0"/>
              <a:t>정정청구</a:t>
            </a:r>
            <a:r>
              <a:rPr lang="en-US" altLang="ko-KR" sz="1400" dirty="0"/>
              <a:t>(</a:t>
            </a:r>
            <a:r>
              <a:rPr lang="ko-KR" altLang="en-US" sz="1400" dirty="0"/>
              <a:t>주체</a:t>
            </a:r>
            <a:r>
              <a:rPr lang="en-US" altLang="ko-KR" sz="1400" dirty="0"/>
              <a:t>/</a:t>
            </a:r>
            <a:r>
              <a:rPr lang="ko-KR" altLang="en-US" sz="1400" dirty="0"/>
              <a:t>객체</a:t>
            </a:r>
            <a:r>
              <a:rPr lang="en-US" altLang="ko-KR" sz="1400" dirty="0"/>
              <a:t>/</a:t>
            </a:r>
            <a:r>
              <a:rPr lang="ko-KR" altLang="en-US" sz="1400" dirty="0"/>
              <a:t>시기</a:t>
            </a:r>
            <a:r>
              <a:rPr lang="en-US" altLang="ko-KR" sz="1400" dirty="0"/>
              <a:t>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793D750-C7D7-F6BB-4D60-CA7FC1C91FA0}"/>
              </a:ext>
            </a:extLst>
          </p:cNvPr>
          <p:cNvSpPr txBox="1"/>
          <p:nvPr/>
        </p:nvSpPr>
        <p:spPr>
          <a:xfrm>
            <a:off x="7987591" y="5475148"/>
            <a:ext cx="2350907" cy="280282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en-US" altLang="ko-KR" sz="1400" dirty="0"/>
              <a:t>④ </a:t>
            </a:r>
            <a:r>
              <a:rPr lang="ko-KR" altLang="en-US" sz="1400" dirty="0"/>
              <a:t>정정청구</a:t>
            </a:r>
            <a:r>
              <a:rPr lang="en-US" altLang="ko-KR" sz="1400" dirty="0"/>
              <a:t>(</a:t>
            </a:r>
            <a:r>
              <a:rPr lang="ko-KR" altLang="en-US" sz="1400" dirty="0"/>
              <a:t>요건</a:t>
            </a:r>
            <a:r>
              <a:rPr lang="en-US" altLang="ko-KR" sz="1400" dirty="0"/>
              <a:t>/</a:t>
            </a:r>
            <a:r>
              <a:rPr lang="ko-KR" altLang="en-US" sz="1400" dirty="0"/>
              <a:t>절차</a:t>
            </a:r>
            <a:r>
              <a:rPr lang="en-US" altLang="ko-KR" sz="1400" dirty="0"/>
              <a:t>/</a:t>
            </a:r>
            <a:r>
              <a:rPr lang="ko-KR" altLang="en-US" sz="1400" dirty="0"/>
              <a:t>효과</a:t>
            </a:r>
            <a:r>
              <a:rPr lang="en-US" altLang="ko-KR" sz="1400" dirty="0"/>
              <a:t>)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AD347D5E-FCF7-7A0D-9C92-3112FC703FA6}"/>
              </a:ext>
            </a:extLst>
          </p:cNvPr>
          <p:cNvSpPr txBox="1"/>
          <p:nvPr/>
        </p:nvSpPr>
        <p:spPr>
          <a:xfrm>
            <a:off x="7987591" y="5794297"/>
            <a:ext cx="2350907" cy="280282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tIns="0" bIns="0">
            <a:noAutofit/>
          </a:bodyPr>
          <a:lstStyle/>
          <a:p>
            <a:r>
              <a:rPr lang="ko-KR" altLang="en-US" sz="1400" kern="1200" dirty="0">
                <a:effectLst/>
                <a:latin typeface="+mn-lt"/>
                <a:ea typeface="+mn-ea"/>
                <a:cs typeface="+mn-cs"/>
              </a:rPr>
              <a:t>⑤</a:t>
            </a:r>
            <a:r>
              <a:rPr lang="en-US" altLang="ko-KR" sz="1400" dirty="0"/>
              <a:t> </a:t>
            </a:r>
            <a:r>
              <a:rPr lang="ko-KR" altLang="en-US" sz="1400" dirty="0"/>
              <a:t>효과</a:t>
            </a:r>
            <a:endParaRPr lang="en-US" altLang="ko-KR" sz="1400" dirty="0"/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425483DF-A5B6-6E95-3401-4EEC52817C36}"/>
              </a:ext>
            </a:extLst>
          </p:cNvPr>
          <p:cNvCxnSpPr>
            <a:cxnSpLocks/>
            <a:stCxn id="35" idx="3"/>
            <a:endCxn id="112" idx="1"/>
          </p:cNvCxnSpPr>
          <p:nvPr/>
        </p:nvCxnSpPr>
        <p:spPr>
          <a:xfrm>
            <a:off x="6033203" y="1835316"/>
            <a:ext cx="1954388" cy="34738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5774FEF6-C9AA-994A-81C7-7126378C6ACE}"/>
              </a:ext>
            </a:extLst>
          </p:cNvPr>
          <p:cNvCxnSpPr>
            <a:stCxn id="36" idx="3"/>
            <a:endCxn id="113" idx="1"/>
          </p:cNvCxnSpPr>
          <p:nvPr/>
        </p:nvCxnSpPr>
        <p:spPr>
          <a:xfrm>
            <a:off x="6033203" y="2158855"/>
            <a:ext cx="1954388" cy="34564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CB39A155-A819-D932-D5F2-336A34BFD3E4}"/>
              </a:ext>
            </a:extLst>
          </p:cNvPr>
          <p:cNvCxnSpPr>
            <a:stCxn id="37" idx="3"/>
            <a:endCxn id="113" idx="1"/>
          </p:cNvCxnSpPr>
          <p:nvPr/>
        </p:nvCxnSpPr>
        <p:spPr>
          <a:xfrm>
            <a:off x="6033203" y="2469890"/>
            <a:ext cx="1954388" cy="314539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>
            <a:extLst>
              <a:ext uri="{FF2B5EF4-FFF2-40B4-BE49-F238E27FC236}">
                <a16:creationId xmlns:a16="http://schemas.microsoft.com/office/drawing/2014/main" id="{4510327D-73D0-1038-402D-75223ABE086D}"/>
              </a:ext>
            </a:extLst>
          </p:cNvPr>
          <p:cNvCxnSpPr>
            <a:stCxn id="38" idx="3"/>
            <a:endCxn id="113" idx="1"/>
          </p:cNvCxnSpPr>
          <p:nvPr/>
        </p:nvCxnSpPr>
        <p:spPr>
          <a:xfrm>
            <a:off x="6033203" y="2775971"/>
            <a:ext cx="1954388" cy="283931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D13F439B-3ABB-D4EF-2672-3840F9CA7F75}"/>
              </a:ext>
            </a:extLst>
          </p:cNvPr>
          <p:cNvCxnSpPr>
            <a:stCxn id="39" idx="3"/>
            <a:endCxn id="113" idx="1"/>
          </p:cNvCxnSpPr>
          <p:nvPr/>
        </p:nvCxnSpPr>
        <p:spPr>
          <a:xfrm>
            <a:off x="6033203" y="3095120"/>
            <a:ext cx="1954388" cy="25201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도넛 82">
            <a:extLst>
              <a:ext uri="{FF2B5EF4-FFF2-40B4-BE49-F238E27FC236}">
                <a16:creationId xmlns:a16="http://schemas.microsoft.com/office/drawing/2014/main" id="{039F8EFE-9B83-D0FB-5947-60B624650551}"/>
              </a:ext>
            </a:extLst>
          </p:cNvPr>
          <p:cNvSpPr/>
          <p:nvPr/>
        </p:nvSpPr>
        <p:spPr>
          <a:xfrm>
            <a:off x="7010397" y="3657336"/>
            <a:ext cx="199609" cy="184678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32" name="도넛 82">
            <a:extLst>
              <a:ext uri="{FF2B5EF4-FFF2-40B4-BE49-F238E27FC236}">
                <a16:creationId xmlns:a16="http://schemas.microsoft.com/office/drawing/2014/main" id="{88165DC9-3382-0FFA-F99A-A3C855723FCF}"/>
              </a:ext>
            </a:extLst>
          </p:cNvPr>
          <p:cNvSpPr/>
          <p:nvPr/>
        </p:nvSpPr>
        <p:spPr>
          <a:xfrm>
            <a:off x="7815957" y="5468596"/>
            <a:ext cx="324219" cy="299967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6408736F-101C-E786-9FB9-CCAC8C883CE7}"/>
              </a:ext>
            </a:extLst>
          </p:cNvPr>
          <p:cNvCxnSpPr>
            <a:stCxn id="35" idx="3"/>
            <a:endCxn id="103" idx="1"/>
          </p:cNvCxnSpPr>
          <p:nvPr/>
        </p:nvCxnSpPr>
        <p:spPr>
          <a:xfrm>
            <a:off x="6033203" y="1835316"/>
            <a:ext cx="195438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ADA88D2B-563A-31EA-DACA-EDE84EF966EC}"/>
              </a:ext>
            </a:extLst>
          </p:cNvPr>
          <p:cNvCxnSpPr>
            <a:stCxn id="36" idx="3"/>
            <a:endCxn id="104" idx="1"/>
          </p:cNvCxnSpPr>
          <p:nvPr/>
        </p:nvCxnSpPr>
        <p:spPr>
          <a:xfrm>
            <a:off x="6033203" y="2158855"/>
            <a:ext cx="195438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7E748A12-B58B-FF1E-7D94-C8A1AA0C6AC6}"/>
              </a:ext>
            </a:extLst>
          </p:cNvPr>
          <p:cNvCxnSpPr>
            <a:stCxn id="38" idx="3"/>
            <a:endCxn id="105" idx="1"/>
          </p:cNvCxnSpPr>
          <p:nvPr/>
        </p:nvCxnSpPr>
        <p:spPr>
          <a:xfrm flipV="1">
            <a:off x="6033203" y="2469890"/>
            <a:ext cx="1954388" cy="30608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70521846-8758-2C3A-8D57-A7B5C4E51747}"/>
              </a:ext>
            </a:extLst>
          </p:cNvPr>
          <p:cNvCxnSpPr>
            <a:stCxn id="39" idx="3"/>
            <a:endCxn id="106" idx="1"/>
          </p:cNvCxnSpPr>
          <p:nvPr/>
        </p:nvCxnSpPr>
        <p:spPr>
          <a:xfrm flipV="1">
            <a:off x="6033203" y="2775971"/>
            <a:ext cx="1954388" cy="31914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335F754-F26E-7BF8-4C8A-263982DC6DEC}"/>
              </a:ext>
            </a:extLst>
          </p:cNvPr>
          <p:cNvCxnSpPr>
            <a:stCxn id="40" idx="3"/>
            <a:endCxn id="107" idx="1"/>
          </p:cNvCxnSpPr>
          <p:nvPr/>
        </p:nvCxnSpPr>
        <p:spPr>
          <a:xfrm flipV="1">
            <a:off x="6033203" y="3095120"/>
            <a:ext cx="1954388" cy="32353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곱셈 기호 85">
            <a:extLst>
              <a:ext uri="{FF2B5EF4-FFF2-40B4-BE49-F238E27FC236}">
                <a16:creationId xmlns:a16="http://schemas.microsoft.com/office/drawing/2014/main" id="{0DDEB86E-F58B-BA97-6601-5C9372FA1AE0}"/>
              </a:ext>
            </a:extLst>
          </p:cNvPr>
          <p:cNvSpPr/>
          <p:nvPr/>
        </p:nvSpPr>
        <p:spPr>
          <a:xfrm>
            <a:off x="7010397" y="1662719"/>
            <a:ext cx="311205" cy="316567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44" name="도넛 82">
            <a:extLst>
              <a:ext uri="{FF2B5EF4-FFF2-40B4-BE49-F238E27FC236}">
                <a16:creationId xmlns:a16="http://schemas.microsoft.com/office/drawing/2014/main" id="{CC23F2DF-7F73-F520-5578-77B46604DB28}"/>
              </a:ext>
            </a:extLst>
          </p:cNvPr>
          <p:cNvSpPr/>
          <p:nvPr/>
        </p:nvSpPr>
        <p:spPr>
          <a:xfrm>
            <a:off x="7066194" y="2071470"/>
            <a:ext cx="199609" cy="184678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45" name="도넛 82">
            <a:extLst>
              <a:ext uri="{FF2B5EF4-FFF2-40B4-BE49-F238E27FC236}">
                <a16:creationId xmlns:a16="http://schemas.microsoft.com/office/drawing/2014/main" id="{CB303E5A-105F-50AE-6F64-EBE6A67FB7BC}"/>
              </a:ext>
            </a:extLst>
          </p:cNvPr>
          <p:cNvSpPr/>
          <p:nvPr/>
        </p:nvSpPr>
        <p:spPr>
          <a:xfrm>
            <a:off x="7066194" y="2490838"/>
            <a:ext cx="199609" cy="184678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46" name="도넛 82">
            <a:extLst>
              <a:ext uri="{FF2B5EF4-FFF2-40B4-BE49-F238E27FC236}">
                <a16:creationId xmlns:a16="http://schemas.microsoft.com/office/drawing/2014/main" id="{0B65C741-FA24-475E-2512-F19723064AF1}"/>
              </a:ext>
            </a:extLst>
          </p:cNvPr>
          <p:cNvSpPr/>
          <p:nvPr/>
        </p:nvSpPr>
        <p:spPr>
          <a:xfrm>
            <a:off x="7066194" y="2805035"/>
            <a:ext cx="199609" cy="184678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147" name="도넛 82">
            <a:extLst>
              <a:ext uri="{FF2B5EF4-FFF2-40B4-BE49-F238E27FC236}">
                <a16:creationId xmlns:a16="http://schemas.microsoft.com/office/drawing/2014/main" id="{72D4E1E6-8071-BF5F-D2CA-66275D2B7118}"/>
              </a:ext>
            </a:extLst>
          </p:cNvPr>
          <p:cNvSpPr/>
          <p:nvPr/>
        </p:nvSpPr>
        <p:spPr>
          <a:xfrm>
            <a:off x="7066194" y="3118185"/>
            <a:ext cx="199609" cy="184678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304046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178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185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재심에 대한 조문정리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75" y="986046"/>
            <a:ext cx="1193632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178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재심의 청구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당사자는 확정된 특허취소결정 또는 확정된 </a:t>
            </a:r>
            <a:r>
              <a:rPr lang="ko-KR" altLang="en-US" sz="1400" dirty="0" err="1">
                <a:solidFill>
                  <a:schemeClr val="tx2"/>
                </a:solidFill>
              </a:rPr>
              <a:t>심결에</a:t>
            </a:r>
            <a:r>
              <a:rPr lang="ko-KR" altLang="en-US" sz="1400" dirty="0">
                <a:solidFill>
                  <a:schemeClr val="tx2"/>
                </a:solidFill>
              </a:rPr>
              <a:t> 대하여 재심을 청구할 수 있다</a:t>
            </a:r>
            <a:r>
              <a:rPr lang="en-US" altLang="ko-KR" sz="1400" dirty="0">
                <a:solidFill>
                  <a:schemeClr val="tx2"/>
                </a:solidFill>
              </a:rPr>
              <a:t>.  &lt;</a:t>
            </a:r>
            <a:r>
              <a:rPr lang="ko-KR" altLang="en-US" sz="1400" dirty="0">
                <a:solidFill>
                  <a:schemeClr val="tx2"/>
                </a:solidFill>
              </a:rPr>
              <a:t>개정 </a:t>
            </a:r>
            <a:r>
              <a:rPr lang="en-US" altLang="ko-KR" sz="1400" dirty="0">
                <a:solidFill>
                  <a:schemeClr val="tx2"/>
                </a:solidFill>
              </a:rPr>
              <a:t>2016.2.29.&gt;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재심청구에 관하여는 「민사소송법」 제</a:t>
            </a:r>
            <a:r>
              <a:rPr lang="en-US" altLang="ko-KR" sz="1400" dirty="0">
                <a:solidFill>
                  <a:schemeClr val="tx2"/>
                </a:solidFill>
              </a:rPr>
              <a:t>451</a:t>
            </a:r>
            <a:r>
              <a:rPr lang="ko-KR" altLang="en-US" sz="1400" dirty="0">
                <a:solidFill>
                  <a:schemeClr val="tx2"/>
                </a:solidFill>
              </a:rPr>
              <a:t>조 및 제</a:t>
            </a:r>
            <a:r>
              <a:rPr lang="en-US" altLang="ko-KR" sz="1400" dirty="0">
                <a:solidFill>
                  <a:schemeClr val="tx2"/>
                </a:solidFill>
              </a:rPr>
              <a:t>453</a:t>
            </a:r>
            <a:r>
              <a:rPr lang="ko-KR" altLang="en-US" sz="1400" dirty="0">
                <a:solidFill>
                  <a:schemeClr val="tx2"/>
                </a:solidFill>
              </a:rPr>
              <a:t>조를 준용한다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179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3</a:t>
            </a:r>
            <a:r>
              <a:rPr lang="ko-KR" altLang="en-US" sz="1400" b="1" dirty="0">
                <a:solidFill>
                  <a:schemeClr val="accent1"/>
                </a:solidFill>
              </a:rPr>
              <a:t>자에 의한 재심청구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심판의 당사자가 공모하여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자의 권리나 이익을 사해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詐害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할 목적으로 </a:t>
            </a:r>
            <a:r>
              <a:rPr lang="ko-KR" altLang="en-US" sz="1400" dirty="0" err="1">
                <a:solidFill>
                  <a:schemeClr val="tx2"/>
                </a:solidFill>
              </a:rPr>
              <a:t>심결을</a:t>
            </a:r>
            <a:r>
              <a:rPr lang="ko-KR" altLang="en-US" sz="1400" dirty="0">
                <a:solidFill>
                  <a:schemeClr val="tx2"/>
                </a:solidFill>
              </a:rPr>
              <a:t> 하게 하였을 때에는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자는 그 확정된 </a:t>
            </a:r>
            <a:r>
              <a:rPr lang="ko-KR" altLang="en-US" sz="1400" dirty="0" err="1">
                <a:solidFill>
                  <a:schemeClr val="tx2"/>
                </a:solidFill>
              </a:rPr>
              <a:t>심결에</a:t>
            </a:r>
            <a:r>
              <a:rPr lang="ko-KR" altLang="en-US" sz="1400" dirty="0">
                <a:solidFill>
                  <a:schemeClr val="tx2"/>
                </a:solidFill>
              </a:rPr>
              <a:t> 대하여 재심을 청구할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재심청구의 경우에는 심판의 당사자를 공동피청구인으로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180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재심청구의 기간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당사자는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확정 후 재심사유를 안 날부터 </a:t>
            </a:r>
            <a:r>
              <a:rPr lang="en-US" altLang="ko-KR" sz="1400" dirty="0">
                <a:solidFill>
                  <a:schemeClr val="tx2"/>
                </a:solidFill>
              </a:rPr>
              <a:t>30</a:t>
            </a:r>
            <a:r>
              <a:rPr lang="ko-KR" altLang="en-US" sz="1400" dirty="0">
                <a:solidFill>
                  <a:schemeClr val="tx2"/>
                </a:solidFill>
              </a:rPr>
              <a:t>일 이내에 재심을 청구하여야 한다</a:t>
            </a:r>
            <a:r>
              <a:rPr lang="en-US" altLang="ko-KR" sz="1400" dirty="0">
                <a:solidFill>
                  <a:schemeClr val="tx2"/>
                </a:solidFill>
              </a:rPr>
              <a:t>.  &lt;</a:t>
            </a:r>
            <a:r>
              <a:rPr lang="ko-KR" altLang="en-US" sz="1400" dirty="0">
                <a:solidFill>
                  <a:schemeClr val="tx2"/>
                </a:solidFill>
              </a:rPr>
              <a:t>개정 </a:t>
            </a:r>
            <a:r>
              <a:rPr lang="en-US" altLang="ko-KR" sz="1400" dirty="0">
                <a:solidFill>
                  <a:schemeClr val="tx2"/>
                </a:solidFill>
              </a:rPr>
              <a:t>2016.2.29.&gt;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대리권의 흠을 이유로 재심을 청구하는 경우에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기간은 청구인 또는 법정대리인이 특허취소결정등본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심결등본의</a:t>
            </a:r>
            <a:r>
              <a:rPr lang="ko-KR" altLang="en-US" sz="1400" dirty="0">
                <a:solidFill>
                  <a:schemeClr val="tx2"/>
                </a:solidFill>
              </a:rPr>
              <a:t> 송달에 의하여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있는 것을 안 날의 다음 날부터 기산한다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확정 후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년이 지나면 재심을 청구할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재심사유가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확정 후에 생겼을 때에는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항의 기간은 그 사유가 발생한 날의 다음 날부터 기산한다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⑤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및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항은 해당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이전의 </a:t>
            </a:r>
            <a:r>
              <a:rPr lang="ko-KR" altLang="en-US" sz="1400" dirty="0" err="1">
                <a:solidFill>
                  <a:schemeClr val="tx2"/>
                </a:solidFill>
              </a:rPr>
              <a:t>확정심결에</a:t>
            </a:r>
            <a:r>
              <a:rPr lang="ko-KR" altLang="en-US" sz="1400" dirty="0">
                <a:solidFill>
                  <a:schemeClr val="tx2"/>
                </a:solidFill>
              </a:rPr>
              <a:t> 저촉된다는 이유로 재심을 청구하는 경우에는 적용하지 아니한다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181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재심에 의하여 회복된 특허권의 효력 제한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 ① </a:t>
            </a:r>
            <a:r>
              <a:rPr lang="ko-KR" altLang="en-US" sz="1400" dirty="0">
                <a:solidFill>
                  <a:schemeClr val="tx2"/>
                </a:solidFill>
              </a:rPr>
              <a:t>다음 각 호의 어느 하나에 해당하는 경우에 특허권의 효력은 해당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후 재심청구 등록 전에 선의로 수출 또는 수입하거나 국내에서 생산 또는 취득한 물건에는 미치지 아니한다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무효가 된 특허권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존속기간이 </a:t>
            </a:r>
            <a:r>
              <a:rPr lang="ko-KR" altLang="en-US" sz="1400" dirty="0" err="1">
                <a:solidFill>
                  <a:schemeClr val="tx2"/>
                </a:solidFill>
              </a:rPr>
              <a:t>연장등록된</a:t>
            </a:r>
            <a:r>
              <a:rPr lang="ko-KR" altLang="en-US" sz="1400" dirty="0">
                <a:solidFill>
                  <a:schemeClr val="tx2"/>
                </a:solidFill>
              </a:rPr>
              <a:t> 특허권을 포함한다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이 재심에 의하여 회복된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특허권의 권리범위에 속하지 아니한다는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후 재심에 의하여 그 </a:t>
            </a:r>
            <a:r>
              <a:rPr lang="ko-KR" altLang="en-US" sz="1400" dirty="0" err="1">
                <a:solidFill>
                  <a:schemeClr val="tx2"/>
                </a:solidFill>
              </a:rPr>
              <a:t>심결과</a:t>
            </a:r>
            <a:r>
              <a:rPr lang="ko-KR" altLang="en-US" sz="1400" dirty="0">
                <a:solidFill>
                  <a:schemeClr val="tx2"/>
                </a:solidFill>
              </a:rPr>
              <a:t> 상반되는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거절한다는 취지의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있었던 특허출원 또는 특허권의 존속기간의 연장등록출원이 재심에 의하여 특허권의 설정등록 또는 특허권의 존속기간의 연장등록이 된 경우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4. </a:t>
            </a:r>
            <a:r>
              <a:rPr lang="ko-KR" altLang="en-US" sz="1400" dirty="0">
                <a:solidFill>
                  <a:schemeClr val="tx2"/>
                </a:solidFill>
              </a:rPr>
              <a:t>취소된 특허권이 재심에 의하여 회복된 경우</a:t>
            </a: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어느 하나에 해당하는 경우의 특허권의 효력은 다음 각 호의 어느 하나의 행위에 미치지 아니한다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해당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후 재심청구 등록 전에 한 해당 발명의 선의의 실시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특허가 물건의 발명인 경우에는 그 물건의 생산에만 사용하는 물건을 해당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후 재심청구 등록 전에 선의로 </a:t>
            </a:r>
            <a:r>
              <a:rPr lang="ko-KR" altLang="en-US" sz="1400" dirty="0" err="1">
                <a:solidFill>
                  <a:schemeClr val="tx2"/>
                </a:solidFill>
              </a:rPr>
              <a:t>생산ㆍ양도ㆍ대여ㆍ수출</a:t>
            </a:r>
            <a:r>
              <a:rPr lang="ko-KR" altLang="en-US" sz="1400" dirty="0">
                <a:solidFill>
                  <a:schemeClr val="tx2"/>
                </a:solidFill>
              </a:rPr>
              <a:t> 또는 수입하거나 양도 또는 대여의 청약을 하는 행위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특허가 방법의 발명인 경우에는 그 방법의 실시에만 사용하는 물건을 해당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후 재심청구 등록 전에 선의로 </a:t>
            </a:r>
            <a:r>
              <a:rPr lang="ko-KR" altLang="en-US" sz="1400" dirty="0" err="1">
                <a:solidFill>
                  <a:schemeClr val="tx2"/>
                </a:solidFill>
              </a:rPr>
              <a:t>생산ㆍ양도ㆍ대여ㆍ수출</a:t>
            </a:r>
            <a:r>
              <a:rPr lang="ko-KR" altLang="en-US" sz="1400" dirty="0">
                <a:solidFill>
                  <a:schemeClr val="tx2"/>
                </a:solidFill>
              </a:rPr>
              <a:t> 또는 수입하거나 양도 또는 대여를 청약하는 행위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513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436710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178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185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재심에 대한 조문정리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75" y="951542"/>
            <a:ext cx="119363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182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재심에 의하여 회복한 특허권에 대한 선사용자의 </a:t>
            </a:r>
            <a:r>
              <a:rPr lang="ko-KR" altLang="en-US" sz="1400" b="1" dirty="0" err="1">
                <a:solidFill>
                  <a:schemeClr val="accent1"/>
                </a:solidFill>
              </a:rPr>
              <a:t>통상실시권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181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어느 하나에 해당하는 경우에 해당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후 재심청구 등록 전에 국내에서 선의로 그 발명의 실시사업을 하고 있는 자 또는 그 사업을 준비하고 있는 자는 실시하고 있거나 준비하고 있는 발명 및 사업목적의 범위에서 그 특허권에 관하여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통상실시권을</a:t>
            </a:r>
            <a:r>
              <a:rPr lang="ko-KR" altLang="en-US" sz="1400" dirty="0">
                <a:solidFill>
                  <a:schemeClr val="tx2"/>
                </a:solidFill>
              </a:rPr>
              <a:t> 가진다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183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재심에 의하여 </a:t>
            </a:r>
            <a:r>
              <a:rPr lang="ko-KR" altLang="en-US" sz="1400" b="1" dirty="0" err="1">
                <a:solidFill>
                  <a:schemeClr val="accent1"/>
                </a:solidFill>
              </a:rPr>
              <a:t>통상실시권을</a:t>
            </a:r>
            <a:r>
              <a:rPr lang="ko-KR" altLang="en-US" sz="1400" b="1" dirty="0">
                <a:solidFill>
                  <a:schemeClr val="accent1"/>
                </a:solidFill>
              </a:rPr>
              <a:t> 상실한 </a:t>
            </a:r>
            <a:r>
              <a:rPr lang="ko-KR" altLang="en-US" sz="1400" b="1" dirty="0" err="1">
                <a:solidFill>
                  <a:schemeClr val="accent1"/>
                </a:solidFill>
              </a:rPr>
              <a:t>원권리자의</a:t>
            </a:r>
            <a:r>
              <a:rPr lang="ko-KR" altLang="en-US" sz="1400" b="1" dirty="0">
                <a:solidFill>
                  <a:schemeClr val="accent1"/>
                </a:solidFill>
              </a:rPr>
              <a:t> </a:t>
            </a:r>
            <a:r>
              <a:rPr lang="ko-KR" altLang="en-US" sz="1400" b="1" dirty="0" err="1">
                <a:solidFill>
                  <a:schemeClr val="accent1"/>
                </a:solidFill>
              </a:rPr>
              <a:t>통상실시권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138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또는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따라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통상실시권을</a:t>
            </a:r>
            <a:r>
              <a:rPr lang="ko-KR" altLang="en-US" sz="1400" dirty="0">
                <a:solidFill>
                  <a:schemeClr val="tx2"/>
                </a:solidFill>
              </a:rPr>
              <a:t> 허락한다는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후 재심에서 그 </a:t>
            </a:r>
            <a:r>
              <a:rPr lang="ko-KR" altLang="en-US" sz="1400" dirty="0" err="1">
                <a:solidFill>
                  <a:schemeClr val="tx2"/>
                </a:solidFill>
              </a:rPr>
              <a:t>심결과</a:t>
            </a:r>
            <a:r>
              <a:rPr lang="ko-KR" altLang="en-US" sz="1400" dirty="0">
                <a:solidFill>
                  <a:schemeClr val="tx2"/>
                </a:solidFill>
              </a:rPr>
              <a:t> 상반되는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경우에는 재심청구 등록 전에 선의로 국내에서 그 발명의 실시사업을 하고 있는 자 또는 그 사업을 준비하고 있는 자는 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原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통상실시권의</a:t>
            </a:r>
            <a:r>
              <a:rPr lang="ko-KR" altLang="en-US" sz="1400" dirty="0">
                <a:solidFill>
                  <a:schemeClr val="tx2"/>
                </a:solidFill>
              </a:rPr>
              <a:t> 사업목적 및 발명의 범위에서 그 특허권 또는 재심의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당시에 존재하는 </a:t>
            </a:r>
            <a:r>
              <a:rPr lang="ko-KR" altLang="en-US" sz="1400" dirty="0" err="1">
                <a:solidFill>
                  <a:schemeClr val="tx2"/>
                </a:solidFill>
              </a:rPr>
              <a:t>전용실시권에</a:t>
            </a:r>
            <a:r>
              <a:rPr lang="ko-KR" altLang="en-US" sz="1400" dirty="0">
                <a:solidFill>
                  <a:schemeClr val="tx2"/>
                </a:solidFill>
              </a:rPr>
              <a:t> 대하여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통상실시권을</a:t>
            </a:r>
            <a:r>
              <a:rPr lang="ko-KR" altLang="en-US" sz="1400" dirty="0">
                <a:solidFill>
                  <a:schemeClr val="tx2"/>
                </a:solidFill>
              </a:rPr>
              <a:t> 가진다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</a:t>
            </a:r>
            <a:r>
              <a:rPr lang="ko-KR" altLang="en-US" sz="1400" dirty="0" err="1">
                <a:solidFill>
                  <a:schemeClr val="tx2"/>
                </a:solidFill>
              </a:rPr>
              <a:t>통상실시권을</a:t>
            </a:r>
            <a:r>
              <a:rPr lang="ko-KR" altLang="en-US" sz="1400" dirty="0">
                <a:solidFill>
                  <a:schemeClr val="tx2"/>
                </a:solidFill>
              </a:rPr>
              <a:t> 가진 자는 </a:t>
            </a:r>
            <a:r>
              <a:rPr lang="ko-KR" altLang="en-US" sz="1400" dirty="0" err="1">
                <a:solidFill>
                  <a:schemeClr val="tx2"/>
                </a:solidFill>
              </a:rPr>
              <a:t>특허권자</a:t>
            </a:r>
            <a:r>
              <a:rPr lang="ko-KR" altLang="en-US" sz="1400" dirty="0">
                <a:solidFill>
                  <a:schemeClr val="tx2"/>
                </a:solidFill>
              </a:rPr>
              <a:t> 또는 </a:t>
            </a:r>
            <a:r>
              <a:rPr lang="ko-KR" altLang="en-US" sz="1400" dirty="0" err="1">
                <a:solidFill>
                  <a:schemeClr val="tx2"/>
                </a:solidFill>
              </a:rPr>
              <a:t>전용실시권자에게</a:t>
            </a:r>
            <a:r>
              <a:rPr lang="ko-KR" altLang="en-US" sz="1400" dirty="0">
                <a:solidFill>
                  <a:schemeClr val="tx2"/>
                </a:solidFill>
              </a:rPr>
              <a:t> 상당한 대가를 지급하여야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184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재심에서의 심판규정 등의 준용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특허취소결정 또는 심판에 대한 재심의 절차에 관하여는 그 성질에 반하지 아니하는 범위에서 특허취소신청 또는 심판의 절차에 관한 규정을 준용한다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185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「민사소송법」의 준용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tx2"/>
                </a:solidFill>
              </a:rPr>
              <a:t>재심청구에 관하여는 「민사소송법」 제</a:t>
            </a:r>
            <a:r>
              <a:rPr lang="en-US" altLang="ko-KR" sz="1400" dirty="0">
                <a:solidFill>
                  <a:schemeClr val="tx2"/>
                </a:solidFill>
              </a:rPr>
              <a:t>459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항을 준용한다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77875" y="317130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523827"/>
              </p:ext>
            </p:extLst>
          </p:nvPr>
        </p:nvGraphicFramePr>
        <p:xfrm>
          <a:off x="77875" y="3272767"/>
          <a:ext cx="6564465" cy="3516178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17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17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3002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구분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내 용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471" marR="15471" marT="15471" marB="15471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515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의의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확정된 특허취소결정 또는 </a:t>
                      </a:r>
                      <a:r>
                        <a:rPr lang="ko-KR" altLang="en-US" sz="1200" kern="1200" dirty="0" err="1"/>
                        <a:t>심결에</a:t>
                      </a:r>
                      <a:r>
                        <a:rPr lang="ko-KR" altLang="en-US" sz="1200" kern="1200" dirty="0"/>
                        <a:t> 대한 비상의 불복방법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178</a:t>
                      </a:r>
                      <a:r>
                        <a:rPr lang="ko-KR" altLang="en-US" sz="1200" kern="1200" dirty="0"/>
                        <a:t>①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/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 err="1"/>
                        <a:t>원특허취소결정</a:t>
                      </a:r>
                      <a:r>
                        <a:rPr lang="ko-KR" altLang="en-US" sz="1200" kern="1200" dirty="0"/>
                        <a:t> 또는 </a:t>
                      </a:r>
                      <a:r>
                        <a:rPr lang="ko-KR" altLang="en-US" sz="1200" kern="1200" dirty="0" err="1"/>
                        <a:t>심결의</a:t>
                      </a:r>
                      <a:r>
                        <a:rPr lang="ko-KR" altLang="en-US" sz="1200" kern="1200" dirty="0"/>
                        <a:t> 취소와 </a:t>
                      </a:r>
                      <a:r>
                        <a:rPr lang="ko-KR" altLang="en-US" sz="1200" kern="1200" dirty="0" err="1"/>
                        <a:t>재심판을</a:t>
                      </a:r>
                      <a:r>
                        <a:rPr lang="ko-KR" altLang="en-US" sz="1200" kern="1200" dirty="0"/>
                        <a:t> 구함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471" marR="15471" marT="15471" marB="1547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002">
                <a:tc grid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취지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법적 안정성의 바탕 위에 구체적 타당성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재심</a:t>
                      </a:r>
                      <a:r>
                        <a:rPr lang="en-US" altLang="ko-KR" sz="1200" kern="1200" dirty="0"/>
                        <a:t>)</a:t>
                      </a:r>
                      <a:r>
                        <a:rPr lang="ko-KR" altLang="en-US" sz="1200" kern="1200" dirty="0"/>
                        <a:t>의 확보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471" marR="15471" marT="15471" marB="1547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002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요건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관할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특허심판원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178</a:t>
                      </a:r>
                      <a:r>
                        <a:rPr lang="ko-KR" altLang="en-US" sz="1200" kern="1200" dirty="0"/>
                        <a:t>② 준용 </a:t>
                      </a:r>
                      <a:r>
                        <a:rPr lang="ko-KR" altLang="en-US" sz="1200" kern="1200" dirty="0" err="1"/>
                        <a:t>民訴法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453)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471" marR="15471" marT="15471" marB="1547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5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재심사유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일반재심사유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178</a:t>
                      </a:r>
                      <a:r>
                        <a:rPr lang="ko-KR" altLang="en-US" sz="1200" kern="1200" dirty="0"/>
                        <a:t>② 준용 </a:t>
                      </a:r>
                      <a:r>
                        <a:rPr lang="ko-KR" altLang="en-US" sz="1200" kern="1200" dirty="0" err="1"/>
                        <a:t>民訴法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en-US" altLang="ko-KR" sz="1200" kern="1200" dirty="0"/>
                        <a:t>451)</a:t>
                      </a:r>
                      <a:endParaRPr lang="ko-KR" altLang="en-US" sz="1200" kern="1200" dirty="0"/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 err="1"/>
                        <a:t>사해심결에</a:t>
                      </a:r>
                      <a:r>
                        <a:rPr lang="ko-KR" altLang="en-US" sz="1200" kern="1200" dirty="0"/>
                        <a:t> 대한 재심사유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179)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471" marR="15471" marT="15471" marB="1547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5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재심청구</a:t>
                      </a:r>
                      <a:endParaRPr lang="en-US" altLang="ko-KR" sz="1200" kern="1200" dirty="0"/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기간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원칙 </a:t>
                      </a:r>
                      <a:r>
                        <a:rPr lang="en-US" altLang="ko-KR" sz="1200" kern="1200" dirty="0"/>
                        <a:t>- 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180</a:t>
                      </a:r>
                      <a:r>
                        <a:rPr lang="ko-KR" altLang="en-US" sz="1200" kern="1200" dirty="0"/>
                        <a:t>①③</a:t>
                      </a:r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2. </a:t>
                      </a:r>
                      <a:r>
                        <a:rPr lang="ko-KR" altLang="en-US" sz="1200" kern="1200" dirty="0"/>
                        <a:t>예외 </a:t>
                      </a:r>
                      <a:r>
                        <a:rPr lang="en-US" altLang="ko-KR" sz="1200" kern="1200" dirty="0"/>
                        <a:t>- 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180</a:t>
                      </a:r>
                      <a:r>
                        <a:rPr lang="ko-KR" altLang="en-US" sz="1200" kern="1200" dirty="0"/>
                        <a:t>②④⑤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471" marR="15471" marT="15471" marB="15471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002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절차 및 효과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공통점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원심판절차</a:t>
                      </a:r>
                      <a:r>
                        <a:rPr lang="ko-KR" altLang="en-US" sz="1200" kern="1200" dirty="0"/>
                        <a:t> 준용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184)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471" marR="15471" marT="15471" marB="15471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85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차이점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절차</a:t>
                      </a:r>
                      <a:endParaRPr lang="ko-KR" altLang="en-US" sz="12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>
                  <a:txBody>
                    <a:bodyPr/>
                    <a:lstStyle/>
                    <a:p>
                      <a:pPr marL="180975" marR="31750" indent="-149225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1. </a:t>
                      </a:r>
                      <a:r>
                        <a:rPr lang="ko-KR" altLang="en-US" sz="1200" kern="1200" dirty="0"/>
                        <a:t>심리순서 </a:t>
                      </a:r>
                      <a:r>
                        <a:rPr lang="en-US" altLang="ko-KR" sz="1200" kern="1200" dirty="0"/>
                        <a:t>- </a:t>
                      </a:r>
                      <a:r>
                        <a:rPr lang="ko-KR" altLang="en-US" sz="1200" kern="1200" dirty="0"/>
                        <a:t>방식심리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적법성 심리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재심사유의 </a:t>
                      </a:r>
                      <a:r>
                        <a:rPr lang="ko-KR" altLang="en-US" sz="1200" kern="1200" dirty="0" err="1"/>
                        <a:t>존부확인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 err="1"/>
                        <a:t>원특허취소결정</a:t>
                      </a:r>
                      <a:r>
                        <a:rPr lang="ko-KR" altLang="en-US" sz="1200" kern="1200" dirty="0"/>
                        <a:t> 또는 </a:t>
                      </a:r>
                      <a:r>
                        <a:rPr lang="ko-KR" altLang="en-US" sz="1200" kern="1200" dirty="0" err="1"/>
                        <a:t>심결의</a:t>
                      </a:r>
                      <a:r>
                        <a:rPr lang="ko-KR" altLang="en-US" sz="1200" kern="1200" dirty="0"/>
                        <a:t> 취소</a:t>
                      </a:r>
                      <a:r>
                        <a:rPr lang="en-US" altLang="ko-KR" sz="1200" kern="1200" dirty="0"/>
                        <a:t>), </a:t>
                      </a:r>
                      <a:r>
                        <a:rPr lang="ko-KR" altLang="en-US" sz="1200" kern="1200" dirty="0"/>
                        <a:t>본안심리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 err="1"/>
                        <a:t>재심판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/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</a:rPr>
                        <a:t>2. 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</a:rPr>
                        <a:t>재심사유의 </a:t>
                      </a:r>
                      <a:r>
                        <a:rPr lang="ko-KR" altLang="en-US" sz="1200" kern="1200" dirty="0" err="1">
                          <a:solidFill>
                            <a:srgbClr val="FF0000"/>
                          </a:solidFill>
                        </a:rPr>
                        <a:t>존부확인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ko-KR" sz="1200" kern="1200" dirty="0"/>
                        <a:t>- </a:t>
                      </a:r>
                      <a:r>
                        <a:rPr lang="ko-KR" altLang="en-US" sz="1200" kern="1200" dirty="0"/>
                        <a:t>재심청구이유에 한함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185)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471" marR="15471" marT="15471" marB="15471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10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효과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9001" marR="79001" marT="46633" marB="46633" anchor="ctr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/>
                        <a:t>원심판</a:t>
                      </a:r>
                      <a:r>
                        <a:rPr lang="ko-KR" altLang="en-US" sz="1200" kern="1200" dirty="0"/>
                        <a:t> 효과 이외에 </a:t>
                      </a:r>
                      <a:r>
                        <a:rPr lang="en-US" altLang="ko-KR" sz="1200" kern="1200" dirty="0"/>
                        <a:t>plus </a:t>
                      </a:r>
                      <a:r>
                        <a:rPr lang="ko-KR" altLang="en-US" sz="1200" kern="1200" dirty="0"/>
                        <a:t>효과 발생</a:t>
                      </a:r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/>
                        <a:t>- 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181, 182(</a:t>
                      </a:r>
                      <a:r>
                        <a:rPr lang="ko-KR" altLang="en-US" sz="1200" kern="1200" dirty="0" err="1"/>
                        <a:t>심결확정</a:t>
                      </a:r>
                      <a:r>
                        <a:rPr lang="en-US" altLang="ko-KR" sz="1200" kern="1200" dirty="0"/>
                        <a:t>(3), </a:t>
                      </a:r>
                      <a:r>
                        <a:rPr lang="ko-KR" altLang="en-US" sz="1200" kern="1200" dirty="0"/>
                        <a:t>취소결정확정</a:t>
                      </a:r>
                      <a:r>
                        <a:rPr lang="en-US" altLang="ko-KR" sz="1200" kern="1200" dirty="0"/>
                        <a:t>(1))</a:t>
                      </a:r>
                      <a:endParaRPr lang="ko-KR" altLang="en-US" sz="1200" kern="1200" dirty="0"/>
                    </a:p>
                    <a:p>
                      <a:pPr marL="31750" marR="31750" indent="0" algn="l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200" kern="1200" dirty="0"/>
                        <a:t>- </a:t>
                      </a:r>
                      <a:r>
                        <a:rPr lang="ko-KR" altLang="en-US" sz="1200" kern="1200" dirty="0"/>
                        <a:t>法 </a:t>
                      </a:r>
                      <a:r>
                        <a:rPr lang="en-US" altLang="ko-KR" sz="1200" kern="1200" dirty="0"/>
                        <a:t>183(</a:t>
                      </a:r>
                      <a:r>
                        <a:rPr lang="ko-KR" altLang="en-US" sz="1200" kern="1200" dirty="0" err="1"/>
                        <a:t>심결확정</a:t>
                      </a:r>
                      <a:r>
                        <a:rPr lang="en-US" altLang="ko-KR" sz="1200" kern="1200" dirty="0"/>
                        <a:t>(1)): </a:t>
                      </a:r>
                      <a:r>
                        <a:rPr lang="ko-KR" altLang="en-US" sz="1200" kern="1200" dirty="0"/>
                        <a:t>제</a:t>
                      </a:r>
                      <a:r>
                        <a:rPr lang="en-US" altLang="ko-KR" sz="1200" kern="1200" dirty="0"/>
                        <a:t>98</a:t>
                      </a:r>
                      <a:r>
                        <a:rPr lang="ko-KR" altLang="en-US" sz="1200" kern="1200" dirty="0"/>
                        <a:t>조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제</a:t>
                      </a:r>
                      <a:r>
                        <a:rPr lang="en-US" altLang="ko-KR" sz="1200" kern="1200" dirty="0"/>
                        <a:t>138</a:t>
                      </a:r>
                      <a:r>
                        <a:rPr lang="ko-KR" altLang="en-US" sz="1200" kern="1200" dirty="0"/>
                        <a:t>조</a:t>
                      </a:r>
                      <a:endParaRPr lang="ko-KR" altLang="en-US" sz="12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5471" marR="15471" marT="15471" marB="15471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514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1C2332-8454-E525-88A7-A5CF2048F913}"/>
              </a:ext>
            </a:extLst>
          </p:cNvPr>
          <p:cNvSpPr/>
          <p:nvPr/>
        </p:nvSpPr>
        <p:spPr>
          <a:xfrm>
            <a:off x="9454547" y="3597776"/>
            <a:ext cx="966159" cy="5412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방식심리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52ACCDF-D921-9D4D-B884-96841601040C}"/>
              </a:ext>
            </a:extLst>
          </p:cNvPr>
          <p:cNvSpPr/>
          <p:nvPr/>
        </p:nvSpPr>
        <p:spPr>
          <a:xfrm>
            <a:off x="9454547" y="4479326"/>
            <a:ext cx="966159" cy="54124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재심사유 </a:t>
            </a:r>
            <a:r>
              <a:rPr lang="ko-KR" altLang="en-US" sz="1400" dirty="0" err="1"/>
              <a:t>존부확인</a:t>
            </a:r>
            <a:endParaRPr lang="ko-KR" altLang="en-US" sz="14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02A6D7-46D2-7668-BE45-BD24B2314FFE}"/>
              </a:ext>
            </a:extLst>
          </p:cNvPr>
          <p:cNvSpPr/>
          <p:nvPr/>
        </p:nvSpPr>
        <p:spPr>
          <a:xfrm>
            <a:off x="9454547" y="5428232"/>
            <a:ext cx="966159" cy="54124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본안심리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CDA22D4-6732-6C6F-E51E-CD544CAF88C0}"/>
              </a:ext>
            </a:extLst>
          </p:cNvPr>
          <p:cNvSpPr/>
          <p:nvPr/>
        </p:nvSpPr>
        <p:spPr>
          <a:xfrm>
            <a:off x="8084505" y="4479326"/>
            <a:ext cx="966159" cy="5412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적법성</a:t>
            </a:r>
            <a:endParaRPr lang="en-US" altLang="ko-KR" sz="1400" dirty="0"/>
          </a:p>
          <a:p>
            <a:pPr algn="ctr"/>
            <a:r>
              <a:rPr lang="ko-KR" altLang="en-US" sz="1400" dirty="0"/>
              <a:t>심리</a:t>
            </a:r>
          </a:p>
        </p:txBody>
      </p: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81F71D08-17AB-5FAA-4407-A29B918F8AE1}"/>
              </a:ext>
            </a:extLst>
          </p:cNvPr>
          <p:cNvCxnSpPr>
            <a:stCxn id="6" idx="1"/>
            <a:endCxn id="11" idx="0"/>
          </p:cNvCxnSpPr>
          <p:nvPr/>
        </p:nvCxnSpPr>
        <p:spPr>
          <a:xfrm rot="10800000" flipV="1">
            <a:off x="8567585" y="3868398"/>
            <a:ext cx="886962" cy="61092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F3012A8F-462A-4D05-1E84-E13136237084}"/>
              </a:ext>
            </a:extLst>
          </p:cNvPr>
          <p:cNvCxnSpPr>
            <a:stCxn id="11" idx="2"/>
            <a:endCxn id="9" idx="1"/>
          </p:cNvCxnSpPr>
          <p:nvPr/>
        </p:nvCxnSpPr>
        <p:spPr>
          <a:xfrm rot="16200000" flipH="1">
            <a:off x="8671924" y="4916230"/>
            <a:ext cx="678285" cy="886962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76B05AC-2BE2-D831-84DF-835B672490A4}"/>
              </a:ext>
            </a:extLst>
          </p:cNvPr>
          <p:cNvCxnSpPr>
            <a:stCxn id="11" idx="3"/>
            <a:endCxn id="8" idx="1"/>
          </p:cNvCxnSpPr>
          <p:nvPr/>
        </p:nvCxnSpPr>
        <p:spPr>
          <a:xfrm>
            <a:off x="9050664" y="4749948"/>
            <a:ext cx="403883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92B7054E-E4FB-76F7-1B9D-3C4ECC232D0C}"/>
              </a:ext>
            </a:extLst>
          </p:cNvPr>
          <p:cNvCxnSpPr>
            <a:stCxn id="6" idx="2"/>
            <a:endCxn id="8" idx="0"/>
          </p:cNvCxnSpPr>
          <p:nvPr/>
        </p:nvCxnSpPr>
        <p:spPr>
          <a:xfrm>
            <a:off x="9937627" y="4139019"/>
            <a:ext cx="0" cy="34030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69EFF7A-A238-F65F-404F-179D4D6BE939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9937627" y="5020569"/>
            <a:ext cx="0" cy="40766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A745F3F-1112-B07A-BAF6-DD1820F4402D}"/>
              </a:ext>
            </a:extLst>
          </p:cNvPr>
          <p:cNvSpPr/>
          <p:nvPr/>
        </p:nvSpPr>
        <p:spPr>
          <a:xfrm>
            <a:off x="10754262" y="5557624"/>
            <a:ext cx="966159" cy="282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기각심결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결정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5DB2CA0-F599-6054-D506-EF4664A85829}"/>
              </a:ext>
            </a:extLst>
          </p:cNvPr>
          <p:cNvSpPr/>
          <p:nvPr/>
        </p:nvSpPr>
        <p:spPr>
          <a:xfrm>
            <a:off x="9454547" y="6368510"/>
            <a:ext cx="966159" cy="282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인용심결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취소결정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907A94DB-F09B-BCF6-5230-2DAE19A0C788}"/>
              </a:ext>
            </a:extLst>
          </p:cNvPr>
          <p:cNvCxnSpPr>
            <a:stCxn id="9" idx="3"/>
            <a:endCxn id="28" idx="1"/>
          </p:cNvCxnSpPr>
          <p:nvPr/>
        </p:nvCxnSpPr>
        <p:spPr>
          <a:xfrm>
            <a:off x="10420706" y="5698854"/>
            <a:ext cx="333556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12359E57-E78E-CFB4-FE19-A1FDFDA449AB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9937627" y="5969475"/>
            <a:ext cx="0" cy="32780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6A50414-7446-CBF8-485D-DE1CFE8B5241}"/>
              </a:ext>
            </a:extLst>
          </p:cNvPr>
          <p:cNvSpPr/>
          <p:nvPr/>
        </p:nvSpPr>
        <p:spPr>
          <a:xfrm>
            <a:off x="10754262" y="4608290"/>
            <a:ext cx="966159" cy="282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기각심결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결정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B4C1E1B8-3D66-6ACA-AF93-3D7E8A4F5D98}"/>
              </a:ext>
            </a:extLst>
          </p:cNvPr>
          <p:cNvCxnSpPr>
            <a:cxnSpLocks/>
            <a:stCxn id="8" idx="3"/>
            <a:endCxn id="35" idx="1"/>
          </p:cNvCxnSpPr>
          <p:nvPr/>
        </p:nvCxnSpPr>
        <p:spPr>
          <a:xfrm flipV="1">
            <a:off x="10420706" y="4749520"/>
            <a:ext cx="333556" cy="42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869CB96-E831-A815-1852-4060D67D8BD9}"/>
              </a:ext>
            </a:extLst>
          </p:cNvPr>
          <p:cNvSpPr/>
          <p:nvPr/>
        </p:nvSpPr>
        <p:spPr>
          <a:xfrm>
            <a:off x="10754262" y="3732432"/>
            <a:ext cx="966159" cy="282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각하결정</a:t>
            </a:r>
          </a:p>
        </p:txBody>
      </p: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262F0F60-1A30-21C8-9CF5-50451AB1D7A9}"/>
              </a:ext>
            </a:extLst>
          </p:cNvPr>
          <p:cNvCxnSpPr>
            <a:cxnSpLocks/>
            <a:stCxn id="6" idx="3"/>
            <a:endCxn id="38" idx="1"/>
          </p:cNvCxnSpPr>
          <p:nvPr/>
        </p:nvCxnSpPr>
        <p:spPr>
          <a:xfrm>
            <a:off x="10420706" y="3868398"/>
            <a:ext cx="333556" cy="526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2E80492-A9AE-F070-DA48-CB6BEEF87656}"/>
              </a:ext>
            </a:extLst>
          </p:cNvPr>
          <p:cNvSpPr/>
          <p:nvPr/>
        </p:nvSpPr>
        <p:spPr>
          <a:xfrm>
            <a:off x="6916404" y="4608290"/>
            <a:ext cx="966159" cy="282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각하심결</a:t>
            </a:r>
            <a:endParaRPr lang="en-US" altLang="ko-KR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결정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DFFBE6F0-8F16-0F9E-77B0-D88E5100155C}"/>
              </a:ext>
            </a:extLst>
          </p:cNvPr>
          <p:cNvCxnSpPr>
            <a:cxnSpLocks/>
            <a:stCxn id="11" idx="1"/>
            <a:endCxn id="42" idx="3"/>
          </p:cNvCxnSpPr>
          <p:nvPr/>
        </p:nvCxnSpPr>
        <p:spPr>
          <a:xfrm flipH="1" flipV="1">
            <a:off x="7882563" y="4749520"/>
            <a:ext cx="201942" cy="42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8B1F64D-F5B0-E18C-F462-1355369B5733}"/>
              </a:ext>
            </a:extLst>
          </p:cNvPr>
          <p:cNvSpPr/>
          <p:nvPr/>
        </p:nvSpPr>
        <p:spPr>
          <a:xfrm>
            <a:off x="9454547" y="3022117"/>
            <a:ext cx="966159" cy="282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재심청구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772BF6B0-9BB3-5BCD-1505-F7DBA7D71CDB}"/>
              </a:ext>
            </a:extLst>
          </p:cNvPr>
          <p:cNvCxnSpPr>
            <a:cxnSpLocks/>
            <a:stCxn id="48" idx="2"/>
            <a:endCxn id="6" idx="0"/>
          </p:cNvCxnSpPr>
          <p:nvPr/>
        </p:nvCxnSpPr>
        <p:spPr>
          <a:xfrm>
            <a:off x="9937627" y="3304577"/>
            <a:ext cx="0" cy="29319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34556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180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재심청구기간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031" y="3160833"/>
            <a:ext cx="113301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rgbClr val="FF0000"/>
                </a:solidFill>
              </a:rPr>
              <a:t>재심사유를 안 날부터 </a:t>
            </a:r>
            <a:r>
              <a:rPr lang="en-US" altLang="ko-KR" sz="2000" dirty="0">
                <a:solidFill>
                  <a:srgbClr val="FF0000"/>
                </a:solidFill>
              </a:rPr>
              <a:t>30</a:t>
            </a:r>
            <a:r>
              <a:rPr lang="ko-KR" altLang="en-US" sz="2000" dirty="0">
                <a:solidFill>
                  <a:srgbClr val="FF0000"/>
                </a:solidFill>
              </a:rPr>
              <a:t>일 이내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>
                <a:solidFill>
                  <a:srgbClr val="FF0000"/>
                </a:solidFill>
              </a:rPr>
              <a:t>제</a:t>
            </a:r>
            <a:r>
              <a:rPr lang="en-US" altLang="ko-KR" sz="2000" dirty="0">
                <a:solidFill>
                  <a:srgbClr val="FF0000"/>
                </a:solidFill>
              </a:rPr>
              <a:t>180</a:t>
            </a:r>
            <a:r>
              <a:rPr lang="ko-KR" altLang="en-US" sz="2000" dirty="0">
                <a:solidFill>
                  <a:srgbClr val="FF0000"/>
                </a:solidFill>
              </a:rPr>
              <a:t>조제</a:t>
            </a:r>
            <a:r>
              <a:rPr lang="en-US" altLang="ko-KR" sz="2000" dirty="0">
                <a:solidFill>
                  <a:srgbClr val="FF0000"/>
                </a:solidFill>
              </a:rPr>
              <a:t>1</a:t>
            </a:r>
            <a:r>
              <a:rPr lang="ko-KR" altLang="en-US" sz="2000" dirty="0">
                <a:solidFill>
                  <a:srgbClr val="FF0000"/>
                </a:solidFill>
              </a:rPr>
              <a:t>항</a:t>
            </a:r>
            <a:r>
              <a:rPr lang="en-US" altLang="ko-KR" sz="2000" dirty="0">
                <a:solidFill>
                  <a:srgbClr val="FF0000"/>
                </a:solidFill>
              </a:rPr>
              <a:t>) </a:t>
            </a:r>
            <a:r>
              <a:rPr lang="ko-KR" altLang="en-US" sz="2000" dirty="0">
                <a:solidFill>
                  <a:srgbClr val="FF0000"/>
                </a:solidFill>
              </a:rPr>
              <a:t>및 특허취소결정 또는 </a:t>
            </a:r>
            <a:r>
              <a:rPr lang="ko-KR" altLang="en-US" sz="2000" dirty="0" err="1">
                <a:solidFill>
                  <a:srgbClr val="FF0000"/>
                </a:solidFill>
              </a:rPr>
              <a:t>심결</a:t>
            </a:r>
            <a:r>
              <a:rPr lang="ko-KR" altLang="en-US" sz="2000" dirty="0">
                <a:solidFill>
                  <a:srgbClr val="FF0000"/>
                </a:solidFill>
              </a:rPr>
              <a:t> 확정 후 </a:t>
            </a:r>
            <a:r>
              <a:rPr lang="en-US" altLang="ko-KR" sz="2000" dirty="0">
                <a:solidFill>
                  <a:srgbClr val="FF0000"/>
                </a:solidFill>
              </a:rPr>
              <a:t>3</a:t>
            </a:r>
            <a:r>
              <a:rPr lang="ko-KR" altLang="en-US" sz="2000" dirty="0">
                <a:solidFill>
                  <a:srgbClr val="FF0000"/>
                </a:solidFill>
              </a:rPr>
              <a:t>년</a:t>
            </a:r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>
                <a:solidFill>
                  <a:srgbClr val="FF0000"/>
                </a:solidFill>
              </a:rPr>
              <a:t>제</a:t>
            </a:r>
            <a:r>
              <a:rPr lang="en-US" altLang="ko-KR" sz="2000" dirty="0">
                <a:solidFill>
                  <a:srgbClr val="FF0000"/>
                </a:solidFill>
              </a:rPr>
              <a:t>180</a:t>
            </a:r>
            <a:r>
              <a:rPr lang="ko-KR" altLang="en-US" sz="2000" dirty="0">
                <a:solidFill>
                  <a:srgbClr val="FF0000"/>
                </a:solidFill>
              </a:rPr>
              <a:t>조제</a:t>
            </a:r>
            <a:r>
              <a:rPr lang="en-US" altLang="ko-KR" sz="2000" dirty="0">
                <a:solidFill>
                  <a:srgbClr val="FF0000"/>
                </a:solidFill>
              </a:rPr>
              <a:t>3</a:t>
            </a:r>
            <a:r>
              <a:rPr lang="ko-KR" altLang="en-US" sz="2000" dirty="0">
                <a:solidFill>
                  <a:srgbClr val="FF0000"/>
                </a:solidFill>
              </a:rPr>
              <a:t>항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>
            <a:off x="685800" y="3560943"/>
            <a:ext cx="2116667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/>
        </p:nvCxnSpPr>
        <p:spPr>
          <a:xfrm>
            <a:off x="0" y="236951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875" y="986046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180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재심청구의 기간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당사자는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확정 후 재심사유를 안 날부터 </a:t>
            </a:r>
            <a:r>
              <a:rPr lang="en-US" altLang="ko-KR" sz="1400" dirty="0">
                <a:solidFill>
                  <a:schemeClr val="tx2"/>
                </a:solidFill>
              </a:rPr>
              <a:t>30</a:t>
            </a:r>
            <a:r>
              <a:rPr lang="ko-KR" altLang="en-US" sz="1400" dirty="0">
                <a:solidFill>
                  <a:schemeClr val="tx2"/>
                </a:solidFill>
              </a:rPr>
              <a:t>일 이내에 재심을 청구하여야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대리권의 흠을 이유로 재심을 청구하는 경우에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기간은 청구인 또는 법정대리인이 특허취소결정등본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심결등본의</a:t>
            </a:r>
            <a:r>
              <a:rPr lang="ko-KR" altLang="en-US" sz="1400" dirty="0">
                <a:solidFill>
                  <a:schemeClr val="tx2"/>
                </a:solidFill>
              </a:rPr>
              <a:t> 송달에 의하여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있는 것을 안 날의 다음 날부터 기산한다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확정 후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년이 지나면 재심을 청구할 수 없다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재심사유가 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확정 후에 생겼을 때에는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항의 기간은 그 사유가 발생한 날의 다음 날부터 기산한다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⑤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및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항은 해당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이전의 </a:t>
            </a:r>
            <a:r>
              <a:rPr lang="ko-KR" altLang="en-US" sz="1400" dirty="0" err="1">
                <a:solidFill>
                  <a:schemeClr val="tx2"/>
                </a:solidFill>
              </a:rPr>
              <a:t>확정심결에</a:t>
            </a:r>
            <a:r>
              <a:rPr lang="ko-KR" altLang="en-US" sz="1400" dirty="0">
                <a:solidFill>
                  <a:schemeClr val="tx2"/>
                </a:solidFill>
              </a:rPr>
              <a:t> 저촉된다는 이유로 재심을 청구하는 경우에는 적용하지 아니한다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57031" y="4837232"/>
            <a:ext cx="4226635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대리권의 흠을 이유로 재심을 청구</a:t>
            </a:r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180</a:t>
            </a:r>
            <a:r>
              <a:rPr lang="ko-KR" altLang="en-US" sz="1600" dirty="0"/>
              <a:t>조제</a:t>
            </a:r>
            <a:r>
              <a:rPr lang="en-US" altLang="ko-KR" sz="1600" dirty="0"/>
              <a:t>2</a:t>
            </a:r>
            <a:r>
              <a:rPr lang="ko-KR" altLang="en-US" sz="1600" dirty="0"/>
              <a:t>항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33" name="TextBox 32"/>
          <p:cNvSpPr txBox="1"/>
          <p:nvPr/>
        </p:nvSpPr>
        <p:spPr>
          <a:xfrm>
            <a:off x="4792182" y="4837232"/>
            <a:ext cx="299896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등본 송달일의 다음 날 기산</a:t>
            </a:r>
          </a:p>
        </p:txBody>
      </p:sp>
      <p:cxnSp>
        <p:nvCxnSpPr>
          <p:cNvPr id="35" name="꺾인 연결선 34"/>
          <p:cNvCxnSpPr>
            <a:stCxn id="32" idx="0"/>
          </p:cNvCxnSpPr>
          <p:nvPr/>
        </p:nvCxnSpPr>
        <p:spPr>
          <a:xfrm rot="16200000" flipV="1">
            <a:off x="1593310" y="3760193"/>
            <a:ext cx="1276288" cy="87779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/>
          <p:cNvCxnSpPr/>
          <p:nvPr/>
        </p:nvCxnSpPr>
        <p:spPr>
          <a:xfrm>
            <a:off x="2924446" y="3560943"/>
            <a:ext cx="1058333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3453612" y="4029811"/>
            <a:ext cx="2117455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/>
              <a:t>추후보완 가능</a:t>
            </a:r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17</a:t>
            </a:r>
            <a:r>
              <a:rPr lang="ko-KR" altLang="en-US" sz="1600" dirty="0"/>
              <a:t>조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cxnSp>
        <p:nvCxnSpPr>
          <p:cNvPr id="43" name="꺾인 연결선 42"/>
          <p:cNvCxnSpPr>
            <a:stCxn id="39" idx="1"/>
          </p:cNvCxnSpPr>
          <p:nvPr/>
        </p:nvCxnSpPr>
        <p:spPr>
          <a:xfrm rot="10800000" flipH="1">
            <a:off x="3453612" y="3560948"/>
            <a:ext cx="119320" cy="638141"/>
          </a:xfrm>
          <a:prstGeom prst="bentConnector4">
            <a:avLst>
              <a:gd name="adj1" fmla="val -191586"/>
              <a:gd name="adj2" fmla="val 6326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>
            <a:cxnSpLocks/>
          </p:cNvCxnSpPr>
          <p:nvPr/>
        </p:nvCxnSpPr>
        <p:spPr>
          <a:xfrm>
            <a:off x="6003985" y="3560943"/>
            <a:ext cx="367341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450766" y="5638991"/>
            <a:ext cx="3532368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확정 후에 재심사유 발생</a:t>
            </a:r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180</a:t>
            </a:r>
            <a:r>
              <a:rPr lang="ko-KR" altLang="en-US" sz="1600" dirty="0"/>
              <a:t>조제</a:t>
            </a:r>
            <a:r>
              <a:rPr lang="en-US" altLang="ko-KR" sz="1600" dirty="0"/>
              <a:t>4</a:t>
            </a:r>
            <a:r>
              <a:rPr lang="ko-KR" altLang="en-US" sz="1600" dirty="0"/>
              <a:t>항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50" name="TextBox 49"/>
          <p:cNvSpPr txBox="1"/>
          <p:nvPr/>
        </p:nvSpPr>
        <p:spPr>
          <a:xfrm>
            <a:off x="8983134" y="5638991"/>
            <a:ext cx="2998968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사유발생일의 다음 날 기산</a:t>
            </a:r>
          </a:p>
        </p:txBody>
      </p:sp>
      <p:cxnSp>
        <p:nvCxnSpPr>
          <p:cNvPr id="52" name="꺾인 연결선 51"/>
          <p:cNvCxnSpPr>
            <a:endCxn id="49" idx="0"/>
          </p:cNvCxnSpPr>
          <p:nvPr/>
        </p:nvCxnSpPr>
        <p:spPr>
          <a:xfrm rot="5400000">
            <a:off x="6974237" y="3803661"/>
            <a:ext cx="2078043" cy="159261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/>
          <p:cNvSpPr/>
          <p:nvPr/>
        </p:nvSpPr>
        <p:spPr>
          <a:xfrm>
            <a:off x="448733" y="2971800"/>
            <a:ext cx="11142134" cy="70273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6279614" y="2633246"/>
            <a:ext cx="2864386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dirty="0" err="1"/>
              <a:t>확정심결과</a:t>
            </a:r>
            <a:r>
              <a:rPr lang="ko-KR" altLang="en-US" sz="1600" dirty="0"/>
              <a:t> 저촉</a:t>
            </a:r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180</a:t>
            </a:r>
            <a:r>
              <a:rPr lang="ko-KR" altLang="en-US" sz="1600" dirty="0"/>
              <a:t>조제</a:t>
            </a:r>
            <a:r>
              <a:rPr lang="en-US" altLang="ko-KR" sz="1600" dirty="0"/>
              <a:t>5</a:t>
            </a:r>
            <a:r>
              <a:rPr lang="ko-KR" altLang="en-US" sz="1600" dirty="0"/>
              <a:t>항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sp>
        <p:nvSpPr>
          <p:cNvPr id="55" name="TextBox 54"/>
          <p:cNvSpPr txBox="1"/>
          <p:nvPr/>
        </p:nvSpPr>
        <p:spPr>
          <a:xfrm>
            <a:off x="9144000" y="2635899"/>
            <a:ext cx="2116667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기간 제한</a:t>
            </a:r>
            <a:r>
              <a:rPr lang="en-US" altLang="ko-KR" sz="1600" dirty="0"/>
              <a:t>×</a:t>
            </a:r>
            <a:endParaRPr lang="ko-KR" altLang="en-US" sz="16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515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4951051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736300" y="3079372"/>
            <a:ext cx="1024766" cy="914400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bg1"/>
                </a:solidFill>
              </a:rPr>
              <a:t>소송</a:t>
            </a:r>
            <a:endParaRPr lang="en-US" altLang="ko-KR" sz="2400" dirty="0">
              <a:solidFill>
                <a:schemeClr val="bg1"/>
              </a:solidFill>
            </a:endParaRPr>
          </a:p>
          <a:p>
            <a:pPr algn="ctr"/>
            <a:r>
              <a:rPr lang="ko-KR" altLang="en-US" sz="2400" dirty="0">
                <a:solidFill>
                  <a:schemeClr val="bg1"/>
                </a:solidFill>
              </a:rPr>
              <a:t>제도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905626" y="1776248"/>
            <a:ext cx="1440160" cy="434464"/>
          </a:xfrm>
          <a:prstGeom prst="rect">
            <a:avLst/>
          </a:prstGeom>
          <a:solidFill>
            <a:schemeClr val="accent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소송요건</a:t>
            </a:r>
            <a:endParaRPr lang="en-US" altLang="ko-KR" sz="11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法</a:t>
            </a:r>
            <a:r>
              <a:rPr lang="en-US" altLang="ko-KR" sz="1100" dirty="0"/>
              <a:t> 186, 187)</a:t>
            </a:r>
            <a:endParaRPr lang="ko-KR" altLang="en-US" sz="1100" dirty="0"/>
          </a:p>
        </p:txBody>
      </p:sp>
      <p:sp>
        <p:nvSpPr>
          <p:cNvPr id="13" name="직사각형 12"/>
          <p:cNvSpPr/>
          <p:nvPr/>
        </p:nvSpPr>
        <p:spPr>
          <a:xfrm>
            <a:off x="2905626" y="2986247"/>
            <a:ext cx="1440160" cy="4344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소송의 제기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2905626" y="4215607"/>
            <a:ext cx="1440160" cy="434464"/>
          </a:xfrm>
          <a:prstGeom prst="rect">
            <a:avLst/>
          </a:prstGeom>
          <a:solidFill>
            <a:schemeClr val="accent4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소송의 심리</a:t>
            </a:r>
          </a:p>
        </p:txBody>
      </p:sp>
      <p:sp>
        <p:nvSpPr>
          <p:cNvPr id="21" name="직사각형 20"/>
          <p:cNvSpPr/>
          <p:nvPr/>
        </p:nvSpPr>
        <p:spPr>
          <a:xfrm>
            <a:off x="2905626" y="5472099"/>
            <a:ext cx="1440160" cy="4344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소송의 종료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5360193" y="1113837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소송물</a:t>
            </a:r>
            <a:endParaRPr lang="ko-KR" altLang="en-US" sz="1100" dirty="0"/>
          </a:p>
        </p:txBody>
      </p:sp>
      <p:sp>
        <p:nvSpPr>
          <p:cNvPr id="23" name="직사각형 22"/>
          <p:cNvSpPr/>
          <p:nvPr/>
        </p:nvSpPr>
        <p:spPr>
          <a:xfrm>
            <a:off x="5360193" y="1399215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소의 이익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5360193" y="1679657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관할</a:t>
            </a:r>
          </a:p>
        </p:txBody>
      </p:sp>
      <p:sp>
        <p:nvSpPr>
          <p:cNvPr id="26" name="직사각형 25"/>
          <p:cNvSpPr/>
          <p:nvPr/>
        </p:nvSpPr>
        <p:spPr>
          <a:xfrm>
            <a:off x="5360193" y="2805926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소장의 제출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5360193" y="3091304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심판원장에게 통지</a:t>
            </a:r>
            <a:r>
              <a:rPr lang="en-US" altLang="ko-KR" sz="1100" dirty="0"/>
              <a:t>(</a:t>
            </a:r>
            <a:r>
              <a:rPr lang="ko-KR" altLang="en-US" sz="1100" dirty="0"/>
              <a:t>法</a:t>
            </a:r>
            <a:r>
              <a:rPr lang="en-US" altLang="ko-KR" sz="1100" dirty="0"/>
              <a:t> 188)</a:t>
            </a:r>
            <a:endParaRPr lang="ko-KR" altLang="en-US" sz="1100" dirty="0"/>
          </a:p>
        </p:txBody>
      </p:sp>
      <p:sp>
        <p:nvSpPr>
          <p:cNvPr id="29" name="직사각형 28"/>
          <p:cNvSpPr/>
          <p:nvPr/>
        </p:nvSpPr>
        <p:spPr>
          <a:xfrm>
            <a:off x="5360193" y="4315834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본안심리</a:t>
            </a:r>
            <a:endParaRPr lang="ko-KR" altLang="en-US" sz="1100" dirty="0"/>
          </a:p>
        </p:txBody>
      </p:sp>
      <p:sp>
        <p:nvSpPr>
          <p:cNvPr id="30" name="직사각형 29"/>
          <p:cNvSpPr/>
          <p:nvPr/>
        </p:nvSpPr>
        <p:spPr>
          <a:xfrm>
            <a:off x="5360193" y="4597628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기술심리관의 관여</a:t>
            </a:r>
            <a:r>
              <a:rPr lang="en-US" altLang="ko-KR" sz="1100" dirty="0"/>
              <a:t>(</a:t>
            </a:r>
            <a:r>
              <a:rPr lang="ko-KR" altLang="en-US" sz="1100" dirty="0"/>
              <a:t>法</a:t>
            </a:r>
            <a:r>
              <a:rPr lang="en-US" altLang="ko-KR" sz="1100" dirty="0"/>
              <a:t> 188</a:t>
            </a:r>
            <a:r>
              <a:rPr lang="ko-KR" altLang="en-US" sz="1100" dirty="0"/>
              <a:t>의</a:t>
            </a:r>
            <a:r>
              <a:rPr lang="en-US" altLang="ko-KR" sz="1100" dirty="0"/>
              <a:t>2)</a:t>
            </a:r>
            <a:endParaRPr lang="ko-KR" altLang="en-US" sz="1100" dirty="0"/>
          </a:p>
        </p:txBody>
      </p:sp>
      <p:sp>
        <p:nvSpPr>
          <p:cNvPr id="32" name="직사각형 31"/>
          <p:cNvSpPr/>
          <p:nvPr/>
        </p:nvSpPr>
        <p:spPr>
          <a:xfrm>
            <a:off x="5360193" y="5421465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당사자에 의한 종결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5360193" y="5703259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종국판결에 의한 종결</a:t>
            </a:r>
            <a:r>
              <a:rPr lang="en-US" altLang="ko-KR" sz="1100" dirty="0"/>
              <a:t> (</a:t>
            </a:r>
            <a:r>
              <a:rPr lang="ko-KR" altLang="en-US" sz="1100" dirty="0"/>
              <a:t>法</a:t>
            </a:r>
            <a:r>
              <a:rPr lang="en-US" altLang="ko-KR" sz="1100" dirty="0"/>
              <a:t> 189)</a:t>
            </a:r>
            <a:endParaRPr lang="ko-KR" altLang="en-US" sz="1100" dirty="0"/>
          </a:p>
        </p:txBody>
      </p:sp>
      <p:cxnSp>
        <p:nvCxnSpPr>
          <p:cNvPr id="7" name="꺾인 연결선 6"/>
          <p:cNvCxnSpPr>
            <a:stCxn id="3" idx="3"/>
            <a:endCxn id="12" idx="1"/>
          </p:cNvCxnSpPr>
          <p:nvPr/>
        </p:nvCxnSpPr>
        <p:spPr>
          <a:xfrm flipV="1">
            <a:off x="1761066" y="1993480"/>
            <a:ext cx="1144560" cy="15430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꺾인 연결선 8"/>
          <p:cNvCxnSpPr>
            <a:stCxn id="3" idx="3"/>
            <a:endCxn id="21" idx="1"/>
          </p:cNvCxnSpPr>
          <p:nvPr/>
        </p:nvCxnSpPr>
        <p:spPr>
          <a:xfrm>
            <a:off x="1761066" y="3536572"/>
            <a:ext cx="1144560" cy="215275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51"/>
          <p:cNvCxnSpPr>
            <a:stCxn id="3" idx="3"/>
            <a:endCxn id="13" idx="1"/>
          </p:cNvCxnSpPr>
          <p:nvPr/>
        </p:nvCxnSpPr>
        <p:spPr>
          <a:xfrm flipV="1">
            <a:off x="1761066" y="3203479"/>
            <a:ext cx="1144560" cy="33309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3" idx="3"/>
            <a:endCxn id="20" idx="1"/>
          </p:cNvCxnSpPr>
          <p:nvPr/>
        </p:nvCxnSpPr>
        <p:spPr>
          <a:xfrm>
            <a:off x="1761066" y="3536572"/>
            <a:ext cx="1144560" cy="89626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꺾인 연결선 55"/>
          <p:cNvCxnSpPr>
            <a:stCxn id="12" idx="3"/>
            <a:endCxn id="22" idx="1"/>
          </p:cNvCxnSpPr>
          <p:nvPr/>
        </p:nvCxnSpPr>
        <p:spPr>
          <a:xfrm flipV="1">
            <a:off x="4345786" y="1225644"/>
            <a:ext cx="1014407" cy="76783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꺾인 연결선 57"/>
          <p:cNvCxnSpPr>
            <a:stCxn id="12" idx="3"/>
            <a:endCxn id="24" idx="1"/>
          </p:cNvCxnSpPr>
          <p:nvPr/>
        </p:nvCxnSpPr>
        <p:spPr>
          <a:xfrm flipV="1">
            <a:off x="4345786" y="1791464"/>
            <a:ext cx="1014407" cy="20201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꺾인 연결선 59"/>
          <p:cNvCxnSpPr>
            <a:stCxn id="12" idx="3"/>
            <a:endCxn id="23" idx="1"/>
          </p:cNvCxnSpPr>
          <p:nvPr/>
        </p:nvCxnSpPr>
        <p:spPr>
          <a:xfrm flipV="1">
            <a:off x="4345786" y="1511022"/>
            <a:ext cx="1014407" cy="48245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연결선 61"/>
          <p:cNvCxnSpPr>
            <a:stCxn id="13" idx="3"/>
            <a:endCxn id="26" idx="1"/>
          </p:cNvCxnSpPr>
          <p:nvPr/>
        </p:nvCxnSpPr>
        <p:spPr>
          <a:xfrm flipV="1">
            <a:off x="4345786" y="2917733"/>
            <a:ext cx="1014407" cy="28574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13" idx="3"/>
            <a:endCxn id="27" idx="1"/>
          </p:cNvCxnSpPr>
          <p:nvPr/>
        </p:nvCxnSpPr>
        <p:spPr>
          <a:xfrm flipV="1">
            <a:off x="4345786" y="3203111"/>
            <a:ext cx="1014407" cy="36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20" idx="3"/>
            <a:endCxn id="29" idx="1"/>
          </p:cNvCxnSpPr>
          <p:nvPr/>
        </p:nvCxnSpPr>
        <p:spPr>
          <a:xfrm flipV="1">
            <a:off x="4345786" y="4427641"/>
            <a:ext cx="1014407" cy="519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stCxn id="20" idx="3"/>
            <a:endCxn id="30" idx="1"/>
          </p:cNvCxnSpPr>
          <p:nvPr/>
        </p:nvCxnSpPr>
        <p:spPr>
          <a:xfrm>
            <a:off x="4345786" y="4432839"/>
            <a:ext cx="1014407" cy="27659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78"/>
          <p:cNvCxnSpPr>
            <a:stCxn id="21" idx="3"/>
            <a:endCxn id="32" idx="1"/>
          </p:cNvCxnSpPr>
          <p:nvPr/>
        </p:nvCxnSpPr>
        <p:spPr>
          <a:xfrm flipV="1">
            <a:off x="4345786" y="5533272"/>
            <a:ext cx="1014407" cy="15605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꺾인 연결선 80"/>
          <p:cNvCxnSpPr>
            <a:stCxn id="21" idx="3"/>
            <a:endCxn id="33" idx="1"/>
          </p:cNvCxnSpPr>
          <p:nvPr/>
        </p:nvCxnSpPr>
        <p:spPr>
          <a:xfrm>
            <a:off x="4345786" y="5689331"/>
            <a:ext cx="1014407" cy="12573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제목 4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7" name="텍스트 개체 틀 4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소송</a:t>
            </a:r>
            <a:r>
              <a:rPr lang="en-US" altLang="ko-KR" dirty="0"/>
              <a:t>(</a:t>
            </a:r>
            <a:r>
              <a:rPr lang="ko-KR" altLang="en-US" dirty="0"/>
              <a:t>제도</a:t>
            </a:r>
            <a:r>
              <a:rPr lang="en-US" altLang="ko-KR" dirty="0"/>
              <a:t>)</a:t>
            </a:r>
            <a:r>
              <a:rPr lang="ko-KR" altLang="en-US" dirty="0"/>
              <a:t> 체계</a:t>
            </a:r>
            <a:r>
              <a:rPr lang="en-US" altLang="ko-KR" dirty="0"/>
              <a:t>: </a:t>
            </a:r>
            <a:r>
              <a:rPr lang="ko-KR" altLang="en-US" dirty="0"/>
              <a:t>제</a:t>
            </a:r>
            <a:r>
              <a:rPr lang="en-US" altLang="ko-KR" dirty="0"/>
              <a:t>9</a:t>
            </a:r>
            <a:r>
              <a:rPr lang="ko-KR" altLang="en-US" dirty="0"/>
              <a:t>장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5360193" y="1973636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당사자</a:t>
            </a:r>
          </a:p>
        </p:txBody>
      </p:sp>
      <p:sp>
        <p:nvSpPr>
          <p:cNvPr id="96" name="직사각형 95"/>
          <p:cNvSpPr/>
          <p:nvPr/>
        </p:nvSpPr>
        <p:spPr>
          <a:xfrm>
            <a:off x="5360193" y="4043401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소송요건의 심리</a:t>
            </a:r>
            <a:endParaRPr lang="en-US" altLang="ko-KR" sz="1100" dirty="0"/>
          </a:p>
        </p:txBody>
      </p:sp>
      <p:sp>
        <p:nvSpPr>
          <p:cNvPr id="103" name="직사각형 102"/>
          <p:cNvSpPr/>
          <p:nvPr/>
        </p:nvSpPr>
        <p:spPr>
          <a:xfrm>
            <a:off x="8772280" y="3714677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 err="1"/>
              <a:t>변론주의</a:t>
            </a:r>
            <a:r>
              <a:rPr lang="ko-KR" altLang="en-US" sz="1100" dirty="0"/>
              <a:t> 원칙</a:t>
            </a:r>
            <a:r>
              <a:rPr lang="en-US" altLang="ko-KR" sz="1100" dirty="0"/>
              <a:t>(</a:t>
            </a:r>
            <a:r>
              <a:rPr lang="ko-KR" altLang="en-US" sz="1100" dirty="0"/>
              <a:t>직권주의 가미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sp>
        <p:nvSpPr>
          <p:cNvPr id="110" name="직사각형 109"/>
          <p:cNvSpPr/>
          <p:nvPr/>
        </p:nvSpPr>
        <p:spPr>
          <a:xfrm>
            <a:off x="8772280" y="3996471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위법판단의 기준시점</a:t>
            </a:r>
          </a:p>
        </p:txBody>
      </p:sp>
      <p:sp>
        <p:nvSpPr>
          <p:cNvPr id="112" name="직사각형 111"/>
          <p:cNvSpPr/>
          <p:nvPr/>
        </p:nvSpPr>
        <p:spPr>
          <a:xfrm>
            <a:off x="8772280" y="4278959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심리범위</a:t>
            </a:r>
          </a:p>
        </p:txBody>
      </p:sp>
      <p:sp>
        <p:nvSpPr>
          <p:cNvPr id="113" name="직사각형 112"/>
          <p:cNvSpPr/>
          <p:nvPr/>
        </p:nvSpPr>
        <p:spPr>
          <a:xfrm>
            <a:off x="8772280" y="4553810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주장증명책임</a:t>
            </a:r>
          </a:p>
        </p:txBody>
      </p:sp>
      <p:sp>
        <p:nvSpPr>
          <p:cNvPr id="115" name="직사각형 114"/>
          <p:cNvSpPr/>
          <p:nvPr/>
        </p:nvSpPr>
        <p:spPr>
          <a:xfrm>
            <a:off x="8772280" y="4833209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자백</a:t>
            </a:r>
          </a:p>
        </p:txBody>
      </p:sp>
      <p:sp>
        <p:nvSpPr>
          <p:cNvPr id="116" name="직사각형 115"/>
          <p:cNvSpPr/>
          <p:nvPr/>
        </p:nvSpPr>
        <p:spPr>
          <a:xfrm>
            <a:off x="5360193" y="3384840"/>
            <a:ext cx="2568674" cy="22361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소장의 심사</a:t>
            </a:r>
            <a:endParaRPr lang="en-US" altLang="ko-KR" sz="1100" dirty="0"/>
          </a:p>
        </p:txBody>
      </p:sp>
      <p:sp>
        <p:nvSpPr>
          <p:cNvPr id="117" name="직사각형 116"/>
          <p:cNvSpPr/>
          <p:nvPr/>
        </p:nvSpPr>
        <p:spPr>
          <a:xfrm>
            <a:off x="5360193" y="2269968"/>
            <a:ext cx="2568674" cy="22361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제소기간</a:t>
            </a:r>
          </a:p>
        </p:txBody>
      </p:sp>
      <p:cxnSp>
        <p:nvCxnSpPr>
          <p:cNvPr id="84" name="꺾인 연결선 83"/>
          <p:cNvCxnSpPr>
            <a:stCxn id="12" idx="3"/>
            <a:endCxn id="94" idx="1"/>
          </p:cNvCxnSpPr>
          <p:nvPr/>
        </p:nvCxnSpPr>
        <p:spPr>
          <a:xfrm>
            <a:off x="4345786" y="1993480"/>
            <a:ext cx="1014407" cy="9196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꺾인 연결선 87"/>
          <p:cNvCxnSpPr>
            <a:stCxn id="12" idx="3"/>
            <a:endCxn id="117" idx="1"/>
          </p:cNvCxnSpPr>
          <p:nvPr/>
        </p:nvCxnSpPr>
        <p:spPr>
          <a:xfrm>
            <a:off x="4345786" y="1993480"/>
            <a:ext cx="1014407" cy="38829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꺾인 연결선 91"/>
          <p:cNvCxnSpPr>
            <a:stCxn id="13" idx="3"/>
            <a:endCxn id="116" idx="1"/>
          </p:cNvCxnSpPr>
          <p:nvPr/>
        </p:nvCxnSpPr>
        <p:spPr>
          <a:xfrm>
            <a:off x="4345786" y="3203479"/>
            <a:ext cx="1014407" cy="29316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꺾인 연결선 118"/>
          <p:cNvCxnSpPr>
            <a:stCxn id="20" idx="3"/>
            <a:endCxn id="96" idx="1"/>
          </p:cNvCxnSpPr>
          <p:nvPr/>
        </p:nvCxnSpPr>
        <p:spPr>
          <a:xfrm flipV="1">
            <a:off x="4345786" y="4155208"/>
            <a:ext cx="1014407" cy="2776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꺾인 연결선 120"/>
          <p:cNvCxnSpPr>
            <a:stCxn id="29" idx="3"/>
            <a:endCxn id="103" idx="1"/>
          </p:cNvCxnSpPr>
          <p:nvPr/>
        </p:nvCxnSpPr>
        <p:spPr>
          <a:xfrm flipV="1">
            <a:off x="7928867" y="3826484"/>
            <a:ext cx="843413" cy="60115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꺾인 연결선 122"/>
          <p:cNvCxnSpPr>
            <a:stCxn id="29" idx="3"/>
            <a:endCxn id="110" idx="1"/>
          </p:cNvCxnSpPr>
          <p:nvPr/>
        </p:nvCxnSpPr>
        <p:spPr>
          <a:xfrm flipV="1">
            <a:off x="7928867" y="4108278"/>
            <a:ext cx="843413" cy="31936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꺾인 연결선 124"/>
          <p:cNvCxnSpPr>
            <a:stCxn id="29" idx="3"/>
            <a:endCxn id="112" idx="1"/>
          </p:cNvCxnSpPr>
          <p:nvPr/>
        </p:nvCxnSpPr>
        <p:spPr>
          <a:xfrm flipV="1">
            <a:off x="7928867" y="4390766"/>
            <a:ext cx="843413" cy="3687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꺾인 연결선 126"/>
          <p:cNvCxnSpPr>
            <a:stCxn id="29" idx="3"/>
            <a:endCxn id="113" idx="1"/>
          </p:cNvCxnSpPr>
          <p:nvPr/>
        </p:nvCxnSpPr>
        <p:spPr>
          <a:xfrm>
            <a:off x="7928867" y="4427641"/>
            <a:ext cx="843413" cy="23797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꺾인 연결선 128"/>
          <p:cNvCxnSpPr>
            <a:endCxn id="115" idx="1"/>
          </p:cNvCxnSpPr>
          <p:nvPr/>
        </p:nvCxnSpPr>
        <p:spPr>
          <a:xfrm>
            <a:off x="7928867" y="4432839"/>
            <a:ext cx="843413" cy="51217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516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3533199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제목 4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7" name="텍스트 개체 틀 4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소송절차의 진행</a:t>
            </a:r>
          </a:p>
        </p:txBody>
      </p:sp>
      <p:cxnSp>
        <p:nvCxnSpPr>
          <p:cNvPr id="87" name="직선 연결선 86"/>
          <p:cNvCxnSpPr>
            <a:cxnSpLocks/>
          </p:cNvCxnSpPr>
          <p:nvPr/>
        </p:nvCxnSpPr>
        <p:spPr>
          <a:xfrm flipV="1">
            <a:off x="3951776" y="902477"/>
            <a:ext cx="0" cy="556360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517</a:t>
            </a:r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5D01DB6-7538-102D-9460-D7405DDE2AFD}"/>
              </a:ext>
            </a:extLst>
          </p:cNvPr>
          <p:cNvSpPr/>
          <p:nvPr/>
        </p:nvSpPr>
        <p:spPr>
          <a:xfrm>
            <a:off x="1559515" y="2488541"/>
            <a:ext cx="1045054" cy="3310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심판원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6257919-CA3E-B0D6-DF1C-7D92E07D44FE}"/>
              </a:ext>
            </a:extLst>
          </p:cNvPr>
          <p:cNvSpPr/>
          <p:nvPr/>
        </p:nvSpPr>
        <p:spPr>
          <a:xfrm>
            <a:off x="1559515" y="3837445"/>
            <a:ext cx="1045054" cy="330693"/>
          </a:xfrm>
          <a:prstGeom prst="roundRect">
            <a:avLst>
              <a:gd name="adj" fmla="val 49198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특허법원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4CF0CED-9B2A-83AB-4D3E-6E98FC8CDC04}"/>
              </a:ext>
            </a:extLst>
          </p:cNvPr>
          <p:cNvSpPr txBox="1"/>
          <p:nvPr/>
        </p:nvSpPr>
        <p:spPr>
          <a:xfrm>
            <a:off x="2895187" y="3143993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인용심결</a:t>
            </a:r>
            <a:endParaRPr lang="ko-KR" alt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255E55-C774-1A9E-3DC5-85057DCB4637}"/>
              </a:ext>
            </a:extLst>
          </p:cNvPr>
          <p:cNvSpPr txBox="1"/>
          <p:nvPr/>
        </p:nvSpPr>
        <p:spPr>
          <a:xfrm>
            <a:off x="605387" y="3147527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기각심결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9B34BC-C496-A14C-8B7A-75DE90B1CE79}"/>
              </a:ext>
            </a:extLst>
          </p:cNvPr>
          <p:cNvSpPr txBox="1"/>
          <p:nvPr/>
        </p:nvSpPr>
        <p:spPr>
          <a:xfrm>
            <a:off x="2131759" y="3147526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/>
              <a:t>각하심결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B425E2-13A3-0548-AE29-4130F97DA273}"/>
              </a:ext>
            </a:extLst>
          </p:cNvPr>
          <p:cNvSpPr txBox="1"/>
          <p:nvPr/>
        </p:nvSpPr>
        <p:spPr>
          <a:xfrm>
            <a:off x="1348617" y="3147527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각하결정</a:t>
            </a:r>
          </a:p>
        </p:txBody>
      </p: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F6A2EB4C-55DB-E6A3-0296-6A9A9E2A1F03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 rot="5400000">
            <a:off x="1341305" y="2406790"/>
            <a:ext cx="327986" cy="115348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F53186E9-EFCD-C9E7-A9CC-882873B7868F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rot="16200000" flipH="1">
            <a:off x="2487971" y="2413611"/>
            <a:ext cx="324452" cy="113631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BEAD132A-2809-5A50-F3DF-B5D1C69DC881}"/>
              </a:ext>
            </a:extLst>
          </p:cNvPr>
          <p:cNvCxnSpPr>
            <a:cxnSpLocks/>
            <a:stCxn id="5" idx="2"/>
            <a:endCxn id="22" idx="0"/>
          </p:cNvCxnSpPr>
          <p:nvPr/>
        </p:nvCxnSpPr>
        <p:spPr>
          <a:xfrm rot="5400000">
            <a:off x="1712920" y="2778405"/>
            <a:ext cx="327986" cy="41025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연결선: 꺾임 57">
            <a:extLst>
              <a:ext uri="{FF2B5EF4-FFF2-40B4-BE49-F238E27FC236}">
                <a16:creationId xmlns:a16="http://schemas.microsoft.com/office/drawing/2014/main" id="{038168B7-2749-089C-83A7-D547A7982E77}"/>
              </a:ext>
            </a:extLst>
          </p:cNvPr>
          <p:cNvCxnSpPr>
            <a:cxnSpLocks/>
            <a:stCxn id="5" idx="2"/>
            <a:endCxn id="21" idx="0"/>
          </p:cNvCxnSpPr>
          <p:nvPr/>
        </p:nvCxnSpPr>
        <p:spPr>
          <a:xfrm rot="16200000" flipH="1">
            <a:off x="2104491" y="2797091"/>
            <a:ext cx="327985" cy="37288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연결선: 꺾임 60">
            <a:extLst>
              <a:ext uri="{FF2B5EF4-FFF2-40B4-BE49-F238E27FC236}">
                <a16:creationId xmlns:a16="http://schemas.microsoft.com/office/drawing/2014/main" id="{069F948F-C2EC-4CB8-DB10-C025CEE06FF8}"/>
              </a:ext>
            </a:extLst>
          </p:cNvPr>
          <p:cNvCxnSpPr>
            <a:cxnSpLocks/>
            <a:stCxn id="12" idx="2"/>
            <a:endCxn id="7" idx="0"/>
          </p:cNvCxnSpPr>
          <p:nvPr/>
        </p:nvCxnSpPr>
        <p:spPr>
          <a:xfrm rot="16200000" flipH="1">
            <a:off x="1283449" y="3038851"/>
            <a:ext cx="443697" cy="115348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BBE51216-73C2-D1B3-6CE0-98586D7D14C8}"/>
              </a:ext>
            </a:extLst>
          </p:cNvPr>
          <p:cNvCxnSpPr>
            <a:cxnSpLocks/>
            <a:stCxn id="11" idx="2"/>
            <a:endCxn id="7" idx="0"/>
          </p:cNvCxnSpPr>
          <p:nvPr/>
        </p:nvCxnSpPr>
        <p:spPr>
          <a:xfrm rot="5400000">
            <a:off x="2426583" y="3045674"/>
            <a:ext cx="447231" cy="113631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DD8DBBAE-8273-5A23-8098-E1272FBD2B13}"/>
              </a:ext>
            </a:extLst>
          </p:cNvPr>
          <p:cNvCxnSpPr>
            <a:cxnSpLocks/>
            <a:stCxn id="22" idx="2"/>
            <a:endCxn id="7" idx="0"/>
          </p:cNvCxnSpPr>
          <p:nvPr/>
        </p:nvCxnSpPr>
        <p:spPr>
          <a:xfrm rot="16200000" flipH="1">
            <a:off x="1655064" y="3410466"/>
            <a:ext cx="443697" cy="41025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34F147A3-0890-7578-33E0-BA4A245144D3}"/>
              </a:ext>
            </a:extLst>
          </p:cNvPr>
          <p:cNvCxnSpPr>
            <a:cxnSpLocks/>
            <a:stCxn id="21" idx="2"/>
            <a:endCxn id="7" idx="0"/>
          </p:cNvCxnSpPr>
          <p:nvPr/>
        </p:nvCxnSpPr>
        <p:spPr>
          <a:xfrm rot="5400000">
            <a:off x="2046635" y="3429155"/>
            <a:ext cx="443698" cy="37288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C0FCBA1A-5F98-5E74-12D2-4A3CBB46BC9B}"/>
              </a:ext>
            </a:extLst>
          </p:cNvPr>
          <p:cNvSpPr/>
          <p:nvPr/>
        </p:nvSpPr>
        <p:spPr>
          <a:xfrm>
            <a:off x="1559515" y="5102875"/>
            <a:ext cx="1045054" cy="330693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대법원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055767F-E9C3-A45B-B2F0-5C4B3CB92E7E}"/>
              </a:ext>
            </a:extLst>
          </p:cNvPr>
          <p:cNvSpPr txBox="1"/>
          <p:nvPr/>
        </p:nvSpPr>
        <p:spPr>
          <a:xfrm>
            <a:off x="2895187" y="4463210"/>
            <a:ext cx="646331" cy="246221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인용판결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6685282-B2FB-BA1A-732E-8DFCCE7A6E36}"/>
              </a:ext>
            </a:extLst>
          </p:cNvPr>
          <p:cNvSpPr txBox="1"/>
          <p:nvPr/>
        </p:nvSpPr>
        <p:spPr>
          <a:xfrm>
            <a:off x="605387" y="4466744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소장각하</a:t>
            </a:r>
            <a:endParaRPr lang="ko-KR" altLang="en-US" sz="1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4940293-5ADB-D478-8D23-0D3062340311}"/>
              </a:ext>
            </a:extLst>
          </p:cNvPr>
          <p:cNvSpPr txBox="1"/>
          <p:nvPr/>
        </p:nvSpPr>
        <p:spPr>
          <a:xfrm>
            <a:off x="2131759" y="4466743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기각판결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16BFAF9-7192-EE9E-0294-D24028F1B35D}"/>
              </a:ext>
            </a:extLst>
          </p:cNvPr>
          <p:cNvSpPr txBox="1"/>
          <p:nvPr/>
        </p:nvSpPr>
        <p:spPr>
          <a:xfrm>
            <a:off x="1348616" y="4466744"/>
            <a:ext cx="702424" cy="2462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소각하</a:t>
            </a:r>
            <a:endParaRPr lang="ko-KR" altLang="en-US" sz="1000" dirty="0"/>
          </a:p>
        </p:txBody>
      </p:sp>
      <p:cxnSp>
        <p:nvCxnSpPr>
          <p:cNvPr id="88" name="연결선: 꺾임 87">
            <a:extLst>
              <a:ext uri="{FF2B5EF4-FFF2-40B4-BE49-F238E27FC236}">
                <a16:creationId xmlns:a16="http://schemas.microsoft.com/office/drawing/2014/main" id="{8A900608-A403-6C06-531D-F049EA3F3E00}"/>
              </a:ext>
            </a:extLst>
          </p:cNvPr>
          <p:cNvCxnSpPr>
            <a:cxnSpLocks/>
            <a:stCxn id="7" idx="2"/>
            <a:endCxn id="81" idx="0"/>
          </p:cNvCxnSpPr>
          <p:nvPr/>
        </p:nvCxnSpPr>
        <p:spPr>
          <a:xfrm rot="5400000">
            <a:off x="1355995" y="3740697"/>
            <a:ext cx="298606" cy="115348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DEA9E644-8AE1-B3B8-A994-B68E4D021312}"/>
              </a:ext>
            </a:extLst>
          </p:cNvPr>
          <p:cNvCxnSpPr>
            <a:cxnSpLocks/>
            <a:stCxn id="7" idx="2"/>
            <a:endCxn id="80" idx="0"/>
          </p:cNvCxnSpPr>
          <p:nvPr/>
        </p:nvCxnSpPr>
        <p:spPr>
          <a:xfrm rot="16200000" flipH="1">
            <a:off x="2502661" y="3747518"/>
            <a:ext cx="295072" cy="113631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23F4DA66-88BA-CBD6-9659-FBE01C4D3A3E}"/>
              </a:ext>
            </a:extLst>
          </p:cNvPr>
          <p:cNvCxnSpPr>
            <a:cxnSpLocks/>
            <a:stCxn id="7" idx="2"/>
            <a:endCxn id="84" idx="0"/>
          </p:cNvCxnSpPr>
          <p:nvPr/>
        </p:nvCxnSpPr>
        <p:spPr>
          <a:xfrm rot="5400000">
            <a:off x="1741632" y="4126334"/>
            <a:ext cx="298606" cy="38221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9D4FD930-708E-06B4-EDA3-82D6990A0C04}"/>
              </a:ext>
            </a:extLst>
          </p:cNvPr>
          <p:cNvCxnSpPr>
            <a:cxnSpLocks/>
            <a:stCxn id="7" idx="2"/>
            <a:endCxn id="82" idx="0"/>
          </p:cNvCxnSpPr>
          <p:nvPr/>
        </p:nvCxnSpPr>
        <p:spPr>
          <a:xfrm rot="16200000" flipH="1">
            <a:off x="2119181" y="4130998"/>
            <a:ext cx="298605" cy="37288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75C906D9-8CD8-E83B-0CD2-D98A1B1A6EC8}"/>
              </a:ext>
            </a:extLst>
          </p:cNvPr>
          <p:cNvCxnSpPr>
            <a:cxnSpLocks/>
            <a:stCxn id="81" idx="2"/>
            <a:endCxn id="79" idx="0"/>
          </p:cNvCxnSpPr>
          <p:nvPr/>
        </p:nvCxnSpPr>
        <p:spPr>
          <a:xfrm rot="16200000" flipH="1">
            <a:off x="1310342" y="4331175"/>
            <a:ext cx="389910" cy="115348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D1406833-CE10-7FE8-39C3-B8E643675BE1}"/>
              </a:ext>
            </a:extLst>
          </p:cNvPr>
          <p:cNvCxnSpPr>
            <a:cxnSpLocks/>
            <a:stCxn id="80" idx="2"/>
            <a:endCxn id="79" idx="0"/>
          </p:cNvCxnSpPr>
          <p:nvPr/>
        </p:nvCxnSpPr>
        <p:spPr>
          <a:xfrm rot="5400000">
            <a:off x="2453476" y="4337998"/>
            <a:ext cx="393444" cy="113631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연결선: 꺾임 101">
            <a:extLst>
              <a:ext uri="{FF2B5EF4-FFF2-40B4-BE49-F238E27FC236}">
                <a16:creationId xmlns:a16="http://schemas.microsoft.com/office/drawing/2014/main" id="{873EC34C-1E1A-D54A-A0B5-81AFEAB99EF7}"/>
              </a:ext>
            </a:extLst>
          </p:cNvPr>
          <p:cNvCxnSpPr>
            <a:cxnSpLocks/>
            <a:stCxn id="84" idx="2"/>
            <a:endCxn id="79" idx="0"/>
          </p:cNvCxnSpPr>
          <p:nvPr/>
        </p:nvCxnSpPr>
        <p:spPr>
          <a:xfrm rot="16200000" flipH="1">
            <a:off x="1695980" y="4716813"/>
            <a:ext cx="389910" cy="38221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1BC194DA-7106-35A0-8F90-F9FDA0E43964}"/>
              </a:ext>
            </a:extLst>
          </p:cNvPr>
          <p:cNvCxnSpPr>
            <a:cxnSpLocks/>
            <a:stCxn id="82" idx="2"/>
            <a:endCxn id="79" idx="0"/>
          </p:cNvCxnSpPr>
          <p:nvPr/>
        </p:nvCxnSpPr>
        <p:spPr>
          <a:xfrm rot="5400000">
            <a:off x="2073529" y="4721478"/>
            <a:ext cx="389911" cy="37288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D79A5373-6EBC-0BFB-0DFE-94C44C33F0EA}"/>
              </a:ext>
            </a:extLst>
          </p:cNvPr>
          <p:cNvSpPr txBox="1"/>
          <p:nvPr/>
        </p:nvSpPr>
        <p:spPr>
          <a:xfrm>
            <a:off x="2895187" y="5800353"/>
            <a:ext cx="646331" cy="246221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>
                    <a:lumMod val="95000"/>
                  </a:schemeClr>
                </a:solidFill>
              </a:rPr>
              <a:t>인용판결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7947B24-DBFE-BC29-66D4-7D936539EEBF}"/>
              </a:ext>
            </a:extLst>
          </p:cNvPr>
          <p:cNvSpPr txBox="1"/>
          <p:nvPr/>
        </p:nvSpPr>
        <p:spPr>
          <a:xfrm>
            <a:off x="605387" y="5803887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소장각하</a:t>
            </a:r>
            <a:endParaRPr lang="ko-KR" altLang="en-US" sz="1000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F422707F-A087-2BA4-1F58-CD46C07B9DB4}"/>
              </a:ext>
            </a:extLst>
          </p:cNvPr>
          <p:cNvSpPr txBox="1"/>
          <p:nvPr/>
        </p:nvSpPr>
        <p:spPr>
          <a:xfrm>
            <a:off x="2131759" y="5803886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기각판결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00A03DF-7277-9B0F-0D8D-401A5843D50F}"/>
              </a:ext>
            </a:extLst>
          </p:cNvPr>
          <p:cNvSpPr txBox="1"/>
          <p:nvPr/>
        </p:nvSpPr>
        <p:spPr>
          <a:xfrm>
            <a:off x="1348616" y="5803887"/>
            <a:ext cx="702424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소각하</a:t>
            </a:r>
            <a:endParaRPr lang="ko-KR" altLang="en-US" sz="1000" dirty="0"/>
          </a:p>
        </p:txBody>
      </p:sp>
      <p:cxnSp>
        <p:nvCxnSpPr>
          <p:cNvPr id="140" name="연결선: 꺾임 139">
            <a:extLst>
              <a:ext uri="{FF2B5EF4-FFF2-40B4-BE49-F238E27FC236}">
                <a16:creationId xmlns:a16="http://schemas.microsoft.com/office/drawing/2014/main" id="{F40F4401-616C-3AE3-6CD9-CC8F1BA2EA7C}"/>
              </a:ext>
            </a:extLst>
          </p:cNvPr>
          <p:cNvCxnSpPr>
            <a:cxnSpLocks/>
            <a:stCxn id="79" idx="2"/>
            <a:endCxn id="135" idx="0"/>
          </p:cNvCxnSpPr>
          <p:nvPr/>
        </p:nvCxnSpPr>
        <p:spPr>
          <a:xfrm rot="5400000">
            <a:off x="1320139" y="5041983"/>
            <a:ext cx="370319" cy="115348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연결선: 꺾임 143">
            <a:extLst>
              <a:ext uri="{FF2B5EF4-FFF2-40B4-BE49-F238E27FC236}">
                <a16:creationId xmlns:a16="http://schemas.microsoft.com/office/drawing/2014/main" id="{4616FE5D-1557-4BDF-6C67-3A2DABD7D989}"/>
              </a:ext>
            </a:extLst>
          </p:cNvPr>
          <p:cNvCxnSpPr>
            <a:cxnSpLocks/>
            <a:stCxn id="79" idx="2"/>
            <a:endCxn id="134" idx="0"/>
          </p:cNvCxnSpPr>
          <p:nvPr/>
        </p:nvCxnSpPr>
        <p:spPr>
          <a:xfrm rot="16200000" flipH="1">
            <a:off x="2466805" y="5048804"/>
            <a:ext cx="366785" cy="113631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연결선: 꺾임 144">
            <a:extLst>
              <a:ext uri="{FF2B5EF4-FFF2-40B4-BE49-F238E27FC236}">
                <a16:creationId xmlns:a16="http://schemas.microsoft.com/office/drawing/2014/main" id="{D3BA6768-AF6F-9DB9-3E8F-33952706BB72}"/>
              </a:ext>
            </a:extLst>
          </p:cNvPr>
          <p:cNvCxnSpPr>
            <a:cxnSpLocks/>
            <a:stCxn id="79" idx="2"/>
            <a:endCxn id="139" idx="0"/>
          </p:cNvCxnSpPr>
          <p:nvPr/>
        </p:nvCxnSpPr>
        <p:spPr>
          <a:xfrm rot="5400000">
            <a:off x="1705776" y="5427620"/>
            <a:ext cx="370319" cy="38221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연결선: 꺾임 145">
            <a:extLst>
              <a:ext uri="{FF2B5EF4-FFF2-40B4-BE49-F238E27FC236}">
                <a16:creationId xmlns:a16="http://schemas.microsoft.com/office/drawing/2014/main" id="{D1540982-A558-0F38-DE2F-954E6CF49338}"/>
              </a:ext>
            </a:extLst>
          </p:cNvPr>
          <p:cNvCxnSpPr>
            <a:cxnSpLocks/>
            <a:stCxn id="79" idx="2"/>
            <a:endCxn id="138" idx="0"/>
          </p:cNvCxnSpPr>
          <p:nvPr/>
        </p:nvCxnSpPr>
        <p:spPr>
          <a:xfrm rot="16200000" flipH="1">
            <a:off x="2083324" y="5432285"/>
            <a:ext cx="370318" cy="37288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연결선: 꺾임 147">
            <a:extLst>
              <a:ext uri="{FF2B5EF4-FFF2-40B4-BE49-F238E27FC236}">
                <a16:creationId xmlns:a16="http://schemas.microsoft.com/office/drawing/2014/main" id="{3A521ECC-8A89-6EF6-51C5-F2D0458E839E}"/>
              </a:ext>
            </a:extLst>
          </p:cNvPr>
          <p:cNvCxnSpPr>
            <a:cxnSpLocks/>
            <a:stCxn id="80" idx="3"/>
            <a:endCxn id="5" idx="3"/>
          </p:cNvCxnSpPr>
          <p:nvPr/>
        </p:nvCxnSpPr>
        <p:spPr>
          <a:xfrm flipH="1" flipV="1">
            <a:off x="2604569" y="2654041"/>
            <a:ext cx="936949" cy="1932280"/>
          </a:xfrm>
          <a:prstGeom prst="bentConnector3">
            <a:avLst>
              <a:gd name="adj1" fmla="val -24398"/>
            </a:avLst>
          </a:prstGeom>
          <a:ln w="28575">
            <a:solidFill>
              <a:schemeClr val="accent4">
                <a:lumMod val="75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F2224EDE-E7CD-A734-2FAB-31521B835351}"/>
              </a:ext>
            </a:extLst>
          </p:cNvPr>
          <p:cNvSpPr txBox="1"/>
          <p:nvPr/>
        </p:nvSpPr>
        <p:spPr>
          <a:xfrm>
            <a:off x="3137564" y="3684409"/>
            <a:ext cx="583369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50" dirty="0" err="1">
                <a:solidFill>
                  <a:srgbClr val="FF0000"/>
                </a:solidFill>
              </a:rPr>
              <a:t>취소환송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cxnSp>
        <p:nvCxnSpPr>
          <p:cNvPr id="153" name="연결선: 꺾임 152">
            <a:extLst>
              <a:ext uri="{FF2B5EF4-FFF2-40B4-BE49-F238E27FC236}">
                <a16:creationId xmlns:a16="http://schemas.microsoft.com/office/drawing/2014/main" id="{60969078-E61E-4520-FBCF-D0B502835767}"/>
              </a:ext>
            </a:extLst>
          </p:cNvPr>
          <p:cNvCxnSpPr>
            <a:cxnSpLocks/>
            <a:stCxn id="134" idx="3"/>
            <a:endCxn id="7" idx="1"/>
          </p:cNvCxnSpPr>
          <p:nvPr/>
        </p:nvCxnSpPr>
        <p:spPr>
          <a:xfrm flipH="1" flipV="1">
            <a:off x="1559515" y="4002792"/>
            <a:ext cx="1982003" cy="1920672"/>
          </a:xfrm>
          <a:prstGeom prst="bentConnector5">
            <a:avLst>
              <a:gd name="adj1" fmla="val -11534"/>
              <a:gd name="adj2" fmla="val -22046"/>
              <a:gd name="adj3" fmla="val 164454"/>
            </a:avLst>
          </a:prstGeom>
          <a:ln w="28575">
            <a:solidFill>
              <a:schemeClr val="accent6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EF387971-05B0-D898-EDC2-C640B5AD0517}"/>
              </a:ext>
            </a:extLst>
          </p:cNvPr>
          <p:cNvSpPr txBox="1"/>
          <p:nvPr/>
        </p:nvSpPr>
        <p:spPr>
          <a:xfrm>
            <a:off x="1583039" y="6347957"/>
            <a:ext cx="671979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50" dirty="0" err="1">
                <a:solidFill>
                  <a:srgbClr val="FF0000"/>
                </a:solidFill>
              </a:rPr>
              <a:t>파기환송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60DE5784-C050-99D3-F908-39E44DF4F8FA}"/>
              </a:ext>
            </a:extLst>
          </p:cNvPr>
          <p:cNvSpPr/>
          <p:nvPr/>
        </p:nvSpPr>
        <p:spPr>
          <a:xfrm>
            <a:off x="512637" y="4402751"/>
            <a:ext cx="2353027" cy="3821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15BC58C-AF3F-44B7-39FA-91D2C95D7AD5}"/>
              </a:ext>
            </a:extLst>
          </p:cNvPr>
          <p:cNvSpPr txBox="1"/>
          <p:nvPr/>
        </p:nvSpPr>
        <p:spPr>
          <a:xfrm>
            <a:off x="473054" y="4054911"/>
            <a:ext cx="690249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50" dirty="0" err="1">
                <a:solidFill>
                  <a:srgbClr val="FF0000"/>
                </a:solidFill>
              </a:rPr>
              <a:t>원심결유지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A0BA4238-E316-69AD-4F90-5635F0B4D67F}"/>
              </a:ext>
            </a:extLst>
          </p:cNvPr>
          <p:cNvSpPr/>
          <p:nvPr/>
        </p:nvSpPr>
        <p:spPr>
          <a:xfrm>
            <a:off x="512637" y="5730395"/>
            <a:ext cx="2353027" cy="40064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516F8BB3-EE5E-DB01-7ED8-DF5334650588}"/>
              </a:ext>
            </a:extLst>
          </p:cNvPr>
          <p:cNvSpPr txBox="1"/>
          <p:nvPr/>
        </p:nvSpPr>
        <p:spPr>
          <a:xfrm>
            <a:off x="473054" y="5463236"/>
            <a:ext cx="690249" cy="26161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rgbClr val="FF0000"/>
                </a:solidFill>
              </a:rPr>
              <a:t>원판결유지</a:t>
            </a:r>
          </a:p>
        </p:txBody>
      </p:sp>
      <p:sp>
        <p:nvSpPr>
          <p:cNvPr id="89" name="직사각형 88"/>
          <p:cNvSpPr/>
          <p:nvPr/>
        </p:nvSpPr>
        <p:spPr>
          <a:xfrm>
            <a:off x="9661736" y="2099947"/>
            <a:ext cx="930523" cy="6441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심사국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9661736" y="3329267"/>
            <a:ext cx="930523" cy="6441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심판원</a:t>
            </a:r>
          </a:p>
        </p:txBody>
      </p:sp>
      <p:sp>
        <p:nvSpPr>
          <p:cNvPr id="91" name="직사각형 90"/>
          <p:cNvSpPr/>
          <p:nvPr/>
        </p:nvSpPr>
        <p:spPr>
          <a:xfrm>
            <a:off x="9661736" y="4519894"/>
            <a:ext cx="930523" cy="6435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특허법원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9661736" y="5739093"/>
            <a:ext cx="930523" cy="6441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대법원</a:t>
            </a:r>
          </a:p>
        </p:txBody>
      </p:sp>
      <p:cxnSp>
        <p:nvCxnSpPr>
          <p:cNvPr id="41" name="직선 화살표 연결선 40"/>
          <p:cNvCxnSpPr>
            <a:stCxn id="42" idx="2"/>
            <a:endCxn id="89" idx="0"/>
          </p:cNvCxnSpPr>
          <p:nvPr/>
        </p:nvCxnSpPr>
        <p:spPr>
          <a:xfrm>
            <a:off x="10117705" y="1792826"/>
            <a:ext cx="9293" cy="30712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794539" y="1546605"/>
            <a:ext cx="6463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특허출원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773430" y="2099947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특허결정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773430" y="2436299"/>
            <a:ext cx="646331" cy="24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거절결정</a:t>
            </a:r>
          </a:p>
        </p:txBody>
      </p:sp>
      <p:cxnSp>
        <p:nvCxnSpPr>
          <p:cNvPr id="99" name="직선 화살표 연결선 98"/>
          <p:cNvCxnSpPr>
            <a:stCxn id="89" idx="2"/>
            <a:endCxn id="90" idx="0"/>
          </p:cNvCxnSpPr>
          <p:nvPr/>
        </p:nvCxnSpPr>
        <p:spPr>
          <a:xfrm>
            <a:off x="10126998" y="2744076"/>
            <a:ext cx="0" cy="58519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/>
          <p:cNvCxnSpPr>
            <a:stCxn id="90" idx="2"/>
            <a:endCxn id="91" idx="0"/>
          </p:cNvCxnSpPr>
          <p:nvPr/>
        </p:nvCxnSpPr>
        <p:spPr>
          <a:xfrm>
            <a:off x="10126998" y="3973396"/>
            <a:ext cx="0" cy="5464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/>
          <p:cNvCxnSpPr>
            <a:stCxn id="91" idx="2"/>
            <a:endCxn id="93" idx="0"/>
          </p:cNvCxnSpPr>
          <p:nvPr/>
        </p:nvCxnSpPr>
        <p:spPr>
          <a:xfrm>
            <a:off x="10126998" y="5163426"/>
            <a:ext cx="0" cy="57566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>
            <a:stCxn id="97" idx="2"/>
            <a:endCxn id="90" idx="0"/>
          </p:cNvCxnSpPr>
          <p:nvPr/>
        </p:nvCxnSpPr>
        <p:spPr>
          <a:xfrm rot="5400000">
            <a:off x="10288424" y="2521094"/>
            <a:ext cx="646747" cy="96959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8812175" y="3329267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인용심결</a:t>
            </a:r>
            <a:endParaRPr lang="ko-KR" altLang="en-US" sz="1000" dirty="0"/>
          </a:p>
        </p:txBody>
      </p:sp>
      <p:sp>
        <p:nvSpPr>
          <p:cNvPr id="118" name="TextBox 117"/>
          <p:cNvSpPr txBox="1"/>
          <p:nvPr/>
        </p:nvSpPr>
        <p:spPr>
          <a:xfrm>
            <a:off x="8812175" y="3665619"/>
            <a:ext cx="646331" cy="24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기각심결</a:t>
            </a:r>
            <a:endParaRPr lang="ko-KR" altLang="en-US" sz="1000" dirty="0"/>
          </a:p>
        </p:txBody>
      </p:sp>
      <p:cxnSp>
        <p:nvCxnSpPr>
          <p:cNvPr id="104" name="꺾인 연결선 103"/>
          <p:cNvCxnSpPr>
            <a:stCxn id="118" idx="2"/>
            <a:endCxn id="91" idx="0"/>
          </p:cNvCxnSpPr>
          <p:nvPr/>
        </p:nvCxnSpPr>
        <p:spPr>
          <a:xfrm rot="16200000" flipH="1">
            <a:off x="9327142" y="3720038"/>
            <a:ext cx="608054" cy="99165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/>
          <p:cNvSpPr txBox="1"/>
          <p:nvPr/>
        </p:nvSpPr>
        <p:spPr>
          <a:xfrm>
            <a:off x="10773431" y="4519297"/>
            <a:ext cx="646331" cy="24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인용판결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773431" y="4855649"/>
            <a:ext cx="646331" cy="2462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기각판결</a:t>
            </a:r>
          </a:p>
        </p:txBody>
      </p:sp>
      <p:cxnSp>
        <p:nvCxnSpPr>
          <p:cNvPr id="130" name="꺾인 연결선 129"/>
          <p:cNvCxnSpPr>
            <a:stCxn id="122" idx="3"/>
            <a:endCxn id="93" idx="0"/>
          </p:cNvCxnSpPr>
          <p:nvPr/>
        </p:nvCxnSpPr>
        <p:spPr>
          <a:xfrm flipH="1">
            <a:off x="10126998" y="4642408"/>
            <a:ext cx="1292764" cy="1096685"/>
          </a:xfrm>
          <a:prstGeom prst="bentConnector4">
            <a:avLst>
              <a:gd name="adj1" fmla="val -17683"/>
              <a:gd name="adj2" fmla="val 55613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124" idx="3"/>
            <a:endCxn id="93" idx="0"/>
          </p:cNvCxnSpPr>
          <p:nvPr/>
        </p:nvCxnSpPr>
        <p:spPr>
          <a:xfrm flipH="1">
            <a:off x="10126998" y="4978760"/>
            <a:ext cx="1292764" cy="760333"/>
          </a:xfrm>
          <a:prstGeom prst="bentConnector4">
            <a:avLst>
              <a:gd name="adj1" fmla="val -17683"/>
              <a:gd name="adj2" fmla="val 58096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8812175" y="5739093"/>
            <a:ext cx="646331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인용판결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812175" y="6075445"/>
            <a:ext cx="646331" cy="24622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기각판결</a:t>
            </a:r>
          </a:p>
        </p:txBody>
      </p:sp>
      <p:sp>
        <p:nvSpPr>
          <p:cNvPr id="141" name="모서리가 둥근 사각형 설명선 140"/>
          <p:cNvSpPr/>
          <p:nvPr/>
        </p:nvSpPr>
        <p:spPr>
          <a:xfrm>
            <a:off x="8471382" y="2603199"/>
            <a:ext cx="1025799" cy="535187"/>
          </a:xfrm>
          <a:prstGeom prst="wedgeRoundRectCallout">
            <a:avLst>
              <a:gd name="adj1" fmla="val 21996"/>
              <a:gd name="adj2" fmla="val 81868"/>
              <a:gd name="adj3" fmla="val 16667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거절결정취소</a:t>
            </a:r>
            <a:endParaRPr lang="en-US" altLang="ko-KR" sz="1000" dirty="0"/>
          </a:p>
          <a:p>
            <a:pPr algn="ctr"/>
            <a:r>
              <a:rPr lang="ko-KR" altLang="en-US" sz="1000" dirty="0"/>
              <a:t>자판 또는 환송</a:t>
            </a:r>
          </a:p>
        </p:txBody>
      </p:sp>
      <p:sp>
        <p:nvSpPr>
          <p:cNvPr id="142" name="모서리가 둥근 사각형 설명선 141"/>
          <p:cNvSpPr/>
          <p:nvPr/>
        </p:nvSpPr>
        <p:spPr>
          <a:xfrm>
            <a:off x="10906861" y="3826799"/>
            <a:ext cx="1025799" cy="391627"/>
          </a:xfrm>
          <a:prstGeom prst="wedgeRoundRectCallout">
            <a:avLst>
              <a:gd name="adj1" fmla="val -34369"/>
              <a:gd name="adj2" fmla="val 113009"/>
              <a:gd name="adj3" fmla="val 16667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취소환송</a:t>
            </a:r>
          </a:p>
        </p:txBody>
      </p:sp>
      <p:sp>
        <p:nvSpPr>
          <p:cNvPr id="143" name="모서리가 둥근 사각형 설명선 142"/>
          <p:cNvSpPr/>
          <p:nvPr/>
        </p:nvSpPr>
        <p:spPr>
          <a:xfrm>
            <a:off x="8355669" y="5059632"/>
            <a:ext cx="1025799" cy="391627"/>
          </a:xfrm>
          <a:prstGeom prst="wedgeRoundRectCallout">
            <a:avLst>
              <a:gd name="adj1" fmla="val 35307"/>
              <a:gd name="adj2" fmla="val 121879"/>
              <a:gd name="adj3" fmla="val 16667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파기환송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29416010-0290-E48A-94A5-AAECA5A576D6}"/>
              </a:ext>
            </a:extLst>
          </p:cNvPr>
          <p:cNvSpPr txBox="1"/>
          <p:nvPr/>
        </p:nvSpPr>
        <p:spPr>
          <a:xfrm>
            <a:off x="8630508" y="2344661"/>
            <a:ext cx="627095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176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D27BC84F-8430-9B72-2CD4-DF599AE5FF9C}"/>
              </a:ext>
            </a:extLst>
          </p:cNvPr>
          <p:cNvSpPr txBox="1"/>
          <p:nvPr/>
        </p:nvSpPr>
        <p:spPr>
          <a:xfrm>
            <a:off x="11118655" y="3553253"/>
            <a:ext cx="627095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189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175" name="사각형: 둥근 모서리 174">
            <a:extLst>
              <a:ext uri="{FF2B5EF4-FFF2-40B4-BE49-F238E27FC236}">
                <a16:creationId xmlns:a16="http://schemas.microsoft.com/office/drawing/2014/main" id="{3BB63EC6-873A-69CA-4C49-550BE8319CC2}"/>
              </a:ext>
            </a:extLst>
          </p:cNvPr>
          <p:cNvSpPr/>
          <p:nvPr/>
        </p:nvSpPr>
        <p:spPr>
          <a:xfrm>
            <a:off x="7932033" y="956267"/>
            <a:ext cx="1950712" cy="337007"/>
          </a:xfrm>
          <a:prstGeom prst="roundRect">
            <a:avLst>
              <a:gd name="adj" fmla="val 50000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거절결정불복심판 사례</a:t>
            </a:r>
          </a:p>
        </p:txBody>
      </p: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0F86F56E-D72E-14AD-885C-0A0417A64422}"/>
              </a:ext>
            </a:extLst>
          </p:cNvPr>
          <p:cNvCxnSpPr>
            <a:cxnSpLocks/>
          </p:cNvCxnSpPr>
          <p:nvPr/>
        </p:nvCxnSpPr>
        <p:spPr>
          <a:xfrm flipV="1">
            <a:off x="7716953" y="902477"/>
            <a:ext cx="0" cy="556360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6" name="그룹 205">
            <a:extLst>
              <a:ext uri="{FF2B5EF4-FFF2-40B4-BE49-F238E27FC236}">
                <a16:creationId xmlns:a16="http://schemas.microsoft.com/office/drawing/2014/main" id="{5775DDB6-4816-C7DF-FA88-54A66840EC66}"/>
              </a:ext>
            </a:extLst>
          </p:cNvPr>
          <p:cNvGrpSpPr/>
          <p:nvPr/>
        </p:nvGrpSpPr>
        <p:grpSpPr>
          <a:xfrm>
            <a:off x="4202322" y="1546605"/>
            <a:ext cx="3183894" cy="4919474"/>
            <a:chOff x="476250" y="1238250"/>
            <a:chExt cx="3867150" cy="5343524"/>
          </a:xfrm>
        </p:grpSpPr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D6E5E24E-E7B2-27F2-5209-8AFB5713811C}"/>
                </a:ext>
              </a:extLst>
            </p:cNvPr>
            <p:cNvSpPr/>
            <p:nvPr/>
          </p:nvSpPr>
          <p:spPr>
            <a:xfrm>
              <a:off x="876300" y="1238250"/>
              <a:ext cx="1238250" cy="400050"/>
            </a:xfrm>
            <a:prstGeom prst="rect">
              <a:avLst/>
            </a:prstGeom>
            <a:solidFill>
              <a:schemeClr val="accent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accent4"/>
                  </a:solidFill>
                </a:rPr>
                <a:t>소의 제기</a:t>
              </a:r>
            </a:p>
          </p:txBody>
        </p:sp>
        <p:sp>
          <p:nvSpPr>
            <p:cNvPr id="186" name="순서도: 판단 185">
              <a:extLst>
                <a:ext uri="{FF2B5EF4-FFF2-40B4-BE49-F238E27FC236}">
                  <a16:creationId xmlns:a16="http://schemas.microsoft.com/office/drawing/2014/main" id="{FBD2A952-B663-8FC3-AC1E-689FDFB18E86}"/>
                </a:ext>
              </a:extLst>
            </p:cNvPr>
            <p:cNvSpPr/>
            <p:nvPr/>
          </p:nvSpPr>
          <p:spPr>
            <a:xfrm>
              <a:off x="476250" y="2076450"/>
              <a:ext cx="2038350" cy="809625"/>
            </a:xfrm>
            <a:prstGeom prst="flowChartDecisi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>
                  <a:solidFill>
                    <a:schemeClr val="bg1">
                      <a:lumMod val="50000"/>
                    </a:schemeClr>
                  </a:solidFill>
                </a:rPr>
                <a:t>소장심사</a:t>
              </a:r>
            </a:p>
          </p:txBody>
        </p:sp>
        <p:sp>
          <p:nvSpPr>
            <p:cNvPr id="187" name="순서도: 판단 186">
              <a:extLst>
                <a:ext uri="{FF2B5EF4-FFF2-40B4-BE49-F238E27FC236}">
                  <a16:creationId xmlns:a16="http://schemas.microsoft.com/office/drawing/2014/main" id="{5430E2D6-35FA-1EB3-74EE-4A7C34DC7129}"/>
                </a:ext>
              </a:extLst>
            </p:cNvPr>
            <p:cNvSpPr/>
            <p:nvPr/>
          </p:nvSpPr>
          <p:spPr>
            <a:xfrm>
              <a:off x="476250" y="3343275"/>
              <a:ext cx="2038350" cy="809625"/>
            </a:xfrm>
            <a:prstGeom prst="flowChartDecisi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소송요건</a:t>
              </a:r>
              <a:endParaRPr lang="en-US" altLang="ko-KR" sz="12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심리</a:t>
              </a:r>
            </a:p>
          </p:txBody>
        </p:sp>
        <p:sp>
          <p:nvSpPr>
            <p:cNvPr id="188" name="순서도: 판단 187">
              <a:extLst>
                <a:ext uri="{FF2B5EF4-FFF2-40B4-BE49-F238E27FC236}">
                  <a16:creationId xmlns:a16="http://schemas.microsoft.com/office/drawing/2014/main" id="{7C2DDD98-7C94-334E-EC7C-634CB3B98404}"/>
                </a:ext>
              </a:extLst>
            </p:cNvPr>
            <p:cNvSpPr/>
            <p:nvPr/>
          </p:nvSpPr>
          <p:spPr>
            <a:xfrm>
              <a:off x="476250" y="4695825"/>
              <a:ext cx="2038350" cy="809625"/>
            </a:xfrm>
            <a:prstGeom prst="flowChartDecisi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 err="1">
                  <a:solidFill>
                    <a:schemeClr val="bg1">
                      <a:lumMod val="50000"/>
                    </a:schemeClr>
                  </a:solidFill>
                </a:rPr>
                <a:t>본안심리</a:t>
              </a:r>
              <a:endParaRPr lang="ko-KR" alt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189" name="직선 화살표 연결선 188">
              <a:extLst>
                <a:ext uri="{FF2B5EF4-FFF2-40B4-BE49-F238E27FC236}">
                  <a16:creationId xmlns:a16="http://schemas.microsoft.com/office/drawing/2014/main" id="{5DB5AA12-5C22-55A0-8466-A71AEE8B75F2}"/>
                </a:ext>
              </a:extLst>
            </p:cNvPr>
            <p:cNvCxnSpPr>
              <a:stCxn id="185" idx="2"/>
              <a:endCxn id="186" idx="0"/>
            </p:cNvCxnSpPr>
            <p:nvPr/>
          </p:nvCxnSpPr>
          <p:spPr>
            <a:xfrm>
              <a:off x="1495425" y="1638300"/>
              <a:ext cx="0" cy="43815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직선 화살표 연결선 189">
              <a:extLst>
                <a:ext uri="{FF2B5EF4-FFF2-40B4-BE49-F238E27FC236}">
                  <a16:creationId xmlns:a16="http://schemas.microsoft.com/office/drawing/2014/main" id="{B1DB3530-54D9-B4E3-6F30-5542AC0F80EC}"/>
                </a:ext>
              </a:extLst>
            </p:cNvPr>
            <p:cNvCxnSpPr>
              <a:stCxn id="186" idx="2"/>
              <a:endCxn id="187" idx="0"/>
            </p:cNvCxnSpPr>
            <p:nvPr/>
          </p:nvCxnSpPr>
          <p:spPr>
            <a:xfrm>
              <a:off x="1495425" y="2886075"/>
              <a:ext cx="0" cy="45720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직선 화살표 연결선 190">
              <a:extLst>
                <a:ext uri="{FF2B5EF4-FFF2-40B4-BE49-F238E27FC236}">
                  <a16:creationId xmlns:a16="http://schemas.microsoft.com/office/drawing/2014/main" id="{F25ED9B7-4632-472A-0C1E-60576EA2C9D9}"/>
                </a:ext>
              </a:extLst>
            </p:cNvPr>
            <p:cNvCxnSpPr>
              <a:stCxn id="187" idx="2"/>
              <a:endCxn id="188" idx="0"/>
            </p:cNvCxnSpPr>
            <p:nvPr/>
          </p:nvCxnSpPr>
          <p:spPr>
            <a:xfrm>
              <a:off x="1495425" y="4152900"/>
              <a:ext cx="0" cy="542925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0A51B763-A757-A6F8-0808-ED83968EC29C}"/>
                </a:ext>
              </a:extLst>
            </p:cNvPr>
            <p:cNvSpPr txBox="1"/>
            <p:nvPr/>
          </p:nvSpPr>
          <p:spPr>
            <a:xfrm>
              <a:off x="1495425" y="2905125"/>
              <a:ext cx="5186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Yes</a:t>
              </a:r>
              <a:endParaRPr lang="ko-KR" altLang="en-US" sz="1200" dirty="0"/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3A30914E-EECE-45D5-B9EE-48472A6D6F7F}"/>
                </a:ext>
              </a:extLst>
            </p:cNvPr>
            <p:cNvSpPr txBox="1"/>
            <p:nvPr/>
          </p:nvSpPr>
          <p:spPr>
            <a:xfrm>
              <a:off x="1495425" y="4152900"/>
              <a:ext cx="5186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Yes</a:t>
              </a:r>
              <a:endParaRPr lang="ko-KR" altLang="en-US" sz="1200" dirty="0"/>
            </a:p>
          </p:txBody>
        </p: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4E40373D-9A14-C037-CB6C-88CE8F4DFDA5}"/>
                </a:ext>
              </a:extLst>
            </p:cNvPr>
            <p:cNvSpPr txBox="1"/>
            <p:nvPr/>
          </p:nvSpPr>
          <p:spPr>
            <a:xfrm>
              <a:off x="1495425" y="5505450"/>
              <a:ext cx="5186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Yes</a:t>
              </a:r>
              <a:endParaRPr lang="ko-KR" altLang="en-US" sz="1200" dirty="0"/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CD31ADE4-A549-FA7B-A898-8AB81BFA5371}"/>
                </a:ext>
              </a:extLst>
            </p:cNvPr>
            <p:cNvSpPr/>
            <p:nvPr/>
          </p:nvSpPr>
          <p:spPr>
            <a:xfrm>
              <a:off x="876300" y="6019799"/>
              <a:ext cx="1238250" cy="5619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인용판결</a:t>
              </a:r>
              <a:endParaRPr lang="en-US" altLang="ko-KR" sz="12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algn="ctr"/>
              <a:r>
                <a:rPr lang="en-US" altLang="ko-KR" sz="1200" dirty="0">
                  <a:solidFill>
                    <a:schemeClr val="bg1">
                      <a:lumMod val="50000"/>
                    </a:schemeClr>
                  </a:solidFill>
                </a:rPr>
                <a:t>(</a:t>
              </a:r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취소환송</a:t>
              </a:r>
              <a:r>
                <a:rPr lang="en-US" altLang="ko-KR" sz="1200" dirty="0">
                  <a:solidFill>
                    <a:schemeClr val="bg1">
                      <a:lumMod val="50000"/>
                    </a:schemeClr>
                  </a:solidFill>
                </a:rPr>
                <a:t>)</a:t>
              </a:r>
              <a:endParaRPr lang="ko-KR" alt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cxnSp>
          <p:nvCxnSpPr>
            <p:cNvPr id="196" name="직선 화살표 연결선 195">
              <a:extLst>
                <a:ext uri="{FF2B5EF4-FFF2-40B4-BE49-F238E27FC236}">
                  <a16:creationId xmlns:a16="http://schemas.microsoft.com/office/drawing/2014/main" id="{F6CCD13B-A964-3039-226C-913CE3857D0A}"/>
                </a:ext>
              </a:extLst>
            </p:cNvPr>
            <p:cNvCxnSpPr>
              <a:stCxn id="188" idx="2"/>
              <a:endCxn id="195" idx="0"/>
            </p:cNvCxnSpPr>
            <p:nvPr/>
          </p:nvCxnSpPr>
          <p:spPr>
            <a:xfrm>
              <a:off x="1495425" y="5505450"/>
              <a:ext cx="0" cy="514349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직사각형 196">
              <a:extLst>
                <a:ext uri="{FF2B5EF4-FFF2-40B4-BE49-F238E27FC236}">
                  <a16:creationId xmlns:a16="http://schemas.microsoft.com/office/drawing/2014/main" id="{16AEBCD6-8499-9EBD-9E44-583DF3704231}"/>
                </a:ext>
              </a:extLst>
            </p:cNvPr>
            <p:cNvSpPr/>
            <p:nvPr/>
          </p:nvSpPr>
          <p:spPr>
            <a:xfrm>
              <a:off x="3105150" y="4819649"/>
              <a:ext cx="1238250" cy="5619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기각판결</a:t>
              </a:r>
            </a:p>
          </p:txBody>
        </p: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5DE607D2-0BDD-0789-7722-0DD19F838E15}"/>
                </a:ext>
              </a:extLst>
            </p:cNvPr>
            <p:cNvSpPr/>
            <p:nvPr/>
          </p:nvSpPr>
          <p:spPr>
            <a:xfrm>
              <a:off x="3105150" y="3467099"/>
              <a:ext cx="1238250" cy="5619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소 각하</a:t>
              </a:r>
            </a:p>
          </p:txBody>
        </p: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57713FE9-C832-8FB1-B62C-0B7A94112DAC}"/>
                </a:ext>
              </a:extLst>
            </p:cNvPr>
            <p:cNvSpPr/>
            <p:nvPr/>
          </p:nvSpPr>
          <p:spPr>
            <a:xfrm>
              <a:off x="3105150" y="2200274"/>
              <a:ext cx="1238250" cy="561975"/>
            </a:xfrm>
            <a:prstGeom prst="rect">
              <a:avLst/>
            </a:prstGeom>
            <a:solidFill>
              <a:schemeClr val="accent4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bg1">
                      <a:lumMod val="50000"/>
                    </a:schemeClr>
                  </a:solidFill>
                </a:rPr>
                <a:t>소장 각하</a:t>
              </a:r>
            </a:p>
          </p:txBody>
        </p:sp>
        <p:cxnSp>
          <p:nvCxnSpPr>
            <p:cNvPr id="200" name="직선 연결선 199">
              <a:extLst>
                <a:ext uri="{FF2B5EF4-FFF2-40B4-BE49-F238E27FC236}">
                  <a16:creationId xmlns:a16="http://schemas.microsoft.com/office/drawing/2014/main" id="{C14A4BA1-AC50-8312-A78B-530938185C8E}"/>
                </a:ext>
              </a:extLst>
            </p:cNvPr>
            <p:cNvCxnSpPr>
              <a:stCxn id="186" idx="3"/>
              <a:endCxn id="199" idx="1"/>
            </p:cNvCxnSpPr>
            <p:nvPr/>
          </p:nvCxnSpPr>
          <p:spPr>
            <a:xfrm flipV="1">
              <a:off x="2514600" y="2481262"/>
              <a:ext cx="590550" cy="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직선 연결선 200">
              <a:extLst>
                <a:ext uri="{FF2B5EF4-FFF2-40B4-BE49-F238E27FC236}">
                  <a16:creationId xmlns:a16="http://schemas.microsoft.com/office/drawing/2014/main" id="{85772DA6-CF69-9324-7161-9E2A881957E6}"/>
                </a:ext>
              </a:extLst>
            </p:cNvPr>
            <p:cNvCxnSpPr>
              <a:stCxn id="187" idx="3"/>
              <a:endCxn id="198" idx="1"/>
            </p:cNvCxnSpPr>
            <p:nvPr/>
          </p:nvCxnSpPr>
          <p:spPr>
            <a:xfrm flipV="1">
              <a:off x="2514600" y="3748087"/>
              <a:ext cx="590550" cy="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직선 연결선 201">
              <a:extLst>
                <a:ext uri="{FF2B5EF4-FFF2-40B4-BE49-F238E27FC236}">
                  <a16:creationId xmlns:a16="http://schemas.microsoft.com/office/drawing/2014/main" id="{07939EA1-A72B-B8F3-3835-A924103F575A}"/>
                </a:ext>
              </a:extLst>
            </p:cNvPr>
            <p:cNvCxnSpPr>
              <a:stCxn id="188" idx="3"/>
              <a:endCxn id="197" idx="1"/>
            </p:cNvCxnSpPr>
            <p:nvPr/>
          </p:nvCxnSpPr>
          <p:spPr>
            <a:xfrm flipV="1">
              <a:off x="2514600" y="5100637"/>
              <a:ext cx="590550" cy="1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2FB6E75C-44B8-3601-A9CC-B0D96C7F1296}"/>
                </a:ext>
              </a:extLst>
            </p:cNvPr>
            <p:cNvSpPr txBox="1"/>
            <p:nvPr/>
          </p:nvSpPr>
          <p:spPr>
            <a:xfrm>
              <a:off x="2382899" y="2204264"/>
              <a:ext cx="4735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No</a:t>
              </a:r>
              <a:endParaRPr lang="ko-KR" altLang="en-US" sz="1200" dirty="0"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398005A6-C440-08BB-EA9B-9CF40E5749E0}"/>
                </a:ext>
              </a:extLst>
            </p:cNvPr>
            <p:cNvSpPr txBox="1"/>
            <p:nvPr/>
          </p:nvSpPr>
          <p:spPr>
            <a:xfrm>
              <a:off x="2382899" y="3467099"/>
              <a:ext cx="4735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No</a:t>
              </a:r>
              <a:endParaRPr lang="ko-KR" altLang="en-US" sz="1200" dirty="0"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18B68543-71E3-B295-91B0-8BBF9DA6B5F8}"/>
                </a:ext>
              </a:extLst>
            </p:cNvPr>
            <p:cNvSpPr txBox="1"/>
            <p:nvPr/>
          </p:nvSpPr>
          <p:spPr>
            <a:xfrm>
              <a:off x="2382899" y="4819649"/>
              <a:ext cx="47351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No</a:t>
              </a:r>
              <a:endParaRPr lang="ko-KR" altLang="en-US" sz="1200" dirty="0"/>
            </a:p>
          </p:txBody>
        </p:sp>
      </p:grpSp>
      <p:sp>
        <p:nvSpPr>
          <p:cNvPr id="207" name="사각형: 둥근 모서리 206">
            <a:extLst>
              <a:ext uri="{FF2B5EF4-FFF2-40B4-BE49-F238E27FC236}">
                <a16:creationId xmlns:a16="http://schemas.microsoft.com/office/drawing/2014/main" id="{D724894B-4404-A41C-5F5B-7FF4EB9F2441}"/>
              </a:ext>
            </a:extLst>
          </p:cNvPr>
          <p:cNvSpPr/>
          <p:nvPr/>
        </p:nvSpPr>
        <p:spPr>
          <a:xfrm>
            <a:off x="4062533" y="956267"/>
            <a:ext cx="1950712" cy="337007"/>
          </a:xfrm>
          <a:prstGeom prst="roundRect">
            <a:avLst>
              <a:gd name="adj" fmla="val 50000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특허법원의 절차진행</a:t>
            </a:r>
          </a:p>
        </p:txBody>
      </p: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DDF59170-EF48-3124-2595-9970D9D0409C}"/>
              </a:ext>
            </a:extLst>
          </p:cNvPr>
          <p:cNvSpPr/>
          <p:nvPr/>
        </p:nvSpPr>
        <p:spPr>
          <a:xfrm>
            <a:off x="131329" y="956267"/>
            <a:ext cx="1950712" cy="337007"/>
          </a:xfrm>
          <a:prstGeom prst="roundRect">
            <a:avLst>
              <a:gd name="adj" fmla="val 50000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특허소송절차의 개괄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F0C160-F809-82B5-3400-268A72EABD2D}"/>
              </a:ext>
            </a:extLst>
          </p:cNvPr>
          <p:cNvSpPr txBox="1"/>
          <p:nvPr/>
        </p:nvSpPr>
        <p:spPr>
          <a:xfrm>
            <a:off x="8197956" y="4762827"/>
            <a:ext cx="1239442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민사소송법 </a:t>
            </a:r>
            <a:r>
              <a:rPr lang="ko-KR" altLang="en-US" sz="1000">
                <a:solidFill>
                  <a:srgbClr val="FF0000"/>
                </a:solidFill>
              </a:rPr>
              <a:t>제</a:t>
            </a:r>
            <a:r>
              <a:rPr lang="en-US" altLang="ko-KR" sz="1000" dirty="0">
                <a:solidFill>
                  <a:srgbClr val="FF0000"/>
                </a:solidFill>
              </a:rPr>
              <a:t>436</a:t>
            </a:r>
            <a:r>
              <a:rPr lang="ko-KR" altLang="en-US" sz="1000" dirty="0">
                <a:solidFill>
                  <a:srgbClr val="FF0000"/>
                </a:solidFill>
              </a:rPr>
              <a:t>조</a:t>
            </a: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780D6B36-BC72-C898-A2D0-0E6050300EA7}"/>
              </a:ext>
            </a:extLst>
          </p:cNvPr>
          <p:cNvCxnSpPr>
            <a:stCxn id="93" idx="2"/>
            <a:endCxn id="136" idx="1"/>
          </p:cNvCxnSpPr>
          <p:nvPr/>
        </p:nvCxnSpPr>
        <p:spPr>
          <a:xfrm rot="5400000" flipH="1">
            <a:off x="9209078" y="5465302"/>
            <a:ext cx="521018" cy="1314823"/>
          </a:xfrm>
          <a:prstGeom prst="bentConnector4">
            <a:avLst>
              <a:gd name="adj1" fmla="val -43876"/>
              <a:gd name="adj2" fmla="val 117386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D1AEAE4D-FBDF-F371-6870-1F144B665977}"/>
              </a:ext>
            </a:extLst>
          </p:cNvPr>
          <p:cNvCxnSpPr>
            <a:stCxn id="93" idx="2"/>
            <a:endCxn id="137" idx="1"/>
          </p:cNvCxnSpPr>
          <p:nvPr/>
        </p:nvCxnSpPr>
        <p:spPr>
          <a:xfrm rot="5400000" flipH="1">
            <a:off x="9377254" y="5633478"/>
            <a:ext cx="184666" cy="1314823"/>
          </a:xfrm>
          <a:prstGeom prst="bentConnector4">
            <a:avLst>
              <a:gd name="adj1" fmla="val -123791"/>
              <a:gd name="adj2" fmla="val 117386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6AF12D8-1F0E-A76D-FF76-6528E737FA13}"/>
              </a:ext>
            </a:extLst>
          </p:cNvPr>
          <p:cNvSpPr txBox="1"/>
          <p:nvPr/>
        </p:nvSpPr>
        <p:spPr>
          <a:xfrm>
            <a:off x="1678675" y="4889307"/>
            <a:ext cx="428322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accent1">
                    <a:lumMod val="50000"/>
                  </a:schemeClr>
                </a:solidFill>
              </a:rPr>
              <a:t>상고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B19997-5752-FA05-3470-9AF5652437FC}"/>
              </a:ext>
            </a:extLst>
          </p:cNvPr>
          <p:cNvSpPr txBox="1"/>
          <p:nvPr/>
        </p:nvSpPr>
        <p:spPr>
          <a:xfrm>
            <a:off x="1678675" y="3615999"/>
            <a:ext cx="428322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accent1">
                    <a:lumMod val="50000"/>
                  </a:schemeClr>
                </a:solidFill>
              </a:rPr>
              <a:t>항고</a:t>
            </a: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CA876066-060B-CCFC-D30B-B93ED7EA0831}"/>
              </a:ext>
            </a:extLst>
          </p:cNvPr>
          <p:cNvCxnSpPr>
            <a:stCxn id="134" idx="0"/>
          </p:cNvCxnSpPr>
          <p:nvPr/>
        </p:nvCxnSpPr>
        <p:spPr>
          <a:xfrm flipH="1" flipV="1">
            <a:off x="1994948" y="4732057"/>
            <a:ext cx="1223405" cy="1068296"/>
          </a:xfrm>
          <a:prstGeom prst="straightConnector1">
            <a:avLst/>
          </a:prstGeom>
          <a:ln w="28575">
            <a:solidFill>
              <a:schemeClr val="accent5"/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B09E6640-B12E-89D1-F99B-24A930F99974}"/>
              </a:ext>
            </a:extLst>
          </p:cNvPr>
          <p:cNvSpPr txBox="1"/>
          <p:nvPr/>
        </p:nvSpPr>
        <p:spPr>
          <a:xfrm>
            <a:off x="2738679" y="5253076"/>
            <a:ext cx="793807" cy="25391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50" dirty="0" err="1">
                <a:solidFill>
                  <a:srgbClr val="FF0000"/>
                </a:solidFill>
              </a:rPr>
              <a:t>파기소각하</a:t>
            </a:r>
            <a:endParaRPr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6E2F949-2BA6-C3CE-807B-2ECFAE12584A}"/>
              </a:ext>
            </a:extLst>
          </p:cNvPr>
          <p:cNvSpPr txBox="1"/>
          <p:nvPr/>
        </p:nvSpPr>
        <p:spPr>
          <a:xfrm>
            <a:off x="402680" y="1447338"/>
            <a:ext cx="415498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/>
              <a:t>상소</a:t>
            </a:r>
            <a:endParaRPr lang="ko-KR" altLang="en-US" sz="1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36D581-3C17-D9E9-8C31-E245C5FD589D}"/>
              </a:ext>
            </a:extLst>
          </p:cNvPr>
          <p:cNvSpPr txBox="1"/>
          <p:nvPr/>
        </p:nvSpPr>
        <p:spPr>
          <a:xfrm>
            <a:off x="1020687" y="1447338"/>
            <a:ext cx="415498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/>
              <a:t>항소</a:t>
            </a:r>
            <a:endParaRPr lang="ko-KR" altLang="en-US" sz="10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5D0FE5A-49DC-8935-BBA4-A0EC4FE76ECE}"/>
              </a:ext>
            </a:extLst>
          </p:cNvPr>
          <p:cNvSpPr txBox="1"/>
          <p:nvPr/>
        </p:nvSpPr>
        <p:spPr>
          <a:xfrm>
            <a:off x="1020687" y="1753392"/>
            <a:ext cx="415498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상고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698C6F-3F56-96C2-6A6E-86B5DBEB2E7B}"/>
              </a:ext>
            </a:extLst>
          </p:cNvPr>
          <p:cNvSpPr txBox="1"/>
          <p:nvPr/>
        </p:nvSpPr>
        <p:spPr>
          <a:xfrm>
            <a:off x="1020687" y="2040080"/>
            <a:ext cx="415498" cy="24622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항고</a:t>
            </a:r>
          </a:p>
        </p:txBody>
      </p: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15C41B99-C7C9-233E-5B8B-A454E65C03C1}"/>
              </a:ext>
            </a:extLst>
          </p:cNvPr>
          <p:cNvCxnSpPr>
            <a:stCxn id="59" idx="3"/>
            <a:endCxn id="63" idx="1"/>
          </p:cNvCxnSpPr>
          <p:nvPr/>
        </p:nvCxnSpPr>
        <p:spPr>
          <a:xfrm>
            <a:off x="818178" y="1570449"/>
            <a:ext cx="202509" cy="59274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꺾임 68">
            <a:extLst>
              <a:ext uri="{FF2B5EF4-FFF2-40B4-BE49-F238E27FC236}">
                <a16:creationId xmlns:a16="http://schemas.microsoft.com/office/drawing/2014/main" id="{15033FDD-3BFE-1771-4496-15EB4C4E77BD}"/>
              </a:ext>
            </a:extLst>
          </p:cNvPr>
          <p:cNvCxnSpPr>
            <a:stCxn id="59" idx="3"/>
            <a:endCxn id="60" idx="1"/>
          </p:cNvCxnSpPr>
          <p:nvPr/>
        </p:nvCxnSpPr>
        <p:spPr>
          <a:xfrm>
            <a:off x="818178" y="1570449"/>
            <a:ext cx="202509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연결선: 꺾임 70">
            <a:extLst>
              <a:ext uri="{FF2B5EF4-FFF2-40B4-BE49-F238E27FC236}">
                <a16:creationId xmlns:a16="http://schemas.microsoft.com/office/drawing/2014/main" id="{DB09A750-4B12-B442-F7DF-F723EABE9B71}"/>
              </a:ext>
            </a:extLst>
          </p:cNvPr>
          <p:cNvCxnSpPr>
            <a:stCxn id="59" idx="3"/>
            <a:endCxn id="62" idx="1"/>
          </p:cNvCxnSpPr>
          <p:nvPr/>
        </p:nvCxnSpPr>
        <p:spPr>
          <a:xfrm>
            <a:off x="818178" y="1570449"/>
            <a:ext cx="202509" cy="3060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2ED5411A-C216-B635-2E9F-9FCE7F1A4C4B}"/>
              </a:ext>
            </a:extLst>
          </p:cNvPr>
          <p:cNvSpPr txBox="1"/>
          <p:nvPr/>
        </p:nvSpPr>
        <p:spPr>
          <a:xfrm>
            <a:off x="1518392" y="1447338"/>
            <a:ext cx="1745991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제</a:t>
            </a:r>
            <a:r>
              <a:rPr lang="en-US" altLang="ko-KR" sz="1000" dirty="0"/>
              <a:t>1</a:t>
            </a:r>
            <a:r>
              <a:rPr lang="ko-KR" altLang="en-US" sz="1000" dirty="0"/>
              <a:t>심 법원이 선고한 종국판결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99205AD-575A-B041-3B08-C6693FDE7A5D}"/>
              </a:ext>
            </a:extLst>
          </p:cNvPr>
          <p:cNvSpPr txBox="1"/>
          <p:nvPr/>
        </p:nvSpPr>
        <p:spPr>
          <a:xfrm>
            <a:off x="1518392" y="1778338"/>
            <a:ext cx="2257349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제</a:t>
            </a:r>
            <a:r>
              <a:rPr lang="en-US" altLang="ko-KR" sz="1000" dirty="0"/>
              <a:t>2</a:t>
            </a:r>
            <a:r>
              <a:rPr lang="ko-KR" altLang="en-US" sz="1000" dirty="0"/>
              <a:t>심 법원</a:t>
            </a:r>
            <a:r>
              <a:rPr lang="en-US" altLang="ko-KR" sz="1000" dirty="0"/>
              <a:t>/</a:t>
            </a:r>
            <a:r>
              <a:rPr lang="ko-KR" altLang="en-US" sz="1000" dirty="0"/>
              <a:t>고등법원이 선고한 종국판결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96E6E1F-57A6-45C3-8B15-8DA44C194ED2}"/>
              </a:ext>
            </a:extLst>
          </p:cNvPr>
          <p:cNvSpPr txBox="1"/>
          <p:nvPr/>
        </p:nvSpPr>
        <p:spPr>
          <a:xfrm>
            <a:off x="1518392" y="2046221"/>
            <a:ext cx="1409360" cy="24622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행정청의 위법한 </a:t>
            </a:r>
            <a:r>
              <a:rPr lang="ko-KR" altLang="en-US" sz="1000" dirty="0" err="1"/>
              <a:t>처분등</a:t>
            </a:r>
            <a:endParaRPr lang="ko-KR" altLang="en-US" sz="1000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D3E86736-D227-B6EE-BBC8-6714F0E63246}"/>
              </a:ext>
            </a:extLst>
          </p:cNvPr>
          <p:cNvSpPr/>
          <p:nvPr/>
        </p:nvSpPr>
        <p:spPr>
          <a:xfrm>
            <a:off x="131329" y="1371600"/>
            <a:ext cx="3709685" cy="100070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21533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소의 이익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1560950" y="1592417"/>
            <a:ext cx="9594730" cy="82405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* </a:t>
            </a:r>
            <a:r>
              <a:rPr lang="ko-KR" altLang="en-US" sz="1400" dirty="0">
                <a:solidFill>
                  <a:srgbClr val="FF0000"/>
                </a:solidFill>
              </a:rPr>
              <a:t>원고가 소를 통해 </a:t>
            </a:r>
            <a:r>
              <a:rPr lang="ko-KR" altLang="en-US" sz="1400" dirty="0" err="1">
                <a:solidFill>
                  <a:srgbClr val="FF0000"/>
                </a:solidFill>
              </a:rPr>
              <a:t>심결을</a:t>
            </a:r>
            <a:r>
              <a:rPr lang="ko-KR" altLang="en-US" sz="1400" dirty="0">
                <a:solidFill>
                  <a:srgbClr val="FF0000"/>
                </a:solidFill>
              </a:rPr>
              <a:t> 취소하고자 하는 이익</a:t>
            </a:r>
            <a:endParaRPr lang="en-US" altLang="ko-KR" sz="1400" dirty="0">
              <a:solidFill>
                <a:srgbClr val="FF0000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* </a:t>
            </a:r>
            <a:r>
              <a:rPr lang="ko-KR" altLang="en-US" sz="1400" dirty="0">
                <a:solidFill>
                  <a:schemeClr val="tx1"/>
                </a:solidFill>
              </a:rPr>
              <a:t>소의 이익이 부정되는 경우 </a:t>
            </a:r>
            <a:r>
              <a:rPr lang="ko-KR" altLang="en-US" sz="1400" dirty="0" err="1">
                <a:solidFill>
                  <a:schemeClr val="tx1"/>
                </a:solidFill>
              </a:rPr>
              <a:t>소각하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713232" y="1592417"/>
            <a:ext cx="850392" cy="82405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의의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1560950" y="2634995"/>
            <a:ext cx="9594730" cy="1218274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* </a:t>
            </a:r>
            <a:r>
              <a:rPr lang="ko-KR" altLang="en-US" sz="1400" dirty="0">
                <a:solidFill>
                  <a:schemeClr val="tx1"/>
                </a:solidFill>
              </a:rPr>
              <a:t>원칙</a:t>
            </a:r>
            <a:r>
              <a:rPr lang="en-US" altLang="ko-KR" sz="1400" dirty="0">
                <a:solidFill>
                  <a:schemeClr val="tx1"/>
                </a:solidFill>
              </a:rPr>
              <a:t>: </a:t>
            </a:r>
            <a:r>
              <a:rPr lang="ko-KR" altLang="en-US" sz="1400" dirty="0">
                <a:solidFill>
                  <a:schemeClr val="tx1"/>
                </a:solidFill>
              </a:rPr>
              <a:t>소의 이익 긍정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* </a:t>
            </a:r>
            <a:r>
              <a:rPr lang="ko-KR" altLang="en-US" sz="1400" dirty="0">
                <a:solidFill>
                  <a:schemeClr val="tx1"/>
                </a:solidFill>
              </a:rPr>
              <a:t>예외</a:t>
            </a:r>
            <a:r>
              <a:rPr lang="en-US" altLang="ko-KR" sz="1400" dirty="0">
                <a:solidFill>
                  <a:schemeClr val="tx1"/>
                </a:solidFill>
              </a:rPr>
              <a:t>: </a:t>
            </a:r>
            <a:r>
              <a:rPr lang="ko-KR" altLang="en-US" sz="1400" dirty="0">
                <a:solidFill>
                  <a:schemeClr val="tx1"/>
                </a:solidFill>
              </a:rPr>
              <a:t>다음의 경우 부정 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- </a:t>
            </a:r>
            <a:r>
              <a:rPr lang="ko-KR" altLang="en-US" sz="1400" dirty="0" err="1">
                <a:solidFill>
                  <a:srgbClr val="FF0000"/>
                </a:solidFill>
              </a:rPr>
              <a:t>사정변경</a:t>
            </a:r>
            <a:r>
              <a:rPr lang="ko-KR" altLang="en-US" sz="1400" dirty="0" err="1">
                <a:solidFill>
                  <a:schemeClr val="tx1"/>
                </a:solidFill>
              </a:rPr>
              <a:t>에</a:t>
            </a:r>
            <a:r>
              <a:rPr lang="ko-KR" altLang="en-US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 err="1">
                <a:solidFill>
                  <a:schemeClr val="tx1"/>
                </a:solidFill>
              </a:rPr>
              <a:t>심결</a:t>
            </a:r>
            <a:r>
              <a:rPr lang="ko-KR" altLang="en-US" sz="1400" dirty="0">
                <a:solidFill>
                  <a:schemeClr val="tx1"/>
                </a:solidFill>
              </a:rPr>
              <a:t> 자체가 무의미하게 된 경우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177800" indent="-177800"/>
            <a:r>
              <a:rPr lang="en-US" altLang="ko-KR" sz="1400" dirty="0">
                <a:solidFill>
                  <a:schemeClr val="tx1"/>
                </a:solidFill>
              </a:rPr>
              <a:t>  - </a:t>
            </a:r>
            <a:r>
              <a:rPr lang="ko-KR" altLang="en-US" sz="1400" dirty="0" err="1">
                <a:solidFill>
                  <a:schemeClr val="tx1"/>
                </a:solidFill>
              </a:rPr>
              <a:t>심결을</a:t>
            </a:r>
            <a:r>
              <a:rPr lang="ko-KR" altLang="en-US" sz="1400" dirty="0">
                <a:solidFill>
                  <a:schemeClr val="tx1"/>
                </a:solidFill>
              </a:rPr>
              <a:t> 취소하더라도 유리한 </a:t>
            </a:r>
            <a:r>
              <a:rPr lang="ko-KR" altLang="en-US" sz="1400" dirty="0" err="1">
                <a:solidFill>
                  <a:schemeClr val="tx1"/>
                </a:solidFill>
              </a:rPr>
              <a:t>심결을</a:t>
            </a:r>
            <a:r>
              <a:rPr lang="ko-KR" altLang="en-US" sz="1400" dirty="0">
                <a:solidFill>
                  <a:schemeClr val="tx1"/>
                </a:solidFill>
              </a:rPr>
              <a:t> 받을 가능성이 없는 경우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 err="1">
                <a:solidFill>
                  <a:srgbClr val="FF0000"/>
                </a:solidFill>
              </a:rPr>
              <a:t>각하되어야</a:t>
            </a:r>
            <a:r>
              <a:rPr lang="ko-KR" altLang="en-US" sz="1400" dirty="0">
                <a:solidFill>
                  <a:srgbClr val="FF0000"/>
                </a:solidFill>
              </a:rPr>
              <a:t> 할 </a:t>
            </a:r>
            <a:r>
              <a:rPr lang="ko-KR" altLang="en-US" sz="1400" dirty="0" err="1">
                <a:solidFill>
                  <a:srgbClr val="FF0000"/>
                </a:solidFill>
              </a:rPr>
              <a:t>심결이</a:t>
            </a:r>
            <a:r>
              <a:rPr lang="ko-KR" altLang="en-US" sz="1400" dirty="0">
                <a:solidFill>
                  <a:srgbClr val="FF0000"/>
                </a:solidFill>
              </a:rPr>
              <a:t> 기각된 경우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1" name="모서리가 둥근 직사각형 40"/>
          <p:cNvSpPr/>
          <p:nvPr/>
        </p:nvSpPr>
        <p:spPr>
          <a:xfrm>
            <a:off x="713232" y="2845307"/>
            <a:ext cx="850392" cy="82405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내용</a:t>
            </a:r>
          </a:p>
        </p:txBody>
      </p:sp>
      <p:sp>
        <p:nvSpPr>
          <p:cNvPr id="42" name="직사각형 41"/>
          <p:cNvSpPr/>
          <p:nvPr/>
        </p:nvSpPr>
        <p:spPr>
          <a:xfrm>
            <a:off x="1560950" y="4032704"/>
            <a:ext cx="9594730" cy="82405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schemeClr val="tx1"/>
                </a:solidFill>
              </a:rPr>
              <a:t>* </a:t>
            </a:r>
            <a:r>
              <a:rPr lang="ko-KR" altLang="en-US" sz="1400" dirty="0">
                <a:solidFill>
                  <a:srgbClr val="FF0000"/>
                </a:solidFill>
              </a:rPr>
              <a:t>변론종결 시</a:t>
            </a:r>
            <a:r>
              <a:rPr lang="ko-KR" altLang="en-US" sz="1400" dirty="0">
                <a:solidFill>
                  <a:schemeClr val="tx1"/>
                </a:solidFill>
              </a:rPr>
              <a:t>를 기준으로 판단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* </a:t>
            </a:r>
            <a:r>
              <a:rPr lang="ko-KR" altLang="en-US" sz="1400" dirty="0">
                <a:solidFill>
                  <a:schemeClr val="tx1"/>
                </a:solidFill>
              </a:rPr>
              <a:t>다만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상고심 계속 중에 생긴 사정</a:t>
            </a:r>
            <a:r>
              <a:rPr lang="ko-KR" altLang="en-US" sz="1400" dirty="0">
                <a:solidFill>
                  <a:schemeClr val="tx1"/>
                </a:solidFill>
              </a:rPr>
              <a:t>도 고려</a:t>
            </a:r>
          </a:p>
        </p:txBody>
      </p:sp>
      <p:sp>
        <p:nvSpPr>
          <p:cNvPr id="43" name="모서리가 둥근 직사각형 42"/>
          <p:cNvSpPr/>
          <p:nvPr/>
        </p:nvSpPr>
        <p:spPr>
          <a:xfrm>
            <a:off x="713232" y="4032704"/>
            <a:ext cx="850392" cy="82405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판단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1560950" y="5110271"/>
            <a:ext cx="9594730" cy="824059"/>
          </a:xfrm>
          <a:prstGeom prst="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solidFill>
                  <a:schemeClr val="tx1"/>
                </a:solidFill>
              </a:rPr>
              <a:t>* 소의 이익이 있음을 전제로 </a:t>
            </a:r>
            <a:r>
              <a:rPr lang="ko-KR" altLang="en-US" sz="1400" dirty="0" err="1">
                <a:solidFill>
                  <a:schemeClr val="tx1"/>
                </a:solidFill>
              </a:rPr>
              <a:t>본안심리</a:t>
            </a:r>
            <a:endParaRPr lang="ko-KR" altLang="en-US" sz="1400" dirty="0">
              <a:solidFill>
                <a:schemeClr val="tx1"/>
              </a:solidFill>
            </a:endParaRPr>
          </a:p>
          <a:p>
            <a:r>
              <a:rPr lang="ko-KR" altLang="en-US" sz="1400" dirty="0">
                <a:solidFill>
                  <a:schemeClr val="tx1"/>
                </a:solidFill>
              </a:rPr>
              <a:t>* 사정변경에 의하여 소의 이익과 </a:t>
            </a:r>
            <a:r>
              <a:rPr lang="ko-KR" altLang="en-US" sz="1400" dirty="0" err="1">
                <a:solidFill>
                  <a:schemeClr val="tx1"/>
                </a:solidFill>
              </a:rPr>
              <a:t>심결이</a:t>
            </a:r>
            <a:r>
              <a:rPr lang="ko-KR" altLang="en-US" sz="1400" dirty="0">
                <a:solidFill>
                  <a:schemeClr val="tx1"/>
                </a:solidFill>
              </a:rPr>
              <a:t> 모두 위법한 경우에는 소각하</a:t>
            </a:r>
          </a:p>
        </p:txBody>
      </p:sp>
      <p:sp>
        <p:nvSpPr>
          <p:cNvPr id="45" name="모서리가 둥근 직사각형 44"/>
          <p:cNvSpPr/>
          <p:nvPr/>
        </p:nvSpPr>
        <p:spPr>
          <a:xfrm>
            <a:off x="713232" y="5110271"/>
            <a:ext cx="850392" cy="82405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비고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518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325845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소의 이익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cxnSp>
        <p:nvCxnSpPr>
          <p:cNvPr id="19" name="직선 연결선 18"/>
          <p:cNvCxnSpPr/>
          <p:nvPr/>
        </p:nvCxnSpPr>
        <p:spPr>
          <a:xfrm>
            <a:off x="258317" y="2826436"/>
            <a:ext cx="1160030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4"/>
          <p:cNvSpPr>
            <a:spLocks noChangeArrowheads="1"/>
          </p:cNvSpPr>
          <p:nvPr/>
        </p:nvSpPr>
        <p:spPr bwMode="auto">
          <a:xfrm flipV="1">
            <a:off x="960626" y="2749905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3806" y="2157337"/>
            <a:ext cx="137069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무효심판청구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이해관계인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23" name="직선 연결선 22"/>
          <p:cNvCxnSpPr>
            <a:stCxn id="21" idx="2"/>
            <a:endCxn id="20" idx="4"/>
          </p:cNvCxnSpPr>
          <p:nvPr/>
        </p:nvCxnSpPr>
        <p:spPr>
          <a:xfrm>
            <a:off x="1029153" y="2619002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804092" y="2157337"/>
            <a:ext cx="52620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/>
              <a:t>무효심결</a:t>
            </a:r>
            <a:endParaRPr lang="ko-KR" altLang="en-US" sz="1200" dirty="0"/>
          </a:p>
        </p:txBody>
      </p:sp>
      <p:cxnSp>
        <p:nvCxnSpPr>
          <p:cNvPr id="27" name="직선 연결선 26"/>
          <p:cNvCxnSpPr>
            <a:stCxn id="25" idx="2"/>
          </p:cNvCxnSpPr>
          <p:nvPr/>
        </p:nvCxnSpPr>
        <p:spPr>
          <a:xfrm>
            <a:off x="2067196" y="2619002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14"/>
          <p:cNvSpPr>
            <a:spLocks noChangeArrowheads="1"/>
          </p:cNvSpPr>
          <p:nvPr/>
        </p:nvSpPr>
        <p:spPr bwMode="auto">
          <a:xfrm flipV="1">
            <a:off x="2000276" y="2749905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58317" y="1332197"/>
            <a:ext cx="1160030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accent1"/>
                </a:solidFill>
              </a:rPr>
              <a:t>(</a:t>
            </a:r>
            <a:r>
              <a:rPr lang="ko-KR" altLang="en-US" sz="1200" b="1" dirty="0">
                <a:solidFill>
                  <a:schemeClr val="accent1"/>
                </a:solidFill>
              </a:rPr>
              <a:t>대법원 </a:t>
            </a:r>
            <a:r>
              <a:rPr lang="en-US" altLang="ko-KR" sz="1200" b="1" dirty="0">
                <a:solidFill>
                  <a:schemeClr val="accent1"/>
                </a:solidFill>
              </a:rPr>
              <a:t>2001. 5. 8. </a:t>
            </a:r>
            <a:r>
              <a:rPr lang="ko-KR" altLang="en-US" sz="1200" b="1" dirty="0">
                <a:solidFill>
                  <a:schemeClr val="accent1"/>
                </a:solidFill>
              </a:rPr>
              <a:t>선고 </a:t>
            </a:r>
            <a:r>
              <a:rPr lang="en-US" altLang="ko-KR" sz="1200" b="1" dirty="0">
                <a:solidFill>
                  <a:schemeClr val="accent1"/>
                </a:solidFill>
              </a:rPr>
              <a:t>98</a:t>
            </a:r>
            <a:r>
              <a:rPr lang="ko-KR" altLang="en-US" sz="1200" b="1" dirty="0">
                <a:solidFill>
                  <a:schemeClr val="accent1"/>
                </a:solidFill>
              </a:rPr>
              <a:t>후</a:t>
            </a:r>
            <a:r>
              <a:rPr lang="en-US" altLang="ko-KR" sz="1200" b="1" dirty="0">
                <a:solidFill>
                  <a:schemeClr val="accent1"/>
                </a:solidFill>
              </a:rPr>
              <a:t>1921) </a:t>
            </a:r>
            <a:r>
              <a:rPr lang="ko-KR" altLang="en-US" sz="1200" dirty="0"/>
              <a:t>특허를 무효로 한 </a:t>
            </a:r>
            <a:r>
              <a:rPr lang="ko-KR" altLang="en-US" sz="1200" dirty="0" err="1"/>
              <a:t>심결에</a:t>
            </a:r>
            <a:r>
              <a:rPr lang="ko-KR" altLang="en-US" sz="1200" dirty="0"/>
              <a:t> 대한 심결취소소송에서 원고의 청구가 기각되어 상고심에 계속 중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자가 제기한 특허무효심판에서 특허를 무효로 하는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확정된 때에는 그 특허권은 처음부터 없었던 것으로 보게 되므로</a:t>
            </a:r>
            <a:r>
              <a:rPr lang="en-US" altLang="ko-KR" sz="1200" dirty="0"/>
              <a:t>, </a:t>
            </a:r>
            <a:r>
              <a:rPr lang="ko-KR" altLang="en-US" sz="1200" dirty="0"/>
              <a:t>결과적으로 존재하지 않은 특허를 대상으로 판단한 </a:t>
            </a:r>
            <a:r>
              <a:rPr lang="ko-KR" altLang="en-US" sz="1200" dirty="0" err="1"/>
              <a:t>심결은</a:t>
            </a:r>
            <a:r>
              <a:rPr lang="ko-KR" altLang="en-US" sz="1200" dirty="0"/>
              <a:t> 위법하게 되나</a:t>
            </a:r>
            <a:r>
              <a:rPr lang="en-US" altLang="ko-KR" sz="1200" dirty="0"/>
              <a:t>, </a:t>
            </a:r>
            <a:r>
              <a:rPr lang="ko-KR" altLang="en-US" sz="1200" dirty="0"/>
              <a:t>특허가 무효로 확정된 이상 </a:t>
            </a:r>
            <a:r>
              <a:rPr lang="ko-KR" altLang="en-US" sz="1200" dirty="0" err="1"/>
              <a:t>심결의</a:t>
            </a:r>
            <a:r>
              <a:rPr lang="ko-KR" altLang="en-US" sz="1200" dirty="0"/>
              <a:t> 취소를 구할 법률상 이익도 없어졌다고 봄이 상당하다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258318" y="1026873"/>
            <a:ext cx="1481496" cy="307777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사정변경의 </a:t>
            </a:r>
            <a:r>
              <a:rPr lang="en-US" altLang="ko-KR" sz="1400" dirty="0">
                <a:solidFill>
                  <a:schemeClr val="bg1"/>
                </a:solidFill>
              </a:rPr>
              <a:t>CASE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9" name="Rectangle 14"/>
          <p:cNvSpPr>
            <a:spLocks noChangeArrowheads="1"/>
          </p:cNvSpPr>
          <p:nvPr/>
        </p:nvSpPr>
        <p:spPr bwMode="auto">
          <a:xfrm flipV="1">
            <a:off x="3157382" y="2749905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05285" y="2157337"/>
            <a:ext cx="164124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심결취소소송제기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31" name="직선 연결선 30"/>
          <p:cNvCxnSpPr>
            <a:stCxn id="30" idx="2"/>
            <a:endCxn id="29" idx="4"/>
          </p:cNvCxnSpPr>
          <p:nvPr/>
        </p:nvCxnSpPr>
        <p:spPr>
          <a:xfrm>
            <a:off x="3225909" y="2619002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65572" y="2157337"/>
            <a:ext cx="57776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기각판결</a:t>
            </a:r>
            <a:endParaRPr lang="ko-KR" altLang="en-US" sz="1200" dirty="0"/>
          </a:p>
        </p:txBody>
      </p:sp>
      <p:cxnSp>
        <p:nvCxnSpPr>
          <p:cNvPr id="33" name="직선 연결선 32"/>
          <p:cNvCxnSpPr>
            <a:stCxn id="32" idx="2"/>
            <a:endCxn id="34" idx="4"/>
          </p:cNvCxnSpPr>
          <p:nvPr/>
        </p:nvCxnSpPr>
        <p:spPr>
          <a:xfrm>
            <a:off x="4454452" y="2619002"/>
            <a:ext cx="4518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14"/>
          <p:cNvSpPr>
            <a:spLocks noChangeArrowheads="1"/>
          </p:cNvSpPr>
          <p:nvPr/>
        </p:nvSpPr>
        <p:spPr bwMode="auto">
          <a:xfrm flipV="1">
            <a:off x="4387532" y="2749905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878907" y="2157337"/>
            <a:ext cx="104797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상고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36" name="직선 연결선 35"/>
          <p:cNvCxnSpPr>
            <a:stCxn id="35" idx="2"/>
            <a:endCxn id="37" idx="4"/>
          </p:cNvCxnSpPr>
          <p:nvPr/>
        </p:nvCxnSpPr>
        <p:spPr>
          <a:xfrm>
            <a:off x="5402894" y="2619002"/>
            <a:ext cx="4518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14"/>
          <p:cNvSpPr>
            <a:spLocks noChangeArrowheads="1"/>
          </p:cNvSpPr>
          <p:nvPr/>
        </p:nvSpPr>
        <p:spPr bwMode="auto">
          <a:xfrm flipV="1">
            <a:off x="5335974" y="2749905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8" name="Rectangle 14"/>
          <p:cNvSpPr>
            <a:spLocks noChangeArrowheads="1"/>
          </p:cNvSpPr>
          <p:nvPr/>
        </p:nvSpPr>
        <p:spPr bwMode="auto">
          <a:xfrm flipV="1">
            <a:off x="1541678" y="2749905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24858" y="3068695"/>
            <a:ext cx="137069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무효심판청구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이해관계인</a:t>
            </a:r>
            <a:r>
              <a:rPr lang="en-US" altLang="ko-KR" sz="1200" dirty="0"/>
              <a:t>, </a:t>
            </a:r>
            <a:r>
              <a:rPr lang="ko-KR" altLang="en-US" sz="1200" dirty="0"/>
              <a:t>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44" name="직선 연결선 43"/>
          <p:cNvCxnSpPr>
            <a:stCxn id="39" idx="0"/>
            <a:endCxn id="38" idx="0"/>
          </p:cNvCxnSpPr>
          <p:nvPr/>
        </p:nvCxnSpPr>
        <p:spPr>
          <a:xfrm flipV="1">
            <a:off x="1610205" y="2902967"/>
            <a:ext cx="2911" cy="1657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14"/>
          <p:cNvSpPr>
            <a:spLocks noChangeArrowheads="1"/>
          </p:cNvSpPr>
          <p:nvPr/>
        </p:nvSpPr>
        <p:spPr bwMode="auto">
          <a:xfrm flipV="1">
            <a:off x="5795276" y="2749905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355381" y="3068695"/>
            <a:ext cx="101684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무효심결확정</a:t>
            </a:r>
          </a:p>
        </p:txBody>
      </p:sp>
      <p:cxnSp>
        <p:nvCxnSpPr>
          <p:cNvPr id="47" name="직선 연결선 46"/>
          <p:cNvCxnSpPr>
            <a:stCxn id="46" idx="0"/>
            <a:endCxn id="45" idx="0"/>
          </p:cNvCxnSpPr>
          <p:nvPr/>
        </p:nvCxnSpPr>
        <p:spPr>
          <a:xfrm flipV="1">
            <a:off x="5863803" y="2902967"/>
            <a:ext cx="2911" cy="1657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440752" y="2386907"/>
            <a:ext cx="5113073" cy="8532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>
                <a:solidFill>
                  <a:schemeClr val="tx2"/>
                </a:solidFill>
              </a:rPr>
              <a:t>원칙은 무효심결확정으로 판결이 없는 특허를 대상으로 하였기 때문에 판결의 기초가 된 행정처분이 바뀐 경우인 민소법 제</a:t>
            </a:r>
            <a:r>
              <a:rPr lang="en-US" altLang="ko-KR" sz="1200" dirty="0">
                <a:solidFill>
                  <a:schemeClr val="tx2"/>
                </a:solidFill>
              </a:rPr>
              <a:t>451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</a:rPr>
              <a:t>8</a:t>
            </a:r>
            <a:r>
              <a:rPr lang="ko-KR" altLang="en-US" sz="1200" dirty="0">
                <a:solidFill>
                  <a:schemeClr val="tx2"/>
                </a:solidFill>
              </a:rPr>
              <a:t>호의 재심사유라는 법령위반이 존재하여 대법원에서 파기환송하면 특허법원에서 소각하하여야 하나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대법원에서 직접 파기소각하를 하는 경우가 대부분임 </a:t>
            </a:r>
          </a:p>
        </p:txBody>
      </p:sp>
      <p:cxnSp>
        <p:nvCxnSpPr>
          <p:cNvPr id="64" name="직선 연결선 63"/>
          <p:cNvCxnSpPr/>
          <p:nvPr/>
        </p:nvCxnSpPr>
        <p:spPr>
          <a:xfrm flipH="1">
            <a:off x="336431" y="3887140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/>
          <p:cNvSpPr/>
          <p:nvPr/>
        </p:nvSpPr>
        <p:spPr>
          <a:xfrm>
            <a:off x="258317" y="4367609"/>
            <a:ext cx="11600307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tx2"/>
                </a:solidFill>
              </a:rPr>
              <a:t>당사자 간의 합의가 </a:t>
            </a:r>
            <a:r>
              <a:rPr lang="ko-KR" altLang="en-US" sz="1200" dirty="0" err="1">
                <a:solidFill>
                  <a:schemeClr val="tx2"/>
                </a:solidFill>
              </a:rPr>
              <a:t>심결</a:t>
            </a:r>
            <a:r>
              <a:rPr lang="ko-KR" altLang="en-US" sz="1200" dirty="0">
                <a:solidFill>
                  <a:schemeClr val="tx2"/>
                </a:solidFill>
              </a:rPr>
              <a:t> 이후에 있으면 소의 이익이 없으므로 소를 각하하여야 하나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심판단계에서 당사자 간의 합의가 이루어질 경우에는 심판의 이익이 없으므로 심판청구를 각하하여야 함에도 불구하고 실체 판단을 한 </a:t>
            </a:r>
            <a:r>
              <a:rPr lang="ko-KR" altLang="en-US" sz="1200" dirty="0" err="1">
                <a:solidFill>
                  <a:schemeClr val="tx2"/>
                </a:solidFill>
              </a:rPr>
              <a:t>심결은</a:t>
            </a:r>
            <a:r>
              <a:rPr lang="ko-KR" altLang="en-US" sz="1200" dirty="0">
                <a:solidFill>
                  <a:schemeClr val="tx2"/>
                </a:solidFill>
              </a:rPr>
              <a:t> 위법하므로 그 </a:t>
            </a:r>
            <a:r>
              <a:rPr lang="ko-KR" altLang="en-US" sz="1200" dirty="0" err="1">
                <a:solidFill>
                  <a:schemeClr val="tx2"/>
                </a:solidFill>
              </a:rPr>
              <a:t>심결은</a:t>
            </a:r>
            <a:r>
              <a:rPr lang="ko-KR" altLang="en-US" sz="1200" dirty="0">
                <a:solidFill>
                  <a:schemeClr val="tx2"/>
                </a:solidFill>
              </a:rPr>
              <a:t> 취소되어야 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다만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예외적으로 </a:t>
            </a:r>
            <a:r>
              <a:rPr lang="ko-KR" altLang="en-US" sz="1200" dirty="0" err="1">
                <a:solidFill>
                  <a:schemeClr val="tx2"/>
                </a:solidFill>
              </a:rPr>
              <a:t>권리범위확인심판청구를</a:t>
            </a:r>
            <a:r>
              <a:rPr lang="ko-KR" altLang="en-US" sz="1200" dirty="0">
                <a:solidFill>
                  <a:schemeClr val="tx2"/>
                </a:solidFill>
              </a:rPr>
              <a:t> 기각한 </a:t>
            </a:r>
            <a:r>
              <a:rPr lang="ko-KR" altLang="en-US" sz="1200" dirty="0" err="1">
                <a:solidFill>
                  <a:schemeClr val="tx2"/>
                </a:solidFill>
              </a:rPr>
              <a:t>심결의</a:t>
            </a:r>
            <a:r>
              <a:rPr lang="ko-KR" altLang="en-US" sz="1200" dirty="0">
                <a:solidFill>
                  <a:schemeClr val="tx2"/>
                </a:solidFill>
              </a:rPr>
              <a:t> 취소소송에서는 소의 이익을 인정하기가 곤란할 것이다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법원에서 원고 청구를 인용하여 </a:t>
            </a:r>
            <a:r>
              <a:rPr lang="ko-KR" altLang="en-US" sz="1200" dirty="0" err="1">
                <a:solidFill>
                  <a:schemeClr val="tx2"/>
                </a:solidFill>
              </a:rPr>
              <a:t>심결을</a:t>
            </a:r>
            <a:r>
              <a:rPr lang="ko-KR" altLang="en-US" sz="1200" dirty="0">
                <a:solidFill>
                  <a:schemeClr val="tx2"/>
                </a:solidFill>
              </a:rPr>
              <a:t> 취소하더라도 특허심판원은 어차피 원고의 </a:t>
            </a:r>
            <a:r>
              <a:rPr lang="ko-KR" altLang="en-US" sz="1200" dirty="0" err="1">
                <a:solidFill>
                  <a:schemeClr val="tx2"/>
                </a:solidFill>
              </a:rPr>
              <a:t>권리범위확인심판청구를</a:t>
            </a:r>
            <a:r>
              <a:rPr lang="ko-KR" altLang="en-US" sz="1200" dirty="0">
                <a:solidFill>
                  <a:schemeClr val="tx2"/>
                </a:solidFill>
              </a:rPr>
              <a:t> 각하할 것이므로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굳이 </a:t>
            </a:r>
            <a:r>
              <a:rPr lang="ko-KR" altLang="en-US" sz="1200" dirty="0" err="1">
                <a:solidFill>
                  <a:schemeClr val="tx2"/>
                </a:solidFill>
              </a:rPr>
              <a:t>기각심결의</a:t>
            </a:r>
            <a:r>
              <a:rPr lang="ko-KR" altLang="en-US" sz="1200" dirty="0">
                <a:solidFill>
                  <a:schemeClr val="tx2"/>
                </a:solidFill>
              </a:rPr>
              <a:t> 취소를 구할 이익이 없기 때문이다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  <a:endParaRPr lang="ko-KR" altLang="en-US" sz="1200" dirty="0">
              <a:solidFill>
                <a:schemeClr val="tx2"/>
              </a:solidFill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258318" y="4062285"/>
            <a:ext cx="3137397" cy="307777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유리한 </a:t>
            </a:r>
            <a:r>
              <a:rPr lang="ko-KR" altLang="en-US" sz="1400" dirty="0" err="1">
                <a:solidFill>
                  <a:schemeClr val="bg1"/>
                </a:solidFill>
              </a:rPr>
              <a:t>심결을</a:t>
            </a:r>
            <a:r>
              <a:rPr lang="ko-KR" altLang="en-US" sz="1400" dirty="0">
                <a:solidFill>
                  <a:schemeClr val="bg1"/>
                </a:solidFill>
              </a:rPr>
              <a:t> 받을 가능성이 없는 </a:t>
            </a:r>
            <a:r>
              <a:rPr lang="en-US" altLang="ko-KR" sz="1400" dirty="0">
                <a:solidFill>
                  <a:schemeClr val="bg1"/>
                </a:solidFill>
              </a:rPr>
              <a:t>CASE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67" name="직선 연결선 66"/>
          <p:cNvCxnSpPr/>
          <p:nvPr/>
        </p:nvCxnSpPr>
        <p:spPr>
          <a:xfrm>
            <a:off x="258317" y="6043220"/>
            <a:ext cx="1160030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14"/>
          <p:cNvSpPr>
            <a:spLocks noChangeArrowheads="1"/>
          </p:cNvSpPr>
          <p:nvPr/>
        </p:nvSpPr>
        <p:spPr bwMode="auto">
          <a:xfrm flipV="1">
            <a:off x="1425008" y="596668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39879" y="5374121"/>
            <a:ext cx="230731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적극적권리범위확인심판청구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70" name="직선 연결선 69"/>
          <p:cNvCxnSpPr>
            <a:stCxn id="69" idx="2"/>
            <a:endCxn id="68" idx="4"/>
          </p:cNvCxnSpPr>
          <p:nvPr/>
        </p:nvCxnSpPr>
        <p:spPr>
          <a:xfrm>
            <a:off x="1493535" y="5835786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2756592" y="5374121"/>
            <a:ext cx="52620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부쟁</a:t>
            </a:r>
            <a:r>
              <a:rPr lang="ko-KR" altLang="en-US" sz="1200" dirty="0"/>
              <a:t> 합의</a:t>
            </a:r>
          </a:p>
        </p:txBody>
      </p:sp>
      <p:cxnSp>
        <p:nvCxnSpPr>
          <p:cNvPr id="72" name="직선 연결선 71"/>
          <p:cNvCxnSpPr>
            <a:stCxn id="71" idx="2"/>
          </p:cNvCxnSpPr>
          <p:nvPr/>
        </p:nvCxnSpPr>
        <p:spPr>
          <a:xfrm>
            <a:off x="3019696" y="5835786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14"/>
          <p:cNvSpPr>
            <a:spLocks noChangeArrowheads="1"/>
          </p:cNvSpPr>
          <p:nvPr/>
        </p:nvSpPr>
        <p:spPr bwMode="auto">
          <a:xfrm flipV="1">
            <a:off x="2952776" y="596668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4" name="Rectangle 14"/>
          <p:cNvSpPr>
            <a:spLocks noChangeArrowheads="1"/>
          </p:cNvSpPr>
          <p:nvPr/>
        </p:nvSpPr>
        <p:spPr bwMode="auto">
          <a:xfrm flipV="1">
            <a:off x="3595532" y="596668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396624" y="5374121"/>
            <a:ext cx="53487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/>
              <a:t>기각심결</a:t>
            </a:r>
            <a:endParaRPr lang="ko-KR" altLang="en-US" sz="1200" dirty="0"/>
          </a:p>
        </p:txBody>
      </p:sp>
      <p:cxnSp>
        <p:nvCxnSpPr>
          <p:cNvPr id="76" name="직선 연결선 75"/>
          <p:cNvCxnSpPr>
            <a:stCxn id="75" idx="2"/>
            <a:endCxn id="74" idx="4"/>
          </p:cNvCxnSpPr>
          <p:nvPr/>
        </p:nvCxnSpPr>
        <p:spPr>
          <a:xfrm>
            <a:off x="3664059" y="5835786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4078578" y="5374121"/>
            <a:ext cx="1476716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심결취소소송제기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78" name="직선 연결선 77"/>
          <p:cNvCxnSpPr>
            <a:stCxn id="77" idx="2"/>
          </p:cNvCxnSpPr>
          <p:nvPr/>
        </p:nvCxnSpPr>
        <p:spPr>
          <a:xfrm>
            <a:off x="4816936" y="5835786"/>
            <a:ext cx="0" cy="1510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4"/>
          <p:cNvSpPr>
            <a:spLocks noChangeArrowheads="1"/>
          </p:cNvSpPr>
          <p:nvPr/>
        </p:nvSpPr>
        <p:spPr bwMode="auto">
          <a:xfrm flipV="1">
            <a:off x="4740265" y="596668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6440752" y="5395676"/>
            <a:ext cx="5113073" cy="490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 err="1">
                <a:solidFill>
                  <a:schemeClr val="tx2"/>
                </a:solidFill>
              </a:rPr>
              <a:t>특허권자</a:t>
            </a:r>
            <a:r>
              <a:rPr lang="ko-KR" altLang="en-US" sz="1200" dirty="0">
                <a:solidFill>
                  <a:schemeClr val="tx2"/>
                </a:solidFill>
              </a:rPr>
              <a:t> 입장에서 기각이든지 각하든지 심판에서 지는 것은 매한가지이기 </a:t>
            </a:r>
          </a:p>
          <a:p>
            <a:r>
              <a:rPr lang="ko-KR" altLang="en-US" sz="1200" dirty="0">
                <a:solidFill>
                  <a:schemeClr val="tx2"/>
                </a:solidFill>
              </a:rPr>
              <a:t>때문에 </a:t>
            </a:r>
            <a:r>
              <a:rPr lang="ko-KR" altLang="en-US" sz="1200" dirty="0" err="1">
                <a:solidFill>
                  <a:schemeClr val="tx2"/>
                </a:solidFill>
              </a:rPr>
              <a:t>소각하를</a:t>
            </a:r>
            <a:r>
              <a:rPr lang="ko-KR" altLang="en-US" sz="1200" dirty="0">
                <a:solidFill>
                  <a:schemeClr val="tx2"/>
                </a:solidFill>
              </a:rPr>
              <a:t> 함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 err="1">
                <a:solidFill>
                  <a:schemeClr val="tx2"/>
                </a:solidFill>
              </a:rPr>
              <a:t>기각심결</a:t>
            </a:r>
            <a:r>
              <a:rPr lang="ko-KR" altLang="en-US" sz="1200" dirty="0">
                <a:solidFill>
                  <a:schemeClr val="tx2"/>
                </a:solidFill>
              </a:rPr>
              <a:t> 확정</a:t>
            </a:r>
            <a:r>
              <a:rPr lang="en-US" altLang="ko-KR" sz="1200" dirty="0">
                <a:solidFill>
                  <a:schemeClr val="tx2"/>
                </a:solidFill>
              </a:rPr>
              <a:t>)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39879" y="6265263"/>
            <a:ext cx="2307312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적극적권리범위확인심판청구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120" name="직선 연결선 119"/>
          <p:cNvCxnSpPr>
            <a:stCxn id="119" idx="0"/>
            <a:endCxn id="68" idx="0"/>
          </p:cNvCxnSpPr>
          <p:nvPr/>
        </p:nvCxnSpPr>
        <p:spPr>
          <a:xfrm flipV="1">
            <a:off x="1493535" y="6119751"/>
            <a:ext cx="2911" cy="14551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/>
          <p:cNvSpPr txBox="1"/>
          <p:nvPr/>
        </p:nvSpPr>
        <p:spPr>
          <a:xfrm>
            <a:off x="2756592" y="6265263"/>
            <a:ext cx="52620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부쟁</a:t>
            </a:r>
            <a:r>
              <a:rPr lang="ko-KR" altLang="en-US" sz="1200" dirty="0"/>
              <a:t> 합의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96624" y="6265263"/>
            <a:ext cx="534870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인용심결</a:t>
            </a:r>
            <a:endParaRPr lang="ko-KR" altLang="en-US" sz="1200" dirty="0"/>
          </a:p>
        </p:txBody>
      </p:sp>
      <p:sp>
        <p:nvSpPr>
          <p:cNvPr id="127" name="TextBox 126"/>
          <p:cNvSpPr txBox="1"/>
          <p:nvPr/>
        </p:nvSpPr>
        <p:spPr>
          <a:xfrm>
            <a:off x="4078578" y="6265263"/>
            <a:ext cx="1476716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심결취소소송제기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이해관계인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133" name="직선 연결선 132"/>
          <p:cNvCxnSpPr/>
          <p:nvPr/>
        </p:nvCxnSpPr>
        <p:spPr>
          <a:xfrm flipV="1">
            <a:off x="3018240" y="6119751"/>
            <a:ext cx="2911" cy="14551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/>
          <p:cNvCxnSpPr/>
          <p:nvPr/>
        </p:nvCxnSpPr>
        <p:spPr>
          <a:xfrm flipV="1">
            <a:off x="3672399" y="6119751"/>
            <a:ext cx="2911" cy="14551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/>
          <p:cNvCxnSpPr/>
          <p:nvPr/>
        </p:nvCxnSpPr>
        <p:spPr>
          <a:xfrm flipV="1">
            <a:off x="4811703" y="6119751"/>
            <a:ext cx="2911" cy="14551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6440752" y="6265263"/>
            <a:ext cx="5113073" cy="4907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 err="1">
                <a:solidFill>
                  <a:schemeClr val="tx2"/>
                </a:solidFill>
              </a:rPr>
              <a:t>심결이</a:t>
            </a:r>
            <a:r>
              <a:rPr lang="ko-KR" altLang="en-US" sz="1200" dirty="0">
                <a:solidFill>
                  <a:schemeClr val="tx2"/>
                </a:solidFill>
              </a:rPr>
              <a:t> 위법하여 특허법원에서 취소환송하면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특허심판원에서 </a:t>
            </a:r>
            <a:r>
              <a:rPr lang="ko-KR" altLang="en-US" sz="1200" dirty="0" err="1">
                <a:solidFill>
                  <a:schemeClr val="tx2"/>
                </a:solidFill>
              </a:rPr>
              <a:t>심결각하함</a:t>
            </a:r>
            <a:endParaRPr lang="en-US" altLang="ko-KR" sz="1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19380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소의 이익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258317" y="2717351"/>
            <a:ext cx="1160030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4"/>
          <p:cNvSpPr>
            <a:spLocks noChangeArrowheads="1"/>
          </p:cNvSpPr>
          <p:nvPr/>
        </p:nvSpPr>
        <p:spPr bwMode="auto">
          <a:xfrm flipV="1">
            <a:off x="960626" y="264082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43806" y="2048252"/>
            <a:ext cx="137069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정정심판청구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23" name="직선 연결선 22"/>
          <p:cNvCxnSpPr>
            <a:stCxn id="21" idx="2"/>
            <a:endCxn id="20" idx="4"/>
          </p:cNvCxnSpPr>
          <p:nvPr/>
        </p:nvCxnSpPr>
        <p:spPr>
          <a:xfrm>
            <a:off x="1029153" y="2509917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804092" y="2048252"/>
            <a:ext cx="52620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기각</a:t>
            </a:r>
            <a:endParaRPr lang="en-US" altLang="ko-KR" sz="1200" dirty="0"/>
          </a:p>
          <a:p>
            <a:pPr algn="ctr"/>
            <a:r>
              <a:rPr lang="ko-KR" altLang="en-US" sz="1200" dirty="0" err="1"/>
              <a:t>심결</a:t>
            </a:r>
            <a:endParaRPr lang="ko-KR" altLang="en-US" sz="1200" dirty="0"/>
          </a:p>
        </p:txBody>
      </p:sp>
      <p:cxnSp>
        <p:nvCxnSpPr>
          <p:cNvPr id="27" name="직선 연결선 26"/>
          <p:cNvCxnSpPr>
            <a:stCxn id="25" idx="2"/>
          </p:cNvCxnSpPr>
          <p:nvPr/>
        </p:nvCxnSpPr>
        <p:spPr>
          <a:xfrm>
            <a:off x="2067196" y="2509917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14"/>
          <p:cNvSpPr>
            <a:spLocks noChangeArrowheads="1"/>
          </p:cNvSpPr>
          <p:nvPr/>
        </p:nvSpPr>
        <p:spPr bwMode="auto">
          <a:xfrm flipV="1">
            <a:off x="2000276" y="264082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58317" y="1332197"/>
            <a:ext cx="11686033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200" b="1" dirty="0">
                <a:solidFill>
                  <a:schemeClr val="accent1"/>
                </a:solidFill>
              </a:rPr>
              <a:t>(</a:t>
            </a:r>
            <a:r>
              <a:rPr lang="ko-KR" altLang="en-US" sz="1200" b="1" dirty="0">
                <a:solidFill>
                  <a:schemeClr val="accent1"/>
                </a:solidFill>
              </a:rPr>
              <a:t>특허법원 </a:t>
            </a:r>
            <a:r>
              <a:rPr lang="en-US" altLang="ko-KR" sz="1200" b="1" dirty="0">
                <a:solidFill>
                  <a:schemeClr val="accent1"/>
                </a:solidFill>
              </a:rPr>
              <a:t>2009. 10. 12. </a:t>
            </a:r>
            <a:r>
              <a:rPr lang="ko-KR" altLang="en-US" sz="1200" b="1" dirty="0">
                <a:solidFill>
                  <a:schemeClr val="accent1"/>
                </a:solidFill>
              </a:rPr>
              <a:t>선고 </a:t>
            </a:r>
            <a:r>
              <a:rPr lang="en-US" altLang="ko-KR" sz="1200" b="1" dirty="0">
                <a:solidFill>
                  <a:schemeClr val="accent1"/>
                </a:solidFill>
              </a:rPr>
              <a:t>2008</a:t>
            </a:r>
            <a:r>
              <a:rPr lang="ko-KR" altLang="en-US" sz="1200" b="1" dirty="0">
                <a:solidFill>
                  <a:schemeClr val="accent1"/>
                </a:solidFill>
              </a:rPr>
              <a:t>허</a:t>
            </a:r>
            <a:r>
              <a:rPr lang="en-US" altLang="ko-KR" sz="1200" b="1" dirty="0">
                <a:solidFill>
                  <a:schemeClr val="accent1"/>
                </a:solidFill>
              </a:rPr>
              <a:t>9498) </a:t>
            </a:r>
            <a:r>
              <a:rPr lang="ko-KR" altLang="en-US" sz="1200" dirty="0"/>
              <a:t>특허발명의 전체 </a:t>
            </a:r>
            <a:r>
              <a:rPr lang="ko-KR" altLang="en-US" sz="1200" dirty="0" err="1"/>
              <a:t>청구항에</a:t>
            </a:r>
            <a:r>
              <a:rPr lang="ko-KR" altLang="en-US" sz="1200" dirty="0"/>
              <a:t> 대한 </a:t>
            </a:r>
            <a:r>
              <a:rPr lang="ko-KR" altLang="en-US" sz="1200" dirty="0" err="1">
                <a:highlight>
                  <a:srgbClr val="FFFF00"/>
                </a:highlight>
              </a:rPr>
              <a:t>무효심결이</a:t>
            </a:r>
            <a:r>
              <a:rPr lang="ko-KR" altLang="en-US" sz="1200" dirty="0">
                <a:highlight>
                  <a:srgbClr val="FFFF00"/>
                </a:highlight>
              </a:rPr>
              <a:t> 확정되어 소급하여 소멸한 경우 </a:t>
            </a:r>
            <a:r>
              <a:rPr lang="ko-KR" altLang="en-US" sz="1200" dirty="0"/>
              <a:t>정정을 구하는 정정심판은 그 정정의 대상이 없어지게 되어 그 정정심판을 구할 이익도 없게 되고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특허발명이</a:t>
            </a:r>
            <a:r>
              <a:rPr lang="ko-KR" altLang="en-US" sz="1200" dirty="0"/>
              <a:t> 소급하여 무효로 된 이상 </a:t>
            </a:r>
            <a:r>
              <a:rPr lang="ko-KR" altLang="en-US" sz="1200" dirty="0" err="1"/>
              <a:t>정정심결의</a:t>
            </a:r>
            <a:r>
              <a:rPr lang="ko-KR" altLang="en-US" sz="1200" dirty="0"/>
              <a:t> 취소를 구할 법률상의 이익도 없게 되기 때문에 특허법원에 계속 중이거나 대법원에 계속 중인 경우 심결취소소송의 소는 </a:t>
            </a:r>
            <a:r>
              <a:rPr lang="ko-KR" altLang="en-US" sz="1200" dirty="0" err="1"/>
              <a:t>각하된다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258318" y="1026873"/>
            <a:ext cx="1481496" cy="307777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사정변경의 </a:t>
            </a:r>
            <a:r>
              <a:rPr lang="en-US" altLang="ko-KR" sz="1400" dirty="0">
                <a:solidFill>
                  <a:schemeClr val="bg1"/>
                </a:solidFill>
              </a:rPr>
              <a:t>CASE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29" name="Rectangle 14"/>
          <p:cNvSpPr>
            <a:spLocks noChangeArrowheads="1"/>
          </p:cNvSpPr>
          <p:nvPr/>
        </p:nvSpPr>
        <p:spPr bwMode="auto">
          <a:xfrm flipV="1">
            <a:off x="3157382" y="264082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405285" y="2048252"/>
            <a:ext cx="164124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심결취소소송제기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31" name="직선 연결선 30"/>
          <p:cNvCxnSpPr>
            <a:stCxn id="30" idx="2"/>
            <a:endCxn id="29" idx="4"/>
          </p:cNvCxnSpPr>
          <p:nvPr/>
        </p:nvCxnSpPr>
        <p:spPr>
          <a:xfrm>
            <a:off x="3225909" y="2509917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165572" y="2048252"/>
            <a:ext cx="57776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기각판결</a:t>
            </a:r>
            <a:endParaRPr lang="ko-KR" altLang="en-US" sz="1200" dirty="0"/>
          </a:p>
        </p:txBody>
      </p:sp>
      <p:cxnSp>
        <p:nvCxnSpPr>
          <p:cNvPr id="33" name="직선 연결선 32"/>
          <p:cNvCxnSpPr>
            <a:stCxn id="32" idx="2"/>
            <a:endCxn id="34" idx="4"/>
          </p:cNvCxnSpPr>
          <p:nvPr/>
        </p:nvCxnSpPr>
        <p:spPr>
          <a:xfrm>
            <a:off x="4454452" y="2509917"/>
            <a:ext cx="4518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14"/>
          <p:cNvSpPr>
            <a:spLocks noChangeArrowheads="1"/>
          </p:cNvSpPr>
          <p:nvPr/>
        </p:nvSpPr>
        <p:spPr bwMode="auto">
          <a:xfrm flipV="1">
            <a:off x="4387532" y="264082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878907" y="2048252"/>
            <a:ext cx="104797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상고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36" name="직선 연결선 35"/>
          <p:cNvCxnSpPr>
            <a:stCxn id="35" idx="2"/>
            <a:endCxn id="37" idx="4"/>
          </p:cNvCxnSpPr>
          <p:nvPr/>
        </p:nvCxnSpPr>
        <p:spPr>
          <a:xfrm>
            <a:off x="5402894" y="2509917"/>
            <a:ext cx="4518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14"/>
          <p:cNvSpPr>
            <a:spLocks noChangeArrowheads="1"/>
          </p:cNvSpPr>
          <p:nvPr/>
        </p:nvSpPr>
        <p:spPr bwMode="auto">
          <a:xfrm flipV="1">
            <a:off x="5335974" y="264082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5" name="Rectangle 14"/>
          <p:cNvSpPr>
            <a:spLocks noChangeArrowheads="1"/>
          </p:cNvSpPr>
          <p:nvPr/>
        </p:nvSpPr>
        <p:spPr bwMode="auto">
          <a:xfrm flipV="1">
            <a:off x="5795276" y="2640820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355381" y="2959610"/>
            <a:ext cx="101684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인용심결확정</a:t>
            </a:r>
          </a:p>
        </p:txBody>
      </p:sp>
      <p:cxnSp>
        <p:nvCxnSpPr>
          <p:cNvPr id="47" name="직선 연결선 46"/>
          <p:cNvCxnSpPr>
            <a:stCxn id="46" idx="0"/>
            <a:endCxn id="45" idx="0"/>
          </p:cNvCxnSpPr>
          <p:nvPr/>
        </p:nvCxnSpPr>
        <p:spPr>
          <a:xfrm flipV="1">
            <a:off x="5863803" y="2793882"/>
            <a:ext cx="2911" cy="1657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440752" y="2192949"/>
            <a:ext cx="5113073" cy="10230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>
                <a:solidFill>
                  <a:schemeClr val="tx2"/>
                </a:solidFill>
              </a:rPr>
              <a:t>원칙은 무효심결확정으로 판결이 없는 특허를 대상으로 하였기 때문에 판결의 기초가 된 행정처분이 바뀐 경우인 민소법 제</a:t>
            </a:r>
            <a:r>
              <a:rPr lang="en-US" altLang="ko-KR" sz="1200" dirty="0">
                <a:solidFill>
                  <a:schemeClr val="tx2"/>
                </a:solidFill>
              </a:rPr>
              <a:t>451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</a:rPr>
              <a:t>8</a:t>
            </a:r>
            <a:r>
              <a:rPr lang="ko-KR" altLang="en-US" sz="1200" dirty="0">
                <a:solidFill>
                  <a:schemeClr val="tx2"/>
                </a:solidFill>
              </a:rPr>
              <a:t>호의 재심사유라는 법령위반이 존재하여 대법원에서 파기환송하면 특허법원에서 소각하하여야 하나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대법원에서 직접 파기소각하를 하는 경우가 대부분임 </a:t>
            </a:r>
          </a:p>
        </p:txBody>
      </p:sp>
      <p:cxnSp>
        <p:nvCxnSpPr>
          <p:cNvPr id="64" name="직선 연결선 63"/>
          <p:cNvCxnSpPr/>
          <p:nvPr/>
        </p:nvCxnSpPr>
        <p:spPr>
          <a:xfrm flipH="1">
            <a:off x="336431" y="3510812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14"/>
          <p:cNvSpPr>
            <a:spLocks noChangeArrowheads="1"/>
          </p:cNvSpPr>
          <p:nvPr/>
        </p:nvSpPr>
        <p:spPr bwMode="auto">
          <a:xfrm flipV="1">
            <a:off x="3619934" y="2640820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003114" y="2959610"/>
            <a:ext cx="137069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무효심판청구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이해관계인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57" name="직선 연결선 56"/>
          <p:cNvCxnSpPr>
            <a:stCxn id="56" idx="0"/>
            <a:endCxn id="55" idx="0"/>
          </p:cNvCxnSpPr>
          <p:nvPr/>
        </p:nvCxnSpPr>
        <p:spPr>
          <a:xfrm flipV="1">
            <a:off x="3688461" y="2793882"/>
            <a:ext cx="2911" cy="1657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/>
          <p:cNvCxnSpPr/>
          <p:nvPr/>
        </p:nvCxnSpPr>
        <p:spPr>
          <a:xfrm>
            <a:off x="258317" y="6024753"/>
            <a:ext cx="1160030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14"/>
          <p:cNvSpPr>
            <a:spLocks noChangeArrowheads="1"/>
          </p:cNvSpPr>
          <p:nvPr/>
        </p:nvSpPr>
        <p:spPr bwMode="auto">
          <a:xfrm flipV="1">
            <a:off x="960626" y="594822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43806" y="5355654"/>
            <a:ext cx="137069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무효심판청구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이해관계인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1" name="직선 연결선 60"/>
          <p:cNvCxnSpPr>
            <a:cxnSpLocks/>
            <a:stCxn id="60" idx="2"/>
            <a:endCxn id="59" idx="4"/>
          </p:cNvCxnSpPr>
          <p:nvPr/>
        </p:nvCxnSpPr>
        <p:spPr>
          <a:xfrm>
            <a:off x="1029153" y="5817319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804092" y="5355654"/>
            <a:ext cx="52620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/>
              <a:t>무효심결</a:t>
            </a:r>
            <a:endParaRPr lang="ko-KR" altLang="en-US" sz="1200" dirty="0"/>
          </a:p>
        </p:txBody>
      </p:sp>
      <p:cxnSp>
        <p:nvCxnSpPr>
          <p:cNvPr id="63" name="직선 연결선 62"/>
          <p:cNvCxnSpPr>
            <a:cxnSpLocks/>
            <a:stCxn id="62" idx="2"/>
          </p:cNvCxnSpPr>
          <p:nvPr/>
        </p:nvCxnSpPr>
        <p:spPr>
          <a:xfrm>
            <a:off x="2067196" y="5817319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14"/>
          <p:cNvSpPr>
            <a:spLocks noChangeArrowheads="1"/>
          </p:cNvSpPr>
          <p:nvPr/>
        </p:nvSpPr>
        <p:spPr bwMode="auto">
          <a:xfrm flipV="1">
            <a:off x="2000276" y="594822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258317" y="3863232"/>
            <a:ext cx="11686033" cy="13849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accent1"/>
                </a:solidFill>
              </a:rPr>
              <a:t>(</a:t>
            </a:r>
            <a:r>
              <a:rPr lang="ko-KR" altLang="en-US" sz="1200" b="1" dirty="0">
                <a:solidFill>
                  <a:schemeClr val="accent1"/>
                </a:solidFill>
              </a:rPr>
              <a:t>대법원 </a:t>
            </a:r>
            <a:r>
              <a:rPr lang="en-US" altLang="ko-KR" sz="1200" b="1" dirty="0">
                <a:solidFill>
                  <a:schemeClr val="accent1"/>
                </a:solidFill>
              </a:rPr>
              <a:t>2020. 1. 22. </a:t>
            </a:r>
            <a:r>
              <a:rPr lang="ko-KR" altLang="en-US" sz="1200" b="1" dirty="0">
                <a:solidFill>
                  <a:schemeClr val="accent1"/>
                </a:solidFill>
              </a:rPr>
              <a:t>선고 </a:t>
            </a:r>
            <a:r>
              <a:rPr lang="en-US" altLang="ko-KR" sz="1200" b="1" dirty="0">
                <a:solidFill>
                  <a:schemeClr val="accent1"/>
                </a:solidFill>
              </a:rPr>
              <a:t>2016</a:t>
            </a:r>
            <a:r>
              <a:rPr lang="ko-KR" altLang="en-US" sz="1200" b="1" dirty="0">
                <a:solidFill>
                  <a:schemeClr val="accent1"/>
                </a:solidFill>
              </a:rPr>
              <a:t>후</a:t>
            </a:r>
            <a:r>
              <a:rPr lang="en-US" altLang="ko-KR" sz="1200" b="1" dirty="0">
                <a:solidFill>
                  <a:schemeClr val="accent1"/>
                </a:solidFill>
              </a:rPr>
              <a:t>2522 </a:t>
            </a:r>
            <a:r>
              <a:rPr lang="ko-KR" altLang="en-US" sz="1200" b="1" dirty="0">
                <a:solidFill>
                  <a:schemeClr val="accent1"/>
                </a:solidFill>
              </a:rPr>
              <a:t>전원합의체</a:t>
            </a:r>
            <a:r>
              <a:rPr lang="en-US" altLang="ko-KR" sz="1200" b="1" dirty="0">
                <a:solidFill>
                  <a:schemeClr val="accent1"/>
                </a:solidFill>
              </a:rPr>
              <a:t>)</a:t>
            </a:r>
            <a:r>
              <a:rPr lang="ko-KR" altLang="en-US" sz="1200" dirty="0"/>
              <a:t> 행정소송법 제</a:t>
            </a:r>
            <a:r>
              <a:rPr lang="en-US" altLang="ko-KR" sz="1200" dirty="0"/>
              <a:t>8</a:t>
            </a:r>
            <a:r>
              <a:rPr lang="ko-KR" altLang="en-US" sz="1200" dirty="0"/>
              <a:t>조에 따라 </a:t>
            </a:r>
            <a:r>
              <a:rPr lang="ko-KR" altLang="en-US" sz="1200" dirty="0" err="1"/>
              <a:t>심결취소소송에</a:t>
            </a:r>
            <a:r>
              <a:rPr lang="ko-KR" altLang="en-US" sz="1200" dirty="0"/>
              <a:t> 준용되는 민사소송법 제</a:t>
            </a:r>
            <a:r>
              <a:rPr lang="en-US" altLang="ko-KR" sz="1200" dirty="0"/>
              <a:t>451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 제</a:t>
            </a:r>
            <a:r>
              <a:rPr lang="en-US" altLang="ko-KR" sz="1200" dirty="0"/>
              <a:t>8</a:t>
            </a:r>
            <a:r>
              <a:rPr lang="ko-KR" altLang="en-US" sz="1200" dirty="0"/>
              <a:t>호는 “판결의 기초로 된 행정처분이 다른 행정처분에 의하여 변경된 </a:t>
            </a:r>
            <a:r>
              <a:rPr lang="ko-KR" altLang="en-US" sz="1200" dirty="0" err="1"/>
              <a:t>때”를</a:t>
            </a:r>
            <a:r>
              <a:rPr lang="ko-KR" altLang="en-US" sz="1200" dirty="0"/>
              <a:t> 재심사유로 규정하고 있다</a:t>
            </a:r>
            <a:r>
              <a:rPr lang="en-US" altLang="ko-KR" sz="1200" dirty="0"/>
              <a:t>. </a:t>
            </a:r>
            <a:r>
              <a:rPr lang="ko-KR" altLang="en-US" sz="1200" dirty="0"/>
              <a:t>이는 판결의 심리</a:t>
            </a:r>
            <a:r>
              <a:rPr lang="en-US" altLang="ko-KR" sz="1200" dirty="0"/>
              <a:t>·</a:t>
            </a:r>
            <a:r>
              <a:rPr lang="ko-KR" altLang="en-US" sz="1200" dirty="0"/>
              <a:t>판단 대상이 되는 행정처분 그 자체가 그 후 다른 행정처분에 의하여 확정적</a:t>
            </a:r>
            <a:r>
              <a:rPr lang="en-US" altLang="ko-KR" sz="1200" dirty="0"/>
              <a:t>·</a:t>
            </a:r>
            <a:r>
              <a:rPr lang="ko-KR" altLang="en-US" sz="1200" dirty="0"/>
              <a:t>소급적으로 변경된 경우를 말하는 것이 아니고</a:t>
            </a:r>
            <a:r>
              <a:rPr lang="en-US" altLang="ko-KR" sz="1200" dirty="0"/>
              <a:t>, </a:t>
            </a:r>
            <a:r>
              <a:rPr lang="ko-KR" altLang="en-US" sz="1200" dirty="0"/>
              <a:t>확정판결에 법률적으로 구속력을 미치거나 또는 그 확정판결에서 사실인정의 자료가 된 행정처분이 다른 행정처분에 의하여 확정적</a:t>
            </a:r>
            <a:r>
              <a:rPr lang="en-US" altLang="ko-KR" sz="1200" dirty="0"/>
              <a:t>·</a:t>
            </a:r>
            <a:r>
              <a:rPr lang="ko-KR" altLang="en-US" sz="1200" dirty="0"/>
              <a:t>소급적으로 변경된 경우를 말하는 것이다</a:t>
            </a:r>
            <a:r>
              <a:rPr lang="en-US" altLang="ko-KR" sz="1200" dirty="0"/>
              <a:t>. </a:t>
            </a:r>
            <a:r>
              <a:rPr lang="ko-KR" altLang="en-US" sz="1200" dirty="0"/>
              <a:t>여기서 ‘사실인정의 자료가 </a:t>
            </a:r>
            <a:r>
              <a:rPr lang="ko-KR" altLang="en-US" sz="1200" dirty="0" err="1"/>
              <a:t>되었다’는</a:t>
            </a:r>
            <a:r>
              <a:rPr lang="ko-KR" altLang="en-US" sz="1200" dirty="0"/>
              <a:t> 것은 그 행정처분이 확정판결의 사실인정에 있어서 증거자료로 채택되었고 그 행정처분의 변경이 확정판결의 사실인정에 영향을 미칠 가능성이 있는 경우를 말한다</a:t>
            </a:r>
            <a:r>
              <a:rPr lang="en-US" altLang="ko-KR" sz="1200" dirty="0"/>
              <a:t>(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1994. 11. 25. </a:t>
            </a:r>
            <a:r>
              <a:rPr lang="ko-KR" altLang="en-US" sz="1200" dirty="0"/>
              <a:t>선고 </a:t>
            </a:r>
            <a:r>
              <a:rPr lang="en-US" altLang="ko-KR" sz="1200" dirty="0"/>
              <a:t>94</a:t>
            </a:r>
            <a:r>
              <a:rPr lang="ko-KR" altLang="en-US" sz="1200" dirty="0"/>
              <a:t>다</a:t>
            </a:r>
            <a:r>
              <a:rPr lang="en-US" altLang="ko-KR" sz="1200" dirty="0"/>
              <a:t>33897 </a:t>
            </a:r>
            <a:r>
              <a:rPr lang="ko-KR" altLang="en-US" sz="1200" dirty="0"/>
              <a:t>판결</a:t>
            </a:r>
            <a:r>
              <a:rPr lang="en-US" altLang="ko-KR" sz="1200" dirty="0"/>
              <a:t>, </a:t>
            </a:r>
            <a:r>
              <a:rPr lang="ko-KR" altLang="en-US" sz="1200" dirty="0"/>
              <a:t>대법원 </a:t>
            </a:r>
            <a:r>
              <a:rPr lang="en-US" altLang="ko-KR" sz="1200" dirty="0"/>
              <a:t>2001. 12. 14.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2000</a:t>
            </a:r>
            <a:r>
              <a:rPr lang="ko-KR" altLang="en-US" sz="1200" dirty="0"/>
              <a:t>다</a:t>
            </a:r>
            <a:r>
              <a:rPr lang="en-US" altLang="ko-KR" sz="1200" dirty="0"/>
              <a:t>12679 </a:t>
            </a:r>
            <a:r>
              <a:rPr lang="ko-KR" altLang="en-US" sz="1200" dirty="0"/>
              <a:t>판결 등 참조</a:t>
            </a:r>
            <a:r>
              <a:rPr lang="en-US" altLang="ko-KR" sz="1200" dirty="0"/>
              <a:t>). </a:t>
            </a:r>
            <a:r>
              <a:rPr lang="ko-KR" altLang="en-US" sz="1200" dirty="0"/>
              <a:t>이에 따르면 특허권자가 정정심판을 청구하여 특허무효심판에 대한 </a:t>
            </a:r>
            <a:r>
              <a:rPr lang="ko-KR" altLang="en-US" sz="1200" dirty="0" err="1"/>
              <a:t>심결취소소송의</a:t>
            </a:r>
            <a:r>
              <a:rPr lang="ko-KR" altLang="en-US" sz="1200" dirty="0"/>
              <a:t> 사실심 변론종결 이후에 특허발명의 명세서 또는 도면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‘명세서 </a:t>
            </a:r>
            <a:r>
              <a:rPr lang="ko-KR" altLang="en-US" sz="1200" dirty="0" err="1"/>
              <a:t>등’이라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에 대하여 정정을 한다는 </a:t>
            </a:r>
            <a:r>
              <a:rPr lang="ko-KR" altLang="en-US" sz="1200" dirty="0" err="1"/>
              <a:t>심결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</a:t>
            </a:r>
            <a:r>
              <a:rPr lang="ko-KR" altLang="en-US" sz="1200" dirty="0" err="1"/>
              <a:t>정정심결’이라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이 확정되더라도 정정 전 명세서 등으로 판단한 원심판결에 민사소송법 제</a:t>
            </a:r>
            <a:r>
              <a:rPr lang="en-US" altLang="ko-KR" sz="1200" dirty="0"/>
              <a:t>451</a:t>
            </a:r>
            <a:r>
              <a:rPr lang="ko-KR" altLang="en-US" sz="1200" dirty="0"/>
              <a:t>조 제</a:t>
            </a:r>
            <a:r>
              <a:rPr lang="en-US" altLang="ko-KR" sz="1200" dirty="0"/>
              <a:t>1</a:t>
            </a:r>
            <a:r>
              <a:rPr lang="ko-KR" altLang="en-US" sz="1200" dirty="0"/>
              <a:t>항 제</a:t>
            </a:r>
            <a:r>
              <a:rPr lang="en-US" altLang="ko-KR" sz="1200" dirty="0"/>
              <a:t>8</a:t>
            </a:r>
            <a:r>
              <a:rPr lang="ko-KR" altLang="en-US" sz="1200" dirty="0"/>
              <a:t>호가 규정한 재심사유가 있다고 볼 수 없다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81" name="직사각형 80"/>
          <p:cNvSpPr/>
          <p:nvPr/>
        </p:nvSpPr>
        <p:spPr>
          <a:xfrm>
            <a:off x="258318" y="3557908"/>
            <a:ext cx="508473" cy="307777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ko-KR" altLang="en-US" sz="1400" dirty="0">
                <a:solidFill>
                  <a:schemeClr val="bg1"/>
                </a:solidFill>
              </a:rPr>
              <a:t>참고</a:t>
            </a:r>
          </a:p>
        </p:txBody>
      </p:sp>
      <p:sp>
        <p:nvSpPr>
          <p:cNvPr id="82" name="Rectangle 14"/>
          <p:cNvSpPr>
            <a:spLocks noChangeArrowheads="1"/>
          </p:cNvSpPr>
          <p:nvPr/>
        </p:nvSpPr>
        <p:spPr bwMode="auto">
          <a:xfrm flipV="1">
            <a:off x="3157382" y="594822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2405285" y="5355654"/>
            <a:ext cx="164124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심결취소소송제기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84" name="직선 연결선 83"/>
          <p:cNvCxnSpPr>
            <a:cxnSpLocks/>
            <a:stCxn id="83" idx="2"/>
            <a:endCxn id="82" idx="4"/>
          </p:cNvCxnSpPr>
          <p:nvPr/>
        </p:nvCxnSpPr>
        <p:spPr>
          <a:xfrm>
            <a:off x="3225909" y="5817319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4165572" y="5355654"/>
            <a:ext cx="57776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기각판결</a:t>
            </a:r>
            <a:endParaRPr lang="ko-KR" altLang="en-US" sz="1200" dirty="0"/>
          </a:p>
        </p:txBody>
      </p:sp>
      <p:cxnSp>
        <p:nvCxnSpPr>
          <p:cNvPr id="86" name="직선 연결선 85"/>
          <p:cNvCxnSpPr>
            <a:cxnSpLocks/>
            <a:stCxn id="85" idx="2"/>
            <a:endCxn id="87" idx="4"/>
          </p:cNvCxnSpPr>
          <p:nvPr/>
        </p:nvCxnSpPr>
        <p:spPr>
          <a:xfrm>
            <a:off x="4454452" y="5817319"/>
            <a:ext cx="4518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14"/>
          <p:cNvSpPr>
            <a:spLocks noChangeArrowheads="1"/>
          </p:cNvSpPr>
          <p:nvPr/>
        </p:nvSpPr>
        <p:spPr bwMode="auto">
          <a:xfrm flipV="1">
            <a:off x="4387532" y="594822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878907" y="5355654"/>
            <a:ext cx="1047974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상고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89" name="직선 연결선 88"/>
          <p:cNvCxnSpPr>
            <a:cxnSpLocks/>
            <a:stCxn id="88" idx="2"/>
            <a:endCxn id="90" idx="4"/>
          </p:cNvCxnSpPr>
          <p:nvPr/>
        </p:nvCxnSpPr>
        <p:spPr>
          <a:xfrm>
            <a:off x="5402894" y="5817319"/>
            <a:ext cx="4518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14"/>
          <p:cNvSpPr>
            <a:spLocks noChangeArrowheads="1"/>
          </p:cNvSpPr>
          <p:nvPr/>
        </p:nvSpPr>
        <p:spPr bwMode="auto">
          <a:xfrm flipV="1">
            <a:off x="5335974" y="594822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1" name="Rectangle 14"/>
          <p:cNvSpPr>
            <a:spLocks noChangeArrowheads="1"/>
          </p:cNvSpPr>
          <p:nvPr/>
        </p:nvSpPr>
        <p:spPr bwMode="auto">
          <a:xfrm flipV="1">
            <a:off x="5795276" y="5948222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5355381" y="6267012"/>
            <a:ext cx="101684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인용심결확정</a:t>
            </a:r>
          </a:p>
        </p:txBody>
      </p:sp>
      <p:cxnSp>
        <p:nvCxnSpPr>
          <p:cNvPr id="93" name="직선 연결선 92"/>
          <p:cNvCxnSpPr>
            <a:cxnSpLocks/>
            <a:stCxn id="92" idx="0"/>
            <a:endCxn id="91" idx="0"/>
          </p:cNvCxnSpPr>
          <p:nvPr/>
        </p:nvCxnSpPr>
        <p:spPr>
          <a:xfrm flipV="1">
            <a:off x="5863803" y="6101284"/>
            <a:ext cx="2911" cy="1657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6440752" y="5396838"/>
            <a:ext cx="5113073" cy="12885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 err="1">
                <a:solidFill>
                  <a:srgbClr val="FF0000"/>
                </a:solidFill>
                <a:highlight>
                  <a:srgbClr val="FFFF00"/>
                </a:highlight>
              </a:rPr>
              <a:t>인용심결확정으로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 정정된 내용대로 출원</a:t>
            </a:r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특허결정</a:t>
            </a:r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</a:rPr>
              <a:t>등록된 것으로 보지만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특허결정은 </a:t>
            </a:r>
            <a:r>
              <a:rPr lang="ko-KR" altLang="en-US" sz="1200" dirty="0" err="1">
                <a:solidFill>
                  <a:srgbClr val="FF0000"/>
                </a:solidFill>
              </a:rPr>
              <a:t>심결취소소송에서</a:t>
            </a:r>
            <a:r>
              <a:rPr lang="ko-KR" altLang="en-US" sz="1200" dirty="0">
                <a:solidFill>
                  <a:srgbClr val="FF0000"/>
                </a:solidFill>
              </a:rPr>
              <a:t> 심리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판단해야 할 대상일 뿐 판결의 기초가 된 행정처분으로 볼 수 없기 때문에 민소법 제</a:t>
            </a:r>
            <a:r>
              <a:rPr lang="en-US" altLang="ko-KR" sz="1200" dirty="0">
                <a:solidFill>
                  <a:srgbClr val="FF0000"/>
                </a:solidFill>
              </a:rPr>
              <a:t>451</a:t>
            </a:r>
            <a:r>
              <a:rPr lang="ko-KR" altLang="en-US" sz="1200" dirty="0">
                <a:solidFill>
                  <a:srgbClr val="FF0000"/>
                </a:solidFill>
              </a:rPr>
              <a:t>조제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 err="1">
                <a:solidFill>
                  <a:srgbClr val="FF0000"/>
                </a:solidFill>
              </a:rPr>
              <a:t>항제</a:t>
            </a:r>
            <a:r>
              <a:rPr lang="en-US" altLang="ko-KR" sz="1200" dirty="0">
                <a:solidFill>
                  <a:srgbClr val="FF0000"/>
                </a:solidFill>
              </a:rPr>
              <a:t>8</a:t>
            </a:r>
            <a:r>
              <a:rPr lang="ko-KR" altLang="en-US" sz="1200" dirty="0">
                <a:solidFill>
                  <a:srgbClr val="FF0000"/>
                </a:solidFill>
              </a:rPr>
              <a:t>호의 재심사유라는 할 수 없고</a:t>
            </a:r>
            <a:r>
              <a:rPr lang="en-US" altLang="ko-KR" sz="1200" dirty="0">
                <a:solidFill>
                  <a:srgbClr val="FF0000"/>
                </a:solidFill>
              </a:rPr>
              <a:t>, </a:t>
            </a:r>
            <a:r>
              <a:rPr lang="ko-KR" altLang="en-US" sz="1200" dirty="0">
                <a:solidFill>
                  <a:srgbClr val="FF0000"/>
                </a:solidFill>
              </a:rPr>
              <a:t>따라서 법률심인 대법원에서는 정정 전 특허발명에 의하여 다른 법령 위반이 존재하는지 판단함</a:t>
            </a:r>
            <a:r>
              <a:rPr lang="en-US" altLang="ko-KR" sz="1200" dirty="0">
                <a:solidFill>
                  <a:srgbClr val="FF0000"/>
                </a:solidFill>
              </a:rPr>
              <a:t>. </a:t>
            </a:r>
            <a:r>
              <a:rPr lang="ko-KR" altLang="en-US" sz="1200" dirty="0">
                <a:solidFill>
                  <a:srgbClr val="FF0000"/>
                </a:solidFill>
              </a:rPr>
              <a:t>만일 법령위반이 존재하여 대법원에서 </a:t>
            </a:r>
            <a:r>
              <a:rPr lang="ko-KR" altLang="en-US" sz="1200" dirty="0" err="1">
                <a:solidFill>
                  <a:srgbClr val="FF0000"/>
                </a:solidFill>
              </a:rPr>
              <a:t>파기환송하면</a:t>
            </a:r>
            <a:r>
              <a:rPr lang="ko-KR" altLang="en-US" sz="1200" dirty="0">
                <a:solidFill>
                  <a:srgbClr val="FF0000"/>
                </a:solidFill>
              </a:rPr>
              <a:t> 사실심인 특허법원에서 정정 후 명세서 또는 도면을 대상으로 무효사유를 심리함</a:t>
            </a:r>
          </a:p>
        </p:txBody>
      </p:sp>
      <p:sp>
        <p:nvSpPr>
          <p:cNvPr id="95" name="Rectangle 14"/>
          <p:cNvSpPr>
            <a:spLocks noChangeArrowheads="1"/>
          </p:cNvSpPr>
          <p:nvPr/>
        </p:nvSpPr>
        <p:spPr bwMode="auto">
          <a:xfrm flipV="1">
            <a:off x="3619934" y="5948222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003114" y="6267012"/>
            <a:ext cx="1370694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정정심판청구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97" name="직선 연결선 96"/>
          <p:cNvCxnSpPr>
            <a:cxnSpLocks/>
            <a:stCxn id="96" idx="0"/>
            <a:endCxn id="95" idx="0"/>
          </p:cNvCxnSpPr>
          <p:nvPr/>
        </p:nvCxnSpPr>
        <p:spPr>
          <a:xfrm flipV="1">
            <a:off x="3688461" y="6101284"/>
            <a:ext cx="2911" cy="1657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567238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침해소송과 권리범위확인심판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77638" y="1218295"/>
            <a:ext cx="12033849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sz="1200" dirty="0"/>
              <a:t>2007. 3. 21. </a:t>
            </a:r>
            <a:r>
              <a:rPr lang="ko-KR" altLang="en-US" sz="1200" dirty="0"/>
              <a:t>피고를 상대로 특허심판원에 이 사건 소극적 권리범위확인심판을 제기하였으나 특허심판원이 </a:t>
            </a:r>
            <a:r>
              <a:rPr lang="en-US" altLang="ko-KR" sz="1200" dirty="0"/>
              <a:t>2008. 4. 28. </a:t>
            </a:r>
            <a:r>
              <a:rPr lang="ko-KR" altLang="en-US" sz="1200" dirty="0"/>
              <a:t>확인대상표장이 이 사건 등록상표의 권리범위에 속한다는 이유로 청구를 기각하는 </a:t>
            </a:r>
            <a:r>
              <a:rPr lang="ko-KR" altLang="en-US" sz="1200" dirty="0" err="1"/>
              <a:t>심결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“이 사건 </a:t>
            </a:r>
            <a:r>
              <a:rPr lang="ko-KR" altLang="en-US" sz="1200" dirty="0" err="1"/>
              <a:t>심결”이라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을 한 점</a:t>
            </a:r>
            <a:r>
              <a:rPr lang="en-US" altLang="ko-KR" sz="1200" dirty="0"/>
              <a:t>, </a:t>
            </a:r>
            <a:r>
              <a:rPr lang="ko-KR" altLang="en-US" sz="1200" dirty="0"/>
              <a:t>비록 피고가 이 사건 등록상표의 상표권 침해와 관련된 민사소송을 </a:t>
            </a:r>
            <a:r>
              <a:rPr lang="en-US" altLang="ko-KR" sz="1200" dirty="0"/>
              <a:t>2006. 7. 11. </a:t>
            </a:r>
            <a:r>
              <a:rPr lang="ko-KR" altLang="en-US" sz="1200" dirty="0"/>
              <a:t>제기하여 </a:t>
            </a:r>
            <a:r>
              <a:rPr lang="en-US" altLang="ko-KR" sz="1200" dirty="0"/>
              <a:t>2008. 7. 25. </a:t>
            </a:r>
            <a:r>
              <a:rPr lang="ko-KR" altLang="en-US" sz="1200" dirty="0"/>
              <a:t>원고 승소판결이 선고되었고</a:t>
            </a:r>
            <a:r>
              <a:rPr lang="en-US" altLang="ko-KR" sz="1200" dirty="0"/>
              <a:t>, </a:t>
            </a:r>
            <a:r>
              <a:rPr lang="ko-KR" altLang="en-US" sz="1200" dirty="0"/>
              <a:t>그 과정에서 이 사건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먼저 내려져 위 민사판결에 고려될 수 있었으며 이 사건 </a:t>
            </a:r>
            <a:r>
              <a:rPr lang="ko-KR" altLang="en-US" sz="1200" dirty="0" err="1"/>
              <a:t>심결취소소송의</a:t>
            </a:r>
            <a:r>
              <a:rPr lang="ko-KR" altLang="en-US" sz="1200" dirty="0"/>
              <a:t> 상고심 계속 중 위 </a:t>
            </a:r>
            <a:r>
              <a:rPr lang="ko-KR" altLang="en-US" sz="1200" dirty="0">
                <a:highlight>
                  <a:srgbClr val="FFFF00"/>
                </a:highlight>
              </a:rPr>
              <a:t>민사판결이 </a:t>
            </a:r>
            <a:r>
              <a:rPr lang="en-US" altLang="ko-KR" sz="1200" dirty="0">
                <a:highlight>
                  <a:srgbClr val="FFFF00"/>
                </a:highlight>
              </a:rPr>
              <a:t>2010. 5. 13. </a:t>
            </a:r>
            <a:r>
              <a:rPr lang="ko-KR" altLang="en-US" sz="1200" dirty="0">
                <a:highlight>
                  <a:srgbClr val="FFFF00"/>
                </a:highlight>
              </a:rPr>
              <a:t>그대로 확정되었다고 하더라도 여전히 원고에게 불리한 이 사건 </a:t>
            </a:r>
            <a:r>
              <a:rPr lang="ko-KR" altLang="en-US" sz="1200" dirty="0" err="1">
                <a:highlight>
                  <a:srgbClr val="FFFF00"/>
                </a:highlight>
              </a:rPr>
              <a:t>심결이</a:t>
            </a:r>
            <a:r>
              <a:rPr lang="ko-KR" altLang="en-US" sz="1200" dirty="0">
                <a:highlight>
                  <a:srgbClr val="FFFF00"/>
                </a:highlight>
              </a:rPr>
              <a:t> 유효하게 존속하고 있는 점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확정된 위 민사판결은 이 사건 </a:t>
            </a:r>
            <a:r>
              <a:rPr lang="ko-KR" altLang="en-US" sz="1200" dirty="0" err="1">
                <a:highlight>
                  <a:srgbClr val="FFFF00"/>
                </a:highlight>
              </a:rPr>
              <a:t>심결취소소송을</a:t>
            </a:r>
            <a:r>
              <a:rPr lang="ko-KR" altLang="en-US" sz="1200" dirty="0">
                <a:highlight>
                  <a:srgbClr val="FFFF00"/>
                </a:highlight>
              </a:rPr>
              <a:t> 담당하는 법원에 대하여 법적 기속력이 없으므로 원고는 위 민사판결이 확정되었음에도 불구하고 자신에게 불리한 이 사건 </a:t>
            </a:r>
            <a:r>
              <a:rPr lang="ko-KR" altLang="en-US" sz="1200" dirty="0" err="1">
                <a:highlight>
                  <a:srgbClr val="FFFF00"/>
                </a:highlight>
              </a:rPr>
              <a:t>심결을</a:t>
            </a:r>
            <a:r>
              <a:rPr lang="ko-KR" altLang="en-US" sz="1200" dirty="0">
                <a:highlight>
                  <a:srgbClr val="FFFF00"/>
                </a:highlight>
              </a:rPr>
              <a:t> 취소할 법률상 이익이 있고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달리 이 사건 </a:t>
            </a:r>
            <a:r>
              <a:rPr lang="ko-KR" altLang="en-US" sz="1200" dirty="0" err="1">
                <a:highlight>
                  <a:srgbClr val="FFFF00"/>
                </a:highlight>
              </a:rPr>
              <a:t>심결</a:t>
            </a:r>
            <a:r>
              <a:rPr lang="ko-KR" altLang="en-US" sz="1200" dirty="0">
                <a:highlight>
                  <a:srgbClr val="FFFF00"/>
                </a:highlight>
              </a:rPr>
              <a:t> 이후 이 사건 등록상표의 상표권이 </a:t>
            </a:r>
            <a:r>
              <a:rPr lang="ko-KR" altLang="en-US" sz="1200" dirty="0" err="1">
                <a:highlight>
                  <a:srgbClr val="FFFF00"/>
                </a:highlight>
              </a:rPr>
              <a:t>소멸되었다거나</a:t>
            </a:r>
            <a:r>
              <a:rPr lang="ko-KR" altLang="en-US" sz="1200" dirty="0">
                <a:highlight>
                  <a:srgbClr val="FFFF00"/>
                </a:highlight>
              </a:rPr>
              <a:t> 당사자 사이의 합의로 이해관계가 소멸되었다는 등 이 사건 </a:t>
            </a:r>
            <a:r>
              <a:rPr lang="ko-KR" altLang="en-US" sz="1200" dirty="0" err="1">
                <a:highlight>
                  <a:srgbClr val="FFFF00"/>
                </a:highlight>
              </a:rPr>
              <a:t>심결</a:t>
            </a:r>
            <a:r>
              <a:rPr lang="ko-KR" altLang="en-US" sz="1200" dirty="0">
                <a:highlight>
                  <a:srgbClr val="FFFF00"/>
                </a:highlight>
              </a:rPr>
              <a:t> 이후 </a:t>
            </a:r>
            <a:r>
              <a:rPr lang="ko-KR" altLang="en-US" sz="1200" dirty="0" err="1">
                <a:highlight>
                  <a:srgbClr val="FFFF00"/>
                </a:highlight>
              </a:rPr>
              <a:t>심결을</a:t>
            </a:r>
            <a:r>
              <a:rPr lang="ko-KR" altLang="en-US" sz="1200" dirty="0">
                <a:highlight>
                  <a:srgbClr val="FFFF00"/>
                </a:highlight>
              </a:rPr>
              <a:t> 취소할 법률상 이익이 소멸되었다는 사정도 보이지 아니하는 점 등</a:t>
            </a:r>
            <a:r>
              <a:rPr lang="ko-KR" altLang="en-US" sz="1200" dirty="0"/>
              <a:t>에 비추어 원고는 이 사건 </a:t>
            </a:r>
            <a:r>
              <a:rPr lang="ko-KR" altLang="en-US" sz="1200" dirty="0" err="1"/>
              <a:t>심결의</a:t>
            </a:r>
            <a:r>
              <a:rPr lang="ko-KR" altLang="en-US" sz="1200" dirty="0"/>
              <a:t> 취소를 구할 소의 이익이 있다고 할 것이다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77638" y="955849"/>
            <a:ext cx="6303329" cy="2769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권리범위확인심판의 소의 이익</a:t>
            </a:r>
            <a:r>
              <a:rPr lang="en-US" altLang="ko-KR" sz="1200" dirty="0">
                <a:solidFill>
                  <a:schemeClr val="bg1"/>
                </a:solidFill>
              </a:rPr>
              <a:t>: </a:t>
            </a:r>
            <a:r>
              <a:rPr lang="ko-KR" altLang="en-US" sz="1200" dirty="0">
                <a:solidFill>
                  <a:schemeClr val="bg1"/>
                </a:solidFill>
              </a:rPr>
              <a:t>대법원 </a:t>
            </a:r>
            <a:r>
              <a:rPr lang="en-US" altLang="ko-KR" sz="1200" dirty="0">
                <a:solidFill>
                  <a:schemeClr val="bg1"/>
                </a:solidFill>
              </a:rPr>
              <a:t>2011. 2. 24. </a:t>
            </a:r>
            <a:r>
              <a:rPr lang="ko-KR" altLang="en-US" sz="1200" dirty="0">
                <a:solidFill>
                  <a:schemeClr val="bg1"/>
                </a:solidFill>
              </a:rPr>
              <a:t>선고 </a:t>
            </a:r>
            <a:r>
              <a:rPr lang="en-US" altLang="ko-KR" sz="1200" dirty="0">
                <a:solidFill>
                  <a:schemeClr val="bg1"/>
                </a:solidFill>
              </a:rPr>
              <a:t>2008</a:t>
            </a:r>
            <a:r>
              <a:rPr lang="ko-KR" altLang="en-US" sz="1200" dirty="0">
                <a:solidFill>
                  <a:schemeClr val="bg1"/>
                </a:solidFill>
              </a:rPr>
              <a:t>후</a:t>
            </a:r>
            <a:r>
              <a:rPr lang="en-US" altLang="ko-KR" sz="1200" dirty="0">
                <a:solidFill>
                  <a:schemeClr val="bg1"/>
                </a:solidFill>
              </a:rPr>
              <a:t>4486 </a:t>
            </a:r>
            <a:r>
              <a:rPr lang="ko-KR" altLang="en-US" sz="1200" dirty="0">
                <a:solidFill>
                  <a:schemeClr val="bg1"/>
                </a:solidFill>
              </a:rPr>
              <a:t>판결 </a:t>
            </a:r>
            <a:r>
              <a:rPr lang="en-US" altLang="ko-KR" sz="1200" dirty="0">
                <a:solidFill>
                  <a:schemeClr val="bg1"/>
                </a:solidFill>
              </a:rPr>
              <a:t>【</a:t>
            </a:r>
            <a:r>
              <a:rPr lang="ko-KR" altLang="en-US" sz="1200" dirty="0">
                <a:solidFill>
                  <a:schemeClr val="bg1"/>
                </a:solidFill>
              </a:rPr>
              <a:t>권리범위확인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>
                <a:solidFill>
                  <a:schemeClr val="bg1"/>
                </a:solidFill>
              </a:rPr>
              <a:t>상</a:t>
            </a:r>
            <a:r>
              <a:rPr lang="en-US" altLang="ko-KR" sz="1200" dirty="0">
                <a:solidFill>
                  <a:schemeClr val="bg1"/>
                </a:solidFill>
              </a:rPr>
              <a:t>)】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6486015-9168-4D8B-BD9D-92F9B2CC9B7E}"/>
              </a:ext>
            </a:extLst>
          </p:cNvPr>
          <p:cNvGrpSpPr/>
          <p:nvPr/>
        </p:nvGrpSpPr>
        <p:grpSpPr>
          <a:xfrm>
            <a:off x="178415" y="2457214"/>
            <a:ext cx="11743291" cy="1164314"/>
            <a:chOff x="178415" y="2552100"/>
            <a:chExt cx="11743291" cy="1164314"/>
          </a:xfrm>
        </p:grpSpPr>
        <p:cxnSp>
          <p:nvCxnSpPr>
            <p:cNvPr id="19" name="직선 연결선 18"/>
            <p:cNvCxnSpPr>
              <a:cxnSpLocks/>
            </p:cNvCxnSpPr>
            <p:nvPr/>
          </p:nvCxnSpPr>
          <p:spPr>
            <a:xfrm>
              <a:off x="178415" y="3163988"/>
              <a:ext cx="11743291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14"/>
            <p:cNvSpPr>
              <a:spLocks noChangeArrowheads="1"/>
            </p:cNvSpPr>
            <p:nvPr/>
          </p:nvSpPr>
          <p:spPr bwMode="auto">
            <a:xfrm flipV="1">
              <a:off x="1242026" y="3087457"/>
              <a:ext cx="142876" cy="15306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3942" y="2552100"/>
              <a:ext cx="1513222" cy="4310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100" dirty="0"/>
                <a:t>소극적 확인심판청구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(</a:t>
              </a:r>
              <a:r>
                <a:rPr lang="ko-KR" altLang="en-US" sz="1100" dirty="0"/>
                <a:t>이해관계인</a:t>
              </a:r>
              <a:r>
                <a:rPr lang="en-US" altLang="ko-KR" sz="1100" dirty="0"/>
                <a:t>, </a:t>
              </a:r>
              <a:r>
                <a:rPr lang="ko-KR" altLang="en-US" sz="1100" dirty="0"/>
                <a:t>乙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  <p:cxnSp>
          <p:nvCxnSpPr>
            <p:cNvPr id="23" name="직선 연결선 22"/>
            <p:cNvCxnSpPr>
              <a:cxnSpLocks/>
              <a:stCxn id="21" idx="2"/>
              <a:endCxn id="20" idx="4"/>
            </p:cNvCxnSpPr>
            <p:nvPr/>
          </p:nvCxnSpPr>
          <p:spPr>
            <a:xfrm>
              <a:off x="1310553" y="2983188"/>
              <a:ext cx="2911" cy="10426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4142516" y="2552100"/>
              <a:ext cx="526208" cy="4310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100" dirty="0"/>
                <a:t>기각</a:t>
              </a:r>
              <a:endParaRPr lang="en-US" altLang="ko-KR" sz="1100" dirty="0"/>
            </a:p>
            <a:p>
              <a:pPr algn="ctr"/>
              <a:r>
                <a:rPr lang="ko-KR" altLang="en-US" sz="1100" dirty="0" err="1"/>
                <a:t>심결</a:t>
              </a:r>
              <a:endParaRPr lang="ko-KR" altLang="en-US" sz="1100" dirty="0"/>
            </a:p>
          </p:txBody>
        </p:sp>
        <p:cxnSp>
          <p:nvCxnSpPr>
            <p:cNvPr id="27" name="직선 연결선 26"/>
            <p:cNvCxnSpPr>
              <a:cxnSpLocks/>
              <a:stCxn id="25" idx="2"/>
            </p:cNvCxnSpPr>
            <p:nvPr/>
          </p:nvCxnSpPr>
          <p:spPr>
            <a:xfrm>
              <a:off x="4405620" y="2983188"/>
              <a:ext cx="2911" cy="130903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Rectangle 14"/>
            <p:cNvSpPr>
              <a:spLocks noChangeArrowheads="1"/>
            </p:cNvSpPr>
            <p:nvPr/>
          </p:nvSpPr>
          <p:spPr bwMode="auto">
            <a:xfrm flipV="1">
              <a:off x="4338700" y="3087457"/>
              <a:ext cx="142876" cy="15306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 flipV="1">
              <a:off x="5508288" y="3087457"/>
              <a:ext cx="142876" cy="15306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907611" y="2552100"/>
              <a:ext cx="1338408" cy="4310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100" dirty="0" err="1"/>
                <a:t>심결취소소송제기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(</a:t>
              </a:r>
              <a:r>
                <a:rPr lang="ko-KR" altLang="en-US" sz="1100" dirty="0"/>
                <a:t>乙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  <p:cxnSp>
          <p:nvCxnSpPr>
            <p:cNvPr id="31" name="직선 연결선 30"/>
            <p:cNvCxnSpPr>
              <a:cxnSpLocks/>
              <a:stCxn id="30" idx="2"/>
              <a:endCxn id="29" idx="4"/>
            </p:cNvCxnSpPr>
            <p:nvPr/>
          </p:nvCxnSpPr>
          <p:spPr>
            <a:xfrm>
              <a:off x="5576815" y="2983188"/>
              <a:ext cx="2911" cy="10426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7670441" y="2552100"/>
              <a:ext cx="509692" cy="4310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100" dirty="0" err="1"/>
                <a:t>기각판결</a:t>
              </a:r>
              <a:endParaRPr lang="ko-KR" altLang="en-US" sz="1100" dirty="0"/>
            </a:p>
          </p:txBody>
        </p:sp>
        <p:cxnSp>
          <p:nvCxnSpPr>
            <p:cNvPr id="33" name="직선 연결선 32"/>
            <p:cNvCxnSpPr>
              <a:cxnSpLocks/>
              <a:stCxn id="32" idx="2"/>
              <a:endCxn id="34" idx="4"/>
            </p:cNvCxnSpPr>
            <p:nvPr/>
          </p:nvCxnSpPr>
          <p:spPr>
            <a:xfrm>
              <a:off x="7925287" y="2983188"/>
              <a:ext cx="4518" cy="10426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14"/>
            <p:cNvSpPr>
              <a:spLocks noChangeArrowheads="1"/>
            </p:cNvSpPr>
            <p:nvPr/>
          </p:nvSpPr>
          <p:spPr bwMode="auto">
            <a:xfrm flipV="1">
              <a:off x="7858367" y="3087457"/>
              <a:ext cx="142876" cy="15306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8770569" y="2552100"/>
              <a:ext cx="638804" cy="4310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100" dirty="0"/>
                <a:t>상고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(</a:t>
              </a:r>
              <a:r>
                <a:rPr lang="ko-KR" altLang="en-US" sz="1100" dirty="0"/>
                <a:t>乙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  <p:cxnSp>
          <p:nvCxnSpPr>
            <p:cNvPr id="36" name="직선 연결선 35"/>
            <p:cNvCxnSpPr>
              <a:cxnSpLocks/>
              <a:stCxn id="35" idx="2"/>
              <a:endCxn id="37" idx="4"/>
            </p:cNvCxnSpPr>
            <p:nvPr/>
          </p:nvCxnSpPr>
          <p:spPr>
            <a:xfrm>
              <a:off x="9089971" y="2983188"/>
              <a:ext cx="4518" cy="10426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14"/>
            <p:cNvSpPr>
              <a:spLocks noChangeArrowheads="1"/>
            </p:cNvSpPr>
            <p:nvPr/>
          </p:nvSpPr>
          <p:spPr bwMode="auto">
            <a:xfrm flipV="1">
              <a:off x="9023051" y="3087457"/>
              <a:ext cx="142876" cy="153062"/>
            </a:xfrm>
            <a:prstGeom prst="ellipse">
              <a:avLst/>
            </a:prstGeom>
            <a:solidFill>
              <a:schemeClr val="tx2">
                <a:lumMod val="5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45" name="Rectangle 14"/>
            <p:cNvSpPr>
              <a:spLocks noChangeArrowheads="1"/>
            </p:cNvSpPr>
            <p:nvPr/>
          </p:nvSpPr>
          <p:spPr bwMode="auto">
            <a:xfrm flipV="1">
              <a:off x="10355956" y="3087457"/>
              <a:ext cx="142876" cy="153062"/>
            </a:xfrm>
            <a:prstGeom prst="ellipse">
              <a:avLst/>
            </a:prstGeom>
            <a:solidFill>
              <a:schemeClr val="accent4"/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10023273" y="3361858"/>
              <a:ext cx="802420" cy="3545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100" dirty="0"/>
                <a:t>승소판결</a:t>
              </a:r>
              <a:endParaRPr lang="en-US" altLang="ko-KR" sz="1100" dirty="0"/>
            </a:p>
            <a:p>
              <a:pPr algn="ctr"/>
              <a:r>
                <a:rPr lang="ko-KR" altLang="en-US" sz="1100" dirty="0"/>
                <a:t>확정</a:t>
              </a:r>
            </a:p>
          </p:txBody>
        </p:sp>
        <p:cxnSp>
          <p:nvCxnSpPr>
            <p:cNvPr id="47" name="직선 연결선 46"/>
            <p:cNvCxnSpPr>
              <a:cxnSpLocks/>
              <a:stCxn id="46" idx="0"/>
              <a:endCxn id="45" idx="0"/>
            </p:cNvCxnSpPr>
            <p:nvPr/>
          </p:nvCxnSpPr>
          <p:spPr>
            <a:xfrm flipV="1">
              <a:off x="10424483" y="3240519"/>
              <a:ext cx="2911" cy="12133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Rectangle 14"/>
            <p:cNvSpPr>
              <a:spLocks noChangeArrowheads="1"/>
            </p:cNvSpPr>
            <p:nvPr/>
          </p:nvSpPr>
          <p:spPr bwMode="auto">
            <a:xfrm flipV="1">
              <a:off x="6670544" y="3087457"/>
              <a:ext cx="142876" cy="153062"/>
            </a:xfrm>
            <a:prstGeom prst="ellipse">
              <a:avLst/>
            </a:prstGeom>
            <a:solidFill>
              <a:schemeClr val="accent4"/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6463953" y="3361858"/>
              <a:ext cx="550236" cy="3545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100"/>
                <a:t>승소판결</a:t>
              </a:r>
              <a:endParaRPr lang="ko-KR" altLang="en-US" sz="1100" dirty="0"/>
            </a:p>
          </p:txBody>
        </p:sp>
        <p:cxnSp>
          <p:nvCxnSpPr>
            <p:cNvPr id="57" name="직선 연결선 56"/>
            <p:cNvCxnSpPr>
              <a:cxnSpLocks/>
              <a:stCxn id="56" idx="0"/>
              <a:endCxn id="55" idx="0"/>
            </p:cNvCxnSpPr>
            <p:nvPr/>
          </p:nvCxnSpPr>
          <p:spPr>
            <a:xfrm flipV="1">
              <a:off x="6739071" y="3240519"/>
              <a:ext cx="2911" cy="12133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Rectangle 14">
              <a:extLst>
                <a:ext uri="{FF2B5EF4-FFF2-40B4-BE49-F238E27FC236}">
                  <a16:creationId xmlns:a16="http://schemas.microsoft.com/office/drawing/2014/main" id="{E41F5C06-EC8B-4C42-848B-B342E9391CB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2947310" y="3087457"/>
              <a:ext cx="142876" cy="153062"/>
            </a:xfrm>
            <a:prstGeom prst="ellipse">
              <a:avLst/>
            </a:prstGeom>
            <a:solidFill>
              <a:schemeClr val="accent4"/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B2F3DEC2-A72C-4008-AAEE-536E131A411A}"/>
                </a:ext>
              </a:extLst>
            </p:cNvPr>
            <p:cNvSpPr txBox="1"/>
            <p:nvPr/>
          </p:nvSpPr>
          <p:spPr>
            <a:xfrm>
              <a:off x="2330490" y="3361858"/>
              <a:ext cx="1370694" cy="35455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 sz="1100" dirty="0"/>
                <a:t>침해소송제기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(</a:t>
              </a:r>
              <a:r>
                <a:rPr lang="ko-KR" altLang="en-US" sz="1100" dirty="0"/>
                <a:t>특허권자</a:t>
              </a:r>
              <a:r>
                <a:rPr lang="en-US" altLang="ko-KR" sz="1100" dirty="0"/>
                <a:t>, </a:t>
              </a:r>
              <a:r>
                <a:rPr lang="ko-KR" altLang="en-US" sz="1100" dirty="0"/>
                <a:t>甲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D7829ED1-7CE3-447E-826E-B4E5DA73AE1A}"/>
                </a:ext>
              </a:extLst>
            </p:cNvPr>
            <p:cNvCxnSpPr>
              <a:cxnSpLocks/>
              <a:stCxn id="66" idx="0"/>
              <a:endCxn id="65" idx="0"/>
            </p:cNvCxnSpPr>
            <p:nvPr/>
          </p:nvCxnSpPr>
          <p:spPr>
            <a:xfrm flipV="1">
              <a:off x="3015837" y="3240519"/>
              <a:ext cx="2911" cy="121339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C1CA82A-2205-4C7D-9E50-41B6FC289BEA}"/>
              </a:ext>
            </a:extLst>
          </p:cNvPr>
          <p:cNvCxnSpPr/>
          <p:nvPr/>
        </p:nvCxnSpPr>
        <p:spPr>
          <a:xfrm>
            <a:off x="0" y="2375494"/>
            <a:ext cx="1219199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87FFE25B-B07F-4EBE-8352-F9B682D16362}"/>
              </a:ext>
            </a:extLst>
          </p:cNvPr>
          <p:cNvSpPr/>
          <p:nvPr/>
        </p:nvSpPr>
        <p:spPr>
          <a:xfrm>
            <a:off x="77638" y="3999300"/>
            <a:ext cx="12033849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just" fontAlgn="base"/>
            <a:r>
              <a:rPr lang="ko-KR" altLang="en-US" sz="1200" dirty="0"/>
              <a:t>권리범위확인심판은 특허권 침해에 관한 민사소송</a:t>
            </a:r>
            <a:r>
              <a:rPr lang="en-US" altLang="ko-KR" sz="1200" dirty="0"/>
              <a:t>(</a:t>
            </a:r>
            <a:r>
              <a:rPr lang="ko-KR" altLang="en-US" sz="1200" dirty="0"/>
              <a:t>이하 ‘</a:t>
            </a:r>
            <a:r>
              <a:rPr lang="ko-KR" altLang="en-US" sz="1200" dirty="0" err="1"/>
              <a:t>침해소송’이라</a:t>
            </a:r>
            <a:r>
              <a:rPr lang="ko-KR" altLang="en-US" sz="1200" dirty="0"/>
              <a:t> 한다</a:t>
            </a:r>
            <a:r>
              <a:rPr lang="en-US" altLang="ko-KR" sz="1200" dirty="0"/>
              <a:t>)</a:t>
            </a:r>
            <a:r>
              <a:rPr lang="ko-KR" altLang="en-US" sz="1200" dirty="0"/>
              <a:t>과 같이 침해금지청구권이나 손해배상청구권의 </a:t>
            </a:r>
            <a:r>
              <a:rPr lang="ko-KR" altLang="en-US" sz="1200" dirty="0" err="1"/>
              <a:t>존부와</a:t>
            </a:r>
            <a:r>
              <a:rPr lang="ko-KR" altLang="en-US" sz="1200" dirty="0"/>
              <a:t> 같은 분쟁 당사자 사이의 권리관계를 최종적으로 확정하는 절차가 아니고</a:t>
            </a:r>
            <a:r>
              <a:rPr lang="en-US" altLang="ko-KR" sz="1200" dirty="0"/>
              <a:t>, </a:t>
            </a:r>
            <a:r>
              <a:rPr lang="ko-KR" altLang="en-US" sz="1200" dirty="0"/>
              <a:t>그 절차에서의 판단이 침해소송에 기속력을 미치는 것도 아니지만</a:t>
            </a:r>
            <a:r>
              <a:rPr lang="en-US" altLang="ko-KR" sz="1200" dirty="0"/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간이하고 신속하게 확인대상발명이 특허권의 객관적인 효력범위에 포함되는지를 판단함으로써 당사자 사이의 분쟁을 사전에 예방하거나 조속히 </a:t>
            </a:r>
            <a:r>
              <a:rPr lang="ko-KR" altLang="en-US" sz="1200" dirty="0" err="1">
                <a:highlight>
                  <a:srgbClr val="FFFF00"/>
                </a:highlight>
              </a:rPr>
              <a:t>종결시키는</a:t>
            </a:r>
            <a:r>
              <a:rPr lang="ko-KR" altLang="en-US" sz="1200" dirty="0">
                <a:highlight>
                  <a:srgbClr val="FFFF00"/>
                </a:highlight>
              </a:rPr>
              <a:t> 데에 이바지한다는 점에서 고유한 기능</a:t>
            </a:r>
            <a:r>
              <a:rPr lang="ko-KR" altLang="en-US" sz="1200" dirty="0"/>
              <a:t>을 가진다</a:t>
            </a:r>
            <a:r>
              <a:rPr lang="en-US" altLang="ko-KR" sz="1200" dirty="0"/>
              <a:t>. </a:t>
            </a:r>
            <a:r>
              <a:rPr lang="ko-KR" altLang="en-US" sz="1200" dirty="0">
                <a:highlight>
                  <a:srgbClr val="CCECFF"/>
                </a:highlight>
              </a:rPr>
              <a:t>특허법 제</a:t>
            </a:r>
            <a:r>
              <a:rPr lang="en-US" altLang="ko-KR" sz="1200" dirty="0">
                <a:highlight>
                  <a:srgbClr val="CCECFF"/>
                </a:highlight>
              </a:rPr>
              <a:t>164</a:t>
            </a:r>
            <a:r>
              <a:rPr lang="ko-KR" altLang="en-US" sz="1200" dirty="0">
                <a:highlight>
                  <a:srgbClr val="CCECFF"/>
                </a:highlight>
              </a:rPr>
              <a:t>조 제</a:t>
            </a:r>
            <a:r>
              <a:rPr lang="en-US" altLang="ko-KR" sz="1200" dirty="0">
                <a:highlight>
                  <a:srgbClr val="CCECFF"/>
                </a:highlight>
              </a:rPr>
              <a:t>1</a:t>
            </a:r>
            <a:r>
              <a:rPr lang="ko-KR" altLang="en-US" sz="1200" dirty="0">
                <a:highlight>
                  <a:srgbClr val="CCECFF"/>
                </a:highlight>
              </a:rPr>
              <a:t>항</a:t>
            </a:r>
            <a:r>
              <a:rPr lang="ko-KR" altLang="en-US" sz="1200" dirty="0"/>
              <a:t>은 심판장이 소송절차가 완결될 때까지 심판절차를 중지할 수 있다고 규정하고</a:t>
            </a:r>
            <a:r>
              <a:rPr lang="en-US" altLang="ko-KR" sz="1200" dirty="0"/>
              <a:t>, </a:t>
            </a:r>
            <a:r>
              <a:rPr lang="ko-KR" altLang="en-US" sz="1200" dirty="0">
                <a:highlight>
                  <a:srgbClr val="CCECFF"/>
                </a:highlight>
              </a:rPr>
              <a:t>제</a:t>
            </a:r>
            <a:r>
              <a:rPr lang="en-US" altLang="ko-KR" sz="1200" dirty="0">
                <a:highlight>
                  <a:srgbClr val="CCECFF"/>
                </a:highlight>
              </a:rPr>
              <a:t>2</a:t>
            </a:r>
            <a:r>
              <a:rPr lang="ko-KR" altLang="en-US" sz="1200" dirty="0">
                <a:highlight>
                  <a:srgbClr val="CCECFF"/>
                </a:highlight>
              </a:rPr>
              <a:t>항</a:t>
            </a:r>
            <a:r>
              <a:rPr lang="ko-KR" altLang="en-US" sz="1200" dirty="0"/>
              <a:t>은 법원은 특허에 관한 </a:t>
            </a:r>
            <a:r>
              <a:rPr lang="ko-KR" altLang="en-US" sz="1200" dirty="0" err="1"/>
              <a:t>심결이</a:t>
            </a:r>
            <a:r>
              <a:rPr lang="ko-KR" altLang="en-US" sz="1200" dirty="0"/>
              <a:t> 확정될 때까지 소송절차를 중지할 수 있다고 규정하며</a:t>
            </a:r>
            <a:r>
              <a:rPr lang="en-US" altLang="ko-KR" sz="1200" dirty="0"/>
              <a:t>, </a:t>
            </a:r>
            <a:r>
              <a:rPr lang="ko-KR" altLang="en-US" sz="1200" dirty="0">
                <a:highlight>
                  <a:srgbClr val="CCECFF"/>
                </a:highlight>
              </a:rPr>
              <a:t>제</a:t>
            </a:r>
            <a:r>
              <a:rPr lang="en-US" altLang="ko-KR" sz="1200" dirty="0">
                <a:highlight>
                  <a:srgbClr val="CCECFF"/>
                </a:highlight>
              </a:rPr>
              <a:t>3</a:t>
            </a:r>
            <a:r>
              <a:rPr lang="ko-KR" altLang="en-US" sz="1200" dirty="0">
                <a:highlight>
                  <a:srgbClr val="CCECFF"/>
                </a:highlight>
              </a:rPr>
              <a:t>항</a:t>
            </a:r>
            <a:r>
              <a:rPr lang="ko-KR" altLang="en-US" sz="1200" dirty="0"/>
              <a:t>은 법원은 침해소송이 제기되거나 종료되었을 때에 그 취지를 특허심판원장에게 통보하도록 규정하고</a:t>
            </a:r>
            <a:r>
              <a:rPr lang="en-US" altLang="ko-KR" sz="1200" dirty="0"/>
              <a:t>, </a:t>
            </a:r>
            <a:r>
              <a:rPr lang="ko-KR" altLang="en-US" sz="1200" dirty="0">
                <a:highlight>
                  <a:srgbClr val="CCECFF"/>
                </a:highlight>
              </a:rPr>
              <a:t>제</a:t>
            </a:r>
            <a:r>
              <a:rPr lang="en-US" altLang="ko-KR" sz="1200" dirty="0">
                <a:highlight>
                  <a:srgbClr val="CCECFF"/>
                </a:highlight>
              </a:rPr>
              <a:t>4</a:t>
            </a:r>
            <a:r>
              <a:rPr lang="ko-KR" altLang="en-US" sz="1200" dirty="0">
                <a:highlight>
                  <a:srgbClr val="CCECFF"/>
                </a:highlight>
              </a:rPr>
              <a:t>항</a:t>
            </a:r>
            <a:r>
              <a:rPr lang="ko-KR" altLang="en-US" sz="1200" dirty="0"/>
              <a:t>은 특허심판원장은 제</a:t>
            </a:r>
            <a:r>
              <a:rPr lang="en-US" altLang="ko-KR" sz="1200" dirty="0"/>
              <a:t>3</a:t>
            </a:r>
            <a:r>
              <a:rPr lang="ko-KR" altLang="en-US" sz="1200" dirty="0"/>
              <a:t>항에 따른 특허권 또는 전용실시권의 침해에 관한 소에 대응하여 그 특허권에 관한 무효심판 등이 청구된 경우에는 그 취지를 제</a:t>
            </a:r>
            <a:r>
              <a:rPr lang="en-US" altLang="ko-KR" sz="1200" dirty="0"/>
              <a:t>3</a:t>
            </a:r>
            <a:r>
              <a:rPr lang="ko-KR" altLang="en-US" sz="1200" dirty="0"/>
              <a:t>항에 해당하는 법원에 통보하여야 한다고 규정하고 있다</a:t>
            </a:r>
            <a:r>
              <a:rPr lang="en-US" altLang="ko-KR" sz="1200" dirty="0"/>
              <a:t>. </a:t>
            </a:r>
            <a:r>
              <a:rPr lang="ko-KR" altLang="en-US" sz="1200" dirty="0">
                <a:highlight>
                  <a:srgbClr val="CCECFF"/>
                </a:highlight>
              </a:rPr>
              <a:t>이와 같이 특허법이 권리범위확인심판과 소송절차를 각 절차의 개시 선후나 진행경과 등과 무관하게 별개의 독립된 절차로 인정됨을 전제로 규정하고 있는 것</a:t>
            </a:r>
            <a:r>
              <a:rPr lang="ko-KR" altLang="en-US" sz="1200" dirty="0"/>
              <a:t>도 앞서 본 권리범위확인심판 제도의 기능을 존중하는 취지로 이해할 수 있다</a:t>
            </a:r>
            <a:r>
              <a:rPr lang="en-US" altLang="ko-KR" sz="1200" dirty="0"/>
              <a:t>. </a:t>
            </a:r>
            <a:r>
              <a:rPr lang="ko-KR" altLang="en-US" sz="1200" dirty="0"/>
              <a:t>이와 같은 </a:t>
            </a:r>
            <a:r>
              <a:rPr lang="ko-KR" altLang="en-US" sz="1200" dirty="0">
                <a:highlight>
                  <a:srgbClr val="00B0F0"/>
                </a:highlight>
              </a:rPr>
              <a:t>권리범위확인심판 제도의 성질과 기능</a:t>
            </a:r>
            <a:r>
              <a:rPr lang="en-US" altLang="ko-KR" sz="1200" dirty="0">
                <a:highlight>
                  <a:srgbClr val="00B0F0"/>
                </a:highlight>
              </a:rPr>
              <a:t>, </a:t>
            </a:r>
            <a:r>
              <a:rPr lang="ko-KR" altLang="en-US" sz="1200" dirty="0">
                <a:highlight>
                  <a:srgbClr val="00B0F0"/>
                </a:highlight>
              </a:rPr>
              <a:t>특허법의 규정 내용과 취지 등에 비추어 보면</a:t>
            </a:r>
            <a:r>
              <a:rPr lang="en-US" altLang="ko-KR" sz="1200" dirty="0">
                <a:highlight>
                  <a:srgbClr val="00B0F0"/>
                </a:highlight>
              </a:rPr>
              <a:t>,</a:t>
            </a:r>
            <a:r>
              <a:rPr lang="en-US" altLang="ko-KR" sz="1200" dirty="0"/>
              <a:t> </a:t>
            </a:r>
            <a:r>
              <a:rPr lang="ko-KR" altLang="en-US" sz="1200" dirty="0"/>
              <a:t>침해소송이 계속 중이어서 그 소송에서 특허권의 효력이 미치는 범위를 확정할 수 있더라도 이를 이유로 침해소송과 별개로 청구된 권리범위확인심판의 심판청구의 이익이 부정된다고 볼 수는 없다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033628E5-8EE3-4191-9C46-044000B9FB04}"/>
              </a:ext>
            </a:extLst>
          </p:cNvPr>
          <p:cNvSpPr/>
          <p:nvPr/>
        </p:nvSpPr>
        <p:spPr>
          <a:xfrm>
            <a:off x="77638" y="3685098"/>
            <a:ext cx="6271269" cy="2769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권리범위확인심판의 심판의 이익</a:t>
            </a:r>
            <a:r>
              <a:rPr lang="en-US" altLang="ko-KR" sz="1200" dirty="0">
                <a:solidFill>
                  <a:schemeClr val="bg1"/>
                </a:solidFill>
              </a:rPr>
              <a:t>: </a:t>
            </a:r>
            <a:r>
              <a:rPr lang="ko-KR" altLang="en-US" sz="1200" dirty="0">
                <a:solidFill>
                  <a:schemeClr val="bg1"/>
                </a:solidFill>
              </a:rPr>
              <a:t>대법원 </a:t>
            </a:r>
            <a:r>
              <a:rPr lang="en-US" altLang="ko-KR" sz="1200" dirty="0">
                <a:solidFill>
                  <a:schemeClr val="bg1"/>
                </a:solidFill>
              </a:rPr>
              <a:t>2018. 2. 8. </a:t>
            </a:r>
            <a:r>
              <a:rPr lang="ko-KR" altLang="en-US" sz="1200" dirty="0">
                <a:solidFill>
                  <a:schemeClr val="bg1"/>
                </a:solidFill>
              </a:rPr>
              <a:t>선고 </a:t>
            </a:r>
            <a:r>
              <a:rPr lang="en-US" altLang="ko-KR" sz="1200" dirty="0">
                <a:solidFill>
                  <a:schemeClr val="bg1"/>
                </a:solidFill>
              </a:rPr>
              <a:t>2016</a:t>
            </a:r>
            <a:r>
              <a:rPr lang="ko-KR" altLang="en-US" sz="1200" dirty="0">
                <a:solidFill>
                  <a:schemeClr val="bg1"/>
                </a:solidFill>
              </a:rPr>
              <a:t>후</a:t>
            </a:r>
            <a:r>
              <a:rPr lang="en-US" altLang="ko-KR" sz="1200" dirty="0">
                <a:solidFill>
                  <a:schemeClr val="bg1"/>
                </a:solidFill>
              </a:rPr>
              <a:t>328 </a:t>
            </a:r>
            <a:r>
              <a:rPr lang="ko-KR" altLang="en-US" sz="1200" dirty="0">
                <a:solidFill>
                  <a:schemeClr val="bg1"/>
                </a:solidFill>
              </a:rPr>
              <a:t>판결 </a:t>
            </a:r>
            <a:r>
              <a:rPr lang="en-US" altLang="ko-KR" sz="1200" dirty="0">
                <a:solidFill>
                  <a:schemeClr val="bg1"/>
                </a:solidFill>
              </a:rPr>
              <a:t>【</a:t>
            </a:r>
            <a:r>
              <a:rPr lang="ko-KR" altLang="en-US" sz="1200" dirty="0">
                <a:solidFill>
                  <a:schemeClr val="bg1"/>
                </a:solidFill>
              </a:rPr>
              <a:t>권리범위확인</a:t>
            </a:r>
            <a:r>
              <a:rPr lang="en-US" altLang="ko-KR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특</a:t>
            </a:r>
            <a:r>
              <a:rPr lang="en-US" altLang="ko-KR" sz="1200" dirty="0">
                <a:solidFill>
                  <a:schemeClr val="bg1"/>
                </a:solidFill>
              </a:rPr>
              <a:t>)】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58E53AA5-BCB9-4A00-9F86-93598F823E19}"/>
              </a:ext>
            </a:extLst>
          </p:cNvPr>
          <p:cNvCxnSpPr/>
          <p:nvPr/>
        </p:nvCxnSpPr>
        <p:spPr>
          <a:xfrm>
            <a:off x="0" y="5570565"/>
            <a:ext cx="1219199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0377373D-229F-4DE3-804D-74362F7EA24A}"/>
              </a:ext>
            </a:extLst>
          </p:cNvPr>
          <p:cNvCxnSpPr>
            <a:cxnSpLocks/>
          </p:cNvCxnSpPr>
          <p:nvPr/>
        </p:nvCxnSpPr>
        <p:spPr>
          <a:xfrm>
            <a:off x="178415" y="6248628"/>
            <a:ext cx="1174329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Rectangle 14">
            <a:extLst>
              <a:ext uri="{FF2B5EF4-FFF2-40B4-BE49-F238E27FC236}">
                <a16:creationId xmlns:a16="http://schemas.microsoft.com/office/drawing/2014/main" id="{410EA947-A692-4698-8EF2-D2932BDF5A4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655162" y="617209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0B6972F-FC87-4DDF-9A3D-89A2B56DE719}"/>
              </a:ext>
            </a:extLst>
          </p:cNvPr>
          <p:cNvSpPr txBox="1"/>
          <p:nvPr/>
        </p:nvSpPr>
        <p:spPr>
          <a:xfrm>
            <a:off x="1967078" y="5710688"/>
            <a:ext cx="1513222" cy="3571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소극적 확인심판청구</a:t>
            </a:r>
            <a:endParaRPr lang="en-US" altLang="ko-KR" sz="11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이해관계인</a:t>
            </a:r>
            <a:r>
              <a:rPr lang="en-US" altLang="ko-KR" sz="1100" dirty="0"/>
              <a:t>, </a:t>
            </a:r>
            <a:r>
              <a:rPr lang="ko-KR" altLang="en-US" sz="1100" dirty="0"/>
              <a:t>乙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296FEAE1-2BE5-490B-B56E-FE269B642FEA}"/>
              </a:ext>
            </a:extLst>
          </p:cNvPr>
          <p:cNvCxnSpPr>
            <a:cxnSpLocks/>
            <a:stCxn id="104" idx="2"/>
            <a:endCxn id="103" idx="4"/>
          </p:cNvCxnSpPr>
          <p:nvPr/>
        </p:nvCxnSpPr>
        <p:spPr>
          <a:xfrm>
            <a:off x="2723689" y="6067828"/>
            <a:ext cx="2911" cy="1042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8B975700-EF12-4A7E-BEA3-18883013AE5E}"/>
              </a:ext>
            </a:extLst>
          </p:cNvPr>
          <p:cNvSpPr txBox="1"/>
          <p:nvPr/>
        </p:nvSpPr>
        <p:spPr>
          <a:xfrm>
            <a:off x="4056674" y="5710688"/>
            <a:ext cx="526208" cy="3571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인용</a:t>
            </a:r>
            <a:endParaRPr lang="en-US" altLang="ko-KR" sz="1100" dirty="0"/>
          </a:p>
          <a:p>
            <a:pPr algn="ctr"/>
            <a:r>
              <a:rPr lang="ko-KR" altLang="en-US" sz="1100" dirty="0" err="1"/>
              <a:t>심결</a:t>
            </a:r>
            <a:endParaRPr lang="ko-KR" altLang="en-US" sz="1100" dirty="0"/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10E1B181-A157-47AF-B31A-693A6E9B099E}"/>
              </a:ext>
            </a:extLst>
          </p:cNvPr>
          <p:cNvCxnSpPr>
            <a:cxnSpLocks/>
            <a:stCxn id="106" idx="2"/>
          </p:cNvCxnSpPr>
          <p:nvPr/>
        </p:nvCxnSpPr>
        <p:spPr>
          <a:xfrm>
            <a:off x="4319778" y="6067828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ectangle 14">
            <a:extLst>
              <a:ext uri="{FF2B5EF4-FFF2-40B4-BE49-F238E27FC236}">
                <a16:creationId xmlns:a16="http://schemas.microsoft.com/office/drawing/2014/main" id="{782CF3C6-F9E0-4364-8568-12C4E849EEC2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252858" y="617209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9" name="Rectangle 14">
            <a:extLst>
              <a:ext uri="{FF2B5EF4-FFF2-40B4-BE49-F238E27FC236}">
                <a16:creationId xmlns:a16="http://schemas.microsoft.com/office/drawing/2014/main" id="{414FD2E4-3A0E-49BC-81D5-FA431C78242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5735757" y="617209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ECE65E4-7AEA-4B4F-B4CC-EEAC0F0257C5}"/>
              </a:ext>
            </a:extLst>
          </p:cNvPr>
          <p:cNvSpPr txBox="1"/>
          <p:nvPr/>
        </p:nvSpPr>
        <p:spPr>
          <a:xfrm>
            <a:off x="5135080" y="5710688"/>
            <a:ext cx="1338408" cy="3571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 err="1"/>
              <a:t>심결취소소송제기</a:t>
            </a:r>
            <a:endParaRPr lang="en-US" altLang="ko-KR" sz="11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甲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BC1E4D70-93E3-47D5-AD60-9DA27F808800}"/>
              </a:ext>
            </a:extLst>
          </p:cNvPr>
          <p:cNvCxnSpPr>
            <a:cxnSpLocks/>
            <a:stCxn id="110" idx="2"/>
            <a:endCxn id="109" idx="4"/>
          </p:cNvCxnSpPr>
          <p:nvPr/>
        </p:nvCxnSpPr>
        <p:spPr>
          <a:xfrm>
            <a:off x="5804284" y="6067828"/>
            <a:ext cx="2911" cy="1042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22FC4676-57A3-4371-AB42-1D4C558D495D}"/>
              </a:ext>
            </a:extLst>
          </p:cNvPr>
          <p:cNvSpPr txBox="1"/>
          <p:nvPr/>
        </p:nvSpPr>
        <p:spPr>
          <a:xfrm>
            <a:off x="8257454" y="5710688"/>
            <a:ext cx="475022" cy="3571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인용판결</a:t>
            </a:r>
          </a:p>
        </p:txBody>
      </p: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47D4E1C7-C7B5-479D-9897-5189D08FF4E0}"/>
              </a:ext>
            </a:extLst>
          </p:cNvPr>
          <p:cNvCxnSpPr>
            <a:cxnSpLocks/>
            <a:stCxn id="112" idx="2"/>
            <a:endCxn id="114" idx="4"/>
          </p:cNvCxnSpPr>
          <p:nvPr/>
        </p:nvCxnSpPr>
        <p:spPr>
          <a:xfrm>
            <a:off x="8494965" y="6067828"/>
            <a:ext cx="4518" cy="1042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ectangle 14">
            <a:extLst>
              <a:ext uri="{FF2B5EF4-FFF2-40B4-BE49-F238E27FC236}">
                <a16:creationId xmlns:a16="http://schemas.microsoft.com/office/drawing/2014/main" id="{67FDBB8C-42A4-49CB-A8AE-B9A14B4DA9E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428045" y="617209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A5FC9EA-1588-4132-89AE-D64809DC1A38}"/>
              </a:ext>
            </a:extLst>
          </p:cNvPr>
          <p:cNvSpPr txBox="1"/>
          <p:nvPr/>
        </p:nvSpPr>
        <p:spPr>
          <a:xfrm>
            <a:off x="9723078" y="5710688"/>
            <a:ext cx="638804" cy="3571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상고</a:t>
            </a:r>
            <a:endParaRPr lang="en-US" altLang="ko-KR" sz="11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乙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cxnSp>
        <p:nvCxnSpPr>
          <p:cNvPr id="116" name="직선 연결선 115">
            <a:extLst>
              <a:ext uri="{FF2B5EF4-FFF2-40B4-BE49-F238E27FC236}">
                <a16:creationId xmlns:a16="http://schemas.microsoft.com/office/drawing/2014/main" id="{08788B97-5A6B-4BE9-9E5D-35F33A05D507}"/>
              </a:ext>
            </a:extLst>
          </p:cNvPr>
          <p:cNvCxnSpPr>
            <a:cxnSpLocks/>
            <a:stCxn id="115" idx="2"/>
            <a:endCxn id="118" idx="4"/>
          </p:cNvCxnSpPr>
          <p:nvPr/>
        </p:nvCxnSpPr>
        <p:spPr>
          <a:xfrm>
            <a:off x="10042480" y="6067828"/>
            <a:ext cx="4518" cy="1042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Rectangle 14">
            <a:extLst>
              <a:ext uri="{FF2B5EF4-FFF2-40B4-BE49-F238E27FC236}">
                <a16:creationId xmlns:a16="http://schemas.microsoft.com/office/drawing/2014/main" id="{164673DA-61FD-4E72-8BFB-334E10662F27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975560" y="617209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9" name="Rectangle 14">
            <a:extLst>
              <a:ext uri="{FF2B5EF4-FFF2-40B4-BE49-F238E27FC236}">
                <a16:creationId xmlns:a16="http://schemas.microsoft.com/office/drawing/2014/main" id="{FDA1A33C-8672-4DCF-99D5-8F3805B763B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7171211" y="6172097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369E6AB-C851-475A-985A-F18215D4491D}"/>
              </a:ext>
            </a:extLst>
          </p:cNvPr>
          <p:cNvSpPr txBox="1"/>
          <p:nvPr/>
        </p:nvSpPr>
        <p:spPr>
          <a:xfrm>
            <a:off x="6965553" y="6446498"/>
            <a:ext cx="548370" cy="3424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패소판결</a:t>
            </a:r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12864AA2-3E2D-4F9B-91AF-6F91F03391B7}"/>
              </a:ext>
            </a:extLst>
          </p:cNvPr>
          <p:cNvCxnSpPr>
            <a:cxnSpLocks/>
            <a:stCxn id="120" idx="0"/>
            <a:endCxn id="119" idx="0"/>
          </p:cNvCxnSpPr>
          <p:nvPr/>
        </p:nvCxnSpPr>
        <p:spPr>
          <a:xfrm flipV="1">
            <a:off x="7239738" y="6325159"/>
            <a:ext cx="2911" cy="12133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4">
            <a:extLst>
              <a:ext uri="{FF2B5EF4-FFF2-40B4-BE49-F238E27FC236}">
                <a16:creationId xmlns:a16="http://schemas.microsoft.com/office/drawing/2014/main" id="{8889104E-6845-451E-AA8F-9126D2D67EF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915473" y="6172097"/>
            <a:ext cx="142876" cy="153062"/>
          </a:xfrm>
          <a:prstGeom prst="ellipse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55C597C-8A4C-47AD-AECE-FBE9B99924A3}"/>
              </a:ext>
            </a:extLst>
          </p:cNvPr>
          <p:cNvSpPr txBox="1"/>
          <p:nvPr/>
        </p:nvSpPr>
        <p:spPr>
          <a:xfrm>
            <a:off x="298653" y="6446498"/>
            <a:ext cx="1370694" cy="3424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100" dirty="0"/>
              <a:t>침해소송제기</a:t>
            </a:r>
            <a:endParaRPr lang="en-US" altLang="ko-KR" sz="1100" dirty="0"/>
          </a:p>
          <a:p>
            <a:pPr algn="ctr"/>
            <a:r>
              <a:rPr lang="en-US" altLang="ko-KR" sz="1100" dirty="0"/>
              <a:t>(</a:t>
            </a:r>
            <a:r>
              <a:rPr lang="ko-KR" altLang="en-US" sz="1100" dirty="0"/>
              <a:t>특허권자</a:t>
            </a:r>
            <a:r>
              <a:rPr lang="en-US" altLang="ko-KR" sz="1100" dirty="0"/>
              <a:t>, </a:t>
            </a:r>
            <a:r>
              <a:rPr lang="ko-KR" altLang="en-US" sz="1100" dirty="0"/>
              <a:t>甲</a:t>
            </a:r>
            <a:r>
              <a:rPr lang="en-US" altLang="ko-KR" sz="1100" dirty="0"/>
              <a:t>)</a:t>
            </a:r>
            <a:endParaRPr lang="ko-KR" altLang="en-US" sz="1100" dirty="0"/>
          </a:p>
        </p:txBody>
      </p: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9D1F65ED-739A-4CDE-B377-F2EDA776A784}"/>
              </a:ext>
            </a:extLst>
          </p:cNvPr>
          <p:cNvCxnSpPr>
            <a:cxnSpLocks/>
            <a:stCxn id="123" idx="0"/>
            <a:endCxn id="122" idx="0"/>
          </p:cNvCxnSpPr>
          <p:nvPr/>
        </p:nvCxnSpPr>
        <p:spPr>
          <a:xfrm flipV="1">
            <a:off x="984000" y="6325159"/>
            <a:ext cx="2911" cy="12133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B9D80B0-11D8-5A52-C4D9-44DC24AAC9D0}"/>
              </a:ext>
            </a:extLst>
          </p:cNvPr>
          <p:cNvSpPr txBox="1"/>
          <p:nvPr/>
        </p:nvSpPr>
        <p:spPr>
          <a:xfrm>
            <a:off x="6473488" y="908239"/>
            <a:ext cx="1537600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소의 이익 </a:t>
            </a:r>
            <a:r>
              <a:rPr lang="en-US" altLang="ko-KR" sz="1600" dirty="0"/>
              <a:t>CASE</a:t>
            </a:r>
            <a:endParaRPr lang="ko-KR" altLang="en-US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2CC8DA-2771-581D-5264-E06D70E811D2}"/>
              </a:ext>
            </a:extLst>
          </p:cNvPr>
          <p:cNvSpPr txBox="1"/>
          <p:nvPr/>
        </p:nvSpPr>
        <p:spPr>
          <a:xfrm>
            <a:off x="6473488" y="3681823"/>
            <a:ext cx="1721946" cy="3385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심판의 이익 </a:t>
            </a:r>
            <a:r>
              <a:rPr lang="en-US" altLang="ko-KR" sz="1600" dirty="0"/>
              <a:t>CASE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6226177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소송의 당사자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77875" y="1931009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76902"/>
            <a:ext cx="120362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186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심결</a:t>
            </a:r>
            <a:r>
              <a:rPr lang="ko-KR" altLang="en-US" sz="1400" b="1" dirty="0">
                <a:solidFill>
                  <a:schemeClr val="accent1"/>
                </a:solidFill>
              </a:rPr>
              <a:t> 등에 대한 소</a:t>
            </a:r>
            <a:r>
              <a:rPr lang="en-US" altLang="ko-KR" sz="1400" b="1" dirty="0">
                <a:solidFill>
                  <a:schemeClr val="accent1"/>
                </a:solidFill>
              </a:rPr>
              <a:t>)</a:t>
            </a:r>
            <a:r>
              <a:rPr lang="en-US" altLang="ko-KR" sz="1400" dirty="0">
                <a:solidFill>
                  <a:schemeClr val="tx2"/>
                </a:solidFill>
              </a:rPr>
              <a:t> ① </a:t>
            </a:r>
            <a:r>
              <a:rPr lang="ko-KR" altLang="en-US" sz="1400" dirty="0">
                <a:solidFill>
                  <a:schemeClr val="tx2"/>
                </a:solidFill>
              </a:rPr>
              <a:t>특허취소결정 또는 </a:t>
            </a:r>
            <a:r>
              <a:rPr lang="ko-KR" altLang="en-US" sz="1400" dirty="0" err="1">
                <a:solidFill>
                  <a:schemeClr val="tx2"/>
                </a:solidFill>
              </a:rPr>
              <a:t>심결에</a:t>
            </a:r>
            <a:r>
              <a:rPr lang="ko-KR" altLang="en-US" sz="1400" dirty="0">
                <a:solidFill>
                  <a:schemeClr val="tx2"/>
                </a:solidFill>
              </a:rPr>
              <a:t> 대한 소 및 </a:t>
            </a:r>
            <a:r>
              <a:rPr lang="ko-KR" altLang="en-US" sz="1400" dirty="0" err="1">
                <a:solidFill>
                  <a:schemeClr val="tx2"/>
                </a:solidFill>
              </a:rPr>
              <a:t>특허취소신청서ㆍ심판청구서ㆍ재심청구서의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각하결정에</a:t>
            </a:r>
            <a:r>
              <a:rPr lang="ko-KR" altLang="en-US" sz="1400" dirty="0">
                <a:solidFill>
                  <a:schemeClr val="tx2"/>
                </a:solidFill>
              </a:rPr>
              <a:t> 대한 소는 특허법원의 전속관할로 한다</a:t>
            </a:r>
            <a:r>
              <a:rPr lang="en-US" altLang="ko-KR" sz="1400" dirty="0">
                <a:solidFill>
                  <a:schemeClr val="tx2"/>
                </a:solidFill>
              </a:rPr>
              <a:t>.  </a:t>
            </a: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187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피고적격</a:t>
            </a:r>
            <a:r>
              <a:rPr lang="en-US" altLang="ko-KR" sz="1400" b="1" dirty="0">
                <a:solidFill>
                  <a:schemeClr val="accent1"/>
                </a:solidFill>
              </a:rPr>
              <a:t>) 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186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소를 제기하는 경우에는 지식재산처장을 피고로 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133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134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항ㆍ제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135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항ㆍ제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137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또는 제</a:t>
            </a:r>
            <a:r>
              <a:rPr lang="en-US" altLang="ko-KR" sz="1400" dirty="0">
                <a:solidFill>
                  <a:schemeClr val="tx2"/>
                </a:solidFill>
              </a:rPr>
              <a:t>138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항ㆍ제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따른 심판 또는 그 재심의 </a:t>
            </a:r>
            <a:r>
              <a:rPr lang="ko-KR" altLang="en-US" sz="1400" dirty="0" err="1">
                <a:solidFill>
                  <a:schemeClr val="tx2"/>
                </a:solidFill>
              </a:rPr>
              <a:t>심결에</a:t>
            </a:r>
            <a:r>
              <a:rPr lang="ko-KR" altLang="en-US" sz="1400" dirty="0">
                <a:solidFill>
                  <a:schemeClr val="tx2"/>
                </a:solidFill>
              </a:rPr>
              <a:t> 대한 소를 제기하는 경우에는 그 청구인 또는 피청구인을 피고로 하여야 한다</a:t>
            </a:r>
            <a:r>
              <a:rPr lang="en-US" altLang="ko-KR" sz="1400" dirty="0">
                <a:solidFill>
                  <a:schemeClr val="tx2"/>
                </a:solidFill>
              </a:rPr>
              <a:t>.  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103873"/>
              </p:ext>
            </p:extLst>
          </p:nvPr>
        </p:nvGraphicFramePr>
        <p:xfrm>
          <a:off x="622935" y="2530340"/>
          <a:ext cx="10873740" cy="379069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718435">
                  <a:extLst>
                    <a:ext uri="{9D8B030D-6E8A-4147-A177-3AD203B41FA5}">
                      <a16:colId xmlns:a16="http://schemas.microsoft.com/office/drawing/2014/main" val="2828809677"/>
                    </a:ext>
                  </a:extLst>
                </a:gridCol>
                <a:gridCol w="2718435">
                  <a:extLst>
                    <a:ext uri="{9D8B030D-6E8A-4147-A177-3AD203B41FA5}">
                      <a16:colId xmlns:a16="http://schemas.microsoft.com/office/drawing/2014/main" val="4121456705"/>
                    </a:ext>
                  </a:extLst>
                </a:gridCol>
                <a:gridCol w="2718435">
                  <a:extLst>
                    <a:ext uri="{9D8B030D-6E8A-4147-A177-3AD203B41FA5}">
                      <a16:colId xmlns:a16="http://schemas.microsoft.com/office/drawing/2014/main" val="1733953960"/>
                    </a:ext>
                  </a:extLst>
                </a:gridCol>
                <a:gridCol w="2718435">
                  <a:extLst>
                    <a:ext uri="{9D8B030D-6E8A-4147-A177-3AD203B41FA5}">
                      <a16:colId xmlns:a16="http://schemas.microsoft.com/office/drawing/2014/main" val="1270088139"/>
                    </a:ext>
                  </a:extLst>
                </a:gridCol>
              </a:tblGrid>
              <a:tr h="17348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심판의 종류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결정</a:t>
                      </a:r>
                      <a:r>
                        <a:rPr lang="en-US" altLang="ko-KR" sz="1400" kern="1200"/>
                        <a:t>/</a:t>
                      </a:r>
                      <a:r>
                        <a:rPr lang="ko-KR" altLang="en-US" sz="1400" kern="1200"/>
                        <a:t>심결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원고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피고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473272"/>
                  </a:ext>
                </a:extLst>
              </a:tr>
              <a:tr h="173482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특허취소신청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</a:rPr>
                        <a:t>취소신청서 각하결정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</a:rPr>
                        <a:t>심판장</a:t>
                      </a:r>
                      <a:r>
                        <a:rPr lang="en-US" altLang="ko-KR" sz="1400" kern="1200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특허취소신청인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지식재산처장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384290880"/>
                  </a:ext>
                </a:extLst>
              </a:tr>
              <a:tr h="1734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취소신청 각하결정</a:t>
                      </a:r>
                      <a:r>
                        <a:rPr lang="en-US" altLang="ko-KR" sz="1400" kern="1200" dirty="0"/>
                        <a:t>(</a:t>
                      </a:r>
                      <a:r>
                        <a:rPr lang="ko-KR" altLang="en-US" sz="1400" kern="1200" dirty="0"/>
                        <a:t>심판관합의체</a:t>
                      </a:r>
                      <a:r>
                        <a:rPr lang="en-US" altLang="ko-KR" sz="1400" kern="1200" dirty="0"/>
                        <a:t>)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불복</a:t>
                      </a:r>
                      <a:r>
                        <a:rPr lang="en-US" altLang="ko-KR" sz="1400" kern="1200"/>
                        <a:t>×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4610179"/>
                  </a:ext>
                </a:extLst>
              </a:tr>
              <a:tr h="1734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</a:rPr>
                        <a:t>취소신청 취소결정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특허권자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지식재산처장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2246637213"/>
                  </a:ext>
                </a:extLst>
              </a:tr>
              <a:tr h="1734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취소신청 기각결정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불복</a:t>
                      </a:r>
                      <a:r>
                        <a:rPr lang="en-US" altLang="ko-KR" sz="1400" kern="1200"/>
                        <a:t>×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667016"/>
                  </a:ext>
                </a:extLst>
              </a:tr>
              <a:tr h="173482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당사자계 심판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</a:rPr>
                        <a:t>심판청구서 각하결정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 err="1"/>
                        <a:t>심판청구인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지식재산처장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829831092"/>
                  </a:ext>
                </a:extLst>
              </a:tr>
              <a:tr h="1734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심판청구 </a:t>
                      </a:r>
                      <a:r>
                        <a:rPr lang="ko-KR" altLang="en-US" sz="1400" kern="1200" dirty="0" err="1"/>
                        <a:t>각하심결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 err="1"/>
                        <a:t>심판청구인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심판피청구인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3796930482"/>
                  </a:ext>
                </a:extLst>
              </a:tr>
              <a:tr h="1734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심판청구 </a:t>
                      </a:r>
                      <a:r>
                        <a:rPr lang="ko-KR" altLang="en-US" sz="1400" kern="1200" dirty="0" err="1"/>
                        <a:t>인용심결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심판피청구인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심판청구인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316376450"/>
                  </a:ext>
                </a:extLst>
              </a:tr>
              <a:tr h="1734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심판청구 </a:t>
                      </a:r>
                      <a:r>
                        <a:rPr lang="ko-KR" altLang="en-US" sz="1400" kern="1200" dirty="0" err="1"/>
                        <a:t>기각심결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 err="1"/>
                        <a:t>심판청구인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심판피청구인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66992601"/>
                  </a:ext>
                </a:extLst>
              </a:tr>
              <a:tr h="173482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결정계 심판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</a:rPr>
                        <a:t>심판청구서 각하결정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심판청구인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지식재산처장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939720721"/>
                  </a:ext>
                </a:extLst>
              </a:tr>
              <a:tr h="1734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</a:rPr>
                        <a:t>심판청구 </a:t>
                      </a:r>
                      <a:r>
                        <a:rPr lang="ko-KR" altLang="en-US" sz="1400" kern="1200" dirty="0" err="1">
                          <a:solidFill>
                            <a:srgbClr val="FF0000"/>
                          </a:solidFill>
                        </a:rPr>
                        <a:t>각하심결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심판청구인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지식재산처장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10288350"/>
                  </a:ext>
                </a:extLst>
              </a:tr>
              <a:tr h="1734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심판청구 </a:t>
                      </a:r>
                      <a:r>
                        <a:rPr lang="ko-KR" altLang="en-US" sz="1400" kern="1200" dirty="0" err="1"/>
                        <a:t>인용심결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gridSpan="2"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불복</a:t>
                      </a:r>
                      <a:r>
                        <a:rPr lang="en-US" altLang="ko-KR" sz="1400" kern="1200" dirty="0"/>
                        <a:t>×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709875"/>
                  </a:ext>
                </a:extLst>
              </a:tr>
              <a:tr h="1734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>
                          <a:solidFill>
                            <a:srgbClr val="FF0000"/>
                          </a:solidFill>
                        </a:rPr>
                        <a:t>심판청구 </a:t>
                      </a:r>
                      <a:r>
                        <a:rPr lang="ko-KR" altLang="en-US" sz="1400" kern="1200" dirty="0" err="1">
                          <a:solidFill>
                            <a:srgbClr val="FF0000"/>
                          </a:solidFill>
                        </a:rPr>
                        <a:t>기각심결</a:t>
                      </a:r>
                      <a:endParaRPr lang="ko-KR" altLang="en-US" sz="1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심판청구인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지식재산처장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006888354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522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A288F37-F828-47FE-8F00-8EDEC65F986D}"/>
              </a:ext>
            </a:extLst>
          </p:cNvPr>
          <p:cNvSpPr/>
          <p:nvPr/>
        </p:nvSpPr>
        <p:spPr>
          <a:xfrm>
            <a:off x="1562058" y="1431984"/>
            <a:ext cx="6031048" cy="22084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06F2F4-4B88-40B7-8E3C-01F7D8CEFA2C}"/>
              </a:ext>
            </a:extLst>
          </p:cNvPr>
          <p:cNvSpPr txBox="1"/>
          <p:nvPr/>
        </p:nvSpPr>
        <p:spPr>
          <a:xfrm>
            <a:off x="2311880" y="2076114"/>
            <a:ext cx="3446777" cy="307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취소결정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결정계</a:t>
            </a:r>
            <a:r>
              <a:rPr lang="ko-KR" altLang="en-US" sz="1400" dirty="0"/>
              <a:t> 심판의 </a:t>
            </a:r>
            <a:r>
              <a:rPr lang="ko-KR" altLang="en-US" sz="1400" dirty="0" err="1"/>
              <a:t>심결</a:t>
            </a:r>
            <a:r>
              <a:rPr lang="en-US" altLang="ko-KR" sz="1400" dirty="0"/>
              <a:t>, </a:t>
            </a:r>
            <a:r>
              <a:rPr lang="ko-KR" altLang="en-US" sz="1400" dirty="0"/>
              <a:t>서의 각하결정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F9A0B44-0956-49AD-B2B5-0F5A15C4EAA3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4035269" y="1652824"/>
            <a:ext cx="542313" cy="423290"/>
          </a:xfrm>
          <a:prstGeom prst="line">
            <a:avLst/>
          </a:prstGeom>
          <a:ln w="28575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902745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복수 당사자의 원피고 적격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44843E6-A727-45AE-9330-63574D55F8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869486"/>
              </p:ext>
            </p:extLst>
          </p:nvPr>
        </p:nvGraphicFramePr>
        <p:xfrm>
          <a:off x="590550" y="1304162"/>
          <a:ext cx="11068050" cy="4630811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920401">
                  <a:extLst>
                    <a:ext uri="{9D8B030D-6E8A-4147-A177-3AD203B41FA5}">
                      <a16:colId xmlns:a16="http://schemas.microsoft.com/office/drawing/2014/main" val="1786503385"/>
                    </a:ext>
                  </a:extLst>
                </a:gridCol>
                <a:gridCol w="5748291">
                  <a:extLst>
                    <a:ext uri="{9D8B030D-6E8A-4147-A177-3AD203B41FA5}">
                      <a16:colId xmlns:a16="http://schemas.microsoft.com/office/drawing/2014/main" val="3044541518"/>
                    </a:ext>
                  </a:extLst>
                </a:gridCol>
                <a:gridCol w="3399358">
                  <a:extLst>
                    <a:ext uri="{9D8B030D-6E8A-4147-A177-3AD203B41FA5}">
                      <a16:colId xmlns:a16="http://schemas.microsoft.com/office/drawing/2014/main" val="692515153"/>
                    </a:ext>
                  </a:extLst>
                </a:gridCol>
              </a:tblGrid>
              <a:tr h="3211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구 분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원 고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피 고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247145"/>
                  </a:ext>
                </a:extLst>
              </a:tr>
              <a:tr h="246031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 err="1">
                          <a:effectLst/>
                        </a:rPr>
                        <a:t>공유특허권자</a:t>
                      </a:r>
                      <a:r>
                        <a:rPr lang="ko-KR" altLang="en-US" sz="1400" kern="0" spc="-100" dirty="0">
                          <a:effectLst/>
                        </a:rPr>
                        <a:t> 중 </a:t>
                      </a:r>
                      <a:r>
                        <a:rPr lang="en-US" altLang="ko-KR" sz="1400" kern="0" spc="-10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명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FF0000"/>
                          </a:solidFill>
                          <a:effectLst/>
                        </a:rPr>
                        <a:t>判例가 긍정 </a:t>
                      </a:r>
                      <a:endParaRPr lang="en-US" altLang="ko-KR" sz="1400" kern="0" spc="-5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360680" marR="17780" indent="-3429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arenBoth"/>
                      </a:pPr>
                      <a:r>
                        <a:rPr lang="ko-KR" altLang="en-US" sz="1400" kern="0" spc="-50" dirty="0">
                          <a:effectLst/>
                        </a:rPr>
                        <a:t>다른 공유자의 이익을 </a:t>
                      </a:r>
                      <a:r>
                        <a:rPr lang="ko-KR" altLang="en-US" sz="1400" kern="0" spc="-50" dirty="0" err="1">
                          <a:effectLst/>
                        </a:rPr>
                        <a:t>해한다거나</a:t>
                      </a:r>
                      <a:r>
                        <a:rPr lang="ko-KR" altLang="en-US" sz="1400" kern="0" spc="-50" dirty="0">
                          <a:effectLst/>
                        </a:rPr>
                        <a:t> </a:t>
                      </a:r>
                      <a:r>
                        <a:rPr lang="ko-KR" altLang="en-US" sz="1400" kern="0" spc="-50" dirty="0">
                          <a:solidFill>
                            <a:srgbClr val="FF0000"/>
                          </a:solidFill>
                          <a:effectLst/>
                        </a:rPr>
                        <a:t>합일확정</a:t>
                      </a:r>
                      <a:r>
                        <a:rPr lang="ko-KR" altLang="en-US" sz="1400" kern="0" spc="-50" dirty="0">
                          <a:effectLst/>
                        </a:rPr>
                        <a:t>의 요청에 반하는 사태가 생긴다고 볼 수 없기 때문</a:t>
                      </a:r>
                      <a:r>
                        <a:rPr lang="en-US" altLang="ko-KR" sz="1400" kern="0" spc="-50" dirty="0">
                          <a:effectLst/>
                        </a:rPr>
                        <a:t>(</a:t>
                      </a:r>
                      <a:r>
                        <a:rPr lang="ko-KR" altLang="en-US" sz="1400" kern="0" spc="-50" dirty="0">
                          <a:effectLst/>
                        </a:rPr>
                        <a:t>승소할 경우에는 그 취소판결의 효력은 행정소송법 제</a:t>
                      </a:r>
                      <a:r>
                        <a:rPr lang="en-US" altLang="ko-KR" sz="1400" kern="0" spc="-50" dirty="0">
                          <a:effectLst/>
                        </a:rPr>
                        <a:t>29</a:t>
                      </a:r>
                      <a:r>
                        <a:rPr lang="ko-KR" altLang="en-US" sz="1400" kern="0" spc="-50" dirty="0">
                          <a:effectLst/>
                        </a:rPr>
                        <a:t>조제</a:t>
                      </a:r>
                      <a:r>
                        <a:rPr lang="en-US" altLang="ko-KR" sz="1400" kern="0" spc="-50" dirty="0">
                          <a:effectLst/>
                        </a:rPr>
                        <a:t>1</a:t>
                      </a:r>
                      <a:r>
                        <a:rPr lang="ko-KR" altLang="en-US" sz="1400" kern="0" spc="-50" dirty="0">
                          <a:effectLst/>
                        </a:rPr>
                        <a:t>항에 의하여 다른 공유자에게도 미쳐 특허심판원에서 공유자 모두와의 관계에서 심판절차가 재개됨으로써 충족되고</a:t>
                      </a:r>
                      <a:r>
                        <a:rPr lang="en-US" altLang="ko-KR" sz="1400" kern="0" spc="-50" dirty="0">
                          <a:effectLst/>
                        </a:rPr>
                        <a:t>, </a:t>
                      </a:r>
                      <a:r>
                        <a:rPr lang="ko-KR" altLang="en-US" sz="1400" kern="0" spc="-50" dirty="0">
                          <a:effectLst/>
                        </a:rPr>
                        <a:t>그 소송에서 패소하더라도 이미 심판절차에서 패소한 다른 공유자의 권리에 영향을 미치지 아니함</a:t>
                      </a:r>
                      <a:r>
                        <a:rPr lang="en-US" altLang="ko-KR" sz="1400" kern="0" spc="-50" dirty="0">
                          <a:effectLst/>
                        </a:rPr>
                        <a:t>)</a:t>
                      </a:r>
                    </a:p>
                    <a:p>
                      <a:pPr marL="360680" marR="17780" indent="-3429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arenBoth"/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모두가 제기해야 한다면 소 제기에 협력할 수 없거나 이해관계가 달라 협력하지 않은 경우에 소 제기를 할 수 없어 부당하게 재산권 침해 </a:t>
                      </a:r>
                      <a:endParaRPr lang="en-US" altLang="ko-KR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chemeClr val="accent1"/>
                          </a:solidFill>
                          <a:effectLst/>
                        </a:rPr>
                        <a:t>判例가 부정 </a:t>
                      </a:r>
                      <a:endParaRPr lang="en-US" altLang="ko-KR" sz="1400" kern="0" spc="-50" dirty="0">
                        <a:solidFill>
                          <a:schemeClr val="accent1"/>
                        </a:solidFill>
                        <a:effectLst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effectLst/>
                        </a:rPr>
                        <a:t>모두를 대상으로 하여야 한다고 해석하더라도 공유자가 원고인 경우와 달리 특별히 부당한 결과가 발생하는 것이 아니기 때문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/>
                </a:tc>
                <a:extLst>
                  <a:ext uri="{0D108BD9-81ED-4DB2-BD59-A6C34878D82A}">
                    <a16:rowId xmlns:a16="http://schemas.microsoft.com/office/drawing/2014/main" val="1513073221"/>
                  </a:ext>
                </a:extLst>
              </a:tr>
              <a:tr h="184935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공동심판청구인 중 </a:t>
                      </a:r>
                      <a:r>
                        <a:rPr lang="en-US" altLang="ko-KR" sz="1400" kern="0" spc="-10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명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FF0000"/>
                          </a:solidFill>
                          <a:effectLst/>
                        </a:rPr>
                        <a:t>학설이 긍정 </a:t>
                      </a:r>
                      <a:endParaRPr lang="en-US" altLang="ko-KR" sz="1400" kern="0" spc="-5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 err="1">
                          <a:effectLst/>
                        </a:rPr>
                        <a:t>심결이</a:t>
                      </a:r>
                      <a:r>
                        <a:rPr lang="ko-KR" altLang="en-US" sz="1400" kern="0" spc="-50" dirty="0">
                          <a:effectLst/>
                        </a:rPr>
                        <a:t> 있은 후 공동심판청구인 모두에 대하여 출소기간이 지나야 </a:t>
                      </a:r>
                      <a:r>
                        <a:rPr lang="ko-KR" altLang="en-US" sz="1400" kern="0" spc="-50" dirty="0" err="1">
                          <a:effectLst/>
                        </a:rPr>
                        <a:t>심결이</a:t>
                      </a:r>
                      <a:r>
                        <a:rPr lang="ko-KR" altLang="en-US" sz="1400" kern="0" spc="-50" dirty="0">
                          <a:effectLst/>
                        </a:rPr>
                        <a:t> 확정되므로 </a:t>
                      </a:r>
                      <a:r>
                        <a:rPr lang="en-US" altLang="ko-KR" sz="1400" kern="0" spc="-50" dirty="0">
                          <a:effectLst/>
                        </a:rPr>
                        <a:t>1</a:t>
                      </a:r>
                      <a:r>
                        <a:rPr lang="ko-KR" altLang="en-US" sz="1400" kern="0" spc="-50" dirty="0">
                          <a:effectLst/>
                        </a:rPr>
                        <a:t>명이라도 </a:t>
                      </a:r>
                      <a:r>
                        <a:rPr lang="ko-KR" altLang="en-US" sz="1400" kern="0" spc="-50" dirty="0" err="1">
                          <a:effectLst/>
                        </a:rPr>
                        <a:t>심결취소소송을</a:t>
                      </a:r>
                      <a:r>
                        <a:rPr lang="ko-KR" altLang="en-US" sz="1400" kern="0" spc="-50" dirty="0">
                          <a:effectLst/>
                        </a:rPr>
                        <a:t> 제기하면 </a:t>
                      </a:r>
                      <a:r>
                        <a:rPr lang="ko-KR" altLang="en-US" sz="1400" kern="0" spc="-50" dirty="0" err="1">
                          <a:effectLst/>
                        </a:rPr>
                        <a:t>심결은</a:t>
                      </a:r>
                      <a:r>
                        <a:rPr lang="ko-KR" altLang="en-US" sz="1400" kern="0" spc="-50" dirty="0">
                          <a:effectLst/>
                        </a:rPr>
                        <a:t> 확정되지 않고</a:t>
                      </a:r>
                      <a:r>
                        <a:rPr lang="en-US" altLang="ko-KR" sz="1400" kern="0" spc="-50" dirty="0">
                          <a:effectLst/>
                        </a:rPr>
                        <a:t>, </a:t>
                      </a:r>
                      <a:r>
                        <a:rPr lang="ko-KR" altLang="en-US" sz="1400" kern="0" spc="-50" dirty="0">
                          <a:effectLst/>
                        </a:rPr>
                        <a:t>출소기간을 지난 공동심판청구인은 스스로 </a:t>
                      </a:r>
                      <a:r>
                        <a:rPr lang="ko-KR" altLang="en-US" sz="1400" kern="0" spc="-50" dirty="0" err="1">
                          <a:effectLst/>
                        </a:rPr>
                        <a:t>심결취소소송을</a:t>
                      </a:r>
                      <a:r>
                        <a:rPr lang="ko-KR" altLang="en-US" sz="1400" kern="0" spc="-50" dirty="0">
                          <a:effectLst/>
                        </a:rPr>
                        <a:t> 제기할 수는 없지만</a:t>
                      </a:r>
                      <a:r>
                        <a:rPr lang="en-US" altLang="ko-KR" sz="1400" kern="0" spc="-50" dirty="0">
                          <a:effectLst/>
                        </a:rPr>
                        <a:t>, </a:t>
                      </a:r>
                      <a:r>
                        <a:rPr lang="ko-KR" altLang="en-US" sz="1400" kern="0" spc="-50" dirty="0" err="1">
                          <a:effectLst/>
                        </a:rPr>
                        <a:t>심결이</a:t>
                      </a:r>
                      <a:r>
                        <a:rPr lang="ko-KR" altLang="en-US" sz="1400" kern="0" spc="-50" dirty="0">
                          <a:effectLst/>
                        </a:rPr>
                        <a:t> 확정되지는 않았으므로 승소의 확정판결에 의하여 다시 심판이 계속되면 그 심판에서 </a:t>
                      </a:r>
                      <a:r>
                        <a:rPr lang="ko-KR" altLang="en-US" sz="1400" kern="0" spc="-50" dirty="0" err="1">
                          <a:effectLst/>
                        </a:rPr>
                        <a:t>심결취소소송을</a:t>
                      </a:r>
                      <a:r>
                        <a:rPr lang="ko-KR" altLang="en-US" sz="1400" kern="0" spc="-50" dirty="0">
                          <a:effectLst/>
                        </a:rPr>
                        <a:t> 제기하지 아니한 공동심판청구인도 심판청구인의 지위를 유지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7907" marB="17907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50" dirty="0">
                          <a:solidFill>
                            <a:srgbClr val="FF0000"/>
                          </a:solidFill>
                          <a:effectLst/>
                        </a:rPr>
                        <a:t>判例가 긍정</a:t>
                      </a:r>
                      <a:endParaRPr lang="en-US" altLang="ko-KR" sz="1400" kern="0" spc="-5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360680" marR="17780" indent="-3429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arenBoth"/>
                      </a:pPr>
                      <a:r>
                        <a:rPr lang="en-US" altLang="ko-KR" sz="1400" kern="0" spc="-50" dirty="0">
                          <a:effectLst/>
                        </a:rPr>
                        <a:t>1</a:t>
                      </a:r>
                      <a:r>
                        <a:rPr lang="ko-KR" altLang="en-US" sz="1400" kern="0" spc="-50" dirty="0">
                          <a:effectLst/>
                        </a:rPr>
                        <a:t>명의 피고를 상대로 </a:t>
                      </a:r>
                      <a:r>
                        <a:rPr lang="ko-KR" altLang="en-US" sz="1400" kern="0" spc="-50" dirty="0" err="1">
                          <a:effectLst/>
                        </a:rPr>
                        <a:t>심결취소소송을</a:t>
                      </a:r>
                      <a:r>
                        <a:rPr lang="ko-KR" altLang="en-US" sz="1400" kern="0" spc="-50" dirty="0">
                          <a:effectLst/>
                        </a:rPr>
                        <a:t> 제기함으로써 그 </a:t>
                      </a:r>
                      <a:r>
                        <a:rPr lang="ko-KR" altLang="en-US" sz="1400" kern="0" spc="-50" dirty="0" err="1">
                          <a:effectLst/>
                        </a:rPr>
                        <a:t>심결은</a:t>
                      </a:r>
                      <a:r>
                        <a:rPr lang="ko-KR" altLang="en-US" sz="1400" kern="0" spc="-50" dirty="0">
                          <a:effectLst/>
                        </a:rPr>
                        <a:t> 확정되지 아니한 것이 되고</a:t>
                      </a:r>
                      <a:r>
                        <a:rPr lang="en-US" altLang="ko-KR" sz="1400" kern="0" spc="-50" dirty="0">
                          <a:effectLst/>
                        </a:rPr>
                        <a:t>, </a:t>
                      </a:r>
                      <a:r>
                        <a:rPr lang="ko-KR" altLang="en-US" sz="1400" kern="0" spc="-50" dirty="0">
                          <a:effectLst/>
                        </a:rPr>
                        <a:t>원고가 패소판결이 확정된 경우에만 비로소 </a:t>
                      </a:r>
                      <a:r>
                        <a:rPr lang="ko-KR" altLang="en-US" sz="1400" kern="0" spc="-50" dirty="0" err="1">
                          <a:effectLst/>
                        </a:rPr>
                        <a:t>심결이</a:t>
                      </a:r>
                      <a:r>
                        <a:rPr lang="ko-KR" altLang="en-US" sz="1400" kern="0" spc="-50" dirty="0">
                          <a:effectLst/>
                        </a:rPr>
                        <a:t> 확정됨 </a:t>
                      </a:r>
                      <a:endParaRPr lang="en-US" altLang="ko-KR" sz="1400" kern="0" spc="-5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360680" marR="17780" indent="-34290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arenBoth"/>
                      </a:pPr>
                      <a:r>
                        <a:rPr lang="ko-KR" altLang="en-US" sz="1400" kern="0" spc="-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나머지 피고를 추가하는 보정 불인정</a:t>
                      </a:r>
                    </a:p>
                  </a:txBody>
                  <a:tcPr marL="72000" marR="72000" marT="17907" marB="17907"/>
                </a:tc>
                <a:extLst>
                  <a:ext uri="{0D108BD9-81ED-4DB2-BD59-A6C34878D82A}">
                    <a16:rowId xmlns:a16="http://schemas.microsoft.com/office/drawing/2014/main" val="941126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553954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양쪽 모서리가 둥근 사각형 160">
            <a:extLst>
              <a:ext uri="{FF2B5EF4-FFF2-40B4-BE49-F238E27FC236}">
                <a16:creationId xmlns:a16="http://schemas.microsoft.com/office/drawing/2014/main" id="{9459E056-6850-487C-ADDF-31BD5C8D8676}"/>
              </a:ext>
            </a:extLst>
          </p:cNvPr>
          <p:cNvSpPr/>
          <p:nvPr/>
        </p:nvSpPr>
        <p:spPr>
          <a:xfrm>
            <a:off x="5827544" y="3741503"/>
            <a:ext cx="2123113" cy="363303"/>
          </a:xfrm>
          <a:prstGeom prst="round2SameRect">
            <a:avLst>
              <a:gd name="adj1" fmla="val 50000"/>
              <a:gd name="adj2" fmla="val 0"/>
            </a:avLst>
          </a:prstGeom>
          <a:pattFill prst="dot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Line 5">
            <a:extLst>
              <a:ext uri="{FF2B5EF4-FFF2-40B4-BE49-F238E27FC236}">
                <a16:creationId xmlns:a16="http://schemas.microsoft.com/office/drawing/2014/main" id="{89A7BBA8-4E00-44C3-A470-536BA2A58222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658" y="4091306"/>
            <a:ext cx="10943112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187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rgbClr val="525252"/>
                </a:solidFill>
              </a:rPr>
              <a:t>출원후</a:t>
            </a:r>
            <a:r>
              <a:rPr lang="ko-KR" altLang="en-US" dirty="0">
                <a:solidFill>
                  <a:srgbClr val="525252"/>
                </a:solidFill>
              </a:rPr>
              <a:t> 승계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C744699-A9D8-41E8-AC09-E31EE1EB6442}"/>
              </a:ext>
            </a:extLst>
          </p:cNvPr>
          <p:cNvCxnSpPr>
            <a:cxnSpLocks/>
          </p:cNvCxnSpPr>
          <p:nvPr/>
        </p:nvCxnSpPr>
        <p:spPr>
          <a:xfrm>
            <a:off x="0" y="2505236"/>
            <a:ext cx="8782965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8F9BA11-776F-458B-AEBF-785908167EF1}"/>
              </a:ext>
            </a:extLst>
          </p:cNvPr>
          <p:cNvSpPr/>
          <p:nvPr/>
        </p:nvSpPr>
        <p:spPr>
          <a:xfrm>
            <a:off x="232372" y="1269047"/>
            <a:ext cx="116819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sz="1200" dirty="0"/>
              <a:t>특허법 제</a:t>
            </a:r>
            <a:r>
              <a:rPr lang="en-US" altLang="ko-KR" sz="1200" dirty="0"/>
              <a:t>186</a:t>
            </a:r>
            <a:r>
              <a:rPr lang="ko-KR" altLang="en-US" sz="1200" dirty="0"/>
              <a:t>조는 제</a:t>
            </a:r>
            <a:r>
              <a:rPr lang="en-US" altLang="ko-KR" sz="1200" dirty="0"/>
              <a:t>2</a:t>
            </a:r>
            <a:r>
              <a:rPr lang="ko-KR" altLang="en-US" sz="1200" dirty="0"/>
              <a:t>항에서 특허심판원의 </a:t>
            </a:r>
            <a:r>
              <a:rPr lang="ko-KR" altLang="en-US" sz="1200" dirty="0" err="1"/>
              <a:t>심결에</a:t>
            </a:r>
            <a:r>
              <a:rPr lang="ko-KR" altLang="en-US" sz="1200" dirty="0"/>
              <a:t> 대한 취소의 소는 당사자</a:t>
            </a:r>
            <a:r>
              <a:rPr lang="en-US" altLang="ko-KR" sz="1200" dirty="0"/>
              <a:t>, </a:t>
            </a:r>
            <a:r>
              <a:rPr lang="ko-KR" altLang="en-US" sz="1200" dirty="0"/>
              <a:t>참가인</a:t>
            </a:r>
            <a:r>
              <a:rPr lang="en-US" altLang="ko-KR" sz="1200" dirty="0"/>
              <a:t>, </a:t>
            </a:r>
            <a:r>
              <a:rPr lang="ko-KR" altLang="en-US" sz="1200" dirty="0"/>
              <a:t>해당 심판이나 재심에 참가신청을 하였으나 신청이 거부된 자가 제기할 수 있다고 규정하고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항에서 그 취소의 소는 </a:t>
            </a:r>
            <a:r>
              <a:rPr lang="ko-KR" altLang="en-US" sz="1200" dirty="0" err="1"/>
              <a:t>심결의</a:t>
            </a:r>
            <a:r>
              <a:rPr lang="ko-KR" altLang="en-US" sz="1200" dirty="0"/>
              <a:t> 등본을 </a:t>
            </a:r>
            <a:r>
              <a:rPr lang="ko-KR" altLang="en-US" sz="1200" dirty="0" err="1"/>
              <a:t>송달받은</a:t>
            </a:r>
            <a:r>
              <a:rPr lang="ko-KR" altLang="en-US" sz="1200" dirty="0"/>
              <a:t> 날부터 </a:t>
            </a:r>
            <a:r>
              <a:rPr lang="en-US" altLang="ko-KR" sz="1200" dirty="0"/>
              <a:t>30</a:t>
            </a:r>
            <a:r>
              <a:rPr lang="ko-KR" altLang="en-US" sz="1200" dirty="0"/>
              <a:t>일 이내에 제기하여야 한다고 규정하고 있다</a:t>
            </a:r>
            <a:r>
              <a:rPr lang="en-US" altLang="ko-KR" sz="1200" dirty="0"/>
              <a:t>. </a:t>
            </a:r>
            <a:r>
              <a:rPr lang="ko-KR" altLang="en-US" sz="1200" dirty="0"/>
              <a:t>한편 특허법 제</a:t>
            </a:r>
            <a:r>
              <a:rPr lang="en-US" altLang="ko-KR" sz="1200" dirty="0"/>
              <a:t>38</a:t>
            </a:r>
            <a:r>
              <a:rPr lang="ko-KR" altLang="en-US" sz="1200" dirty="0"/>
              <a:t>조 제</a:t>
            </a:r>
            <a:r>
              <a:rPr lang="en-US" altLang="ko-KR" sz="1200" dirty="0"/>
              <a:t>4</a:t>
            </a:r>
            <a:r>
              <a:rPr lang="ko-KR" altLang="en-US" sz="1200" dirty="0"/>
              <a:t>항은 특허출원 후에는 특허를 받을 수 있는 권리의 승계는 상속</a:t>
            </a:r>
            <a:r>
              <a:rPr lang="en-US" altLang="ko-KR" sz="1200" dirty="0"/>
              <a:t>, </a:t>
            </a:r>
            <a:r>
              <a:rPr lang="ko-KR" altLang="en-US" sz="1200" dirty="0"/>
              <a:t>그 밖의 일반승계의 경우를 제외하고는 </a:t>
            </a:r>
            <a:r>
              <a:rPr lang="ko-KR" altLang="en-US" sz="1200" dirty="0" err="1"/>
              <a:t>특허출원인변경신고를</a:t>
            </a:r>
            <a:r>
              <a:rPr lang="ko-KR" altLang="en-US" sz="1200" dirty="0"/>
              <a:t> 하여야만 그 효력이 발생한다고 규정하고 있다</a:t>
            </a:r>
            <a:r>
              <a:rPr lang="en-US" altLang="ko-KR" sz="1200" dirty="0"/>
              <a:t>. </a:t>
            </a:r>
            <a:r>
              <a:rPr lang="ko-KR" altLang="en-US" sz="1200" dirty="0"/>
              <a:t>이러한 규정들에 의하면</a:t>
            </a:r>
            <a:r>
              <a:rPr lang="en-US" altLang="ko-KR" sz="1200" dirty="0"/>
              <a:t>, </a:t>
            </a:r>
            <a:r>
              <a:rPr lang="ko-KR" altLang="en-US" sz="1200" dirty="0" err="1">
                <a:highlight>
                  <a:srgbClr val="FFFF00"/>
                </a:highlight>
              </a:rPr>
              <a:t>특허출원인으로부터</a:t>
            </a:r>
            <a:r>
              <a:rPr lang="ko-KR" altLang="en-US" sz="1200" dirty="0">
                <a:highlight>
                  <a:srgbClr val="FFFF00"/>
                </a:highlight>
              </a:rPr>
              <a:t> 특허를 받을 수 있는 권리를 양수한 특정승계인은 </a:t>
            </a:r>
            <a:r>
              <a:rPr lang="ko-KR" altLang="en-US" sz="1200" dirty="0" err="1">
                <a:highlight>
                  <a:srgbClr val="FFFF00"/>
                </a:highlight>
              </a:rPr>
              <a:t>특허출원인변경신고를</a:t>
            </a:r>
            <a:r>
              <a:rPr lang="ko-KR" altLang="en-US" sz="1200" dirty="0">
                <a:highlight>
                  <a:srgbClr val="FFFF00"/>
                </a:highlight>
              </a:rPr>
              <a:t> 하지 않은 상태에서는 그 양수의 효력이 발생하지 않아서 특허심판원의 거절결정 불복심판 </a:t>
            </a:r>
            <a:r>
              <a:rPr lang="ko-KR" altLang="en-US" sz="1200" dirty="0" err="1">
                <a:highlight>
                  <a:srgbClr val="FFFF00"/>
                </a:highlight>
              </a:rPr>
              <a:t>심결에</a:t>
            </a:r>
            <a:r>
              <a:rPr lang="ko-KR" altLang="en-US" sz="1200" dirty="0">
                <a:highlight>
                  <a:srgbClr val="FFFF00"/>
                </a:highlight>
              </a:rPr>
              <a:t> 대하여 취소의 소를 제기할 수 있는 당사자 등에 해당하지 아니하므로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그가 제기한 취소의 소는 </a:t>
            </a:r>
            <a:r>
              <a:rPr lang="ko-KR" altLang="en-US" sz="1200" dirty="0" err="1">
                <a:highlight>
                  <a:srgbClr val="FFFF00"/>
                </a:highlight>
              </a:rPr>
              <a:t>부적법하다</a:t>
            </a:r>
            <a:r>
              <a:rPr lang="en-US" altLang="ko-KR" sz="1200" dirty="0">
                <a:highlight>
                  <a:srgbClr val="FFFF00"/>
                </a:highlight>
              </a:rPr>
              <a:t>. </a:t>
            </a:r>
            <a:r>
              <a:rPr lang="ko-KR" altLang="en-US" sz="1200" dirty="0">
                <a:highlight>
                  <a:srgbClr val="FFFF00"/>
                </a:highlight>
              </a:rPr>
              <a:t>특정승계인이 취소의 소를 제기한 후 </a:t>
            </a:r>
            <a:r>
              <a:rPr lang="ko-KR" altLang="en-US" sz="1200" dirty="0" err="1">
                <a:highlight>
                  <a:srgbClr val="FFFF00"/>
                </a:highlight>
              </a:rPr>
              <a:t>특허출원인변경신고를</a:t>
            </a:r>
            <a:r>
              <a:rPr lang="ko-KR" altLang="en-US" sz="1200" dirty="0">
                <a:highlight>
                  <a:srgbClr val="FFFF00"/>
                </a:highlight>
              </a:rPr>
              <a:t> 하였더라도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그 변경신고 시기가 취소의 소 제기기간이 지난 후라면 제기기간 내에 적법한 취소의 소 제기는 없었던 것이므로</a:t>
            </a:r>
            <a:r>
              <a:rPr lang="en-US" altLang="ko-KR" sz="1200" dirty="0">
                <a:highlight>
                  <a:srgbClr val="FFFF00"/>
                </a:highlight>
              </a:rPr>
              <a:t>, </a:t>
            </a:r>
            <a:r>
              <a:rPr lang="ko-KR" altLang="en-US" sz="1200" dirty="0">
                <a:highlight>
                  <a:srgbClr val="FFFF00"/>
                </a:highlight>
              </a:rPr>
              <a:t>취소의 소가 </a:t>
            </a:r>
            <a:r>
              <a:rPr lang="ko-KR" altLang="en-US" sz="1200" dirty="0" err="1">
                <a:highlight>
                  <a:srgbClr val="FFFF00"/>
                </a:highlight>
              </a:rPr>
              <a:t>부적법하기는</a:t>
            </a:r>
            <a:r>
              <a:rPr lang="ko-KR" altLang="en-US" sz="1200" dirty="0">
                <a:highlight>
                  <a:srgbClr val="FFFF00"/>
                </a:highlight>
              </a:rPr>
              <a:t> 마찬가지이다</a:t>
            </a:r>
            <a:r>
              <a:rPr lang="en-US" altLang="ko-KR" sz="1200" dirty="0">
                <a:highlight>
                  <a:srgbClr val="FFFF00"/>
                </a:highlight>
              </a:rPr>
              <a:t>. </a:t>
            </a:r>
            <a:endParaRPr lang="ko-KR" altLang="en-US" sz="1200" dirty="0">
              <a:highlight>
                <a:srgbClr val="FFFF00"/>
              </a:highlight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845B491D-8404-4504-83DB-F8CBD9B10B19}"/>
              </a:ext>
            </a:extLst>
          </p:cNvPr>
          <p:cNvSpPr/>
          <p:nvPr/>
        </p:nvSpPr>
        <p:spPr>
          <a:xfrm>
            <a:off x="1140390" y="4004457"/>
            <a:ext cx="141148" cy="14716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7F855E-63E7-4276-9A07-944733EA92D5}"/>
              </a:ext>
            </a:extLst>
          </p:cNvPr>
          <p:cNvSpPr txBox="1"/>
          <p:nvPr/>
        </p:nvSpPr>
        <p:spPr>
          <a:xfrm>
            <a:off x="616572" y="3286777"/>
            <a:ext cx="701285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甲 출원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0E0EF7D2-5FEE-4A2F-ABD4-9147C82EBFE2}"/>
              </a:ext>
            </a:extLst>
          </p:cNvPr>
          <p:cNvSpPr/>
          <p:nvPr/>
        </p:nvSpPr>
        <p:spPr>
          <a:xfrm>
            <a:off x="1794628" y="399737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2F7C9590-F96C-443E-8904-DE90258FAF82}"/>
              </a:ext>
            </a:extLst>
          </p:cNvPr>
          <p:cNvCxnSpPr>
            <a:cxnSpLocks/>
            <a:stCxn id="37" idx="2"/>
            <a:endCxn id="27" idx="0"/>
          </p:cNvCxnSpPr>
          <p:nvPr/>
        </p:nvCxnSpPr>
        <p:spPr>
          <a:xfrm rot="16200000" flipH="1">
            <a:off x="868749" y="3662241"/>
            <a:ext cx="440681" cy="24374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C178A8E6-8843-432E-B2B7-F049BC13ECC2}"/>
              </a:ext>
            </a:extLst>
          </p:cNvPr>
          <p:cNvSpPr txBox="1"/>
          <p:nvPr/>
        </p:nvSpPr>
        <p:spPr>
          <a:xfrm>
            <a:off x="1490507" y="3286777"/>
            <a:ext cx="1132450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거절결정</a:t>
            </a:r>
          </a:p>
        </p:txBody>
      </p:sp>
      <p:cxnSp>
        <p:nvCxnSpPr>
          <p:cNvPr id="84" name="연결선: 꺾임 83">
            <a:extLst>
              <a:ext uri="{FF2B5EF4-FFF2-40B4-BE49-F238E27FC236}">
                <a16:creationId xmlns:a16="http://schemas.microsoft.com/office/drawing/2014/main" id="{212386C3-0CC1-42F1-B941-40D96C54403B}"/>
              </a:ext>
            </a:extLst>
          </p:cNvPr>
          <p:cNvCxnSpPr>
            <a:cxnSpLocks/>
            <a:stCxn id="83" idx="2"/>
            <a:endCxn id="61" idx="0"/>
          </p:cNvCxnSpPr>
          <p:nvPr/>
        </p:nvCxnSpPr>
        <p:spPr>
          <a:xfrm rot="5400000">
            <a:off x="1747567" y="3688207"/>
            <a:ext cx="433596" cy="18473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타원 84">
            <a:extLst>
              <a:ext uri="{FF2B5EF4-FFF2-40B4-BE49-F238E27FC236}">
                <a16:creationId xmlns:a16="http://schemas.microsoft.com/office/drawing/2014/main" id="{F5F209D4-546B-45E0-9FC8-78934FA6AC87}"/>
              </a:ext>
            </a:extLst>
          </p:cNvPr>
          <p:cNvSpPr/>
          <p:nvPr/>
        </p:nvSpPr>
        <p:spPr>
          <a:xfrm>
            <a:off x="3315312" y="399737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542F93E-BC94-427B-895D-B20B68F6D95E}"/>
              </a:ext>
            </a:extLst>
          </p:cNvPr>
          <p:cNvSpPr txBox="1"/>
          <p:nvPr/>
        </p:nvSpPr>
        <p:spPr>
          <a:xfrm>
            <a:off x="2756780" y="3286777"/>
            <a:ext cx="101036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불복심판청구</a:t>
            </a:r>
          </a:p>
        </p:txBody>
      </p: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A351E9F3-9FFB-4B2E-A4A4-E5AA09B24698}"/>
              </a:ext>
            </a:extLst>
          </p:cNvPr>
          <p:cNvCxnSpPr>
            <a:cxnSpLocks/>
            <a:stCxn id="86" idx="2"/>
            <a:endCxn id="85" idx="0"/>
          </p:cNvCxnSpPr>
          <p:nvPr/>
        </p:nvCxnSpPr>
        <p:spPr>
          <a:xfrm rot="16200000" flipH="1">
            <a:off x="3110523" y="3715214"/>
            <a:ext cx="433596" cy="13071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타원 88">
            <a:extLst>
              <a:ext uri="{FF2B5EF4-FFF2-40B4-BE49-F238E27FC236}">
                <a16:creationId xmlns:a16="http://schemas.microsoft.com/office/drawing/2014/main" id="{D0BCFBF0-4BEE-4BCF-B574-F09834429646}"/>
              </a:ext>
            </a:extLst>
          </p:cNvPr>
          <p:cNvSpPr/>
          <p:nvPr/>
        </p:nvSpPr>
        <p:spPr>
          <a:xfrm>
            <a:off x="6518804" y="399737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DEC9646-AB01-4AB9-8CF9-DE60BB0A9C0E}"/>
              </a:ext>
            </a:extLst>
          </p:cNvPr>
          <p:cNvSpPr txBox="1"/>
          <p:nvPr/>
        </p:nvSpPr>
        <p:spPr>
          <a:xfrm>
            <a:off x="5668169" y="4394265"/>
            <a:ext cx="1211623" cy="64633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乙에게 특허를 받을 수 있는 권리의 양도</a:t>
            </a:r>
          </a:p>
        </p:txBody>
      </p:sp>
      <p:cxnSp>
        <p:nvCxnSpPr>
          <p:cNvPr id="91" name="연결선: 꺾임 90">
            <a:extLst>
              <a:ext uri="{FF2B5EF4-FFF2-40B4-BE49-F238E27FC236}">
                <a16:creationId xmlns:a16="http://schemas.microsoft.com/office/drawing/2014/main" id="{41787710-DFF3-444B-8773-13BD50582944}"/>
              </a:ext>
            </a:extLst>
          </p:cNvPr>
          <p:cNvCxnSpPr>
            <a:cxnSpLocks/>
            <a:stCxn id="90" idx="0"/>
            <a:endCxn id="89" idx="4"/>
          </p:cNvCxnSpPr>
          <p:nvPr/>
        </p:nvCxnSpPr>
        <p:spPr>
          <a:xfrm rot="5400000" flipH="1" flipV="1">
            <a:off x="6317300" y="4115392"/>
            <a:ext cx="235555" cy="3221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554490DD-F0E6-414B-856D-491321691AA4}"/>
              </a:ext>
            </a:extLst>
          </p:cNvPr>
          <p:cNvSpPr/>
          <p:nvPr/>
        </p:nvSpPr>
        <p:spPr>
          <a:xfrm>
            <a:off x="113937" y="964867"/>
            <a:ext cx="4743612" cy="302955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wrap="square" tIns="0" bIns="0">
            <a:spAutoFit/>
          </a:bodyPr>
          <a:lstStyle/>
          <a:p>
            <a:r>
              <a:rPr lang="ko-KR" altLang="en-US" sz="1400" dirty="0"/>
              <a:t>대법원 </a:t>
            </a:r>
            <a:r>
              <a:rPr lang="en-US" altLang="ko-KR" sz="1400" dirty="0"/>
              <a:t>2017. 11. 23.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2015</a:t>
            </a:r>
            <a:r>
              <a:rPr lang="ko-KR" altLang="en-US" sz="1400" dirty="0"/>
              <a:t>후</a:t>
            </a:r>
            <a:r>
              <a:rPr lang="en-US" altLang="ko-KR" sz="1400" dirty="0"/>
              <a:t>321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거절결정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  <a:endParaRPr lang="ko-KR" altLang="en-US" sz="14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0F72D162-96CA-4791-8955-A1860C204697}"/>
              </a:ext>
            </a:extLst>
          </p:cNvPr>
          <p:cNvSpPr/>
          <p:nvPr/>
        </p:nvSpPr>
        <p:spPr>
          <a:xfrm>
            <a:off x="4539311" y="399737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6405EF-8F1B-4602-9B83-5CE4E374C4C6}"/>
              </a:ext>
            </a:extLst>
          </p:cNvPr>
          <p:cNvSpPr txBox="1"/>
          <p:nvPr/>
        </p:nvSpPr>
        <p:spPr>
          <a:xfrm>
            <a:off x="3980779" y="3286777"/>
            <a:ext cx="101036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id="{8EF045C2-4EE6-4BBB-8B46-423E576BF99D}"/>
              </a:ext>
            </a:extLst>
          </p:cNvPr>
          <p:cNvCxnSpPr>
            <a:cxnSpLocks/>
            <a:stCxn id="47" idx="2"/>
            <a:endCxn id="46" idx="0"/>
          </p:cNvCxnSpPr>
          <p:nvPr/>
        </p:nvCxnSpPr>
        <p:spPr>
          <a:xfrm rot="16200000" flipH="1">
            <a:off x="4334522" y="3715214"/>
            <a:ext cx="433596" cy="13071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타원 48">
            <a:extLst>
              <a:ext uri="{FF2B5EF4-FFF2-40B4-BE49-F238E27FC236}">
                <a16:creationId xmlns:a16="http://schemas.microsoft.com/office/drawing/2014/main" id="{4AB3798F-0C35-4A79-ACAE-6FC628819C6A}"/>
              </a:ext>
            </a:extLst>
          </p:cNvPr>
          <p:cNvSpPr/>
          <p:nvPr/>
        </p:nvSpPr>
        <p:spPr>
          <a:xfrm>
            <a:off x="7047248" y="399737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DA05F7-92B6-464B-93EB-21350818CCE7}"/>
              </a:ext>
            </a:extLst>
          </p:cNvPr>
          <p:cNvSpPr txBox="1"/>
          <p:nvPr/>
        </p:nvSpPr>
        <p:spPr>
          <a:xfrm>
            <a:off x="6960691" y="4394265"/>
            <a:ext cx="6058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chemeClr val="tx1"/>
                </a:solidFill>
                <a:latin typeface="+mn-ea"/>
              </a:rPr>
              <a:t>소제기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51" name="연결선: 꺾임 50">
            <a:extLst>
              <a:ext uri="{FF2B5EF4-FFF2-40B4-BE49-F238E27FC236}">
                <a16:creationId xmlns:a16="http://schemas.microsoft.com/office/drawing/2014/main" id="{F792F579-C267-49CC-AA23-220980DB7619}"/>
              </a:ext>
            </a:extLst>
          </p:cNvPr>
          <p:cNvCxnSpPr>
            <a:cxnSpLocks/>
            <a:stCxn id="50" idx="0"/>
            <a:endCxn id="49" idx="4"/>
          </p:cNvCxnSpPr>
          <p:nvPr/>
        </p:nvCxnSpPr>
        <p:spPr>
          <a:xfrm rot="16200000" flipV="1">
            <a:off x="7076330" y="4206998"/>
            <a:ext cx="235555" cy="1389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타원 53">
            <a:extLst>
              <a:ext uri="{FF2B5EF4-FFF2-40B4-BE49-F238E27FC236}">
                <a16:creationId xmlns:a16="http://schemas.microsoft.com/office/drawing/2014/main" id="{52E2AC8F-775A-45C2-8C72-098C63C3E625}"/>
              </a:ext>
            </a:extLst>
          </p:cNvPr>
          <p:cNvSpPr/>
          <p:nvPr/>
        </p:nvSpPr>
        <p:spPr>
          <a:xfrm>
            <a:off x="9460535" y="399737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78343C-B5B5-4461-BFBA-A9A067750E84}"/>
              </a:ext>
            </a:extLst>
          </p:cNvPr>
          <p:cNvSpPr txBox="1"/>
          <p:nvPr/>
        </p:nvSpPr>
        <p:spPr>
          <a:xfrm>
            <a:off x="9373978" y="4394265"/>
            <a:ext cx="6058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소각하</a:t>
            </a:r>
          </a:p>
        </p:txBody>
      </p: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89061774-009C-425E-A9AE-6C1D604565F7}"/>
              </a:ext>
            </a:extLst>
          </p:cNvPr>
          <p:cNvCxnSpPr>
            <a:cxnSpLocks/>
            <a:stCxn id="56" idx="0"/>
            <a:endCxn id="54" idx="4"/>
          </p:cNvCxnSpPr>
          <p:nvPr/>
        </p:nvCxnSpPr>
        <p:spPr>
          <a:xfrm rot="16200000" flipV="1">
            <a:off x="9489617" y="4206998"/>
            <a:ext cx="235555" cy="1389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타원 57">
            <a:extLst>
              <a:ext uri="{FF2B5EF4-FFF2-40B4-BE49-F238E27FC236}">
                <a16:creationId xmlns:a16="http://schemas.microsoft.com/office/drawing/2014/main" id="{3D859F7C-CC0E-4DE3-B615-3EEDC08AED98}"/>
              </a:ext>
            </a:extLst>
          </p:cNvPr>
          <p:cNvSpPr/>
          <p:nvPr/>
        </p:nvSpPr>
        <p:spPr>
          <a:xfrm>
            <a:off x="8628227" y="399737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D7001B5-2162-43CD-BC60-A3FF93333158}"/>
              </a:ext>
            </a:extLst>
          </p:cNvPr>
          <p:cNvSpPr txBox="1"/>
          <p:nvPr/>
        </p:nvSpPr>
        <p:spPr>
          <a:xfrm>
            <a:off x="7777592" y="4394265"/>
            <a:ext cx="1211623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출원인변경신고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60" name="연결선: 꺾임 59">
            <a:extLst>
              <a:ext uri="{FF2B5EF4-FFF2-40B4-BE49-F238E27FC236}">
                <a16:creationId xmlns:a16="http://schemas.microsoft.com/office/drawing/2014/main" id="{7F074DA7-4B80-41E6-81E0-88D03C4D71D2}"/>
              </a:ext>
            </a:extLst>
          </p:cNvPr>
          <p:cNvCxnSpPr>
            <a:cxnSpLocks/>
            <a:stCxn id="59" idx="0"/>
            <a:endCxn id="58" idx="4"/>
          </p:cNvCxnSpPr>
          <p:nvPr/>
        </p:nvCxnSpPr>
        <p:spPr>
          <a:xfrm rot="5400000" flipH="1" flipV="1">
            <a:off x="8426723" y="4115392"/>
            <a:ext cx="235555" cy="32219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타원 61">
            <a:extLst>
              <a:ext uri="{FF2B5EF4-FFF2-40B4-BE49-F238E27FC236}">
                <a16:creationId xmlns:a16="http://schemas.microsoft.com/office/drawing/2014/main" id="{DBF4D37C-33F2-4007-9986-FED568C66CC9}"/>
              </a:ext>
            </a:extLst>
          </p:cNvPr>
          <p:cNvSpPr/>
          <p:nvPr/>
        </p:nvSpPr>
        <p:spPr>
          <a:xfrm>
            <a:off x="10428283" y="3997372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B431107-8891-403E-B82A-7511184236E0}"/>
              </a:ext>
            </a:extLst>
          </p:cNvPr>
          <p:cNvSpPr txBox="1"/>
          <p:nvPr/>
        </p:nvSpPr>
        <p:spPr>
          <a:xfrm>
            <a:off x="10341726" y="4394265"/>
            <a:ext cx="605812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cxnSp>
        <p:nvCxnSpPr>
          <p:cNvPr id="64" name="연결선: 꺾임 63">
            <a:extLst>
              <a:ext uri="{FF2B5EF4-FFF2-40B4-BE49-F238E27FC236}">
                <a16:creationId xmlns:a16="http://schemas.microsoft.com/office/drawing/2014/main" id="{12FA22C6-F0CF-46A8-9B3D-A9456B1DEE36}"/>
              </a:ext>
            </a:extLst>
          </p:cNvPr>
          <p:cNvCxnSpPr>
            <a:cxnSpLocks/>
            <a:stCxn id="63" idx="0"/>
            <a:endCxn id="62" idx="4"/>
          </p:cNvCxnSpPr>
          <p:nvPr/>
        </p:nvCxnSpPr>
        <p:spPr>
          <a:xfrm rot="16200000" flipV="1">
            <a:off x="10457365" y="4206998"/>
            <a:ext cx="235555" cy="1389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타원 35">
            <a:extLst>
              <a:ext uri="{FF2B5EF4-FFF2-40B4-BE49-F238E27FC236}">
                <a16:creationId xmlns:a16="http://schemas.microsoft.com/office/drawing/2014/main" id="{13D7FF91-29C7-46C3-AF0B-78FA113ACB55}"/>
              </a:ext>
            </a:extLst>
          </p:cNvPr>
          <p:cNvSpPr/>
          <p:nvPr/>
        </p:nvSpPr>
        <p:spPr>
          <a:xfrm>
            <a:off x="5730793" y="399737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CAD6803-723F-4C94-B5D4-43C31035AABF}"/>
              </a:ext>
            </a:extLst>
          </p:cNvPr>
          <p:cNvSpPr txBox="1"/>
          <p:nvPr/>
        </p:nvSpPr>
        <p:spPr>
          <a:xfrm>
            <a:off x="5172261" y="3286777"/>
            <a:ext cx="1010364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등본송달</a:t>
            </a:r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C351FE53-39B3-4B64-A1FF-446AB907D6D6}"/>
              </a:ext>
            </a:extLst>
          </p:cNvPr>
          <p:cNvCxnSpPr>
            <a:cxnSpLocks/>
            <a:stCxn id="38" idx="2"/>
            <a:endCxn id="36" idx="0"/>
          </p:cNvCxnSpPr>
          <p:nvPr/>
        </p:nvCxnSpPr>
        <p:spPr>
          <a:xfrm rot="16200000" flipH="1">
            <a:off x="5526004" y="3715214"/>
            <a:ext cx="433596" cy="13071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E4C9C81-7749-4FFF-B7CA-537378C9D0EF}"/>
              </a:ext>
            </a:extLst>
          </p:cNvPr>
          <p:cNvSpPr txBox="1"/>
          <p:nvPr/>
        </p:nvSpPr>
        <p:spPr>
          <a:xfrm>
            <a:off x="6865454" y="3437144"/>
            <a:ext cx="605812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30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일</a:t>
            </a:r>
          </a:p>
        </p:txBody>
      </p:sp>
    </p:spTree>
    <p:extLst>
      <p:ext uri="{BB962C8B-B14F-4D97-AF65-F5344CB8AC3E}">
        <p14:creationId xmlns:p14="http://schemas.microsoft.com/office/powerpoint/2010/main" val="56190578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위법판단의</a:t>
            </a:r>
            <a:r>
              <a:rPr lang="ko-KR" altLang="en-US" dirty="0"/>
              <a:t> </a:t>
            </a:r>
            <a:r>
              <a:rPr lang="ko-KR" altLang="en-US" dirty="0" err="1"/>
              <a:t>기준시점</a:t>
            </a:r>
            <a:endParaRPr lang="ko-KR" altLang="en-US" dirty="0"/>
          </a:p>
        </p:txBody>
      </p:sp>
      <p:cxnSp>
        <p:nvCxnSpPr>
          <p:cNvPr id="5" name="직선 연결선 4"/>
          <p:cNvCxnSpPr/>
          <p:nvPr/>
        </p:nvCxnSpPr>
        <p:spPr>
          <a:xfrm>
            <a:off x="77875" y="324097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76902"/>
            <a:ext cx="119363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 err="1">
                <a:solidFill>
                  <a:schemeClr val="tx2"/>
                </a:solidFill>
              </a:rPr>
              <a:t>심결취소소송에</a:t>
            </a:r>
            <a:r>
              <a:rPr lang="ko-KR" altLang="en-US" sz="1400" dirty="0">
                <a:solidFill>
                  <a:schemeClr val="tx2"/>
                </a:solidFill>
              </a:rPr>
              <a:t> 있어서도 </a:t>
            </a:r>
            <a:r>
              <a:rPr lang="ko-KR" altLang="en-US" sz="1400" dirty="0" err="1">
                <a:solidFill>
                  <a:schemeClr val="tx2"/>
                </a:solidFill>
              </a:rPr>
              <a:t>심결의</a:t>
            </a:r>
            <a:r>
              <a:rPr lang="ko-KR" altLang="en-US" sz="1400" dirty="0">
                <a:solidFill>
                  <a:schemeClr val="tx2"/>
                </a:solidFill>
              </a:rPr>
              <a:t> 위법 여부는 </a:t>
            </a:r>
            <a:r>
              <a:rPr lang="ko-KR" altLang="en-US" sz="1400" dirty="0" err="1">
                <a:highlight>
                  <a:srgbClr val="FFFF00"/>
                </a:highlight>
              </a:rPr>
              <a:t>심결</a:t>
            </a:r>
            <a:r>
              <a:rPr lang="ko-KR" altLang="en-US" sz="1400" dirty="0">
                <a:highlight>
                  <a:srgbClr val="FFFF00"/>
                </a:highlight>
              </a:rPr>
              <a:t> 당시의 법령과 사실 상태를 기준으로 판단</a:t>
            </a:r>
            <a:r>
              <a:rPr lang="ko-KR" altLang="en-US" sz="1400" dirty="0">
                <a:solidFill>
                  <a:schemeClr val="tx2"/>
                </a:solidFill>
              </a:rPr>
              <a:t>하여야 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원칙적으로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있는 이후 비로소 발생한 사실을 고려하여 판단의 근거로 하여서는 아니 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r>
              <a:rPr lang="ko-KR" altLang="en-US" sz="1400" dirty="0">
                <a:solidFill>
                  <a:schemeClr val="tx2"/>
                </a:solidFill>
              </a:rPr>
              <a:t> 예컨대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심결</a:t>
            </a:r>
            <a:r>
              <a:rPr lang="ko-KR" altLang="en-US" sz="1400" dirty="0">
                <a:solidFill>
                  <a:schemeClr val="tx2"/>
                </a:solidFill>
              </a:rPr>
              <a:t> 시 이후에 발생한 확인대상발명의 특허등록사실을 고려하여 권리 대 </a:t>
            </a:r>
            <a:r>
              <a:rPr lang="ko-KR" altLang="en-US" sz="1400" dirty="0" err="1">
                <a:solidFill>
                  <a:schemeClr val="tx2"/>
                </a:solidFill>
              </a:rPr>
              <a:t>권리간의</a:t>
            </a:r>
            <a:r>
              <a:rPr lang="ko-KR" altLang="en-US" sz="1400" dirty="0">
                <a:solidFill>
                  <a:schemeClr val="tx2"/>
                </a:solidFill>
              </a:rPr>
              <a:t> 적극적 권리범위확인심판의 위법 여부 판단의 근거로서 활용될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즉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심판계속</a:t>
            </a:r>
            <a:r>
              <a:rPr lang="ko-KR" altLang="en-US" sz="1400" dirty="0">
                <a:solidFill>
                  <a:schemeClr val="tx2"/>
                </a:solidFill>
              </a:rPr>
              <a:t> 중 확인대상발명이 등록된 경우에는 특허권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실용신안권</a:t>
            </a:r>
            <a:r>
              <a:rPr lang="en-US" altLang="ko-KR" sz="1400" dirty="0">
                <a:solidFill>
                  <a:schemeClr val="tx2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사이</a:t>
            </a:r>
            <a:r>
              <a:rPr lang="ko-KR" altLang="en-US" sz="1400" dirty="0"/>
              <a:t>의 </a:t>
            </a:r>
            <a:r>
              <a:rPr lang="ko-KR" altLang="en-US" sz="1400" dirty="0">
                <a:solidFill>
                  <a:schemeClr val="tx2"/>
                </a:solidFill>
              </a:rPr>
              <a:t>저촉관계를 확인하는 적극적 권리범위확인심판은 </a:t>
            </a:r>
            <a:r>
              <a:rPr lang="ko-KR" altLang="en-US" sz="1400" dirty="0" err="1">
                <a:solidFill>
                  <a:schemeClr val="tx2"/>
                </a:solidFill>
              </a:rPr>
              <a:t>부적법한</a:t>
            </a:r>
            <a:r>
              <a:rPr lang="ko-KR" altLang="en-US" sz="1400" dirty="0">
                <a:solidFill>
                  <a:schemeClr val="tx2"/>
                </a:solidFill>
              </a:rPr>
              <a:t> 것으로 되지만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인용심결이</a:t>
            </a:r>
            <a:r>
              <a:rPr lang="ko-KR" altLang="en-US" sz="1400" dirty="0">
                <a:solidFill>
                  <a:schemeClr val="tx2"/>
                </a:solidFill>
              </a:rPr>
              <a:t> 있는 후에 그 </a:t>
            </a:r>
            <a:r>
              <a:rPr lang="ko-KR" altLang="en-US" sz="1400" dirty="0" err="1">
                <a:solidFill>
                  <a:schemeClr val="tx2"/>
                </a:solidFill>
              </a:rPr>
              <a:t>심결에</a:t>
            </a:r>
            <a:r>
              <a:rPr lang="ko-KR" altLang="en-US" sz="1400" dirty="0">
                <a:solidFill>
                  <a:schemeClr val="tx2"/>
                </a:solidFill>
              </a:rPr>
              <a:t> 대한 취소소송 계속 중에 확인대상발명이 등록된 경우에는 그 심판 자체가 </a:t>
            </a:r>
            <a:r>
              <a:rPr lang="ko-KR" altLang="en-US" sz="1400" dirty="0" err="1">
                <a:solidFill>
                  <a:schemeClr val="tx2"/>
                </a:solidFill>
              </a:rPr>
              <a:t>부적법한</a:t>
            </a:r>
            <a:r>
              <a:rPr lang="ko-KR" altLang="en-US" sz="1400" dirty="0">
                <a:solidFill>
                  <a:schemeClr val="tx2"/>
                </a:solidFill>
              </a:rPr>
              <a:t> 것으로 되는 것은 아니게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 경우 특허법원에서 </a:t>
            </a:r>
            <a:r>
              <a:rPr lang="ko-KR" altLang="en-US" sz="1400" dirty="0" err="1">
                <a:solidFill>
                  <a:schemeClr val="tx2"/>
                </a:solidFill>
              </a:rPr>
              <a:t>심결의</a:t>
            </a:r>
            <a:r>
              <a:rPr lang="ko-KR" altLang="en-US" sz="1400" dirty="0">
                <a:solidFill>
                  <a:schemeClr val="tx2"/>
                </a:solidFill>
              </a:rPr>
              <a:t> 위법성 여부에 대한 실체판단 후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위법하면 그 </a:t>
            </a:r>
            <a:r>
              <a:rPr lang="ko-KR" altLang="en-US" sz="1400" dirty="0" err="1">
                <a:solidFill>
                  <a:schemeClr val="tx2"/>
                </a:solidFill>
              </a:rPr>
              <a:t>심결을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취소환송하게</a:t>
            </a:r>
            <a:r>
              <a:rPr lang="ko-KR" altLang="en-US" sz="1400" dirty="0">
                <a:solidFill>
                  <a:schemeClr val="tx2"/>
                </a:solidFill>
              </a:rPr>
              <a:t> 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심판원에서 심판청구를 </a:t>
            </a:r>
            <a:r>
              <a:rPr lang="ko-KR" altLang="en-US" sz="1400" dirty="0" err="1">
                <a:solidFill>
                  <a:schemeClr val="tx2"/>
                </a:solidFill>
              </a:rPr>
              <a:t>심결각하하게</a:t>
            </a:r>
            <a:r>
              <a:rPr lang="ko-KR" altLang="en-US" sz="1400" dirty="0">
                <a:solidFill>
                  <a:schemeClr val="tx2"/>
                </a:solidFill>
              </a:rPr>
              <a:t> 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만약 </a:t>
            </a:r>
            <a:r>
              <a:rPr lang="ko-KR" altLang="en-US" sz="1400" dirty="0" err="1">
                <a:solidFill>
                  <a:schemeClr val="tx2"/>
                </a:solidFill>
              </a:rPr>
              <a:t>심결이</a:t>
            </a:r>
            <a:r>
              <a:rPr lang="ko-KR" altLang="en-US" sz="1400" dirty="0">
                <a:solidFill>
                  <a:schemeClr val="tx2"/>
                </a:solidFill>
              </a:rPr>
              <a:t> 위법하지 않으면 기각판결을 하게 되고 그 결과 최종적으로 심판원의 </a:t>
            </a:r>
            <a:r>
              <a:rPr lang="ko-KR" altLang="en-US" sz="1400" dirty="0" err="1">
                <a:solidFill>
                  <a:schemeClr val="tx2"/>
                </a:solidFill>
              </a:rPr>
              <a:t>인용심결이</a:t>
            </a:r>
            <a:r>
              <a:rPr lang="ko-KR" altLang="en-US" sz="1400" dirty="0">
                <a:solidFill>
                  <a:schemeClr val="tx2"/>
                </a:solidFill>
              </a:rPr>
              <a:t> 확정될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이는 의도치 않게 특허권 사이의 저촉관계를 확인하는 적극적 권리범위확인심판의 </a:t>
            </a:r>
            <a:r>
              <a:rPr lang="ko-KR" altLang="en-US" sz="1400" dirty="0" err="1">
                <a:solidFill>
                  <a:schemeClr val="tx2"/>
                </a:solidFill>
              </a:rPr>
              <a:t>인용심결이</a:t>
            </a:r>
            <a:r>
              <a:rPr lang="ko-KR" altLang="en-US" sz="1400" dirty="0">
                <a:solidFill>
                  <a:schemeClr val="tx2"/>
                </a:solidFill>
              </a:rPr>
              <a:t> 확정된 경우로서 어쩔 수 없는 상황이라 할 것이다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적극적 권리범위확인심판을 기각하는 </a:t>
            </a:r>
            <a:r>
              <a:rPr lang="ko-KR" altLang="en-US" sz="1400" dirty="0" err="1">
                <a:highlight>
                  <a:srgbClr val="FFFF00"/>
                </a:highlight>
              </a:rPr>
              <a:t>심결인</a:t>
            </a:r>
            <a:r>
              <a:rPr lang="ko-KR" altLang="en-US" sz="1400" dirty="0">
                <a:highlight>
                  <a:srgbClr val="FFFF00"/>
                </a:highlight>
              </a:rPr>
              <a:t> 경우</a:t>
            </a:r>
            <a:r>
              <a:rPr lang="ko-KR" altLang="en-US" sz="1400" dirty="0">
                <a:solidFill>
                  <a:schemeClr val="tx2"/>
                </a:solidFill>
              </a:rPr>
              <a:t>에 소의 이익을 긍정할 것인지 여부에 대하여 소의 이익이 부정된다고 하면 </a:t>
            </a:r>
            <a:r>
              <a:rPr lang="ko-KR" altLang="en-US" sz="1400" dirty="0" err="1">
                <a:solidFill>
                  <a:schemeClr val="tx2"/>
                </a:solidFill>
              </a:rPr>
              <a:t>기각심결이</a:t>
            </a:r>
            <a:r>
              <a:rPr lang="ko-KR" altLang="en-US" sz="1400" dirty="0">
                <a:solidFill>
                  <a:schemeClr val="tx2"/>
                </a:solidFill>
              </a:rPr>
              <a:t> 확정되는데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적극적 권리범위확인심판을 구하는 대상이 등록되었다가 후에 </a:t>
            </a:r>
            <a:r>
              <a:rPr lang="ko-KR" altLang="en-US" sz="1400" dirty="0" err="1">
                <a:solidFill>
                  <a:schemeClr val="tx2"/>
                </a:solidFill>
              </a:rPr>
              <a:t>등록무효심결에</a:t>
            </a:r>
            <a:r>
              <a:rPr lang="ko-KR" altLang="en-US" sz="1400" dirty="0">
                <a:solidFill>
                  <a:schemeClr val="tx2"/>
                </a:solidFill>
              </a:rPr>
              <a:t> 따라 소급하여 소멸한 경우에는 위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00FFFF"/>
                </a:highlight>
              </a:rPr>
              <a:t>기각심결이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00FFFF"/>
                </a:highlight>
              </a:rPr>
              <a:t> 일사부재리의 효력을 갖게 되어 더 이상 다툴 수 없게 되는 문제가 발생하므로</a:t>
            </a:r>
            <a:r>
              <a:rPr lang="en-US" altLang="ko-KR" sz="1400" dirty="0">
                <a:solidFill>
                  <a:schemeClr val="tx2"/>
                </a:solidFill>
                <a:highlight>
                  <a:srgbClr val="00FFFF"/>
                </a:highlight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00FFFF"/>
                </a:highlight>
              </a:rPr>
              <a:t>소의 이익이 긍정된다는 견해</a:t>
            </a:r>
            <a:r>
              <a:rPr lang="ko-KR" altLang="en-US" sz="1400" dirty="0">
                <a:solidFill>
                  <a:schemeClr val="tx2"/>
                </a:solidFill>
              </a:rPr>
              <a:t>가 있으나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판례는 </a:t>
            </a:r>
            <a:r>
              <a:rPr lang="ko-KR" altLang="en-US" sz="1400" dirty="0">
                <a:highlight>
                  <a:srgbClr val="FFFF00"/>
                </a:highlight>
              </a:rPr>
              <a:t>단순히 각하되어야 할 것이 기각된 것에 불과하여 </a:t>
            </a:r>
            <a:r>
              <a:rPr lang="ko-KR" altLang="en-US" sz="1400" dirty="0" err="1">
                <a:highlight>
                  <a:srgbClr val="FFFF00"/>
                </a:highlight>
              </a:rPr>
              <a:t>심결취소를</a:t>
            </a:r>
            <a:r>
              <a:rPr lang="ko-KR" altLang="en-US" sz="1400" dirty="0">
                <a:highlight>
                  <a:srgbClr val="FFFF00"/>
                </a:highlight>
              </a:rPr>
              <a:t> 구할 법률상 이익이 인정되지 아니하여 소의 이익이 부정된다는 입장</a:t>
            </a:r>
            <a:r>
              <a:rPr lang="ko-KR" altLang="en-US" sz="1400" dirty="0">
                <a:solidFill>
                  <a:schemeClr val="tx2"/>
                </a:solidFill>
              </a:rPr>
              <a:t>이다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cxnSp>
        <p:nvCxnSpPr>
          <p:cNvPr id="31" name="직선 연결선 30"/>
          <p:cNvCxnSpPr/>
          <p:nvPr/>
        </p:nvCxnSpPr>
        <p:spPr>
          <a:xfrm>
            <a:off x="258317" y="4185845"/>
            <a:ext cx="1160030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14"/>
          <p:cNvSpPr>
            <a:spLocks noChangeArrowheads="1"/>
          </p:cNvSpPr>
          <p:nvPr/>
        </p:nvSpPr>
        <p:spPr bwMode="auto">
          <a:xfrm flipV="1">
            <a:off x="1244033" y="410931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75499" y="3516746"/>
            <a:ext cx="2074122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적극적권리범위확인심판청구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34" name="직선 연결선 33"/>
          <p:cNvCxnSpPr>
            <a:stCxn id="33" idx="2"/>
            <a:endCxn id="32" idx="4"/>
          </p:cNvCxnSpPr>
          <p:nvPr/>
        </p:nvCxnSpPr>
        <p:spPr>
          <a:xfrm>
            <a:off x="1312560" y="3978411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426757" y="3516746"/>
            <a:ext cx="49741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인용심결</a:t>
            </a:r>
            <a:endParaRPr lang="ko-KR" altLang="en-US" sz="1200" dirty="0"/>
          </a:p>
        </p:txBody>
      </p:sp>
      <p:cxnSp>
        <p:nvCxnSpPr>
          <p:cNvPr id="36" name="직선 연결선 35"/>
          <p:cNvCxnSpPr>
            <a:stCxn id="35" idx="2"/>
          </p:cNvCxnSpPr>
          <p:nvPr/>
        </p:nvCxnSpPr>
        <p:spPr>
          <a:xfrm>
            <a:off x="2675466" y="3978411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14"/>
          <p:cNvSpPr>
            <a:spLocks noChangeArrowheads="1"/>
          </p:cNvSpPr>
          <p:nvPr/>
        </p:nvSpPr>
        <p:spPr bwMode="auto">
          <a:xfrm flipV="1">
            <a:off x="2608546" y="410931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004472" y="3516746"/>
            <a:ext cx="128177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심결취소소송제기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/>
              <a:t>이해관계인</a:t>
            </a:r>
            <a:r>
              <a:rPr lang="en-US" altLang="ko-KR" sz="1200" dirty="0"/>
              <a:t>, </a:t>
            </a:r>
            <a:r>
              <a:rPr lang="ko-KR" altLang="en-US" sz="1200" dirty="0"/>
              <a:t>乙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42" name="직선 연결선 41"/>
          <p:cNvCxnSpPr>
            <a:stCxn id="41" idx="2"/>
          </p:cNvCxnSpPr>
          <p:nvPr/>
        </p:nvCxnSpPr>
        <p:spPr>
          <a:xfrm>
            <a:off x="3645361" y="3978411"/>
            <a:ext cx="0" cy="1510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14"/>
          <p:cNvSpPr>
            <a:spLocks noChangeArrowheads="1"/>
          </p:cNvSpPr>
          <p:nvPr/>
        </p:nvSpPr>
        <p:spPr bwMode="auto">
          <a:xfrm flipV="1">
            <a:off x="3568690" y="410931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753100" y="3644739"/>
            <a:ext cx="5543550" cy="11272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>
                <a:solidFill>
                  <a:schemeClr val="tx2"/>
                </a:solidFill>
              </a:rPr>
              <a:t>이해관계인 乙의 입장에서는 확인대상발명등록 여부와 무관하게 </a:t>
            </a:r>
            <a:r>
              <a:rPr lang="ko-KR" altLang="en-US" sz="1200" dirty="0" err="1">
                <a:solidFill>
                  <a:schemeClr val="tx2"/>
                </a:solidFill>
              </a:rPr>
              <a:t>인용심결을</a:t>
            </a:r>
            <a:r>
              <a:rPr lang="ko-KR" altLang="en-US" sz="1200" dirty="0">
                <a:solidFill>
                  <a:schemeClr val="tx2"/>
                </a:solidFill>
              </a:rPr>
              <a:t> 취소할 필요가 있기 때문에 소의 이익이 긍정된다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따라서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 err="1">
                <a:solidFill>
                  <a:schemeClr val="tx2"/>
                </a:solidFill>
              </a:rPr>
              <a:t>심결의</a:t>
            </a:r>
            <a:r>
              <a:rPr lang="ko-KR" altLang="en-US" sz="1200" dirty="0">
                <a:solidFill>
                  <a:schemeClr val="tx2"/>
                </a:solidFill>
              </a:rPr>
              <a:t> 위법성 여부를 판단하게 되는데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확인대상발명의 등록은 </a:t>
            </a:r>
            <a:r>
              <a:rPr lang="ko-KR" altLang="en-US" sz="1200" dirty="0" err="1">
                <a:solidFill>
                  <a:schemeClr val="tx2"/>
                </a:solidFill>
              </a:rPr>
              <a:t>심결시</a:t>
            </a:r>
            <a:r>
              <a:rPr lang="ko-KR" altLang="en-US" sz="1200" dirty="0">
                <a:solidFill>
                  <a:schemeClr val="tx2"/>
                </a:solidFill>
              </a:rPr>
              <a:t> 이후에 발생한 사실이기 때문에 그 판단에 영향을 미치지 아니한다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구체적으로 </a:t>
            </a:r>
            <a:r>
              <a:rPr lang="ko-KR" altLang="en-US" sz="1200" dirty="0" err="1">
                <a:solidFill>
                  <a:schemeClr val="tx2"/>
                </a:solidFill>
              </a:rPr>
              <a:t>심결이</a:t>
            </a:r>
            <a:r>
              <a:rPr lang="ko-KR" altLang="en-US" sz="1200" dirty="0">
                <a:solidFill>
                  <a:schemeClr val="tx2"/>
                </a:solidFill>
              </a:rPr>
              <a:t> 위법하지 않으면 기각판결되어 </a:t>
            </a:r>
            <a:r>
              <a:rPr lang="ko-KR" altLang="en-US" sz="1200" dirty="0" err="1">
                <a:solidFill>
                  <a:schemeClr val="tx2"/>
                </a:solidFill>
              </a:rPr>
              <a:t>인용심결이</a:t>
            </a:r>
            <a:r>
              <a:rPr lang="ko-KR" altLang="en-US" sz="1200" dirty="0">
                <a:solidFill>
                  <a:schemeClr val="tx2"/>
                </a:solidFill>
              </a:rPr>
              <a:t> 확정되고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 err="1">
                <a:solidFill>
                  <a:schemeClr val="tx2"/>
                </a:solidFill>
              </a:rPr>
              <a:t>심결이</a:t>
            </a:r>
            <a:r>
              <a:rPr lang="ko-KR" altLang="en-US" sz="1200" dirty="0">
                <a:solidFill>
                  <a:schemeClr val="tx2"/>
                </a:solidFill>
              </a:rPr>
              <a:t> 위법하면 취소환송되고 특허심판원에서 </a:t>
            </a:r>
            <a:r>
              <a:rPr lang="ko-KR" altLang="en-US" sz="1200" dirty="0" err="1">
                <a:solidFill>
                  <a:schemeClr val="tx2"/>
                </a:solidFill>
              </a:rPr>
              <a:t>심결각하하게</a:t>
            </a:r>
            <a:r>
              <a:rPr lang="ko-KR" altLang="en-US" sz="1200" dirty="0">
                <a:solidFill>
                  <a:schemeClr val="tx2"/>
                </a:solidFill>
              </a:rPr>
              <a:t> 된다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56552" y="3516746"/>
            <a:ext cx="128177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확인대상발명</a:t>
            </a:r>
            <a:endParaRPr lang="en-US" altLang="ko-KR" sz="1200" dirty="0"/>
          </a:p>
          <a:p>
            <a:pPr algn="ctr"/>
            <a:r>
              <a:rPr lang="ko-KR" altLang="en-US" sz="1200" dirty="0"/>
              <a:t>등록</a:t>
            </a:r>
          </a:p>
        </p:txBody>
      </p:sp>
      <p:cxnSp>
        <p:nvCxnSpPr>
          <p:cNvPr id="58" name="직선 연결선 57"/>
          <p:cNvCxnSpPr>
            <a:stCxn id="57" idx="2"/>
          </p:cNvCxnSpPr>
          <p:nvPr/>
        </p:nvCxnSpPr>
        <p:spPr>
          <a:xfrm>
            <a:off x="4997441" y="3978411"/>
            <a:ext cx="0" cy="1510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14"/>
          <p:cNvSpPr>
            <a:spLocks noChangeArrowheads="1"/>
          </p:cNvSpPr>
          <p:nvPr/>
        </p:nvSpPr>
        <p:spPr bwMode="auto">
          <a:xfrm flipV="1">
            <a:off x="4920770" y="410931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60" name="직선 연결선 59"/>
          <p:cNvCxnSpPr/>
          <p:nvPr/>
        </p:nvCxnSpPr>
        <p:spPr>
          <a:xfrm>
            <a:off x="258317" y="6042625"/>
            <a:ext cx="11600307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14"/>
          <p:cNvSpPr>
            <a:spLocks noChangeArrowheads="1"/>
          </p:cNvSpPr>
          <p:nvPr/>
        </p:nvSpPr>
        <p:spPr bwMode="auto">
          <a:xfrm flipV="1">
            <a:off x="1244033" y="596609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75499" y="5373526"/>
            <a:ext cx="2074122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적극적권리범위확인심판청구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3" name="직선 연결선 62"/>
          <p:cNvCxnSpPr>
            <a:stCxn id="62" idx="2"/>
            <a:endCxn id="61" idx="4"/>
          </p:cNvCxnSpPr>
          <p:nvPr/>
        </p:nvCxnSpPr>
        <p:spPr>
          <a:xfrm>
            <a:off x="1312560" y="5835191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2426757" y="5373526"/>
            <a:ext cx="49741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기각</a:t>
            </a:r>
            <a:endParaRPr lang="en-US" altLang="ko-KR" sz="1200" dirty="0"/>
          </a:p>
          <a:p>
            <a:pPr algn="ctr"/>
            <a:r>
              <a:rPr lang="ko-KR" altLang="en-US" sz="1200" dirty="0" err="1"/>
              <a:t>심결</a:t>
            </a:r>
            <a:endParaRPr lang="ko-KR" altLang="en-US" sz="1200" dirty="0"/>
          </a:p>
        </p:txBody>
      </p:sp>
      <p:cxnSp>
        <p:nvCxnSpPr>
          <p:cNvPr id="65" name="직선 연결선 64"/>
          <p:cNvCxnSpPr>
            <a:stCxn id="64" idx="2"/>
          </p:cNvCxnSpPr>
          <p:nvPr/>
        </p:nvCxnSpPr>
        <p:spPr>
          <a:xfrm>
            <a:off x="2675466" y="5835191"/>
            <a:ext cx="2911" cy="13090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14"/>
          <p:cNvSpPr>
            <a:spLocks noChangeArrowheads="1"/>
          </p:cNvSpPr>
          <p:nvPr/>
        </p:nvSpPr>
        <p:spPr bwMode="auto">
          <a:xfrm flipV="1">
            <a:off x="2608546" y="596609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3004472" y="5373526"/>
            <a:ext cx="128177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심결취소소송제기</a:t>
            </a:r>
            <a:endParaRPr lang="en-US" altLang="ko-KR" sz="1200" dirty="0"/>
          </a:p>
          <a:p>
            <a:pPr algn="ctr"/>
            <a:r>
              <a:rPr lang="en-US" altLang="ko-KR" sz="1200" dirty="0"/>
              <a:t>(</a:t>
            </a:r>
            <a:r>
              <a:rPr lang="ko-KR" altLang="en-US" sz="1200" dirty="0" err="1"/>
              <a:t>특허권자</a:t>
            </a:r>
            <a:r>
              <a:rPr lang="en-US" altLang="ko-KR" sz="1200" dirty="0"/>
              <a:t>, </a:t>
            </a:r>
            <a:r>
              <a:rPr lang="ko-KR" altLang="en-US" sz="1200" dirty="0"/>
              <a:t>甲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68" name="직선 연결선 67"/>
          <p:cNvCxnSpPr>
            <a:stCxn id="67" idx="2"/>
          </p:cNvCxnSpPr>
          <p:nvPr/>
        </p:nvCxnSpPr>
        <p:spPr>
          <a:xfrm>
            <a:off x="3645361" y="5835191"/>
            <a:ext cx="0" cy="1510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ctangle 14"/>
          <p:cNvSpPr>
            <a:spLocks noChangeArrowheads="1"/>
          </p:cNvSpPr>
          <p:nvPr/>
        </p:nvSpPr>
        <p:spPr bwMode="auto">
          <a:xfrm flipV="1">
            <a:off x="3568690" y="596609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753100" y="5643799"/>
            <a:ext cx="5543550" cy="8427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1200" dirty="0" err="1">
                <a:solidFill>
                  <a:schemeClr val="tx2"/>
                </a:solidFill>
              </a:rPr>
              <a:t>특허권자</a:t>
            </a:r>
            <a:r>
              <a:rPr lang="ko-KR" altLang="en-US" sz="1200" dirty="0">
                <a:solidFill>
                  <a:schemeClr val="tx2"/>
                </a:solidFill>
              </a:rPr>
              <a:t> 甲의 입장에서는 소의 이익이 긍정되고 본안심리에서 인용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파기환송</a:t>
            </a:r>
            <a:r>
              <a:rPr lang="en-US" altLang="ko-KR" sz="1200" dirty="0">
                <a:solidFill>
                  <a:schemeClr val="tx2"/>
                </a:solidFill>
              </a:rPr>
              <a:t>)</a:t>
            </a:r>
            <a:r>
              <a:rPr lang="ko-KR" altLang="en-US" sz="1200" dirty="0">
                <a:solidFill>
                  <a:schemeClr val="tx2"/>
                </a:solidFill>
              </a:rPr>
              <a:t>되더라도 특허심판원에서 </a:t>
            </a:r>
            <a:r>
              <a:rPr lang="ko-KR" altLang="en-US" sz="1200" dirty="0" err="1">
                <a:solidFill>
                  <a:schemeClr val="tx2"/>
                </a:solidFill>
              </a:rPr>
              <a:t>심결각하하게</a:t>
            </a:r>
            <a:r>
              <a:rPr lang="ko-KR" altLang="en-US" sz="1200" dirty="0">
                <a:solidFill>
                  <a:schemeClr val="tx2"/>
                </a:solidFill>
              </a:rPr>
              <a:t> 된다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그런데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 err="1">
                <a:solidFill>
                  <a:schemeClr val="tx2"/>
                </a:solidFill>
              </a:rPr>
              <a:t>특허권자</a:t>
            </a:r>
            <a:r>
              <a:rPr lang="ko-KR" altLang="en-US" sz="1200" dirty="0">
                <a:solidFill>
                  <a:schemeClr val="tx2"/>
                </a:solidFill>
              </a:rPr>
              <a:t> 입장에서 기각이든지 각하든지 심판에서 지는 것은 매한가지이기 때문에 법원은 소 각하를 하여 </a:t>
            </a:r>
            <a:r>
              <a:rPr lang="ko-KR" altLang="en-US" sz="1200" dirty="0" err="1">
                <a:solidFill>
                  <a:schemeClr val="tx2"/>
                </a:solidFill>
              </a:rPr>
              <a:t>기각심결을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 err="1">
                <a:solidFill>
                  <a:schemeClr val="tx2"/>
                </a:solidFill>
              </a:rPr>
              <a:t>확정시키고</a:t>
            </a:r>
            <a:r>
              <a:rPr lang="ko-KR" altLang="en-US" sz="1200" dirty="0">
                <a:solidFill>
                  <a:schemeClr val="tx2"/>
                </a:solidFill>
              </a:rPr>
              <a:t> 있다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356552" y="5373526"/>
            <a:ext cx="1281778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확인대상발명</a:t>
            </a:r>
            <a:endParaRPr lang="en-US" altLang="ko-KR" sz="1200" dirty="0"/>
          </a:p>
          <a:p>
            <a:pPr algn="ctr"/>
            <a:r>
              <a:rPr lang="ko-KR" altLang="en-US" sz="1200" dirty="0"/>
              <a:t>등록</a:t>
            </a:r>
          </a:p>
        </p:txBody>
      </p:sp>
      <p:cxnSp>
        <p:nvCxnSpPr>
          <p:cNvPr id="72" name="직선 연결선 71"/>
          <p:cNvCxnSpPr>
            <a:stCxn id="71" idx="2"/>
          </p:cNvCxnSpPr>
          <p:nvPr/>
        </p:nvCxnSpPr>
        <p:spPr>
          <a:xfrm>
            <a:off x="4997441" y="5835191"/>
            <a:ext cx="0" cy="15102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14"/>
          <p:cNvSpPr>
            <a:spLocks noChangeArrowheads="1"/>
          </p:cNvSpPr>
          <p:nvPr/>
        </p:nvSpPr>
        <p:spPr bwMode="auto">
          <a:xfrm flipV="1">
            <a:off x="4920770" y="5966094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0553312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거절결정불복심판 </a:t>
            </a:r>
            <a:r>
              <a:rPr lang="ko-KR" altLang="en-US" dirty="0" err="1"/>
              <a:t>심결취소소송의</a:t>
            </a:r>
            <a:r>
              <a:rPr lang="ko-KR" altLang="en-US" dirty="0"/>
              <a:t> 심리범위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7881" y="1337902"/>
            <a:ext cx="10347869" cy="138499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특허출원에 대한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심사단계</a:t>
            </a:r>
            <a:r>
              <a:rPr lang="ko-KR" altLang="en-US" sz="1400" dirty="0">
                <a:solidFill>
                  <a:schemeClr val="tx2"/>
                </a:solidFill>
              </a:rPr>
              <a:t>에서 거절결정을 하려면 그에 앞서 출원인에게 거절이유를 통지하여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의견제출의 기회</a:t>
            </a:r>
            <a:r>
              <a:rPr lang="ko-KR" altLang="en-US" sz="1400" dirty="0">
                <a:solidFill>
                  <a:schemeClr val="tx2"/>
                </a:solidFill>
              </a:rPr>
              <a:t>를 주어야 하고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거절결정에 대한 특허심판원의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심판절차</a:t>
            </a:r>
            <a:r>
              <a:rPr lang="ko-KR" altLang="en-US" sz="1400" dirty="0">
                <a:solidFill>
                  <a:schemeClr val="tx2"/>
                </a:solidFill>
              </a:rPr>
              <a:t>에서 그와 다른 사유로 거절결정이 정당하다고 하려면 먼저 그 사유에 대해 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의견제출의 기회</a:t>
            </a:r>
            <a:r>
              <a:rPr lang="ko-KR" altLang="en-US" sz="1400" dirty="0">
                <a:solidFill>
                  <a:schemeClr val="tx2"/>
                </a:solidFill>
              </a:rPr>
              <a:t>를 주어야만 이를 </a:t>
            </a:r>
            <a:r>
              <a:rPr lang="ko-KR" altLang="en-US" sz="1400" dirty="0" err="1">
                <a:solidFill>
                  <a:schemeClr val="tx2"/>
                </a:solidFill>
              </a:rPr>
              <a:t>심결의</a:t>
            </a:r>
            <a:r>
              <a:rPr lang="ko-KR" altLang="en-US" sz="1400" dirty="0">
                <a:solidFill>
                  <a:schemeClr val="tx2"/>
                </a:solidFill>
              </a:rPr>
              <a:t> 이유로 할 수 있다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특허법 제</a:t>
            </a:r>
            <a:r>
              <a:rPr lang="en-US" altLang="ko-KR" sz="1400" dirty="0">
                <a:solidFill>
                  <a:schemeClr val="tx2"/>
                </a:solidFill>
              </a:rPr>
              <a:t>62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63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170</a:t>
            </a:r>
            <a:r>
              <a:rPr lang="ko-KR" altLang="en-US" sz="1400" dirty="0">
                <a:solidFill>
                  <a:schemeClr val="tx2"/>
                </a:solidFill>
              </a:rPr>
              <a:t>조 참조</a:t>
            </a:r>
            <a:r>
              <a:rPr lang="en-US" altLang="ko-KR" sz="1400" dirty="0">
                <a:solidFill>
                  <a:schemeClr val="tx2"/>
                </a:solidFill>
              </a:rPr>
              <a:t>). </a:t>
            </a:r>
            <a:r>
              <a:rPr lang="ko-KR" altLang="en-US" sz="1400" dirty="0">
                <a:solidFill>
                  <a:schemeClr val="tx2"/>
                </a:solidFill>
              </a:rPr>
              <a:t>위와 같은 절차적 권리를 보장하는 특허법의 규정은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강행규정</a:t>
            </a:r>
            <a:r>
              <a:rPr lang="ko-KR" altLang="en-US" sz="1400" dirty="0" err="1">
                <a:solidFill>
                  <a:schemeClr val="tx2"/>
                </a:solidFill>
              </a:rPr>
              <a:t>이므로</a:t>
            </a:r>
            <a:r>
              <a:rPr lang="ko-KR" altLang="en-US" sz="1400" dirty="0">
                <a:solidFill>
                  <a:schemeClr val="tx2"/>
                </a:solidFill>
              </a:rPr>
              <a:t> 의견제출의 기회를 부여한 바 없는 새로운 거절이유를 들어서 거절결정이 결과에 있어 정당하다는 이유로 거절결정불복심판청구를 기각한 </a:t>
            </a:r>
            <a:r>
              <a:rPr lang="ko-KR" altLang="en-US" sz="1400" dirty="0" err="1">
                <a:solidFill>
                  <a:schemeClr val="tx2"/>
                </a:solidFill>
              </a:rPr>
              <a:t>심결은</a:t>
            </a:r>
            <a:r>
              <a:rPr lang="ko-KR" altLang="en-US" sz="1400" dirty="0">
                <a:solidFill>
                  <a:schemeClr val="tx2"/>
                </a:solidFill>
              </a:rPr>
              <a:t> 위법하다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같은 취지에서 거절결정불복심판청구 기각 </a:t>
            </a:r>
            <a:r>
              <a:rPr lang="ko-KR" altLang="en-US" sz="1400" dirty="0" err="1">
                <a:solidFill>
                  <a:schemeClr val="tx2"/>
                </a:solidFill>
                <a:highlight>
                  <a:srgbClr val="FFFF00"/>
                </a:highlight>
              </a:rPr>
              <a:t>심결의</a:t>
            </a:r>
            <a:r>
              <a:rPr lang="ko-KR" altLang="en-US" sz="1400" dirty="0">
                <a:solidFill>
                  <a:schemeClr val="tx2"/>
                </a:solidFill>
                <a:highlight>
                  <a:srgbClr val="FFFF00"/>
                </a:highlight>
              </a:rPr>
              <a:t> 취소소송절차에서도 지식재산처장은 심사 또는 심판단계에서 의견제출의 기회를 부여한 바 없는 새로운 거절이유를 주장할 수 없다</a:t>
            </a:r>
            <a:r>
              <a:rPr lang="ko-KR" altLang="en-US" sz="1400" dirty="0">
                <a:solidFill>
                  <a:schemeClr val="tx2"/>
                </a:solidFill>
              </a:rPr>
              <a:t>고 보아야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1507378" y="1030125"/>
            <a:ext cx="3044423" cy="3077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algn="ctr" fontAlgn="base"/>
            <a:r>
              <a:rPr lang="ko-KR" altLang="en-US" sz="1400" dirty="0">
                <a:solidFill>
                  <a:schemeClr val="bg1"/>
                </a:solidFill>
              </a:rPr>
              <a:t>대법원 </a:t>
            </a:r>
            <a:r>
              <a:rPr lang="en-US" altLang="ko-KR" sz="1400" dirty="0">
                <a:solidFill>
                  <a:schemeClr val="bg1"/>
                </a:solidFill>
              </a:rPr>
              <a:t>2013. 9. 26. </a:t>
            </a:r>
            <a:r>
              <a:rPr lang="ko-KR" altLang="en-US" sz="1400" dirty="0">
                <a:solidFill>
                  <a:schemeClr val="bg1"/>
                </a:solidFill>
              </a:rPr>
              <a:t>선고 </a:t>
            </a:r>
            <a:r>
              <a:rPr lang="en-US" altLang="ko-KR" sz="1400" dirty="0">
                <a:solidFill>
                  <a:schemeClr val="bg1"/>
                </a:solidFill>
              </a:rPr>
              <a:t>2013</a:t>
            </a:r>
            <a:r>
              <a:rPr lang="ko-KR" altLang="en-US" sz="1400" dirty="0">
                <a:solidFill>
                  <a:schemeClr val="bg1"/>
                </a:solidFill>
              </a:rPr>
              <a:t>후</a:t>
            </a:r>
            <a:r>
              <a:rPr lang="en-US" altLang="ko-KR" sz="1400" dirty="0">
                <a:solidFill>
                  <a:schemeClr val="bg1"/>
                </a:solidFill>
              </a:rPr>
              <a:t>1054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9B2C7075-838B-4561-B422-0224523004BC}"/>
              </a:ext>
            </a:extLst>
          </p:cNvPr>
          <p:cNvSpPr/>
          <p:nvPr/>
        </p:nvSpPr>
        <p:spPr>
          <a:xfrm>
            <a:off x="336250" y="1589007"/>
            <a:ext cx="1043797" cy="1043797"/>
          </a:xfrm>
          <a:prstGeom prst="ellipse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일반</a:t>
            </a:r>
            <a:endParaRPr lang="en-US" altLang="ko-KR" dirty="0"/>
          </a:p>
          <a:p>
            <a:pPr algn="ctr"/>
            <a:r>
              <a:rPr lang="ko-KR" altLang="en-US" dirty="0"/>
              <a:t>법리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20ED4DA3-F117-433E-ADE7-CAED54899E6A}"/>
              </a:ext>
            </a:extLst>
          </p:cNvPr>
          <p:cNvSpPr/>
          <p:nvPr/>
        </p:nvSpPr>
        <p:spPr>
          <a:xfrm>
            <a:off x="336250" y="3210740"/>
            <a:ext cx="1043797" cy="1043797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dirty="0"/>
              <a:t>CASE</a:t>
            </a:r>
          </a:p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417F8E-2692-875C-A8C1-A515189790C4}"/>
              </a:ext>
            </a:extLst>
          </p:cNvPr>
          <p:cNvSpPr txBox="1"/>
          <p:nvPr/>
        </p:nvSpPr>
        <p:spPr>
          <a:xfrm>
            <a:off x="1507229" y="3164885"/>
            <a:ext cx="10338975" cy="138499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highlight>
                  <a:srgbClr val="CCECFF"/>
                </a:highlight>
              </a:rPr>
              <a:t>다만 거절결정불복심판청구 </a:t>
            </a:r>
            <a:r>
              <a:rPr lang="ko-KR" altLang="en-US" sz="1400" dirty="0" err="1">
                <a:highlight>
                  <a:srgbClr val="CCECFF"/>
                </a:highlight>
              </a:rPr>
              <a:t>기각심결의</a:t>
            </a:r>
            <a:r>
              <a:rPr lang="ko-KR" altLang="en-US" sz="1400" dirty="0">
                <a:highlight>
                  <a:srgbClr val="CCECFF"/>
                </a:highlight>
              </a:rPr>
              <a:t> 취소소송절차에서 지식재산처장이 비로소 주장하는 사유라고 하더라도 심사 또는 심판 단계에서 의견제출의 기회를 부여한 거절이유와 주요한 취지가 부합하여 이미 통지된 거절이유를 보충하는 데 지나지 아니하는 것이면 이를 </a:t>
            </a:r>
            <a:r>
              <a:rPr lang="ko-KR" altLang="en-US" sz="1400" dirty="0" err="1">
                <a:highlight>
                  <a:srgbClr val="CCECFF"/>
                </a:highlight>
              </a:rPr>
              <a:t>심결의</a:t>
            </a:r>
            <a:r>
              <a:rPr lang="ko-KR" altLang="en-US" sz="1400" dirty="0">
                <a:highlight>
                  <a:srgbClr val="CCECFF"/>
                </a:highlight>
              </a:rPr>
              <a:t> 당부를 판단하는 근거로 할 수 있다 할 것이다</a:t>
            </a:r>
            <a:r>
              <a:rPr lang="en-US" altLang="ko-KR" sz="1400" dirty="0">
                <a:highlight>
                  <a:srgbClr val="CCECFF"/>
                </a:highlight>
              </a:rPr>
              <a:t>. </a:t>
            </a:r>
            <a:r>
              <a:rPr lang="ko-KR" altLang="en-US" sz="1400" dirty="0">
                <a:highlight>
                  <a:srgbClr val="CCECFF"/>
                </a:highlight>
              </a:rPr>
              <a:t>특히 이미 통지된 거절이유가 비교대상발명에 의하여 출원발명의 진보성이 부정된다는 취지인 경우에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>
                <a:highlight>
                  <a:srgbClr val="CCECFF"/>
                </a:highlight>
              </a:rPr>
              <a:t>위 비교대상발명을 보충하여 특허출원 당시 그 기술분야에 널리 알려진 주지관용기술의 존재를 증명하기 위한 자료는 새로운 공지기술에 관한 것에 해당하지 아니하므로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심결취소소송의</a:t>
            </a:r>
            <a:r>
              <a:rPr lang="ko-KR" altLang="en-US" sz="1400" dirty="0">
                <a:solidFill>
                  <a:schemeClr val="tx2"/>
                </a:solidFill>
              </a:rPr>
              <a:t> 법원이 이를 진보성을 부정하는 판단의 근거로 채택하였다고 하더라도 이미 통지된 거절이유와 주요한 취지가 부합하지 아니하는 새로운 거절이유를 판결의 기초로 삼은 것이라고 할 수 없다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40413D2-E258-35CA-FE7F-92CFF6D64121}"/>
              </a:ext>
            </a:extLst>
          </p:cNvPr>
          <p:cNvSpPr/>
          <p:nvPr/>
        </p:nvSpPr>
        <p:spPr>
          <a:xfrm>
            <a:off x="1507229" y="2857108"/>
            <a:ext cx="3044423" cy="3077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algn="ctr" fontAlgn="base"/>
            <a:r>
              <a:rPr lang="ko-KR" altLang="en-US" sz="1400" dirty="0">
                <a:solidFill>
                  <a:schemeClr val="bg1"/>
                </a:solidFill>
              </a:rPr>
              <a:t>대법원 </a:t>
            </a:r>
            <a:r>
              <a:rPr lang="en-US" altLang="ko-KR" sz="1400" dirty="0">
                <a:solidFill>
                  <a:schemeClr val="bg1"/>
                </a:solidFill>
              </a:rPr>
              <a:t>2013. 9. 26. </a:t>
            </a:r>
            <a:r>
              <a:rPr lang="ko-KR" altLang="en-US" sz="1400" dirty="0">
                <a:solidFill>
                  <a:schemeClr val="bg1"/>
                </a:solidFill>
              </a:rPr>
              <a:t>선고 </a:t>
            </a:r>
            <a:r>
              <a:rPr lang="en-US" altLang="ko-KR" sz="1400" dirty="0">
                <a:solidFill>
                  <a:schemeClr val="bg1"/>
                </a:solidFill>
              </a:rPr>
              <a:t>2013</a:t>
            </a:r>
            <a:r>
              <a:rPr lang="ko-KR" altLang="en-US" sz="1400" dirty="0">
                <a:solidFill>
                  <a:schemeClr val="bg1"/>
                </a:solidFill>
              </a:rPr>
              <a:t>후</a:t>
            </a:r>
            <a:r>
              <a:rPr lang="en-US" altLang="ko-KR" sz="1400" dirty="0">
                <a:solidFill>
                  <a:schemeClr val="bg1"/>
                </a:solidFill>
              </a:rPr>
              <a:t>1054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AAAF87C6-B10F-9B74-7CE3-FAEC5E1866B0}"/>
              </a:ext>
            </a:extLst>
          </p:cNvPr>
          <p:cNvSpPr/>
          <p:nvPr/>
        </p:nvSpPr>
        <p:spPr>
          <a:xfrm>
            <a:off x="345775" y="4959885"/>
            <a:ext cx="1043797" cy="1043797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dirty="0"/>
              <a:t>CASE</a:t>
            </a:r>
          </a:p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8C4A44E-C0D8-3305-C3EB-55A9EA70489C}"/>
              </a:ext>
            </a:extLst>
          </p:cNvPr>
          <p:cNvSpPr txBox="1"/>
          <p:nvPr/>
        </p:nvSpPr>
        <p:spPr>
          <a:xfrm>
            <a:off x="1506265" y="4976685"/>
            <a:ext cx="10339960" cy="138499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highlight>
                  <a:srgbClr val="FFFF00"/>
                </a:highlight>
              </a:rPr>
              <a:t>특허거절결정에 대한 불복심판청구를 기각한 </a:t>
            </a:r>
            <a:r>
              <a:rPr lang="ko-KR" altLang="en-US" sz="1400" dirty="0" err="1">
                <a:highlight>
                  <a:srgbClr val="FFFF00"/>
                </a:highlight>
              </a:rPr>
              <a:t>심결의</a:t>
            </a:r>
            <a:r>
              <a:rPr lang="ko-KR" altLang="en-US" sz="1400" dirty="0">
                <a:highlight>
                  <a:srgbClr val="FFFF00"/>
                </a:highlight>
              </a:rPr>
              <a:t> 취소소송에서 법원은 특허거절결정을 유지한 </a:t>
            </a:r>
            <a:r>
              <a:rPr lang="ko-KR" altLang="en-US" sz="1400" dirty="0" err="1">
                <a:highlight>
                  <a:srgbClr val="FFFF00"/>
                </a:highlight>
              </a:rPr>
              <a:t>심결의</a:t>
            </a:r>
            <a:r>
              <a:rPr lang="ko-KR" altLang="en-US" sz="1400" dirty="0">
                <a:highlight>
                  <a:srgbClr val="FFFF00"/>
                </a:highlight>
              </a:rPr>
              <a:t> 위법성 여부를 판단하는 것일 뿐 특허출원에 대하여 직접 특허결정 또는 특허거절결정을 하는 것은 아니다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/>
              <a:t>따라서 심사관이 특허출원의 보정에 대한 </a:t>
            </a:r>
            <a:r>
              <a:rPr lang="ko-KR" altLang="en-US" sz="1400" dirty="0" err="1"/>
              <a:t>각하결정을</a:t>
            </a:r>
            <a:r>
              <a:rPr lang="ko-KR" altLang="en-US" sz="1400" dirty="0"/>
              <a:t> 한 후 ‘보정 전의 특허출원’에 대하여 거절결정을 하였고</a:t>
            </a:r>
            <a:r>
              <a:rPr lang="en-US" altLang="ko-KR" sz="1400" dirty="0"/>
              <a:t>, </a:t>
            </a:r>
            <a:r>
              <a:rPr lang="ko-KR" altLang="en-US" sz="1400" dirty="0"/>
              <a:t>그에 대한 불복심판 절차에서 위 </a:t>
            </a:r>
            <a:r>
              <a:rPr lang="ko-KR" altLang="en-US" sz="1400" dirty="0" err="1"/>
              <a:t>보정각하결정</a:t>
            </a:r>
            <a:r>
              <a:rPr lang="ko-KR" altLang="en-US" sz="1400" dirty="0"/>
              <a:t> 및 거절결정이 적법하다는 이유로 심판청구를 기각하는 특허심판원의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있었던 경우</a:t>
            </a:r>
            <a:r>
              <a:rPr lang="en-US" altLang="ko-KR" sz="1400" dirty="0"/>
              <a:t>, </a:t>
            </a:r>
            <a:r>
              <a:rPr lang="ko-KR" altLang="en-US" sz="1400" dirty="0"/>
              <a:t>그 </a:t>
            </a:r>
            <a:r>
              <a:rPr lang="ko-KR" altLang="en-US" sz="1400" dirty="0" err="1"/>
              <a:t>심결취소소송에서</a:t>
            </a:r>
            <a:r>
              <a:rPr lang="ko-KR" altLang="en-US" sz="1400" dirty="0"/>
              <a:t> </a:t>
            </a:r>
            <a:r>
              <a:rPr lang="ko-KR" altLang="en-US" sz="1400" dirty="0">
                <a:highlight>
                  <a:srgbClr val="FFFF00"/>
                </a:highlight>
              </a:rPr>
              <a:t>법원은 위 </a:t>
            </a:r>
            <a:r>
              <a:rPr lang="ko-KR" altLang="en-US" sz="1400" dirty="0" err="1">
                <a:highlight>
                  <a:srgbClr val="FFFF00"/>
                </a:highlight>
              </a:rPr>
              <a:t>보정각하결정이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위법하다면</a:t>
            </a:r>
            <a:r>
              <a:rPr lang="ko-KR" altLang="en-US" sz="1400" dirty="0">
                <a:highlight>
                  <a:srgbClr val="FFFF00"/>
                </a:highlight>
              </a:rPr>
              <a:t> 그것만을 이유로 곧바로 </a:t>
            </a:r>
            <a:r>
              <a:rPr lang="ko-KR" altLang="en-US" sz="1400" dirty="0" err="1">
                <a:highlight>
                  <a:srgbClr val="FFFF00"/>
                </a:highlight>
              </a:rPr>
              <a:t>심결을</a:t>
            </a:r>
            <a:r>
              <a:rPr lang="ko-KR" altLang="en-US" sz="1400" dirty="0">
                <a:highlight>
                  <a:srgbClr val="FFFF00"/>
                </a:highlight>
              </a:rPr>
              <a:t> 취소하여야 하는 것이지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심사관 또는 특허심판원이 하지도 아니한 ‘보정 이후의 특허출원’에 대한 거절결정의 위법성 여부까지 스스로 심리하여 이 역시 위법한 경우에만 </a:t>
            </a:r>
            <a:r>
              <a:rPr lang="ko-KR" altLang="en-US" sz="1400" dirty="0" err="1">
                <a:highlight>
                  <a:srgbClr val="FFFF00"/>
                </a:highlight>
              </a:rPr>
              <a:t>심결을</a:t>
            </a:r>
            <a:r>
              <a:rPr lang="ko-KR" altLang="en-US" sz="1400" dirty="0">
                <a:highlight>
                  <a:srgbClr val="FFFF00"/>
                </a:highlight>
              </a:rPr>
              <a:t> 취소할 것은 아니다</a:t>
            </a:r>
            <a:r>
              <a:rPr lang="en-US" altLang="ko-KR" sz="1400" dirty="0">
                <a:highlight>
                  <a:srgbClr val="FFFF00"/>
                </a:highlight>
              </a:rPr>
              <a:t>.</a:t>
            </a:r>
            <a:endParaRPr lang="ko-KR" altLang="en-US" sz="1400" dirty="0">
              <a:highlight>
                <a:srgbClr val="FFFF00"/>
              </a:highlight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5AF1447E-54AC-0621-7ED5-98F8C4604A70}"/>
              </a:ext>
            </a:extLst>
          </p:cNvPr>
          <p:cNvSpPr/>
          <p:nvPr/>
        </p:nvSpPr>
        <p:spPr>
          <a:xfrm>
            <a:off x="1506265" y="4668908"/>
            <a:ext cx="3025989" cy="3077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 fontAlgn="base"/>
            <a:r>
              <a:rPr lang="ko-KR" altLang="en-US" sz="1400" dirty="0">
                <a:solidFill>
                  <a:schemeClr val="bg1"/>
                </a:solidFill>
              </a:rPr>
              <a:t>대법원 </a:t>
            </a:r>
            <a:r>
              <a:rPr lang="en-US" altLang="ko-KR" sz="1400" dirty="0">
                <a:solidFill>
                  <a:schemeClr val="bg1"/>
                </a:solidFill>
              </a:rPr>
              <a:t>2014. 7. 10. </a:t>
            </a:r>
            <a:r>
              <a:rPr lang="ko-KR" altLang="en-US" sz="1400" dirty="0">
                <a:solidFill>
                  <a:schemeClr val="bg1"/>
                </a:solidFill>
              </a:rPr>
              <a:t>선고 </a:t>
            </a:r>
            <a:r>
              <a:rPr lang="en-US" altLang="ko-KR" sz="1400" dirty="0">
                <a:solidFill>
                  <a:schemeClr val="bg1"/>
                </a:solidFill>
              </a:rPr>
              <a:t>2012</a:t>
            </a:r>
            <a:r>
              <a:rPr lang="ko-KR" altLang="en-US" sz="1400" dirty="0">
                <a:solidFill>
                  <a:schemeClr val="bg1"/>
                </a:solidFill>
              </a:rPr>
              <a:t>후</a:t>
            </a:r>
            <a:r>
              <a:rPr lang="en-US" altLang="ko-KR" sz="1400" dirty="0">
                <a:solidFill>
                  <a:schemeClr val="bg1"/>
                </a:solidFill>
              </a:rPr>
              <a:t>3121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10799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0458A-7D9F-2AC1-3B57-4F20A2E1D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CCF29C-427B-5AC2-B244-DCD7BEC33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0F07BB-489C-6D0C-3230-C5F3EB9679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거절결정불복심판 </a:t>
            </a:r>
            <a:r>
              <a:rPr lang="ko-KR" altLang="en-US" dirty="0" err="1"/>
              <a:t>심결취소소송의</a:t>
            </a:r>
            <a:r>
              <a:rPr lang="ko-KR" altLang="en-US" dirty="0"/>
              <a:t> 심리범위 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D49E01EA-0B50-511E-2555-E444A153DB61}"/>
              </a:ext>
            </a:extLst>
          </p:cNvPr>
          <p:cNvSpPr/>
          <p:nvPr/>
        </p:nvSpPr>
        <p:spPr>
          <a:xfrm>
            <a:off x="336250" y="1104035"/>
            <a:ext cx="1043797" cy="1043797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dirty="0"/>
              <a:t>CASE</a:t>
            </a:r>
          </a:p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D80824-5866-B44B-08CA-A7E312BB6934}"/>
              </a:ext>
            </a:extLst>
          </p:cNvPr>
          <p:cNvSpPr/>
          <p:nvPr/>
        </p:nvSpPr>
        <p:spPr>
          <a:xfrm>
            <a:off x="1514085" y="1411812"/>
            <a:ext cx="10347868" cy="7386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거절결정불복심판청구 기각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취소소송절차에서 지식재산처장은 거절결정의 이유 외에도 심사나 심판 단계에서 의견서 제출의 기회를 부여한 사유 및 이와 주요한 취지가 부합하는 사유를 해당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결론을 정당하게 하는 사유로 주장할 수 있고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심결취소소송의</a:t>
            </a:r>
            <a:r>
              <a:rPr lang="ko-KR" altLang="en-US" sz="1400" dirty="0"/>
              <a:t> 법원은 이를 심리</a:t>
            </a:r>
            <a:r>
              <a:rPr lang="en-US" altLang="ko-KR" sz="1400" dirty="0"/>
              <a:t>·</a:t>
            </a:r>
            <a:r>
              <a:rPr lang="ko-KR" altLang="en-US" sz="1400" dirty="0"/>
              <a:t>판단하여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당부를 판단하는 근거로 삼을 수 있다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58FDB4-AAF7-783A-2CC8-CD32267CC6CA}"/>
              </a:ext>
            </a:extLst>
          </p:cNvPr>
          <p:cNvSpPr/>
          <p:nvPr/>
        </p:nvSpPr>
        <p:spPr>
          <a:xfrm>
            <a:off x="1507882" y="1104035"/>
            <a:ext cx="3194118" cy="3077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 fontAlgn="base"/>
            <a:r>
              <a:rPr lang="ko-KR" altLang="en-US" sz="1400" dirty="0">
                <a:solidFill>
                  <a:schemeClr val="bg1"/>
                </a:solidFill>
              </a:rPr>
              <a:t>대법원 </a:t>
            </a:r>
            <a:r>
              <a:rPr lang="en-US" altLang="ko-KR" sz="1400" dirty="0">
                <a:solidFill>
                  <a:schemeClr val="bg1"/>
                </a:solidFill>
              </a:rPr>
              <a:t>2016. 3. 24. </a:t>
            </a:r>
            <a:r>
              <a:rPr lang="ko-KR" altLang="en-US" sz="1400" dirty="0">
                <a:solidFill>
                  <a:schemeClr val="bg1"/>
                </a:solidFill>
              </a:rPr>
              <a:t>선고 </a:t>
            </a:r>
            <a:r>
              <a:rPr lang="en-US" altLang="ko-KR" sz="1400" dirty="0">
                <a:solidFill>
                  <a:schemeClr val="bg1"/>
                </a:solidFill>
              </a:rPr>
              <a:t>2015</a:t>
            </a:r>
            <a:r>
              <a:rPr lang="ko-KR" altLang="en-US" sz="1400" dirty="0">
                <a:solidFill>
                  <a:schemeClr val="bg1"/>
                </a:solidFill>
              </a:rPr>
              <a:t>후</a:t>
            </a:r>
            <a:r>
              <a:rPr lang="en-US" altLang="ko-KR" sz="1400" dirty="0">
                <a:solidFill>
                  <a:schemeClr val="bg1"/>
                </a:solidFill>
              </a:rPr>
              <a:t>1997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13" name="Line 5">
            <a:extLst>
              <a:ext uri="{FF2B5EF4-FFF2-40B4-BE49-F238E27FC236}">
                <a16:creationId xmlns:a16="http://schemas.microsoft.com/office/drawing/2014/main" id="{6F9CB830-7CE8-9714-49C5-9439F13479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297" y="2420148"/>
            <a:ext cx="1180233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72078C-A59C-89CE-BA42-08C24F24E26B}"/>
              </a:ext>
            </a:extLst>
          </p:cNvPr>
          <p:cNvSpPr txBox="1"/>
          <p:nvPr/>
        </p:nvSpPr>
        <p:spPr>
          <a:xfrm>
            <a:off x="281334" y="2676323"/>
            <a:ext cx="70218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출원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A66E91F-4CFA-AF5B-7331-AFBFB7C89128}"/>
              </a:ext>
            </a:extLst>
          </p:cNvPr>
          <p:cNvSpPr/>
          <p:nvPr/>
        </p:nvSpPr>
        <p:spPr>
          <a:xfrm>
            <a:off x="564938" y="232621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75FD533-3CF2-F141-7F78-F158C763DE7D}"/>
              </a:ext>
            </a:extLst>
          </p:cNvPr>
          <p:cNvCxnSpPr>
            <a:cxnSpLocks/>
            <a:stCxn id="14" idx="0"/>
            <a:endCxn id="15" idx="4"/>
          </p:cNvCxnSpPr>
          <p:nvPr/>
        </p:nvCxnSpPr>
        <p:spPr>
          <a:xfrm flipH="1" flipV="1">
            <a:off x="632426" y="248755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A054494-4CA4-9302-54E4-A118AE154930}"/>
              </a:ext>
            </a:extLst>
          </p:cNvPr>
          <p:cNvSpPr txBox="1"/>
          <p:nvPr/>
        </p:nvSpPr>
        <p:spPr>
          <a:xfrm>
            <a:off x="1281904" y="2676025"/>
            <a:ext cx="66237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FB76F0E0-D480-618F-469F-52479728070B}"/>
              </a:ext>
            </a:extLst>
          </p:cNvPr>
          <p:cNvSpPr/>
          <p:nvPr/>
        </p:nvSpPr>
        <p:spPr>
          <a:xfrm>
            <a:off x="1545604" y="2326214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4B540DF-3989-164A-4F21-579508A0F5B0}"/>
              </a:ext>
            </a:extLst>
          </p:cNvPr>
          <p:cNvCxnSpPr>
            <a:cxnSpLocks/>
            <a:stCxn id="17" idx="0"/>
            <a:endCxn id="18" idx="4"/>
          </p:cNvCxnSpPr>
          <p:nvPr/>
        </p:nvCxnSpPr>
        <p:spPr>
          <a:xfrm flipH="1" flipV="1">
            <a:off x="1613091" y="2487552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3CAB348-27BB-E2CF-FC77-9E270A72EDCF}"/>
              </a:ext>
            </a:extLst>
          </p:cNvPr>
          <p:cNvSpPr txBox="1"/>
          <p:nvPr/>
        </p:nvSpPr>
        <p:spPr>
          <a:xfrm>
            <a:off x="1135781" y="3142093"/>
            <a:ext cx="95462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선출원위반</a:t>
            </a: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C17BDEF-E468-E498-70B8-BF4742CFB756}"/>
              </a:ext>
            </a:extLst>
          </p:cNvPr>
          <p:cNvCxnSpPr>
            <a:cxnSpLocks/>
            <a:stCxn id="20" idx="0"/>
            <a:endCxn id="17" idx="2"/>
          </p:cNvCxnSpPr>
          <p:nvPr/>
        </p:nvCxnSpPr>
        <p:spPr>
          <a:xfrm flipV="1">
            <a:off x="1613092" y="2953024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09403C0-2291-D764-8D34-0C1314C9A840}"/>
              </a:ext>
            </a:extLst>
          </p:cNvPr>
          <p:cNvSpPr txBox="1"/>
          <p:nvPr/>
        </p:nvSpPr>
        <p:spPr>
          <a:xfrm>
            <a:off x="2208131" y="2676323"/>
            <a:ext cx="70218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보정</a:t>
            </a: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3414E37-4073-2EBB-16E6-7BF665236BB4}"/>
              </a:ext>
            </a:extLst>
          </p:cNvPr>
          <p:cNvSpPr/>
          <p:nvPr/>
        </p:nvSpPr>
        <p:spPr>
          <a:xfrm>
            <a:off x="2491736" y="232621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4E388D1-82AD-1DC1-F32E-FCCEDA302DE8}"/>
              </a:ext>
            </a:extLst>
          </p:cNvPr>
          <p:cNvCxnSpPr>
            <a:cxnSpLocks/>
            <a:stCxn id="22" idx="0"/>
            <a:endCxn id="23" idx="4"/>
          </p:cNvCxnSpPr>
          <p:nvPr/>
        </p:nvCxnSpPr>
        <p:spPr>
          <a:xfrm flipH="1" flipV="1">
            <a:off x="2559223" y="248755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4A46020-7E9C-29BF-22B9-BBF3CB8E08FE}"/>
              </a:ext>
            </a:extLst>
          </p:cNvPr>
          <p:cNvSpPr txBox="1"/>
          <p:nvPr/>
        </p:nvSpPr>
        <p:spPr>
          <a:xfrm>
            <a:off x="8863580" y="2676323"/>
            <a:ext cx="70218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D00E6E3-8AB3-C5F7-C019-BFD30D648113}"/>
              </a:ext>
            </a:extLst>
          </p:cNvPr>
          <p:cNvSpPr/>
          <p:nvPr/>
        </p:nvSpPr>
        <p:spPr>
          <a:xfrm>
            <a:off x="9147184" y="2326214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F940A3F-5107-ADC0-0104-9AB518B4B396}"/>
              </a:ext>
            </a:extLst>
          </p:cNvPr>
          <p:cNvCxnSpPr>
            <a:cxnSpLocks/>
            <a:stCxn id="25" idx="0"/>
            <a:endCxn id="26" idx="4"/>
          </p:cNvCxnSpPr>
          <p:nvPr/>
        </p:nvCxnSpPr>
        <p:spPr>
          <a:xfrm flipH="1" flipV="1">
            <a:off x="9214672" y="248755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BCB4C71-634B-4128-ABA4-63011B1BDEE0}"/>
              </a:ext>
            </a:extLst>
          </p:cNvPr>
          <p:cNvSpPr txBox="1"/>
          <p:nvPr/>
        </p:nvSpPr>
        <p:spPr>
          <a:xfrm>
            <a:off x="3211488" y="2676025"/>
            <a:ext cx="66237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6CF5C93-8A6D-F1F7-62DE-FB2E632E885E}"/>
              </a:ext>
            </a:extLst>
          </p:cNvPr>
          <p:cNvSpPr/>
          <p:nvPr/>
        </p:nvSpPr>
        <p:spPr>
          <a:xfrm>
            <a:off x="3475187" y="2326214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43DBED4-BC1C-C0D2-392E-F0A75F6C50C8}"/>
              </a:ext>
            </a:extLst>
          </p:cNvPr>
          <p:cNvCxnSpPr>
            <a:cxnSpLocks/>
            <a:stCxn id="28" idx="0"/>
            <a:endCxn id="29" idx="4"/>
          </p:cNvCxnSpPr>
          <p:nvPr/>
        </p:nvCxnSpPr>
        <p:spPr>
          <a:xfrm flipH="1" flipV="1">
            <a:off x="3542675" y="2487552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8BC65D1-4A7B-EEFD-4654-AB8ED28CCFE8}"/>
              </a:ext>
            </a:extLst>
          </p:cNvPr>
          <p:cNvSpPr txBox="1"/>
          <p:nvPr/>
        </p:nvSpPr>
        <p:spPr>
          <a:xfrm>
            <a:off x="3065365" y="3142093"/>
            <a:ext cx="95462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진보성위반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E198830B-DE28-28BD-EC0D-6D88A6573FE9}"/>
              </a:ext>
            </a:extLst>
          </p:cNvPr>
          <p:cNvCxnSpPr>
            <a:cxnSpLocks/>
            <a:stCxn id="31" idx="0"/>
            <a:endCxn id="28" idx="2"/>
          </p:cNvCxnSpPr>
          <p:nvPr/>
        </p:nvCxnSpPr>
        <p:spPr>
          <a:xfrm flipV="1">
            <a:off x="3542676" y="2953024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F6569CF-68D8-64F8-219C-C6D67A942B97}"/>
              </a:ext>
            </a:extLst>
          </p:cNvPr>
          <p:cNvSpPr txBox="1"/>
          <p:nvPr/>
        </p:nvSpPr>
        <p:spPr>
          <a:xfrm>
            <a:off x="4137715" y="2676323"/>
            <a:ext cx="70218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보정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0946CFF6-E800-2F34-D03F-8821AEB9BD7C}"/>
              </a:ext>
            </a:extLst>
          </p:cNvPr>
          <p:cNvSpPr/>
          <p:nvPr/>
        </p:nvSpPr>
        <p:spPr>
          <a:xfrm>
            <a:off x="4421319" y="232621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24DB3BB2-2E61-FA49-A3DF-CB1890FB8C78}"/>
              </a:ext>
            </a:extLst>
          </p:cNvPr>
          <p:cNvCxnSpPr>
            <a:cxnSpLocks/>
            <a:stCxn id="33" idx="0"/>
            <a:endCxn id="34" idx="4"/>
          </p:cNvCxnSpPr>
          <p:nvPr/>
        </p:nvCxnSpPr>
        <p:spPr>
          <a:xfrm flipH="1" flipV="1">
            <a:off x="4488807" y="248755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61F1ED5-F235-BA64-7C3C-486A339C2BE1}"/>
              </a:ext>
            </a:extLst>
          </p:cNvPr>
          <p:cNvSpPr txBox="1"/>
          <p:nvPr/>
        </p:nvSpPr>
        <p:spPr>
          <a:xfrm>
            <a:off x="5095960" y="2676025"/>
            <a:ext cx="78156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거절결정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D683DF9E-3D59-323E-6D25-206B4BDCBB65}"/>
              </a:ext>
            </a:extLst>
          </p:cNvPr>
          <p:cNvSpPr/>
          <p:nvPr/>
        </p:nvSpPr>
        <p:spPr>
          <a:xfrm>
            <a:off x="5419253" y="2326214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F8202466-4A53-E8AC-848D-CEED25FEED69}"/>
              </a:ext>
            </a:extLst>
          </p:cNvPr>
          <p:cNvCxnSpPr>
            <a:cxnSpLocks/>
            <a:stCxn id="36" idx="0"/>
            <a:endCxn id="37" idx="4"/>
          </p:cNvCxnSpPr>
          <p:nvPr/>
        </p:nvCxnSpPr>
        <p:spPr>
          <a:xfrm flipV="1">
            <a:off x="5486741" y="2487552"/>
            <a:ext cx="0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898EE00F-6EF5-C6B1-FC3B-ACD118C5A960}"/>
              </a:ext>
            </a:extLst>
          </p:cNvPr>
          <p:cNvSpPr txBox="1"/>
          <p:nvPr/>
        </p:nvSpPr>
        <p:spPr>
          <a:xfrm>
            <a:off x="5009430" y="3142093"/>
            <a:ext cx="95462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진보성위반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162B8C00-B7D9-099F-9EC5-02464CF6A2D1}"/>
              </a:ext>
            </a:extLst>
          </p:cNvPr>
          <p:cNvCxnSpPr>
            <a:cxnSpLocks/>
            <a:stCxn id="40" idx="0"/>
            <a:endCxn id="36" idx="2"/>
          </p:cNvCxnSpPr>
          <p:nvPr/>
        </p:nvCxnSpPr>
        <p:spPr>
          <a:xfrm flipV="1">
            <a:off x="5486741" y="2953024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9E6D32C-B63A-F879-1800-4477F29FBF35}"/>
              </a:ext>
            </a:extLst>
          </p:cNvPr>
          <p:cNvSpPr txBox="1"/>
          <p:nvPr/>
        </p:nvSpPr>
        <p:spPr>
          <a:xfrm>
            <a:off x="6017620" y="2676323"/>
            <a:ext cx="75488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심판청구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0FAC8E88-E320-BD34-418C-E4A0805E429E}"/>
              </a:ext>
            </a:extLst>
          </p:cNvPr>
          <p:cNvSpPr/>
          <p:nvPr/>
        </p:nvSpPr>
        <p:spPr>
          <a:xfrm>
            <a:off x="6327575" y="232621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701B32F4-022E-8AF9-D8EF-5A16F7ABF125}"/>
              </a:ext>
            </a:extLst>
          </p:cNvPr>
          <p:cNvCxnSpPr>
            <a:cxnSpLocks/>
            <a:stCxn id="42" idx="0"/>
            <a:endCxn id="43" idx="4"/>
          </p:cNvCxnSpPr>
          <p:nvPr/>
        </p:nvCxnSpPr>
        <p:spPr>
          <a:xfrm flipH="1" flipV="1">
            <a:off x="6395063" y="248755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AA07AF60-A5B7-AE0A-FB42-BD50A6AEBC8B}"/>
              </a:ext>
            </a:extLst>
          </p:cNvPr>
          <p:cNvSpPr txBox="1"/>
          <p:nvPr/>
        </p:nvSpPr>
        <p:spPr>
          <a:xfrm>
            <a:off x="7960611" y="2676025"/>
            <a:ext cx="78156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B2DBFDD2-DE6C-B7F4-945C-6FAEB85280FB}"/>
              </a:ext>
            </a:extLst>
          </p:cNvPr>
          <p:cNvSpPr/>
          <p:nvPr/>
        </p:nvSpPr>
        <p:spPr>
          <a:xfrm>
            <a:off x="8283903" y="2326214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89812C10-0274-2A35-B4EA-4A64329B5DEE}"/>
              </a:ext>
            </a:extLst>
          </p:cNvPr>
          <p:cNvCxnSpPr>
            <a:cxnSpLocks/>
            <a:stCxn id="45" idx="0"/>
            <a:endCxn id="46" idx="4"/>
          </p:cNvCxnSpPr>
          <p:nvPr/>
        </p:nvCxnSpPr>
        <p:spPr>
          <a:xfrm flipH="1" flipV="1">
            <a:off x="8351391" y="2487552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22A0DD02-932C-D5C6-EBA2-4784ABD4B59E}"/>
              </a:ext>
            </a:extLst>
          </p:cNvPr>
          <p:cNvSpPr txBox="1"/>
          <p:nvPr/>
        </p:nvSpPr>
        <p:spPr>
          <a:xfrm>
            <a:off x="7874081" y="3142093"/>
            <a:ext cx="95462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선출원위반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CCCAE455-D119-7A12-0E9E-800C98ABFF2E}"/>
              </a:ext>
            </a:extLst>
          </p:cNvPr>
          <p:cNvCxnSpPr>
            <a:cxnSpLocks/>
            <a:stCxn id="48" idx="0"/>
            <a:endCxn id="45" idx="2"/>
          </p:cNvCxnSpPr>
          <p:nvPr/>
        </p:nvCxnSpPr>
        <p:spPr>
          <a:xfrm flipV="1">
            <a:off x="8351392" y="2953024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D0CC558-DB76-54D2-4DC8-2EF2E5B8AE8B}"/>
              </a:ext>
            </a:extLst>
          </p:cNvPr>
          <p:cNvSpPr txBox="1"/>
          <p:nvPr/>
        </p:nvSpPr>
        <p:spPr>
          <a:xfrm>
            <a:off x="6974989" y="2676025"/>
            <a:ext cx="662376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FFFF00"/>
                </a:solidFill>
                <a:latin typeface="+mn-ea"/>
              </a:rPr>
              <a:t>OA </a:t>
            </a:r>
            <a:endParaRPr lang="ko-KR" altLang="en-US" sz="1200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F725C40D-4F8C-9DBB-0F28-1DCFB9B156F1}"/>
              </a:ext>
            </a:extLst>
          </p:cNvPr>
          <p:cNvSpPr/>
          <p:nvPr/>
        </p:nvSpPr>
        <p:spPr>
          <a:xfrm>
            <a:off x="7238689" y="2326214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22DD0256-BCAC-B30A-FA95-7520229D2488}"/>
              </a:ext>
            </a:extLst>
          </p:cNvPr>
          <p:cNvCxnSpPr>
            <a:cxnSpLocks/>
            <a:stCxn id="50" idx="0"/>
            <a:endCxn id="52" idx="4"/>
          </p:cNvCxnSpPr>
          <p:nvPr/>
        </p:nvCxnSpPr>
        <p:spPr>
          <a:xfrm flipH="1" flipV="1">
            <a:off x="7306176" y="2487552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말풍선: 모서리가 둥근 사각형 53">
            <a:extLst>
              <a:ext uri="{FF2B5EF4-FFF2-40B4-BE49-F238E27FC236}">
                <a16:creationId xmlns:a16="http://schemas.microsoft.com/office/drawing/2014/main" id="{9658A04D-7F9A-781C-6466-E87D42A023A9}"/>
              </a:ext>
            </a:extLst>
          </p:cNvPr>
          <p:cNvSpPr/>
          <p:nvPr/>
        </p:nvSpPr>
        <p:spPr>
          <a:xfrm>
            <a:off x="9703385" y="2673758"/>
            <a:ext cx="2386871" cy="711185"/>
          </a:xfrm>
          <a:prstGeom prst="wedgeRoundRectCallout">
            <a:avLst>
              <a:gd name="adj1" fmla="val -38587"/>
              <a:gd name="adj2" fmla="val -79692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지식재산처장의 주장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>
                <a:solidFill>
                  <a:schemeClr val="tx1"/>
                </a:solidFill>
              </a:rPr>
              <a:t>진보성 위반으로 거절결정을 유지하는 </a:t>
            </a:r>
            <a:r>
              <a:rPr lang="ko-KR" altLang="en-US" sz="1200" dirty="0" err="1">
                <a:solidFill>
                  <a:schemeClr val="tx1"/>
                </a:solidFill>
              </a:rPr>
              <a:t>기각심결이</a:t>
            </a:r>
            <a:r>
              <a:rPr lang="ko-KR" altLang="en-US" sz="1200" dirty="0">
                <a:solidFill>
                  <a:schemeClr val="tx1"/>
                </a:solidFill>
              </a:rPr>
              <a:t> 타당하다</a:t>
            </a:r>
            <a:r>
              <a:rPr lang="en-US" altLang="ko-KR" sz="1200" dirty="0">
                <a:solidFill>
                  <a:schemeClr val="tx1"/>
                </a:solidFill>
              </a:rPr>
              <a:t>.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F4600F-4B06-FF47-62D1-45E086A85B3C}"/>
              </a:ext>
            </a:extLst>
          </p:cNvPr>
          <p:cNvSpPr txBox="1"/>
          <p:nvPr/>
        </p:nvSpPr>
        <p:spPr>
          <a:xfrm>
            <a:off x="6828865" y="3142093"/>
            <a:ext cx="954622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  <a:latin typeface="+mn-ea"/>
              </a:rPr>
              <a:t>선출원위반</a:t>
            </a:r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E3FDE60-32B4-4D06-BDF5-29217CC07D7A}"/>
              </a:ext>
            </a:extLst>
          </p:cNvPr>
          <p:cNvCxnSpPr>
            <a:cxnSpLocks/>
            <a:stCxn id="55" idx="0"/>
          </p:cNvCxnSpPr>
          <p:nvPr/>
        </p:nvCxnSpPr>
        <p:spPr>
          <a:xfrm flipV="1">
            <a:off x="7306176" y="2953024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82D5FF4-B807-1AEB-1486-4495AD962E31}"/>
              </a:ext>
            </a:extLst>
          </p:cNvPr>
          <p:cNvSpPr/>
          <p:nvPr/>
        </p:nvSpPr>
        <p:spPr>
          <a:xfrm>
            <a:off x="1507882" y="3871939"/>
            <a:ext cx="10406477" cy="116955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/>
              <a:t>거절이유 통지를 하지 아니한 채 거절결정의 이유와 다른 거절이유를 들어서 거절결정이 결과에 있어 정당하다는 이유로 거절결정불복심판청구를 기각한 </a:t>
            </a:r>
            <a:r>
              <a:rPr lang="ko-KR" altLang="en-US" sz="1400" dirty="0" err="1"/>
              <a:t>심결은</a:t>
            </a:r>
            <a:r>
              <a:rPr lang="ko-KR" altLang="en-US" sz="1400" dirty="0"/>
              <a:t> 위법하다</a:t>
            </a:r>
            <a:r>
              <a:rPr lang="en-US" altLang="ko-KR" sz="1400" dirty="0"/>
              <a:t>. </a:t>
            </a:r>
            <a:r>
              <a:rPr lang="ko-KR" altLang="en-US" sz="1400" dirty="0"/>
              <a:t>예를 들어</a:t>
            </a:r>
            <a:r>
              <a:rPr lang="en-US" altLang="ko-KR" sz="1400" dirty="0"/>
              <a:t>, </a:t>
            </a:r>
            <a:r>
              <a:rPr lang="ko-KR" altLang="en-US" sz="1400" dirty="0"/>
              <a:t>심사 단계에서 미리 거절이유를 통지한 사유라고 하더라도 그 사유를 거절결정에서 거절이유로 삼지 않았다면 이와 같은 사유는 거절결정에 대한 심판절차에서는 ‘거절결정의 이유와 다른 </a:t>
            </a:r>
            <a:r>
              <a:rPr lang="ko-KR" altLang="en-US" sz="1400" dirty="0" err="1"/>
              <a:t>거절이유’에</a:t>
            </a:r>
            <a:r>
              <a:rPr lang="ko-KR" altLang="en-US" sz="1400" dirty="0"/>
              <a:t> 해당하므로</a:t>
            </a:r>
            <a:r>
              <a:rPr lang="en-US" altLang="ko-KR" sz="1400" dirty="0"/>
              <a:t>, </a:t>
            </a:r>
            <a:r>
              <a:rPr lang="ko-KR" altLang="en-US" sz="1400" dirty="0"/>
              <a:t>심판 단계에서 심판청구인이 위 사유에 대해 실질적으로 의견서 제출 및 보정의 기회를 </a:t>
            </a:r>
            <a:r>
              <a:rPr lang="ko-KR" altLang="en-US" sz="1400" dirty="0" err="1"/>
              <a:t>부여받았다고</a:t>
            </a:r>
            <a:r>
              <a:rPr lang="ko-KR" altLang="en-US" sz="1400" dirty="0"/>
              <a:t> 볼만한 특별한 사정이 없는 한 이를 </a:t>
            </a:r>
            <a:r>
              <a:rPr lang="ko-KR" altLang="en-US" sz="1400" dirty="0" err="1"/>
              <a:t>심결의</a:t>
            </a:r>
            <a:r>
              <a:rPr lang="ko-KR" altLang="en-US" sz="1400" dirty="0"/>
              <a:t> 이유로 하기 위해서는 다시 그 사유에 대해 거절이유를 통지하여야 한다</a:t>
            </a:r>
            <a:r>
              <a:rPr lang="en-US" altLang="ko-KR" sz="1400" dirty="0"/>
              <a:t>. </a:t>
            </a:r>
          </a:p>
        </p:txBody>
      </p:sp>
      <p:sp>
        <p:nvSpPr>
          <p:cNvPr id="11" name="Line 5">
            <a:extLst>
              <a:ext uri="{FF2B5EF4-FFF2-40B4-BE49-F238E27FC236}">
                <a16:creationId xmlns:a16="http://schemas.microsoft.com/office/drawing/2014/main" id="{B40CBB39-9721-CCDC-FF3C-713C635713B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297" y="5429729"/>
            <a:ext cx="1180233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764508E-5EAE-EA81-A470-C87C3A4005E5}"/>
              </a:ext>
            </a:extLst>
          </p:cNvPr>
          <p:cNvSpPr txBox="1"/>
          <p:nvPr/>
        </p:nvSpPr>
        <p:spPr>
          <a:xfrm>
            <a:off x="281334" y="5685904"/>
            <a:ext cx="70218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출원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DA7C6097-AF16-B1C7-22F2-F8CA51390574}"/>
              </a:ext>
            </a:extLst>
          </p:cNvPr>
          <p:cNvSpPr/>
          <p:nvPr/>
        </p:nvSpPr>
        <p:spPr>
          <a:xfrm>
            <a:off x="564938" y="5335795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0CCCDAC6-1576-DA4E-24C3-90B8BBA92F82}"/>
              </a:ext>
            </a:extLst>
          </p:cNvPr>
          <p:cNvCxnSpPr>
            <a:cxnSpLocks/>
            <a:stCxn id="57" idx="0"/>
            <a:endCxn id="58" idx="4"/>
          </p:cNvCxnSpPr>
          <p:nvPr/>
        </p:nvCxnSpPr>
        <p:spPr>
          <a:xfrm flipH="1" flipV="1">
            <a:off x="632426" y="549713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34E09068-590C-95DF-1CE1-EE2A45AC88B5}"/>
              </a:ext>
            </a:extLst>
          </p:cNvPr>
          <p:cNvSpPr txBox="1"/>
          <p:nvPr/>
        </p:nvSpPr>
        <p:spPr>
          <a:xfrm>
            <a:off x="1281904" y="5685606"/>
            <a:ext cx="66237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4B232B8B-B3C5-533F-2BED-92F4F61CA374}"/>
              </a:ext>
            </a:extLst>
          </p:cNvPr>
          <p:cNvSpPr/>
          <p:nvPr/>
        </p:nvSpPr>
        <p:spPr>
          <a:xfrm>
            <a:off x="1545604" y="5335795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7235A078-CF9C-C99D-EC5D-1BB562D19A5B}"/>
              </a:ext>
            </a:extLst>
          </p:cNvPr>
          <p:cNvCxnSpPr>
            <a:cxnSpLocks/>
            <a:stCxn id="60" idx="0"/>
            <a:endCxn id="61" idx="4"/>
          </p:cNvCxnSpPr>
          <p:nvPr/>
        </p:nvCxnSpPr>
        <p:spPr>
          <a:xfrm flipH="1" flipV="1">
            <a:off x="1613091" y="5497133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AEB8FE19-84D6-BA24-46D9-08651BF087A9}"/>
              </a:ext>
            </a:extLst>
          </p:cNvPr>
          <p:cNvSpPr txBox="1"/>
          <p:nvPr/>
        </p:nvSpPr>
        <p:spPr>
          <a:xfrm>
            <a:off x="1135781" y="6151674"/>
            <a:ext cx="95462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선출원위반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63464B3C-B9F8-9E08-FCCD-B146DE470574}"/>
              </a:ext>
            </a:extLst>
          </p:cNvPr>
          <p:cNvCxnSpPr>
            <a:cxnSpLocks/>
            <a:stCxn id="63" idx="0"/>
            <a:endCxn id="60" idx="2"/>
          </p:cNvCxnSpPr>
          <p:nvPr/>
        </p:nvCxnSpPr>
        <p:spPr>
          <a:xfrm flipV="1">
            <a:off x="1613092" y="5962605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C26EBE0F-5230-E4D6-B2DE-5E0DC82E7A15}"/>
              </a:ext>
            </a:extLst>
          </p:cNvPr>
          <p:cNvSpPr txBox="1"/>
          <p:nvPr/>
        </p:nvSpPr>
        <p:spPr>
          <a:xfrm>
            <a:off x="2208131" y="5685904"/>
            <a:ext cx="70218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보정</a:t>
            </a: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1723C3D7-D6EB-4F72-CA73-7099C68F8FA2}"/>
              </a:ext>
            </a:extLst>
          </p:cNvPr>
          <p:cNvSpPr/>
          <p:nvPr/>
        </p:nvSpPr>
        <p:spPr>
          <a:xfrm>
            <a:off x="2491736" y="5335795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6A5EB910-9A18-478B-36EE-10DD584F3EA8}"/>
              </a:ext>
            </a:extLst>
          </p:cNvPr>
          <p:cNvCxnSpPr>
            <a:cxnSpLocks/>
            <a:stCxn id="65" idx="0"/>
            <a:endCxn id="66" idx="4"/>
          </p:cNvCxnSpPr>
          <p:nvPr/>
        </p:nvCxnSpPr>
        <p:spPr>
          <a:xfrm flipH="1" flipV="1">
            <a:off x="2559223" y="549713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A830981-3DD7-FE00-0689-997544D679ED}"/>
              </a:ext>
            </a:extLst>
          </p:cNvPr>
          <p:cNvSpPr txBox="1"/>
          <p:nvPr/>
        </p:nvSpPr>
        <p:spPr>
          <a:xfrm>
            <a:off x="8863580" y="5685904"/>
            <a:ext cx="70218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9A38201B-21E1-4EE2-CFD6-BA063B73BFCF}"/>
              </a:ext>
            </a:extLst>
          </p:cNvPr>
          <p:cNvSpPr/>
          <p:nvPr/>
        </p:nvSpPr>
        <p:spPr>
          <a:xfrm>
            <a:off x="9147184" y="5335795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46105B88-4D9F-738C-6EC0-C2DCF6B19EE2}"/>
              </a:ext>
            </a:extLst>
          </p:cNvPr>
          <p:cNvCxnSpPr>
            <a:cxnSpLocks/>
            <a:stCxn id="68" idx="0"/>
            <a:endCxn id="69" idx="4"/>
          </p:cNvCxnSpPr>
          <p:nvPr/>
        </p:nvCxnSpPr>
        <p:spPr>
          <a:xfrm flipH="1" flipV="1">
            <a:off x="9214672" y="549713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66B1906-8E85-FE86-FA4F-58B0179690AC}"/>
              </a:ext>
            </a:extLst>
          </p:cNvPr>
          <p:cNvSpPr txBox="1"/>
          <p:nvPr/>
        </p:nvSpPr>
        <p:spPr>
          <a:xfrm>
            <a:off x="3211488" y="5685606"/>
            <a:ext cx="66237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624A9138-5C4D-B7D7-0190-0B9A5BF93ACD}"/>
              </a:ext>
            </a:extLst>
          </p:cNvPr>
          <p:cNvSpPr/>
          <p:nvPr/>
        </p:nvSpPr>
        <p:spPr>
          <a:xfrm>
            <a:off x="3475187" y="5335795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DF7DB0E2-C7FD-DE28-9A65-F3596F4D7E7A}"/>
              </a:ext>
            </a:extLst>
          </p:cNvPr>
          <p:cNvCxnSpPr>
            <a:cxnSpLocks/>
            <a:stCxn id="71" idx="0"/>
            <a:endCxn id="72" idx="4"/>
          </p:cNvCxnSpPr>
          <p:nvPr/>
        </p:nvCxnSpPr>
        <p:spPr>
          <a:xfrm flipH="1" flipV="1">
            <a:off x="3542675" y="5497133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815D6C93-7249-85CB-8278-58528657E117}"/>
              </a:ext>
            </a:extLst>
          </p:cNvPr>
          <p:cNvSpPr txBox="1"/>
          <p:nvPr/>
        </p:nvSpPr>
        <p:spPr>
          <a:xfrm>
            <a:off x="3065365" y="6151674"/>
            <a:ext cx="954622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진보성위반</a:t>
            </a:r>
          </a:p>
        </p:txBody>
      </p: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1FD3126D-CB4B-FFC7-AF6D-DA0B6ED3D96F}"/>
              </a:ext>
            </a:extLst>
          </p:cNvPr>
          <p:cNvCxnSpPr>
            <a:cxnSpLocks/>
            <a:stCxn id="74" idx="0"/>
            <a:endCxn id="71" idx="2"/>
          </p:cNvCxnSpPr>
          <p:nvPr/>
        </p:nvCxnSpPr>
        <p:spPr>
          <a:xfrm flipV="1">
            <a:off x="3542676" y="5962605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E4033259-C887-FBB5-89B4-1D71457572F6}"/>
              </a:ext>
            </a:extLst>
          </p:cNvPr>
          <p:cNvSpPr txBox="1"/>
          <p:nvPr/>
        </p:nvSpPr>
        <p:spPr>
          <a:xfrm>
            <a:off x="4137715" y="5685904"/>
            <a:ext cx="70218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보정</a:t>
            </a:r>
          </a:p>
        </p:txBody>
      </p:sp>
      <p:sp>
        <p:nvSpPr>
          <p:cNvPr id="77" name="타원 76">
            <a:extLst>
              <a:ext uri="{FF2B5EF4-FFF2-40B4-BE49-F238E27FC236}">
                <a16:creationId xmlns:a16="http://schemas.microsoft.com/office/drawing/2014/main" id="{236AC528-DC71-8351-DBB2-10D259DAE223}"/>
              </a:ext>
            </a:extLst>
          </p:cNvPr>
          <p:cNvSpPr/>
          <p:nvPr/>
        </p:nvSpPr>
        <p:spPr>
          <a:xfrm>
            <a:off x="4421319" y="5335795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3D6CF2CE-902D-55BD-C4E4-3092692BB26F}"/>
              </a:ext>
            </a:extLst>
          </p:cNvPr>
          <p:cNvCxnSpPr>
            <a:cxnSpLocks/>
            <a:stCxn id="76" idx="0"/>
            <a:endCxn id="77" idx="4"/>
          </p:cNvCxnSpPr>
          <p:nvPr/>
        </p:nvCxnSpPr>
        <p:spPr>
          <a:xfrm flipH="1" flipV="1">
            <a:off x="4488807" y="549713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4810ABF-6A3A-7C8C-CD3F-DC30D66C2D4E}"/>
              </a:ext>
            </a:extLst>
          </p:cNvPr>
          <p:cNvSpPr txBox="1"/>
          <p:nvPr/>
        </p:nvSpPr>
        <p:spPr>
          <a:xfrm>
            <a:off x="5095960" y="5685606"/>
            <a:ext cx="78156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거절결정</a:t>
            </a: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81830F42-C0DA-42F4-883F-7D21FB8C2F61}"/>
              </a:ext>
            </a:extLst>
          </p:cNvPr>
          <p:cNvSpPr/>
          <p:nvPr/>
        </p:nvSpPr>
        <p:spPr>
          <a:xfrm>
            <a:off x="5419253" y="5335795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EE2A0E3F-0B61-86E7-19E4-007BCE9743D3}"/>
              </a:ext>
            </a:extLst>
          </p:cNvPr>
          <p:cNvCxnSpPr>
            <a:cxnSpLocks/>
            <a:stCxn id="79" idx="0"/>
            <a:endCxn id="80" idx="4"/>
          </p:cNvCxnSpPr>
          <p:nvPr/>
        </p:nvCxnSpPr>
        <p:spPr>
          <a:xfrm flipV="1">
            <a:off x="5486741" y="5497133"/>
            <a:ext cx="0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CC45F637-210F-36D5-8F43-23EE3053D8CC}"/>
              </a:ext>
            </a:extLst>
          </p:cNvPr>
          <p:cNvSpPr txBox="1"/>
          <p:nvPr/>
        </p:nvSpPr>
        <p:spPr>
          <a:xfrm>
            <a:off x="5009430" y="6151674"/>
            <a:ext cx="954622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  <a:latin typeface="+mn-ea"/>
              </a:rPr>
              <a:t>진보성위반</a:t>
            </a: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E33C9DA7-4B58-ED9D-8AA7-572A5087A52E}"/>
              </a:ext>
            </a:extLst>
          </p:cNvPr>
          <p:cNvCxnSpPr>
            <a:cxnSpLocks/>
            <a:stCxn id="82" idx="0"/>
            <a:endCxn id="79" idx="2"/>
          </p:cNvCxnSpPr>
          <p:nvPr/>
        </p:nvCxnSpPr>
        <p:spPr>
          <a:xfrm flipV="1">
            <a:off x="5486741" y="5962605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2A3BCF77-A93B-D248-3C04-4B216A780772}"/>
              </a:ext>
            </a:extLst>
          </p:cNvPr>
          <p:cNvSpPr txBox="1"/>
          <p:nvPr/>
        </p:nvSpPr>
        <p:spPr>
          <a:xfrm>
            <a:off x="6017620" y="5685904"/>
            <a:ext cx="754888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심판청구</a:t>
            </a:r>
          </a:p>
        </p:txBody>
      </p:sp>
      <p:sp>
        <p:nvSpPr>
          <p:cNvPr id="85" name="타원 84">
            <a:extLst>
              <a:ext uri="{FF2B5EF4-FFF2-40B4-BE49-F238E27FC236}">
                <a16:creationId xmlns:a16="http://schemas.microsoft.com/office/drawing/2014/main" id="{33AA4CE6-CF44-C1F8-5C76-13A11E0ECB12}"/>
              </a:ext>
            </a:extLst>
          </p:cNvPr>
          <p:cNvSpPr/>
          <p:nvPr/>
        </p:nvSpPr>
        <p:spPr>
          <a:xfrm>
            <a:off x="6327575" y="5335795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28C8A78C-990A-6278-1015-EDD0327AA4F1}"/>
              </a:ext>
            </a:extLst>
          </p:cNvPr>
          <p:cNvCxnSpPr>
            <a:cxnSpLocks/>
            <a:stCxn id="84" idx="0"/>
            <a:endCxn id="85" idx="4"/>
          </p:cNvCxnSpPr>
          <p:nvPr/>
        </p:nvCxnSpPr>
        <p:spPr>
          <a:xfrm flipH="1" flipV="1">
            <a:off x="6395063" y="549713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CE28E9B0-FFDD-B9A1-B635-939629F8033E}"/>
              </a:ext>
            </a:extLst>
          </p:cNvPr>
          <p:cNvSpPr txBox="1"/>
          <p:nvPr/>
        </p:nvSpPr>
        <p:spPr>
          <a:xfrm>
            <a:off x="7839846" y="5685606"/>
            <a:ext cx="78156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8" name="타원 87">
            <a:extLst>
              <a:ext uri="{FF2B5EF4-FFF2-40B4-BE49-F238E27FC236}">
                <a16:creationId xmlns:a16="http://schemas.microsoft.com/office/drawing/2014/main" id="{CF447975-4A60-BD84-1D2C-91B9977C0D32}"/>
              </a:ext>
            </a:extLst>
          </p:cNvPr>
          <p:cNvSpPr/>
          <p:nvPr/>
        </p:nvSpPr>
        <p:spPr>
          <a:xfrm>
            <a:off x="8163138" y="5335795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9B74298B-1615-28CD-3E6E-EE76E1107269}"/>
              </a:ext>
            </a:extLst>
          </p:cNvPr>
          <p:cNvCxnSpPr>
            <a:cxnSpLocks/>
            <a:stCxn id="87" idx="0"/>
            <a:endCxn id="88" idx="4"/>
          </p:cNvCxnSpPr>
          <p:nvPr/>
        </p:nvCxnSpPr>
        <p:spPr>
          <a:xfrm flipH="1" flipV="1">
            <a:off x="8230626" y="5497133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89B27F0E-88E2-1953-7BB4-B49EE4054DD4}"/>
              </a:ext>
            </a:extLst>
          </p:cNvPr>
          <p:cNvSpPr txBox="1"/>
          <p:nvPr/>
        </p:nvSpPr>
        <p:spPr>
          <a:xfrm>
            <a:off x="7753316" y="6151674"/>
            <a:ext cx="954622" cy="276999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FF00"/>
                </a:solidFill>
                <a:latin typeface="+mn-ea"/>
              </a:rPr>
              <a:t>선출원위반</a:t>
            </a:r>
          </a:p>
        </p:txBody>
      </p: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A8D21358-1A4F-406E-4A43-A9B411646BF1}"/>
              </a:ext>
            </a:extLst>
          </p:cNvPr>
          <p:cNvCxnSpPr>
            <a:cxnSpLocks/>
            <a:stCxn id="90" idx="0"/>
            <a:endCxn id="87" idx="2"/>
          </p:cNvCxnSpPr>
          <p:nvPr/>
        </p:nvCxnSpPr>
        <p:spPr>
          <a:xfrm flipV="1">
            <a:off x="8230627" y="5962605"/>
            <a:ext cx="0" cy="1890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3ABFFA74-F119-171E-C711-601F912D5F3E}"/>
              </a:ext>
            </a:extLst>
          </p:cNvPr>
          <p:cNvSpPr txBox="1"/>
          <p:nvPr/>
        </p:nvSpPr>
        <p:spPr>
          <a:xfrm>
            <a:off x="6974989" y="5685606"/>
            <a:ext cx="662376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 × 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68B15920-B180-7D17-11DB-94AF3E526B99}"/>
              </a:ext>
            </a:extLst>
          </p:cNvPr>
          <p:cNvSpPr/>
          <p:nvPr/>
        </p:nvSpPr>
        <p:spPr>
          <a:xfrm>
            <a:off x="7238689" y="5335795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4" name="직선 연결선 93">
            <a:extLst>
              <a:ext uri="{FF2B5EF4-FFF2-40B4-BE49-F238E27FC236}">
                <a16:creationId xmlns:a16="http://schemas.microsoft.com/office/drawing/2014/main" id="{7F92B882-A130-7680-E061-2E36B79F662B}"/>
              </a:ext>
            </a:extLst>
          </p:cNvPr>
          <p:cNvCxnSpPr>
            <a:cxnSpLocks/>
            <a:stCxn id="92" idx="0"/>
            <a:endCxn id="93" idx="4"/>
          </p:cNvCxnSpPr>
          <p:nvPr/>
        </p:nvCxnSpPr>
        <p:spPr>
          <a:xfrm flipH="1" flipV="1">
            <a:off x="7306176" y="5497133"/>
            <a:ext cx="1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말풍선: 모서리가 둥근 사각형 94">
            <a:extLst>
              <a:ext uri="{FF2B5EF4-FFF2-40B4-BE49-F238E27FC236}">
                <a16:creationId xmlns:a16="http://schemas.microsoft.com/office/drawing/2014/main" id="{41220676-E9F5-DAE7-79F2-7AC28A738751}"/>
              </a:ext>
            </a:extLst>
          </p:cNvPr>
          <p:cNvSpPr/>
          <p:nvPr/>
        </p:nvSpPr>
        <p:spPr>
          <a:xfrm>
            <a:off x="9703385" y="5683339"/>
            <a:ext cx="2386871" cy="886047"/>
          </a:xfrm>
          <a:prstGeom prst="wedgeRoundRectCallout">
            <a:avLst>
              <a:gd name="adj1" fmla="val -41871"/>
              <a:gd name="adj2" fmla="val -72345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지식재산처장의 주장</a:t>
            </a:r>
            <a:r>
              <a:rPr lang="en-US" altLang="ko-KR" sz="1200" dirty="0">
                <a:solidFill>
                  <a:schemeClr val="tx1"/>
                </a:solidFill>
              </a:rPr>
              <a:t>: </a:t>
            </a:r>
            <a:r>
              <a:rPr lang="ko-KR" altLang="en-US" sz="1200" dirty="0" err="1">
                <a:solidFill>
                  <a:schemeClr val="tx1"/>
                </a:solidFill>
              </a:rPr>
              <a:t>선출원</a:t>
            </a:r>
            <a:r>
              <a:rPr lang="ko-KR" altLang="en-US" sz="1200" dirty="0">
                <a:solidFill>
                  <a:schemeClr val="tx1"/>
                </a:solidFill>
              </a:rPr>
              <a:t> 위반은 이미 심사단계에서 출원인에게 대응기회를 부여했기 때문에 </a:t>
            </a:r>
            <a:r>
              <a:rPr lang="ko-KR" altLang="en-US" sz="1200" dirty="0" err="1">
                <a:solidFill>
                  <a:schemeClr val="tx1"/>
                </a:solidFill>
              </a:rPr>
              <a:t>기각심결이</a:t>
            </a:r>
            <a:r>
              <a:rPr lang="ko-KR" altLang="en-US" sz="1200" dirty="0">
                <a:solidFill>
                  <a:schemeClr val="tx1"/>
                </a:solidFill>
              </a:rPr>
              <a:t> 타당하다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0F6CE6F-BA57-398F-43D6-FD4796B9820A}"/>
              </a:ext>
            </a:extLst>
          </p:cNvPr>
          <p:cNvSpPr txBox="1"/>
          <p:nvPr/>
        </p:nvSpPr>
        <p:spPr>
          <a:xfrm>
            <a:off x="9474509" y="4867208"/>
            <a:ext cx="2457383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rgbClr val="FF0000"/>
                </a:solidFill>
                <a:latin typeface="+mn-ea"/>
              </a:rPr>
              <a:t>법원의 판단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170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조제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2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 위반</a:t>
            </a:r>
          </a:p>
        </p:txBody>
      </p:sp>
      <p:sp>
        <p:nvSpPr>
          <p:cNvPr id="97" name="타원 96">
            <a:extLst>
              <a:ext uri="{FF2B5EF4-FFF2-40B4-BE49-F238E27FC236}">
                <a16:creationId xmlns:a16="http://schemas.microsoft.com/office/drawing/2014/main" id="{FC818FFD-6EF5-CCDD-8A28-16815B3F8C2E}"/>
              </a:ext>
            </a:extLst>
          </p:cNvPr>
          <p:cNvSpPr/>
          <p:nvPr/>
        </p:nvSpPr>
        <p:spPr>
          <a:xfrm>
            <a:off x="10635714" y="5335795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8" name="연결선: 꺾임 97">
            <a:extLst>
              <a:ext uri="{FF2B5EF4-FFF2-40B4-BE49-F238E27FC236}">
                <a16:creationId xmlns:a16="http://schemas.microsoft.com/office/drawing/2014/main" id="{A372B2D3-B67B-55A0-F599-07417FF60773}"/>
              </a:ext>
            </a:extLst>
          </p:cNvPr>
          <p:cNvCxnSpPr>
            <a:stCxn id="96" idx="2"/>
            <a:endCxn id="97" idx="0"/>
          </p:cNvCxnSpPr>
          <p:nvPr/>
        </p:nvCxnSpPr>
        <p:spPr>
          <a:xfrm rot="16200000" flipH="1">
            <a:off x="10607407" y="5240000"/>
            <a:ext cx="191588" cy="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타원 98">
            <a:extLst>
              <a:ext uri="{FF2B5EF4-FFF2-40B4-BE49-F238E27FC236}">
                <a16:creationId xmlns:a16="http://schemas.microsoft.com/office/drawing/2014/main" id="{7697BC92-CEF6-7F34-1F78-C14818B10040}"/>
              </a:ext>
            </a:extLst>
          </p:cNvPr>
          <p:cNvSpPr/>
          <p:nvPr/>
        </p:nvSpPr>
        <p:spPr>
          <a:xfrm>
            <a:off x="336250" y="3943036"/>
            <a:ext cx="1043797" cy="1043797"/>
          </a:xfrm>
          <a:prstGeom prst="ellips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ko-KR" dirty="0"/>
              <a:t>CASE</a:t>
            </a:r>
          </a:p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CC54F93-E3D7-FC76-E2D6-0881F0C9308D}"/>
              </a:ext>
            </a:extLst>
          </p:cNvPr>
          <p:cNvSpPr/>
          <p:nvPr/>
        </p:nvSpPr>
        <p:spPr>
          <a:xfrm>
            <a:off x="1507882" y="3559508"/>
            <a:ext cx="3194118" cy="3077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 fontAlgn="base"/>
            <a:r>
              <a:rPr lang="ko-KR" altLang="en-US" sz="1400" dirty="0">
                <a:solidFill>
                  <a:schemeClr val="bg1"/>
                </a:solidFill>
              </a:rPr>
              <a:t>대법원 </a:t>
            </a:r>
            <a:r>
              <a:rPr lang="en-US" altLang="ko-KR" sz="1400" dirty="0">
                <a:solidFill>
                  <a:schemeClr val="bg1"/>
                </a:solidFill>
              </a:rPr>
              <a:t>2020. 11. 12. </a:t>
            </a:r>
            <a:r>
              <a:rPr lang="ko-KR" altLang="en-US" sz="1400" dirty="0">
                <a:solidFill>
                  <a:schemeClr val="bg1"/>
                </a:solidFill>
              </a:rPr>
              <a:t>선고 </a:t>
            </a:r>
            <a:r>
              <a:rPr lang="en-US" altLang="ko-KR" sz="1400" dirty="0">
                <a:solidFill>
                  <a:schemeClr val="bg1"/>
                </a:solidFill>
              </a:rPr>
              <a:t>2017</a:t>
            </a:r>
            <a:r>
              <a:rPr lang="ko-KR" altLang="en-US" sz="1400" dirty="0">
                <a:solidFill>
                  <a:schemeClr val="bg1"/>
                </a:solidFill>
              </a:rPr>
              <a:t>후</a:t>
            </a:r>
            <a:r>
              <a:rPr lang="en-US" altLang="ko-KR" sz="1400" dirty="0">
                <a:solidFill>
                  <a:schemeClr val="bg1"/>
                </a:solidFill>
              </a:rPr>
              <a:t>1779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440703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21">
            <a:extLst>
              <a:ext uri="{FF2B5EF4-FFF2-40B4-BE49-F238E27FC236}">
                <a16:creationId xmlns:a16="http://schemas.microsoft.com/office/drawing/2014/main" id="{D2D161A2-C7A3-28C8-6628-41E4EDE81D8E}"/>
              </a:ext>
            </a:extLst>
          </p:cNvPr>
          <p:cNvSpPr txBox="1"/>
          <p:nvPr/>
        </p:nvSpPr>
        <p:spPr>
          <a:xfrm>
            <a:off x="8809406" y="2613365"/>
            <a:ext cx="781562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불가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강행규정</a:t>
            </a:r>
            <a:r>
              <a:rPr lang="en-US" altLang="ko-KR" sz="2000" dirty="0"/>
              <a:t>(</a:t>
            </a:r>
            <a:r>
              <a:rPr lang="ko-KR" altLang="en-US" sz="2000" dirty="0"/>
              <a:t>제</a:t>
            </a:r>
            <a:r>
              <a:rPr lang="en-US" altLang="ko-KR" sz="2000" dirty="0"/>
              <a:t>63</a:t>
            </a:r>
            <a:r>
              <a:rPr lang="ko-KR" altLang="en-US" sz="2000" dirty="0"/>
              <a:t>조</a:t>
            </a:r>
            <a:r>
              <a:rPr lang="en-US" altLang="ko-KR" sz="2000" dirty="0"/>
              <a:t>, </a:t>
            </a:r>
            <a:r>
              <a:rPr lang="ko-KR" altLang="en-US" sz="2000" dirty="0"/>
              <a:t>제</a:t>
            </a:r>
            <a:r>
              <a:rPr lang="en-US" altLang="ko-KR" sz="2000" dirty="0"/>
              <a:t>136</a:t>
            </a:r>
            <a:r>
              <a:rPr lang="ko-KR" altLang="en-US" sz="2000" dirty="0"/>
              <a:t>조제</a:t>
            </a:r>
            <a:r>
              <a:rPr lang="en-US" altLang="ko-KR" sz="2000" dirty="0"/>
              <a:t>6</a:t>
            </a:r>
            <a:r>
              <a:rPr lang="ko-KR" altLang="en-US" sz="2000" dirty="0"/>
              <a:t>항</a:t>
            </a:r>
            <a:r>
              <a:rPr lang="en-US" altLang="ko-KR" sz="2000" dirty="0"/>
              <a:t>, </a:t>
            </a:r>
            <a:r>
              <a:rPr lang="ko-KR" altLang="en-US" sz="2000" dirty="0"/>
              <a:t>제</a:t>
            </a:r>
            <a:r>
              <a:rPr lang="en-US" altLang="ko-KR" sz="2000" dirty="0"/>
              <a:t>132</a:t>
            </a:r>
            <a:r>
              <a:rPr lang="ko-KR" altLang="en-US" sz="2000" dirty="0"/>
              <a:t>조의</a:t>
            </a:r>
            <a:r>
              <a:rPr lang="en-US" altLang="ko-KR" sz="2000" dirty="0"/>
              <a:t>13</a:t>
            </a:r>
            <a:r>
              <a:rPr lang="ko-KR" altLang="en-US" sz="2000" dirty="0"/>
              <a:t>제</a:t>
            </a:r>
            <a:r>
              <a:rPr lang="en-US" altLang="ko-KR" sz="2000" dirty="0"/>
              <a:t>2</a:t>
            </a:r>
            <a:r>
              <a:rPr lang="ko-KR" altLang="en-US" sz="2000" dirty="0"/>
              <a:t>항</a:t>
            </a:r>
            <a:r>
              <a:rPr lang="en-US" altLang="ko-KR" sz="2000" dirty="0"/>
              <a:t>)</a:t>
            </a:r>
            <a:r>
              <a:rPr lang="ko-KR" altLang="en-US" dirty="0"/>
              <a:t>과 심리범위</a:t>
            </a:r>
          </a:p>
        </p:txBody>
      </p:sp>
      <p:sp>
        <p:nvSpPr>
          <p:cNvPr id="35" name="Line 5">
            <a:extLst>
              <a:ext uri="{FF2B5EF4-FFF2-40B4-BE49-F238E27FC236}">
                <a16:creationId xmlns:a16="http://schemas.microsoft.com/office/drawing/2014/main" id="{5251183A-4BFE-3E40-8177-FD4A199E65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3435" y="2357488"/>
            <a:ext cx="1180233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BAA2809-E4AC-393B-2F0A-56115BB530B3}"/>
              </a:ext>
            </a:extLst>
          </p:cNvPr>
          <p:cNvSpPr txBox="1"/>
          <p:nvPr/>
        </p:nvSpPr>
        <p:spPr>
          <a:xfrm>
            <a:off x="432937" y="2613663"/>
            <a:ext cx="702185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991E54A5-20BA-7C0A-2369-DA8B71034AB1}"/>
              </a:ext>
            </a:extLst>
          </p:cNvPr>
          <p:cNvSpPr/>
          <p:nvPr/>
        </p:nvSpPr>
        <p:spPr>
          <a:xfrm>
            <a:off x="716541" y="226355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DB39136A-1982-1784-35D4-41CA5C6A4957}"/>
              </a:ext>
            </a:extLst>
          </p:cNvPr>
          <p:cNvCxnSpPr>
            <a:cxnSpLocks/>
            <a:stCxn id="36" idx="0"/>
            <a:endCxn id="37" idx="4"/>
          </p:cNvCxnSpPr>
          <p:nvPr/>
        </p:nvCxnSpPr>
        <p:spPr>
          <a:xfrm flipH="1" flipV="1">
            <a:off x="784029" y="242489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B3BEBB6-2058-2A08-7294-35D20B639859}"/>
              </a:ext>
            </a:extLst>
          </p:cNvPr>
          <p:cNvSpPr txBox="1"/>
          <p:nvPr/>
        </p:nvSpPr>
        <p:spPr>
          <a:xfrm>
            <a:off x="1430870" y="2613663"/>
            <a:ext cx="702185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ECE2926F-1813-F163-394B-4AED7D5655CC}"/>
              </a:ext>
            </a:extLst>
          </p:cNvPr>
          <p:cNvSpPr/>
          <p:nvPr/>
        </p:nvSpPr>
        <p:spPr>
          <a:xfrm>
            <a:off x="1714475" y="226355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6CFDE729-E7E7-39C4-4743-1FA96BB6C4A3}"/>
              </a:ext>
            </a:extLst>
          </p:cNvPr>
          <p:cNvCxnSpPr>
            <a:cxnSpLocks/>
            <a:stCxn id="39" idx="0"/>
            <a:endCxn id="40" idx="4"/>
          </p:cNvCxnSpPr>
          <p:nvPr/>
        </p:nvCxnSpPr>
        <p:spPr>
          <a:xfrm flipV="1">
            <a:off x="1781963" y="2424892"/>
            <a:ext cx="0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타원 42">
            <a:extLst>
              <a:ext uri="{FF2B5EF4-FFF2-40B4-BE49-F238E27FC236}">
                <a16:creationId xmlns:a16="http://schemas.microsoft.com/office/drawing/2014/main" id="{9E51AC77-1144-B5B6-175D-E3DB76FC385E}"/>
              </a:ext>
            </a:extLst>
          </p:cNvPr>
          <p:cNvSpPr/>
          <p:nvPr/>
        </p:nvSpPr>
        <p:spPr>
          <a:xfrm>
            <a:off x="9123323" y="2263554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B6DE8C-1AD1-8376-5461-A90304E4E2CF}"/>
              </a:ext>
            </a:extLst>
          </p:cNvPr>
          <p:cNvSpPr txBox="1"/>
          <p:nvPr/>
        </p:nvSpPr>
        <p:spPr>
          <a:xfrm>
            <a:off x="4964463" y="2613365"/>
            <a:ext cx="78156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09FC626B-B4D4-75C2-1B35-34F283EA424D}"/>
              </a:ext>
            </a:extLst>
          </p:cNvPr>
          <p:cNvSpPr/>
          <p:nvPr/>
        </p:nvSpPr>
        <p:spPr>
          <a:xfrm>
            <a:off x="5287756" y="2263554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9C1DBB0E-F8F0-8397-4FF6-44BEDF241AD2}"/>
              </a:ext>
            </a:extLst>
          </p:cNvPr>
          <p:cNvCxnSpPr>
            <a:cxnSpLocks/>
            <a:stCxn id="45" idx="0"/>
            <a:endCxn id="46" idx="4"/>
          </p:cNvCxnSpPr>
          <p:nvPr/>
        </p:nvCxnSpPr>
        <p:spPr>
          <a:xfrm flipV="1">
            <a:off x="5355244" y="2424892"/>
            <a:ext cx="0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9EEC1B28-B911-5480-5650-59F43F470A0C}"/>
              </a:ext>
            </a:extLst>
          </p:cNvPr>
          <p:cNvSpPr txBox="1"/>
          <p:nvPr/>
        </p:nvSpPr>
        <p:spPr>
          <a:xfrm>
            <a:off x="3758929" y="2613663"/>
            <a:ext cx="819482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불복심판청구</a:t>
            </a: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3161A2F4-F6FD-8E6D-F9DC-5AD24E2A1D86}"/>
              </a:ext>
            </a:extLst>
          </p:cNvPr>
          <p:cNvSpPr/>
          <p:nvPr/>
        </p:nvSpPr>
        <p:spPr>
          <a:xfrm>
            <a:off x="4101182" y="226355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0B0D88FA-F799-231D-D5BA-D90E75E1F900}"/>
              </a:ext>
            </a:extLst>
          </p:cNvPr>
          <p:cNvCxnSpPr>
            <a:cxnSpLocks/>
            <a:stCxn id="51" idx="0"/>
            <a:endCxn id="54" idx="4"/>
          </p:cNvCxnSpPr>
          <p:nvPr/>
        </p:nvCxnSpPr>
        <p:spPr>
          <a:xfrm flipV="1">
            <a:off x="4168670" y="2424892"/>
            <a:ext cx="0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F0A12D0-910A-6A29-7CCD-93A14FD367D2}"/>
              </a:ext>
            </a:extLst>
          </p:cNvPr>
          <p:cNvSpPr txBox="1"/>
          <p:nvPr/>
        </p:nvSpPr>
        <p:spPr>
          <a:xfrm>
            <a:off x="6271638" y="2614117"/>
            <a:ext cx="777318" cy="2754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9488DA1C-E8BE-3E48-ACF2-EFB467DC3219}"/>
              </a:ext>
            </a:extLst>
          </p:cNvPr>
          <p:cNvSpPr/>
          <p:nvPr/>
        </p:nvSpPr>
        <p:spPr>
          <a:xfrm>
            <a:off x="6593175" y="2263991"/>
            <a:ext cx="134244" cy="1604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CB8A35CE-FD57-AD15-ADE3-F6B1D1F9865B}"/>
              </a:ext>
            </a:extLst>
          </p:cNvPr>
          <p:cNvCxnSpPr>
            <a:cxnSpLocks/>
            <a:stCxn id="56" idx="0"/>
            <a:endCxn id="57" idx="4"/>
          </p:cNvCxnSpPr>
          <p:nvPr/>
        </p:nvCxnSpPr>
        <p:spPr>
          <a:xfrm flipV="1">
            <a:off x="6660297" y="2424455"/>
            <a:ext cx="0" cy="1896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1EE0471-801D-FB62-B3BB-953C56503CDC}"/>
              </a:ext>
            </a:extLst>
          </p:cNvPr>
          <p:cNvSpPr txBox="1"/>
          <p:nvPr/>
        </p:nvSpPr>
        <p:spPr>
          <a:xfrm>
            <a:off x="7646572" y="2613663"/>
            <a:ext cx="70218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1E998AF9-3FE4-2476-DE51-FB77E0FBEAED}"/>
              </a:ext>
            </a:extLst>
          </p:cNvPr>
          <p:cNvSpPr/>
          <p:nvPr/>
        </p:nvSpPr>
        <p:spPr>
          <a:xfrm>
            <a:off x="7930176" y="2263554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C3ADDDC1-287D-2018-87F2-42596EF44B8C}"/>
              </a:ext>
            </a:extLst>
          </p:cNvPr>
          <p:cNvCxnSpPr>
            <a:cxnSpLocks/>
            <a:stCxn id="59" idx="0"/>
            <a:endCxn id="60" idx="4"/>
          </p:cNvCxnSpPr>
          <p:nvPr/>
        </p:nvCxnSpPr>
        <p:spPr>
          <a:xfrm flipH="1" flipV="1">
            <a:off x="7997664" y="242489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0A3A4E63-822E-A02A-5757-9E4545184A5A}"/>
              </a:ext>
            </a:extLst>
          </p:cNvPr>
          <p:cNvSpPr txBox="1"/>
          <p:nvPr/>
        </p:nvSpPr>
        <p:spPr>
          <a:xfrm>
            <a:off x="9888641" y="2613663"/>
            <a:ext cx="990634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AFD6DBDF-88C8-ED51-1C7A-E85890343AA0}"/>
              </a:ext>
            </a:extLst>
          </p:cNvPr>
          <p:cNvSpPr/>
          <p:nvPr/>
        </p:nvSpPr>
        <p:spPr>
          <a:xfrm>
            <a:off x="10316469" y="2263554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DC737A00-111A-3A9F-FCC8-CB11743D87DC}"/>
              </a:ext>
            </a:extLst>
          </p:cNvPr>
          <p:cNvCxnSpPr>
            <a:cxnSpLocks/>
            <a:stCxn id="62" idx="0"/>
            <a:endCxn id="63" idx="4"/>
          </p:cNvCxnSpPr>
          <p:nvPr/>
        </p:nvCxnSpPr>
        <p:spPr>
          <a:xfrm flipH="1" flipV="1">
            <a:off x="10383957" y="242489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구부러짐 74">
            <a:extLst>
              <a:ext uri="{FF2B5EF4-FFF2-40B4-BE49-F238E27FC236}">
                <a16:creationId xmlns:a16="http://schemas.microsoft.com/office/drawing/2014/main" id="{97241A9C-B9C1-F9BA-70BB-543DA042478A}"/>
              </a:ext>
            </a:extLst>
          </p:cNvPr>
          <p:cNvCxnSpPr>
            <a:stCxn id="46" idx="0"/>
            <a:endCxn id="57" idx="1"/>
          </p:cNvCxnSpPr>
          <p:nvPr/>
        </p:nvCxnSpPr>
        <p:spPr>
          <a:xfrm rot="16200000" flipH="1">
            <a:off x="5972071" y="1646727"/>
            <a:ext cx="23936" cy="1257591"/>
          </a:xfrm>
          <a:prstGeom prst="curvedConnector3">
            <a:avLst>
              <a:gd name="adj1" fmla="val -955047"/>
            </a:avLst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연결선: 구부러짐 75">
            <a:extLst>
              <a:ext uri="{FF2B5EF4-FFF2-40B4-BE49-F238E27FC236}">
                <a16:creationId xmlns:a16="http://schemas.microsoft.com/office/drawing/2014/main" id="{9C65E5E9-5EC4-EA75-8410-F17065E0F73C}"/>
              </a:ext>
            </a:extLst>
          </p:cNvPr>
          <p:cNvCxnSpPr>
            <a:cxnSpLocks/>
            <a:stCxn id="80" idx="7"/>
            <a:endCxn id="57" idx="1"/>
          </p:cNvCxnSpPr>
          <p:nvPr/>
        </p:nvCxnSpPr>
        <p:spPr>
          <a:xfrm rot="16200000" flipH="1">
            <a:off x="4759476" y="434132"/>
            <a:ext cx="309" cy="3706407"/>
          </a:xfrm>
          <a:prstGeom prst="curvedConnector3">
            <a:avLst>
              <a:gd name="adj1" fmla="val -191872492"/>
            </a:avLst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C06503DF-6812-7CB6-CD62-3DF2020FD6DC}"/>
              </a:ext>
            </a:extLst>
          </p:cNvPr>
          <p:cNvSpPr txBox="1"/>
          <p:nvPr/>
        </p:nvSpPr>
        <p:spPr>
          <a:xfrm>
            <a:off x="3999057" y="1524148"/>
            <a:ext cx="922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주지부합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F4F9257-6F1A-2E45-4589-8D0748A6D231}"/>
              </a:ext>
            </a:extLst>
          </p:cNvPr>
          <p:cNvSpPr txBox="1"/>
          <p:nvPr/>
        </p:nvSpPr>
        <p:spPr>
          <a:xfrm>
            <a:off x="2432031" y="2613663"/>
            <a:ext cx="85335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거절결정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55590291-1751-6EB2-6193-6F42F85AD9FE}"/>
              </a:ext>
            </a:extLst>
          </p:cNvPr>
          <p:cNvSpPr/>
          <p:nvPr/>
        </p:nvSpPr>
        <p:spPr>
          <a:xfrm>
            <a:off x="2791220" y="226355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FACACB0A-A4DE-A4DC-730B-F190D29CAE2C}"/>
              </a:ext>
            </a:extLst>
          </p:cNvPr>
          <p:cNvCxnSpPr>
            <a:cxnSpLocks/>
            <a:stCxn id="79" idx="0"/>
            <a:endCxn id="80" idx="4"/>
          </p:cNvCxnSpPr>
          <p:nvPr/>
        </p:nvCxnSpPr>
        <p:spPr>
          <a:xfrm flipV="1">
            <a:off x="2858708" y="2424892"/>
            <a:ext cx="0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연결선: 구부러짐 82">
            <a:extLst>
              <a:ext uri="{FF2B5EF4-FFF2-40B4-BE49-F238E27FC236}">
                <a16:creationId xmlns:a16="http://schemas.microsoft.com/office/drawing/2014/main" id="{64DA3D9A-DB75-883B-CA62-E62C8DBB7507}"/>
              </a:ext>
            </a:extLst>
          </p:cNvPr>
          <p:cNvCxnSpPr>
            <a:cxnSpLocks/>
            <a:stCxn id="40" idx="0"/>
            <a:endCxn id="80" idx="0"/>
          </p:cNvCxnSpPr>
          <p:nvPr/>
        </p:nvCxnSpPr>
        <p:spPr>
          <a:xfrm rot="5400000" flipH="1" flipV="1">
            <a:off x="2320335" y="1725182"/>
            <a:ext cx="12700" cy="1076745"/>
          </a:xfrm>
          <a:prstGeom prst="curved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9C061E1D-8A5D-9B5C-97F2-A24799232175}"/>
              </a:ext>
            </a:extLst>
          </p:cNvPr>
          <p:cNvSpPr txBox="1"/>
          <p:nvPr/>
        </p:nvSpPr>
        <p:spPr>
          <a:xfrm>
            <a:off x="1888593" y="1899156"/>
            <a:ext cx="922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주지부합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480AA7B-489A-C562-9860-63699DC2002E}"/>
              </a:ext>
            </a:extLst>
          </p:cNvPr>
          <p:cNvSpPr txBox="1"/>
          <p:nvPr/>
        </p:nvSpPr>
        <p:spPr>
          <a:xfrm>
            <a:off x="5523015" y="1908782"/>
            <a:ext cx="922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주지부합</a:t>
            </a:r>
          </a:p>
        </p:txBody>
      </p:sp>
      <p:cxnSp>
        <p:nvCxnSpPr>
          <p:cNvPr id="95" name="연결선: 구부러짐 94">
            <a:extLst>
              <a:ext uri="{FF2B5EF4-FFF2-40B4-BE49-F238E27FC236}">
                <a16:creationId xmlns:a16="http://schemas.microsoft.com/office/drawing/2014/main" id="{CD6A29F1-F8BC-ADB3-F99A-68A5DC0C4D12}"/>
              </a:ext>
            </a:extLst>
          </p:cNvPr>
          <p:cNvCxnSpPr>
            <a:cxnSpLocks/>
            <a:stCxn id="80" idx="7"/>
            <a:endCxn id="63" idx="0"/>
          </p:cNvCxnSpPr>
          <p:nvPr/>
        </p:nvCxnSpPr>
        <p:spPr>
          <a:xfrm rot="5400000" flipH="1" flipV="1">
            <a:off x="6633379" y="-1463396"/>
            <a:ext cx="23627" cy="7477529"/>
          </a:xfrm>
          <a:prstGeom prst="curvedConnector3">
            <a:avLst>
              <a:gd name="adj1" fmla="val 4178834"/>
            </a:avLst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84F7B1A1-5E10-4BB1-8077-290AECE45BB5}"/>
              </a:ext>
            </a:extLst>
          </p:cNvPr>
          <p:cNvSpPr txBox="1"/>
          <p:nvPr/>
        </p:nvSpPr>
        <p:spPr>
          <a:xfrm>
            <a:off x="5749478" y="1137956"/>
            <a:ext cx="922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주지부합</a:t>
            </a:r>
          </a:p>
        </p:txBody>
      </p:sp>
      <p:cxnSp>
        <p:nvCxnSpPr>
          <p:cNvPr id="103" name="연결선: 구부러짐 102">
            <a:extLst>
              <a:ext uri="{FF2B5EF4-FFF2-40B4-BE49-F238E27FC236}">
                <a16:creationId xmlns:a16="http://schemas.microsoft.com/office/drawing/2014/main" id="{C8F8CA34-98C6-11FE-3F27-5EDF6291FC80}"/>
              </a:ext>
            </a:extLst>
          </p:cNvPr>
          <p:cNvCxnSpPr>
            <a:cxnSpLocks/>
            <a:stCxn id="57" idx="0"/>
            <a:endCxn id="63" idx="1"/>
          </p:cNvCxnSpPr>
          <p:nvPr/>
        </p:nvCxnSpPr>
        <p:spPr>
          <a:xfrm rot="16200000" flipH="1">
            <a:off x="8486671" y="437617"/>
            <a:ext cx="23190" cy="3675939"/>
          </a:xfrm>
          <a:prstGeom prst="curvedConnector3">
            <a:avLst>
              <a:gd name="adj1" fmla="val -2417999"/>
            </a:avLst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F7355778-B2D5-9A6B-FE21-04CD8C783FF4}"/>
              </a:ext>
            </a:extLst>
          </p:cNvPr>
          <p:cNvSpPr txBox="1"/>
          <p:nvPr/>
        </p:nvSpPr>
        <p:spPr>
          <a:xfrm>
            <a:off x="7754359" y="1538023"/>
            <a:ext cx="922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highlight>
                  <a:srgbClr val="FFFF00"/>
                </a:highlight>
              </a:rPr>
              <a:t>주지부합</a:t>
            </a:r>
          </a:p>
        </p:txBody>
      </p:sp>
      <p:sp>
        <p:nvSpPr>
          <p:cNvPr id="118" name="타원 117">
            <a:extLst>
              <a:ext uri="{FF2B5EF4-FFF2-40B4-BE49-F238E27FC236}">
                <a16:creationId xmlns:a16="http://schemas.microsoft.com/office/drawing/2014/main" id="{A09A4EEA-5CB0-309F-3B93-087C2F41CBD3}"/>
              </a:ext>
            </a:extLst>
          </p:cNvPr>
          <p:cNvSpPr/>
          <p:nvPr/>
        </p:nvSpPr>
        <p:spPr>
          <a:xfrm>
            <a:off x="1322290" y="2707907"/>
            <a:ext cx="269967" cy="269967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993C5F1E-B870-2CC6-0E90-E23723210857}"/>
              </a:ext>
            </a:extLst>
          </p:cNvPr>
          <p:cNvSpPr/>
          <p:nvPr/>
        </p:nvSpPr>
        <p:spPr>
          <a:xfrm>
            <a:off x="8676406" y="2754629"/>
            <a:ext cx="269967" cy="269967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A6853D2F-2028-E902-DD72-923DF8B62712}"/>
              </a:ext>
            </a:extLst>
          </p:cNvPr>
          <p:cNvSpPr/>
          <p:nvPr/>
        </p:nvSpPr>
        <p:spPr>
          <a:xfrm>
            <a:off x="4864433" y="2716609"/>
            <a:ext cx="269967" cy="269967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21" name="말풍선: 모서리가 둥근 사각형 120">
            <a:extLst>
              <a:ext uri="{FF2B5EF4-FFF2-40B4-BE49-F238E27FC236}">
                <a16:creationId xmlns:a16="http://schemas.microsoft.com/office/drawing/2014/main" id="{828F91E2-ACDC-37E9-6237-924C08623DA9}"/>
              </a:ext>
            </a:extLst>
          </p:cNvPr>
          <p:cNvSpPr/>
          <p:nvPr/>
        </p:nvSpPr>
        <p:spPr>
          <a:xfrm>
            <a:off x="1820125" y="3164766"/>
            <a:ext cx="1312986" cy="461665"/>
          </a:xfrm>
          <a:prstGeom prst="wedgeRoundRectCallout">
            <a:avLst>
              <a:gd name="adj1" fmla="val -51794"/>
              <a:gd name="adj2" fmla="val -10269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출원인의 의견서</a:t>
            </a:r>
            <a:r>
              <a:rPr lang="en-US" altLang="ko-KR" sz="1100" dirty="0"/>
              <a:t>/</a:t>
            </a:r>
          </a:p>
          <a:p>
            <a:pPr algn="ctr"/>
            <a:r>
              <a:rPr lang="ko-KR" altLang="en-US" sz="1100" dirty="0"/>
              <a:t>보정서 제출 기회</a:t>
            </a:r>
          </a:p>
        </p:txBody>
      </p: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977D3656-4257-BB5D-D125-61572B8ED1BC}"/>
              </a:ext>
            </a:extLst>
          </p:cNvPr>
          <p:cNvCxnSpPr>
            <a:cxnSpLocks/>
            <a:stCxn id="122" idx="0"/>
          </p:cNvCxnSpPr>
          <p:nvPr/>
        </p:nvCxnSpPr>
        <p:spPr>
          <a:xfrm flipV="1">
            <a:off x="9200187" y="2424892"/>
            <a:ext cx="0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말풍선: 모서리가 둥근 사각형 124">
            <a:extLst>
              <a:ext uri="{FF2B5EF4-FFF2-40B4-BE49-F238E27FC236}">
                <a16:creationId xmlns:a16="http://schemas.microsoft.com/office/drawing/2014/main" id="{2882B026-0058-641C-0A13-69CADA28EA5A}"/>
              </a:ext>
            </a:extLst>
          </p:cNvPr>
          <p:cNvSpPr/>
          <p:nvPr/>
        </p:nvSpPr>
        <p:spPr>
          <a:xfrm>
            <a:off x="9123322" y="3164766"/>
            <a:ext cx="1849477" cy="461665"/>
          </a:xfrm>
          <a:prstGeom prst="wedgeRoundRectCallout">
            <a:avLst>
              <a:gd name="adj1" fmla="val -44106"/>
              <a:gd name="adj2" fmla="val -108523"/>
              <a:gd name="adj3" fmla="val 16667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지식재산처장이 </a:t>
            </a:r>
            <a:endParaRPr lang="en-US" altLang="ko-KR" sz="1100" dirty="0"/>
          </a:p>
          <a:p>
            <a:pPr algn="ctr"/>
            <a:r>
              <a:rPr lang="ko-KR" altLang="en-US" sz="1100" dirty="0"/>
              <a:t>새로운 거절이유 주장 불가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83CADD08-8FA2-EDBA-AD8C-169FB317E54F}"/>
              </a:ext>
            </a:extLst>
          </p:cNvPr>
          <p:cNvSpPr/>
          <p:nvPr/>
        </p:nvSpPr>
        <p:spPr>
          <a:xfrm>
            <a:off x="367737" y="1037196"/>
            <a:ext cx="2917648" cy="431004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거절결정불복심판의 취소소송</a:t>
            </a:r>
          </a:p>
        </p:txBody>
      </p:sp>
      <p:cxnSp>
        <p:nvCxnSpPr>
          <p:cNvPr id="142" name="직선 연결선 141">
            <a:extLst>
              <a:ext uri="{FF2B5EF4-FFF2-40B4-BE49-F238E27FC236}">
                <a16:creationId xmlns:a16="http://schemas.microsoft.com/office/drawing/2014/main" id="{D64F20E5-B5A3-BF60-DD12-F2593091AAA8}"/>
              </a:ext>
            </a:extLst>
          </p:cNvPr>
          <p:cNvCxnSpPr/>
          <p:nvPr/>
        </p:nvCxnSpPr>
        <p:spPr>
          <a:xfrm>
            <a:off x="0" y="3818964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>
            <a:extLst>
              <a:ext uri="{FF2B5EF4-FFF2-40B4-BE49-F238E27FC236}">
                <a16:creationId xmlns:a16="http://schemas.microsoft.com/office/drawing/2014/main" id="{44D324CD-38EC-7CA2-4024-53F8929DAD4D}"/>
              </a:ext>
            </a:extLst>
          </p:cNvPr>
          <p:cNvSpPr txBox="1"/>
          <p:nvPr/>
        </p:nvSpPr>
        <p:spPr>
          <a:xfrm>
            <a:off x="8809406" y="5631236"/>
            <a:ext cx="781562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불가</a:t>
            </a:r>
          </a:p>
        </p:txBody>
      </p:sp>
      <p:sp>
        <p:nvSpPr>
          <p:cNvPr id="144" name="Line 5">
            <a:extLst>
              <a:ext uri="{FF2B5EF4-FFF2-40B4-BE49-F238E27FC236}">
                <a16:creationId xmlns:a16="http://schemas.microsoft.com/office/drawing/2014/main" id="{68CCFA0C-613F-7910-2E67-C351191C2F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3435" y="5375359"/>
            <a:ext cx="1180233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6562E5EA-A1AF-F192-46CA-B8FF84F691B8}"/>
              </a:ext>
            </a:extLst>
          </p:cNvPr>
          <p:cNvSpPr txBox="1"/>
          <p:nvPr/>
        </p:nvSpPr>
        <p:spPr>
          <a:xfrm>
            <a:off x="432937" y="5631534"/>
            <a:ext cx="702185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146" name="타원 145">
            <a:extLst>
              <a:ext uri="{FF2B5EF4-FFF2-40B4-BE49-F238E27FC236}">
                <a16:creationId xmlns:a16="http://schemas.microsoft.com/office/drawing/2014/main" id="{C9C4E930-662A-B2B4-AD72-581A61189FC2}"/>
              </a:ext>
            </a:extLst>
          </p:cNvPr>
          <p:cNvSpPr/>
          <p:nvPr/>
        </p:nvSpPr>
        <p:spPr>
          <a:xfrm>
            <a:off x="716541" y="5281425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36395C82-6B15-4E71-5043-9357C3D9F0E4}"/>
              </a:ext>
            </a:extLst>
          </p:cNvPr>
          <p:cNvCxnSpPr>
            <a:cxnSpLocks/>
            <a:stCxn id="145" idx="0"/>
            <a:endCxn id="146" idx="4"/>
          </p:cNvCxnSpPr>
          <p:nvPr/>
        </p:nvCxnSpPr>
        <p:spPr>
          <a:xfrm flipH="1" flipV="1">
            <a:off x="784029" y="544276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타원 150">
            <a:extLst>
              <a:ext uri="{FF2B5EF4-FFF2-40B4-BE49-F238E27FC236}">
                <a16:creationId xmlns:a16="http://schemas.microsoft.com/office/drawing/2014/main" id="{9A61E924-4FF8-BB25-60C7-573FC981744F}"/>
              </a:ext>
            </a:extLst>
          </p:cNvPr>
          <p:cNvSpPr/>
          <p:nvPr/>
        </p:nvSpPr>
        <p:spPr>
          <a:xfrm>
            <a:off x="9123323" y="5281425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B84B7A51-0C4B-FC89-8808-C93639A22599}"/>
              </a:ext>
            </a:extLst>
          </p:cNvPr>
          <p:cNvSpPr txBox="1"/>
          <p:nvPr/>
        </p:nvSpPr>
        <p:spPr>
          <a:xfrm>
            <a:off x="4479194" y="5631236"/>
            <a:ext cx="78156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1116D8E9-09BF-9967-39E1-6AE3C4E293FE}"/>
              </a:ext>
            </a:extLst>
          </p:cNvPr>
          <p:cNvSpPr/>
          <p:nvPr/>
        </p:nvSpPr>
        <p:spPr>
          <a:xfrm>
            <a:off x="4802487" y="5281425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54" name="직선 연결선 153">
            <a:extLst>
              <a:ext uri="{FF2B5EF4-FFF2-40B4-BE49-F238E27FC236}">
                <a16:creationId xmlns:a16="http://schemas.microsoft.com/office/drawing/2014/main" id="{13D2B1EB-84D5-2E82-4DA6-FFFF51878D7D}"/>
              </a:ext>
            </a:extLst>
          </p:cNvPr>
          <p:cNvCxnSpPr>
            <a:cxnSpLocks/>
            <a:stCxn id="152" idx="0"/>
            <a:endCxn id="153" idx="4"/>
          </p:cNvCxnSpPr>
          <p:nvPr/>
        </p:nvCxnSpPr>
        <p:spPr>
          <a:xfrm flipV="1">
            <a:off x="4869975" y="5442763"/>
            <a:ext cx="0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25BFA228-BADF-9A90-27C0-58050E6F7538}"/>
              </a:ext>
            </a:extLst>
          </p:cNvPr>
          <p:cNvSpPr txBox="1"/>
          <p:nvPr/>
        </p:nvSpPr>
        <p:spPr>
          <a:xfrm>
            <a:off x="3131926" y="5631534"/>
            <a:ext cx="81948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취소신청</a:t>
            </a:r>
          </a:p>
        </p:txBody>
      </p:sp>
      <p:sp>
        <p:nvSpPr>
          <p:cNvPr id="156" name="타원 155">
            <a:extLst>
              <a:ext uri="{FF2B5EF4-FFF2-40B4-BE49-F238E27FC236}">
                <a16:creationId xmlns:a16="http://schemas.microsoft.com/office/drawing/2014/main" id="{527F46D6-8781-5396-3B68-4EC07B898D5F}"/>
              </a:ext>
            </a:extLst>
          </p:cNvPr>
          <p:cNvSpPr/>
          <p:nvPr/>
        </p:nvSpPr>
        <p:spPr>
          <a:xfrm>
            <a:off x="3474179" y="5281425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9E21326D-57EF-E325-5809-7200E06418E0}"/>
              </a:ext>
            </a:extLst>
          </p:cNvPr>
          <p:cNvCxnSpPr>
            <a:cxnSpLocks/>
            <a:stCxn id="155" idx="0"/>
            <a:endCxn id="156" idx="4"/>
          </p:cNvCxnSpPr>
          <p:nvPr/>
        </p:nvCxnSpPr>
        <p:spPr>
          <a:xfrm flipV="1">
            <a:off x="3541667" y="5442763"/>
            <a:ext cx="0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A26CE16E-F193-9C52-9D4B-1AF87B385187}"/>
              </a:ext>
            </a:extLst>
          </p:cNvPr>
          <p:cNvSpPr txBox="1"/>
          <p:nvPr/>
        </p:nvSpPr>
        <p:spPr>
          <a:xfrm>
            <a:off x="6271638" y="5631988"/>
            <a:ext cx="777318" cy="2754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취소결정</a:t>
            </a:r>
          </a:p>
        </p:txBody>
      </p:sp>
      <p:sp>
        <p:nvSpPr>
          <p:cNvPr id="159" name="타원 158">
            <a:extLst>
              <a:ext uri="{FF2B5EF4-FFF2-40B4-BE49-F238E27FC236}">
                <a16:creationId xmlns:a16="http://schemas.microsoft.com/office/drawing/2014/main" id="{FFE426F8-B09E-328B-5FBB-B98C9C63902B}"/>
              </a:ext>
            </a:extLst>
          </p:cNvPr>
          <p:cNvSpPr/>
          <p:nvPr/>
        </p:nvSpPr>
        <p:spPr>
          <a:xfrm>
            <a:off x="6593175" y="5281862"/>
            <a:ext cx="134244" cy="1604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60" name="직선 연결선 159">
            <a:extLst>
              <a:ext uri="{FF2B5EF4-FFF2-40B4-BE49-F238E27FC236}">
                <a16:creationId xmlns:a16="http://schemas.microsoft.com/office/drawing/2014/main" id="{97B56DCD-96F0-6039-35A7-4C0BA1960D80}"/>
              </a:ext>
            </a:extLst>
          </p:cNvPr>
          <p:cNvCxnSpPr>
            <a:cxnSpLocks/>
            <a:stCxn id="158" idx="0"/>
            <a:endCxn id="159" idx="4"/>
          </p:cNvCxnSpPr>
          <p:nvPr/>
        </p:nvCxnSpPr>
        <p:spPr>
          <a:xfrm flipV="1">
            <a:off x="6660297" y="5442326"/>
            <a:ext cx="0" cy="1896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3E0AD063-6565-3C51-6FD9-FCDEEE18FD25}"/>
              </a:ext>
            </a:extLst>
          </p:cNvPr>
          <p:cNvSpPr txBox="1"/>
          <p:nvPr/>
        </p:nvSpPr>
        <p:spPr>
          <a:xfrm>
            <a:off x="7646572" y="5631534"/>
            <a:ext cx="70218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AA79E3A4-A6E1-DBB3-697B-FCCC3315F1C4}"/>
              </a:ext>
            </a:extLst>
          </p:cNvPr>
          <p:cNvSpPr/>
          <p:nvPr/>
        </p:nvSpPr>
        <p:spPr>
          <a:xfrm>
            <a:off x="7930176" y="5281425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63" name="직선 연결선 162">
            <a:extLst>
              <a:ext uri="{FF2B5EF4-FFF2-40B4-BE49-F238E27FC236}">
                <a16:creationId xmlns:a16="http://schemas.microsoft.com/office/drawing/2014/main" id="{4CEFBD0D-37C9-25F9-C561-581C330454F5}"/>
              </a:ext>
            </a:extLst>
          </p:cNvPr>
          <p:cNvCxnSpPr>
            <a:cxnSpLocks/>
            <a:stCxn id="161" idx="0"/>
            <a:endCxn id="162" idx="4"/>
          </p:cNvCxnSpPr>
          <p:nvPr/>
        </p:nvCxnSpPr>
        <p:spPr>
          <a:xfrm flipH="1" flipV="1">
            <a:off x="7997664" y="544276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B113E255-1B49-E451-F3B8-F4F06E572B05}"/>
              </a:ext>
            </a:extLst>
          </p:cNvPr>
          <p:cNvSpPr txBox="1"/>
          <p:nvPr/>
        </p:nvSpPr>
        <p:spPr>
          <a:xfrm>
            <a:off x="9888641" y="5631534"/>
            <a:ext cx="990634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A9EEEED0-A77D-50FC-A17B-B6EC93ADD017}"/>
              </a:ext>
            </a:extLst>
          </p:cNvPr>
          <p:cNvSpPr/>
          <p:nvPr/>
        </p:nvSpPr>
        <p:spPr>
          <a:xfrm>
            <a:off x="10316469" y="5281425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66" name="직선 연결선 165">
            <a:extLst>
              <a:ext uri="{FF2B5EF4-FFF2-40B4-BE49-F238E27FC236}">
                <a16:creationId xmlns:a16="http://schemas.microsoft.com/office/drawing/2014/main" id="{56FBF0C9-3E3D-6D8B-4A0B-F7543A4699CA}"/>
              </a:ext>
            </a:extLst>
          </p:cNvPr>
          <p:cNvCxnSpPr>
            <a:cxnSpLocks/>
            <a:stCxn id="164" idx="0"/>
            <a:endCxn id="165" idx="4"/>
          </p:cNvCxnSpPr>
          <p:nvPr/>
        </p:nvCxnSpPr>
        <p:spPr>
          <a:xfrm flipH="1" flipV="1">
            <a:off x="10383957" y="5442763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연결선: 구부러짐 166">
            <a:extLst>
              <a:ext uri="{FF2B5EF4-FFF2-40B4-BE49-F238E27FC236}">
                <a16:creationId xmlns:a16="http://schemas.microsoft.com/office/drawing/2014/main" id="{A9F1974D-A794-C394-D53C-011F70838EBF}"/>
              </a:ext>
            </a:extLst>
          </p:cNvPr>
          <p:cNvCxnSpPr>
            <a:stCxn id="153" idx="0"/>
            <a:endCxn id="159" idx="1"/>
          </p:cNvCxnSpPr>
          <p:nvPr/>
        </p:nvCxnSpPr>
        <p:spPr>
          <a:xfrm rot="16200000" flipH="1">
            <a:off x="5729437" y="4421963"/>
            <a:ext cx="23936" cy="1742860"/>
          </a:xfrm>
          <a:prstGeom prst="curvedConnector3">
            <a:avLst>
              <a:gd name="adj1" fmla="val -955047"/>
            </a:avLst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86E5723C-F3E8-91B6-EDE3-8335AAABC4A7}"/>
              </a:ext>
            </a:extLst>
          </p:cNvPr>
          <p:cNvSpPr txBox="1"/>
          <p:nvPr/>
        </p:nvSpPr>
        <p:spPr>
          <a:xfrm>
            <a:off x="5355226" y="4894448"/>
            <a:ext cx="922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주지부합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189AADBE-B9B0-9383-6A80-54E6AFB7F605}"/>
              </a:ext>
            </a:extLst>
          </p:cNvPr>
          <p:cNvSpPr txBox="1"/>
          <p:nvPr/>
        </p:nvSpPr>
        <p:spPr>
          <a:xfrm>
            <a:off x="1786490" y="5631534"/>
            <a:ext cx="853354" cy="2769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29115FCE-8D9A-42AE-CA4E-5187E9B4F7EE}"/>
              </a:ext>
            </a:extLst>
          </p:cNvPr>
          <p:cNvSpPr/>
          <p:nvPr/>
        </p:nvSpPr>
        <p:spPr>
          <a:xfrm>
            <a:off x="2145679" y="5281425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B4BE6546-5B61-132C-6410-BD6CFF73695C}"/>
              </a:ext>
            </a:extLst>
          </p:cNvPr>
          <p:cNvCxnSpPr>
            <a:cxnSpLocks/>
            <a:stCxn id="170" idx="0"/>
            <a:endCxn id="171" idx="4"/>
          </p:cNvCxnSpPr>
          <p:nvPr/>
        </p:nvCxnSpPr>
        <p:spPr>
          <a:xfrm flipV="1">
            <a:off x="2213167" y="5442763"/>
            <a:ext cx="0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연결선: 구부러짐 177">
            <a:extLst>
              <a:ext uri="{FF2B5EF4-FFF2-40B4-BE49-F238E27FC236}">
                <a16:creationId xmlns:a16="http://schemas.microsoft.com/office/drawing/2014/main" id="{9B62A5B2-E6C5-130F-E726-08A20F2C286A}"/>
              </a:ext>
            </a:extLst>
          </p:cNvPr>
          <p:cNvCxnSpPr>
            <a:cxnSpLocks/>
            <a:stCxn id="159" idx="0"/>
            <a:endCxn id="165" idx="1"/>
          </p:cNvCxnSpPr>
          <p:nvPr/>
        </p:nvCxnSpPr>
        <p:spPr>
          <a:xfrm rot="16200000" flipH="1">
            <a:off x="8486671" y="3455488"/>
            <a:ext cx="23190" cy="3675939"/>
          </a:xfrm>
          <a:prstGeom prst="curvedConnector3">
            <a:avLst>
              <a:gd name="adj1" fmla="val -2417999"/>
            </a:avLst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타원 180">
            <a:extLst>
              <a:ext uri="{FF2B5EF4-FFF2-40B4-BE49-F238E27FC236}">
                <a16:creationId xmlns:a16="http://schemas.microsoft.com/office/drawing/2014/main" id="{8B3DD5CC-AB50-E6EE-6E53-F387F1FD266B}"/>
              </a:ext>
            </a:extLst>
          </p:cNvPr>
          <p:cNvSpPr/>
          <p:nvPr/>
        </p:nvSpPr>
        <p:spPr>
          <a:xfrm>
            <a:off x="8676406" y="5772500"/>
            <a:ext cx="269967" cy="269967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cxnSp>
        <p:nvCxnSpPr>
          <p:cNvPr id="184" name="직선 연결선 183">
            <a:extLst>
              <a:ext uri="{FF2B5EF4-FFF2-40B4-BE49-F238E27FC236}">
                <a16:creationId xmlns:a16="http://schemas.microsoft.com/office/drawing/2014/main" id="{C483A70D-2E1D-4150-2B6C-EFD175F5FAE8}"/>
              </a:ext>
            </a:extLst>
          </p:cNvPr>
          <p:cNvCxnSpPr>
            <a:cxnSpLocks/>
            <a:stCxn id="143" idx="0"/>
          </p:cNvCxnSpPr>
          <p:nvPr/>
        </p:nvCxnSpPr>
        <p:spPr>
          <a:xfrm flipV="1">
            <a:off x="9200187" y="5442763"/>
            <a:ext cx="0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말풍선: 모서리가 둥근 사각형 184">
            <a:extLst>
              <a:ext uri="{FF2B5EF4-FFF2-40B4-BE49-F238E27FC236}">
                <a16:creationId xmlns:a16="http://schemas.microsoft.com/office/drawing/2014/main" id="{DC81713C-D072-BCF6-CB1E-7EC39FA54000}"/>
              </a:ext>
            </a:extLst>
          </p:cNvPr>
          <p:cNvSpPr/>
          <p:nvPr/>
        </p:nvSpPr>
        <p:spPr>
          <a:xfrm>
            <a:off x="9123322" y="6182637"/>
            <a:ext cx="1849477" cy="461665"/>
          </a:xfrm>
          <a:prstGeom prst="wedgeRoundRectCallout">
            <a:avLst>
              <a:gd name="adj1" fmla="val -44106"/>
              <a:gd name="adj2" fmla="val -108523"/>
              <a:gd name="adj3" fmla="val 16667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지식재산처장이 </a:t>
            </a:r>
            <a:endParaRPr lang="en-US" altLang="ko-KR" sz="1100" dirty="0"/>
          </a:p>
          <a:p>
            <a:pPr algn="ctr"/>
            <a:r>
              <a:rPr lang="ko-KR" altLang="en-US" sz="1100" dirty="0"/>
              <a:t>새로운 취소사유 주장 불가</a:t>
            </a:r>
          </a:p>
        </p:txBody>
      </p:sp>
      <p:sp>
        <p:nvSpPr>
          <p:cNvPr id="186" name="사각형: 둥근 모서리 185">
            <a:extLst>
              <a:ext uri="{FF2B5EF4-FFF2-40B4-BE49-F238E27FC236}">
                <a16:creationId xmlns:a16="http://schemas.microsoft.com/office/drawing/2014/main" id="{667A8B85-44E3-0332-4777-C111669222A9}"/>
              </a:ext>
            </a:extLst>
          </p:cNvPr>
          <p:cNvSpPr/>
          <p:nvPr/>
        </p:nvSpPr>
        <p:spPr>
          <a:xfrm>
            <a:off x="367737" y="4055067"/>
            <a:ext cx="2917648" cy="431004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특허취소결정의 취소소송</a:t>
            </a:r>
          </a:p>
        </p:txBody>
      </p:sp>
      <p:sp>
        <p:nvSpPr>
          <p:cNvPr id="190" name="타원 189">
            <a:extLst>
              <a:ext uri="{FF2B5EF4-FFF2-40B4-BE49-F238E27FC236}">
                <a16:creationId xmlns:a16="http://schemas.microsoft.com/office/drawing/2014/main" id="{6516B277-02FC-B159-32AC-B962DF339C5A}"/>
              </a:ext>
            </a:extLst>
          </p:cNvPr>
          <p:cNvSpPr/>
          <p:nvPr/>
        </p:nvSpPr>
        <p:spPr>
          <a:xfrm>
            <a:off x="4352442" y="5769735"/>
            <a:ext cx="269967" cy="269967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4CBB2EA-1639-5214-E8AC-D4D3D3B25751}"/>
              </a:ext>
            </a:extLst>
          </p:cNvPr>
          <p:cNvSpPr txBox="1"/>
          <p:nvPr/>
        </p:nvSpPr>
        <p:spPr>
          <a:xfrm>
            <a:off x="7930176" y="4592161"/>
            <a:ext cx="922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주지부합</a:t>
            </a:r>
          </a:p>
        </p:txBody>
      </p:sp>
      <p:sp>
        <p:nvSpPr>
          <p:cNvPr id="192" name="말풍선: 모서리가 둥근 사각형 191">
            <a:extLst>
              <a:ext uri="{FF2B5EF4-FFF2-40B4-BE49-F238E27FC236}">
                <a16:creationId xmlns:a16="http://schemas.microsoft.com/office/drawing/2014/main" id="{DFC431A8-454E-8F50-C25D-224F713846EA}"/>
              </a:ext>
            </a:extLst>
          </p:cNvPr>
          <p:cNvSpPr/>
          <p:nvPr/>
        </p:nvSpPr>
        <p:spPr>
          <a:xfrm>
            <a:off x="4999416" y="6169397"/>
            <a:ext cx="1445646" cy="461665"/>
          </a:xfrm>
          <a:prstGeom prst="wedgeRoundRectCallout">
            <a:avLst>
              <a:gd name="adj1" fmla="val -51794"/>
              <a:gd name="adj2" fmla="val -102697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특허권자의 </a:t>
            </a:r>
            <a:r>
              <a:rPr lang="ko-KR" altLang="en-US" sz="1100"/>
              <a:t>의견서</a:t>
            </a:r>
            <a:r>
              <a:rPr lang="en-US" altLang="ko-KR" sz="1100" dirty="0"/>
              <a:t>/</a:t>
            </a:r>
            <a:r>
              <a:rPr lang="ko-KR" altLang="en-US" sz="1100" dirty="0"/>
              <a:t>정정청구 제출 기회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E4292AD-3683-5A00-35FB-256CE3EF797D}"/>
              </a:ext>
            </a:extLst>
          </p:cNvPr>
          <p:cNvSpPr txBox="1"/>
          <p:nvPr/>
        </p:nvSpPr>
        <p:spPr>
          <a:xfrm>
            <a:off x="1246757" y="2949503"/>
            <a:ext cx="7072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63</a:t>
            </a:r>
            <a:r>
              <a:rPr lang="ko-KR" altLang="en-US" sz="14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C6D3376C-3AB3-3419-6EC6-AA04869E05A3}"/>
              </a:ext>
            </a:extLst>
          </p:cNvPr>
          <p:cNvSpPr txBox="1"/>
          <p:nvPr/>
        </p:nvSpPr>
        <p:spPr>
          <a:xfrm>
            <a:off x="4831416" y="3011687"/>
            <a:ext cx="17524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170</a:t>
            </a:r>
            <a:r>
              <a:rPr lang="ko-KR" altLang="en-US" sz="1400" dirty="0">
                <a:solidFill>
                  <a:srgbClr val="FF0000"/>
                </a:solidFill>
              </a:rPr>
              <a:t>조 준용 제</a:t>
            </a:r>
            <a:r>
              <a:rPr lang="en-US" altLang="ko-KR" sz="1400" dirty="0">
                <a:solidFill>
                  <a:srgbClr val="FF0000"/>
                </a:solidFill>
              </a:rPr>
              <a:t>63</a:t>
            </a:r>
            <a:r>
              <a:rPr lang="ko-KR" altLang="en-US" sz="1400" dirty="0">
                <a:solidFill>
                  <a:srgbClr val="FF0000"/>
                </a:solidFill>
              </a:rPr>
              <a:t>조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92BA783B-4275-911E-641F-F8EB2F12DE7E}"/>
              </a:ext>
            </a:extLst>
          </p:cNvPr>
          <p:cNvSpPr txBox="1"/>
          <p:nvPr/>
        </p:nvSpPr>
        <p:spPr>
          <a:xfrm>
            <a:off x="3882534" y="6046734"/>
            <a:ext cx="11673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132</a:t>
            </a:r>
            <a:r>
              <a:rPr lang="ko-KR" altLang="en-US" sz="1400" dirty="0">
                <a:solidFill>
                  <a:srgbClr val="FF0000"/>
                </a:solidFill>
              </a:rPr>
              <a:t>조의</a:t>
            </a:r>
            <a:r>
              <a:rPr lang="en-US" altLang="ko-KR" sz="1400" dirty="0">
                <a:solidFill>
                  <a:srgbClr val="FF0000"/>
                </a:solidFill>
              </a:rPr>
              <a:t>13</a:t>
            </a:r>
          </a:p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D38941-ECC3-57C2-AF37-110CE1535D7A}"/>
              </a:ext>
            </a:extLst>
          </p:cNvPr>
          <p:cNvSpPr txBox="1"/>
          <p:nvPr/>
        </p:nvSpPr>
        <p:spPr>
          <a:xfrm>
            <a:off x="4999416" y="1813303"/>
            <a:ext cx="355810" cy="2893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txBody>
          <a:bodyPr wrap="none" lIns="36000" tIns="0" rIns="36000" bIns="0" rtlCol="0" anchor="ctr">
            <a:noAutofit/>
          </a:bodyPr>
          <a:lstStyle/>
          <a:p>
            <a:pPr algn="ctr"/>
            <a:r>
              <a:rPr lang="en-US" altLang="ko-KR" dirty="0"/>
              <a:t>or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544679-AECA-EB3C-C287-185469008347}"/>
              </a:ext>
            </a:extLst>
          </p:cNvPr>
          <p:cNvSpPr txBox="1"/>
          <p:nvPr/>
        </p:nvSpPr>
        <p:spPr>
          <a:xfrm>
            <a:off x="7029387" y="1413969"/>
            <a:ext cx="355810" cy="2893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txBody>
          <a:bodyPr wrap="none" lIns="36000" tIns="0" rIns="36000" bIns="0" rtlCol="0" anchor="ctr">
            <a:noAutofit/>
          </a:bodyPr>
          <a:lstStyle/>
          <a:p>
            <a:pPr algn="ctr"/>
            <a:r>
              <a:rPr lang="en-US" altLang="ko-KR" dirty="0"/>
              <a:t>or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664634-E66D-9CFA-7990-7C5941F9551B}"/>
              </a:ext>
            </a:extLst>
          </p:cNvPr>
          <p:cNvSpPr txBox="1"/>
          <p:nvPr/>
        </p:nvSpPr>
        <p:spPr>
          <a:xfrm>
            <a:off x="3324331" y="3925658"/>
            <a:ext cx="8621434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200" dirty="0"/>
              <a:t>특허취소결정에 대한 취소소송에서도</a:t>
            </a:r>
            <a:r>
              <a:rPr lang="en-US" altLang="ko-KR" sz="1200" dirty="0"/>
              <a:t>, </a:t>
            </a:r>
            <a:r>
              <a:rPr lang="ko-KR" altLang="en-US" sz="1200" dirty="0"/>
              <a:t>피고인 지식재산처장이 특허취소결정 당시 취소신청이유로 삼지 아니한 새로운 사유를 주장할 수 있다면 특허권자는 새로운 취소신청이유에 대하여 의견서를 제출하거나 정정청구를 할 수 있는 기회를 박탈당하는 결과가 되므로</a:t>
            </a:r>
            <a:r>
              <a:rPr lang="en-US" altLang="ko-KR" sz="1200" dirty="0"/>
              <a:t>, </a:t>
            </a:r>
            <a:r>
              <a:rPr lang="ko-KR" altLang="en-US" sz="1200" dirty="0"/>
              <a:t>이를 제한함이 바람직할 것이다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5291450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주지관용기술과</a:t>
            </a:r>
            <a:r>
              <a:rPr lang="ko-KR" altLang="en-US" dirty="0"/>
              <a:t> </a:t>
            </a:r>
            <a:r>
              <a:rPr lang="ko-KR" altLang="en-US" dirty="0" err="1"/>
              <a:t>불요증사실</a:t>
            </a:r>
            <a:endParaRPr lang="ko-KR" altLang="en-US" dirty="0"/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EB7B38F-3E35-4B4C-A188-B7F37445C734}"/>
              </a:ext>
            </a:extLst>
          </p:cNvPr>
          <p:cNvCxnSpPr/>
          <p:nvPr/>
        </p:nvCxnSpPr>
        <p:spPr>
          <a:xfrm>
            <a:off x="77875" y="367075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2730C24-90B4-4700-B6CB-DB769C067B3B}"/>
              </a:ext>
            </a:extLst>
          </p:cNvPr>
          <p:cNvSpPr txBox="1"/>
          <p:nvPr/>
        </p:nvSpPr>
        <p:spPr>
          <a:xfrm>
            <a:off x="77875" y="976902"/>
            <a:ext cx="119363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 지식재산처의 심사 및 특허심판원의 심판절차에서는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주지관용기술이</a:t>
            </a:r>
            <a:r>
              <a:rPr lang="ko-KR" altLang="en-US" sz="1400" dirty="0">
                <a:solidFill>
                  <a:schemeClr val="tx2"/>
                </a:solidFill>
              </a:rPr>
              <a:t> 심사관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심판관 사이에 현저한 사실이므로 별도의 증거없이 이를 인정할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구체적으로 심사관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심판관은 </a:t>
            </a:r>
            <a:r>
              <a:rPr lang="ko-KR" altLang="en-US" sz="1400" dirty="0" err="1">
                <a:solidFill>
                  <a:schemeClr val="tx2"/>
                </a:solidFill>
              </a:rPr>
              <a:t>주지관용기술에</a:t>
            </a:r>
            <a:r>
              <a:rPr lang="ko-KR" altLang="en-US" sz="1400" dirty="0">
                <a:solidFill>
                  <a:schemeClr val="tx2"/>
                </a:solidFill>
              </a:rPr>
              <a:t> 해당된다고 인정되는 경우 증거자료를 첨부하지 않고 거절이유를 통지할 수 있으나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출원인이 </a:t>
            </a:r>
            <a:r>
              <a:rPr lang="ko-KR" altLang="en-US" sz="1400" dirty="0" err="1">
                <a:solidFill>
                  <a:schemeClr val="tx2"/>
                </a:solidFill>
              </a:rPr>
              <a:t>주지관용기술이</a:t>
            </a:r>
            <a:r>
              <a:rPr lang="ko-KR" altLang="en-US" sz="1400" dirty="0">
                <a:solidFill>
                  <a:schemeClr val="tx2"/>
                </a:solidFill>
              </a:rPr>
              <a:t> 아니라고 주장하는 경우 심사관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심판관은 원칙적으로 그 거절이유에 대한 증거자료를 제시하여야 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문헌 등에 의한 증거자료의 제시가 곤란한 경우라면 심사관은 </a:t>
            </a:r>
            <a:r>
              <a:rPr lang="ko-KR" altLang="en-US" sz="1400" dirty="0" err="1">
                <a:solidFill>
                  <a:schemeClr val="tx2"/>
                </a:solidFill>
              </a:rPr>
              <a:t>주지관용기술이라는</a:t>
            </a:r>
            <a:r>
              <a:rPr lang="ko-KR" altLang="en-US" sz="1400" dirty="0">
                <a:solidFill>
                  <a:schemeClr val="tx2"/>
                </a:solidFill>
              </a:rPr>
              <a:t> 점에 관하여 충분히 설명하거나 </a:t>
            </a:r>
            <a:r>
              <a:rPr lang="ko-KR" altLang="en-US" sz="1400" dirty="0" err="1">
                <a:solidFill>
                  <a:schemeClr val="tx2"/>
                </a:solidFill>
              </a:rPr>
              <a:t>주지관용기술이</a:t>
            </a:r>
            <a:r>
              <a:rPr lang="ko-KR" altLang="en-US" sz="1400" dirty="0">
                <a:solidFill>
                  <a:schemeClr val="tx2"/>
                </a:solidFill>
              </a:rPr>
              <a:t> 아니라는 출원인의 주장이 적절하지 아니한 이유를 지적하여 거절할 수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 err="1">
                <a:solidFill>
                  <a:schemeClr val="tx2"/>
                </a:solidFill>
              </a:rPr>
              <a:t>주지관용기술임을</a:t>
            </a:r>
            <a:r>
              <a:rPr lang="ko-KR" altLang="en-US" sz="1400" dirty="0">
                <a:solidFill>
                  <a:schemeClr val="tx2"/>
                </a:solidFill>
              </a:rPr>
              <a:t> 나타내는 증거자료로는 교과서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초학자를 대상으로 하는 서적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기술 표준 사전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해당 기술분야의 국가표준</a:t>
            </a:r>
            <a:r>
              <a:rPr lang="en-US" altLang="ko-KR" sz="1400" dirty="0">
                <a:solidFill>
                  <a:schemeClr val="tx2"/>
                </a:solidFill>
              </a:rPr>
              <a:t>(KS) </a:t>
            </a:r>
            <a:r>
              <a:rPr lang="ko-KR" altLang="en-US" sz="1400" dirty="0">
                <a:solidFill>
                  <a:schemeClr val="tx2"/>
                </a:solidFill>
              </a:rPr>
              <a:t>규격 등이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</a:p>
          <a:p>
            <a:pPr fontAlgn="base"/>
            <a:r>
              <a:rPr lang="ko-KR" altLang="en-US" sz="1400" dirty="0">
                <a:highlight>
                  <a:srgbClr val="FFFF00"/>
                </a:highlight>
              </a:rPr>
              <a:t>그러나 </a:t>
            </a:r>
            <a:r>
              <a:rPr lang="ko-KR" altLang="en-US" sz="1400" dirty="0" err="1">
                <a:highlight>
                  <a:srgbClr val="FFFF00"/>
                </a:highlight>
              </a:rPr>
              <a:t>심결취소소송절차에서는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주지관용기술이</a:t>
            </a:r>
            <a:r>
              <a:rPr lang="ko-KR" altLang="en-US" sz="1400" dirty="0">
                <a:highlight>
                  <a:srgbClr val="FFFF00"/>
                </a:highlight>
              </a:rPr>
              <a:t> 소송상 공지 또는 현저한 사실이라고 볼 수 있을 만큼 일반적으로 알려져 있지 아니한 경우에 증명을 필요로 한다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변론주의 원칙</a:t>
            </a:r>
            <a:r>
              <a:rPr lang="en-US" altLang="ko-KR" sz="1400" dirty="0">
                <a:highlight>
                  <a:srgbClr val="FFFF00"/>
                </a:highlight>
              </a:rPr>
              <a:t>). </a:t>
            </a:r>
            <a:r>
              <a:rPr lang="ko-KR" altLang="en-US" sz="1400" dirty="0">
                <a:highlight>
                  <a:srgbClr val="FFFF00"/>
                </a:highlight>
              </a:rPr>
              <a:t>다만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법원은 자유로운 심증에 의하여 증거 등 기록에 나타난 자료를 통하여 주지관용의 기술을 인정할 수 있으나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직권주의 가미</a:t>
            </a:r>
            <a:r>
              <a:rPr lang="en-US" altLang="ko-KR" sz="1400" dirty="0">
                <a:highlight>
                  <a:srgbClr val="FFFF00"/>
                </a:highlight>
              </a:rPr>
              <a:t>), </a:t>
            </a:r>
            <a:r>
              <a:rPr lang="ko-KR" altLang="en-US" sz="1400" dirty="0">
                <a:highlight>
                  <a:srgbClr val="FFFF00"/>
                </a:highlight>
              </a:rPr>
              <a:t>변론종결 후 제출된 참고자료까지 여기의 증거 등 기록에 나타난 자료에 포함된다고 볼 수는 없다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대법원 </a:t>
            </a:r>
            <a:r>
              <a:rPr lang="en-US" altLang="ko-KR" sz="1400" dirty="0">
                <a:solidFill>
                  <a:schemeClr val="tx2"/>
                </a:solidFill>
              </a:rPr>
              <a:t>2013. 4. 11.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2012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436). </a:t>
            </a:r>
            <a:r>
              <a:rPr lang="ko-KR" altLang="en-US" sz="1400" dirty="0">
                <a:solidFill>
                  <a:schemeClr val="tx2"/>
                </a:solidFill>
              </a:rPr>
              <a:t>변론종결 후 제출된 참고자료까지 근거로 삼아 </a:t>
            </a:r>
            <a:r>
              <a:rPr lang="ko-KR" altLang="en-US" sz="1400" dirty="0" err="1">
                <a:solidFill>
                  <a:schemeClr val="tx2"/>
                </a:solidFill>
              </a:rPr>
              <a:t>주지관용기술을</a:t>
            </a:r>
            <a:r>
              <a:rPr lang="ko-KR" altLang="en-US" sz="1400" dirty="0">
                <a:solidFill>
                  <a:schemeClr val="tx2"/>
                </a:solidFill>
              </a:rPr>
              <a:t> 인정한다면 이는 서면심리에 의하여 판단하는 특허심판원 절차와 별반 다를 것이 없어지고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소송절차로서의</a:t>
            </a:r>
            <a:r>
              <a:rPr lang="ko-KR" altLang="en-US" sz="1400" dirty="0">
                <a:solidFill>
                  <a:schemeClr val="tx2"/>
                </a:solidFill>
              </a:rPr>
              <a:t> 본질에 반한다는 문제가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 err="1">
                <a:solidFill>
                  <a:schemeClr val="tx2"/>
                </a:solidFill>
              </a:rPr>
              <a:t>심결취소소송은</a:t>
            </a:r>
            <a:r>
              <a:rPr lang="ko-KR" altLang="en-US" sz="1400" dirty="0">
                <a:solidFill>
                  <a:schemeClr val="tx2"/>
                </a:solidFill>
              </a:rPr>
              <a:t> 원칙적으로 민사소송절차에 따라 구술변론과 증거조사를 통해 </a:t>
            </a:r>
            <a:r>
              <a:rPr lang="ko-KR" altLang="en-US" sz="1400" dirty="0" err="1">
                <a:solidFill>
                  <a:schemeClr val="tx2"/>
                </a:solidFill>
              </a:rPr>
              <a:t>심결의</a:t>
            </a:r>
            <a:r>
              <a:rPr lang="ko-KR" altLang="en-US" sz="1400" dirty="0">
                <a:solidFill>
                  <a:schemeClr val="tx2"/>
                </a:solidFill>
              </a:rPr>
              <a:t> 위법 여부를 심리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판단하는 절차이지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서면심리에 의하여 판단하는 절차가 아니다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또한 아무리 정식으로 </a:t>
            </a:r>
            <a:r>
              <a:rPr lang="ko-KR" altLang="en-US" sz="1400" dirty="0" err="1">
                <a:solidFill>
                  <a:schemeClr val="tx2"/>
                </a:solidFill>
              </a:rPr>
              <a:t>증거조사된</a:t>
            </a:r>
            <a:r>
              <a:rPr lang="ko-KR" altLang="en-US" sz="1400" dirty="0">
                <a:solidFill>
                  <a:schemeClr val="tx2"/>
                </a:solidFill>
              </a:rPr>
              <a:t> 것 이외의 자료를 판단의 근거로 삼는다고 하더라도 이는 어디까지나 상대방에게 송달 등의 방법으로 </a:t>
            </a:r>
            <a:r>
              <a:rPr lang="ko-KR" altLang="en-US" sz="1400" dirty="0" err="1">
                <a:solidFill>
                  <a:schemeClr val="tx2"/>
                </a:solidFill>
              </a:rPr>
              <a:t>현출되어</a:t>
            </a:r>
            <a:r>
              <a:rPr lang="ko-KR" altLang="en-US" sz="1400" dirty="0">
                <a:solidFill>
                  <a:schemeClr val="tx2"/>
                </a:solidFill>
              </a:rPr>
              <a:t> 다툴 수 있는 기회가 부여됨을 전제로 하는 것이지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이러한 기회 부여도 없이 함부로 </a:t>
            </a:r>
            <a:r>
              <a:rPr lang="ko-KR" altLang="en-US" sz="1400" dirty="0" err="1">
                <a:solidFill>
                  <a:schemeClr val="tx2"/>
                </a:solidFill>
              </a:rPr>
              <a:t>주지관용기술</a:t>
            </a:r>
            <a:r>
              <a:rPr lang="ko-KR" altLang="en-US" sz="1400" dirty="0">
                <a:solidFill>
                  <a:schemeClr val="tx2"/>
                </a:solidFill>
              </a:rPr>
              <a:t> 판단의 근거로 삼을 수는 없다고 할 것이다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DA5772-2D2D-4969-89C0-43EFFD6D2C2A}"/>
              </a:ext>
            </a:extLst>
          </p:cNvPr>
          <p:cNvSpPr txBox="1"/>
          <p:nvPr/>
        </p:nvSpPr>
        <p:spPr>
          <a:xfrm>
            <a:off x="195319" y="5686559"/>
            <a:ext cx="11936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 * </a:t>
            </a:r>
            <a:r>
              <a:rPr lang="ko-KR" altLang="en-US" sz="1200" dirty="0"/>
              <a:t>민사소송법 제</a:t>
            </a:r>
            <a:r>
              <a:rPr lang="en-US" altLang="ko-KR" sz="1200" dirty="0"/>
              <a:t>288</a:t>
            </a:r>
            <a:r>
              <a:rPr lang="ko-KR" altLang="en-US" sz="1200" dirty="0"/>
              <a:t>조</a:t>
            </a:r>
            <a:r>
              <a:rPr lang="en-US" altLang="ko-KR" sz="1200" dirty="0"/>
              <a:t>(</a:t>
            </a:r>
            <a:r>
              <a:rPr lang="ko-KR" altLang="en-US" sz="1200" dirty="0" err="1"/>
              <a:t>불요증사실</a:t>
            </a:r>
            <a:r>
              <a:rPr lang="en-US" altLang="ko-KR" sz="1200" dirty="0"/>
              <a:t>) </a:t>
            </a:r>
          </a:p>
          <a:p>
            <a:r>
              <a:rPr lang="en-US" altLang="ko-KR" sz="1200" dirty="0"/>
              <a:t>  </a:t>
            </a:r>
            <a:r>
              <a:rPr lang="ko-KR" altLang="en-US" sz="1200" dirty="0"/>
              <a:t>법원에서 당사자가 자백한 사실과 현저한 사실은 증명을 필요로 하지 아니한다</a:t>
            </a:r>
            <a:r>
              <a:rPr lang="en-US" altLang="ko-KR" sz="1200" dirty="0"/>
              <a:t>. </a:t>
            </a:r>
            <a:r>
              <a:rPr lang="ko-KR" altLang="en-US" sz="1200" dirty="0"/>
              <a:t>다만</a:t>
            </a:r>
            <a:r>
              <a:rPr lang="en-US" altLang="ko-KR" sz="1200" dirty="0"/>
              <a:t>,  </a:t>
            </a:r>
            <a:r>
              <a:rPr lang="ko-KR" altLang="en-US" sz="1200" dirty="0"/>
              <a:t>진실에 어긋나는 자백은 그것이 착오로 말미암은 것임을 증명한 때에는 취소할 수 있다</a:t>
            </a:r>
            <a:r>
              <a:rPr lang="en-US" altLang="ko-KR" sz="1200" dirty="0"/>
              <a:t>. </a:t>
            </a:r>
          </a:p>
          <a:p>
            <a:endParaRPr lang="ko-KR" altLang="en-US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538357-4E92-4413-9E16-8FC8BD7C8EDD}"/>
              </a:ext>
            </a:extLst>
          </p:cNvPr>
          <p:cNvSpPr txBox="1"/>
          <p:nvPr/>
        </p:nvSpPr>
        <p:spPr>
          <a:xfrm>
            <a:off x="268446" y="3939812"/>
            <a:ext cx="3895618" cy="30777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거절결정불복심판에 대한 </a:t>
            </a:r>
            <a:r>
              <a:rPr lang="ko-KR" altLang="en-US" sz="1400" dirty="0" err="1"/>
              <a:t>심결취소소송의</a:t>
            </a:r>
            <a:r>
              <a:rPr lang="ko-KR" altLang="en-US" sz="1400" dirty="0"/>
              <a:t> 심리범위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BECBB32-2292-4FB3-87E6-73C3E45DDC27}"/>
              </a:ext>
            </a:extLst>
          </p:cNvPr>
          <p:cNvSpPr txBox="1"/>
          <p:nvPr/>
        </p:nvSpPr>
        <p:spPr>
          <a:xfrm>
            <a:off x="766031" y="4358406"/>
            <a:ext cx="4256293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출원인의 대응기회 확보 위해 새로운 거절이유 심리 불가</a:t>
            </a:r>
            <a:endParaRPr lang="en-US" altLang="ko-KR" sz="1400" dirty="0"/>
          </a:p>
          <a:p>
            <a:r>
              <a:rPr lang="ko-KR" altLang="en-US" sz="1400" dirty="0"/>
              <a:t>다만</a:t>
            </a:r>
            <a:r>
              <a:rPr lang="en-US" altLang="ko-KR" sz="1400" dirty="0"/>
              <a:t>, </a:t>
            </a:r>
            <a:r>
              <a:rPr lang="ko-KR" altLang="en-US" sz="1400" dirty="0"/>
              <a:t>이미 통지한 거절이유를 보충하는 정도는 가능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3EFE16-93A5-4E99-AA91-5C6AE432C592}"/>
              </a:ext>
            </a:extLst>
          </p:cNvPr>
          <p:cNvSpPr txBox="1"/>
          <p:nvPr/>
        </p:nvSpPr>
        <p:spPr>
          <a:xfrm>
            <a:off x="1122338" y="5037512"/>
            <a:ext cx="11009304" cy="52322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진보성 위반이라는 거절이유를 보충하는 것으로서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주지관용기술의</a:t>
            </a:r>
            <a:r>
              <a:rPr lang="ko-KR" altLang="en-US" sz="1400" dirty="0"/>
              <a:t> 경우 </a:t>
            </a:r>
            <a:r>
              <a:rPr lang="ko-KR" altLang="en-US" sz="1400" dirty="0" err="1"/>
              <a:t>불요증사실</a:t>
            </a:r>
            <a:r>
              <a:rPr lang="en-US" altLang="ko-KR" sz="1400" dirty="0"/>
              <a:t>*</a:t>
            </a:r>
            <a:r>
              <a:rPr lang="ko-KR" altLang="en-US" sz="1400" dirty="0"/>
              <a:t>이 아니라면 지식재산처장이 증명</a:t>
            </a:r>
            <a:r>
              <a:rPr lang="en-US" altLang="ko-KR" sz="1400" dirty="0"/>
              <a:t>(</a:t>
            </a:r>
            <a:r>
              <a:rPr lang="ko-KR" altLang="en-US" sz="1400" dirty="0"/>
              <a:t>변론주의의 원칙</a:t>
            </a:r>
            <a:r>
              <a:rPr lang="en-US" altLang="ko-KR" sz="1400" dirty="0"/>
              <a:t>)</a:t>
            </a:r>
          </a:p>
          <a:p>
            <a:r>
              <a:rPr lang="ko-KR" altLang="en-US" sz="1400" dirty="0"/>
              <a:t>다만</a:t>
            </a:r>
            <a:r>
              <a:rPr lang="en-US" altLang="ko-KR" sz="1400" dirty="0"/>
              <a:t>, </a:t>
            </a:r>
            <a:r>
              <a:rPr lang="ko-KR" altLang="en-US" sz="1400" dirty="0"/>
              <a:t>변론종결전까지 제출된 증거 등 기록에 나타낸 자료를 통해 인정 가능</a:t>
            </a:r>
            <a:r>
              <a:rPr lang="en-US" altLang="ko-KR" sz="1400" dirty="0"/>
              <a:t>(</a:t>
            </a:r>
            <a:r>
              <a:rPr lang="ko-KR" altLang="en-US" sz="1400" dirty="0"/>
              <a:t>직권주의 가미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21" name="연결선: 꺾임 20">
            <a:extLst>
              <a:ext uri="{FF2B5EF4-FFF2-40B4-BE49-F238E27FC236}">
                <a16:creationId xmlns:a16="http://schemas.microsoft.com/office/drawing/2014/main" id="{B7365C6A-6918-444E-A72C-574D6D37719E}"/>
              </a:ext>
            </a:extLst>
          </p:cNvPr>
          <p:cNvCxnSpPr>
            <a:endCxn id="43" idx="1"/>
          </p:cNvCxnSpPr>
          <p:nvPr/>
        </p:nvCxnSpPr>
        <p:spPr>
          <a:xfrm rot="16200000" flipH="1">
            <a:off x="468054" y="4322039"/>
            <a:ext cx="341650" cy="254304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7318102A-C696-4967-B2ED-9EA38B0B4CAA}"/>
              </a:ext>
            </a:extLst>
          </p:cNvPr>
          <p:cNvCxnSpPr>
            <a:cxnSpLocks/>
            <a:endCxn id="47" idx="1"/>
          </p:cNvCxnSpPr>
          <p:nvPr/>
        </p:nvCxnSpPr>
        <p:spPr>
          <a:xfrm rot="16200000" flipH="1">
            <a:off x="869026" y="5045809"/>
            <a:ext cx="365797" cy="140828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850745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정정심판 </a:t>
            </a:r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심결취소소송의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심리범위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7672B6BB-2D77-4E43-8B42-06D030FA91F0}"/>
              </a:ext>
            </a:extLst>
          </p:cNvPr>
          <p:cNvCxnSpPr/>
          <p:nvPr/>
        </p:nvCxnSpPr>
        <p:spPr>
          <a:xfrm>
            <a:off x="0" y="3930127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5ED18D-A35C-4094-A735-ACF778B95324}"/>
              </a:ext>
            </a:extLst>
          </p:cNvPr>
          <p:cNvSpPr/>
          <p:nvPr/>
        </p:nvSpPr>
        <p:spPr>
          <a:xfrm>
            <a:off x="232372" y="1357007"/>
            <a:ext cx="11681987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sz="1400" dirty="0"/>
              <a:t>[1]  </a:t>
            </a:r>
            <a:r>
              <a:rPr lang="ko-KR" altLang="en-US" sz="1400" dirty="0"/>
              <a:t>구 특허법</a:t>
            </a:r>
            <a:r>
              <a:rPr lang="en-US" altLang="ko-KR" sz="1400" dirty="0"/>
              <a:t>(2001. 2. 3.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6411</a:t>
            </a:r>
            <a:r>
              <a:rPr lang="ko-KR" altLang="en-US" sz="1400" dirty="0"/>
              <a:t>호로 개정되기 전의 것</a:t>
            </a:r>
            <a:r>
              <a:rPr lang="en-US" altLang="ko-KR" sz="1400" dirty="0"/>
              <a:t>) </a:t>
            </a:r>
            <a:r>
              <a:rPr lang="ko-KR" altLang="en-US" sz="1400" dirty="0"/>
              <a:t>제</a:t>
            </a:r>
            <a:r>
              <a:rPr lang="en-US" altLang="ko-KR" sz="1400" dirty="0"/>
              <a:t>29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 제</a:t>
            </a:r>
            <a:r>
              <a:rPr lang="en-US" altLang="ko-KR" sz="1400" dirty="0"/>
              <a:t>1</a:t>
            </a:r>
            <a:r>
              <a:rPr lang="ko-KR" altLang="en-US" sz="1400" dirty="0"/>
              <a:t>호 소정의 ‘특허출원 전에 국내에서 공지되었거나 공연히 실시된 </a:t>
            </a:r>
            <a:r>
              <a:rPr lang="ko-KR" altLang="en-US" sz="1400" dirty="0" err="1"/>
              <a:t>발명’에서</a:t>
            </a:r>
            <a:r>
              <a:rPr lang="ko-KR" altLang="en-US" sz="1400" dirty="0"/>
              <a:t> ‘특허출원 </a:t>
            </a:r>
            <a:r>
              <a:rPr lang="ko-KR" altLang="en-US" sz="1400" dirty="0" err="1"/>
              <a:t>전’의</a:t>
            </a:r>
            <a:r>
              <a:rPr lang="ko-KR" altLang="en-US" sz="1400" dirty="0"/>
              <a:t> 의미는 발명의 공지 또는 공연 실시된 시점이 특허출원 전이라는 의미이지 그 공지 또는 공연 실시된 사실을 인정하기 위한 증거가 특허출원 전에 작성된 것을 의미하는 것은 아니므로</a:t>
            </a:r>
            <a:r>
              <a:rPr lang="en-US" altLang="ko-KR" sz="1400" dirty="0"/>
              <a:t>,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ko-KR" altLang="en-US" sz="1400" dirty="0">
                <a:highlight>
                  <a:srgbClr val="FFFF00"/>
                </a:highlight>
              </a:rPr>
              <a:t>법원은 특허출원 후에 작성된 문건들에 기초하여 어떤 발명 또는 기술이 특허출원 전에 공지 또는 공연 실시된 것인지 여부를 인정</a:t>
            </a:r>
            <a:r>
              <a:rPr lang="ko-KR" altLang="en-US" sz="1400" dirty="0"/>
              <a:t>할 수 있다</a:t>
            </a:r>
            <a:r>
              <a:rPr lang="en-US" altLang="ko-KR" sz="1400" dirty="0"/>
              <a:t>.</a:t>
            </a:r>
          </a:p>
          <a:p>
            <a:pPr algn="just" fontAlgn="base"/>
            <a:r>
              <a:rPr lang="en-US" altLang="ko-KR" sz="1400" dirty="0"/>
              <a:t>[2] </a:t>
            </a:r>
            <a:r>
              <a:rPr lang="ko-KR" altLang="en-US" sz="1400" dirty="0"/>
              <a:t>의견서 제출기회를 부여하는 구 특허법</a:t>
            </a:r>
            <a:r>
              <a:rPr lang="en-US" altLang="ko-KR" sz="1400" dirty="0"/>
              <a:t>(2001. 2. 3.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6411</a:t>
            </a:r>
            <a:r>
              <a:rPr lang="ko-KR" altLang="en-US" sz="1400" dirty="0"/>
              <a:t>호로 개정되기 전의 것</a:t>
            </a:r>
            <a:r>
              <a:rPr lang="en-US" altLang="ko-KR" sz="1400" dirty="0"/>
              <a:t>) </a:t>
            </a:r>
            <a:r>
              <a:rPr lang="ko-KR" altLang="en-US" sz="1400" dirty="0"/>
              <a:t>제</a:t>
            </a:r>
            <a:r>
              <a:rPr lang="en-US" altLang="ko-KR" sz="1400" dirty="0"/>
              <a:t>136</a:t>
            </a:r>
            <a:r>
              <a:rPr lang="ko-KR" altLang="en-US" sz="1400" dirty="0"/>
              <a:t>조 제</a:t>
            </a:r>
            <a:r>
              <a:rPr lang="en-US" altLang="ko-KR" sz="1400" dirty="0"/>
              <a:t>4</a:t>
            </a:r>
            <a:r>
              <a:rPr lang="ko-KR" altLang="en-US" sz="1400" dirty="0"/>
              <a:t>항은 정정청구에 대한 심사의 적정을 기하고 심사제도의 신용을 유지하기 위한 공익상의 요구에 기인하는 이른바 </a:t>
            </a:r>
            <a:r>
              <a:rPr lang="ko-KR" altLang="en-US" sz="1400" dirty="0" err="1"/>
              <a:t>강행규정이므로</a:t>
            </a:r>
            <a:r>
              <a:rPr lang="en-US" altLang="ko-KR" sz="1400" dirty="0"/>
              <a:t>, </a:t>
            </a:r>
            <a:r>
              <a:rPr lang="ko-KR" altLang="en-US" sz="1400" dirty="0">
                <a:highlight>
                  <a:srgbClr val="CCECFF"/>
                </a:highlight>
              </a:rPr>
              <a:t>정정심판이나 그 </a:t>
            </a:r>
            <a:r>
              <a:rPr lang="ko-KR" altLang="en-US" sz="1400" dirty="0" err="1">
                <a:highlight>
                  <a:srgbClr val="CCECFF"/>
                </a:highlight>
              </a:rPr>
              <a:t>심결취소소송에서</a:t>
            </a:r>
            <a:r>
              <a:rPr lang="ko-KR" altLang="en-US" sz="1400" dirty="0">
                <a:highlight>
                  <a:srgbClr val="CCECFF"/>
                </a:highlight>
              </a:rPr>
              <a:t> 정정의견제출통지서를 통하여 심판청구인에게 의견서 제출 기회를 부여한 바 없는 사유를 들어 정정심판청구를 기각하는 </a:t>
            </a:r>
            <a:r>
              <a:rPr lang="ko-KR" altLang="en-US" sz="1400" dirty="0" err="1">
                <a:highlight>
                  <a:srgbClr val="CCECFF"/>
                </a:highlight>
              </a:rPr>
              <a:t>심결을</a:t>
            </a:r>
            <a:r>
              <a:rPr lang="ko-KR" altLang="en-US" sz="1400" dirty="0">
                <a:highlight>
                  <a:srgbClr val="CCECFF"/>
                </a:highlight>
              </a:rPr>
              <a:t> 하거나 </a:t>
            </a:r>
            <a:r>
              <a:rPr lang="ko-KR" altLang="en-US" sz="1400" dirty="0" err="1">
                <a:highlight>
                  <a:srgbClr val="CCECFF"/>
                </a:highlight>
              </a:rPr>
              <a:t>심결취소청구를</a:t>
            </a:r>
            <a:r>
              <a:rPr lang="ko-KR" altLang="en-US" sz="1400" dirty="0">
                <a:highlight>
                  <a:srgbClr val="CCECFF"/>
                </a:highlight>
              </a:rPr>
              <a:t> 기각하는 것은 위법하나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>
                <a:highlight>
                  <a:srgbClr val="CCECFF"/>
                </a:highlight>
              </a:rPr>
              <a:t>정정의견제출통지서에 기재된 사유와 다른 별개의 새로운 사유가 아니고 주된 취지에 있어서 정정의견제출통지서에 기재된 사유와 실질적으로 동일한 사유로 정정심판을 기각하는 </a:t>
            </a:r>
            <a:r>
              <a:rPr lang="ko-KR" altLang="en-US" sz="1400" dirty="0" err="1">
                <a:highlight>
                  <a:srgbClr val="CCECFF"/>
                </a:highlight>
              </a:rPr>
              <a:t>심결을</a:t>
            </a:r>
            <a:r>
              <a:rPr lang="ko-KR" altLang="en-US" sz="1400" dirty="0">
                <a:highlight>
                  <a:srgbClr val="CCECFF"/>
                </a:highlight>
              </a:rPr>
              <a:t> 하거나 그 </a:t>
            </a:r>
            <a:r>
              <a:rPr lang="ko-KR" altLang="en-US" sz="1400" dirty="0" err="1">
                <a:highlight>
                  <a:srgbClr val="CCECFF"/>
                </a:highlight>
              </a:rPr>
              <a:t>심결에</a:t>
            </a:r>
            <a:r>
              <a:rPr lang="ko-KR" altLang="en-US" sz="1400" dirty="0">
                <a:highlight>
                  <a:srgbClr val="CCECFF"/>
                </a:highlight>
              </a:rPr>
              <a:t> 대한 취소청구를 기각하는 것은 허용된다</a:t>
            </a:r>
            <a:r>
              <a:rPr lang="en-US" altLang="ko-KR" sz="1400" dirty="0">
                <a:highlight>
                  <a:srgbClr val="CCECFF"/>
                </a:highlight>
              </a:rPr>
              <a:t>.</a:t>
            </a:r>
          </a:p>
          <a:p>
            <a:pPr algn="just" fontAlgn="base"/>
            <a:r>
              <a:rPr lang="en-US" altLang="ko-KR" sz="1400" dirty="0"/>
              <a:t>[3] </a:t>
            </a:r>
            <a:r>
              <a:rPr lang="ko-KR" altLang="en-US" sz="1400" dirty="0"/>
              <a:t>정정의견제출통지서에 기재된 증거가 </a:t>
            </a:r>
            <a:r>
              <a:rPr lang="ko-KR" altLang="en-US" sz="1400" dirty="0" err="1">
                <a:highlight>
                  <a:srgbClr val="FFFF00"/>
                </a:highlight>
              </a:rPr>
              <a:t>아니라도</a:t>
            </a:r>
            <a:r>
              <a:rPr lang="ko-KR" altLang="en-US" sz="1400" dirty="0">
                <a:highlight>
                  <a:srgbClr val="FFFF00"/>
                </a:highlight>
              </a:rPr>
              <a:t> </a:t>
            </a:r>
            <a:r>
              <a:rPr lang="ko-KR" altLang="en-US" sz="1400" dirty="0" err="1">
                <a:highlight>
                  <a:srgbClr val="FFFF00"/>
                </a:highlight>
              </a:rPr>
              <a:t>정정거절이유를</a:t>
            </a:r>
            <a:r>
              <a:rPr lang="ko-KR" altLang="en-US" sz="1400" dirty="0">
                <a:highlight>
                  <a:srgbClr val="FFFF00"/>
                </a:highlight>
              </a:rPr>
              <a:t> 보충하는 것이라면 새로운 </a:t>
            </a:r>
            <a:r>
              <a:rPr lang="ko-KR" altLang="en-US" sz="1400" dirty="0" err="1">
                <a:highlight>
                  <a:srgbClr val="FFFF00"/>
                </a:highlight>
              </a:rPr>
              <a:t>정정거절이유라고</a:t>
            </a:r>
            <a:r>
              <a:rPr lang="ko-KR" altLang="en-US" sz="1400" dirty="0">
                <a:highlight>
                  <a:srgbClr val="FFFF00"/>
                </a:highlight>
              </a:rPr>
              <a:t> 할 수 없으므로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/>
              <a:t>특허법원이 그 증거를 채용하여 정정청구를 기각한 </a:t>
            </a:r>
            <a:r>
              <a:rPr lang="ko-KR" altLang="en-US" sz="1400" dirty="0" err="1"/>
              <a:t>심결이</a:t>
            </a:r>
            <a:r>
              <a:rPr lang="ko-KR" altLang="en-US" sz="1400" dirty="0"/>
              <a:t> 정당하다는 사유의 하나로 삼았다고 하여 심리범위를 일탈하였다고 할 수 없다</a:t>
            </a:r>
            <a:r>
              <a:rPr lang="en-US" altLang="ko-KR" sz="1400" dirty="0"/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7" name="모서리가 둥근 직사각형 10">
            <a:extLst>
              <a:ext uri="{FF2B5EF4-FFF2-40B4-BE49-F238E27FC236}">
                <a16:creationId xmlns:a16="http://schemas.microsoft.com/office/drawing/2014/main" id="{45EA68D6-B151-4236-8FC3-05A69090F573}"/>
              </a:ext>
            </a:extLst>
          </p:cNvPr>
          <p:cNvSpPr/>
          <p:nvPr/>
        </p:nvSpPr>
        <p:spPr bwMode="auto">
          <a:xfrm>
            <a:off x="378418" y="1002199"/>
            <a:ext cx="5717582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2007. 4. 27.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2006</a:t>
            </a:r>
            <a:r>
              <a:rPr lang="ko-KR" altLang="en-US" sz="1400" dirty="0"/>
              <a:t>후</a:t>
            </a:r>
            <a:r>
              <a:rPr lang="en-US" altLang="ko-KR" sz="1400" dirty="0"/>
              <a:t>2660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정정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6" name="Line 5">
            <a:extLst>
              <a:ext uri="{FF2B5EF4-FFF2-40B4-BE49-F238E27FC236}">
                <a16:creationId xmlns:a16="http://schemas.microsoft.com/office/drawing/2014/main" id="{01ECBABA-428D-E2D1-C380-557DAB7A7145}"/>
              </a:ext>
            </a:extLst>
          </p:cNvPr>
          <p:cNvSpPr>
            <a:spLocks noChangeShapeType="1"/>
          </p:cNvSpPr>
          <p:nvPr/>
        </p:nvSpPr>
        <p:spPr bwMode="auto">
          <a:xfrm>
            <a:off x="157297" y="4734258"/>
            <a:ext cx="11802330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D10B70-E27A-0C7F-E74A-4506A5549F29}"/>
              </a:ext>
            </a:extLst>
          </p:cNvPr>
          <p:cNvSpPr txBox="1"/>
          <p:nvPr/>
        </p:nvSpPr>
        <p:spPr>
          <a:xfrm>
            <a:off x="446799" y="4990433"/>
            <a:ext cx="702185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출원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3DA2624-2A04-BB52-1B01-F54728EB38F1}"/>
              </a:ext>
            </a:extLst>
          </p:cNvPr>
          <p:cNvSpPr/>
          <p:nvPr/>
        </p:nvSpPr>
        <p:spPr>
          <a:xfrm>
            <a:off x="730403" y="464032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BD71592-ABC9-D497-D7A6-53D77FF4FE84}"/>
              </a:ext>
            </a:extLst>
          </p:cNvPr>
          <p:cNvCxnSpPr>
            <a:cxnSpLocks/>
            <a:stCxn id="7" idx="0"/>
            <a:endCxn id="8" idx="4"/>
          </p:cNvCxnSpPr>
          <p:nvPr/>
        </p:nvCxnSpPr>
        <p:spPr>
          <a:xfrm flipH="1" flipV="1">
            <a:off x="797891" y="480166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0F8D084-A4EC-1E1B-BC68-9B5EDF7C6B75}"/>
              </a:ext>
            </a:extLst>
          </p:cNvPr>
          <p:cNvSpPr txBox="1"/>
          <p:nvPr/>
        </p:nvSpPr>
        <p:spPr>
          <a:xfrm>
            <a:off x="1444732" y="4990433"/>
            <a:ext cx="702185" cy="4616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특허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등록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D287ED81-95A3-7B9A-4C55-C59CA63E7F40}"/>
              </a:ext>
            </a:extLst>
          </p:cNvPr>
          <p:cNvSpPr/>
          <p:nvPr/>
        </p:nvSpPr>
        <p:spPr>
          <a:xfrm>
            <a:off x="1728337" y="464032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85B8F3E-702D-CDC1-B95D-F3A45F182B08}"/>
              </a:ext>
            </a:extLst>
          </p:cNvPr>
          <p:cNvCxnSpPr>
            <a:cxnSpLocks/>
            <a:stCxn id="15" idx="0"/>
            <a:endCxn id="16" idx="4"/>
          </p:cNvCxnSpPr>
          <p:nvPr/>
        </p:nvCxnSpPr>
        <p:spPr>
          <a:xfrm flipV="1">
            <a:off x="1795825" y="4801662"/>
            <a:ext cx="0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79DC096-00AC-5B48-E590-BEFCA636E65F}"/>
              </a:ext>
            </a:extLst>
          </p:cNvPr>
          <p:cNvSpPr txBox="1"/>
          <p:nvPr/>
        </p:nvSpPr>
        <p:spPr>
          <a:xfrm>
            <a:off x="7602478" y="4990433"/>
            <a:ext cx="855648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불가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CA53FEAC-51B6-AF90-4B7C-DED961E5E368}"/>
              </a:ext>
            </a:extLst>
          </p:cNvPr>
          <p:cNvSpPr/>
          <p:nvPr/>
        </p:nvSpPr>
        <p:spPr>
          <a:xfrm>
            <a:off x="7962813" y="4640324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2579842-2886-BD2C-FC9C-C1F413B855CD}"/>
              </a:ext>
            </a:extLst>
          </p:cNvPr>
          <p:cNvCxnSpPr>
            <a:cxnSpLocks/>
            <a:stCxn id="18" idx="0"/>
            <a:endCxn id="19" idx="4"/>
          </p:cNvCxnSpPr>
          <p:nvPr/>
        </p:nvCxnSpPr>
        <p:spPr>
          <a:xfrm flipH="1" flipV="1">
            <a:off x="8030301" y="480166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49C01E2-65C3-4BF1-5D0C-97BA590093D9}"/>
              </a:ext>
            </a:extLst>
          </p:cNvPr>
          <p:cNvSpPr txBox="1"/>
          <p:nvPr/>
        </p:nvSpPr>
        <p:spPr>
          <a:xfrm>
            <a:off x="3803953" y="4990135"/>
            <a:ext cx="781562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OA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4049E49-3A16-6EE1-DB67-674F94F5762F}"/>
              </a:ext>
            </a:extLst>
          </p:cNvPr>
          <p:cNvSpPr/>
          <p:nvPr/>
        </p:nvSpPr>
        <p:spPr>
          <a:xfrm>
            <a:off x="4127246" y="4640324"/>
            <a:ext cx="134975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590FD696-CF16-3DCC-FB4A-7C3E55EC73CE}"/>
              </a:ext>
            </a:extLst>
          </p:cNvPr>
          <p:cNvCxnSpPr>
            <a:cxnSpLocks/>
            <a:stCxn id="32" idx="0"/>
            <a:endCxn id="33" idx="4"/>
          </p:cNvCxnSpPr>
          <p:nvPr/>
        </p:nvCxnSpPr>
        <p:spPr>
          <a:xfrm flipV="1">
            <a:off x="4194734" y="4801662"/>
            <a:ext cx="0" cy="18847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C590DB45-41CE-9ADD-DF60-815DBC3DD04A}"/>
              </a:ext>
            </a:extLst>
          </p:cNvPr>
          <p:cNvSpPr txBox="1"/>
          <p:nvPr/>
        </p:nvSpPr>
        <p:spPr>
          <a:xfrm>
            <a:off x="3042405" y="5619990"/>
            <a:ext cx="230465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인용발명과 </a:t>
            </a:r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주지관용기술에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 의해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진보성위반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9A6F4E2-B899-ADDD-6D44-60288A8899CD}"/>
              </a:ext>
            </a:extLst>
          </p:cNvPr>
          <p:cNvCxnSpPr>
            <a:cxnSpLocks/>
            <a:stCxn id="35" idx="0"/>
            <a:endCxn id="32" idx="2"/>
          </p:cNvCxnSpPr>
          <p:nvPr/>
        </p:nvCxnSpPr>
        <p:spPr>
          <a:xfrm flipV="1">
            <a:off x="4194734" y="5267134"/>
            <a:ext cx="0" cy="352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말풍선: 모서리가 둥근 사각형 47">
            <a:extLst>
              <a:ext uri="{FF2B5EF4-FFF2-40B4-BE49-F238E27FC236}">
                <a16:creationId xmlns:a16="http://schemas.microsoft.com/office/drawing/2014/main" id="{74465509-663E-BD47-F756-7036143289ED}"/>
              </a:ext>
            </a:extLst>
          </p:cNvPr>
          <p:cNvSpPr/>
          <p:nvPr/>
        </p:nvSpPr>
        <p:spPr>
          <a:xfrm>
            <a:off x="8177808" y="6327281"/>
            <a:ext cx="2009643" cy="461664"/>
          </a:xfrm>
          <a:prstGeom prst="wedgeRoundRectCallout">
            <a:avLst>
              <a:gd name="adj1" fmla="val 17"/>
              <a:gd name="adj2" fmla="val -12967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주지관용기술임을</a:t>
            </a:r>
            <a:r>
              <a:rPr lang="ko-KR" altLang="en-US" sz="1200" dirty="0">
                <a:solidFill>
                  <a:schemeClr val="tx1"/>
                </a:solidFill>
              </a:rPr>
              <a:t> 증명하는 서류 제출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F1BAD4E-CC5C-33CA-9907-49C8B0D82A6F}"/>
              </a:ext>
            </a:extLst>
          </p:cNvPr>
          <p:cNvSpPr txBox="1"/>
          <p:nvPr/>
        </p:nvSpPr>
        <p:spPr>
          <a:xfrm>
            <a:off x="2598419" y="4990433"/>
            <a:ext cx="819482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정정심판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청구</a:t>
            </a:r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5B0EF63B-BF82-A0D3-12FF-313168187241}"/>
              </a:ext>
            </a:extLst>
          </p:cNvPr>
          <p:cNvSpPr/>
          <p:nvPr/>
        </p:nvSpPr>
        <p:spPr>
          <a:xfrm>
            <a:off x="2940672" y="4640324"/>
            <a:ext cx="134975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EA5C2154-DD9C-0692-A062-A4DC2CD9CD97}"/>
              </a:ext>
            </a:extLst>
          </p:cNvPr>
          <p:cNvCxnSpPr>
            <a:cxnSpLocks/>
            <a:stCxn id="51" idx="0"/>
            <a:endCxn id="52" idx="4"/>
          </p:cNvCxnSpPr>
          <p:nvPr/>
        </p:nvCxnSpPr>
        <p:spPr>
          <a:xfrm flipV="1">
            <a:off x="3008160" y="4801662"/>
            <a:ext cx="0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DA5DD739-152F-8E6D-7403-B2A0EC4AC5F1}"/>
              </a:ext>
            </a:extLst>
          </p:cNvPr>
          <p:cNvSpPr txBox="1"/>
          <p:nvPr/>
        </p:nvSpPr>
        <p:spPr>
          <a:xfrm>
            <a:off x="5111128" y="4990887"/>
            <a:ext cx="777318" cy="27549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45C4EBAB-79B2-9F07-1594-52775696CFEF}"/>
              </a:ext>
            </a:extLst>
          </p:cNvPr>
          <p:cNvSpPr/>
          <p:nvPr/>
        </p:nvSpPr>
        <p:spPr>
          <a:xfrm>
            <a:off x="5432665" y="4640761"/>
            <a:ext cx="134244" cy="160464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78F2F618-5724-1488-3FE1-40945A741CAF}"/>
              </a:ext>
            </a:extLst>
          </p:cNvPr>
          <p:cNvCxnSpPr>
            <a:cxnSpLocks/>
            <a:stCxn id="59" idx="0"/>
            <a:endCxn id="60" idx="4"/>
          </p:cNvCxnSpPr>
          <p:nvPr/>
        </p:nvCxnSpPr>
        <p:spPr>
          <a:xfrm flipV="1">
            <a:off x="5499787" y="4801225"/>
            <a:ext cx="0" cy="1896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5A99DC69-CB2D-C7B9-9093-9FAF90957FD2}"/>
              </a:ext>
            </a:extLst>
          </p:cNvPr>
          <p:cNvSpPr txBox="1"/>
          <p:nvPr/>
        </p:nvSpPr>
        <p:spPr>
          <a:xfrm>
            <a:off x="6486062" y="4990433"/>
            <a:ext cx="702185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소제기</a:t>
            </a: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7BE7FAEC-F70B-E3B9-D431-7BE7CB1F5EEE}"/>
              </a:ext>
            </a:extLst>
          </p:cNvPr>
          <p:cNvSpPr/>
          <p:nvPr/>
        </p:nvSpPr>
        <p:spPr>
          <a:xfrm>
            <a:off x="6769666" y="4640324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7C13A778-785E-4BD4-5A88-B00F0EC17846}"/>
              </a:ext>
            </a:extLst>
          </p:cNvPr>
          <p:cNvCxnSpPr>
            <a:cxnSpLocks/>
            <a:stCxn id="62" idx="0"/>
            <a:endCxn id="63" idx="4"/>
          </p:cNvCxnSpPr>
          <p:nvPr/>
        </p:nvCxnSpPr>
        <p:spPr>
          <a:xfrm flipH="1" flipV="1">
            <a:off x="6837154" y="480166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803D3731-EB07-B33B-2E6A-B36B37E069CB}"/>
              </a:ext>
            </a:extLst>
          </p:cNvPr>
          <p:cNvSpPr txBox="1"/>
          <p:nvPr/>
        </p:nvSpPr>
        <p:spPr>
          <a:xfrm>
            <a:off x="8728131" y="4990433"/>
            <a:ext cx="990634" cy="276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D4B57807-A92B-6B1B-FB15-644E102CFCBA}"/>
              </a:ext>
            </a:extLst>
          </p:cNvPr>
          <p:cNvSpPr/>
          <p:nvPr/>
        </p:nvSpPr>
        <p:spPr>
          <a:xfrm>
            <a:off x="9155959" y="4640324"/>
            <a:ext cx="134975" cy="161338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0" name="직선 연결선 69">
            <a:extLst>
              <a:ext uri="{FF2B5EF4-FFF2-40B4-BE49-F238E27FC236}">
                <a16:creationId xmlns:a16="http://schemas.microsoft.com/office/drawing/2014/main" id="{492B32E7-2877-21CE-1DAE-2456426C9A2A}"/>
              </a:ext>
            </a:extLst>
          </p:cNvPr>
          <p:cNvCxnSpPr>
            <a:cxnSpLocks/>
            <a:stCxn id="68" idx="0"/>
            <a:endCxn id="69" idx="4"/>
          </p:cNvCxnSpPr>
          <p:nvPr/>
        </p:nvCxnSpPr>
        <p:spPr>
          <a:xfrm flipH="1" flipV="1">
            <a:off x="9223447" y="4801662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83C920E-B78D-A565-4BAA-C5E9F99EDACC}"/>
              </a:ext>
            </a:extLst>
          </p:cNvPr>
          <p:cNvSpPr txBox="1"/>
          <p:nvPr/>
        </p:nvSpPr>
        <p:spPr>
          <a:xfrm>
            <a:off x="10072922" y="4990887"/>
            <a:ext cx="777318" cy="2754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7E5EB23F-BD09-A75D-F53B-54D12C117DFA}"/>
              </a:ext>
            </a:extLst>
          </p:cNvPr>
          <p:cNvSpPr/>
          <p:nvPr/>
        </p:nvSpPr>
        <p:spPr>
          <a:xfrm>
            <a:off x="10394459" y="4640761"/>
            <a:ext cx="134244" cy="16046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911E25DE-E6A5-29E0-3C71-2DA8EDF66865}"/>
              </a:ext>
            </a:extLst>
          </p:cNvPr>
          <p:cNvCxnSpPr>
            <a:cxnSpLocks/>
            <a:stCxn id="72" idx="0"/>
            <a:endCxn id="73" idx="4"/>
          </p:cNvCxnSpPr>
          <p:nvPr/>
        </p:nvCxnSpPr>
        <p:spPr>
          <a:xfrm flipV="1">
            <a:off x="10461581" y="4801225"/>
            <a:ext cx="0" cy="1896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7C1A4AC-D633-0FF4-6D55-0999B390F75F}"/>
              </a:ext>
            </a:extLst>
          </p:cNvPr>
          <p:cNvSpPr txBox="1"/>
          <p:nvPr/>
        </p:nvSpPr>
        <p:spPr>
          <a:xfrm>
            <a:off x="11005450" y="4990887"/>
            <a:ext cx="777318" cy="27549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1D5D104D-0371-DBE7-2EEA-9D9F10330D96}"/>
              </a:ext>
            </a:extLst>
          </p:cNvPr>
          <p:cNvSpPr/>
          <p:nvPr/>
        </p:nvSpPr>
        <p:spPr>
          <a:xfrm>
            <a:off x="11326987" y="4640761"/>
            <a:ext cx="134244" cy="160464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8E39389F-6774-1C0B-D93D-EAA30DCDC907}"/>
              </a:ext>
            </a:extLst>
          </p:cNvPr>
          <p:cNvCxnSpPr>
            <a:cxnSpLocks/>
            <a:stCxn id="75" idx="0"/>
            <a:endCxn id="76" idx="4"/>
          </p:cNvCxnSpPr>
          <p:nvPr/>
        </p:nvCxnSpPr>
        <p:spPr>
          <a:xfrm flipV="1">
            <a:off x="11394109" y="4801225"/>
            <a:ext cx="0" cy="1896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072E47BE-B5D1-B823-A487-E900E539B2B8}"/>
              </a:ext>
            </a:extLst>
          </p:cNvPr>
          <p:cNvSpPr txBox="1"/>
          <p:nvPr/>
        </p:nvSpPr>
        <p:spPr>
          <a:xfrm>
            <a:off x="3042405" y="6249547"/>
            <a:ext cx="2304658" cy="46166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인용발명이 출원 전 공지되었다는 증거를 출원 후 작성</a:t>
            </a: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A2409878-C3FC-0A47-02A4-ED286D3548FB}"/>
              </a:ext>
            </a:extLst>
          </p:cNvPr>
          <p:cNvCxnSpPr>
            <a:stCxn id="79" idx="0"/>
            <a:endCxn id="35" idx="2"/>
          </p:cNvCxnSpPr>
          <p:nvPr/>
        </p:nvCxnSpPr>
        <p:spPr>
          <a:xfrm flipV="1">
            <a:off x="4194734" y="6081655"/>
            <a:ext cx="0" cy="16789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타원 81">
            <a:extLst>
              <a:ext uri="{FF2B5EF4-FFF2-40B4-BE49-F238E27FC236}">
                <a16:creationId xmlns:a16="http://schemas.microsoft.com/office/drawing/2014/main" id="{D81804DC-48DB-4A1D-40CC-C5D05A4842A8}"/>
              </a:ext>
            </a:extLst>
          </p:cNvPr>
          <p:cNvSpPr/>
          <p:nvPr/>
        </p:nvSpPr>
        <p:spPr>
          <a:xfrm>
            <a:off x="2760888" y="6380285"/>
            <a:ext cx="269967" cy="269967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E4EC884C-BBA8-DA96-5BDB-DEB01CF17C59}"/>
              </a:ext>
            </a:extLst>
          </p:cNvPr>
          <p:cNvSpPr/>
          <p:nvPr/>
        </p:nvSpPr>
        <p:spPr>
          <a:xfrm>
            <a:off x="8030300" y="6423129"/>
            <a:ext cx="269967" cy="269967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cxnSp>
        <p:nvCxnSpPr>
          <p:cNvPr id="85" name="연결선: 구부러짐 84">
            <a:extLst>
              <a:ext uri="{FF2B5EF4-FFF2-40B4-BE49-F238E27FC236}">
                <a16:creationId xmlns:a16="http://schemas.microsoft.com/office/drawing/2014/main" id="{C95D0382-D1DA-FD7A-C4F8-F82B163FBD74}"/>
              </a:ext>
            </a:extLst>
          </p:cNvPr>
          <p:cNvCxnSpPr>
            <a:stCxn id="33" idx="0"/>
            <a:endCxn id="60" idx="1"/>
          </p:cNvCxnSpPr>
          <p:nvPr/>
        </p:nvCxnSpPr>
        <p:spPr>
          <a:xfrm rot="16200000" flipH="1">
            <a:off x="4811561" y="4023497"/>
            <a:ext cx="23936" cy="1257591"/>
          </a:xfrm>
          <a:prstGeom prst="curvedConnector3">
            <a:avLst>
              <a:gd name="adj1" fmla="val -955047"/>
            </a:avLst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연결선: 구부러짐 85">
            <a:extLst>
              <a:ext uri="{FF2B5EF4-FFF2-40B4-BE49-F238E27FC236}">
                <a16:creationId xmlns:a16="http://schemas.microsoft.com/office/drawing/2014/main" id="{19A6F204-FC37-21C7-1F6B-87F2BC704456}"/>
              </a:ext>
            </a:extLst>
          </p:cNvPr>
          <p:cNvCxnSpPr>
            <a:cxnSpLocks/>
            <a:stCxn id="60" idx="0"/>
            <a:endCxn id="69" idx="1"/>
          </p:cNvCxnSpPr>
          <p:nvPr/>
        </p:nvCxnSpPr>
        <p:spPr>
          <a:xfrm rot="16200000" flipH="1">
            <a:off x="7326161" y="2814387"/>
            <a:ext cx="23190" cy="3675939"/>
          </a:xfrm>
          <a:prstGeom prst="curvedConnector3">
            <a:avLst>
              <a:gd name="adj1" fmla="val -2417986"/>
            </a:avLst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08BAD44D-22D2-17A7-0752-9240CB7A92CE}"/>
              </a:ext>
            </a:extLst>
          </p:cNvPr>
          <p:cNvSpPr txBox="1"/>
          <p:nvPr/>
        </p:nvSpPr>
        <p:spPr>
          <a:xfrm>
            <a:off x="4404108" y="4366765"/>
            <a:ext cx="922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주지부합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DECAD3A-E16A-82A1-FDAA-61BF9CAA4737}"/>
              </a:ext>
            </a:extLst>
          </p:cNvPr>
          <p:cNvSpPr txBox="1"/>
          <p:nvPr/>
        </p:nvSpPr>
        <p:spPr>
          <a:xfrm>
            <a:off x="6536469" y="3923531"/>
            <a:ext cx="9220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주지부합</a:t>
            </a:r>
          </a:p>
        </p:txBody>
      </p:sp>
      <p:sp>
        <p:nvSpPr>
          <p:cNvPr id="93" name="타원 92">
            <a:extLst>
              <a:ext uri="{FF2B5EF4-FFF2-40B4-BE49-F238E27FC236}">
                <a16:creationId xmlns:a16="http://schemas.microsoft.com/office/drawing/2014/main" id="{8AB91872-BF0F-EAF6-CD53-115E37DC3F49}"/>
              </a:ext>
            </a:extLst>
          </p:cNvPr>
          <p:cNvSpPr/>
          <p:nvPr/>
        </p:nvSpPr>
        <p:spPr>
          <a:xfrm>
            <a:off x="6351078" y="3971423"/>
            <a:ext cx="269967" cy="269967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8B0E27-0F31-F74A-0942-AAB0A7D1A238}"/>
              </a:ext>
            </a:extLst>
          </p:cNvPr>
          <p:cNvSpPr txBox="1"/>
          <p:nvPr/>
        </p:nvSpPr>
        <p:spPr>
          <a:xfrm>
            <a:off x="6877972" y="5619990"/>
            <a:ext cx="230465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새로운 정정부적법 사유 주장 불가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6C81273-69AF-6E97-E79A-26CAC1272471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8030301" y="5267134"/>
            <a:ext cx="0" cy="35285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말풍선: 모서리가 둥근 사각형 12">
            <a:extLst>
              <a:ext uri="{FF2B5EF4-FFF2-40B4-BE49-F238E27FC236}">
                <a16:creationId xmlns:a16="http://schemas.microsoft.com/office/drawing/2014/main" id="{30760454-DEAB-C273-764D-C4FDC7C9BC26}"/>
              </a:ext>
            </a:extLst>
          </p:cNvPr>
          <p:cNvSpPr/>
          <p:nvPr/>
        </p:nvSpPr>
        <p:spPr>
          <a:xfrm>
            <a:off x="2373934" y="3972304"/>
            <a:ext cx="1564575" cy="461665"/>
          </a:xfrm>
          <a:prstGeom prst="wedgeRoundRectCallout">
            <a:avLst>
              <a:gd name="adj1" fmla="val 61001"/>
              <a:gd name="adj2" fmla="val 10119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특허권자의 의견서</a:t>
            </a:r>
            <a:r>
              <a:rPr lang="en-US" altLang="ko-KR" sz="1100" dirty="0"/>
              <a:t>/</a:t>
            </a:r>
          </a:p>
          <a:p>
            <a:pPr algn="ctr"/>
            <a:r>
              <a:rPr lang="ko-KR" altLang="en-US" sz="1100" dirty="0"/>
              <a:t>정정명세서 </a:t>
            </a:r>
            <a:r>
              <a:rPr lang="ko-KR" altLang="en-US" sz="1100" dirty="0" err="1"/>
              <a:t>재보정</a:t>
            </a:r>
            <a:r>
              <a:rPr lang="ko-KR" altLang="en-US" sz="1100" dirty="0"/>
              <a:t> 기회</a:t>
            </a:r>
            <a:endParaRPr lang="en-US" altLang="ko-KR" sz="11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E2D57C-A45A-5501-EF46-155AD99D5D45}"/>
              </a:ext>
            </a:extLst>
          </p:cNvPr>
          <p:cNvSpPr txBox="1"/>
          <p:nvPr/>
        </p:nvSpPr>
        <p:spPr>
          <a:xfrm>
            <a:off x="4465355" y="5203091"/>
            <a:ext cx="8066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136</a:t>
            </a:r>
            <a:r>
              <a:rPr lang="ko-KR" altLang="en-US" sz="1400" dirty="0">
                <a:solidFill>
                  <a:srgbClr val="FF0000"/>
                </a:solidFill>
              </a:rPr>
              <a:t>조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6</a:t>
            </a:r>
            <a:r>
              <a:rPr lang="ko-KR" altLang="en-US" sz="1400" dirty="0">
                <a:solidFill>
                  <a:srgbClr val="FF0000"/>
                </a:solidFill>
              </a:rPr>
              <a:t>항</a:t>
            </a:r>
          </a:p>
        </p:txBody>
      </p:sp>
    </p:spTree>
    <p:extLst>
      <p:ext uri="{BB962C8B-B14F-4D97-AF65-F5344CB8AC3E}">
        <p14:creationId xmlns:p14="http://schemas.microsoft.com/office/powerpoint/2010/main" val="119126704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자백과 자백간주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77875" y="215532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875" y="976902"/>
            <a:ext cx="1193632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특허법이나 행정소송법에 자백 또는 자백간주에 대하여 아무런 특별규정을 두고 있지 않으므로 </a:t>
            </a:r>
            <a:r>
              <a:rPr lang="ko-KR" altLang="en-US" sz="1400" dirty="0" err="1">
                <a:solidFill>
                  <a:schemeClr val="tx2"/>
                </a:solidFill>
              </a:rPr>
              <a:t>심결취소소송에</a:t>
            </a:r>
            <a:r>
              <a:rPr lang="ko-KR" altLang="en-US" sz="1400" dirty="0">
                <a:solidFill>
                  <a:schemeClr val="tx2"/>
                </a:solidFill>
              </a:rPr>
              <a:t> 민사소송법의 자백 또는 자백간주 규정이 준용되는지 문제이다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이에 대하여 대법원 </a:t>
            </a:r>
            <a:r>
              <a:rPr lang="en-US" altLang="ko-KR" sz="1400" dirty="0">
                <a:solidFill>
                  <a:schemeClr val="tx2"/>
                </a:solidFill>
              </a:rPr>
              <a:t>2000. 12. 12. </a:t>
            </a:r>
            <a:r>
              <a:rPr lang="ko-KR" altLang="en-US" sz="1400" dirty="0">
                <a:solidFill>
                  <a:schemeClr val="tx2"/>
                </a:solidFill>
              </a:rPr>
              <a:t>선고 </a:t>
            </a:r>
            <a:r>
              <a:rPr lang="en-US" altLang="ko-KR" sz="1400" dirty="0">
                <a:solidFill>
                  <a:schemeClr val="tx2"/>
                </a:solidFill>
              </a:rPr>
              <a:t>2000</a:t>
            </a:r>
            <a:r>
              <a:rPr lang="ko-KR" altLang="en-US" sz="1400" dirty="0">
                <a:solidFill>
                  <a:schemeClr val="tx2"/>
                </a:solidFill>
              </a:rPr>
              <a:t>후</a:t>
            </a:r>
            <a:r>
              <a:rPr lang="en-US" altLang="ko-KR" sz="1400" dirty="0">
                <a:solidFill>
                  <a:schemeClr val="tx2"/>
                </a:solidFill>
              </a:rPr>
              <a:t>1542 </a:t>
            </a:r>
            <a:r>
              <a:rPr lang="ko-KR" altLang="en-US" sz="1400" dirty="0">
                <a:solidFill>
                  <a:schemeClr val="tx2"/>
                </a:solidFill>
              </a:rPr>
              <a:t>판결은 “행정소송인 </a:t>
            </a:r>
            <a:r>
              <a:rPr lang="ko-KR" altLang="en-US" sz="1400" dirty="0" err="1">
                <a:solidFill>
                  <a:schemeClr val="tx2"/>
                </a:solidFill>
              </a:rPr>
              <a:t>심결취소소송에서도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원칙적으로 변론주의가 적용되고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따라서 자백 또는 자백간주도 인정되나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자백의 대상은 사실이고 이러한 사실에 대한 법적 판단 내지 평가는 자백의 대상이 되지 아니한다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.”</a:t>
            </a:r>
            <a:r>
              <a:rPr lang="ko-KR" altLang="en-US" sz="1400" dirty="0">
                <a:solidFill>
                  <a:schemeClr val="tx2"/>
                </a:solidFill>
              </a:rPr>
              <a:t>고 하여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「</a:t>
            </a:r>
            <a:r>
              <a:rPr lang="ko-KR" altLang="en-US" sz="1400" dirty="0" err="1">
                <a:solidFill>
                  <a:schemeClr val="tx2"/>
                </a:solidFill>
              </a:rPr>
              <a:t>사실」과</a:t>
            </a:r>
            <a:r>
              <a:rPr lang="ko-KR" altLang="en-US" sz="1400" dirty="0">
                <a:solidFill>
                  <a:schemeClr val="tx2"/>
                </a:solidFill>
              </a:rPr>
              <a:t> 「법적 판단 내지 </a:t>
            </a:r>
            <a:r>
              <a:rPr lang="ko-KR" altLang="en-US" sz="1400" dirty="0" err="1">
                <a:solidFill>
                  <a:schemeClr val="tx2"/>
                </a:solidFill>
              </a:rPr>
              <a:t>평가」를</a:t>
            </a:r>
            <a:r>
              <a:rPr lang="ko-KR" altLang="en-US" sz="1400" dirty="0">
                <a:solidFill>
                  <a:schemeClr val="tx2"/>
                </a:solidFill>
              </a:rPr>
              <a:t> 구분하고 있다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어떤 개념이 사실개념인지 아니면 평가개념인지에 대한 구별은 쉽지 아니하다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사실에 대한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00FFFF"/>
                </a:highlight>
              </a:rPr>
              <a:t>진술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인지 아니면 법적 판단 내지 평가에 관한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00FFFF"/>
                </a:highlight>
              </a:rPr>
              <a:t>진술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인지는 당사자 진술의 구체적 내용과 경위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변론의 진행 경과 등을 종합적으로 고려하여 판단</a:t>
            </a:r>
            <a:r>
              <a:rPr lang="ko-KR" altLang="en-US" sz="1400" dirty="0">
                <a:solidFill>
                  <a:schemeClr val="tx2"/>
                </a:solidFill>
              </a:rPr>
              <a:t>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3952752"/>
              </p:ext>
            </p:extLst>
          </p:nvPr>
        </p:nvGraphicFramePr>
        <p:xfrm>
          <a:off x="708025" y="2472266"/>
          <a:ext cx="6759576" cy="111252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253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31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531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특허심판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사실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법적 판단 내지 평가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특허심판원 </a:t>
                      </a:r>
                      <a:r>
                        <a:rPr lang="ko-KR" altLang="en-US" sz="1600" dirty="0" err="1"/>
                        <a:t>계속중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자백 불인정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자백 불인정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특허법원 </a:t>
                      </a:r>
                      <a:r>
                        <a:rPr lang="ko-KR" altLang="en-US" sz="1600" dirty="0" err="1"/>
                        <a:t>계속중</a:t>
                      </a:r>
                      <a:endParaRPr lang="ko-KR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자백 인정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자백 불인정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" name="모서리가 둥근 사각형 설명선 13"/>
          <p:cNvSpPr/>
          <p:nvPr/>
        </p:nvSpPr>
        <p:spPr>
          <a:xfrm>
            <a:off x="514350" y="4191001"/>
            <a:ext cx="4657725" cy="1830237"/>
          </a:xfrm>
          <a:prstGeom prst="wedgeRoundRectCallout">
            <a:avLst>
              <a:gd name="adj1" fmla="val 31760"/>
              <a:gd name="adj2" fmla="val -93341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</a:rPr>
              <a:t>특허발명의 진보성 판단에 제공되는 선행발명이 어떤 구성요소를 가지고 있는지 여부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  (</a:t>
            </a:r>
            <a:r>
              <a:rPr lang="ko-KR" altLang="en-US" sz="1400" dirty="0">
                <a:solidFill>
                  <a:schemeClr val="tx1"/>
                </a:solidFill>
              </a:rPr>
              <a:t>대법원 </a:t>
            </a:r>
            <a:r>
              <a:rPr lang="en-US" altLang="ko-KR" sz="1400" dirty="0">
                <a:solidFill>
                  <a:schemeClr val="tx1"/>
                </a:solidFill>
              </a:rPr>
              <a:t>2006. 8. 24. </a:t>
            </a:r>
            <a:r>
              <a:rPr lang="ko-KR" altLang="en-US" sz="1400" dirty="0">
                <a:solidFill>
                  <a:schemeClr val="tx1"/>
                </a:solidFill>
              </a:rPr>
              <a:t>선고 </a:t>
            </a:r>
            <a:r>
              <a:rPr lang="en-US" altLang="ko-KR" sz="1400" dirty="0">
                <a:solidFill>
                  <a:schemeClr val="tx1"/>
                </a:solidFill>
              </a:rPr>
              <a:t>2004</a:t>
            </a:r>
            <a:r>
              <a:rPr lang="ko-KR" altLang="en-US" sz="1400" dirty="0">
                <a:solidFill>
                  <a:schemeClr val="tx1"/>
                </a:solidFill>
              </a:rPr>
              <a:t>후</a:t>
            </a:r>
            <a:r>
              <a:rPr lang="en-US" altLang="ko-KR" sz="1400" dirty="0">
                <a:solidFill>
                  <a:schemeClr val="tx1"/>
                </a:solidFill>
              </a:rPr>
              <a:t>905)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</a:rPr>
              <a:t>피심판청구인의 확인대상발명 실시 여부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  (</a:t>
            </a:r>
            <a:r>
              <a:rPr lang="ko-KR" altLang="en-US" sz="1400" dirty="0">
                <a:solidFill>
                  <a:schemeClr val="tx1"/>
                </a:solidFill>
              </a:rPr>
              <a:t>특허법원 </a:t>
            </a:r>
            <a:r>
              <a:rPr lang="en-US" altLang="ko-KR" sz="1400" dirty="0">
                <a:solidFill>
                  <a:schemeClr val="tx1"/>
                </a:solidFill>
              </a:rPr>
              <a:t>2012. 7. 26. </a:t>
            </a:r>
            <a:r>
              <a:rPr lang="ko-KR" altLang="en-US" sz="1400" dirty="0">
                <a:solidFill>
                  <a:schemeClr val="tx1"/>
                </a:solidFill>
              </a:rPr>
              <a:t>선고 </a:t>
            </a:r>
            <a:r>
              <a:rPr lang="en-US" altLang="ko-KR" sz="1400" dirty="0">
                <a:solidFill>
                  <a:schemeClr val="tx1"/>
                </a:solidFill>
              </a:rPr>
              <a:t>2011</a:t>
            </a:r>
            <a:r>
              <a:rPr lang="ko-KR" altLang="en-US" sz="1400" dirty="0">
                <a:solidFill>
                  <a:schemeClr val="tx1"/>
                </a:solidFill>
              </a:rPr>
              <a:t>허</a:t>
            </a:r>
            <a:r>
              <a:rPr lang="en-US" altLang="ko-KR" sz="1400" dirty="0">
                <a:solidFill>
                  <a:schemeClr val="tx1"/>
                </a:solidFill>
              </a:rPr>
              <a:t>11255)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</a:rPr>
              <a:t>침해대상제품이 어떤 구성요소를 가지고 있는지 여부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  (</a:t>
            </a:r>
            <a:r>
              <a:rPr lang="ko-KR" altLang="en-US" sz="1400" dirty="0">
                <a:solidFill>
                  <a:schemeClr val="tx1"/>
                </a:solidFill>
              </a:rPr>
              <a:t>대법원 </a:t>
            </a:r>
            <a:r>
              <a:rPr lang="en-US" altLang="ko-KR" sz="1400" dirty="0">
                <a:solidFill>
                  <a:schemeClr val="tx1"/>
                </a:solidFill>
              </a:rPr>
              <a:t>2022. 01. 27. </a:t>
            </a:r>
            <a:r>
              <a:rPr lang="ko-KR" altLang="en-US" sz="1400" dirty="0">
                <a:solidFill>
                  <a:schemeClr val="tx1"/>
                </a:solidFill>
              </a:rPr>
              <a:t>선고 </a:t>
            </a:r>
            <a:r>
              <a:rPr lang="en-US" altLang="ko-KR" sz="1400" dirty="0">
                <a:solidFill>
                  <a:schemeClr val="tx1"/>
                </a:solidFill>
              </a:rPr>
              <a:t>2019</a:t>
            </a:r>
            <a:r>
              <a:rPr lang="ko-KR" altLang="en-US" sz="1400" dirty="0">
                <a:solidFill>
                  <a:schemeClr val="tx1"/>
                </a:solidFill>
              </a:rPr>
              <a:t>다</a:t>
            </a:r>
            <a:r>
              <a:rPr lang="en-US" altLang="ko-KR" sz="1400" dirty="0">
                <a:solidFill>
                  <a:schemeClr val="tx1"/>
                </a:solidFill>
              </a:rPr>
              <a:t>277751)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모서리가 둥근 사각형 설명선 21"/>
          <p:cNvSpPr/>
          <p:nvPr/>
        </p:nvSpPr>
        <p:spPr>
          <a:xfrm>
            <a:off x="6143625" y="4105276"/>
            <a:ext cx="5498041" cy="1915962"/>
          </a:xfrm>
          <a:prstGeom prst="wedgeRoundRectCallout">
            <a:avLst>
              <a:gd name="adj1" fmla="val -42303"/>
              <a:gd name="adj2" fmla="val -8537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</a:rPr>
              <a:t>등록고안과 확인대상고안의 동일 여부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  (</a:t>
            </a:r>
            <a:r>
              <a:rPr lang="ko-KR" altLang="en-US" sz="1400" dirty="0">
                <a:solidFill>
                  <a:schemeClr val="tx1"/>
                </a:solidFill>
              </a:rPr>
              <a:t>특허법원 </a:t>
            </a:r>
            <a:r>
              <a:rPr lang="en-US" altLang="ko-KR" sz="1400" dirty="0">
                <a:solidFill>
                  <a:schemeClr val="tx1"/>
                </a:solidFill>
              </a:rPr>
              <a:t>1999. 3. 5. </a:t>
            </a:r>
            <a:r>
              <a:rPr lang="ko-KR" altLang="en-US" sz="1400" dirty="0">
                <a:solidFill>
                  <a:schemeClr val="tx1"/>
                </a:solidFill>
              </a:rPr>
              <a:t>선고 </a:t>
            </a:r>
            <a:r>
              <a:rPr lang="en-US" altLang="ko-KR" sz="1400" dirty="0">
                <a:solidFill>
                  <a:schemeClr val="tx1"/>
                </a:solidFill>
              </a:rPr>
              <a:t>98</a:t>
            </a:r>
            <a:r>
              <a:rPr lang="ko-KR" altLang="en-US" sz="1400" dirty="0">
                <a:solidFill>
                  <a:schemeClr val="tx1"/>
                </a:solidFill>
              </a:rPr>
              <a:t>허</a:t>
            </a:r>
            <a:r>
              <a:rPr lang="en-US" altLang="ko-KR" sz="1400" dirty="0">
                <a:solidFill>
                  <a:schemeClr val="tx1"/>
                </a:solidFill>
              </a:rPr>
              <a:t>4883)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</a:rPr>
              <a:t>신규성 또는 진보성이 있는지 여부</a:t>
            </a:r>
            <a:endParaRPr lang="en-US" altLang="ko-KR" sz="1400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      (</a:t>
            </a:r>
            <a:r>
              <a:rPr lang="ko-KR" altLang="en-US" sz="1400" dirty="0">
                <a:solidFill>
                  <a:schemeClr val="tx1"/>
                </a:solidFill>
              </a:rPr>
              <a:t>특허법원 </a:t>
            </a:r>
            <a:r>
              <a:rPr lang="en-US" altLang="ko-KR" sz="1400" dirty="0">
                <a:solidFill>
                  <a:schemeClr val="tx1"/>
                </a:solidFill>
              </a:rPr>
              <a:t>2000. 3. 31. </a:t>
            </a:r>
            <a:r>
              <a:rPr lang="ko-KR" altLang="en-US" sz="1400" dirty="0">
                <a:solidFill>
                  <a:schemeClr val="tx1"/>
                </a:solidFill>
              </a:rPr>
              <a:t>선고 </a:t>
            </a:r>
            <a:r>
              <a:rPr lang="en-US" altLang="ko-KR" sz="1400" dirty="0">
                <a:solidFill>
                  <a:schemeClr val="tx1"/>
                </a:solidFill>
              </a:rPr>
              <a:t>99</a:t>
            </a:r>
            <a:r>
              <a:rPr lang="ko-KR" altLang="en-US" sz="1400" dirty="0">
                <a:solidFill>
                  <a:schemeClr val="tx1"/>
                </a:solidFill>
              </a:rPr>
              <a:t>허</a:t>
            </a:r>
            <a:r>
              <a:rPr lang="en-US" altLang="ko-KR" sz="1400" dirty="0">
                <a:solidFill>
                  <a:schemeClr val="tx1"/>
                </a:solidFill>
              </a:rPr>
              <a:t>6640)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</a:rPr>
              <a:t>특허청구항의 해석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특허법원 </a:t>
            </a:r>
            <a:r>
              <a:rPr lang="en-US" altLang="ko-KR" sz="1400" dirty="0">
                <a:solidFill>
                  <a:schemeClr val="tx1"/>
                </a:solidFill>
              </a:rPr>
              <a:t>2000. 9. 21. </a:t>
            </a:r>
            <a:r>
              <a:rPr lang="ko-KR" altLang="en-US" sz="1400" dirty="0">
                <a:solidFill>
                  <a:schemeClr val="tx1"/>
                </a:solidFill>
              </a:rPr>
              <a:t>선고 </a:t>
            </a:r>
            <a:r>
              <a:rPr lang="en-US" altLang="ko-KR" sz="1400" dirty="0">
                <a:solidFill>
                  <a:schemeClr val="tx1"/>
                </a:solidFill>
              </a:rPr>
              <a:t>99</a:t>
            </a:r>
            <a:r>
              <a:rPr lang="ko-KR" altLang="en-US" sz="1400" dirty="0">
                <a:solidFill>
                  <a:schemeClr val="tx1"/>
                </a:solidFill>
              </a:rPr>
              <a:t>허</a:t>
            </a:r>
            <a:r>
              <a:rPr lang="en-US" altLang="ko-KR" sz="1400" dirty="0">
                <a:solidFill>
                  <a:schemeClr val="tx1"/>
                </a:solidFill>
              </a:rPr>
              <a:t>5654)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</a:rPr>
              <a:t>정정요건에 해당하는지 여부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대법원 </a:t>
            </a:r>
            <a:r>
              <a:rPr lang="en-US" altLang="ko-KR" sz="1400" dirty="0">
                <a:solidFill>
                  <a:schemeClr val="tx1"/>
                </a:solidFill>
              </a:rPr>
              <a:t>2014. 5. 16. </a:t>
            </a:r>
            <a:r>
              <a:rPr lang="ko-KR" altLang="en-US" sz="1400" dirty="0">
                <a:solidFill>
                  <a:schemeClr val="tx1"/>
                </a:solidFill>
              </a:rPr>
              <a:t>선고 </a:t>
            </a:r>
            <a:r>
              <a:rPr lang="en-US" altLang="ko-KR" sz="1400" dirty="0">
                <a:solidFill>
                  <a:schemeClr val="tx1"/>
                </a:solidFill>
              </a:rPr>
              <a:t>2012</a:t>
            </a:r>
            <a:r>
              <a:rPr lang="ko-KR" altLang="en-US" sz="1400" dirty="0">
                <a:solidFill>
                  <a:schemeClr val="tx1"/>
                </a:solidFill>
              </a:rPr>
              <a:t>후</a:t>
            </a:r>
            <a:r>
              <a:rPr lang="en-US" altLang="ko-KR" sz="1400" dirty="0">
                <a:solidFill>
                  <a:schemeClr val="tx1"/>
                </a:solidFill>
              </a:rPr>
              <a:t>238)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>
                <a:solidFill>
                  <a:schemeClr val="tx1"/>
                </a:solidFill>
              </a:rPr>
              <a:t>침해대상제품의 구성요소가 특허발명의 구성요소와 동일 또는 균등한지 여부 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대법원 </a:t>
            </a:r>
            <a:r>
              <a:rPr lang="en-US" altLang="ko-KR" sz="1400" dirty="0">
                <a:solidFill>
                  <a:schemeClr val="tx1"/>
                </a:solidFill>
              </a:rPr>
              <a:t>2022. 01. 27. </a:t>
            </a:r>
            <a:r>
              <a:rPr lang="ko-KR" altLang="en-US" sz="1400" dirty="0">
                <a:solidFill>
                  <a:schemeClr val="tx1"/>
                </a:solidFill>
              </a:rPr>
              <a:t>선고 </a:t>
            </a:r>
            <a:r>
              <a:rPr lang="en-US" altLang="ko-KR" sz="1400" dirty="0">
                <a:solidFill>
                  <a:schemeClr val="tx1"/>
                </a:solidFill>
              </a:rPr>
              <a:t>2019</a:t>
            </a:r>
            <a:r>
              <a:rPr lang="ko-KR" altLang="en-US" sz="1400" dirty="0">
                <a:solidFill>
                  <a:schemeClr val="tx1"/>
                </a:solidFill>
              </a:rPr>
              <a:t>다</a:t>
            </a:r>
            <a:r>
              <a:rPr lang="en-US" altLang="ko-KR" sz="1400" dirty="0">
                <a:solidFill>
                  <a:schemeClr val="tx1"/>
                </a:solidFill>
              </a:rPr>
              <a:t>277751)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816618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186</a:t>
            </a:r>
            <a:r>
              <a:rPr lang="ko-KR" altLang="en-US" dirty="0"/>
              <a:t>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525252"/>
                </a:solidFill>
              </a:rPr>
              <a:t>침해소송에서의 자백 </a:t>
            </a:r>
            <a:r>
              <a:rPr lang="en-US" altLang="ko-KR" dirty="0">
                <a:solidFill>
                  <a:srgbClr val="525252"/>
                </a:solidFill>
              </a:rPr>
              <a:t>CASE</a:t>
            </a:r>
            <a:endParaRPr lang="ko-KR" altLang="en-US" dirty="0">
              <a:solidFill>
                <a:srgbClr val="525252"/>
              </a:solidFill>
            </a:endParaRPr>
          </a:p>
        </p:txBody>
      </p:sp>
      <p:sp>
        <p:nvSpPr>
          <p:cNvPr id="46" name="모서리가 둥근 직사각형 10">
            <a:extLst>
              <a:ext uri="{FF2B5EF4-FFF2-40B4-BE49-F238E27FC236}">
                <a16:creationId xmlns:a16="http://schemas.microsoft.com/office/drawing/2014/main" id="{EA6D0AA3-A795-463F-A932-E97DEE7EE09B}"/>
              </a:ext>
            </a:extLst>
          </p:cNvPr>
          <p:cNvSpPr/>
          <p:nvPr/>
        </p:nvSpPr>
        <p:spPr bwMode="auto">
          <a:xfrm>
            <a:off x="335288" y="1008637"/>
            <a:ext cx="5142485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대법원 </a:t>
            </a:r>
            <a:r>
              <a:rPr lang="en-US" altLang="ko-KR" sz="1200" dirty="0"/>
              <a:t>2022. 01. 27. </a:t>
            </a:r>
            <a:r>
              <a:rPr lang="ko-KR" altLang="en-US" sz="1200" dirty="0"/>
              <a:t>선고 </a:t>
            </a:r>
            <a:r>
              <a:rPr lang="en-US" altLang="ko-KR" sz="1200" dirty="0"/>
              <a:t>2019</a:t>
            </a:r>
            <a:r>
              <a:rPr lang="ko-KR" altLang="en-US" sz="1200" dirty="0"/>
              <a:t>다</a:t>
            </a:r>
            <a:r>
              <a:rPr lang="en-US" altLang="ko-KR" sz="1200" dirty="0"/>
              <a:t>277751 </a:t>
            </a:r>
            <a:r>
              <a:rPr lang="ko-KR" altLang="en-US" sz="1200" dirty="0"/>
              <a:t>판결 </a:t>
            </a:r>
            <a:r>
              <a:rPr lang="en-US" altLang="ko-KR" sz="1200" dirty="0"/>
              <a:t>【</a:t>
            </a:r>
            <a:r>
              <a:rPr lang="ko-KR" altLang="en-US" sz="1200" dirty="0"/>
              <a:t>특허권 침해금지 청구의 소</a:t>
            </a:r>
            <a:r>
              <a:rPr lang="en-US" altLang="ko-KR" sz="1200" dirty="0"/>
              <a:t>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8297537-B24B-4300-B18D-EAD87B250EF1}"/>
              </a:ext>
            </a:extLst>
          </p:cNvPr>
          <p:cNvSpPr/>
          <p:nvPr/>
        </p:nvSpPr>
        <p:spPr>
          <a:xfrm>
            <a:off x="232372" y="1363747"/>
            <a:ext cx="11887741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/>
              <a:t>[1] </a:t>
            </a:r>
            <a:r>
              <a:rPr lang="ko-KR" altLang="en-US" sz="1400" dirty="0"/>
              <a:t>침해대상발명이 특허발명의 특정 구성요소 포함하고 있다는 진술로 자백이 성립하였는지</a:t>
            </a:r>
            <a:r>
              <a:rPr lang="en-US" altLang="ko-KR" sz="1400" dirty="0"/>
              <a:t>, </a:t>
            </a:r>
            <a:r>
              <a:rPr lang="ko-KR" altLang="en-US" sz="1400" dirty="0"/>
              <a:t>자백이 성립하였다면 그 자백이 적법하게 취소되었는지</a:t>
            </a:r>
            <a:r>
              <a:rPr lang="en-US" altLang="ko-KR" sz="1400" dirty="0"/>
              <a:t>: </a:t>
            </a:r>
            <a:r>
              <a:rPr lang="ko-KR" altLang="en-US" sz="1400" dirty="0">
                <a:highlight>
                  <a:srgbClr val="FFFF00"/>
                </a:highlight>
              </a:rPr>
              <a:t>특허침해소송에서 상대방이 제조하는 제품</a:t>
            </a:r>
            <a:r>
              <a:rPr lang="en-US" altLang="ko-KR" sz="1400" dirty="0">
                <a:highlight>
                  <a:srgbClr val="FFFF00"/>
                </a:highlight>
              </a:rPr>
              <a:t>(</a:t>
            </a:r>
            <a:r>
              <a:rPr lang="ko-KR" altLang="en-US" sz="1400" dirty="0">
                <a:highlight>
                  <a:srgbClr val="FFFF00"/>
                </a:highlight>
              </a:rPr>
              <a:t>이하 ‘</a:t>
            </a:r>
            <a:r>
              <a:rPr lang="ko-KR" altLang="en-US" sz="1400" dirty="0" err="1">
                <a:highlight>
                  <a:srgbClr val="FFFF00"/>
                </a:highlight>
              </a:rPr>
              <a:t>침해대상제품’이라</a:t>
            </a:r>
            <a:r>
              <a:rPr lang="ko-KR" altLang="en-US" sz="1400" dirty="0">
                <a:highlight>
                  <a:srgbClr val="FFFF00"/>
                </a:highlight>
              </a:rPr>
              <a:t> 한다</a:t>
            </a:r>
            <a:r>
              <a:rPr lang="en-US" altLang="ko-KR" sz="1400" dirty="0">
                <a:highlight>
                  <a:srgbClr val="FFFF00"/>
                </a:highlight>
              </a:rPr>
              <a:t>)</a:t>
            </a:r>
            <a:r>
              <a:rPr lang="ko-KR" altLang="en-US" sz="1400" dirty="0">
                <a:highlight>
                  <a:srgbClr val="FFFF00"/>
                </a:highlight>
              </a:rPr>
              <a:t>이 어떤 구성요소를 가지고 있는지는 침해판단의 전제가 되는 주요사실로서 재판상 자백의 대상이 될 수 있다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2006. 8. 24.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2004</a:t>
            </a:r>
            <a:r>
              <a:rPr lang="ko-KR" altLang="en-US" sz="1400" dirty="0"/>
              <a:t>후</a:t>
            </a:r>
            <a:r>
              <a:rPr lang="en-US" altLang="ko-KR" sz="1400" dirty="0"/>
              <a:t>905 </a:t>
            </a:r>
            <a:r>
              <a:rPr lang="ko-KR" altLang="en-US" sz="1400" dirty="0"/>
              <a:t>판결 등 참조</a:t>
            </a:r>
            <a:r>
              <a:rPr lang="en-US" altLang="ko-KR" sz="1400" dirty="0"/>
              <a:t>).</a:t>
            </a:r>
            <a:r>
              <a:rPr lang="en-US" altLang="ko-KR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highlight>
                  <a:srgbClr val="FFFF00"/>
                </a:highlight>
              </a:rPr>
              <a:t>“</a:t>
            </a:r>
            <a:r>
              <a:rPr lang="ko-KR" altLang="en-US" sz="1400" dirty="0">
                <a:highlight>
                  <a:srgbClr val="FFFF00"/>
                </a:highlight>
              </a:rPr>
              <a:t>침해대상제품 등이 어떤 구성요소를 가지고 있다</a:t>
            </a:r>
            <a:r>
              <a:rPr lang="en-US" altLang="ko-KR" sz="1400" dirty="0">
                <a:highlight>
                  <a:srgbClr val="FFFF00"/>
                </a:highlight>
              </a:rPr>
              <a:t>.”</a:t>
            </a:r>
            <a:r>
              <a:rPr lang="ko-KR" altLang="en-US" sz="1400" dirty="0">
                <a:highlight>
                  <a:srgbClr val="FFFF00"/>
                </a:highlight>
              </a:rPr>
              <a:t>는 표현이 사실에 대한 진술인지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아니면 그 구성요소가 특허발명의 구성요소와 동일 또는 균등하다는 법적 판단 내지 평가에 관한 진술인지는 당사자 진술의 구체적 내용과 경위</a:t>
            </a:r>
            <a:r>
              <a:rPr lang="en-US" altLang="ko-KR" sz="1400" dirty="0"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highlight>
                  <a:srgbClr val="FFFF00"/>
                </a:highlight>
              </a:rPr>
              <a:t>변론의 진행 경과 등을 종합적으로 고려하여 판단</a:t>
            </a:r>
            <a:r>
              <a:rPr lang="ko-KR" altLang="en-US" sz="1400" dirty="0"/>
              <a:t>하여야 한다</a:t>
            </a:r>
            <a:r>
              <a:rPr lang="en-US" altLang="ko-KR" sz="1400" dirty="0"/>
              <a:t>. </a:t>
            </a:r>
            <a:r>
              <a:rPr lang="ko-KR" altLang="en-US" sz="1400" dirty="0"/>
              <a:t>그리고 일단 재판상 자백이 성립하면 그것이 적법하게 취소</a:t>
            </a:r>
            <a:r>
              <a:rPr lang="en-US" altLang="ko-KR" sz="1400" dirty="0"/>
              <a:t>*</a:t>
            </a:r>
            <a:r>
              <a:rPr lang="ko-KR" altLang="en-US" sz="1400" dirty="0"/>
              <a:t>되지 않는 한 법원은 이에 구속되므로 법원은 자백과 배치되는 사실을 증거에 의하여 인정할 수 없다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2018. 10. 4.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2016</a:t>
            </a:r>
            <a:r>
              <a:rPr lang="ko-KR" altLang="en-US" sz="1400" dirty="0"/>
              <a:t>다</a:t>
            </a:r>
            <a:r>
              <a:rPr lang="en-US" altLang="ko-KR" sz="1400" dirty="0"/>
              <a:t>41869 </a:t>
            </a:r>
            <a:r>
              <a:rPr lang="ko-KR" altLang="en-US" sz="1400" dirty="0"/>
              <a:t>판결 등 참조</a:t>
            </a:r>
            <a:r>
              <a:rPr lang="en-US" altLang="ko-KR" sz="1400" dirty="0"/>
              <a:t>).</a:t>
            </a:r>
          </a:p>
          <a:p>
            <a:endParaRPr lang="en-US" altLang="ko-KR" sz="1400" dirty="0"/>
          </a:p>
          <a:p>
            <a:r>
              <a:rPr lang="ko-KR" altLang="en-US" sz="1400" dirty="0">
                <a:highlight>
                  <a:srgbClr val="CCECFF"/>
                </a:highlight>
              </a:rPr>
              <a:t>* 민사소송법 제</a:t>
            </a:r>
            <a:r>
              <a:rPr lang="en-US" altLang="ko-KR" sz="1400" dirty="0">
                <a:highlight>
                  <a:srgbClr val="CCECFF"/>
                </a:highlight>
              </a:rPr>
              <a:t>288</a:t>
            </a:r>
            <a:r>
              <a:rPr lang="ko-KR" altLang="en-US" sz="1400" dirty="0">
                <a:highlight>
                  <a:srgbClr val="CCECFF"/>
                </a:highlight>
              </a:rPr>
              <a:t>조</a:t>
            </a:r>
            <a:r>
              <a:rPr lang="en-US" altLang="ko-KR" sz="1400" dirty="0">
                <a:highlight>
                  <a:srgbClr val="CCECFF"/>
                </a:highlight>
              </a:rPr>
              <a:t>(</a:t>
            </a:r>
            <a:r>
              <a:rPr lang="ko-KR" altLang="en-US" sz="1400" dirty="0" err="1">
                <a:highlight>
                  <a:srgbClr val="CCECFF"/>
                </a:highlight>
              </a:rPr>
              <a:t>불요증사실</a:t>
            </a:r>
            <a:r>
              <a:rPr lang="en-US" altLang="ko-KR" sz="1400" dirty="0">
                <a:highlight>
                  <a:srgbClr val="CCECFF"/>
                </a:highlight>
              </a:rPr>
              <a:t>) </a:t>
            </a:r>
            <a:r>
              <a:rPr lang="ko-KR" altLang="en-US" sz="1400" dirty="0">
                <a:highlight>
                  <a:srgbClr val="CCECFF"/>
                </a:highlight>
              </a:rPr>
              <a:t>법원에서 당사자가 자백한 사실과 현저한 사실은 증명을 필요로 하지 아니한다</a:t>
            </a:r>
            <a:r>
              <a:rPr lang="en-US" altLang="ko-KR" sz="1400" dirty="0">
                <a:highlight>
                  <a:srgbClr val="CCECFF"/>
                </a:highlight>
              </a:rPr>
              <a:t>. </a:t>
            </a:r>
            <a:r>
              <a:rPr lang="ko-KR" altLang="en-US" sz="1400" dirty="0">
                <a:highlight>
                  <a:srgbClr val="CCECFF"/>
                </a:highlight>
              </a:rPr>
              <a:t>다만</a:t>
            </a:r>
            <a:r>
              <a:rPr lang="en-US" altLang="ko-KR" sz="1400" dirty="0">
                <a:highlight>
                  <a:srgbClr val="CCECFF"/>
                </a:highlight>
              </a:rPr>
              <a:t>, </a:t>
            </a:r>
            <a:r>
              <a:rPr lang="ko-KR" altLang="en-US" sz="1400" dirty="0">
                <a:highlight>
                  <a:srgbClr val="CCECFF"/>
                </a:highlight>
              </a:rPr>
              <a:t>진실에 어긋나는 자백은 그것이 착오로 말미암은 것임을 증명한 때에는 취소할 수 있다</a:t>
            </a:r>
            <a:r>
              <a:rPr lang="en-US" altLang="ko-KR" sz="1400" dirty="0">
                <a:highlight>
                  <a:srgbClr val="CCECFF"/>
                </a:highlight>
              </a:rPr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[2] </a:t>
            </a:r>
            <a:r>
              <a:rPr lang="ko-KR" altLang="en-US" sz="1400" dirty="0"/>
              <a:t>이 사건 특허발명이 명세서 기재요건 중 명확성 요건을 충족하는지</a:t>
            </a:r>
            <a:r>
              <a:rPr lang="en-US" altLang="ko-KR" sz="1400" dirty="0"/>
              <a:t>: </a:t>
            </a:r>
            <a:r>
              <a:rPr lang="ko-KR" altLang="en-US" sz="1400" dirty="0"/>
              <a:t>특허법 제</a:t>
            </a:r>
            <a:r>
              <a:rPr lang="en-US" altLang="ko-KR" sz="1400" dirty="0"/>
              <a:t>42</a:t>
            </a:r>
            <a:r>
              <a:rPr lang="ko-KR" altLang="en-US" sz="1400" dirty="0"/>
              <a:t>조 제</a:t>
            </a:r>
            <a:r>
              <a:rPr lang="en-US" altLang="ko-KR" sz="1400" dirty="0"/>
              <a:t>4</a:t>
            </a:r>
            <a:r>
              <a:rPr lang="ko-KR" altLang="en-US" sz="1400" dirty="0"/>
              <a:t>항 제</a:t>
            </a:r>
            <a:r>
              <a:rPr lang="en-US" altLang="ko-KR" sz="1400" dirty="0"/>
              <a:t>2</a:t>
            </a:r>
            <a:r>
              <a:rPr lang="ko-KR" altLang="en-US" sz="1400" dirty="0"/>
              <a:t>호는 청구범위에는 발명이 명확하고 간결하게 적혀야 한다고 규정하고 있다</a:t>
            </a:r>
            <a:r>
              <a:rPr lang="en-US" altLang="ko-KR" sz="1400" dirty="0"/>
              <a:t>. </a:t>
            </a:r>
            <a:r>
              <a:rPr lang="ko-KR" altLang="en-US" sz="1400" dirty="0"/>
              <a:t>그리고 특허법 제</a:t>
            </a:r>
            <a:r>
              <a:rPr lang="en-US" altLang="ko-KR" sz="1400" dirty="0"/>
              <a:t>97</a:t>
            </a:r>
            <a:r>
              <a:rPr lang="ko-KR" altLang="en-US" sz="1400" dirty="0"/>
              <a:t>조는 특허발명의 보호범위는 청구범위에 적혀 있는 사항에 의하여 </a:t>
            </a:r>
            <a:r>
              <a:rPr lang="ko-KR" altLang="en-US" sz="1400" dirty="0" err="1"/>
              <a:t>정하여진다고</a:t>
            </a:r>
            <a:r>
              <a:rPr lang="ko-KR" altLang="en-US" sz="1400" dirty="0"/>
              <a:t> 규정하고 있다</a:t>
            </a:r>
            <a:r>
              <a:rPr lang="en-US" altLang="ko-KR" sz="1400" dirty="0"/>
              <a:t>(</a:t>
            </a:r>
            <a:r>
              <a:rPr lang="ko-KR" altLang="en-US" sz="1400" dirty="0"/>
              <a:t>이 사건에 적용되는 </a:t>
            </a:r>
            <a:r>
              <a:rPr lang="en-US" altLang="ko-KR" sz="1400" dirty="0"/>
              <a:t>2014. 6. 11. </a:t>
            </a:r>
            <a:r>
              <a:rPr lang="ko-KR" altLang="en-US" sz="1400" dirty="0"/>
              <a:t>법률 제</a:t>
            </a:r>
            <a:r>
              <a:rPr lang="en-US" altLang="ko-KR" sz="1400" dirty="0"/>
              <a:t>12753</a:t>
            </a:r>
            <a:r>
              <a:rPr lang="ko-KR" altLang="en-US" sz="1400" dirty="0"/>
              <a:t>호로 개정되기 전의 구 특허법에도 일부 표현은 다르지만 같은 취지로 규정되어 있다</a:t>
            </a:r>
            <a:r>
              <a:rPr lang="en-US" altLang="ko-KR" sz="1400" dirty="0"/>
              <a:t>). </a:t>
            </a:r>
            <a:r>
              <a:rPr lang="ko-KR" altLang="en-US" sz="1400" dirty="0"/>
              <a:t>이는 발명의 보호범위는 청구범위에 기재된 사항에 의하여 </a:t>
            </a:r>
            <a:r>
              <a:rPr lang="ko-KR" altLang="en-US" sz="1400" dirty="0" err="1"/>
              <a:t>정하여진다는</a:t>
            </a:r>
            <a:r>
              <a:rPr lang="ko-KR" altLang="en-US" sz="1400" dirty="0"/>
              <a:t> 점에서</a:t>
            </a:r>
            <a:r>
              <a:rPr lang="en-US" altLang="ko-KR" sz="1400" dirty="0"/>
              <a:t>(</a:t>
            </a:r>
            <a:r>
              <a:rPr lang="ko-KR" altLang="en-US" sz="1400" dirty="0"/>
              <a:t>특허법 제</a:t>
            </a:r>
            <a:r>
              <a:rPr lang="en-US" altLang="ko-KR" sz="1400" dirty="0"/>
              <a:t>97</a:t>
            </a:r>
            <a:r>
              <a:rPr lang="ko-KR" altLang="en-US" sz="1400" dirty="0"/>
              <a:t>조</a:t>
            </a:r>
            <a:r>
              <a:rPr lang="en-US" altLang="ko-KR" sz="1400" dirty="0"/>
              <a:t>) </a:t>
            </a:r>
            <a:r>
              <a:rPr lang="ko-KR" altLang="en-US" sz="1400" dirty="0"/>
              <a:t>청구항에는 명확한 기재만이 허용되는 것으로</a:t>
            </a:r>
            <a:r>
              <a:rPr lang="en-US" altLang="ko-KR" sz="1400" dirty="0"/>
              <a:t>, </a:t>
            </a:r>
            <a:r>
              <a:rPr lang="ko-KR" altLang="en-US" sz="1400" dirty="0"/>
              <a:t>발명의 구성을 불명료하게 표현하는 용어는 원칙적으로 허용되지 않는다는 취지이다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2006. 11. 24.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2003</a:t>
            </a:r>
            <a:r>
              <a:rPr lang="ko-KR" altLang="en-US" sz="1400" dirty="0"/>
              <a:t>후</a:t>
            </a:r>
            <a:r>
              <a:rPr lang="en-US" altLang="ko-KR" sz="1400" dirty="0"/>
              <a:t>2072 </a:t>
            </a:r>
            <a:r>
              <a:rPr lang="ko-KR" altLang="en-US" sz="1400" dirty="0"/>
              <a:t>판결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2014. 7. 24.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2012</a:t>
            </a:r>
            <a:r>
              <a:rPr lang="ko-KR" altLang="en-US" sz="1400" dirty="0"/>
              <a:t>후</a:t>
            </a:r>
            <a:r>
              <a:rPr lang="en-US" altLang="ko-KR" sz="1400" dirty="0"/>
              <a:t>1613 </a:t>
            </a:r>
            <a:r>
              <a:rPr lang="ko-KR" altLang="en-US" sz="1400" dirty="0"/>
              <a:t>판결 등 참조</a:t>
            </a:r>
            <a:r>
              <a:rPr lang="en-US" altLang="ko-KR" sz="1400" dirty="0"/>
              <a:t>). </a:t>
            </a:r>
            <a:r>
              <a:rPr lang="ko-KR" altLang="en-US" sz="1400" dirty="0"/>
              <a:t>또한 발명이 명확하게 적혀 있는지 여부는 그 발명이 속하는 기술분야에서 통상의 지식을 가진 사람이 발명의 설명이나 도면 등의 기재와 출원 당시의 기술상식을 고려하여 청구범위에 기재된 사항으로부터 특허를 받고자 하는 발명을 명확하게 파악할 수 있는지에 따라 개별적으로 판단하여야 한다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2017. 4. 7.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2014</a:t>
            </a:r>
            <a:r>
              <a:rPr lang="ko-KR" altLang="en-US" sz="1400" dirty="0"/>
              <a:t>후</a:t>
            </a:r>
            <a:r>
              <a:rPr lang="en-US" altLang="ko-KR" sz="1400" dirty="0"/>
              <a:t>1563 </a:t>
            </a:r>
            <a:r>
              <a:rPr lang="ko-KR" altLang="en-US" sz="1400" dirty="0"/>
              <a:t>판결 등 참조</a:t>
            </a:r>
            <a:r>
              <a:rPr lang="en-US" altLang="ko-KR" sz="1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14273648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189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확정된 취소판결의 기속력이 미치는 범위</a:t>
            </a:r>
          </a:p>
        </p:txBody>
      </p:sp>
      <p:sp>
        <p:nvSpPr>
          <p:cNvPr id="31" name="모서리가 둥근 직사각형 10">
            <a:extLst>
              <a:ext uri="{FF2B5EF4-FFF2-40B4-BE49-F238E27FC236}">
                <a16:creationId xmlns:a16="http://schemas.microsoft.com/office/drawing/2014/main" id="{83E8DC17-A890-4A8F-8AF6-87049ACC89A5}"/>
              </a:ext>
            </a:extLst>
          </p:cNvPr>
          <p:cNvSpPr/>
          <p:nvPr/>
        </p:nvSpPr>
        <p:spPr bwMode="auto">
          <a:xfrm>
            <a:off x="378418" y="1002199"/>
            <a:ext cx="4737046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2021. 1. 14.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2017</a:t>
            </a:r>
            <a:r>
              <a:rPr lang="ko-KR" altLang="en-US" sz="1400" dirty="0"/>
              <a:t>후</a:t>
            </a:r>
            <a:r>
              <a:rPr lang="en-US" altLang="ko-KR" sz="1400" dirty="0"/>
              <a:t>1830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등록무효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특</a:t>
            </a:r>
            <a:r>
              <a:rPr lang="en-US" altLang="ko-KR" sz="1400" dirty="0"/>
              <a:t>)】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B016C75-8430-4388-9E51-7B3101DE3CF1}"/>
              </a:ext>
            </a:extLst>
          </p:cNvPr>
          <p:cNvSpPr/>
          <p:nvPr/>
        </p:nvSpPr>
        <p:spPr>
          <a:xfrm>
            <a:off x="232372" y="1333658"/>
            <a:ext cx="1168198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심결을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취소하는 판결이 확정된 경우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그 취소의 기본이 된 이유는 그 사건에 대하여 특허심판원을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기속하는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것이고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이 경우의 기속력은 취소의 이유가 된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심결의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사실상 및 법률상 판단이 정당하지 않다는 점에서 발생한다</a:t>
            </a:r>
            <a:r>
              <a:rPr lang="en-US" altLang="ko-KR" sz="1400" dirty="0"/>
              <a:t>(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2002. 1. 11. </a:t>
            </a:r>
            <a:r>
              <a:rPr lang="ko-KR" altLang="en-US" sz="1400" dirty="0"/>
              <a:t>선고 </a:t>
            </a:r>
            <a:r>
              <a:rPr lang="en-US" altLang="ko-KR" sz="1400" dirty="0"/>
              <a:t>99</a:t>
            </a:r>
            <a:r>
              <a:rPr lang="ko-KR" altLang="en-US" sz="1400" dirty="0"/>
              <a:t>후</a:t>
            </a:r>
            <a:r>
              <a:rPr lang="en-US" altLang="ko-KR" sz="1400" dirty="0"/>
              <a:t>2860 </a:t>
            </a:r>
            <a:r>
              <a:rPr lang="ko-KR" altLang="en-US" sz="1400" dirty="0"/>
              <a:t>판결</a:t>
            </a:r>
            <a:r>
              <a:rPr lang="en-US" altLang="ko-KR" sz="1400" dirty="0"/>
              <a:t>, </a:t>
            </a:r>
            <a:r>
              <a:rPr lang="ko-KR" altLang="en-US" sz="1400" dirty="0"/>
              <a:t>대법원 </a:t>
            </a:r>
            <a:r>
              <a:rPr lang="en-US" altLang="ko-KR" sz="1400" dirty="0"/>
              <a:t>2002. 12. 26.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2001</a:t>
            </a:r>
            <a:r>
              <a:rPr lang="ko-KR" altLang="en-US" sz="1400" dirty="0"/>
              <a:t>후</a:t>
            </a:r>
            <a:r>
              <a:rPr lang="en-US" altLang="ko-KR" sz="1400" dirty="0"/>
              <a:t>96 </a:t>
            </a:r>
            <a:r>
              <a:rPr lang="ko-KR" altLang="en-US" sz="1400" dirty="0"/>
              <a:t>판결 등 참조</a:t>
            </a:r>
            <a:r>
              <a:rPr lang="en-US" altLang="ko-KR" sz="1400" dirty="0"/>
              <a:t>). </a:t>
            </a:r>
            <a:r>
              <a:rPr lang="ko-KR" altLang="en-US" sz="1400" dirty="0"/>
              <a:t>위 법리에 비추어 이 사건에서 확정된 취소판결의 기속력이 미치는 범위에 관하여 본다</a:t>
            </a:r>
            <a:r>
              <a:rPr lang="en-US" altLang="ko-KR" sz="1400" dirty="0"/>
              <a:t>. </a:t>
            </a:r>
            <a:r>
              <a:rPr lang="ko-KR" altLang="en-US" sz="1400" dirty="0"/>
              <a:t>확정된 취소판결은 정정청구가 이 사건 제</a:t>
            </a:r>
            <a:r>
              <a:rPr lang="en-US" altLang="ko-KR" sz="1400" dirty="0"/>
              <a:t>1</a:t>
            </a:r>
            <a:r>
              <a:rPr lang="ko-KR" altLang="en-US" sz="1400" dirty="0"/>
              <a:t>항 </a:t>
            </a:r>
            <a:r>
              <a:rPr lang="ko-KR" altLang="en-US" sz="1400" dirty="0" err="1"/>
              <a:t>정정발명뿐만</a:t>
            </a:r>
            <a:r>
              <a:rPr lang="ko-KR" altLang="en-US" sz="1400" dirty="0"/>
              <a:t> 아니라 이 사건 제</a:t>
            </a:r>
            <a:r>
              <a:rPr lang="en-US" altLang="ko-KR" sz="1400" dirty="0"/>
              <a:t>3</a:t>
            </a:r>
            <a:r>
              <a:rPr lang="ko-KR" altLang="en-US" sz="1400" dirty="0"/>
              <a:t>항 내지 제</a:t>
            </a:r>
            <a:r>
              <a:rPr lang="en-US" altLang="ko-KR" sz="1400" dirty="0"/>
              <a:t>5</a:t>
            </a:r>
            <a:r>
              <a:rPr lang="ko-KR" altLang="en-US" sz="1400" dirty="0"/>
              <a:t>항 정정발명에도 모두 걸쳐 있다는 이유로 이 사건 제</a:t>
            </a:r>
            <a:r>
              <a:rPr lang="en-US" altLang="ko-KR" sz="1400" dirty="0"/>
              <a:t>3</a:t>
            </a:r>
            <a:r>
              <a:rPr lang="ko-KR" altLang="en-US" sz="1400" dirty="0"/>
              <a:t>항 내지 제</a:t>
            </a:r>
            <a:r>
              <a:rPr lang="en-US" altLang="ko-KR" sz="1400" dirty="0"/>
              <a:t>5</a:t>
            </a:r>
            <a:r>
              <a:rPr lang="ko-KR" altLang="en-US" sz="1400" dirty="0"/>
              <a:t>항 정정발명에 관한 부분까지 포함하여 이 사건 </a:t>
            </a:r>
            <a:r>
              <a:rPr lang="ko-KR" altLang="en-US" sz="1400" dirty="0" err="1"/>
              <a:t>원심결을</a:t>
            </a:r>
            <a:r>
              <a:rPr lang="ko-KR" altLang="en-US" sz="1400" dirty="0"/>
              <a:t> 전부 취소하기는 하였으나</a:t>
            </a:r>
            <a:r>
              <a:rPr lang="en-US" altLang="ko-KR" sz="1400" dirty="0"/>
              <a:t>, </a:t>
            </a:r>
            <a:r>
              <a:rPr lang="ko-KR" altLang="en-US" sz="1400" dirty="0"/>
              <a:t>취소의 기본이 된 이유는 이 사건 제</a:t>
            </a:r>
            <a:r>
              <a:rPr lang="en-US" altLang="ko-KR" sz="1400" dirty="0"/>
              <a:t>1</a:t>
            </a:r>
            <a:r>
              <a:rPr lang="ko-KR" altLang="en-US" sz="1400" dirty="0"/>
              <a:t>항 정정발명에 관한 원심결의 위법성 부분이라고 할 것이다</a:t>
            </a:r>
            <a:r>
              <a:rPr lang="en-US" altLang="ko-KR" sz="1400" dirty="0"/>
              <a:t>. </a:t>
            </a:r>
            <a:r>
              <a:rPr lang="ko-KR" altLang="en-US" sz="1400" dirty="0"/>
              <a:t>따라서 확정된 취소판결의 기속력은 이 사건 제</a:t>
            </a:r>
            <a:r>
              <a:rPr lang="en-US" altLang="ko-KR" sz="1400" dirty="0"/>
              <a:t>1</a:t>
            </a:r>
            <a:r>
              <a:rPr lang="ko-KR" altLang="en-US" sz="1400" dirty="0"/>
              <a:t>항 정정발명에 관한 원심결의 사실상 및 법률상 판단이 정당하지 않다는 점에서 발생한다</a:t>
            </a:r>
            <a:r>
              <a:rPr lang="en-US" altLang="ko-KR" sz="1400" dirty="0"/>
              <a:t>.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sp>
        <p:nvSpPr>
          <p:cNvPr id="42" name="Line 5">
            <a:extLst>
              <a:ext uri="{FF2B5EF4-FFF2-40B4-BE49-F238E27FC236}">
                <a16:creationId xmlns:a16="http://schemas.microsoft.com/office/drawing/2014/main" id="{C3D521F3-C89A-4691-A233-1BC4F6DB64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5143300"/>
            <a:ext cx="11530012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90F57E0-0C93-429E-B52D-950B18A62824}"/>
              </a:ext>
            </a:extLst>
          </p:cNvPr>
          <p:cNvSpPr txBox="1"/>
          <p:nvPr/>
        </p:nvSpPr>
        <p:spPr>
          <a:xfrm>
            <a:off x="381971" y="5408107"/>
            <a:ext cx="1049336" cy="461665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무효심판청구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(1, 3-5)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1E416A6A-17E0-4A3B-8C28-9560A00280A4}"/>
              </a:ext>
            </a:extLst>
          </p:cNvPr>
          <p:cNvSpPr/>
          <p:nvPr/>
        </p:nvSpPr>
        <p:spPr>
          <a:xfrm>
            <a:off x="829269" y="505799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94B9FD84-6472-4A38-96A7-0961D12BE1A4}"/>
              </a:ext>
            </a:extLst>
          </p:cNvPr>
          <p:cNvCxnSpPr>
            <a:cxnSpLocks/>
            <a:stCxn id="44" idx="0"/>
            <a:endCxn id="47" idx="4"/>
          </p:cNvCxnSpPr>
          <p:nvPr/>
        </p:nvCxnSpPr>
        <p:spPr>
          <a:xfrm flipH="1" flipV="1">
            <a:off x="906638" y="521933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93DE314-156B-4AE0-A6A1-A3E38D2DAD5E}"/>
              </a:ext>
            </a:extLst>
          </p:cNvPr>
          <p:cNvSpPr txBox="1"/>
          <p:nvPr/>
        </p:nvSpPr>
        <p:spPr>
          <a:xfrm>
            <a:off x="1007674" y="4503464"/>
            <a:ext cx="803324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정정청구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F25F9F4-5090-4DB9-9E09-63BBFFE26323}"/>
              </a:ext>
            </a:extLst>
          </p:cNvPr>
          <p:cNvSpPr/>
          <p:nvPr/>
        </p:nvSpPr>
        <p:spPr>
          <a:xfrm>
            <a:off x="1331966" y="5057998"/>
            <a:ext cx="154738" cy="161338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0124424-B4CE-4C83-9036-BBB347007F6C}"/>
              </a:ext>
            </a:extLst>
          </p:cNvPr>
          <p:cNvCxnSpPr>
            <a:cxnSpLocks/>
            <a:stCxn id="28" idx="2"/>
            <a:endCxn id="29" idx="0"/>
          </p:cNvCxnSpPr>
          <p:nvPr/>
        </p:nvCxnSpPr>
        <p:spPr>
          <a:xfrm flipH="1">
            <a:off x="1409335" y="4780463"/>
            <a:ext cx="1" cy="27753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EBEB81B-2590-4C97-916A-77B3A16D975F}"/>
              </a:ext>
            </a:extLst>
          </p:cNvPr>
          <p:cNvCxnSpPr/>
          <p:nvPr/>
        </p:nvCxnSpPr>
        <p:spPr>
          <a:xfrm>
            <a:off x="0" y="2731532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B0894F6-A169-4E1F-809A-03F33BB32B57}"/>
              </a:ext>
            </a:extLst>
          </p:cNvPr>
          <p:cNvSpPr txBox="1"/>
          <p:nvPr/>
        </p:nvSpPr>
        <p:spPr>
          <a:xfrm>
            <a:off x="1887503" y="4322786"/>
            <a:ext cx="803324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정정인정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+mn-ea"/>
              </a:rPr>
              <a:t>기각심결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686AB63F-920C-469C-8BF3-1A6C02B1039B}"/>
              </a:ext>
            </a:extLst>
          </p:cNvPr>
          <p:cNvSpPr/>
          <p:nvPr/>
        </p:nvSpPr>
        <p:spPr>
          <a:xfrm>
            <a:off x="2211795" y="5057998"/>
            <a:ext cx="154738" cy="161338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5C5D6EB5-F279-4CB1-89B6-5503FAFAAD69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 flipH="1">
            <a:off x="2289164" y="4784451"/>
            <a:ext cx="1" cy="2735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4909182-AB1B-4A77-BF36-D67A9FE229E9}"/>
              </a:ext>
            </a:extLst>
          </p:cNvPr>
          <p:cNvSpPr txBox="1"/>
          <p:nvPr/>
        </p:nvSpPr>
        <p:spPr>
          <a:xfrm>
            <a:off x="2233794" y="5408107"/>
            <a:ext cx="1044240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소제기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841A1E23-3915-4280-A6E2-AFDE0F15286A}"/>
              </a:ext>
            </a:extLst>
          </p:cNvPr>
          <p:cNvSpPr/>
          <p:nvPr/>
        </p:nvSpPr>
        <p:spPr>
          <a:xfrm>
            <a:off x="2678544" y="505799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6FFC3CF7-2AF4-4BCF-844F-B02990BE574A}"/>
              </a:ext>
            </a:extLst>
          </p:cNvPr>
          <p:cNvCxnSpPr>
            <a:cxnSpLocks/>
            <a:stCxn id="60" idx="0"/>
            <a:endCxn id="61" idx="4"/>
          </p:cNvCxnSpPr>
          <p:nvPr/>
        </p:nvCxnSpPr>
        <p:spPr>
          <a:xfrm flipH="1" flipV="1">
            <a:off x="2755913" y="521933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E4790B0-C75D-4196-8BAB-DA3D9ED06240}"/>
              </a:ext>
            </a:extLst>
          </p:cNvPr>
          <p:cNvSpPr txBox="1"/>
          <p:nvPr/>
        </p:nvSpPr>
        <p:spPr>
          <a:xfrm>
            <a:off x="2769320" y="4141632"/>
            <a:ext cx="1664658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 신규성 부정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</a:t>
            </a:r>
          </a:p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3-5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 진보성 적법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</a:p>
          <a:p>
            <a:pPr algn="ctr"/>
            <a:r>
              <a:rPr lang="ko-KR" altLang="en-US" sz="1200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원심결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전부 </a:t>
            </a:r>
            <a:r>
              <a:rPr lang="ko-KR" altLang="en-US" sz="1200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취소환송</a:t>
            </a:r>
            <a:endParaRPr lang="ko-KR" altLang="en-US" sz="1200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412A264E-3B2B-442B-BE42-6675F355234F}"/>
              </a:ext>
            </a:extLst>
          </p:cNvPr>
          <p:cNvSpPr/>
          <p:nvPr/>
        </p:nvSpPr>
        <p:spPr>
          <a:xfrm>
            <a:off x="3524279" y="5057998"/>
            <a:ext cx="154738" cy="161338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7530FFF1-3359-4672-AEB9-0D2ADB31F77F}"/>
              </a:ext>
            </a:extLst>
          </p:cNvPr>
          <p:cNvCxnSpPr>
            <a:cxnSpLocks/>
            <a:stCxn id="63" idx="2"/>
            <a:endCxn id="67" idx="0"/>
          </p:cNvCxnSpPr>
          <p:nvPr/>
        </p:nvCxnSpPr>
        <p:spPr>
          <a:xfrm flipH="1">
            <a:off x="3601648" y="4787963"/>
            <a:ext cx="1" cy="27003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C8526F5-84DD-43F5-8A8F-52EED9F60E45}"/>
              </a:ext>
            </a:extLst>
          </p:cNvPr>
          <p:cNvSpPr txBox="1"/>
          <p:nvPr/>
        </p:nvSpPr>
        <p:spPr>
          <a:xfrm>
            <a:off x="4496286" y="4503464"/>
            <a:ext cx="803324" cy="2769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D00C8239-335C-4E49-BD25-387E187C1611}"/>
              </a:ext>
            </a:extLst>
          </p:cNvPr>
          <p:cNvSpPr/>
          <p:nvPr/>
        </p:nvSpPr>
        <p:spPr>
          <a:xfrm>
            <a:off x="4820578" y="5057998"/>
            <a:ext cx="154738" cy="161338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908CE7F6-2183-47A9-81BD-D2E11500F8E0}"/>
              </a:ext>
            </a:extLst>
          </p:cNvPr>
          <p:cNvCxnSpPr>
            <a:cxnSpLocks/>
            <a:stCxn id="69" idx="2"/>
            <a:endCxn id="70" idx="0"/>
          </p:cNvCxnSpPr>
          <p:nvPr/>
        </p:nvCxnSpPr>
        <p:spPr>
          <a:xfrm flipH="1">
            <a:off x="4897947" y="4780463"/>
            <a:ext cx="1" cy="27753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4E5B69E-AF29-4B3E-8340-213CDF4FE71F}"/>
              </a:ext>
            </a:extLst>
          </p:cNvPr>
          <p:cNvSpPr txBox="1"/>
          <p:nvPr/>
        </p:nvSpPr>
        <p:spPr>
          <a:xfrm>
            <a:off x="5365810" y="4391322"/>
            <a:ext cx="803324" cy="3847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+mn-ea"/>
              </a:rPr>
              <a:t>(2016</a:t>
            </a:r>
            <a:r>
              <a:rPr lang="ko-KR" altLang="en-US" sz="700" dirty="0">
                <a:solidFill>
                  <a:schemeClr val="tx1"/>
                </a:solidFill>
                <a:latin typeface="+mn-ea"/>
              </a:rPr>
              <a:t>후</a:t>
            </a:r>
            <a:r>
              <a:rPr lang="en-US" altLang="ko-KR" sz="700" dirty="0">
                <a:solidFill>
                  <a:schemeClr val="tx1"/>
                </a:solidFill>
                <a:latin typeface="+mn-ea"/>
              </a:rPr>
              <a:t>1390)</a:t>
            </a:r>
            <a:endParaRPr lang="ko-KR" altLang="en-US" sz="7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32E8ECE5-543F-48EF-8DB5-A350E0824CA5}"/>
              </a:ext>
            </a:extLst>
          </p:cNvPr>
          <p:cNvSpPr/>
          <p:nvPr/>
        </p:nvSpPr>
        <p:spPr>
          <a:xfrm>
            <a:off x="5690102" y="5057998"/>
            <a:ext cx="154738" cy="161338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A9E92333-BBE2-499F-A7BF-2BBE6A8C4A5B}"/>
              </a:ext>
            </a:extLst>
          </p:cNvPr>
          <p:cNvCxnSpPr>
            <a:cxnSpLocks/>
            <a:stCxn id="72" idx="2"/>
            <a:endCxn id="74" idx="0"/>
          </p:cNvCxnSpPr>
          <p:nvPr/>
        </p:nvCxnSpPr>
        <p:spPr>
          <a:xfrm flipH="1">
            <a:off x="5767471" y="4776043"/>
            <a:ext cx="1" cy="28195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BE9FF6C6-38C8-4DF2-9CE6-8413EFA3EA1F}"/>
              </a:ext>
            </a:extLst>
          </p:cNvPr>
          <p:cNvSpPr txBox="1"/>
          <p:nvPr/>
        </p:nvSpPr>
        <p:spPr>
          <a:xfrm>
            <a:off x="381971" y="6026752"/>
            <a:ext cx="1049336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인용발명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1-4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1A3D2573-FE15-408D-8225-CB55285EF82A}"/>
              </a:ext>
            </a:extLst>
          </p:cNvPr>
          <p:cNvCxnSpPr>
            <a:stCxn id="78" idx="0"/>
            <a:endCxn id="44" idx="2"/>
          </p:cNvCxnSpPr>
          <p:nvPr/>
        </p:nvCxnSpPr>
        <p:spPr>
          <a:xfrm flipV="1">
            <a:off x="906639" y="5869772"/>
            <a:ext cx="0" cy="15698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6D27929D-F223-4121-90BE-2197D33AD49E}"/>
              </a:ext>
            </a:extLst>
          </p:cNvPr>
          <p:cNvSpPr txBox="1"/>
          <p:nvPr/>
        </p:nvSpPr>
        <p:spPr>
          <a:xfrm>
            <a:off x="2233794" y="6026752"/>
            <a:ext cx="1044240" cy="27699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인용발명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1-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5</a:t>
            </a:r>
            <a:endParaRPr lang="ko-KR" altLang="en-US" sz="12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BA8512FB-C819-418B-8941-659F0137494B}"/>
              </a:ext>
            </a:extLst>
          </p:cNvPr>
          <p:cNvCxnSpPr>
            <a:stCxn id="81" idx="0"/>
            <a:endCxn id="60" idx="2"/>
          </p:cNvCxnSpPr>
          <p:nvPr/>
        </p:nvCxnSpPr>
        <p:spPr>
          <a:xfrm flipV="1">
            <a:off x="2755914" y="5685106"/>
            <a:ext cx="0" cy="3416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2D77F300-098D-4E1F-9192-A2A14C1CA63A}"/>
              </a:ext>
            </a:extLst>
          </p:cNvPr>
          <p:cNvSpPr txBox="1"/>
          <p:nvPr/>
        </p:nvSpPr>
        <p:spPr>
          <a:xfrm>
            <a:off x="6264528" y="4322786"/>
            <a:ext cx="1571128" cy="4616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정정인정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 무효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/3-5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유효</a:t>
            </a:r>
          </a:p>
        </p:txBody>
      </p:sp>
      <p:sp>
        <p:nvSpPr>
          <p:cNvPr id="83" name="타원 82">
            <a:extLst>
              <a:ext uri="{FF2B5EF4-FFF2-40B4-BE49-F238E27FC236}">
                <a16:creationId xmlns:a16="http://schemas.microsoft.com/office/drawing/2014/main" id="{386FA315-3F6B-4A11-A8E1-583FC58F7EDF}"/>
              </a:ext>
            </a:extLst>
          </p:cNvPr>
          <p:cNvSpPr/>
          <p:nvPr/>
        </p:nvSpPr>
        <p:spPr>
          <a:xfrm>
            <a:off x="6972722" y="5057998"/>
            <a:ext cx="154738" cy="161338"/>
          </a:xfrm>
          <a:prstGeom prst="ellipse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75B5A761-D98B-4D19-B666-2AE0D7659356}"/>
              </a:ext>
            </a:extLst>
          </p:cNvPr>
          <p:cNvCxnSpPr>
            <a:cxnSpLocks/>
            <a:stCxn id="82" idx="2"/>
            <a:endCxn id="83" idx="0"/>
          </p:cNvCxnSpPr>
          <p:nvPr/>
        </p:nvCxnSpPr>
        <p:spPr>
          <a:xfrm flipH="1">
            <a:off x="7050091" y="4784451"/>
            <a:ext cx="1" cy="2735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5226F174-D8D1-4713-B31E-8E4F6656663E}"/>
              </a:ext>
            </a:extLst>
          </p:cNvPr>
          <p:cNvSpPr txBox="1"/>
          <p:nvPr/>
        </p:nvSpPr>
        <p:spPr>
          <a:xfrm>
            <a:off x="7273442" y="5408107"/>
            <a:ext cx="1044240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+mn-ea"/>
              </a:rPr>
              <a:t>소제기</a:t>
            </a:r>
            <a:endParaRPr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19C3862D-6040-4935-A637-A8EB1F433E84}"/>
              </a:ext>
            </a:extLst>
          </p:cNvPr>
          <p:cNvSpPr/>
          <p:nvPr/>
        </p:nvSpPr>
        <p:spPr>
          <a:xfrm>
            <a:off x="7718192" y="505799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B98568BA-2F6E-4698-B903-B61717FCB031}"/>
              </a:ext>
            </a:extLst>
          </p:cNvPr>
          <p:cNvCxnSpPr>
            <a:cxnSpLocks/>
            <a:stCxn id="88" idx="0"/>
            <a:endCxn id="89" idx="4"/>
          </p:cNvCxnSpPr>
          <p:nvPr/>
        </p:nvCxnSpPr>
        <p:spPr>
          <a:xfrm flipH="1" flipV="1">
            <a:off x="7795561" y="521933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A4B351D4-5E06-43B9-B4E9-0E4A826F3501}"/>
              </a:ext>
            </a:extLst>
          </p:cNvPr>
          <p:cNvCxnSpPr>
            <a:endCxn id="88" idx="2"/>
          </p:cNvCxnSpPr>
          <p:nvPr/>
        </p:nvCxnSpPr>
        <p:spPr>
          <a:xfrm flipV="1">
            <a:off x="7795562" y="5685106"/>
            <a:ext cx="0" cy="3416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B7384906-3A99-4960-918A-462C7085DED3}"/>
              </a:ext>
            </a:extLst>
          </p:cNvPr>
          <p:cNvSpPr txBox="1"/>
          <p:nvPr/>
        </p:nvSpPr>
        <p:spPr>
          <a:xfrm>
            <a:off x="6264527" y="6026752"/>
            <a:ext cx="2053153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항 발명이 인용발명 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5,</a:t>
            </a:r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7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또는 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200" dirty="0">
                <a:solidFill>
                  <a:srgbClr val="FF0000"/>
                </a:solidFill>
                <a:latin typeface="+mn-ea"/>
              </a:rPr>
              <a:t>6,7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에 의하여 진보성이 부정 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831A5D3-AEC6-4596-9421-0D84A6AA24AF}"/>
              </a:ext>
            </a:extLst>
          </p:cNvPr>
          <p:cNvSpPr txBox="1"/>
          <p:nvPr/>
        </p:nvSpPr>
        <p:spPr>
          <a:xfrm>
            <a:off x="8102095" y="4494836"/>
            <a:ext cx="803324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6" name="타원 95">
            <a:extLst>
              <a:ext uri="{FF2B5EF4-FFF2-40B4-BE49-F238E27FC236}">
                <a16:creationId xmlns:a16="http://schemas.microsoft.com/office/drawing/2014/main" id="{93A0A591-7F94-493F-9F93-2E4633B5AB77}"/>
              </a:ext>
            </a:extLst>
          </p:cNvPr>
          <p:cNvSpPr/>
          <p:nvPr/>
        </p:nvSpPr>
        <p:spPr>
          <a:xfrm>
            <a:off x="8426387" y="5057998"/>
            <a:ext cx="154738" cy="161338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3BC4A66E-60FF-474E-87DE-98F8A9AF983E}"/>
              </a:ext>
            </a:extLst>
          </p:cNvPr>
          <p:cNvCxnSpPr>
            <a:cxnSpLocks/>
            <a:stCxn id="95" idx="2"/>
            <a:endCxn id="96" idx="0"/>
          </p:cNvCxnSpPr>
          <p:nvPr/>
        </p:nvCxnSpPr>
        <p:spPr>
          <a:xfrm flipH="1">
            <a:off x="8503756" y="4771835"/>
            <a:ext cx="1" cy="2861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152D92B1-B25C-4D44-AB66-C1F41464A4A5}"/>
              </a:ext>
            </a:extLst>
          </p:cNvPr>
          <p:cNvSpPr txBox="1"/>
          <p:nvPr/>
        </p:nvSpPr>
        <p:spPr>
          <a:xfrm>
            <a:off x="158642" y="2999311"/>
            <a:ext cx="11755717" cy="101566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+mn-ea"/>
              </a:rPr>
              <a:t>심결을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 취소하는 판결이 확정된 경우 그 취소의 기본이 된 이유는 그 사건에 대하여 특허심판원을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+mn-ea"/>
              </a:rPr>
              <a:t>기속하는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 것이고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,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이 경우의 기속력은 취소의 이유가 된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+mn-ea"/>
              </a:rPr>
              <a:t>심결의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 사실상 및 법률상 판단이 정당하지 않다는 점에 있어서 발생하는 것이므로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,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취소 후의 심리과정에서 새로운 증거가 제출되어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+mn-ea"/>
              </a:rPr>
              <a:t>기속적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 판단의 기초가 되는 증거관계에 변동이 생기는 등의 특단의 사정이 없는 한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,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특허심판원은 위 확정된 취소판결에서 위법이라고 판단된 이유와 동일한 이유로 종전의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+mn-ea"/>
              </a:rPr>
              <a:t>심결과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 동일한 결론의 </a:t>
            </a:r>
            <a:r>
              <a:rPr lang="ko-KR" altLang="en-US" sz="1200" b="0" i="0" dirty="0" err="1">
                <a:solidFill>
                  <a:srgbClr val="333333"/>
                </a:solidFill>
                <a:effectLst/>
                <a:latin typeface="+mn-ea"/>
              </a:rPr>
              <a:t>심결을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 할 수 없고</a:t>
            </a:r>
            <a:r>
              <a:rPr lang="en-US" altLang="ko-KR" sz="1200" b="0" i="0" dirty="0">
                <a:solidFill>
                  <a:srgbClr val="333333"/>
                </a:solidFill>
                <a:effectLst/>
                <a:latin typeface="+mn-ea"/>
              </a:rPr>
              <a:t>, </a:t>
            </a:r>
            <a:r>
              <a:rPr lang="ko-KR" altLang="en-US" sz="1200" b="0" i="0" dirty="0">
                <a:solidFill>
                  <a:srgbClr val="333333"/>
                </a:solidFill>
                <a:effectLst/>
                <a:latin typeface="+mn-ea"/>
              </a:rPr>
              <a:t>여기에서 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새로운 증거라 함은 적어도 취소된 </a:t>
            </a:r>
            <a:r>
              <a:rPr lang="ko-KR" altLang="en-US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심결이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 </a:t>
            </a:r>
            <a:r>
              <a:rPr lang="ko-KR" altLang="en-US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행하여진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 심판절차 내지는 그 </a:t>
            </a:r>
            <a:r>
              <a:rPr lang="ko-KR" altLang="en-US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심결의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 취소소송에서 채택</a:t>
            </a:r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, 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조사되지 않은 것으로서 </a:t>
            </a:r>
            <a:r>
              <a:rPr lang="ko-KR" altLang="en-US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심결취소판결의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 결론을 번복하기에 족한 </a:t>
            </a:r>
            <a:r>
              <a:rPr lang="ko-KR" altLang="en-US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증명력을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 가지는 증거라고 보아야 할 것이다</a:t>
            </a:r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 (</a:t>
            </a:r>
            <a:r>
              <a:rPr lang="ko-KR" alt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대법원 </a:t>
            </a:r>
            <a:r>
              <a:rPr lang="en-US" altLang="ko-KR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2002. 12. 26. </a:t>
            </a:r>
            <a:r>
              <a:rPr lang="ko-KR" alt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선고 </a:t>
            </a:r>
            <a:r>
              <a:rPr lang="en-US" altLang="ko-KR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2001</a:t>
            </a:r>
            <a:r>
              <a:rPr lang="ko-KR" alt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후</a:t>
            </a:r>
            <a:r>
              <a:rPr lang="en-US" altLang="ko-KR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96 </a:t>
            </a:r>
            <a:r>
              <a:rPr lang="ko-KR" alt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판결</a:t>
            </a:r>
            <a:r>
              <a:rPr lang="en-US" altLang="ko-KR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). </a:t>
            </a:r>
            <a:r>
              <a:rPr lang="ko-KR" alt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그런데</a:t>
            </a:r>
            <a:r>
              <a:rPr lang="en-US" altLang="ko-KR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</a:rPr>
              <a:t>, </a:t>
            </a:r>
            <a:r>
              <a:rPr lang="ko-KR" alt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00"/>
                </a:highlight>
                <a:latin typeface="+mn-ea"/>
              </a:rPr>
              <a:t>인용발명 </a:t>
            </a:r>
            <a:r>
              <a:rPr lang="en-US" altLang="ko-KR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00"/>
                </a:highlight>
                <a:latin typeface="+mn-ea"/>
              </a:rPr>
              <a:t>6, 7</a:t>
            </a:r>
            <a:r>
              <a:rPr lang="ko-KR" altLang="en-US" sz="1200" b="0" i="0" u="none" strike="noStrike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00"/>
                </a:highlight>
                <a:latin typeface="+mn-ea"/>
              </a:rPr>
              <a:t>은 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00"/>
                </a:highlight>
                <a:latin typeface="+mn-ea"/>
              </a:rPr>
              <a:t>원판결의 결론을 번복하기에 족한 </a:t>
            </a:r>
            <a:r>
              <a:rPr lang="ko-KR" altLang="en-US" sz="1200" b="0" i="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00"/>
                </a:highlight>
                <a:latin typeface="+mn-ea"/>
              </a:rPr>
              <a:t>증명력을</a:t>
            </a:r>
            <a:r>
              <a:rPr lang="ko-KR" altLang="en-US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00"/>
                </a:highlight>
                <a:latin typeface="+mn-ea"/>
              </a:rPr>
              <a:t> 갖는 증거라고 보기도 어렵다</a:t>
            </a:r>
            <a:r>
              <a:rPr lang="en-US" altLang="ko-KR" sz="12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ighlight>
                  <a:srgbClr val="FFFF00"/>
                </a:highlight>
                <a:latin typeface="+mn-ea"/>
              </a:rPr>
              <a:t>.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highlight>
                <a:srgbClr val="FFFF00"/>
              </a:highlight>
              <a:latin typeface="+mn-ea"/>
            </a:endParaRPr>
          </a:p>
        </p:txBody>
      </p:sp>
      <p:cxnSp>
        <p:nvCxnSpPr>
          <p:cNvPr id="100" name="연결선: 꺾임 99">
            <a:extLst>
              <a:ext uri="{FF2B5EF4-FFF2-40B4-BE49-F238E27FC236}">
                <a16:creationId xmlns:a16="http://schemas.microsoft.com/office/drawing/2014/main" id="{F880A470-6DA2-466C-B839-2B62C647862E}"/>
              </a:ext>
            </a:extLst>
          </p:cNvPr>
          <p:cNvCxnSpPr>
            <a:stCxn id="98" idx="2"/>
            <a:endCxn id="95" idx="0"/>
          </p:cNvCxnSpPr>
          <p:nvPr/>
        </p:nvCxnSpPr>
        <p:spPr>
          <a:xfrm rot="16200000" flipH="1">
            <a:off x="7030198" y="3021277"/>
            <a:ext cx="479862" cy="246725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65D65578-7C63-44DC-88BC-8EF015178FC5}"/>
              </a:ext>
            </a:extLst>
          </p:cNvPr>
          <p:cNvSpPr txBox="1"/>
          <p:nvPr/>
        </p:nvSpPr>
        <p:spPr>
          <a:xfrm>
            <a:off x="8764317" y="5408107"/>
            <a:ext cx="1044240" cy="276999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상고</a:t>
            </a:r>
          </a:p>
        </p:txBody>
      </p:sp>
      <p:sp>
        <p:nvSpPr>
          <p:cNvPr id="102" name="타원 101">
            <a:extLst>
              <a:ext uri="{FF2B5EF4-FFF2-40B4-BE49-F238E27FC236}">
                <a16:creationId xmlns:a16="http://schemas.microsoft.com/office/drawing/2014/main" id="{4C02B89A-D744-47C9-9E52-2531916D9B5F}"/>
              </a:ext>
            </a:extLst>
          </p:cNvPr>
          <p:cNvSpPr/>
          <p:nvPr/>
        </p:nvSpPr>
        <p:spPr>
          <a:xfrm>
            <a:off x="9209067" y="5057998"/>
            <a:ext cx="154738" cy="16133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5FE29E06-0C40-4752-A427-FDCC54EF4D50}"/>
              </a:ext>
            </a:extLst>
          </p:cNvPr>
          <p:cNvCxnSpPr>
            <a:cxnSpLocks/>
            <a:stCxn id="101" idx="0"/>
            <a:endCxn id="102" idx="4"/>
          </p:cNvCxnSpPr>
          <p:nvPr/>
        </p:nvCxnSpPr>
        <p:spPr>
          <a:xfrm flipH="1" flipV="1">
            <a:off x="9286436" y="5219336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1149E6F3-09D3-4F0A-9F84-74E4C3914B14}"/>
              </a:ext>
            </a:extLst>
          </p:cNvPr>
          <p:cNvSpPr txBox="1"/>
          <p:nvPr/>
        </p:nvSpPr>
        <p:spPr>
          <a:xfrm>
            <a:off x="9465265" y="4382694"/>
            <a:ext cx="803324" cy="38472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기각판결</a:t>
            </a:r>
            <a:endParaRPr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700" dirty="0">
                <a:solidFill>
                  <a:schemeClr val="tx1"/>
                </a:solidFill>
                <a:latin typeface="+mn-ea"/>
              </a:rPr>
              <a:t>(2017</a:t>
            </a:r>
            <a:r>
              <a:rPr lang="ko-KR" altLang="en-US" sz="700" dirty="0">
                <a:solidFill>
                  <a:schemeClr val="tx1"/>
                </a:solidFill>
                <a:latin typeface="+mn-ea"/>
              </a:rPr>
              <a:t>후</a:t>
            </a:r>
            <a:r>
              <a:rPr lang="en-US" altLang="ko-KR" sz="700" dirty="0">
                <a:solidFill>
                  <a:schemeClr val="tx1"/>
                </a:solidFill>
                <a:latin typeface="+mn-ea"/>
              </a:rPr>
              <a:t>1830)</a:t>
            </a: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B9CD0D05-93C7-425F-8F42-374323C7F8CF}"/>
              </a:ext>
            </a:extLst>
          </p:cNvPr>
          <p:cNvSpPr/>
          <p:nvPr/>
        </p:nvSpPr>
        <p:spPr>
          <a:xfrm>
            <a:off x="9789557" y="5057998"/>
            <a:ext cx="154738" cy="161338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6061F475-021D-45E5-ADCA-ECA143F4FA48}"/>
              </a:ext>
            </a:extLst>
          </p:cNvPr>
          <p:cNvCxnSpPr>
            <a:cxnSpLocks/>
            <a:stCxn id="105" idx="2"/>
            <a:endCxn id="106" idx="0"/>
          </p:cNvCxnSpPr>
          <p:nvPr/>
        </p:nvCxnSpPr>
        <p:spPr>
          <a:xfrm flipH="1">
            <a:off x="9866926" y="4767415"/>
            <a:ext cx="1" cy="29058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912B9A04-FAE1-4FAD-8C04-6ECE26D83801}"/>
              </a:ext>
            </a:extLst>
          </p:cNvPr>
          <p:cNvSpPr txBox="1"/>
          <p:nvPr/>
        </p:nvSpPr>
        <p:spPr>
          <a:xfrm>
            <a:off x="8764317" y="5905720"/>
            <a:ext cx="3280046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3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항은 확정된 취소판결의 기속력이 미치지 않아서 원심의 </a:t>
            </a:r>
            <a:r>
              <a:rPr lang="ko-KR" altLang="en-US" sz="1200" dirty="0" err="1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이유설시에</a:t>
            </a:r>
            <a:r>
              <a:rPr lang="ko-KR" altLang="en-US" sz="1200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부적절한 부분이 있으나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  <a:latin typeface="+mn-ea"/>
              </a:rPr>
              <a:t>, </a:t>
            </a:r>
          </a:p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항이 진보성 위반되지 않는다는 판단은 적절</a:t>
            </a:r>
          </a:p>
        </p:txBody>
      </p:sp>
      <p:cxnSp>
        <p:nvCxnSpPr>
          <p:cNvPr id="111" name="연결선: 꺾임 110">
            <a:extLst>
              <a:ext uri="{FF2B5EF4-FFF2-40B4-BE49-F238E27FC236}">
                <a16:creationId xmlns:a16="http://schemas.microsoft.com/office/drawing/2014/main" id="{93763580-34B2-422D-B6B6-8DE6DD96CB21}"/>
              </a:ext>
            </a:extLst>
          </p:cNvPr>
          <p:cNvCxnSpPr>
            <a:stCxn id="105" idx="3"/>
            <a:endCxn id="109" idx="0"/>
          </p:cNvCxnSpPr>
          <p:nvPr/>
        </p:nvCxnSpPr>
        <p:spPr>
          <a:xfrm>
            <a:off x="10268589" y="4575055"/>
            <a:ext cx="135751" cy="133066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300028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제목 4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7" name="텍스트 개체 틀 4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심결취소소송</a:t>
            </a:r>
            <a:r>
              <a:rPr lang="ko-KR" altLang="en-US" dirty="0"/>
              <a:t> 절차의 정리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786102" y="1238250"/>
            <a:ext cx="899714" cy="385788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소의 제기</a:t>
            </a:r>
          </a:p>
        </p:txBody>
      </p:sp>
      <p:sp>
        <p:nvSpPr>
          <p:cNvPr id="4" name="순서도: 판단 3"/>
          <p:cNvSpPr/>
          <p:nvPr/>
        </p:nvSpPr>
        <p:spPr>
          <a:xfrm>
            <a:off x="1495425" y="2046568"/>
            <a:ext cx="1481067" cy="780762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소장심사</a:t>
            </a:r>
          </a:p>
        </p:txBody>
      </p:sp>
      <p:sp>
        <p:nvSpPr>
          <p:cNvPr id="53" name="순서도: 판단 52"/>
          <p:cNvSpPr/>
          <p:nvPr/>
        </p:nvSpPr>
        <p:spPr>
          <a:xfrm>
            <a:off x="1495425" y="3268230"/>
            <a:ext cx="1481067" cy="780762"/>
          </a:xfrm>
          <a:prstGeom prst="flowChartDecision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소송요건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심리</a:t>
            </a:r>
          </a:p>
        </p:txBody>
      </p:sp>
      <p:sp>
        <p:nvSpPr>
          <p:cNvPr id="55" name="순서도: 판단 54"/>
          <p:cNvSpPr/>
          <p:nvPr/>
        </p:nvSpPr>
        <p:spPr>
          <a:xfrm>
            <a:off x="1495425" y="4572561"/>
            <a:ext cx="1481067" cy="780762"/>
          </a:xfrm>
          <a:prstGeom prst="flowChartDecision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본안심리</a:t>
            </a:r>
            <a:endParaRPr lang="ko-KR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6" name="직선 화살표 연결선 5"/>
          <p:cNvCxnSpPr>
            <a:stCxn id="2" idx="2"/>
            <a:endCxn id="4" idx="0"/>
          </p:cNvCxnSpPr>
          <p:nvPr/>
        </p:nvCxnSpPr>
        <p:spPr>
          <a:xfrm>
            <a:off x="2235959" y="1624038"/>
            <a:ext cx="0" cy="42253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/>
          <p:cNvCxnSpPr>
            <a:stCxn id="4" idx="2"/>
            <a:endCxn id="53" idx="0"/>
          </p:cNvCxnSpPr>
          <p:nvPr/>
        </p:nvCxnSpPr>
        <p:spPr>
          <a:xfrm>
            <a:off x="2235959" y="2827329"/>
            <a:ext cx="0" cy="44090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>
            <a:stCxn id="53" idx="2"/>
            <a:endCxn id="55" idx="0"/>
          </p:cNvCxnSpPr>
          <p:nvPr/>
        </p:nvCxnSpPr>
        <p:spPr>
          <a:xfrm>
            <a:off x="2235959" y="4048991"/>
            <a:ext cx="0" cy="52356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235959" y="2845700"/>
            <a:ext cx="305396" cy="252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Yes</a:t>
            </a:r>
            <a:endParaRPr lang="ko-KR" altLang="en-US" sz="1050" dirty="0"/>
          </a:p>
        </p:txBody>
      </p:sp>
      <p:sp>
        <p:nvSpPr>
          <p:cNvPr id="67" name="TextBox 66"/>
          <p:cNvSpPr txBox="1"/>
          <p:nvPr/>
        </p:nvSpPr>
        <p:spPr>
          <a:xfrm>
            <a:off x="2235959" y="4048991"/>
            <a:ext cx="305396" cy="252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Yes</a:t>
            </a:r>
            <a:endParaRPr lang="ko-KR" altLang="en-US" sz="1050" dirty="0"/>
          </a:p>
        </p:txBody>
      </p:sp>
      <p:sp>
        <p:nvSpPr>
          <p:cNvPr id="68" name="TextBox 67"/>
          <p:cNvSpPr txBox="1"/>
          <p:nvPr/>
        </p:nvSpPr>
        <p:spPr>
          <a:xfrm>
            <a:off x="2235959" y="5353322"/>
            <a:ext cx="305396" cy="252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Yes</a:t>
            </a:r>
            <a:endParaRPr lang="ko-KR" altLang="en-US" sz="1050" dirty="0"/>
          </a:p>
        </p:txBody>
      </p:sp>
      <p:sp>
        <p:nvSpPr>
          <p:cNvPr id="69" name="직사각형 68"/>
          <p:cNvSpPr/>
          <p:nvPr/>
        </p:nvSpPr>
        <p:spPr>
          <a:xfrm>
            <a:off x="1786102" y="5849335"/>
            <a:ext cx="899714" cy="54194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인용판결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취소환송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1" name="직선 화살표 연결선 70"/>
          <p:cNvCxnSpPr>
            <a:stCxn id="55" idx="2"/>
            <a:endCxn id="69" idx="0"/>
          </p:cNvCxnSpPr>
          <p:nvPr/>
        </p:nvCxnSpPr>
        <p:spPr>
          <a:xfrm>
            <a:off x="2235959" y="5353322"/>
            <a:ext cx="0" cy="49601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/>
        </p:nvSpPr>
        <p:spPr>
          <a:xfrm>
            <a:off x="281386" y="4691971"/>
            <a:ext cx="899714" cy="54194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기각판결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281386" y="3387640"/>
            <a:ext cx="899714" cy="54194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소 각하</a:t>
            </a:r>
          </a:p>
        </p:txBody>
      </p:sp>
      <p:sp>
        <p:nvSpPr>
          <p:cNvPr id="77" name="직사각형 76"/>
          <p:cNvSpPr/>
          <p:nvPr/>
        </p:nvSpPr>
        <p:spPr>
          <a:xfrm>
            <a:off x="281386" y="2165977"/>
            <a:ext cx="899714" cy="54194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소장 각하</a:t>
            </a:r>
          </a:p>
        </p:txBody>
      </p:sp>
      <p:cxnSp>
        <p:nvCxnSpPr>
          <p:cNvPr id="34" name="직선 연결선 33"/>
          <p:cNvCxnSpPr>
            <a:stCxn id="4" idx="1"/>
            <a:endCxn id="77" idx="3"/>
          </p:cNvCxnSpPr>
          <p:nvPr/>
        </p:nvCxnSpPr>
        <p:spPr>
          <a:xfrm flipH="1" flipV="1">
            <a:off x="1181100" y="2436947"/>
            <a:ext cx="314325" cy="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>
            <a:stCxn id="53" idx="1"/>
            <a:endCxn id="75" idx="3"/>
          </p:cNvCxnSpPr>
          <p:nvPr/>
        </p:nvCxnSpPr>
        <p:spPr>
          <a:xfrm flipH="1" flipV="1">
            <a:off x="1181100" y="3658610"/>
            <a:ext cx="314325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>
            <a:stCxn id="55" idx="1"/>
            <a:endCxn id="74" idx="3"/>
          </p:cNvCxnSpPr>
          <p:nvPr/>
        </p:nvCxnSpPr>
        <p:spPr>
          <a:xfrm flipH="1" flipV="1">
            <a:off x="1181100" y="4962941"/>
            <a:ext cx="314325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/>
          <p:cNvSpPr txBox="1"/>
          <p:nvPr/>
        </p:nvSpPr>
        <p:spPr>
          <a:xfrm>
            <a:off x="1280598" y="2198400"/>
            <a:ext cx="271618" cy="252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No</a:t>
            </a:r>
            <a:endParaRPr lang="ko-KR" altLang="en-US" sz="1050" dirty="0"/>
          </a:p>
        </p:txBody>
      </p:sp>
      <p:sp>
        <p:nvSpPr>
          <p:cNvPr id="85" name="TextBox 84"/>
          <p:cNvSpPr txBox="1"/>
          <p:nvPr/>
        </p:nvSpPr>
        <p:spPr>
          <a:xfrm>
            <a:off x="1280598" y="3416215"/>
            <a:ext cx="271618" cy="252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No</a:t>
            </a:r>
            <a:endParaRPr lang="ko-KR" altLang="en-US" sz="1050" dirty="0"/>
          </a:p>
        </p:txBody>
      </p:sp>
      <p:sp>
        <p:nvSpPr>
          <p:cNvPr id="86" name="TextBox 85"/>
          <p:cNvSpPr txBox="1"/>
          <p:nvPr/>
        </p:nvSpPr>
        <p:spPr>
          <a:xfrm>
            <a:off x="1280598" y="4720546"/>
            <a:ext cx="271618" cy="2522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No</a:t>
            </a:r>
            <a:endParaRPr lang="ko-KR" altLang="en-US" sz="1050" dirty="0"/>
          </a:p>
        </p:txBody>
      </p:sp>
      <p:sp>
        <p:nvSpPr>
          <p:cNvPr id="61" name="직사각형 60"/>
          <p:cNvSpPr/>
          <p:nvPr/>
        </p:nvSpPr>
        <p:spPr>
          <a:xfrm>
            <a:off x="3350418" y="1323976"/>
            <a:ext cx="2568674" cy="3749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소송물</a:t>
            </a:r>
            <a:endParaRPr lang="ko-KR" altLang="en-US" sz="1200" dirty="0"/>
          </a:p>
        </p:txBody>
      </p:sp>
      <p:sp>
        <p:nvSpPr>
          <p:cNvPr id="62" name="직사각형 61"/>
          <p:cNvSpPr/>
          <p:nvPr/>
        </p:nvSpPr>
        <p:spPr>
          <a:xfrm>
            <a:off x="3350418" y="1802468"/>
            <a:ext cx="2568674" cy="3749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소의 이익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3350418" y="2272682"/>
            <a:ext cx="2568674" cy="3749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관할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3350418" y="2765595"/>
            <a:ext cx="2568674" cy="3749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당사자</a:t>
            </a:r>
          </a:p>
        </p:txBody>
      </p:sp>
      <p:sp>
        <p:nvSpPr>
          <p:cNvPr id="66" name="직사각형 65"/>
          <p:cNvSpPr/>
          <p:nvPr/>
        </p:nvSpPr>
        <p:spPr>
          <a:xfrm>
            <a:off x="3350418" y="3262452"/>
            <a:ext cx="2568674" cy="3749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제소기간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3350418" y="4102810"/>
            <a:ext cx="2568674" cy="3749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/>
              <a:t>변론주의</a:t>
            </a:r>
            <a:r>
              <a:rPr lang="ko-KR" altLang="en-US" sz="1200" dirty="0"/>
              <a:t> 원칙</a:t>
            </a:r>
            <a:r>
              <a:rPr lang="en-US" altLang="ko-KR" sz="1200" dirty="0"/>
              <a:t>(</a:t>
            </a:r>
            <a:r>
              <a:rPr lang="ko-KR" altLang="en-US" sz="1200" dirty="0"/>
              <a:t>직권주의 가미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73" name="직사각형 72"/>
          <p:cNvSpPr/>
          <p:nvPr/>
        </p:nvSpPr>
        <p:spPr>
          <a:xfrm>
            <a:off x="3350418" y="4575291"/>
            <a:ext cx="2568674" cy="3749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위법판단의 기준시점</a:t>
            </a:r>
          </a:p>
        </p:txBody>
      </p:sp>
      <p:sp>
        <p:nvSpPr>
          <p:cNvPr id="76" name="직사각형 75"/>
          <p:cNvSpPr/>
          <p:nvPr/>
        </p:nvSpPr>
        <p:spPr>
          <a:xfrm>
            <a:off x="3350418" y="5048938"/>
            <a:ext cx="2568674" cy="3749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심리범위</a:t>
            </a:r>
          </a:p>
        </p:txBody>
      </p:sp>
      <p:sp>
        <p:nvSpPr>
          <p:cNvPr id="78" name="직사각형 77"/>
          <p:cNvSpPr/>
          <p:nvPr/>
        </p:nvSpPr>
        <p:spPr>
          <a:xfrm>
            <a:off x="3350418" y="5509778"/>
            <a:ext cx="2568674" cy="3749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주장증명책임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3350418" y="5978244"/>
            <a:ext cx="2568674" cy="3749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자백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5947667" y="1323976"/>
            <a:ext cx="5910958" cy="37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/>
              <a:t>행정처분의 위법성 일반</a:t>
            </a:r>
            <a:r>
              <a:rPr lang="en-US" altLang="ko-KR" sz="1200" dirty="0"/>
              <a:t>(</a:t>
            </a:r>
            <a:r>
              <a:rPr lang="ko-KR" altLang="en-US" sz="1200" dirty="0"/>
              <a:t>실체상</a:t>
            </a:r>
            <a:r>
              <a:rPr lang="en-US" altLang="ko-KR" sz="1200" dirty="0"/>
              <a:t>/</a:t>
            </a:r>
            <a:r>
              <a:rPr lang="ko-KR" altLang="en-US" sz="1200" dirty="0"/>
              <a:t>절차상 위법</a:t>
            </a:r>
            <a:r>
              <a:rPr lang="en-US" altLang="ko-KR" sz="1200" dirty="0"/>
              <a:t>, </a:t>
            </a:r>
            <a:r>
              <a:rPr lang="ko-KR" altLang="en-US" sz="1200" dirty="0"/>
              <a:t>판단누락</a:t>
            </a:r>
            <a:r>
              <a:rPr lang="en-US" altLang="ko-KR" sz="1200" dirty="0"/>
              <a:t>(</a:t>
            </a:r>
            <a:r>
              <a:rPr lang="ko-KR" altLang="en-US" sz="1200" dirty="0"/>
              <a:t>유탈</a:t>
            </a:r>
            <a:r>
              <a:rPr lang="en-US" altLang="ko-KR" sz="1200" dirty="0"/>
              <a:t>)</a:t>
            </a:r>
            <a:r>
              <a:rPr lang="ko-KR" altLang="en-US" sz="1200" dirty="0"/>
              <a:t>의 유무 등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81" name="직사각형 80"/>
          <p:cNvSpPr/>
          <p:nvPr/>
        </p:nvSpPr>
        <p:spPr>
          <a:xfrm>
            <a:off x="5947667" y="1802468"/>
            <a:ext cx="5910958" cy="37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/>
              <a:t>원고가 </a:t>
            </a:r>
            <a:r>
              <a:rPr lang="ko-KR" altLang="en-US" sz="1200" dirty="0" err="1"/>
              <a:t>심결을</a:t>
            </a:r>
            <a:r>
              <a:rPr lang="ko-KR" altLang="en-US" sz="1200" dirty="0"/>
              <a:t> 취소할 이익</a:t>
            </a:r>
            <a:r>
              <a:rPr lang="en-US" altLang="ko-KR" sz="1200" dirty="0"/>
              <a:t>/</a:t>
            </a:r>
            <a:r>
              <a:rPr lang="ko-KR" altLang="en-US" sz="1200" dirty="0" err="1"/>
              <a:t>사정변경되거나</a:t>
            </a:r>
            <a:r>
              <a:rPr lang="ko-KR" altLang="en-US" sz="1200" dirty="0"/>
              <a:t> 유리한 </a:t>
            </a:r>
            <a:r>
              <a:rPr lang="ko-KR" altLang="en-US" sz="1200" dirty="0" err="1"/>
              <a:t>심결을</a:t>
            </a:r>
            <a:r>
              <a:rPr lang="ko-KR" altLang="en-US" sz="1200" dirty="0"/>
              <a:t> 받을 가능성이 없는 경우 소의 이익 부정</a:t>
            </a:r>
            <a:r>
              <a:rPr lang="en-US" altLang="ko-KR" sz="1200" dirty="0"/>
              <a:t>/</a:t>
            </a:r>
            <a:r>
              <a:rPr lang="ko-KR" altLang="en-US" sz="1200" dirty="0" err="1"/>
              <a:t>변론종결시를</a:t>
            </a:r>
            <a:r>
              <a:rPr lang="ko-KR" altLang="en-US" sz="1200" dirty="0"/>
              <a:t> 기준으로 판단하나 상고심 계속 중 생긴 사정도 고려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5947667" y="2272682"/>
            <a:ext cx="5910958" cy="37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/>
              <a:t>심급관할</a:t>
            </a:r>
            <a:r>
              <a:rPr lang="en-US" altLang="ko-KR" sz="1200" dirty="0"/>
              <a:t>/</a:t>
            </a:r>
            <a:r>
              <a:rPr lang="ko-KR" altLang="en-US" sz="1200" dirty="0"/>
              <a:t>전속관할</a:t>
            </a:r>
            <a:r>
              <a:rPr lang="en-US" altLang="ko-KR" sz="1200" dirty="0"/>
              <a:t>(</a:t>
            </a:r>
            <a:r>
              <a:rPr lang="ko-KR" altLang="en-US" sz="1200" dirty="0"/>
              <a:t>제</a:t>
            </a:r>
            <a:r>
              <a:rPr lang="en-US" altLang="ko-KR" sz="1200" dirty="0"/>
              <a:t>186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/>
              <a:t>항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6</a:t>
            </a:r>
            <a:r>
              <a:rPr lang="ko-KR" altLang="en-US" sz="1200" dirty="0"/>
              <a:t>항 내지 제</a:t>
            </a:r>
            <a:r>
              <a:rPr lang="en-US" altLang="ko-KR" sz="1200" dirty="0"/>
              <a:t>8</a:t>
            </a:r>
            <a:r>
              <a:rPr lang="ko-KR" altLang="en-US" sz="1200" dirty="0"/>
              <a:t>항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84" name="직사각형 83"/>
          <p:cNvSpPr/>
          <p:nvPr/>
        </p:nvSpPr>
        <p:spPr>
          <a:xfrm>
            <a:off x="5947667" y="2765595"/>
            <a:ext cx="5910958" cy="37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/>
              <a:t>원피고 적격</a:t>
            </a:r>
            <a:r>
              <a:rPr lang="en-US" altLang="ko-KR" sz="1200" dirty="0"/>
              <a:t>(</a:t>
            </a:r>
            <a:r>
              <a:rPr lang="ko-KR" altLang="en-US" sz="1200" dirty="0"/>
              <a:t>제</a:t>
            </a:r>
            <a:r>
              <a:rPr lang="en-US" altLang="ko-KR" sz="1200" dirty="0"/>
              <a:t>186</a:t>
            </a:r>
            <a:r>
              <a:rPr lang="ko-KR" altLang="en-US" sz="1200" dirty="0"/>
              <a:t>조제</a:t>
            </a:r>
            <a:r>
              <a:rPr lang="en-US" altLang="ko-KR" sz="1200" dirty="0"/>
              <a:t>2</a:t>
            </a:r>
            <a:r>
              <a:rPr lang="ko-KR" altLang="en-US" sz="1200" dirty="0"/>
              <a:t>항</a:t>
            </a:r>
            <a:r>
              <a:rPr lang="en-US" altLang="ko-KR" sz="1200" dirty="0"/>
              <a:t>, </a:t>
            </a:r>
            <a:r>
              <a:rPr lang="ko-KR" altLang="en-US" sz="1200" dirty="0"/>
              <a:t>제</a:t>
            </a:r>
            <a:r>
              <a:rPr lang="en-US" altLang="ko-KR" sz="1200" dirty="0"/>
              <a:t>187</a:t>
            </a:r>
            <a:r>
              <a:rPr lang="ko-KR" altLang="en-US" sz="1200" dirty="0"/>
              <a:t>조</a:t>
            </a:r>
            <a:r>
              <a:rPr lang="en-US" altLang="ko-KR" sz="1200" dirty="0"/>
              <a:t>)/</a:t>
            </a:r>
            <a:r>
              <a:rPr lang="ko-KR" altLang="en-US" sz="1200" dirty="0"/>
              <a:t>복수 당사자</a:t>
            </a:r>
          </a:p>
        </p:txBody>
      </p:sp>
      <p:sp>
        <p:nvSpPr>
          <p:cNvPr id="88" name="직사각형 87"/>
          <p:cNvSpPr/>
          <p:nvPr/>
        </p:nvSpPr>
        <p:spPr>
          <a:xfrm>
            <a:off x="5947667" y="3262452"/>
            <a:ext cx="5910958" cy="37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/>
              <a:t>등본 </a:t>
            </a:r>
            <a:r>
              <a:rPr lang="ko-KR" altLang="en-US" sz="1200" dirty="0" err="1"/>
              <a:t>송달받은</a:t>
            </a:r>
            <a:r>
              <a:rPr lang="ko-KR" altLang="en-US" sz="1200" dirty="0"/>
              <a:t> 날로부터 </a:t>
            </a:r>
            <a:r>
              <a:rPr lang="en-US" altLang="ko-KR" sz="1200" dirty="0"/>
              <a:t>30</a:t>
            </a:r>
            <a:r>
              <a:rPr lang="ko-KR" altLang="en-US" sz="1200" dirty="0"/>
              <a:t>일</a:t>
            </a:r>
            <a:r>
              <a:rPr lang="en-US" altLang="ko-KR" sz="1200" dirty="0"/>
              <a:t>/</a:t>
            </a:r>
            <a:r>
              <a:rPr lang="ko-KR" altLang="en-US" sz="1200" dirty="0"/>
              <a:t>심판장 직권으로 부가기간</a:t>
            </a:r>
            <a:r>
              <a:rPr lang="en-US" altLang="ko-KR" sz="1200" dirty="0"/>
              <a:t>(</a:t>
            </a:r>
            <a:r>
              <a:rPr lang="ko-KR" altLang="en-US" sz="1200" dirty="0"/>
              <a:t>제</a:t>
            </a:r>
            <a:r>
              <a:rPr lang="en-US" altLang="ko-KR" sz="1200" dirty="0"/>
              <a:t>186</a:t>
            </a:r>
            <a:r>
              <a:rPr lang="ko-KR" altLang="en-US" sz="1200" dirty="0"/>
              <a:t>조제</a:t>
            </a:r>
            <a:r>
              <a:rPr lang="en-US" altLang="ko-KR" sz="1200" dirty="0"/>
              <a:t>3</a:t>
            </a:r>
            <a:r>
              <a:rPr lang="ko-KR" altLang="en-US" sz="1200" dirty="0"/>
              <a:t>항 내지 제</a:t>
            </a:r>
            <a:r>
              <a:rPr lang="en-US" altLang="ko-KR" sz="1200" dirty="0"/>
              <a:t>5</a:t>
            </a:r>
            <a:r>
              <a:rPr lang="ko-KR" altLang="en-US" sz="1200" dirty="0"/>
              <a:t>항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92" name="직사각형 91"/>
          <p:cNvSpPr/>
          <p:nvPr/>
        </p:nvSpPr>
        <p:spPr>
          <a:xfrm>
            <a:off x="5947667" y="4102810"/>
            <a:ext cx="5910958" cy="37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당사자가 주장한 사항에 대하여 심리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단</a:t>
            </a:r>
            <a:r>
              <a:rPr lang="en-US" altLang="ko-KR" sz="1200" dirty="0">
                <a:solidFill>
                  <a:schemeClr val="tx1"/>
                </a:solidFill>
              </a:rPr>
              <a:t>, </a:t>
            </a:r>
            <a:r>
              <a:rPr lang="ko-KR" altLang="en-US" sz="1200" dirty="0">
                <a:solidFill>
                  <a:schemeClr val="tx1"/>
                </a:solidFill>
              </a:rPr>
              <a:t>변론종결전까지 일건 기록에 현출되어 있는 사항에 대해서는 직권주의 가미 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5947667" y="4575291"/>
            <a:ext cx="5910958" cy="37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 err="1"/>
              <a:t>심결</a:t>
            </a:r>
            <a:r>
              <a:rPr lang="ko-KR" altLang="en-US" sz="1200" dirty="0"/>
              <a:t> 당시의 법령과 사실상태를 기준으로 판단</a:t>
            </a:r>
            <a:r>
              <a:rPr lang="en-US" altLang="ko-KR" sz="1200" dirty="0"/>
              <a:t>(</a:t>
            </a:r>
            <a:r>
              <a:rPr lang="ko-KR" altLang="en-US" sz="1200" dirty="0"/>
              <a:t>단</a:t>
            </a:r>
            <a:r>
              <a:rPr lang="en-US" altLang="ko-KR" sz="1200" dirty="0"/>
              <a:t>, </a:t>
            </a:r>
            <a:r>
              <a:rPr lang="ko-KR" altLang="en-US" sz="1200" dirty="0" err="1"/>
              <a:t>심결후라도</a:t>
            </a:r>
            <a:r>
              <a:rPr lang="ko-KR" altLang="en-US" sz="1200" dirty="0"/>
              <a:t> 소급효가 인정되는 경우는 예외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96" name="직사각형 95"/>
          <p:cNvSpPr/>
          <p:nvPr/>
        </p:nvSpPr>
        <p:spPr>
          <a:xfrm>
            <a:off x="5947667" y="5048938"/>
            <a:ext cx="5910958" cy="37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심판원에서 주장하지 아니한 사항을 주장할 때 심리할 수 있는지 여부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원칙은 무제한설이나 특허취소결정과 </a:t>
            </a:r>
            <a:r>
              <a:rPr lang="ko-KR" altLang="en-US" sz="1200" dirty="0" err="1">
                <a:solidFill>
                  <a:schemeClr val="tx1"/>
                </a:solidFill>
              </a:rPr>
              <a:t>결정계</a:t>
            </a:r>
            <a:r>
              <a:rPr lang="ko-KR" altLang="en-US" sz="1200" dirty="0">
                <a:solidFill>
                  <a:schemeClr val="tx1"/>
                </a:solidFill>
              </a:rPr>
              <a:t> 심판의 </a:t>
            </a:r>
            <a:r>
              <a:rPr lang="ko-KR" altLang="en-US" sz="1200" dirty="0" err="1">
                <a:solidFill>
                  <a:schemeClr val="tx1"/>
                </a:solidFill>
              </a:rPr>
              <a:t>심결에</a:t>
            </a:r>
            <a:r>
              <a:rPr lang="ko-KR" altLang="en-US" sz="1200" dirty="0">
                <a:solidFill>
                  <a:schemeClr val="tx1"/>
                </a:solidFill>
              </a:rPr>
              <a:t> 대한 취소소송의 경우에는 강행규정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대응기회 부여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r>
              <a:rPr lang="ko-KR" altLang="en-US" sz="1200" dirty="0">
                <a:solidFill>
                  <a:schemeClr val="tx1"/>
                </a:solidFill>
              </a:rPr>
              <a:t>에 위반되지 않기 위해서 지식재산처장이 새로운 주장</a:t>
            </a:r>
            <a:r>
              <a:rPr lang="en-US" altLang="ko-KR" sz="1200" dirty="0">
                <a:solidFill>
                  <a:schemeClr val="tx1"/>
                </a:solidFill>
              </a:rPr>
              <a:t>/</a:t>
            </a:r>
            <a:r>
              <a:rPr lang="ko-KR" altLang="en-US" sz="1200" dirty="0">
                <a:solidFill>
                  <a:schemeClr val="tx1"/>
                </a:solidFill>
              </a:rPr>
              <a:t>증거 제출 불가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5947667" y="5509778"/>
            <a:ext cx="5910958" cy="37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 err="1"/>
              <a:t>법률요건분류설</a:t>
            </a:r>
            <a:r>
              <a:rPr lang="en-US" altLang="ko-KR" sz="1200" dirty="0"/>
              <a:t>(</a:t>
            </a:r>
            <a:r>
              <a:rPr lang="ko-KR" altLang="en-US" sz="1200" dirty="0"/>
              <a:t>자기에게 유리한 조문은 자기가 주장증명</a:t>
            </a:r>
            <a:r>
              <a:rPr lang="en-US" altLang="ko-KR" sz="1200" dirty="0"/>
              <a:t>) – </a:t>
            </a:r>
            <a:r>
              <a:rPr lang="ko-KR" altLang="en-US" sz="1200" dirty="0"/>
              <a:t>특허발생요건</a:t>
            </a:r>
            <a:r>
              <a:rPr lang="en-US" altLang="ko-KR" sz="1200" dirty="0"/>
              <a:t>, </a:t>
            </a:r>
            <a:r>
              <a:rPr lang="ko-KR" altLang="en-US" sz="1200" dirty="0"/>
              <a:t>특허장애요건</a:t>
            </a:r>
          </a:p>
        </p:txBody>
      </p:sp>
      <p:sp>
        <p:nvSpPr>
          <p:cNvPr id="100" name="직사각형 99"/>
          <p:cNvSpPr/>
          <p:nvPr/>
        </p:nvSpPr>
        <p:spPr>
          <a:xfrm>
            <a:off x="5947667" y="5978244"/>
            <a:ext cx="5910958" cy="3749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200" dirty="0"/>
              <a:t>사실 인정</a:t>
            </a:r>
            <a:r>
              <a:rPr lang="en-US" altLang="ko-KR" sz="1200" dirty="0"/>
              <a:t>/</a:t>
            </a:r>
            <a:r>
              <a:rPr lang="ko-KR" altLang="en-US" sz="1200" dirty="0"/>
              <a:t>법적 판단 내지 평가는 불인정</a:t>
            </a:r>
          </a:p>
        </p:txBody>
      </p:sp>
      <p:cxnSp>
        <p:nvCxnSpPr>
          <p:cNvPr id="22" name="꺾인 연결선 21"/>
          <p:cNvCxnSpPr>
            <a:stCxn id="53" idx="3"/>
            <a:endCxn id="61" idx="1"/>
          </p:cNvCxnSpPr>
          <p:nvPr/>
        </p:nvCxnSpPr>
        <p:spPr>
          <a:xfrm flipV="1">
            <a:off x="2976492" y="1511442"/>
            <a:ext cx="373926" cy="214716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stCxn id="53" idx="3"/>
            <a:endCxn id="62" idx="1"/>
          </p:cNvCxnSpPr>
          <p:nvPr/>
        </p:nvCxnSpPr>
        <p:spPr>
          <a:xfrm flipV="1">
            <a:off x="2976492" y="1989934"/>
            <a:ext cx="373926" cy="166867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stCxn id="53" idx="3"/>
            <a:endCxn id="64" idx="1"/>
          </p:cNvCxnSpPr>
          <p:nvPr/>
        </p:nvCxnSpPr>
        <p:spPr>
          <a:xfrm flipV="1">
            <a:off x="2976492" y="2460148"/>
            <a:ext cx="373926" cy="119846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stCxn id="53" idx="3"/>
            <a:endCxn id="65" idx="1"/>
          </p:cNvCxnSpPr>
          <p:nvPr/>
        </p:nvCxnSpPr>
        <p:spPr>
          <a:xfrm flipV="1">
            <a:off x="2976492" y="2953061"/>
            <a:ext cx="373926" cy="7055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53" idx="3"/>
            <a:endCxn id="66" idx="1"/>
          </p:cNvCxnSpPr>
          <p:nvPr/>
        </p:nvCxnSpPr>
        <p:spPr>
          <a:xfrm flipV="1">
            <a:off x="2976492" y="3449918"/>
            <a:ext cx="373926" cy="20869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꺾인 연결선 31"/>
          <p:cNvCxnSpPr>
            <a:stCxn id="55" idx="3"/>
            <a:endCxn id="70" idx="1"/>
          </p:cNvCxnSpPr>
          <p:nvPr/>
        </p:nvCxnSpPr>
        <p:spPr>
          <a:xfrm flipV="1">
            <a:off x="2976492" y="4290276"/>
            <a:ext cx="373926" cy="67266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꺾인 연결선 34"/>
          <p:cNvCxnSpPr>
            <a:stCxn id="55" idx="3"/>
            <a:endCxn id="79" idx="1"/>
          </p:cNvCxnSpPr>
          <p:nvPr/>
        </p:nvCxnSpPr>
        <p:spPr>
          <a:xfrm>
            <a:off x="2976492" y="4962942"/>
            <a:ext cx="373926" cy="120276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꺾인 연결선 38"/>
          <p:cNvCxnSpPr>
            <a:stCxn id="55" idx="3"/>
            <a:endCxn id="73" idx="1"/>
          </p:cNvCxnSpPr>
          <p:nvPr/>
        </p:nvCxnSpPr>
        <p:spPr>
          <a:xfrm flipV="1">
            <a:off x="2976492" y="4762757"/>
            <a:ext cx="373926" cy="20018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연결선 42"/>
          <p:cNvCxnSpPr>
            <a:stCxn id="55" idx="3"/>
            <a:endCxn id="76" idx="1"/>
          </p:cNvCxnSpPr>
          <p:nvPr/>
        </p:nvCxnSpPr>
        <p:spPr>
          <a:xfrm>
            <a:off x="2976492" y="4962942"/>
            <a:ext cx="373926" cy="27346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55" idx="3"/>
            <a:endCxn id="78" idx="1"/>
          </p:cNvCxnSpPr>
          <p:nvPr/>
        </p:nvCxnSpPr>
        <p:spPr>
          <a:xfrm>
            <a:off x="2976492" y="4962942"/>
            <a:ext cx="373926" cy="73430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11125200" y="0"/>
            <a:ext cx="1066800" cy="711200"/>
          </a:xfrm>
        </p:spPr>
        <p:txBody>
          <a:bodyPr/>
          <a:lstStyle/>
          <a:p>
            <a:r>
              <a:rPr lang="en-US" altLang="ko-KR"/>
              <a:t>534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A49D19-81F5-4BA7-ADA0-B9444784EC80}"/>
              </a:ext>
            </a:extLst>
          </p:cNvPr>
          <p:cNvSpPr txBox="1"/>
          <p:nvPr/>
        </p:nvSpPr>
        <p:spPr>
          <a:xfrm>
            <a:off x="1866699" y="6421764"/>
            <a:ext cx="7152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/>
              <a:t>제</a:t>
            </a:r>
            <a:r>
              <a:rPr lang="en-US" altLang="ko-KR" sz="1200" dirty="0"/>
              <a:t>189</a:t>
            </a:r>
            <a:r>
              <a:rPr lang="ko-KR" altLang="en-US" sz="1200" dirty="0"/>
              <a:t>조</a:t>
            </a:r>
          </a:p>
        </p:txBody>
      </p:sp>
    </p:spTree>
    <p:extLst>
      <p:ext uri="{BB962C8B-B14F-4D97-AF65-F5344CB8AC3E}">
        <p14:creationId xmlns:p14="http://schemas.microsoft.com/office/powerpoint/2010/main" val="3598089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Frutiger LT 75 Black"/>
        <a:ea typeface="Rix모던고딕 EB"/>
        <a:cs typeface=""/>
      </a:majorFont>
      <a:minorFont>
        <a:latin typeface="Frutiger LT 65 Bold"/>
        <a:ea typeface="Rix모던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1B634E7-B287-4C62-9179-954BA63AEC0A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20518b01-0b0e-4e6a-92fb-31613eb4aac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17579</TotalTime>
  <Words>35228</Words>
  <Application>Microsoft Office PowerPoint</Application>
  <PresentationFormat>와이드스크린</PresentationFormat>
  <Paragraphs>3614</Paragraphs>
  <Slides>110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110</vt:i4>
      </vt:variant>
    </vt:vector>
  </HeadingPairs>
  <TitlesOfParts>
    <vt:vector size="120" baseType="lpstr">
      <vt:lpstr>Wingdings</vt:lpstr>
      <vt:lpstr>Frutiger LT 75 Black</vt:lpstr>
      <vt:lpstr>KoPub바탕체 Medium</vt:lpstr>
      <vt:lpstr>Frutiger LT 65 Bold</vt:lpstr>
      <vt:lpstr>옥션고딕 M</vt:lpstr>
      <vt:lpstr>Rix모던고딕 L</vt:lpstr>
      <vt:lpstr>Arial</vt:lpstr>
      <vt:lpstr>Rix모던명조 B</vt:lpstr>
      <vt:lpstr>Rix모던고딕 EB</vt:lpstr>
      <vt:lpstr>Office 테마</vt:lpstr>
      <vt:lpstr>PowerPoint 프레젠테이션</vt:lpstr>
      <vt:lpstr>참고노트</vt:lpstr>
      <vt:lpstr>참고노트</vt:lpstr>
      <vt:lpstr>참고노트</vt:lpstr>
      <vt:lpstr>참고노트</vt:lpstr>
      <vt:lpstr>참고노트</vt:lpstr>
      <vt:lpstr>제148조, 제149조</vt:lpstr>
      <vt:lpstr>제139조</vt:lpstr>
      <vt:lpstr>제139조</vt:lpstr>
      <vt:lpstr>제139조</vt:lpstr>
      <vt:lpstr>제139조</vt:lpstr>
      <vt:lpstr>제135조</vt:lpstr>
      <vt:lpstr>제155조, 제156조</vt:lpstr>
      <vt:lpstr>제140조, 제140조의2</vt:lpstr>
      <vt:lpstr>제140조, 제140조의2</vt:lpstr>
      <vt:lpstr>제140조, 제140조의2</vt:lpstr>
      <vt:lpstr>제154조</vt:lpstr>
      <vt:lpstr>제154조</vt:lpstr>
      <vt:lpstr>제141조, 제142조</vt:lpstr>
      <vt:lpstr>제141조</vt:lpstr>
      <vt:lpstr>제154조</vt:lpstr>
      <vt:lpstr>제157조~제160조</vt:lpstr>
      <vt:lpstr>제159조</vt:lpstr>
      <vt:lpstr>제163조</vt:lpstr>
      <vt:lpstr>제163조</vt:lpstr>
      <vt:lpstr>제163조</vt:lpstr>
      <vt:lpstr>제163조</vt:lpstr>
      <vt:lpstr>제163조</vt:lpstr>
      <vt:lpstr>제163조</vt:lpstr>
      <vt:lpstr>제163조</vt:lpstr>
      <vt:lpstr>제170조</vt:lpstr>
      <vt:lpstr>제170조</vt:lpstr>
      <vt:lpstr>제170조</vt:lpstr>
      <vt:lpstr>제176조</vt:lpstr>
      <vt:lpstr>제133조</vt:lpstr>
      <vt:lpstr>제133조</vt:lpstr>
      <vt:lpstr>제133조</vt:lpstr>
      <vt:lpstr>제133조</vt:lpstr>
      <vt:lpstr>제133조</vt:lpstr>
      <vt:lpstr>제133조</vt:lpstr>
      <vt:lpstr>제133조</vt:lpstr>
      <vt:lpstr>참고노트</vt:lpstr>
      <vt:lpstr>참고노트</vt:lpstr>
      <vt:lpstr>제135조</vt:lpstr>
      <vt:lpstr>제135조</vt:lpstr>
      <vt:lpstr>제135조</vt:lpstr>
      <vt:lpstr>제135조</vt:lpstr>
      <vt:lpstr>제135조</vt:lpstr>
      <vt:lpstr>제135조</vt:lpstr>
      <vt:lpstr>제135조</vt:lpstr>
      <vt:lpstr>제135조</vt:lpstr>
      <vt:lpstr>제135조</vt:lpstr>
      <vt:lpstr>제135조</vt:lpstr>
      <vt:lpstr>제135조</vt:lpstr>
      <vt:lpstr>제135조</vt:lpstr>
      <vt:lpstr>제136조</vt:lpstr>
      <vt:lpstr>제136조</vt:lpstr>
      <vt:lpstr>제136조</vt:lpstr>
      <vt:lpstr>제136조</vt:lpstr>
      <vt:lpstr>제136조</vt:lpstr>
      <vt:lpstr>제136조</vt:lpstr>
      <vt:lpstr>제136조</vt:lpstr>
      <vt:lpstr>제136조</vt:lpstr>
      <vt:lpstr>제136조</vt:lpstr>
      <vt:lpstr>제136조</vt:lpstr>
      <vt:lpstr>제136조</vt:lpstr>
      <vt:lpstr>제136조</vt:lpstr>
      <vt:lpstr>제137조</vt:lpstr>
      <vt:lpstr>참고노트</vt:lpstr>
      <vt:lpstr>참고노트</vt:lpstr>
      <vt:lpstr>제132조의2~ 제132조의15</vt:lpstr>
      <vt:lpstr>제132조의2~ 제132조의15</vt:lpstr>
      <vt:lpstr>제132조의2~ 제132조의15</vt:lpstr>
      <vt:lpstr>제132조의2~ 제132조의15</vt:lpstr>
      <vt:lpstr>제132조의2~ 제132조의15</vt:lpstr>
      <vt:lpstr>제132조의2~ 제132조의15</vt:lpstr>
      <vt:lpstr>제132조의2~ 제132조의15</vt:lpstr>
      <vt:lpstr>제132조의2~ 제132조의15</vt:lpstr>
      <vt:lpstr>제132조의2~ 제132조의15</vt:lpstr>
      <vt:lpstr>제132조의2~ 제132조의15</vt:lpstr>
      <vt:lpstr>제132조의3,  제133조의2, 제137조</vt:lpstr>
      <vt:lpstr>제132조의3,  제133조의2, 제137조</vt:lpstr>
      <vt:lpstr>제132조의3,  제133조의2, 제137조</vt:lpstr>
      <vt:lpstr>제132조의3,  제133조의2, 제137조</vt:lpstr>
      <vt:lpstr>제132조의3,  제133조의2, 제137조</vt:lpstr>
      <vt:lpstr>참고노트</vt:lpstr>
      <vt:lpstr>참고노트</vt:lpstr>
      <vt:lpstr>참고노트</vt:lpstr>
      <vt:lpstr>제178조~제185조</vt:lpstr>
      <vt:lpstr>제178조~제185조</vt:lpstr>
      <vt:lpstr>제180조</vt:lpstr>
      <vt:lpstr>참고노트</vt:lpstr>
      <vt:lpstr>참고노트</vt:lpstr>
      <vt:lpstr>제186조</vt:lpstr>
      <vt:lpstr>제186조</vt:lpstr>
      <vt:lpstr>제186조</vt:lpstr>
      <vt:lpstr>제186조</vt:lpstr>
      <vt:lpstr>제187조</vt:lpstr>
      <vt:lpstr>제187조</vt:lpstr>
      <vt:lpstr>제187조</vt:lpstr>
      <vt:lpstr>제186조</vt:lpstr>
      <vt:lpstr>제186조</vt:lpstr>
      <vt:lpstr>제186조</vt:lpstr>
      <vt:lpstr>제186조</vt:lpstr>
      <vt:lpstr>제186조</vt:lpstr>
      <vt:lpstr>제186조</vt:lpstr>
      <vt:lpstr>제186조</vt:lpstr>
      <vt:lpstr>제186조</vt:lpstr>
      <vt:lpstr>제189조</vt:lpstr>
      <vt:lpstr>참고노트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(주)INVENSTOR</dc:title>
  <dc:creator>Windows 사용자</dc:creator>
  <cp:lastModifiedBy>병웅 임</cp:lastModifiedBy>
  <cp:revision>1036</cp:revision>
  <cp:lastPrinted>2021-09-03T08:18:52Z</cp:lastPrinted>
  <dcterms:created xsi:type="dcterms:W3CDTF">2016-02-25T00:12:49Z</dcterms:created>
  <dcterms:modified xsi:type="dcterms:W3CDTF">2026-06-13T13:16:59Z</dcterms:modified>
</cp:coreProperties>
</file>