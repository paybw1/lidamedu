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rels" ContentType="application/vnd.openxmlformats-package.relationships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537" embedTrueTypeFonts="1" saveSubsetFonts="1" bookmarkIdSeed="2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256" r:id="rId2"/>
    <p:sldId id="2045" r:id="rId3"/>
    <p:sldId id="2047" r:id="rId4"/>
    <p:sldId id="2049" r:id="rId5"/>
    <p:sldId id="752" r:id="rId6"/>
    <p:sldId id="842" r:id="rId7"/>
    <p:sldId id="786" r:id="rId8"/>
    <p:sldId id="755" r:id="rId9"/>
    <p:sldId id="761" r:id="rId10"/>
    <p:sldId id="762" r:id="rId11"/>
    <p:sldId id="787" r:id="rId12"/>
    <p:sldId id="788" r:id="rId13"/>
    <p:sldId id="789" r:id="rId14"/>
    <p:sldId id="791" r:id="rId15"/>
    <p:sldId id="770" r:id="rId16"/>
    <p:sldId id="826" r:id="rId17"/>
    <p:sldId id="792" r:id="rId18"/>
    <p:sldId id="793" r:id="rId19"/>
    <p:sldId id="794" r:id="rId20"/>
    <p:sldId id="795" r:id="rId21"/>
    <p:sldId id="796" r:id="rId22"/>
    <p:sldId id="776" r:id="rId23"/>
    <p:sldId id="798" r:id="rId24"/>
    <p:sldId id="777" r:id="rId25"/>
    <p:sldId id="778" r:id="rId26"/>
    <p:sldId id="812" r:id="rId27"/>
    <p:sldId id="813" r:id="rId28"/>
    <p:sldId id="799" r:id="rId29"/>
    <p:sldId id="800" r:id="rId30"/>
    <p:sldId id="801" r:id="rId31"/>
    <p:sldId id="807" r:id="rId32"/>
    <p:sldId id="802" r:id="rId33"/>
    <p:sldId id="843" r:id="rId34"/>
    <p:sldId id="803" r:id="rId35"/>
    <p:sldId id="804" r:id="rId36"/>
    <p:sldId id="805" r:id="rId37"/>
    <p:sldId id="806" r:id="rId38"/>
    <p:sldId id="808" r:id="rId39"/>
    <p:sldId id="809" r:id="rId40"/>
    <p:sldId id="815" r:id="rId41"/>
    <p:sldId id="810" r:id="rId42"/>
    <p:sldId id="816" r:id="rId43"/>
    <p:sldId id="817" r:id="rId44"/>
    <p:sldId id="818" r:id="rId45"/>
    <p:sldId id="819" r:id="rId46"/>
    <p:sldId id="820" r:id="rId47"/>
    <p:sldId id="822" r:id="rId48"/>
    <p:sldId id="2009" r:id="rId49"/>
    <p:sldId id="821" r:id="rId50"/>
    <p:sldId id="823" r:id="rId51"/>
    <p:sldId id="824" r:id="rId52"/>
    <p:sldId id="825" r:id="rId53"/>
    <p:sldId id="835" r:id="rId54"/>
    <p:sldId id="2046" r:id="rId55"/>
  </p:sldIdLst>
  <p:sldSz cx="12192000" cy="6858000"/>
  <p:notesSz cx="6400800" cy="11736388"/>
  <p:embeddedFontLst>
    <p:embeddedFont>
      <p:font typeface="Frutiger LT 65 Bold" panose="020B0800000000000000" pitchFamily="34" charset="0"/>
      <p:regular r:id="rId58"/>
    </p:embeddedFont>
    <p:embeddedFont>
      <p:font typeface="Frutiger LT 75 Black" panose="02000A03050000020004" pitchFamily="2" charset="0"/>
      <p:regular r:id="rId59"/>
    </p:embeddedFont>
    <p:embeddedFont>
      <p:font typeface="HY각헤드라인M" panose="02030600000101010101" pitchFamily="18" charset="-127"/>
      <p:regular r:id="rId60"/>
    </p:embeddedFont>
    <p:embeddedFont>
      <p:font typeface="Rix모던고딕 B" panose="02020603020101020101" pitchFamily="18" charset="-127"/>
      <p:regular r:id="rId61"/>
    </p:embeddedFont>
    <p:embeddedFont>
      <p:font typeface="Rix모던고딕 EB" panose="02020603020101020101" pitchFamily="18" charset="-127"/>
      <p:regular r:id="rId62"/>
    </p:embeddedFont>
    <p:embeddedFont>
      <p:font typeface="Rix모던고딕 M" panose="02020603020101020101" pitchFamily="18" charset="-127"/>
      <p:regular r:id="rId63"/>
    </p:embeddedFont>
    <p:embeddedFont>
      <p:font typeface="Rix모던명조 B" panose="02020603020101020101" pitchFamily="18" charset="-127"/>
      <p:regular r:id="rId64"/>
    </p:embeddedFont>
    <p:embeddedFont>
      <p:font typeface="Rix모던명조 L" panose="02020603020101020101" pitchFamily="18" charset="-127"/>
      <p:regular r:id="rId65"/>
    </p:embeddedFont>
    <p:embeddedFont>
      <p:font typeface="Rix커피향 M" panose="02020603020101020101" pitchFamily="18" charset="-127"/>
      <p:regular r:id="rId66"/>
    </p:embeddedFont>
    <p:embeddedFont>
      <p:font typeface="맑은 고딕" panose="020B0503020000020004" pitchFamily="50" charset="-127"/>
      <p:regular r:id="rId67"/>
      <p:bold r:id="rId68"/>
    </p:embeddedFont>
    <p:embeddedFont>
      <p:font typeface="산돌신문제비 L" panose="02030504000101010101" pitchFamily="18" charset="-127"/>
      <p:regular r:id="rId6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696" userDrawn="1">
          <p15:clr>
            <a:srgbClr val="A4A3A4"/>
          </p15:clr>
        </p15:guide>
        <p15:guide id="2" pos="201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525252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84000" autoAdjust="0"/>
  </p:normalViewPr>
  <p:slideViewPr>
    <p:cSldViewPr snapToGrid="0">
      <p:cViewPr varScale="1">
        <p:scale>
          <a:sx n="89" d="100"/>
          <a:sy n="89" d="100"/>
        </p:scale>
        <p:origin x="762" y="8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2910" y="78"/>
      </p:cViewPr>
      <p:guideLst>
        <p:guide orient="horz" pos="3696"/>
        <p:guide pos="201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6.fntdata"/><Relationship Id="rId68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66" Type="http://schemas.openxmlformats.org/officeDocument/2006/relationships/font" Target="fonts/font9.fntdata"/><Relationship Id="rId5" Type="http://schemas.openxmlformats.org/officeDocument/2006/relationships/slide" Target="slides/slide4.xml"/><Relationship Id="rId61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7.fntdata"/><Relationship Id="rId69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237217-0BCB-4A4F-AE5D-4DC019D96040}" type="doc">
      <dgm:prSet loTypeId="urn:microsoft.com/office/officeart/2005/8/layout/cycle3" loCatId="cycle" qsTypeId="urn:microsoft.com/office/officeart/2005/8/quickstyle/simple2" qsCatId="simple" csTypeId="urn:microsoft.com/office/officeart/2005/8/colors/colorful2" csCatId="colorful" phldr="1"/>
      <dgm:spPr/>
    </dgm:pt>
    <dgm:pt modelId="{5FDB91EA-FE45-46E7-8563-3AC5A3ABD86D}">
      <dgm:prSet phldrT="[텍스트]" custT="1"/>
      <dgm:spPr/>
      <dgm:t>
        <a:bodyPr/>
        <a:lstStyle/>
        <a:p>
          <a:pPr latinLnBrk="1"/>
          <a:r>
            <a:rPr lang="ko-KR" altLang="en-US" sz="1400" b="1" dirty="0">
              <a:latin typeface="+mn-ea"/>
              <a:ea typeface="+mn-ea"/>
            </a:rPr>
            <a:t>불필요</a:t>
          </a:r>
          <a:br>
            <a:rPr lang="en-US" altLang="ko-KR" sz="1400" b="1" dirty="0">
              <a:latin typeface="+mn-ea"/>
              <a:ea typeface="+mn-ea"/>
            </a:rPr>
          </a:br>
          <a:r>
            <a:rPr lang="ko-KR" altLang="en-US" sz="1400" b="1" dirty="0">
              <a:latin typeface="+mn-ea"/>
              <a:ea typeface="+mn-ea"/>
            </a:rPr>
            <a:t>해외출원</a:t>
          </a:r>
          <a:br>
            <a:rPr lang="en-US" altLang="ko-KR" sz="1400" b="1" dirty="0">
              <a:latin typeface="+mn-ea"/>
              <a:ea typeface="+mn-ea"/>
            </a:rPr>
          </a:br>
          <a:r>
            <a:rPr lang="ko-KR" altLang="en-US" sz="1400" b="1" dirty="0">
              <a:latin typeface="+mn-ea"/>
              <a:ea typeface="+mn-ea"/>
            </a:rPr>
            <a:t>방지</a:t>
          </a:r>
        </a:p>
      </dgm:t>
    </dgm:pt>
    <dgm:pt modelId="{C5FFAF14-4B8F-4005-A870-92B379636126}" type="parTrans" cxnId="{3321AA74-9308-4A10-902A-8E370B9E7621}">
      <dgm:prSet/>
      <dgm:spPr/>
      <dgm:t>
        <a:bodyPr/>
        <a:lstStyle/>
        <a:p>
          <a:pPr latinLnBrk="1"/>
          <a:endParaRPr lang="ko-KR" altLang="en-US" sz="1400" b="1">
            <a:latin typeface="+mn-ea"/>
            <a:ea typeface="+mn-ea"/>
          </a:endParaRPr>
        </a:p>
      </dgm:t>
    </dgm:pt>
    <dgm:pt modelId="{6DC79147-E7CD-4F00-92CD-98EF03525908}" type="sibTrans" cxnId="{3321AA74-9308-4A10-902A-8E370B9E7621}">
      <dgm:prSet/>
      <dgm:spPr/>
      <dgm:t>
        <a:bodyPr/>
        <a:lstStyle/>
        <a:p>
          <a:pPr latinLnBrk="1"/>
          <a:endParaRPr lang="ko-KR" altLang="en-US" sz="1400" b="1">
            <a:latin typeface="+mn-ea"/>
            <a:ea typeface="+mn-ea"/>
          </a:endParaRPr>
        </a:p>
      </dgm:t>
    </dgm:pt>
    <dgm:pt modelId="{64689CF1-B320-4BD8-8790-5682B5D82C0C}">
      <dgm:prSet phldrT="[텍스트]" custT="1"/>
      <dgm:spPr/>
      <dgm:t>
        <a:bodyPr/>
        <a:lstStyle/>
        <a:p>
          <a:pPr latinLnBrk="1"/>
          <a:r>
            <a:rPr lang="ko-KR" altLang="en-US" sz="1400" b="1" dirty="0">
              <a:latin typeface="+mn-ea"/>
              <a:ea typeface="+mn-ea"/>
            </a:rPr>
            <a:t>소요되는</a:t>
          </a:r>
          <a:br>
            <a:rPr lang="en-US" altLang="ko-KR" sz="1400" b="1" dirty="0">
              <a:latin typeface="+mn-ea"/>
              <a:ea typeface="+mn-ea"/>
            </a:rPr>
          </a:br>
          <a:r>
            <a:rPr lang="ko-KR" altLang="en-US" sz="1400" b="1" dirty="0">
              <a:latin typeface="+mn-ea"/>
              <a:ea typeface="+mn-ea"/>
            </a:rPr>
            <a:t>비용 및 시간</a:t>
          </a:r>
          <a:br>
            <a:rPr lang="en-US" altLang="ko-KR" sz="1400" b="1" dirty="0">
              <a:latin typeface="+mn-ea"/>
              <a:ea typeface="+mn-ea"/>
            </a:rPr>
          </a:br>
          <a:r>
            <a:rPr lang="ko-KR" altLang="en-US" sz="1400" b="1" dirty="0">
              <a:latin typeface="+mn-ea"/>
              <a:ea typeface="+mn-ea"/>
            </a:rPr>
            <a:t>절약</a:t>
          </a:r>
        </a:p>
      </dgm:t>
    </dgm:pt>
    <dgm:pt modelId="{5DE0F178-CBEE-48DD-BB3C-836BD81DF6E5}" type="parTrans" cxnId="{C02C0853-F84B-45BA-871C-42A981D925D2}">
      <dgm:prSet/>
      <dgm:spPr/>
      <dgm:t>
        <a:bodyPr/>
        <a:lstStyle/>
        <a:p>
          <a:pPr latinLnBrk="1"/>
          <a:endParaRPr lang="ko-KR" altLang="en-US" sz="1400" b="1">
            <a:latin typeface="+mn-ea"/>
            <a:ea typeface="+mn-ea"/>
          </a:endParaRPr>
        </a:p>
      </dgm:t>
    </dgm:pt>
    <dgm:pt modelId="{370DD535-0BCE-4B12-B3E4-65D4F29817D7}" type="sibTrans" cxnId="{C02C0853-F84B-45BA-871C-42A981D925D2}">
      <dgm:prSet/>
      <dgm:spPr/>
      <dgm:t>
        <a:bodyPr/>
        <a:lstStyle/>
        <a:p>
          <a:pPr latinLnBrk="1"/>
          <a:endParaRPr lang="ko-KR" altLang="en-US" sz="1400" b="1">
            <a:latin typeface="+mn-ea"/>
            <a:ea typeface="+mn-ea"/>
          </a:endParaRPr>
        </a:p>
      </dgm:t>
    </dgm:pt>
    <dgm:pt modelId="{A9EB2FE9-0827-419A-B03C-A5B9D8F58920}">
      <dgm:prSet phldrT="[텍스트]" custT="1"/>
      <dgm:spPr/>
      <dgm:t>
        <a:bodyPr/>
        <a:lstStyle/>
        <a:p>
          <a:pPr latinLnBrk="1"/>
          <a:r>
            <a:rPr lang="ko-KR" altLang="en-US" sz="1400" b="0" dirty="0">
              <a:latin typeface="+mn-ea"/>
              <a:ea typeface="+mn-ea"/>
            </a:rPr>
            <a:t>강한</a:t>
          </a:r>
          <a:br>
            <a:rPr lang="en-US" altLang="ko-KR" sz="1400" b="0" dirty="0">
              <a:latin typeface="+mn-ea"/>
              <a:ea typeface="+mn-ea"/>
            </a:rPr>
          </a:br>
          <a:r>
            <a:rPr lang="ko-KR" altLang="en-US" sz="1400" b="0" dirty="0">
              <a:latin typeface="+mn-ea"/>
              <a:ea typeface="+mn-ea"/>
            </a:rPr>
            <a:t>해외 특허권</a:t>
          </a:r>
          <a:br>
            <a:rPr lang="en-US" altLang="ko-KR" sz="1400" b="0" dirty="0">
              <a:latin typeface="+mn-ea"/>
              <a:ea typeface="+mn-ea"/>
            </a:rPr>
          </a:br>
          <a:r>
            <a:rPr lang="ko-KR" altLang="en-US" sz="1400" b="0" dirty="0">
              <a:latin typeface="+mn-ea"/>
              <a:ea typeface="+mn-ea"/>
            </a:rPr>
            <a:t>확보</a:t>
          </a:r>
        </a:p>
      </dgm:t>
    </dgm:pt>
    <dgm:pt modelId="{746BDAE1-293B-4D29-B25E-5572835A2D35}" type="parTrans" cxnId="{7ED6CFC8-7D06-4AE8-88EA-C4FA90C3E736}">
      <dgm:prSet/>
      <dgm:spPr/>
      <dgm:t>
        <a:bodyPr/>
        <a:lstStyle/>
        <a:p>
          <a:pPr latinLnBrk="1"/>
          <a:endParaRPr lang="ko-KR" altLang="en-US" sz="1400" b="1">
            <a:latin typeface="+mn-ea"/>
            <a:ea typeface="+mn-ea"/>
          </a:endParaRPr>
        </a:p>
      </dgm:t>
    </dgm:pt>
    <dgm:pt modelId="{F1E742C0-F58C-4607-8D51-6EA06A47EB67}" type="sibTrans" cxnId="{7ED6CFC8-7D06-4AE8-88EA-C4FA90C3E736}">
      <dgm:prSet/>
      <dgm:spPr/>
      <dgm:t>
        <a:bodyPr/>
        <a:lstStyle/>
        <a:p>
          <a:pPr latinLnBrk="1"/>
          <a:endParaRPr lang="ko-KR" altLang="en-US" sz="1400" b="1">
            <a:latin typeface="+mn-ea"/>
            <a:ea typeface="+mn-ea"/>
          </a:endParaRPr>
        </a:p>
      </dgm:t>
    </dgm:pt>
    <dgm:pt modelId="{F4DF8D30-8190-4C49-969B-0CA5F32C440F}">
      <dgm:prSet custT="1"/>
      <dgm:spPr/>
      <dgm:t>
        <a:bodyPr/>
        <a:lstStyle/>
        <a:p>
          <a:pPr latinLnBrk="1"/>
          <a:r>
            <a:rPr lang="ko-KR" altLang="en-US" sz="1400" dirty="0">
              <a:latin typeface="+mn-ea"/>
              <a:ea typeface="+mn-ea"/>
            </a:rPr>
            <a:t>성공적 해외 </a:t>
          </a:r>
          <a:r>
            <a:rPr lang="en-US" altLang="ko-KR" sz="1400" dirty="0">
              <a:latin typeface="+mn-ea"/>
              <a:ea typeface="+mn-ea"/>
            </a:rPr>
            <a:t>IP </a:t>
          </a:r>
          <a:r>
            <a:rPr lang="ko-KR" altLang="en-US" sz="1400" dirty="0">
              <a:latin typeface="+mn-ea"/>
              <a:ea typeface="+mn-ea"/>
            </a:rPr>
            <a:t>권리화 및 사업화</a:t>
          </a:r>
        </a:p>
      </dgm:t>
    </dgm:pt>
    <dgm:pt modelId="{7CCC1091-20C2-421D-A21A-B370BFCDCD7D}" type="parTrans" cxnId="{B0D42E8B-5356-4C36-94CE-75F173975CD3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942E7287-5B2A-4879-ADDE-C59EB39F922E}" type="sibTrans" cxnId="{B0D42E8B-5356-4C36-94CE-75F173975CD3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2A45B199-753F-4625-83FC-AFA482D290B5}" type="pres">
      <dgm:prSet presAssocID="{7C237217-0BCB-4A4F-AE5D-4DC019D96040}" presName="Name0" presStyleCnt="0">
        <dgm:presLayoutVars>
          <dgm:dir/>
          <dgm:resizeHandles val="exact"/>
        </dgm:presLayoutVars>
      </dgm:prSet>
      <dgm:spPr/>
    </dgm:pt>
    <dgm:pt modelId="{2CC334A3-B686-4F8B-8135-2EF408FBC271}" type="pres">
      <dgm:prSet presAssocID="{7C237217-0BCB-4A4F-AE5D-4DC019D96040}" presName="cycle" presStyleCnt="0"/>
      <dgm:spPr/>
    </dgm:pt>
    <dgm:pt modelId="{5DA53DBF-5613-42D1-901A-9AD37587F257}" type="pres">
      <dgm:prSet presAssocID="{5FDB91EA-FE45-46E7-8563-3AC5A3ABD86D}" presName="nodeFirstNode" presStyleLbl="node1" presStyleIdx="0" presStyleCnt="4">
        <dgm:presLayoutVars>
          <dgm:bulletEnabled val="1"/>
        </dgm:presLayoutVars>
      </dgm:prSet>
      <dgm:spPr/>
    </dgm:pt>
    <dgm:pt modelId="{8CD54EE8-6D44-4AF5-8FD7-FBB502E77F56}" type="pres">
      <dgm:prSet presAssocID="{6DC79147-E7CD-4F00-92CD-98EF03525908}" presName="sibTransFirstNode" presStyleLbl="bgShp" presStyleIdx="0" presStyleCnt="1"/>
      <dgm:spPr/>
    </dgm:pt>
    <dgm:pt modelId="{C450BBB3-579D-4EDA-8790-99EEBABAAFC1}" type="pres">
      <dgm:prSet presAssocID="{64689CF1-B320-4BD8-8790-5682B5D82C0C}" presName="nodeFollowingNodes" presStyleLbl="node1" presStyleIdx="1" presStyleCnt="4">
        <dgm:presLayoutVars>
          <dgm:bulletEnabled val="1"/>
        </dgm:presLayoutVars>
      </dgm:prSet>
      <dgm:spPr/>
    </dgm:pt>
    <dgm:pt modelId="{22964866-689A-47F1-9515-89F94FAFA586}" type="pres">
      <dgm:prSet presAssocID="{A9EB2FE9-0827-419A-B03C-A5B9D8F58920}" presName="nodeFollowingNodes" presStyleLbl="node1" presStyleIdx="2" presStyleCnt="4">
        <dgm:presLayoutVars>
          <dgm:bulletEnabled val="1"/>
        </dgm:presLayoutVars>
      </dgm:prSet>
      <dgm:spPr/>
    </dgm:pt>
    <dgm:pt modelId="{6555C718-3B22-49E6-A042-800ABE742697}" type="pres">
      <dgm:prSet presAssocID="{F4DF8D30-8190-4C49-969B-0CA5F32C440F}" presName="nodeFollowingNodes" presStyleLbl="node1" presStyleIdx="3" presStyleCnt="4">
        <dgm:presLayoutVars>
          <dgm:bulletEnabled val="1"/>
        </dgm:presLayoutVars>
      </dgm:prSet>
      <dgm:spPr/>
    </dgm:pt>
  </dgm:ptLst>
  <dgm:cxnLst>
    <dgm:cxn modelId="{26192C40-5601-4071-85B0-C4B1630FA166}" type="presOf" srcId="{A9EB2FE9-0827-419A-B03C-A5B9D8F58920}" destId="{22964866-689A-47F1-9515-89F94FAFA586}" srcOrd="0" destOrd="0" presId="urn:microsoft.com/office/officeart/2005/8/layout/cycle3"/>
    <dgm:cxn modelId="{C02C0853-F84B-45BA-871C-42A981D925D2}" srcId="{7C237217-0BCB-4A4F-AE5D-4DC019D96040}" destId="{64689CF1-B320-4BD8-8790-5682B5D82C0C}" srcOrd="1" destOrd="0" parTransId="{5DE0F178-CBEE-48DD-BB3C-836BD81DF6E5}" sibTransId="{370DD535-0BCE-4B12-B3E4-65D4F29817D7}"/>
    <dgm:cxn modelId="{3321AA74-9308-4A10-902A-8E370B9E7621}" srcId="{7C237217-0BCB-4A4F-AE5D-4DC019D96040}" destId="{5FDB91EA-FE45-46E7-8563-3AC5A3ABD86D}" srcOrd="0" destOrd="0" parTransId="{C5FFAF14-4B8F-4005-A870-92B379636126}" sibTransId="{6DC79147-E7CD-4F00-92CD-98EF03525908}"/>
    <dgm:cxn modelId="{FBFB7586-B443-4D95-9594-632324EAB6D4}" type="presOf" srcId="{F4DF8D30-8190-4C49-969B-0CA5F32C440F}" destId="{6555C718-3B22-49E6-A042-800ABE742697}" srcOrd="0" destOrd="0" presId="urn:microsoft.com/office/officeart/2005/8/layout/cycle3"/>
    <dgm:cxn modelId="{A034CF8A-F139-4233-A6A2-93A683ED3F59}" type="presOf" srcId="{64689CF1-B320-4BD8-8790-5682B5D82C0C}" destId="{C450BBB3-579D-4EDA-8790-99EEBABAAFC1}" srcOrd="0" destOrd="0" presId="urn:microsoft.com/office/officeart/2005/8/layout/cycle3"/>
    <dgm:cxn modelId="{B0D42E8B-5356-4C36-94CE-75F173975CD3}" srcId="{7C237217-0BCB-4A4F-AE5D-4DC019D96040}" destId="{F4DF8D30-8190-4C49-969B-0CA5F32C440F}" srcOrd="3" destOrd="0" parTransId="{7CCC1091-20C2-421D-A21A-B370BFCDCD7D}" sibTransId="{942E7287-5B2A-4879-ADDE-C59EB39F922E}"/>
    <dgm:cxn modelId="{BACAB3B8-3C07-4338-AC91-17DF853560C1}" type="presOf" srcId="{7C237217-0BCB-4A4F-AE5D-4DC019D96040}" destId="{2A45B199-753F-4625-83FC-AFA482D290B5}" srcOrd="0" destOrd="0" presId="urn:microsoft.com/office/officeart/2005/8/layout/cycle3"/>
    <dgm:cxn modelId="{7ED6CFC8-7D06-4AE8-88EA-C4FA90C3E736}" srcId="{7C237217-0BCB-4A4F-AE5D-4DC019D96040}" destId="{A9EB2FE9-0827-419A-B03C-A5B9D8F58920}" srcOrd="2" destOrd="0" parTransId="{746BDAE1-293B-4D29-B25E-5572835A2D35}" sibTransId="{F1E742C0-F58C-4607-8D51-6EA06A47EB67}"/>
    <dgm:cxn modelId="{FC2916CD-F514-40A2-BB25-BDB721530C0D}" type="presOf" srcId="{5FDB91EA-FE45-46E7-8563-3AC5A3ABD86D}" destId="{5DA53DBF-5613-42D1-901A-9AD37587F257}" srcOrd="0" destOrd="0" presId="urn:microsoft.com/office/officeart/2005/8/layout/cycle3"/>
    <dgm:cxn modelId="{61C7D6D4-B717-490A-838B-7151442DC6F3}" type="presOf" srcId="{6DC79147-E7CD-4F00-92CD-98EF03525908}" destId="{8CD54EE8-6D44-4AF5-8FD7-FBB502E77F56}" srcOrd="0" destOrd="0" presId="urn:microsoft.com/office/officeart/2005/8/layout/cycle3"/>
    <dgm:cxn modelId="{E5DE380F-CFE6-4525-972B-B7AE11CE8838}" type="presParOf" srcId="{2A45B199-753F-4625-83FC-AFA482D290B5}" destId="{2CC334A3-B686-4F8B-8135-2EF408FBC271}" srcOrd="0" destOrd="0" presId="urn:microsoft.com/office/officeart/2005/8/layout/cycle3"/>
    <dgm:cxn modelId="{1C1169C1-CDBD-470C-B42E-A1348B8930D4}" type="presParOf" srcId="{2CC334A3-B686-4F8B-8135-2EF408FBC271}" destId="{5DA53DBF-5613-42D1-901A-9AD37587F257}" srcOrd="0" destOrd="0" presId="urn:microsoft.com/office/officeart/2005/8/layout/cycle3"/>
    <dgm:cxn modelId="{CCCCFE2E-541E-4505-BE66-FA3A233DA6EC}" type="presParOf" srcId="{2CC334A3-B686-4F8B-8135-2EF408FBC271}" destId="{8CD54EE8-6D44-4AF5-8FD7-FBB502E77F56}" srcOrd="1" destOrd="0" presId="urn:microsoft.com/office/officeart/2005/8/layout/cycle3"/>
    <dgm:cxn modelId="{8F0E676A-2BDA-42F3-9384-2CC76204579F}" type="presParOf" srcId="{2CC334A3-B686-4F8B-8135-2EF408FBC271}" destId="{C450BBB3-579D-4EDA-8790-99EEBABAAFC1}" srcOrd="2" destOrd="0" presId="urn:microsoft.com/office/officeart/2005/8/layout/cycle3"/>
    <dgm:cxn modelId="{8ECADDAF-0B12-4D8E-A8F7-BC256A7049A7}" type="presParOf" srcId="{2CC334A3-B686-4F8B-8135-2EF408FBC271}" destId="{22964866-689A-47F1-9515-89F94FAFA586}" srcOrd="3" destOrd="0" presId="urn:microsoft.com/office/officeart/2005/8/layout/cycle3"/>
    <dgm:cxn modelId="{214092D3-E10C-4E5C-B14A-D94C2A668E81}" type="presParOf" srcId="{2CC334A3-B686-4F8B-8135-2EF408FBC271}" destId="{6555C718-3B22-49E6-A042-800ABE742697}" srcOrd="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D54EE8-6D44-4AF5-8FD7-FBB502E77F56}">
      <dsp:nvSpPr>
        <dsp:cNvPr id="0" name=""/>
        <dsp:cNvSpPr/>
      </dsp:nvSpPr>
      <dsp:spPr>
        <a:xfrm>
          <a:off x="1224685" y="-57471"/>
          <a:ext cx="3215257" cy="3215257"/>
        </a:xfrm>
        <a:prstGeom prst="circularArrow">
          <a:avLst>
            <a:gd name="adj1" fmla="val 4668"/>
            <a:gd name="adj2" fmla="val 272909"/>
            <a:gd name="adj3" fmla="val 13027138"/>
            <a:gd name="adj4" fmla="val 17898846"/>
            <a:gd name="adj5" fmla="val 484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A53DBF-5613-42D1-901A-9AD37587F257}">
      <dsp:nvSpPr>
        <dsp:cNvPr id="0" name=""/>
        <dsp:cNvSpPr/>
      </dsp:nvSpPr>
      <dsp:spPr>
        <a:xfrm>
          <a:off x="1815834" y="1340"/>
          <a:ext cx="2032960" cy="1016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1" kern="1200" dirty="0">
              <a:latin typeface="+mn-ea"/>
              <a:ea typeface="+mn-ea"/>
            </a:rPr>
            <a:t>불필요</a:t>
          </a:r>
          <a:br>
            <a:rPr lang="en-US" altLang="ko-KR" sz="1400" b="1" kern="1200" dirty="0">
              <a:latin typeface="+mn-ea"/>
              <a:ea typeface="+mn-ea"/>
            </a:rPr>
          </a:br>
          <a:r>
            <a:rPr lang="ko-KR" altLang="en-US" sz="1400" b="1" kern="1200" dirty="0">
              <a:latin typeface="+mn-ea"/>
              <a:ea typeface="+mn-ea"/>
            </a:rPr>
            <a:t>해외출원</a:t>
          </a:r>
          <a:br>
            <a:rPr lang="en-US" altLang="ko-KR" sz="1400" b="1" kern="1200" dirty="0">
              <a:latin typeface="+mn-ea"/>
              <a:ea typeface="+mn-ea"/>
            </a:rPr>
          </a:br>
          <a:r>
            <a:rPr lang="ko-KR" altLang="en-US" sz="1400" b="1" kern="1200" dirty="0">
              <a:latin typeface="+mn-ea"/>
              <a:ea typeface="+mn-ea"/>
            </a:rPr>
            <a:t>방지</a:t>
          </a:r>
        </a:p>
      </dsp:txBody>
      <dsp:txXfrm>
        <a:off x="1865454" y="50960"/>
        <a:ext cx="1933720" cy="917240"/>
      </dsp:txXfrm>
    </dsp:sp>
    <dsp:sp modelId="{C450BBB3-579D-4EDA-8790-99EEBABAAFC1}">
      <dsp:nvSpPr>
        <dsp:cNvPr id="0" name=""/>
        <dsp:cNvSpPr/>
      </dsp:nvSpPr>
      <dsp:spPr>
        <a:xfrm>
          <a:off x="2970325" y="1155831"/>
          <a:ext cx="2032960" cy="1016480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1" kern="1200" dirty="0">
              <a:latin typeface="+mn-ea"/>
              <a:ea typeface="+mn-ea"/>
            </a:rPr>
            <a:t>소요되는</a:t>
          </a:r>
          <a:br>
            <a:rPr lang="en-US" altLang="ko-KR" sz="1400" b="1" kern="1200" dirty="0">
              <a:latin typeface="+mn-ea"/>
              <a:ea typeface="+mn-ea"/>
            </a:rPr>
          </a:br>
          <a:r>
            <a:rPr lang="ko-KR" altLang="en-US" sz="1400" b="1" kern="1200" dirty="0">
              <a:latin typeface="+mn-ea"/>
              <a:ea typeface="+mn-ea"/>
            </a:rPr>
            <a:t>비용 및 시간</a:t>
          </a:r>
          <a:br>
            <a:rPr lang="en-US" altLang="ko-KR" sz="1400" b="1" kern="1200" dirty="0">
              <a:latin typeface="+mn-ea"/>
              <a:ea typeface="+mn-ea"/>
            </a:rPr>
          </a:br>
          <a:r>
            <a:rPr lang="ko-KR" altLang="en-US" sz="1400" b="1" kern="1200" dirty="0">
              <a:latin typeface="+mn-ea"/>
              <a:ea typeface="+mn-ea"/>
            </a:rPr>
            <a:t>절약</a:t>
          </a:r>
        </a:p>
      </dsp:txBody>
      <dsp:txXfrm>
        <a:off x="3019945" y="1205451"/>
        <a:ext cx="1933720" cy="917240"/>
      </dsp:txXfrm>
    </dsp:sp>
    <dsp:sp modelId="{22964866-689A-47F1-9515-89F94FAFA586}">
      <dsp:nvSpPr>
        <dsp:cNvPr id="0" name=""/>
        <dsp:cNvSpPr/>
      </dsp:nvSpPr>
      <dsp:spPr>
        <a:xfrm>
          <a:off x="1815834" y="2310322"/>
          <a:ext cx="2032960" cy="1016480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0" kern="1200" dirty="0">
              <a:latin typeface="+mn-ea"/>
              <a:ea typeface="+mn-ea"/>
            </a:rPr>
            <a:t>강한</a:t>
          </a:r>
          <a:br>
            <a:rPr lang="en-US" altLang="ko-KR" sz="1400" b="0" kern="1200" dirty="0">
              <a:latin typeface="+mn-ea"/>
              <a:ea typeface="+mn-ea"/>
            </a:rPr>
          </a:br>
          <a:r>
            <a:rPr lang="ko-KR" altLang="en-US" sz="1400" b="0" kern="1200" dirty="0">
              <a:latin typeface="+mn-ea"/>
              <a:ea typeface="+mn-ea"/>
            </a:rPr>
            <a:t>해외 특허권</a:t>
          </a:r>
          <a:br>
            <a:rPr lang="en-US" altLang="ko-KR" sz="1400" b="0" kern="1200" dirty="0">
              <a:latin typeface="+mn-ea"/>
              <a:ea typeface="+mn-ea"/>
            </a:rPr>
          </a:br>
          <a:r>
            <a:rPr lang="ko-KR" altLang="en-US" sz="1400" b="0" kern="1200" dirty="0">
              <a:latin typeface="+mn-ea"/>
              <a:ea typeface="+mn-ea"/>
            </a:rPr>
            <a:t>확보</a:t>
          </a:r>
        </a:p>
      </dsp:txBody>
      <dsp:txXfrm>
        <a:off x="1865454" y="2359942"/>
        <a:ext cx="1933720" cy="917240"/>
      </dsp:txXfrm>
    </dsp:sp>
    <dsp:sp modelId="{6555C718-3B22-49E6-A042-800ABE742697}">
      <dsp:nvSpPr>
        <dsp:cNvPr id="0" name=""/>
        <dsp:cNvSpPr/>
      </dsp:nvSpPr>
      <dsp:spPr>
        <a:xfrm>
          <a:off x="661343" y="1155831"/>
          <a:ext cx="2032960" cy="101648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>
              <a:latin typeface="+mn-ea"/>
              <a:ea typeface="+mn-ea"/>
            </a:rPr>
            <a:t>성공적 해외 </a:t>
          </a:r>
          <a:r>
            <a:rPr lang="en-US" altLang="ko-KR" sz="1400" kern="1200" dirty="0">
              <a:latin typeface="+mn-ea"/>
              <a:ea typeface="+mn-ea"/>
            </a:rPr>
            <a:t>IP </a:t>
          </a:r>
          <a:r>
            <a:rPr lang="ko-KR" altLang="en-US" sz="1400" kern="1200" dirty="0">
              <a:latin typeface="+mn-ea"/>
              <a:ea typeface="+mn-ea"/>
            </a:rPr>
            <a:t>권리화 및 사업화</a:t>
          </a:r>
        </a:p>
      </dsp:txBody>
      <dsp:txXfrm>
        <a:off x="710963" y="1205451"/>
        <a:ext cx="1933720" cy="917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773442" cy="58800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625928" y="2"/>
            <a:ext cx="2773441" cy="58800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r">
              <a:defRPr sz="1200"/>
            </a:lvl1pPr>
          </a:lstStyle>
          <a:p>
            <a:fld id="{E166825A-ED3C-420C-9327-9C075F47485A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11148386"/>
            <a:ext cx="2773442" cy="58800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625928" y="11148386"/>
            <a:ext cx="2773441" cy="58800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r">
              <a:defRPr sz="1200"/>
            </a:lvl1pPr>
          </a:lstStyle>
          <a:p>
            <a:fld id="{0BFFB8C9-7789-4E6C-9EC5-682E110873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13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773681" cy="588858"/>
          </a:xfrm>
          <a:prstGeom prst="rect">
            <a:avLst/>
          </a:prstGeom>
        </p:spPr>
        <p:txBody>
          <a:bodyPr vert="horz" lIns="91297" tIns="45649" rIns="91297" bIns="4564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625639" y="2"/>
            <a:ext cx="2773681" cy="588858"/>
          </a:xfrm>
          <a:prstGeom prst="rect">
            <a:avLst/>
          </a:prstGeom>
        </p:spPr>
        <p:txBody>
          <a:bodyPr vert="horz" lIns="91297" tIns="45649" rIns="91297" bIns="45649" rtlCol="0"/>
          <a:lstStyle>
            <a:lvl1pPr algn="r">
              <a:defRPr sz="1200"/>
            </a:lvl1pPr>
          </a:lstStyle>
          <a:p>
            <a:fld id="{782597F2-0C3F-472E-942C-F0680216029B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317500" y="1468438"/>
            <a:ext cx="7035800" cy="39592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97" tIns="45649" rIns="91297" bIns="4564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40080" y="5648139"/>
            <a:ext cx="5120640" cy="4621203"/>
          </a:xfrm>
          <a:prstGeom prst="rect">
            <a:avLst/>
          </a:prstGeom>
        </p:spPr>
        <p:txBody>
          <a:bodyPr vert="horz" lIns="91297" tIns="45649" rIns="91297" bIns="4564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1147534"/>
            <a:ext cx="2773681" cy="588857"/>
          </a:xfrm>
          <a:prstGeom prst="rect">
            <a:avLst/>
          </a:prstGeom>
        </p:spPr>
        <p:txBody>
          <a:bodyPr vert="horz" lIns="91297" tIns="45649" rIns="91297" bIns="4564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625639" y="11147534"/>
            <a:ext cx="2773681" cy="588857"/>
          </a:xfrm>
          <a:prstGeom prst="rect">
            <a:avLst/>
          </a:prstGeom>
        </p:spPr>
        <p:txBody>
          <a:bodyPr vert="horz" lIns="91297" tIns="45649" rIns="91297" bIns="45649" rtlCol="0" anchor="b"/>
          <a:lstStyle>
            <a:lvl1pPr algn="r">
              <a:defRPr sz="1200"/>
            </a:lvl1pPr>
          </a:lstStyle>
          <a:p>
            <a:fld id="{30C005C8-BD53-41EA-B159-BC12A6DFF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274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539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184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1EB2B-CABE-490A-9E3C-EEC5379B65FC}" type="slidenum">
              <a:rPr lang="ko-KR" altLang="en-US" smtClean="0"/>
              <a:pPr/>
              <a:t>541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137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1EB2B-CABE-490A-9E3C-EEC5379B65FC}" type="slidenum">
              <a:rPr lang="ko-KR" altLang="en-US" smtClean="0"/>
              <a:pPr/>
              <a:t>542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007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1EB2B-CABE-490A-9E3C-EEC5379B65FC}" type="slidenum">
              <a:rPr lang="ko-KR" altLang="en-US" smtClean="0"/>
              <a:pPr/>
              <a:t>543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733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1278" y="5574458"/>
            <a:ext cx="5406747" cy="528165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39440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BB0B75-A2E4-4E38-9584-5D835D784A85}" type="slidenum">
              <a:rPr lang="ko-KR" altLang="en-US"/>
              <a:pPr/>
              <a:t>545</a:t>
            </a:fld>
            <a:endParaRPr lang="en-US" altLang="ko-KR"/>
          </a:p>
        </p:txBody>
      </p:sp>
      <p:sp>
        <p:nvSpPr>
          <p:cNvPr id="362498" name="Rectangle 7"/>
          <p:cNvSpPr txBox="1">
            <a:spLocks noGrp="1" noChangeArrowheads="1"/>
          </p:cNvSpPr>
          <p:nvPr/>
        </p:nvSpPr>
        <p:spPr bwMode="auto">
          <a:xfrm>
            <a:off x="3625640" y="11147531"/>
            <a:ext cx="2773680" cy="586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latinLnBrk="1" hangingPunct="1"/>
            <a:fld id="{95ABE415-5D6B-46E3-A8AE-ED591CD8A5B1}" type="slidenum">
              <a:rPr kumimoji="1" lang="en-US" altLang="ko-KR" sz="1200">
                <a:latin typeface="굴림" pitchFamily="50" charset="-127"/>
                <a:ea typeface="굴림" pitchFamily="50" charset="-127"/>
              </a:rPr>
              <a:pPr algn="r" eaLnBrk="1" latinLnBrk="1" hangingPunct="1"/>
              <a:t>545</a:t>
            </a:fld>
            <a:endParaRPr kumimoji="1" lang="en-US" altLang="ko-KR" sz="120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62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25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402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굴림" charset="-127"/>
                <a:ea typeface="굴림" charset="-127"/>
              </a:rPr>
              <a:pPr/>
              <a:t>546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1421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굴림" charset="-127"/>
                <a:ea typeface="굴림" charset="-127"/>
              </a:rPr>
              <a:pPr/>
              <a:t>547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4497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굴림" charset="-127"/>
                <a:ea typeface="굴림" charset="-127"/>
              </a:rPr>
              <a:pPr/>
              <a:t>548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4622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굴림" charset="-127"/>
                <a:ea typeface="굴림" charset="-127"/>
              </a:rPr>
              <a:pPr/>
              <a:t>549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16687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굴림" charset="-127"/>
                <a:ea typeface="굴림" charset="-127"/>
              </a:rPr>
              <a:pPr/>
              <a:t>550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53780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굴림" charset="-127"/>
                <a:ea typeface="굴림" charset="-127"/>
              </a:rPr>
              <a:pPr/>
              <a:t>551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3378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굴림" charset="-127"/>
                <a:ea typeface="굴림" charset="-127"/>
              </a:rPr>
              <a:pPr/>
              <a:t>553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45780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굴림" charset="-127"/>
                <a:ea typeface="굴림" charset="-127"/>
              </a:rPr>
              <a:pPr/>
              <a:t>554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98131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굴림" charset="-127"/>
                <a:ea typeface="굴림" charset="-127"/>
              </a:rPr>
              <a:pPr/>
              <a:t>555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00471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굴림" charset="-127"/>
                <a:ea typeface="굴림" charset="-127"/>
              </a:rPr>
              <a:pPr/>
              <a:t>556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99473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굴림" charset="-127"/>
                <a:ea typeface="굴림" charset="-127"/>
              </a:rPr>
              <a:pPr/>
              <a:t>557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1064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1EB2B-CABE-490A-9E3C-EEC5379B65FC}" type="slidenum">
              <a:rPr lang="ko-KR" altLang="en-US" smtClean="0"/>
              <a:pPr/>
              <a:t>558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3305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1EB2B-CABE-490A-9E3C-EEC5379B65FC}" type="slidenum">
              <a:rPr lang="ko-KR" altLang="en-US" smtClean="0"/>
              <a:pPr/>
              <a:t>559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1555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1EB2B-CABE-490A-9E3C-EEC5379B65FC}" type="slidenum">
              <a:rPr lang="ko-KR" altLang="en-US" smtClean="0"/>
              <a:pPr/>
              <a:t>560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3000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1EB2B-CABE-490A-9E3C-EEC5379B65FC}" type="slidenum">
              <a:rPr lang="ko-KR" altLang="en-US" smtClean="0"/>
              <a:pPr/>
              <a:t>561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62542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1EB2B-CABE-490A-9E3C-EEC5379B65FC}" type="slidenum">
              <a:rPr lang="ko-KR" altLang="en-US" smtClean="0"/>
              <a:pPr/>
              <a:t>562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7701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1EB2B-CABE-490A-9E3C-EEC5379B65FC}" type="slidenum">
              <a:rPr lang="ko-KR" altLang="en-US" smtClean="0"/>
              <a:pPr/>
              <a:t>563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7701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1EB2B-CABE-490A-9E3C-EEC5379B65FC}" type="slidenum">
              <a:rPr lang="ko-KR" altLang="en-US" smtClean="0"/>
              <a:pPr/>
              <a:t>564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7701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1EB2B-CABE-490A-9E3C-EEC5379B65FC}" type="slidenum">
              <a:rPr lang="ko-KR" altLang="en-US" smtClean="0"/>
              <a:pPr/>
              <a:t>565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415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C2B1A-0928-4613-A87B-96D0E69C19EA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0" y="677164"/>
            <a:ext cx="2589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15053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D2F8-962F-44A2-B5D9-A4610AC003D8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92338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92338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0" y="677164"/>
            <a:ext cx="2589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6873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FE5F-0BC0-4E69-9583-89D0B26E7497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68579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6858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 hasCustomPrompt="1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en-US" altLang="ko-KR" dirty="0"/>
              <a:t>TEST</a:t>
            </a:r>
            <a:endParaRPr lang="ko-KR" altLang="en-US" dirty="0"/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54429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86479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4859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5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8016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0423" y="549176"/>
            <a:ext cx="2886612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6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8" y="1315935"/>
            <a:ext cx="6655698" cy="286479"/>
          </a:xfr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952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4" name="텍스트 개체 틀 28"/>
          <p:cNvSpPr>
            <a:spLocks noGrp="1"/>
          </p:cNvSpPr>
          <p:nvPr>
            <p:ph type="body" sz="quarter" idx="18"/>
          </p:nvPr>
        </p:nvSpPr>
        <p:spPr>
          <a:xfrm>
            <a:off x="732408" y="1742184"/>
            <a:ext cx="6655698" cy="286479"/>
          </a:xfrm>
          <a:noFill/>
          <a:ln>
            <a:noFill/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28481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86479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1020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5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8016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0423" y="549176"/>
            <a:ext cx="2886612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6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8" y="1315935"/>
            <a:ext cx="6655698" cy="286479"/>
          </a:xfr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952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4" name="텍스트 개체 틀 28"/>
          <p:cNvSpPr>
            <a:spLocks noGrp="1"/>
          </p:cNvSpPr>
          <p:nvPr>
            <p:ph type="body" sz="quarter" idx="18"/>
          </p:nvPr>
        </p:nvSpPr>
        <p:spPr>
          <a:xfrm>
            <a:off x="732408" y="1742184"/>
            <a:ext cx="6655698" cy="286479"/>
          </a:xfrm>
          <a:noFill/>
          <a:ln>
            <a:noFill/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66105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86479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534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86479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4439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86479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9306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0334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E72D-2D75-40FD-B9C5-E48E40FDAF15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274320"/>
            <a:ext cx="2708636" cy="398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D14E75-92C3-4B89-BE74-A6BDEFD9235C}"/>
              </a:ext>
            </a:extLst>
          </p:cNvPr>
          <p:cNvSpPr/>
          <p:nvPr userDrawn="1"/>
        </p:nvSpPr>
        <p:spPr>
          <a:xfrm>
            <a:off x="-4710" y="0"/>
            <a:ext cx="2723309" cy="2617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ko-KR" b="1" dirty="0"/>
              <a:t>CASE STUDY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96552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ABE0B-2BDA-44D9-83EA-6A1F9C08CE8D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125200" y="0"/>
            <a:ext cx="1066800" cy="694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6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11153595" y="44623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총칙</a:t>
            </a:r>
            <a:r>
              <a:rPr lang="en-US" altLang="ko-KR" sz="2000" b="1" dirty="0">
                <a:solidFill>
                  <a:schemeClr val="bg1"/>
                </a:solidFill>
              </a:rPr>
              <a:t>/</a:t>
            </a:r>
          </a:p>
          <a:p>
            <a:pPr algn="ctr"/>
            <a:r>
              <a:rPr lang="ko-KR" altLang="en-US" sz="2000" b="1" dirty="0" err="1">
                <a:solidFill>
                  <a:schemeClr val="bg1"/>
                </a:solidFill>
              </a:rPr>
              <a:t>보칙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1153595" y="1011588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특허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요건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1153595" y="1978552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이익</a:t>
            </a:r>
            <a:endParaRPr lang="en-US" altLang="ko-KR" sz="2000" b="1" dirty="0"/>
          </a:p>
          <a:p>
            <a:pPr algn="ctr"/>
            <a:r>
              <a:rPr lang="ko-KR" altLang="en-US" sz="2000" b="1" dirty="0"/>
              <a:t>제도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1153595" y="2945517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심사</a:t>
            </a:r>
            <a:endParaRPr lang="en-US" altLang="ko-KR" sz="2000" b="1" dirty="0"/>
          </a:p>
          <a:p>
            <a:pPr algn="ctr"/>
            <a:r>
              <a:rPr lang="en-US" altLang="ko-KR" sz="2000" b="1" dirty="0"/>
              <a:t>(</a:t>
            </a:r>
            <a:r>
              <a:rPr lang="ko-KR" altLang="en-US" sz="2000" b="1" dirty="0"/>
              <a:t>제도</a:t>
            </a:r>
            <a:r>
              <a:rPr lang="en-US" altLang="ko-KR" sz="2000" b="1" dirty="0"/>
              <a:t>)</a:t>
            </a:r>
            <a:endParaRPr lang="ko-KR" altLang="en-US" sz="2000" b="1" dirty="0"/>
          </a:p>
        </p:txBody>
      </p:sp>
      <p:sp>
        <p:nvSpPr>
          <p:cNvPr id="16" name="직사각형 15"/>
          <p:cNvSpPr/>
          <p:nvPr/>
        </p:nvSpPr>
        <p:spPr>
          <a:xfrm>
            <a:off x="11153595" y="3912483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특허권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11153595" y="4879448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심판</a:t>
            </a:r>
            <a:r>
              <a:rPr lang="en-US" altLang="ko-KR" sz="2000" b="1" dirty="0"/>
              <a:t>/</a:t>
            </a:r>
          </a:p>
          <a:p>
            <a:pPr algn="ctr"/>
            <a:r>
              <a:rPr lang="ko-KR" altLang="en-US" sz="2000" b="1" dirty="0"/>
              <a:t>소송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1153595" y="5846412"/>
            <a:ext cx="1062789" cy="9669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accent4"/>
                </a:solidFill>
              </a:rPr>
              <a:t>PCT</a:t>
            </a:r>
            <a:endParaRPr lang="ko-KR" altLang="en-US" sz="2000" b="1" dirty="0">
              <a:solidFill>
                <a:schemeClr val="accent4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AE100E5-DCC6-E87C-8064-4DC1E148F356}"/>
              </a:ext>
            </a:extLst>
          </p:cNvPr>
          <p:cNvSpPr txBox="1">
            <a:spLocks/>
          </p:cNvSpPr>
          <p:nvPr/>
        </p:nvSpPr>
        <p:spPr>
          <a:xfrm>
            <a:off x="1961128" y="1991045"/>
            <a:ext cx="7162800" cy="1193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  <a:cs typeface="+mj-cs"/>
              </a:defRPr>
            </a:lvl1pPr>
          </a:lstStyle>
          <a:p>
            <a:r>
              <a:rPr lang="ko-KR" altLang="en-US" sz="8000" dirty="0">
                <a:solidFill>
                  <a:schemeClr val="tx1">
                    <a:lumMod val="50000"/>
                    <a:lumOff val="5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특허법 강의노트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AC93467-3A7C-76ED-286D-A792BFB75919}"/>
              </a:ext>
            </a:extLst>
          </p:cNvPr>
          <p:cNvSpPr txBox="1">
            <a:spLocks/>
          </p:cNvSpPr>
          <p:nvPr/>
        </p:nvSpPr>
        <p:spPr>
          <a:xfrm>
            <a:off x="2185246" y="3197545"/>
            <a:ext cx="6684682" cy="10445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540000" tIns="0" rIns="54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endParaRPr lang="ko-KR" altLang="en-US" sz="40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4F91C4D-47FA-4A2D-448E-50BB09FD5735}"/>
              </a:ext>
            </a:extLst>
          </p:cNvPr>
          <p:cNvSpPr txBox="1">
            <a:spLocks/>
          </p:cNvSpPr>
          <p:nvPr/>
        </p:nvSpPr>
        <p:spPr>
          <a:xfrm>
            <a:off x="4565375" y="4873198"/>
            <a:ext cx="1954306" cy="6490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2026</a:t>
            </a:r>
            <a:endParaRPr lang="ko-KR" altLang="en-US" sz="3600" dirty="0">
              <a:solidFill>
                <a:schemeClr val="tx1">
                  <a:lumMod val="50000"/>
                  <a:lumOff val="50000"/>
                </a:schemeClr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F864050F-99F9-30B0-660F-736B37A0AF58}"/>
              </a:ext>
            </a:extLst>
          </p:cNvPr>
          <p:cNvSpPr txBox="1">
            <a:spLocks/>
          </p:cNvSpPr>
          <p:nvPr/>
        </p:nvSpPr>
        <p:spPr>
          <a:xfrm>
            <a:off x="2185246" y="3467433"/>
            <a:ext cx="6684682" cy="5457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 err="1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Yim</a:t>
            </a:r>
            <a:r>
              <a:rPr lang="en-US" altLang="ko-KR" sz="280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</a:t>
            </a:r>
            <a:r>
              <a:rPr lang="en-US" altLang="ko-KR" sz="2800" dirty="0" err="1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Byung-Woong</a:t>
            </a:r>
            <a:r>
              <a:rPr lang="en-US" altLang="ko-KR" sz="280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All Rights Reserved.</a:t>
            </a:r>
            <a:endParaRPr lang="ko-KR" altLang="en-US" sz="2800" dirty="0">
              <a:solidFill>
                <a:schemeClr val="bg1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743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1479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539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44284" y="2152137"/>
            <a:ext cx="552862" cy="498328"/>
          </a:xfrm>
          <a:prstGeom prst="rect">
            <a:avLst/>
          </a:prstGeom>
          <a:ln w="63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총칙</a:t>
            </a:r>
            <a:r>
              <a:rPr lang="en-US" altLang="ko-KR" sz="1200" dirty="0"/>
              <a:t>/</a:t>
            </a:r>
          </a:p>
          <a:p>
            <a:pPr algn="ctr"/>
            <a:r>
              <a:rPr lang="ko-KR" altLang="en-US" sz="1200" dirty="0" err="1"/>
              <a:t>보칙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2118397" y="99429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목적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118397" y="12362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정의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118397" y="1471128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행위능력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3~5①)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18397" y="1713120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대리인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3②, 5②~10, 12)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118397" y="1945643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복수당사자 대표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118397" y="218763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재외자의</a:t>
            </a:r>
            <a:r>
              <a:rPr lang="ko-KR" altLang="en-US" sz="1000" dirty="0">
                <a:solidFill>
                  <a:schemeClr val="tx1"/>
                </a:solidFill>
              </a:rPr>
              <a:t> 재판관할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118397" y="243841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기일과 기간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14, 15)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118397" y="2670267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특허에 관한 절차 일반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16, 28~28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118397" y="290844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추후보완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17, 67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>
                <a:solidFill>
                  <a:schemeClr val="tx1"/>
                </a:solidFill>
              </a:rPr>
              <a:t>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118397" y="313988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절차의 효력의 승계 및 절차의 속행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18, 19)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118397" y="337173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절차의 정지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20~24, 78, 164)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8" name="꺾인 연결선 17"/>
          <p:cNvCxnSpPr>
            <a:cxnSpLocks/>
            <a:stCxn id="6" idx="3"/>
            <a:endCxn id="7" idx="1"/>
          </p:cNvCxnSpPr>
          <p:nvPr/>
        </p:nvCxnSpPr>
        <p:spPr>
          <a:xfrm flipV="1">
            <a:off x="1797146" y="1085041"/>
            <a:ext cx="321251" cy="131626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cxnSpLocks/>
            <a:stCxn id="6" idx="3"/>
            <a:endCxn id="17" idx="1"/>
          </p:cNvCxnSpPr>
          <p:nvPr/>
        </p:nvCxnSpPr>
        <p:spPr>
          <a:xfrm>
            <a:off x="1797146" y="2401301"/>
            <a:ext cx="321251" cy="106118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cxnSpLocks/>
            <a:stCxn id="6" idx="3"/>
            <a:endCxn id="8" idx="1"/>
          </p:cNvCxnSpPr>
          <p:nvPr/>
        </p:nvCxnSpPr>
        <p:spPr>
          <a:xfrm flipV="1">
            <a:off x="1797146" y="1327033"/>
            <a:ext cx="321251" cy="107426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cxnSpLocks/>
            <a:stCxn id="6" idx="3"/>
            <a:endCxn id="9" idx="1"/>
          </p:cNvCxnSpPr>
          <p:nvPr/>
        </p:nvCxnSpPr>
        <p:spPr>
          <a:xfrm flipV="1">
            <a:off x="1797146" y="1561875"/>
            <a:ext cx="321251" cy="83942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 21"/>
          <p:cNvCxnSpPr>
            <a:cxnSpLocks/>
            <a:stCxn id="6" idx="3"/>
            <a:endCxn id="13" idx="1"/>
          </p:cNvCxnSpPr>
          <p:nvPr/>
        </p:nvCxnSpPr>
        <p:spPr>
          <a:xfrm>
            <a:off x="1797146" y="2401301"/>
            <a:ext cx="321251" cy="12786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cxnSpLocks/>
            <a:stCxn id="6" idx="3"/>
            <a:endCxn id="14" idx="1"/>
          </p:cNvCxnSpPr>
          <p:nvPr/>
        </p:nvCxnSpPr>
        <p:spPr>
          <a:xfrm>
            <a:off x="1797146" y="2401301"/>
            <a:ext cx="321251" cy="359713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cxnSpLocks/>
            <a:stCxn id="6" idx="3"/>
            <a:endCxn id="15" idx="1"/>
          </p:cNvCxnSpPr>
          <p:nvPr/>
        </p:nvCxnSpPr>
        <p:spPr>
          <a:xfrm>
            <a:off x="1797146" y="2401301"/>
            <a:ext cx="321251" cy="5978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cxnSpLocks/>
            <a:stCxn id="6" idx="3"/>
            <a:endCxn id="16" idx="1"/>
          </p:cNvCxnSpPr>
          <p:nvPr/>
        </p:nvCxnSpPr>
        <p:spPr>
          <a:xfrm>
            <a:off x="1797146" y="2401301"/>
            <a:ext cx="321251" cy="82933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cxnSpLocks/>
            <a:stCxn id="6" idx="3"/>
            <a:endCxn id="10" idx="1"/>
          </p:cNvCxnSpPr>
          <p:nvPr/>
        </p:nvCxnSpPr>
        <p:spPr>
          <a:xfrm flipV="1">
            <a:off x="1797146" y="1803867"/>
            <a:ext cx="321251" cy="597434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cxnSpLocks/>
            <a:stCxn id="6" idx="3"/>
            <a:endCxn id="11" idx="1"/>
          </p:cNvCxnSpPr>
          <p:nvPr/>
        </p:nvCxnSpPr>
        <p:spPr>
          <a:xfrm flipV="1">
            <a:off x="1797146" y="2036390"/>
            <a:ext cx="321251" cy="36491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cxnSpLocks/>
            <a:stCxn id="6" idx="3"/>
            <a:endCxn id="12" idx="1"/>
          </p:cNvCxnSpPr>
          <p:nvPr/>
        </p:nvCxnSpPr>
        <p:spPr>
          <a:xfrm flipV="1">
            <a:off x="1797146" y="2278382"/>
            <a:ext cx="321251" cy="122919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/>
          <p:cNvGrpSpPr/>
          <p:nvPr/>
        </p:nvGrpSpPr>
        <p:grpSpPr>
          <a:xfrm>
            <a:off x="6536267" y="1171792"/>
            <a:ext cx="4444979" cy="2279356"/>
            <a:chOff x="3987793" y="1037128"/>
            <a:chExt cx="3733785" cy="1752532"/>
          </a:xfrm>
        </p:grpSpPr>
        <p:sp>
          <p:nvSpPr>
            <p:cNvPr id="30" name="직사각형 29"/>
            <p:cNvSpPr/>
            <p:nvPr/>
          </p:nvSpPr>
          <p:spPr>
            <a:xfrm>
              <a:off x="3987793" y="1888138"/>
              <a:ext cx="398311" cy="385993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/>
                <a:t>특허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요건</a:t>
              </a: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4546567" y="160536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없는 발명</a:t>
              </a: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4546568" y="1990474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자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4546567" y="120511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발명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4546568" y="2378317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출원</a:t>
              </a:r>
            </a:p>
          </p:txBody>
        </p:sp>
        <p:grpSp>
          <p:nvGrpSpPr>
            <p:cNvPr id="35" name="그룹 34"/>
            <p:cNvGrpSpPr/>
            <p:nvPr/>
          </p:nvGrpSpPr>
          <p:grpSpPr>
            <a:xfrm>
              <a:off x="5713090" y="1037128"/>
              <a:ext cx="2008488" cy="1752532"/>
              <a:chOff x="9836379" y="3177270"/>
              <a:chExt cx="2251744" cy="1752532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9" name="직사각형 48"/>
              <p:cNvSpPr/>
              <p:nvPr/>
            </p:nvSpPr>
            <p:spPr>
              <a:xfrm>
                <a:off x="9836379" y="317727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협의의 특허요건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29)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9836379" y="338513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선출원주의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36)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9836379" y="357434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chemeClr val="tx1"/>
                    </a:solidFill>
                  </a:rPr>
                  <a:t>불특허발명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9836379" y="378220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국방상 필요한 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 41, 106)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9836379" y="3969271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출원인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25, 33, 44)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9836379" y="4160199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특허를 받을 수 있는 권리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37, 38)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9836379" y="435867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직무발명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 err="1">
                    <a:solidFill>
                      <a:schemeClr val="tx1"/>
                    </a:solidFill>
                  </a:rPr>
                  <a:t>발진법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2, 10~19, 58)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직사각형 55"/>
              <p:cNvSpPr/>
              <p:nvPr/>
            </p:nvSpPr>
            <p:spPr>
              <a:xfrm>
                <a:off x="9836379" y="4558495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특허출원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42~42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3, 43)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직사각형 56"/>
              <p:cNvSpPr/>
              <p:nvPr/>
            </p:nvSpPr>
            <p:spPr>
              <a:xfrm>
                <a:off x="9836379" y="477390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하나의 특허출원의 범위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45)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6" name="꺾인 연결선 35"/>
            <p:cNvCxnSpPr>
              <a:stCxn id="30" idx="3"/>
              <a:endCxn id="33" idx="1"/>
            </p:cNvCxnSpPr>
            <p:nvPr/>
          </p:nvCxnSpPr>
          <p:spPr>
            <a:xfrm flipV="1">
              <a:off x="4386104" y="1374002"/>
              <a:ext cx="160463" cy="70713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꺾인 연결선 36"/>
            <p:cNvCxnSpPr>
              <a:stCxn id="30" idx="3"/>
              <a:endCxn id="34" idx="1"/>
            </p:cNvCxnSpPr>
            <p:nvPr/>
          </p:nvCxnSpPr>
          <p:spPr>
            <a:xfrm>
              <a:off x="4386104" y="2081135"/>
              <a:ext cx="160464" cy="46607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꺾인 연결선 37"/>
            <p:cNvCxnSpPr>
              <a:stCxn id="30" idx="3"/>
              <a:endCxn id="31" idx="1"/>
            </p:cNvCxnSpPr>
            <p:nvPr/>
          </p:nvCxnSpPr>
          <p:spPr>
            <a:xfrm flipV="1">
              <a:off x="4386104" y="1774252"/>
              <a:ext cx="160463" cy="30688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꺾인 연결선 38"/>
            <p:cNvCxnSpPr>
              <a:stCxn id="30" idx="3"/>
              <a:endCxn id="32" idx="1"/>
            </p:cNvCxnSpPr>
            <p:nvPr/>
          </p:nvCxnSpPr>
          <p:spPr>
            <a:xfrm>
              <a:off x="4386104" y="2081135"/>
              <a:ext cx="160464" cy="7822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꺾인 연결선 39"/>
            <p:cNvCxnSpPr>
              <a:stCxn id="33" idx="3"/>
              <a:endCxn id="49" idx="1"/>
            </p:cNvCxnSpPr>
            <p:nvPr/>
          </p:nvCxnSpPr>
          <p:spPr>
            <a:xfrm flipV="1">
              <a:off x="5496870" y="1115076"/>
              <a:ext cx="216220" cy="25892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꺾인 연결선 40"/>
            <p:cNvCxnSpPr>
              <a:stCxn id="33" idx="3"/>
              <a:endCxn id="50" idx="1"/>
            </p:cNvCxnSpPr>
            <p:nvPr/>
          </p:nvCxnSpPr>
          <p:spPr>
            <a:xfrm flipV="1">
              <a:off x="5496870" y="1322938"/>
              <a:ext cx="216220" cy="5106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꺾인 연결선 41"/>
            <p:cNvCxnSpPr>
              <a:stCxn id="31" idx="3"/>
              <a:endCxn id="51" idx="1"/>
            </p:cNvCxnSpPr>
            <p:nvPr/>
          </p:nvCxnSpPr>
          <p:spPr>
            <a:xfrm flipV="1">
              <a:off x="5496870" y="1512146"/>
              <a:ext cx="216220" cy="26210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꺾인 연결선 42"/>
            <p:cNvCxnSpPr>
              <a:stCxn id="31" idx="3"/>
              <a:endCxn id="52" idx="1"/>
            </p:cNvCxnSpPr>
            <p:nvPr/>
          </p:nvCxnSpPr>
          <p:spPr>
            <a:xfrm flipV="1">
              <a:off x="5496870" y="1720008"/>
              <a:ext cx="216220" cy="5424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꺾인 연결선 43"/>
            <p:cNvCxnSpPr>
              <a:stCxn id="32" idx="3"/>
              <a:endCxn id="53" idx="1"/>
            </p:cNvCxnSpPr>
            <p:nvPr/>
          </p:nvCxnSpPr>
          <p:spPr>
            <a:xfrm flipV="1">
              <a:off x="5496870" y="1907077"/>
              <a:ext cx="216220" cy="252285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꺾인 연결선 44"/>
            <p:cNvCxnSpPr>
              <a:stCxn id="32" idx="3"/>
              <a:endCxn id="54" idx="1"/>
            </p:cNvCxnSpPr>
            <p:nvPr/>
          </p:nvCxnSpPr>
          <p:spPr>
            <a:xfrm flipV="1">
              <a:off x="5496870" y="2098005"/>
              <a:ext cx="216220" cy="6135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꺾인 연결선 45"/>
            <p:cNvCxnSpPr>
              <a:stCxn id="32" idx="3"/>
              <a:endCxn id="55" idx="1"/>
            </p:cNvCxnSpPr>
            <p:nvPr/>
          </p:nvCxnSpPr>
          <p:spPr>
            <a:xfrm>
              <a:off x="5496870" y="2159362"/>
              <a:ext cx="216220" cy="13712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꺾인 연결선 46"/>
            <p:cNvCxnSpPr>
              <a:stCxn id="34" idx="3"/>
              <a:endCxn id="56" idx="1"/>
            </p:cNvCxnSpPr>
            <p:nvPr/>
          </p:nvCxnSpPr>
          <p:spPr>
            <a:xfrm flipV="1">
              <a:off x="5496870" y="2496301"/>
              <a:ext cx="216220" cy="5090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꺾인 연결선 47"/>
            <p:cNvCxnSpPr>
              <a:stCxn id="34" idx="3"/>
              <a:endCxn id="57" idx="1"/>
            </p:cNvCxnSpPr>
            <p:nvPr/>
          </p:nvCxnSpPr>
          <p:spPr>
            <a:xfrm>
              <a:off x="5496870" y="2547205"/>
              <a:ext cx="216220" cy="16450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직사각형 58"/>
          <p:cNvSpPr/>
          <p:nvPr/>
        </p:nvSpPr>
        <p:spPr>
          <a:xfrm>
            <a:off x="906097" y="4898289"/>
            <a:ext cx="472526" cy="503727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이익</a:t>
            </a:r>
            <a:endParaRPr lang="en-US" altLang="ko-KR" sz="1200" dirty="0"/>
          </a:p>
          <a:p>
            <a:pPr algn="ctr"/>
            <a:r>
              <a:rPr lang="ko-KR" altLang="en-US" sz="1200" dirty="0"/>
              <a:t>제도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2487992" y="422619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공지예외적용주장출원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30)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487992" y="4599179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정당한 권리자의 보호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34, 35, 99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487992" y="48704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보정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46, 47, 51)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2487992" y="5446506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분리출원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52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2487992" y="571777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2487992" y="60229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조약우선권주장출원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54)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487992" y="6294208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국내우선권주장출원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55, 56)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519197" y="5145136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출원일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소급제도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1519197" y="6056851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판단시점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>
                <a:solidFill>
                  <a:schemeClr val="tx1"/>
                </a:solidFill>
              </a:rPr>
              <a:t>소급제도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63" name="꺾인 연결선 62"/>
          <p:cNvCxnSpPr>
            <a:stCxn id="59" idx="3"/>
            <a:endCxn id="72" idx="1"/>
          </p:cNvCxnSpPr>
          <p:nvPr/>
        </p:nvCxnSpPr>
        <p:spPr>
          <a:xfrm flipV="1">
            <a:off x="1378623" y="4327915"/>
            <a:ext cx="1109369" cy="822238"/>
          </a:xfrm>
          <a:prstGeom prst="bentConnector3">
            <a:avLst>
              <a:gd name="adj1" fmla="val 6212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59" idx="3"/>
            <a:endCxn id="62" idx="1"/>
          </p:cNvCxnSpPr>
          <p:nvPr/>
        </p:nvCxnSpPr>
        <p:spPr>
          <a:xfrm>
            <a:off x="1378623" y="5150153"/>
            <a:ext cx="140574" cy="112710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꺾인 연결선 64"/>
          <p:cNvCxnSpPr>
            <a:stCxn id="59" idx="3"/>
            <a:endCxn id="61" idx="1"/>
          </p:cNvCxnSpPr>
          <p:nvPr/>
        </p:nvCxnSpPr>
        <p:spPr>
          <a:xfrm>
            <a:off x="1378623" y="5150153"/>
            <a:ext cx="140574" cy="21538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61" idx="3"/>
            <a:endCxn id="73" idx="1"/>
          </p:cNvCxnSpPr>
          <p:nvPr/>
        </p:nvCxnSpPr>
        <p:spPr>
          <a:xfrm flipV="1">
            <a:off x="2241819" y="4700903"/>
            <a:ext cx="246173" cy="664635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61" idx="3"/>
            <a:endCxn id="76" idx="1"/>
          </p:cNvCxnSpPr>
          <p:nvPr/>
        </p:nvCxnSpPr>
        <p:spPr>
          <a:xfrm>
            <a:off x="2241819" y="5365539"/>
            <a:ext cx="246173" cy="453957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61" idx="3"/>
            <a:endCxn id="74" idx="1"/>
          </p:cNvCxnSpPr>
          <p:nvPr/>
        </p:nvCxnSpPr>
        <p:spPr>
          <a:xfrm flipV="1">
            <a:off x="2241819" y="4972167"/>
            <a:ext cx="246173" cy="393371"/>
          </a:xfrm>
          <a:prstGeom prst="bentConnector3">
            <a:avLst>
              <a:gd name="adj1" fmla="val 50001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/>
          <p:cNvCxnSpPr>
            <a:stCxn id="61" idx="3"/>
            <a:endCxn id="75" idx="1"/>
          </p:cNvCxnSpPr>
          <p:nvPr/>
        </p:nvCxnSpPr>
        <p:spPr>
          <a:xfrm>
            <a:off x="2241819" y="5365539"/>
            <a:ext cx="246173" cy="1826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cxnSpLocks/>
            <a:stCxn id="62" idx="3"/>
            <a:endCxn id="77" idx="1"/>
          </p:cNvCxnSpPr>
          <p:nvPr/>
        </p:nvCxnSpPr>
        <p:spPr>
          <a:xfrm flipV="1">
            <a:off x="2241819" y="6124667"/>
            <a:ext cx="246173" cy="15258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cxnSpLocks/>
            <a:stCxn id="62" idx="3"/>
            <a:endCxn id="78" idx="1"/>
          </p:cNvCxnSpPr>
          <p:nvPr/>
        </p:nvCxnSpPr>
        <p:spPr>
          <a:xfrm>
            <a:off x="2241819" y="6277254"/>
            <a:ext cx="246173" cy="11867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그룹 78"/>
          <p:cNvGrpSpPr/>
          <p:nvPr/>
        </p:nvGrpSpPr>
        <p:grpSpPr>
          <a:xfrm>
            <a:off x="7001934" y="4076201"/>
            <a:ext cx="3979312" cy="2368895"/>
            <a:chOff x="7340600" y="4076201"/>
            <a:chExt cx="3640645" cy="2368895"/>
          </a:xfrm>
        </p:grpSpPr>
        <p:sp>
          <p:nvSpPr>
            <p:cNvPr id="80" name="직사각형 79"/>
            <p:cNvSpPr/>
            <p:nvPr/>
          </p:nvSpPr>
          <p:spPr>
            <a:xfrm>
              <a:off x="7340600" y="5011587"/>
              <a:ext cx="448769" cy="399529"/>
            </a:xfrm>
            <a:prstGeom prst="rect">
              <a:avLst/>
            </a:prstGeom>
            <a:ln w="3175"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/>
                <a:t>심사</a:t>
              </a:r>
              <a:endParaRPr lang="en-US" altLang="ko-KR" sz="1200" dirty="0"/>
            </a:p>
            <a:p>
              <a:pPr algn="ctr"/>
              <a:r>
                <a:rPr lang="en-US" altLang="ko-KR" sz="1200" dirty="0"/>
                <a:t>(</a:t>
              </a:r>
              <a:r>
                <a:rPr lang="ko-KR" altLang="en-US" sz="1200" dirty="0"/>
                <a:t>제도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grpSp>
          <p:nvGrpSpPr>
            <p:cNvPr id="81" name="그룹 80"/>
            <p:cNvGrpSpPr/>
            <p:nvPr/>
          </p:nvGrpSpPr>
          <p:grpSpPr>
            <a:xfrm>
              <a:off x="7967112" y="4305504"/>
              <a:ext cx="471444" cy="1770110"/>
              <a:chOff x="2707314" y="4441447"/>
              <a:chExt cx="786730" cy="1770110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2707314" y="4441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주체</a:t>
                </a:r>
              </a:p>
            </p:txBody>
          </p:sp>
          <p:sp>
            <p:nvSpPr>
              <p:cNvPr id="109" name="직사각형 108"/>
              <p:cNvSpPr/>
              <p:nvPr/>
            </p:nvSpPr>
            <p:spPr>
              <a:xfrm>
                <a:off x="2707314" y="4839210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청구</a:t>
                </a:r>
              </a:p>
            </p:txBody>
          </p:sp>
          <p:sp>
            <p:nvSpPr>
              <p:cNvPr id="110" name="직사각형 109"/>
              <p:cNvSpPr/>
              <p:nvPr/>
            </p:nvSpPr>
            <p:spPr>
              <a:xfrm>
                <a:off x="2707314" y="5258685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진행</a:t>
                </a:r>
              </a:p>
            </p:txBody>
          </p:sp>
          <p:sp>
            <p:nvSpPr>
              <p:cNvPr id="111" name="직사각형 110"/>
              <p:cNvSpPr/>
              <p:nvPr/>
            </p:nvSpPr>
            <p:spPr>
              <a:xfrm>
                <a:off x="2707314" y="5656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종료</a:t>
                </a:r>
              </a:p>
            </p:txBody>
          </p:sp>
          <p:sp>
            <p:nvSpPr>
              <p:cNvPr id="112" name="직사각형 111"/>
              <p:cNvSpPr/>
              <p:nvPr/>
            </p:nvSpPr>
            <p:spPr>
              <a:xfrm>
                <a:off x="2707314" y="6036746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관련</a:t>
                </a:r>
              </a:p>
            </p:txBody>
          </p:sp>
        </p:grpSp>
        <p:cxnSp>
          <p:nvCxnSpPr>
            <p:cNvPr id="82" name="꺾인 연결선 81"/>
            <p:cNvCxnSpPr>
              <a:stCxn id="80" idx="3"/>
              <a:endCxn id="108" idx="1"/>
            </p:cNvCxnSpPr>
            <p:nvPr/>
          </p:nvCxnSpPr>
          <p:spPr>
            <a:xfrm flipV="1">
              <a:off x="7789369" y="4392910"/>
              <a:ext cx="177743" cy="81844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꺾인 연결선 82"/>
            <p:cNvCxnSpPr>
              <a:stCxn id="80" idx="3"/>
              <a:endCxn id="112" idx="1"/>
            </p:cNvCxnSpPr>
            <p:nvPr/>
          </p:nvCxnSpPr>
          <p:spPr>
            <a:xfrm>
              <a:off x="7789369" y="5211352"/>
              <a:ext cx="177743" cy="77685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꺾인 연결선 83"/>
            <p:cNvCxnSpPr>
              <a:stCxn id="80" idx="3"/>
              <a:endCxn id="109" idx="1"/>
            </p:cNvCxnSpPr>
            <p:nvPr/>
          </p:nvCxnSpPr>
          <p:spPr>
            <a:xfrm flipV="1">
              <a:off x="7789369" y="4790673"/>
              <a:ext cx="177743" cy="42067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꺾인 연결선 84"/>
            <p:cNvCxnSpPr>
              <a:stCxn id="80" idx="3"/>
              <a:endCxn id="111" idx="1"/>
            </p:cNvCxnSpPr>
            <p:nvPr/>
          </p:nvCxnSpPr>
          <p:spPr>
            <a:xfrm>
              <a:off x="7789369" y="5211352"/>
              <a:ext cx="177743" cy="396558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꺾인 연결선 85"/>
            <p:cNvCxnSpPr>
              <a:stCxn id="80" idx="3"/>
              <a:endCxn id="110" idx="1"/>
            </p:cNvCxnSpPr>
            <p:nvPr/>
          </p:nvCxnSpPr>
          <p:spPr>
            <a:xfrm flipV="1">
              <a:off x="7789369" y="5210148"/>
              <a:ext cx="177743" cy="1204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그룹 86"/>
            <p:cNvGrpSpPr/>
            <p:nvPr/>
          </p:nvGrpSpPr>
          <p:grpSpPr>
            <a:xfrm>
              <a:off x="8563424" y="4076201"/>
              <a:ext cx="2417821" cy="2368895"/>
              <a:chOff x="3618912" y="4212144"/>
              <a:chExt cx="3438525" cy="2368895"/>
            </a:xfrm>
          </p:grpSpPr>
          <p:sp>
            <p:nvSpPr>
              <p:cNvPr id="98" name="직사각형 97"/>
              <p:cNvSpPr/>
              <p:nvPr/>
            </p:nvSpPr>
            <p:spPr>
              <a:xfrm>
                <a:off x="3618912" y="4212144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심사관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57</a:t>
                </a:r>
                <a:r>
                  <a:rPr lang="en-US" altLang="ko-KR" sz="1000">
                    <a:solidFill>
                      <a:schemeClr val="tx1"/>
                    </a:solidFill>
                  </a:rPr>
                  <a:t>, 68)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직사각형 98"/>
              <p:cNvSpPr/>
              <p:nvPr/>
            </p:nvSpPr>
            <p:spPr>
              <a:xfrm>
                <a:off x="3618912" y="4435206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전문기관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58, 58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직사각형 99"/>
              <p:cNvSpPr/>
              <p:nvPr/>
            </p:nvSpPr>
            <p:spPr>
              <a:xfrm>
                <a:off x="3618912" y="547999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출원의 무효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취하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포기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직사각형 100"/>
              <p:cNvSpPr/>
              <p:nvPr/>
            </p:nvSpPr>
            <p:spPr>
              <a:xfrm>
                <a:off x="3618912" y="5703059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특허여부결정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)(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62, 63, 66~67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직사각형 101"/>
              <p:cNvSpPr/>
              <p:nvPr/>
            </p:nvSpPr>
            <p:spPr>
              <a:xfrm>
                <a:off x="3618912" y="466874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심사청구제도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59, 60)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직사각형 102"/>
              <p:cNvSpPr/>
              <p:nvPr/>
            </p:nvSpPr>
            <p:spPr>
              <a:xfrm>
                <a:off x="3618912" y="489180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우선심사제도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61)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직사각형 103"/>
              <p:cNvSpPr/>
              <p:nvPr/>
            </p:nvSpPr>
            <p:spPr>
              <a:xfrm>
                <a:off x="3618912" y="517897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심사의 진행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62, 63, 63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직사각형 104"/>
              <p:cNvSpPr/>
              <p:nvPr/>
            </p:nvSpPr>
            <p:spPr>
              <a:xfrm>
                <a:off x="3618912" y="5955831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정보제공제도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63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직사각형 105"/>
              <p:cNvSpPr/>
              <p:nvPr/>
            </p:nvSpPr>
            <p:spPr>
              <a:xfrm>
                <a:off x="3618912" y="617889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출원공개제도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64, 65)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직사각형 106"/>
              <p:cNvSpPr/>
              <p:nvPr/>
            </p:nvSpPr>
            <p:spPr>
              <a:xfrm>
                <a:off x="3618912" y="640622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chemeClr val="tx1"/>
                    </a:solidFill>
                  </a:rPr>
                  <a:t>타절차와의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 관계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78)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8" name="꺾인 연결선 87"/>
            <p:cNvCxnSpPr>
              <a:stCxn id="108" idx="3"/>
              <a:endCxn id="98" idx="1"/>
            </p:cNvCxnSpPr>
            <p:nvPr/>
          </p:nvCxnSpPr>
          <p:spPr>
            <a:xfrm flipV="1">
              <a:off x="8438556" y="4163607"/>
              <a:ext cx="124868" cy="229303"/>
            </a:xfrm>
            <a:prstGeom prst="bentConnector3">
              <a:avLst>
                <a:gd name="adj1" fmla="val 50000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꺾인 연결선 88"/>
            <p:cNvCxnSpPr>
              <a:stCxn id="108" idx="3"/>
              <a:endCxn id="99" idx="1"/>
            </p:cNvCxnSpPr>
            <p:nvPr/>
          </p:nvCxnSpPr>
          <p:spPr>
            <a:xfrm flipV="1">
              <a:off x="8438556" y="4386669"/>
              <a:ext cx="124868" cy="6241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꺾인 연결선 89"/>
            <p:cNvCxnSpPr>
              <a:stCxn id="109" idx="3"/>
              <a:endCxn id="102" idx="1"/>
            </p:cNvCxnSpPr>
            <p:nvPr/>
          </p:nvCxnSpPr>
          <p:spPr>
            <a:xfrm flipV="1">
              <a:off x="8438556" y="4620206"/>
              <a:ext cx="124868" cy="17046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꺾인 연결선 90"/>
            <p:cNvCxnSpPr>
              <a:stCxn id="109" idx="3"/>
              <a:endCxn id="103" idx="1"/>
            </p:cNvCxnSpPr>
            <p:nvPr/>
          </p:nvCxnSpPr>
          <p:spPr>
            <a:xfrm>
              <a:off x="8438556" y="4790673"/>
              <a:ext cx="124868" cy="5259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꺾인 연결선 91"/>
            <p:cNvCxnSpPr>
              <a:stCxn id="110" idx="3"/>
              <a:endCxn id="104" idx="1"/>
            </p:cNvCxnSpPr>
            <p:nvPr/>
          </p:nvCxnSpPr>
          <p:spPr>
            <a:xfrm flipV="1">
              <a:off x="8438556" y="5130438"/>
              <a:ext cx="124868" cy="79710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꺾인 연결선 92"/>
            <p:cNvCxnSpPr>
              <a:stCxn id="111" idx="3"/>
              <a:endCxn id="100" idx="1"/>
            </p:cNvCxnSpPr>
            <p:nvPr/>
          </p:nvCxnSpPr>
          <p:spPr>
            <a:xfrm flipV="1">
              <a:off x="8438556" y="5431461"/>
              <a:ext cx="124868" cy="17644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꺾인 연결선 93"/>
            <p:cNvCxnSpPr>
              <a:stCxn id="111" idx="3"/>
              <a:endCxn id="101" idx="1"/>
            </p:cNvCxnSpPr>
            <p:nvPr/>
          </p:nvCxnSpPr>
          <p:spPr>
            <a:xfrm>
              <a:off x="8438556" y="5607910"/>
              <a:ext cx="124868" cy="4661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꺾인 연결선 94"/>
            <p:cNvCxnSpPr>
              <a:stCxn id="112" idx="3"/>
              <a:endCxn id="105" idx="1"/>
            </p:cNvCxnSpPr>
            <p:nvPr/>
          </p:nvCxnSpPr>
          <p:spPr>
            <a:xfrm flipV="1">
              <a:off x="8438556" y="5907294"/>
              <a:ext cx="124868" cy="8091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꺾인 연결선 95"/>
            <p:cNvCxnSpPr>
              <a:stCxn id="112" idx="3"/>
              <a:endCxn id="106" idx="1"/>
            </p:cNvCxnSpPr>
            <p:nvPr/>
          </p:nvCxnSpPr>
          <p:spPr>
            <a:xfrm>
              <a:off x="8438556" y="5988209"/>
              <a:ext cx="124868" cy="14214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꺾인 연결선 96"/>
            <p:cNvCxnSpPr>
              <a:stCxn id="112" idx="3"/>
              <a:endCxn id="107" idx="1"/>
            </p:cNvCxnSpPr>
            <p:nvPr/>
          </p:nvCxnSpPr>
          <p:spPr>
            <a:xfrm>
              <a:off x="8438556" y="5988209"/>
              <a:ext cx="124868" cy="36948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직사각형 112"/>
          <p:cNvSpPr/>
          <p:nvPr/>
        </p:nvSpPr>
        <p:spPr>
          <a:xfrm>
            <a:off x="5960556" y="3393490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특허법</a:t>
            </a:r>
            <a:endParaRPr lang="en-US" altLang="ko-KR" dirty="0"/>
          </a:p>
          <a:p>
            <a:pPr algn="ctr"/>
            <a:r>
              <a:rPr lang="ko-KR" altLang="en-US" dirty="0"/>
              <a:t>체계도</a:t>
            </a:r>
          </a:p>
        </p:txBody>
      </p:sp>
      <p:sp>
        <p:nvSpPr>
          <p:cNvPr id="114" name="타원 113"/>
          <p:cNvSpPr/>
          <p:nvPr/>
        </p:nvSpPr>
        <p:spPr>
          <a:xfrm>
            <a:off x="880857" y="2219587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5" name="타원 114"/>
          <p:cNvSpPr/>
          <p:nvPr/>
        </p:nvSpPr>
        <p:spPr>
          <a:xfrm>
            <a:off x="6163733" y="2366819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16" name="타원 115"/>
          <p:cNvSpPr/>
          <p:nvPr/>
        </p:nvSpPr>
        <p:spPr>
          <a:xfrm>
            <a:off x="542670" y="5005703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17" name="타원 116"/>
          <p:cNvSpPr/>
          <p:nvPr/>
        </p:nvSpPr>
        <p:spPr>
          <a:xfrm>
            <a:off x="6647019" y="5043860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18" name="자유형 117"/>
          <p:cNvSpPr/>
          <p:nvPr/>
        </p:nvSpPr>
        <p:spPr>
          <a:xfrm>
            <a:off x="1049867" y="2582332"/>
            <a:ext cx="4893733" cy="1423457"/>
          </a:xfrm>
          <a:custGeom>
            <a:avLst/>
            <a:gdLst>
              <a:gd name="connsiteX0" fmla="*/ 4893733 w 4893733"/>
              <a:gd name="connsiteY0" fmla="*/ 1295400 h 1295400"/>
              <a:gd name="connsiteX1" fmla="*/ 4893733 w 4893733"/>
              <a:gd name="connsiteY1" fmla="*/ 1295400 h 1295400"/>
              <a:gd name="connsiteX2" fmla="*/ 0 w 4893733"/>
              <a:gd name="connsiteY2" fmla="*/ 1295400 h 1295400"/>
              <a:gd name="connsiteX3" fmla="*/ 0 w 4893733"/>
              <a:gd name="connsiteY3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93733" h="1295400">
                <a:moveTo>
                  <a:pt x="4893733" y="1295400"/>
                </a:moveTo>
                <a:lnTo>
                  <a:pt x="4893733" y="1295400"/>
                </a:lnTo>
                <a:lnTo>
                  <a:pt x="0" y="1295400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자유형 118"/>
          <p:cNvSpPr/>
          <p:nvPr/>
        </p:nvSpPr>
        <p:spPr>
          <a:xfrm>
            <a:off x="718458" y="3993619"/>
            <a:ext cx="5233610" cy="997811"/>
          </a:xfrm>
          <a:custGeom>
            <a:avLst/>
            <a:gdLst>
              <a:gd name="connsiteX0" fmla="*/ 5215467 w 5215467"/>
              <a:gd name="connsiteY0" fmla="*/ 0 h 965200"/>
              <a:gd name="connsiteX1" fmla="*/ 0 w 5215467"/>
              <a:gd name="connsiteY1" fmla="*/ 0 h 965200"/>
              <a:gd name="connsiteX2" fmla="*/ 0 w 5215467"/>
              <a:gd name="connsiteY2" fmla="*/ 96520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15467" h="965200">
                <a:moveTo>
                  <a:pt x="5215467" y="0"/>
                </a:moveTo>
                <a:lnTo>
                  <a:pt x="0" y="0"/>
                </a:lnTo>
                <a:lnTo>
                  <a:pt x="0" y="9652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자유형 119"/>
          <p:cNvSpPr/>
          <p:nvPr/>
        </p:nvSpPr>
        <p:spPr>
          <a:xfrm>
            <a:off x="6383867" y="2726267"/>
            <a:ext cx="0" cy="668866"/>
          </a:xfrm>
          <a:custGeom>
            <a:avLst/>
            <a:gdLst>
              <a:gd name="connsiteX0" fmla="*/ 0 w 0"/>
              <a:gd name="connsiteY0" fmla="*/ 668866 h 668866"/>
              <a:gd name="connsiteX1" fmla="*/ 0 w 0"/>
              <a:gd name="connsiteY1" fmla="*/ 0 h 66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68866">
                <a:moveTo>
                  <a:pt x="0" y="668866"/>
                </a:move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1" name="직선 연결선 120"/>
          <p:cNvCxnSpPr>
            <a:stCxn id="113" idx="2"/>
            <a:endCxn id="113" idx="2"/>
          </p:cNvCxnSpPr>
          <p:nvPr/>
        </p:nvCxnSpPr>
        <p:spPr>
          <a:xfrm>
            <a:off x="6417756" y="4307890"/>
            <a:ext cx="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자유형 121"/>
          <p:cNvSpPr/>
          <p:nvPr/>
        </p:nvSpPr>
        <p:spPr>
          <a:xfrm>
            <a:off x="6400800" y="4318000"/>
            <a:ext cx="262467" cy="897467"/>
          </a:xfrm>
          <a:custGeom>
            <a:avLst/>
            <a:gdLst>
              <a:gd name="connsiteX0" fmla="*/ 0 w 262467"/>
              <a:gd name="connsiteY0" fmla="*/ 0 h 897467"/>
              <a:gd name="connsiteX1" fmla="*/ 0 w 262467"/>
              <a:gd name="connsiteY1" fmla="*/ 0 h 897467"/>
              <a:gd name="connsiteX2" fmla="*/ 0 w 262467"/>
              <a:gd name="connsiteY2" fmla="*/ 897467 h 897467"/>
              <a:gd name="connsiteX3" fmla="*/ 262467 w 262467"/>
              <a:gd name="connsiteY3" fmla="*/ 897467 h 89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467" h="897467">
                <a:moveTo>
                  <a:pt x="0" y="0"/>
                </a:moveTo>
                <a:lnTo>
                  <a:pt x="0" y="0"/>
                </a:lnTo>
                <a:lnTo>
                  <a:pt x="0" y="897467"/>
                </a:lnTo>
                <a:lnTo>
                  <a:pt x="262467" y="897467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9012F393-65ED-4311-A56D-1073EA0A0D99}"/>
              </a:ext>
            </a:extLst>
          </p:cNvPr>
          <p:cNvSpPr/>
          <p:nvPr/>
        </p:nvSpPr>
        <p:spPr>
          <a:xfrm>
            <a:off x="2487992" y="5160972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분할출원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27" name="꺾인 연결선 67">
            <a:extLst>
              <a:ext uri="{FF2B5EF4-FFF2-40B4-BE49-F238E27FC236}">
                <a16:creationId xmlns:a16="http://schemas.microsoft.com/office/drawing/2014/main" id="{E6B18D36-32CC-497B-A148-E8CED33A916F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꺾인 연결선 68">
            <a:extLst>
              <a:ext uri="{FF2B5EF4-FFF2-40B4-BE49-F238E27FC236}">
                <a16:creationId xmlns:a16="http://schemas.microsoft.com/office/drawing/2014/main" id="{15731FFB-002A-4D1A-B931-E4E3AE5EC565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88952097-4047-B4C7-1974-88AE224120C6}"/>
              </a:ext>
            </a:extLst>
          </p:cNvPr>
          <p:cNvSpPr/>
          <p:nvPr/>
        </p:nvSpPr>
        <p:spPr>
          <a:xfrm>
            <a:off x="2118397" y="36224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보칙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215-224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814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540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680604" y="2547021"/>
            <a:ext cx="545064" cy="552230"/>
          </a:xfrm>
          <a:prstGeom prst="rect">
            <a:avLst/>
          </a:prstGeom>
          <a:ln w="31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/>
              <a:t>특허권</a:t>
            </a:r>
            <a:endParaRPr lang="ko-KR" altLang="en-US" sz="1200" dirty="0"/>
          </a:p>
        </p:txBody>
      </p:sp>
      <p:sp>
        <p:nvSpPr>
          <p:cNvPr id="125" name="직사각형 124"/>
          <p:cNvSpPr/>
          <p:nvPr/>
        </p:nvSpPr>
        <p:spPr>
          <a:xfrm>
            <a:off x="1383335" y="123999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1383335" y="1789781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효력</a:t>
            </a:r>
          </a:p>
        </p:txBody>
      </p:sp>
      <p:sp>
        <p:nvSpPr>
          <p:cNvPr id="127" name="직사각형 126"/>
          <p:cNvSpPr/>
          <p:nvPr/>
        </p:nvSpPr>
        <p:spPr>
          <a:xfrm>
            <a:off x="1383335" y="2944739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변동</a:t>
            </a:r>
          </a:p>
        </p:txBody>
      </p:sp>
      <p:sp>
        <p:nvSpPr>
          <p:cNvPr id="128" name="직사각형 127"/>
          <p:cNvSpPr/>
          <p:nvPr/>
        </p:nvSpPr>
        <p:spPr>
          <a:xfrm>
            <a:off x="1383335" y="366808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소멸</a:t>
            </a:r>
          </a:p>
        </p:txBody>
      </p:sp>
      <p:sp>
        <p:nvSpPr>
          <p:cNvPr id="129" name="직사각형 128"/>
          <p:cNvSpPr/>
          <p:nvPr/>
        </p:nvSpPr>
        <p:spPr>
          <a:xfrm>
            <a:off x="1383335" y="4175764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관련</a:t>
            </a:r>
          </a:p>
        </p:txBody>
      </p:sp>
      <p:cxnSp>
        <p:nvCxnSpPr>
          <p:cNvPr id="130" name="꺾인 연결선 129"/>
          <p:cNvCxnSpPr>
            <a:stCxn id="124" idx="3"/>
            <a:endCxn id="125" idx="1"/>
          </p:cNvCxnSpPr>
          <p:nvPr/>
        </p:nvCxnSpPr>
        <p:spPr>
          <a:xfrm flipV="1">
            <a:off x="1225668" y="1360804"/>
            <a:ext cx="157667" cy="146233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 130"/>
          <p:cNvCxnSpPr>
            <a:stCxn id="124" idx="3"/>
            <a:endCxn id="129" idx="1"/>
          </p:cNvCxnSpPr>
          <p:nvPr/>
        </p:nvCxnSpPr>
        <p:spPr>
          <a:xfrm>
            <a:off x="1225668" y="2823136"/>
            <a:ext cx="157667" cy="147344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124" idx="3"/>
            <a:endCxn id="126" idx="1"/>
          </p:cNvCxnSpPr>
          <p:nvPr/>
        </p:nvCxnSpPr>
        <p:spPr>
          <a:xfrm flipV="1">
            <a:off x="1225668" y="1910593"/>
            <a:ext cx="157667" cy="9125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꺾인 연결선 132"/>
          <p:cNvCxnSpPr>
            <a:stCxn id="124" idx="3"/>
            <a:endCxn id="128" idx="1"/>
          </p:cNvCxnSpPr>
          <p:nvPr/>
        </p:nvCxnSpPr>
        <p:spPr>
          <a:xfrm>
            <a:off x="1225668" y="2823136"/>
            <a:ext cx="157667" cy="96575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꺾인 연결선 133"/>
          <p:cNvCxnSpPr>
            <a:stCxn id="124" idx="3"/>
            <a:endCxn id="127" idx="1"/>
          </p:cNvCxnSpPr>
          <p:nvPr/>
        </p:nvCxnSpPr>
        <p:spPr>
          <a:xfrm>
            <a:off x="1225668" y="2823136"/>
            <a:ext cx="157667" cy="24241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/>
          <p:cNvSpPr/>
          <p:nvPr/>
        </p:nvSpPr>
        <p:spPr>
          <a:xfrm>
            <a:off x="1927293" y="1027643"/>
            <a:ext cx="1744315" cy="1286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특허료의 납부 등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79~86)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1927294" y="1199840"/>
            <a:ext cx="1744314" cy="146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설정등록 및 등록공고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1927295" y="3385001"/>
            <a:ext cx="991185" cy="1876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질권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121~123)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1931244" y="3908454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효과</a:t>
            </a:r>
          </a:p>
        </p:txBody>
      </p:sp>
      <p:sp>
        <p:nvSpPr>
          <p:cNvPr id="139" name="직사각형 138"/>
          <p:cNvSpPr/>
          <p:nvPr/>
        </p:nvSpPr>
        <p:spPr>
          <a:xfrm>
            <a:off x="1927295" y="1600786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범위</a:t>
            </a:r>
          </a:p>
        </p:txBody>
      </p:sp>
      <p:sp>
        <p:nvSpPr>
          <p:cNvPr id="140" name="직사각형 139"/>
          <p:cNvSpPr/>
          <p:nvPr/>
        </p:nvSpPr>
        <p:spPr>
          <a:xfrm>
            <a:off x="1927295" y="2235641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내용</a:t>
            </a:r>
          </a:p>
        </p:txBody>
      </p:sp>
      <p:sp>
        <p:nvSpPr>
          <p:cNvPr id="141" name="직사각형 140"/>
          <p:cNvSpPr/>
          <p:nvPr/>
        </p:nvSpPr>
        <p:spPr>
          <a:xfrm>
            <a:off x="1927295" y="3187241"/>
            <a:ext cx="99118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000" dirty="0" err="1">
                <a:solidFill>
                  <a:schemeClr val="tx2"/>
                </a:solidFill>
              </a:rPr>
              <a:t>실시권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1926619" y="4143059"/>
            <a:ext cx="1355344" cy="153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실시보고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1926619" y="4320845"/>
            <a:ext cx="1355344" cy="134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집행권원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44" name="꺾인 연결선 143"/>
          <p:cNvCxnSpPr>
            <a:stCxn id="125" idx="3"/>
            <a:endCxn id="135" idx="1"/>
          </p:cNvCxnSpPr>
          <p:nvPr/>
        </p:nvCxnSpPr>
        <p:spPr>
          <a:xfrm flipV="1">
            <a:off x="1774346" y="1091961"/>
            <a:ext cx="152947" cy="26884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>
            <a:stCxn id="125" idx="3"/>
            <a:endCxn id="136" idx="1"/>
          </p:cNvCxnSpPr>
          <p:nvPr/>
        </p:nvCxnSpPr>
        <p:spPr>
          <a:xfrm flipV="1">
            <a:off x="1774346" y="1273240"/>
            <a:ext cx="152948" cy="875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stCxn id="126" idx="3"/>
            <a:endCxn id="139" idx="1"/>
          </p:cNvCxnSpPr>
          <p:nvPr/>
        </p:nvCxnSpPr>
        <p:spPr>
          <a:xfrm flipV="1">
            <a:off x="1774346" y="1680091"/>
            <a:ext cx="152949" cy="2305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146"/>
          <p:cNvCxnSpPr>
            <a:stCxn id="126" idx="3"/>
            <a:endCxn id="140" idx="1"/>
          </p:cNvCxnSpPr>
          <p:nvPr/>
        </p:nvCxnSpPr>
        <p:spPr>
          <a:xfrm>
            <a:off x="1774346" y="1910593"/>
            <a:ext cx="152949" cy="4043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꺾인 연결선 147"/>
          <p:cNvCxnSpPr>
            <a:stCxn id="127" idx="3"/>
            <a:endCxn id="141" idx="1"/>
          </p:cNvCxnSpPr>
          <p:nvPr/>
        </p:nvCxnSpPr>
        <p:spPr>
          <a:xfrm>
            <a:off x="1774346" y="3065551"/>
            <a:ext cx="152949" cy="20099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stCxn id="128" idx="3"/>
            <a:endCxn id="138" idx="1"/>
          </p:cNvCxnSpPr>
          <p:nvPr/>
        </p:nvCxnSpPr>
        <p:spPr>
          <a:xfrm>
            <a:off x="1774346" y="3788895"/>
            <a:ext cx="156898" cy="1988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꺾인 연결선 149"/>
          <p:cNvCxnSpPr>
            <a:stCxn id="129" idx="3"/>
            <a:endCxn id="142" idx="1"/>
          </p:cNvCxnSpPr>
          <p:nvPr/>
        </p:nvCxnSpPr>
        <p:spPr>
          <a:xfrm flipV="1">
            <a:off x="1774346" y="4219817"/>
            <a:ext cx="152273" cy="767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꺾인 연결선 150"/>
          <p:cNvCxnSpPr>
            <a:stCxn id="129" idx="3"/>
            <a:endCxn id="143" idx="1"/>
          </p:cNvCxnSpPr>
          <p:nvPr/>
        </p:nvCxnSpPr>
        <p:spPr>
          <a:xfrm>
            <a:off x="1774346" y="4296575"/>
            <a:ext cx="152273" cy="913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직사각형 151"/>
          <p:cNvSpPr/>
          <p:nvPr/>
        </p:nvSpPr>
        <p:spPr>
          <a:xfrm>
            <a:off x="2490834" y="1502332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시간적</a:t>
            </a:r>
          </a:p>
        </p:txBody>
      </p:sp>
      <p:sp>
        <p:nvSpPr>
          <p:cNvPr id="153" name="직사각형 152"/>
          <p:cNvSpPr/>
          <p:nvPr/>
        </p:nvSpPr>
        <p:spPr>
          <a:xfrm>
            <a:off x="2490834" y="1753955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내용적</a:t>
            </a:r>
          </a:p>
        </p:txBody>
      </p:sp>
      <p:sp>
        <p:nvSpPr>
          <p:cNvPr id="154" name="직사각형 153"/>
          <p:cNvSpPr/>
          <p:nvPr/>
        </p:nvSpPr>
        <p:spPr>
          <a:xfrm>
            <a:off x="2490834" y="1966576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지역적</a:t>
            </a:r>
          </a:p>
        </p:txBody>
      </p:sp>
      <p:sp>
        <p:nvSpPr>
          <p:cNvPr id="155" name="직사각형 154"/>
          <p:cNvSpPr/>
          <p:nvPr/>
        </p:nvSpPr>
        <p:spPr>
          <a:xfrm>
            <a:off x="3028012" y="1406769"/>
            <a:ext cx="1665788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3028012" y="1577847"/>
            <a:ext cx="1665790" cy="1492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존속기간의 연장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89~93, 95)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3028012" y="1745004"/>
            <a:ext cx="1665788" cy="1857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청구범위</a:t>
            </a:r>
          </a:p>
        </p:txBody>
      </p:sp>
      <p:sp>
        <p:nvSpPr>
          <p:cNvPr id="158" name="직사각형 157"/>
          <p:cNvSpPr/>
          <p:nvPr/>
        </p:nvSpPr>
        <p:spPr>
          <a:xfrm>
            <a:off x="3028011" y="1966575"/>
            <a:ext cx="1665789" cy="158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속지주의</a:t>
            </a:r>
          </a:p>
        </p:txBody>
      </p:sp>
      <p:sp>
        <p:nvSpPr>
          <p:cNvPr id="159" name="직사각형 158"/>
          <p:cNvSpPr/>
          <p:nvPr/>
        </p:nvSpPr>
        <p:spPr>
          <a:xfrm>
            <a:off x="2500115" y="2247804"/>
            <a:ext cx="41836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의의</a:t>
            </a:r>
          </a:p>
        </p:txBody>
      </p:sp>
      <p:sp>
        <p:nvSpPr>
          <p:cNvPr id="160" name="직사각형 159"/>
          <p:cNvSpPr/>
          <p:nvPr/>
        </p:nvSpPr>
        <p:spPr>
          <a:xfrm>
            <a:off x="2500114" y="2523982"/>
            <a:ext cx="2193687" cy="1634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제한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81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3④, 96, 181/98)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2500114" y="2714241"/>
            <a:ext cx="219368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확장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1927295" y="2927413"/>
            <a:ext cx="1564240" cy="1938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이전 및 공유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99, 99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3109057" y="3518950"/>
            <a:ext cx="2829345" cy="1332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강제실시권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106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2, 107~115, 138)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3109057" y="3339094"/>
            <a:ext cx="2829345" cy="1397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법정실시권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81</a:t>
            </a:r>
            <a:r>
              <a:rPr lang="ko-KR" altLang="en-US" sz="800" dirty="0">
                <a:solidFill>
                  <a:schemeClr val="tx2"/>
                </a:solidFill>
              </a:rPr>
              <a:t>의</a:t>
            </a:r>
            <a:r>
              <a:rPr lang="en-US" altLang="ko-KR" sz="800" dirty="0">
                <a:solidFill>
                  <a:schemeClr val="tx2"/>
                </a:solidFill>
              </a:rPr>
              <a:t>3, 103~105, 122, 182,183, </a:t>
            </a:r>
            <a:r>
              <a:rPr lang="ko-KR" altLang="en-US" sz="800" dirty="0" err="1">
                <a:solidFill>
                  <a:schemeClr val="tx2"/>
                </a:solidFill>
              </a:rPr>
              <a:t>발진법</a:t>
            </a:r>
            <a:r>
              <a:rPr lang="en-US" altLang="ko-KR" sz="800" dirty="0">
                <a:solidFill>
                  <a:schemeClr val="tx2"/>
                </a:solidFill>
              </a:rPr>
              <a:t>10</a:t>
            </a:r>
            <a:r>
              <a:rPr lang="ko-KR" altLang="en-US" sz="800" dirty="0">
                <a:solidFill>
                  <a:schemeClr val="tx2"/>
                </a:solidFill>
              </a:rPr>
              <a:t>①</a:t>
            </a:r>
            <a:r>
              <a:rPr lang="en-US" altLang="ko-KR" sz="800" dirty="0">
                <a:solidFill>
                  <a:schemeClr val="tx2"/>
                </a:solidFill>
              </a:rPr>
              <a:t>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3109057" y="3151440"/>
            <a:ext cx="2829345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일반론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100~102, 118)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6" name="직사각형 165"/>
          <p:cNvSpPr/>
          <p:nvPr/>
        </p:nvSpPr>
        <p:spPr>
          <a:xfrm>
            <a:off x="1931244" y="3709590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원인</a:t>
            </a:r>
          </a:p>
        </p:txBody>
      </p:sp>
      <p:sp>
        <p:nvSpPr>
          <p:cNvPr id="167" name="직사각형 166"/>
          <p:cNvSpPr/>
          <p:nvPr/>
        </p:nvSpPr>
        <p:spPr>
          <a:xfrm>
            <a:off x="2426794" y="3883877"/>
            <a:ext cx="1721991" cy="2093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장래소멸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119, 120, 124)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2426794" y="3698412"/>
            <a:ext cx="1721991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소급소멸</a:t>
            </a:r>
          </a:p>
        </p:txBody>
      </p:sp>
      <p:cxnSp>
        <p:nvCxnSpPr>
          <p:cNvPr id="169" name="꺾인 연결선 168"/>
          <p:cNvCxnSpPr>
            <a:stCxn id="139" idx="3"/>
            <a:endCxn id="152" idx="1"/>
          </p:cNvCxnSpPr>
          <p:nvPr/>
        </p:nvCxnSpPr>
        <p:spPr>
          <a:xfrm flipV="1">
            <a:off x="2314769" y="1581638"/>
            <a:ext cx="176065" cy="984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꺾인 연결선 169"/>
          <p:cNvCxnSpPr>
            <a:stCxn id="139" idx="3"/>
            <a:endCxn id="153" idx="1"/>
          </p:cNvCxnSpPr>
          <p:nvPr/>
        </p:nvCxnSpPr>
        <p:spPr>
          <a:xfrm>
            <a:off x="2314769" y="1680091"/>
            <a:ext cx="176065" cy="15316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꺾인 연결선 170"/>
          <p:cNvCxnSpPr>
            <a:stCxn id="139" idx="3"/>
            <a:endCxn id="154" idx="1"/>
          </p:cNvCxnSpPr>
          <p:nvPr/>
        </p:nvCxnSpPr>
        <p:spPr>
          <a:xfrm>
            <a:off x="2314769" y="1680091"/>
            <a:ext cx="176065" cy="36579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꺾인 연결선 171"/>
          <p:cNvCxnSpPr>
            <a:stCxn id="152" idx="3"/>
            <a:endCxn id="155" idx="1"/>
          </p:cNvCxnSpPr>
          <p:nvPr/>
        </p:nvCxnSpPr>
        <p:spPr>
          <a:xfrm flipV="1">
            <a:off x="2918481" y="1486075"/>
            <a:ext cx="109531" cy="9556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꺾인 연결선 172"/>
          <p:cNvCxnSpPr>
            <a:stCxn id="152" idx="3"/>
            <a:endCxn id="156" idx="1"/>
          </p:cNvCxnSpPr>
          <p:nvPr/>
        </p:nvCxnSpPr>
        <p:spPr>
          <a:xfrm>
            <a:off x="2918481" y="1581638"/>
            <a:ext cx="109531" cy="7083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/>
          <p:cNvCxnSpPr>
            <a:stCxn id="153" idx="3"/>
            <a:endCxn id="157" idx="1"/>
          </p:cNvCxnSpPr>
          <p:nvPr/>
        </p:nvCxnSpPr>
        <p:spPr>
          <a:xfrm>
            <a:off x="2918481" y="1833260"/>
            <a:ext cx="109531" cy="463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/>
          <p:cNvCxnSpPr>
            <a:stCxn id="154" idx="3"/>
            <a:endCxn id="158" idx="1"/>
          </p:cNvCxnSpPr>
          <p:nvPr/>
        </p:nvCxnSpPr>
        <p:spPr>
          <a:xfrm flipV="1">
            <a:off x="2918481" y="2045880"/>
            <a:ext cx="109530" cy="1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꺾인 연결선 175"/>
          <p:cNvCxnSpPr>
            <a:stCxn id="140" idx="3"/>
            <a:endCxn id="161" idx="1"/>
          </p:cNvCxnSpPr>
          <p:nvPr/>
        </p:nvCxnSpPr>
        <p:spPr>
          <a:xfrm>
            <a:off x="2314769" y="2314946"/>
            <a:ext cx="185345" cy="4786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176"/>
          <p:cNvCxnSpPr>
            <a:stCxn id="140" idx="3"/>
            <a:endCxn id="159" idx="1"/>
          </p:cNvCxnSpPr>
          <p:nvPr/>
        </p:nvCxnSpPr>
        <p:spPr>
          <a:xfrm>
            <a:off x="2314769" y="2314946"/>
            <a:ext cx="185346" cy="1216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꺾인 연결선 177"/>
          <p:cNvCxnSpPr>
            <a:stCxn id="140" idx="3"/>
            <a:endCxn id="160" idx="1"/>
          </p:cNvCxnSpPr>
          <p:nvPr/>
        </p:nvCxnSpPr>
        <p:spPr>
          <a:xfrm>
            <a:off x="2314769" y="2314946"/>
            <a:ext cx="185345" cy="2907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꺾인 연결선 178"/>
          <p:cNvCxnSpPr>
            <a:stCxn id="127" idx="3"/>
            <a:endCxn id="162" idx="1"/>
          </p:cNvCxnSpPr>
          <p:nvPr/>
        </p:nvCxnSpPr>
        <p:spPr>
          <a:xfrm flipV="1">
            <a:off x="1774346" y="3024355"/>
            <a:ext cx="152949" cy="411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꺾인 연결선 179"/>
          <p:cNvCxnSpPr>
            <a:stCxn id="127" idx="3"/>
            <a:endCxn id="137" idx="1"/>
          </p:cNvCxnSpPr>
          <p:nvPr/>
        </p:nvCxnSpPr>
        <p:spPr>
          <a:xfrm>
            <a:off x="1774346" y="3065551"/>
            <a:ext cx="152949" cy="4132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꺾인 연결선 180"/>
          <p:cNvCxnSpPr>
            <a:stCxn id="141" idx="3"/>
            <a:endCxn id="163" idx="1"/>
          </p:cNvCxnSpPr>
          <p:nvPr/>
        </p:nvCxnSpPr>
        <p:spPr>
          <a:xfrm>
            <a:off x="2918481" y="3266547"/>
            <a:ext cx="190576" cy="31904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꺾인 연결선 181"/>
          <p:cNvCxnSpPr>
            <a:stCxn id="141" idx="3"/>
            <a:endCxn id="165" idx="1"/>
          </p:cNvCxnSpPr>
          <p:nvPr/>
        </p:nvCxnSpPr>
        <p:spPr>
          <a:xfrm flipV="1">
            <a:off x="2918481" y="3230745"/>
            <a:ext cx="190576" cy="3580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 182"/>
          <p:cNvCxnSpPr>
            <a:stCxn id="141" idx="3"/>
            <a:endCxn id="164" idx="1"/>
          </p:cNvCxnSpPr>
          <p:nvPr/>
        </p:nvCxnSpPr>
        <p:spPr>
          <a:xfrm>
            <a:off x="2918481" y="3266547"/>
            <a:ext cx="190576" cy="14241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꺾인 연결선 183"/>
          <p:cNvCxnSpPr>
            <a:stCxn id="128" idx="3"/>
            <a:endCxn id="166" idx="1"/>
          </p:cNvCxnSpPr>
          <p:nvPr/>
        </p:nvCxnSpPr>
        <p:spPr>
          <a:xfrm>
            <a:off x="1774346" y="3788895"/>
            <a:ext cx="156898" cy="127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꺾인 연결선 184"/>
          <p:cNvCxnSpPr>
            <a:stCxn id="166" idx="3"/>
            <a:endCxn id="167" idx="1"/>
          </p:cNvCxnSpPr>
          <p:nvPr/>
        </p:nvCxnSpPr>
        <p:spPr>
          <a:xfrm>
            <a:off x="2314770" y="3788895"/>
            <a:ext cx="112024" cy="1996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꺾인 연결선 185"/>
          <p:cNvCxnSpPr>
            <a:stCxn id="166" idx="3"/>
            <a:endCxn id="168" idx="1"/>
          </p:cNvCxnSpPr>
          <p:nvPr/>
        </p:nvCxnSpPr>
        <p:spPr>
          <a:xfrm flipV="1">
            <a:off x="2314770" y="3777717"/>
            <a:ext cx="112024" cy="1117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직사각형 186"/>
          <p:cNvSpPr/>
          <p:nvPr/>
        </p:nvSpPr>
        <p:spPr>
          <a:xfrm>
            <a:off x="3281962" y="2158301"/>
            <a:ext cx="1411839" cy="167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적극적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3281962" y="2341797"/>
            <a:ext cx="1411839" cy="1539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소극적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침해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89" name="꺾인 연결선 188"/>
          <p:cNvCxnSpPr>
            <a:stCxn id="159" idx="3"/>
            <a:endCxn id="188" idx="1"/>
          </p:cNvCxnSpPr>
          <p:nvPr/>
        </p:nvCxnSpPr>
        <p:spPr>
          <a:xfrm>
            <a:off x="2918481" y="2327109"/>
            <a:ext cx="363481" cy="9165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꺾인 연결선 189"/>
          <p:cNvCxnSpPr>
            <a:stCxn id="159" idx="3"/>
            <a:endCxn id="187" idx="1"/>
          </p:cNvCxnSpPr>
          <p:nvPr/>
        </p:nvCxnSpPr>
        <p:spPr>
          <a:xfrm flipV="1">
            <a:off x="2918481" y="2242081"/>
            <a:ext cx="363481" cy="850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직사각형 190"/>
          <p:cNvSpPr/>
          <p:nvPr/>
        </p:nvSpPr>
        <p:spPr>
          <a:xfrm>
            <a:off x="4891070" y="1400340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성립요건</a:t>
            </a:r>
          </a:p>
        </p:txBody>
      </p:sp>
      <p:sp>
        <p:nvSpPr>
          <p:cNvPr id="192" name="직사각형 191"/>
          <p:cNvSpPr/>
          <p:nvPr/>
        </p:nvSpPr>
        <p:spPr>
          <a:xfrm>
            <a:off x="4891070" y="1771241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종류</a:t>
            </a:r>
          </a:p>
        </p:txBody>
      </p:sp>
      <p:sp>
        <p:nvSpPr>
          <p:cNvPr id="193" name="직사각형 192"/>
          <p:cNvSpPr/>
          <p:nvPr/>
        </p:nvSpPr>
        <p:spPr>
          <a:xfrm>
            <a:off x="4891070" y="2381537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조치</a:t>
            </a:r>
          </a:p>
        </p:txBody>
      </p:sp>
      <p:cxnSp>
        <p:nvCxnSpPr>
          <p:cNvPr id="194" name="꺾인 연결선 193"/>
          <p:cNvCxnSpPr>
            <a:stCxn id="188" idx="3"/>
            <a:endCxn id="191" idx="1"/>
          </p:cNvCxnSpPr>
          <p:nvPr/>
        </p:nvCxnSpPr>
        <p:spPr>
          <a:xfrm flipV="1">
            <a:off x="4693801" y="1479645"/>
            <a:ext cx="197269" cy="939118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꺾인 연결선 194"/>
          <p:cNvCxnSpPr>
            <a:stCxn id="188" idx="3"/>
            <a:endCxn id="193" idx="1"/>
          </p:cNvCxnSpPr>
          <p:nvPr/>
        </p:nvCxnSpPr>
        <p:spPr>
          <a:xfrm>
            <a:off x="4693801" y="2418763"/>
            <a:ext cx="197269" cy="42079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꺾인 연결선 195"/>
          <p:cNvCxnSpPr>
            <a:stCxn id="188" idx="3"/>
            <a:endCxn id="192" idx="1"/>
          </p:cNvCxnSpPr>
          <p:nvPr/>
        </p:nvCxnSpPr>
        <p:spPr>
          <a:xfrm flipV="1">
            <a:off x="4693801" y="1850546"/>
            <a:ext cx="197269" cy="56821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직사각형 196"/>
          <p:cNvSpPr/>
          <p:nvPr/>
        </p:nvSpPr>
        <p:spPr>
          <a:xfrm>
            <a:off x="5586610" y="1528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직접침해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97, 98)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5586610" y="1904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간접침해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99" name="꺾인 연결선 198"/>
          <p:cNvCxnSpPr>
            <a:stCxn id="192" idx="3"/>
            <a:endCxn id="197" idx="1"/>
          </p:cNvCxnSpPr>
          <p:nvPr/>
        </p:nvCxnSpPr>
        <p:spPr>
          <a:xfrm flipV="1">
            <a:off x="5452482" y="1689718"/>
            <a:ext cx="134128" cy="1608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꺾인 연결선 199"/>
          <p:cNvCxnSpPr>
            <a:stCxn id="192" idx="3"/>
            <a:endCxn id="198" idx="1"/>
          </p:cNvCxnSpPr>
          <p:nvPr/>
        </p:nvCxnSpPr>
        <p:spPr>
          <a:xfrm>
            <a:off x="5452482" y="1850546"/>
            <a:ext cx="134128" cy="21517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모서리가 둥근 직사각형 200"/>
          <p:cNvSpPr/>
          <p:nvPr/>
        </p:nvSpPr>
        <p:spPr>
          <a:xfrm>
            <a:off x="5586610" y="2318465"/>
            <a:ext cx="833380" cy="30082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민사적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126-132)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5586609" y="2663316"/>
            <a:ext cx="833381" cy="34182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형사적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225-232)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203" name="꺾인 연결선 202"/>
          <p:cNvCxnSpPr>
            <a:stCxn id="193" idx="3"/>
            <a:endCxn id="201" idx="1"/>
          </p:cNvCxnSpPr>
          <p:nvPr/>
        </p:nvCxnSpPr>
        <p:spPr>
          <a:xfrm>
            <a:off x="5452482" y="2460843"/>
            <a:ext cx="134128" cy="803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꺾인 연결선 203"/>
          <p:cNvCxnSpPr>
            <a:stCxn id="193" idx="3"/>
            <a:endCxn id="202" idx="1"/>
          </p:cNvCxnSpPr>
          <p:nvPr/>
        </p:nvCxnSpPr>
        <p:spPr>
          <a:xfrm>
            <a:off x="5452482" y="2460843"/>
            <a:ext cx="134127" cy="37338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직사각형 204"/>
          <p:cNvSpPr/>
          <p:nvPr/>
        </p:nvSpPr>
        <p:spPr>
          <a:xfrm>
            <a:off x="7780806" y="2184608"/>
            <a:ext cx="555844" cy="61064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심판절차 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일반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총론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6" name="직사각형 205"/>
          <p:cNvSpPr/>
          <p:nvPr/>
        </p:nvSpPr>
        <p:spPr>
          <a:xfrm>
            <a:off x="7780806" y="4163272"/>
            <a:ext cx="555844" cy="6106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종류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각론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7" name="직사각형 206"/>
          <p:cNvSpPr/>
          <p:nvPr/>
        </p:nvSpPr>
        <p:spPr>
          <a:xfrm>
            <a:off x="8500191" y="131308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/>
              <a:t>주체</a:t>
            </a:r>
            <a:endParaRPr lang="ko-KR" altLang="en-US" sz="1000" dirty="0"/>
          </a:p>
        </p:txBody>
      </p:sp>
      <p:sp>
        <p:nvSpPr>
          <p:cNvPr id="208" name="직사각형 207"/>
          <p:cNvSpPr/>
          <p:nvPr/>
        </p:nvSpPr>
        <p:spPr>
          <a:xfrm>
            <a:off x="8500191" y="180459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청구</a:t>
            </a:r>
          </a:p>
        </p:txBody>
      </p:sp>
      <p:sp>
        <p:nvSpPr>
          <p:cNvPr id="209" name="직사각형 208"/>
          <p:cNvSpPr/>
          <p:nvPr/>
        </p:nvSpPr>
        <p:spPr>
          <a:xfrm>
            <a:off x="8500191" y="2449052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진행</a:t>
            </a:r>
          </a:p>
        </p:txBody>
      </p:sp>
      <p:sp>
        <p:nvSpPr>
          <p:cNvPr id="210" name="직사각형 209"/>
          <p:cNvSpPr/>
          <p:nvPr/>
        </p:nvSpPr>
        <p:spPr>
          <a:xfrm>
            <a:off x="8500191" y="2977875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종료</a:t>
            </a:r>
          </a:p>
        </p:txBody>
      </p:sp>
      <p:sp>
        <p:nvSpPr>
          <p:cNvPr id="211" name="직사각형 210"/>
          <p:cNvSpPr/>
          <p:nvPr/>
        </p:nvSpPr>
        <p:spPr>
          <a:xfrm>
            <a:off x="9363869" y="8056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16, 143~153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2" name="직사각형 211"/>
          <p:cNvSpPr/>
          <p:nvPr/>
        </p:nvSpPr>
        <p:spPr>
          <a:xfrm>
            <a:off x="9363869" y="9962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당사자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139)</a:t>
            </a:r>
            <a:endParaRPr lang="ko-KR" altLang="en-US" sz="1000" dirty="0"/>
          </a:p>
        </p:txBody>
      </p:sp>
      <p:sp>
        <p:nvSpPr>
          <p:cNvPr id="213" name="직사각형 212"/>
          <p:cNvSpPr/>
          <p:nvPr/>
        </p:nvSpPr>
        <p:spPr>
          <a:xfrm>
            <a:off x="9363869" y="118351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참가인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155, 156)</a:t>
            </a:r>
            <a:endParaRPr lang="ko-KR" altLang="en-US" sz="1000" dirty="0"/>
          </a:p>
        </p:txBody>
      </p:sp>
      <p:sp>
        <p:nvSpPr>
          <p:cNvPr id="214" name="직사각형 213"/>
          <p:cNvSpPr/>
          <p:nvPr/>
        </p:nvSpPr>
        <p:spPr>
          <a:xfrm>
            <a:off x="9363869" y="1703773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청구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140, 140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5" name="직사각형 214"/>
          <p:cNvSpPr/>
          <p:nvPr/>
        </p:nvSpPr>
        <p:spPr>
          <a:xfrm>
            <a:off x="9363869" y="18943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심판청구서의 보정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140②, 140</a:t>
            </a:r>
            <a:r>
              <a:rPr lang="ko-KR" altLang="en-US" sz="1000" dirty="0"/>
              <a:t>의</a:t>
            </a:r>
            <a:r>
              <a:rPr lang="en-US" altLang="ko-KR" sz="1000" dirty="0"/>
              <a:t>2②)</a:t>
            </a:r>
          </a:p>
        </p:txBody>
      </p:sp>
      <p:sp>
        <p:nvSpPr>
          <p:cNvPr id="216" name="직사각형 215"/>
          <p:cNvSpPr/>
          <p:nvPr/>
        </p:nvSpPr>
        <p:spPr>
          <a:xfrm>
            <a:off x="9363869" y="22698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방식심리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141)</a:t>
            </a:r>
            <a:endParaRPr lang="ko-KR" altLang="en-US" sz="1000" dirty="0"/>
          </a:p>
        </p:txBody>
      </p:sp>
      <p:sp>
        <p:nvSpPr>
          <p:cNvPr id="217" name="직사각형 216"/>
          <p:cNvSpPr/>
          <p:nvPr/>
        </p:nvSpPr>
        <p:spPr>
          <a:xfrm>
            <a:off x="9363869" y="245801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적법성 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142)</a:t>
            </a:r>
            <a:endParaRPr lang="ko-KR" altLang="en-US" sz="1000" dirty="0"/>
          </a:p>
        </p:txBody>
      </p:sp>
      <p:sp>
        <p:nvSpPr>
          <p:cNvPr id="218" name="직사각형 217"/>
          <p:cNvSpPr/>
          <p:nvPr/>
        </p:nvSpPr>
        <p:spPr>
          <a:xfrm>
            <a:off x="9363869" y="264666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본안심리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154, 157-160)</a:t>
            </a:r>
            <a:endParaRPr lang="ko-KR" altLang="en-US" sz="1000" dirty="0"/>
          </a:p>
        </p:txBody>
      </p:sp>
      <p:sp>
        <p:nvSpPr>
          <p:cNvPr id="219" name="직사각형 218"/>
          <p:cNvSpPr/>
          <p:nvPr/>
        </p:nvSpPr>
        <p:spPr>
          <a:xfrm>
            <a:off x="9363869" y="288449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심판청구의 취하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161)</a:t>
            </a:r>
            <a:endParaRPr lang="ko-KR" altLang="en-US" sz="1000" dirty="0"/>
          </a:p>
        </p:txBody>
      </p:sp>
      <p:sp>
        <p:nvSpPr>
          <p:cNvPr id="220" name="직사각형 219"/>
          <p:cNvSpPr/>
          <p:nvPr/>
        </p:nvSpPr>
        <p:spPr>
          <a:xfrm>
            <a:off x="9363869" y="307268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심결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162, 163)</a:t>
            </a:r>
            <a:endParaRPr lang="ko-KR" altLang="en-US" sz="1000" dirty="0"/>
          </a:p>
        </p:txBody>
      </p:sp>
      <p:sp>
        <p:nvSpPr>
          <p:cNvPr id="221" name="직사각형 220"/>
          <p:cNvSpPr/>
          <p:nvPr/>
        </p:nvSpPr>
        <p:spPr>
          <a:xfrm>
            <a:off x="8500191" y="4104276"/>
            <a:ext cx="710030" cy="1710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결정계</a:t>
            </a:r>
            <a:r>
              <a:rPr lang="ko-KR" altLang="en-US" sz="1000" dirty="0"/>
              <a:t> 심판</a:t>
            </a:r>
          </a:p>
        </p:txBody>
      </p:sp>
      <p:sp>
        <p:nvSpPr>
          <p:cNvPr id="222" name="직사각형 221"/>
          <p:cNvSpPr/>
          <p:nvPr/>
        </p:nvSpPr>
        <p:spPr>
          <a:xfrm>
            <a:off x="8500191" y="4475324"/>
            <a:ext cx="710030" cy="3642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당사자계 </a:t>
            </a:r>
            <a:endParaRPr lang="en-US" altLang="ko-KR" sz="1000" dirty="0"/>
          </a:p>
          <a:p>
            <a:pPr algn="ctr"/>
            <a:r>
              <a:rPr lang="ko-KR" altLang="en-US" sz="1000" dirty="0"/>
              <a:t>심판</a:t>
            </a:r>
          </a:p>
        </p:txBody>
      </p:sp>
      <p:sp>
        <p:nvSpPr>
          <p:cNvPr id="223" name="직사각형 222"/>
          <p:cNvSpPr/>
          <p:nvPr/>
        </p:nvSpPr>
        <p:spPr>
          <a:xfrm>
            <a:off x="8500189" y="5251229"/>
            <a:ext cx="1308145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재심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178~185)</a:t>
            </a:r>
            <a:endParaRPr lang="ko-KR" altLang="en-US" sz="1000" dirty="0"/>
          </a:p>
        </p:txBody>
      </p:sp>
      <p:sp>
        <p:nvSpPr>
          <p:cNvPr id="224" name="직사각형 223"/>
          <p:cNvSpPr/>
          <p:nvPr/>
        </p:nvSpPr>
        <p:spPr>
          <a:xfrm>
            <a:off x="9363869" y="401219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거절결정불복심판</a:t>
            </a:r>
            <a:r>
              <a:rPr lang="en-US" altLang="ko-KR" sz="900" dirty="0"/>
              <a:t>(</a:t>
            </a:r>
            <a:r>
              <a:rPr lang="ko-KR" altLang="en-US" sz="900" dirty="0"/>
              <a:t>法 </a:t>
            </a:r>
            <a:r>
              <a:rPr lang="en-US" altLang="ko-KR" sz="900" dirty="0"/>
              <a:t>132</a:t>
            </a:r>
            <a:r>
              <a:rPr lang="ko-KR" altLang="en-US" sz="900" dirty="0"/>
              <a:t>의</a:t>
            </a:r>
            <a:r>
              <a:rPr lang="en-US" altLang="ko-KR" sz="900" dirty="0"/>
              <a:t>17, 170~172, 176)</a:t>
            </a:r>
            <a:endParaRPr lang="ko-KR" altLang="en-US" sz="900" dirty="0"/>
          </a:p>
        </p:txBody>
      </p:sp>
      <p:sp>
        <p:nvSpPr>
          <p:cNvPr id="225" name="직사각형 224"/>
          <p:cNvSpPr/>
          <p:nvPr/>
        </p:nvSpPr>
        <p:spPr>
          <a:xfrm>
            <a:off x="9363869" y="420277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정정심판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136)</a:t>
            </a:r>
            <a:endParaRPr lang="ko-KR" altLang="en-US" sz="1000" dirty="0"/>
          </a:p>
        </p:txBody>
      </p:sp>
      <p:sp>
        <p:nvSpPr>
          <p:cNvPr id="226" name="직사각형 225"/>
          <p:cNvSpPr/>
          <p:nvPr/>
        </p:nvSpPr>
        <p:spPr>
          <a:xfrm>
            <a:off x="9363869" y="438375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무효심판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133, 134, 137)</a:t>
            </a:r>
            <a:endParaRPr lang="ko-KR" altLang="en-US" sz="1000" dirty="0"/>
          </a:p>
        </p:txBody>
      </p:sp>
      <p:sp>
        <p:nvSpPr>
          <p:cNvPr id="227" name="직사각형 226"/>
          <p:cNvSpPr/>
          <p:nvPr/>
        </p:nvSpPr>
        <p:spPr>
          <a:xfrm>
            <a:off x="9363869" y="457975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권리범위확인심판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135)</a:t>
            </a:r>
            <a:endParaRPr lang="ko-KR" altLang="en-US" sz="1000" dirty="0"/>
          </a:p>
        </p:txBody>
      </p:sp>
      <p:sp>
        <p:nvSpPr>
          <p:cNvPr id="228" name="직사각형 227"/>
          <p:cNvSpPr/>
          <p:nvPr/>
        </p:nvSpPr>
        <p:spPr>
          <a:xfrm>
            <a:off x="9363869" y="477033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통상실시권허락심판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138)</a:t>
            </a:r>
            <a:endParaRPr lang="ko-KR" altLang="en-US" sz="1000" dirty="0"/>
          </a:p>
        </p:txBody>
      </p:sp>
      <p:cxnSp>
        <p:nvCxnSpPr>
          <p:cNvPr id="229" name="꺾인 연결선 228"/>
          <p:cNvCxnSpPr>
            <a:stCxn id="205" idx="1"/>
            <a:endCxn id="252" idx="3"/>
          </p:cNvCxnSpPr>
          <p:nvPr/>
        </p:nvCxnSpPr>
        <p:spPr>
          <a:xfrm rot="10800000" flipV="1">
            <a:off x="7557110" y="2489931"/>
            <a:ext cx="223697" cy="34727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꺾인 연결선 229"/>
          <p:cNvCxnSpPr>
            <a:stCxn id="205" idx="3"/>
            <a:endCxn id="207" idx="1"/>
          </p:cNvCxnSpPr>
          <p:nvPr/>
        </p:nvCxnSpPr>
        <p:spPr>
          <a:xfrm flipV="1">
            <a:off x="8336650" y="1398592"/>
            <a:ext cx="163541" cy="10913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꺾인 연결선 230"/>
          <p:cNvCxnSpPr>
            <a:stCxn id="205" idx="3"/>
            <a:endCxn id="210" idx="1"/>
          </p:cNvCxnSpPr>
          <p:nvPr/>
        </p:nvCxnSpPr>
        <p:spPr>
          <a:xfrm>
            <a:off x="8336650" y="2489931"/>
            <a:ext cx="163541" cy="573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꺾인 연결선 231"/>
          <p:cNvCxnSpPr>
            <a:stCxn id="205" idx="3"/>
            <a:endCxn id="208" idx="1"/>
          </p:cNvCxnSpPr>
          <p:nvPr/>
        </p:nvCxnSpPr>
        <p:spPr>
          <a:xfrm flipV="1">
            <a:off x="8336650" y="1890102"/>
            <a:ext cx="163541" cy="5998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꺾인 연결선 232"/>
          <p:cNvCxnSpPr>
            <a:stCxn id="205" idx="3"/>
            <a:endCxn id="209" idx="1"/>
          </p:cNvCxnSpPr>
          <p:nvPr/>
        </p:nvCxnSpPr>
        <p:spPr>
          <a:xfrm>
            <a:off x="8336650" y="2489931"/>
            <a:ext cx="163541" cy="446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꺾인 연결선 233"/>
          <p:cNvCxnSpPr>
            <a:stCxn id="207" idx="3"/>
            <a:endCxn id="211" idx="1"/>
          </p:cNvCxnSpPr>
          <p:nvPr/>
        </p:nvCxnSpPr>
        <p:spPr>
          <a:xfrm flipV="1">
            <a:off x="9210221" y="874930"/>
            <a:ext cx="153648" cy="52366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꺾인 연결선 234"/>
          <p:cNvCxnSpPr>
            <a:stCxn id="207" idx="3"/>
            <a:endCxn id="213" idx="1"/>
          </p:cNvCxnSpPr>
          <p:nvPr/>
        </p:nvCxnSpPr>
        <p:spPr>
          <a:xfrm flipV="1">
            <a:off x="9210221" y="1252790"/>
            <a:ext cx="153648" cy="1458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꺾인 연결선 235"/>
          <p:cNvCxnSpPr>
            <a:cxnSpLocks/>
            <a:stCxn id="207" idx="3"/>
            <a:endCxn id="288" idx="1"/>
          </p:cNvCxnSpPr>
          <p:nvPr/>
        </p:nvCxnSpPr>
        <p:spPr>
          <a:xfrm>
            <a:off x="9210221" y="1398592"/>
            <a:ext cx="148622" cy="1108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꺾인 연결선 236"/>
          <p:cNvCxnSpPr>
            <a:stCxn id="208" idx="3"/>
            <a:endCxn id="214" idx="1"/>
          </p:cNvCxnSpPr>
          <p:nvPr/>
        </p:nvCxnSpPr>
        <p:spPr>
          <a:xfrm flipV="1">
            <a:off x="9210221" y="1773052"/>
            <a:ext cx="153648" cy="1170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꺾인 연결선 237"/>
          <p:cNvCxnSpPr>
            <a:stCxn id="208" idx="3"/>
            <a:endCxn id="215" idx="1"/>
          </p:cNvCxnSpPr>
          <p:nvPr/>
        </p:nvCxnSpPr>
        <p:spPr>
          <a:xfrm>
            <a:off x="9210221" y="1890102"/>
            <a:ext cx="153648" cy="735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꺾인 연결선 238"/>
          <p:cNvCxnSpPr>
            <a:stCxn id="209" idx="3"/>
            <a:endCxn id="216" idx="1"/>
          </p:cNvCxnSpPr>
          <p:nvPr/>
        </p:nvCxnSpPr>
        <p:spPr>
          <a:xfrm flipV="1">
            <a:off x="9210221" y="2339108"/>
            <a:ext cx="153648" cy="195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꺾인 연결선 239"/>
          <p:cNvCxnSpPr>
            <a:stCxn id="209" idx="3"/>
            <a:endCxn id="218" idx="1"/>
          </p:cNvCxnSpPr>
          <p:nvPr/>
        </p:nvCxnSpPr>
        <p:spPr>
          <a:xfrm>
            <a:off x="9210221" y="2534560"/>
            <a:ext cx="153648" cy="18138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꺾인 연결선 240"/>
          <p:cNvCxnSpPr>
            <a:stCxn id="209" idx="3"/>
            <a:endCxn id="217" idx="1"/>
          </p:cNvCxnSpPr>
          <p:nvPr/>
        </p:nvCxnSpPr>
        <p:spPr>
          <a:xfrm flipV="1">
            <a:off x="9210221" y="2527293"/>
            <a:ext cx="153648" cy="726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꺾인 연결선 241"/>
          <p:cNvCxnSpPr>
            <a:stCxn id="221" idx="1"/>
            <a:endCxn id="206" idx="3"/>
          </p:cNvCxnSpPr>
          <p:nvPr/>
        </p:nvCxnSpPr>
        <p:spPr>
          <a:xfrm rot="10800000" flipV="1">
            <a:off x="8336651" y="4189783"/>
            <a:ext cx="163541" cy="2788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꺾인 연결선 242"/>
          <p:cNvCxnSpPr>
            <a:stCxn id="206" idx="3"/>
            <a:endCxn id="223" idx="1"/>
          </p:cNvCxnSpPr>
          <p:nvPr/>
        </p:nvCxnSpPr>
        <p:spPr>
          <a:xfrm>
            <a:off x="8336650" y="4468595"/>
            <a:ext cx="163539" cy="86197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꺾인 연결선 243"/>
          <p:cNvCxnSpPr>
            <a:stCxn id="206" idx="3"/>
            <a:endCxn id="222" idx="1"/>
          </p:cNvCxnSpPr>
          <p:nvPr/>
        </p:nvCxnSpPr>
        <p:spPr>
          <a:xfrm>
            <a:off x="8336650" y="4468595"/>
            <a:ext cx="163541" cy="1888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꺾인 연결선 244"/>
          <p:cNvCxnSpPr>
            <a:stCxn id="210" idx="3"/>
            <a:endCxn id="219" idx="1"/>
          </p:cNvCxnSpPr>
          <p:nvPr/>
        </p:nvCxnSpPr>
        <p:spPr>
          <a:xfrm flipV="1">
            <a:off x="9210221" y="2953778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꺾인 연결선 245"/>
          <p:cNvCxnSpPr>
            <a:stCxn id="210" idx="3"/>
            <a:endCxn id="220" idx="1"/>
          </p:cNvCxnSpPr>
          <p:nvPr/>
        </p:nvCxnSpPr>
        <p:spPr>
          <a:xfrm>
            <a:off x="9210221" y="3063383"/>
            <a:ext cx="153648" cy="7858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꺾인 연결선 246"/>
          <p:cNvCxnSpPr>
            <a:stCxn id="221" idx="3"/>
            <a:endCxn id="224" idx="1"/>
          </p:cNvCxnSpPr>
          <p:nvPr/>
        </p:nvCxnSpPr>
        <p:spPr>
          <a:xfrm flipV="1">
            <a:off x="9210221" y="4081472"/>
            <a:ext cx="153648" cy="10831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꺾인 연결선 247"/>
          <p:cNvCxnSpPr>
            <a:stCxn id="221" idx="3"/>
            <a:endCxn id="225" idx="1"/>
          </p:cNvCxnSpPr>
          <p:nvPr/>
        </p:nvCxnSpPr>
        <p:spPr>
          <a:xfrm>
            <a:off x="9210221" y="4189784"/>
            <a:ext cx="153648" cy="8226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꺾인 연결선 248"/>
          <p:cNvCxnSpPr>
            <a:stCxn id="222" idx="3"/>
            <a:endCxn id="226" idx="1"/>
          </p:cNvCxnSpPr>
          <p:nvPr/>
        </p:nvCxnSpPr>
        <p:spPr>
          <a:xfrm flipV="1">
            <a:off x="9210221" y="4453030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꺾인 연결선 249"/>
          <p:cNvCxnSpPr>
            <a:stCxn id="222" idx="3"/>
            <a:endCxn id="227" idx="1"/>
          </p:cNvCxnSpPr>
          <p:nvPr/>
        </p:nvCxnSpPr>
        <p:spPr>
          <a:xfrm flipV="1">
            <a:off x="9210221" y="4649032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꺾인 연결선 250"/>
          <p:cNvCxnSpPr>
            <a:stCxn id="222" idx="3"/>
            <a:endCxn id="228" idx="1"/>
          </p:cNvCxnSpPr>
          <p:nvPr/>
        </p:nvCxnSpPr>
        <p:spPr>
          <a:xfrm>
            <a:off x="9210221" y="4657467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직사각형 251"/>
          <p:cNvSpPr/>
          <p:nvPr/>
        </p:nvSpPr>
        <p:spPr>
          <a:xfrm>
            <a:off x="7136327" y="2620124"/>
            <a:ext cx="420782" cy="43416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심판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제도</a:t>
            </a:r>
          </a:p>
        </p:txBody>
      </p:sp>
      <p:cxnSp>
        <p:nvCxnSpPr>
          <p:cNvPr id="253" name="꺾인 연결선 252"/>
          <p:cNvCxnSpPr>
            <a:stCxn id="252" idx="3"/>
            <a:endCxn id="206" idx="1"/>
          </p:cNvCxnSpPr>
          <p:nvPr/>
        </p:nvCxnSpPr>
        <p:spPr>
          <a:xfrm>
            <a:off x="7557109" y="2837207"/>
            <a:ext cx="223697" cy="163138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직사각형 253"/>
          <p:cNvSpPr/>
          <p:nvPr/>
        </p:nvSpPr>
        <p:spPr>
          <a:xfrm>
            <a:off x="8500189" y="5000342"/>
            <a:ext cx="2075729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특허취소신청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2~132</a:t>
            </a:r>
            <a:r>
              <a:rPr lang="ko-KR" altLang="en-US" sz="1000" dirty="0"/>
              <a:t>의</a:t>
            </a:r>
            <a:r>
              <a:rPr lang="en-US" altLang="ko-KR" sz="1000" dirty="0"/>
              <a:t>15)</a:t>
            </a:r>
            <a:endParaRPr lang="ko-KR" altLang="en-US" sz="1000" dirty="0"/>
          </a:p>
        </p:txBody>
      </p:sp>
      <p:cxnSp>
        <p:nvCxnSpPr>
          <p:cNvPr id="255" name="꺾인 연결선 254"/>
          <p:cNvCxnSpPr>
            <a:stCxn id="206" idx="3"/>
            <a:endCxn id="254" idx="1"/>
          </p:cNvCxnSpPr>
          <p:nvPr/>
        </p:nvCxnSpPr>
        <p:spPr>
          <a:xfrm>
            <a:off x="8336650" y="4468595"/>
            <a:ext cx="163539" cy="6110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직사각형 255"/>
          <p:cNvSpPr/>
          <p:nvPr/>
        </p:nvSpPr>
        <p:spPr>
          <a:xfrm>
            <a:off x="9363869" y="2079620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중복심판청구금지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154⑧ </a:t>
            </a:r>
            <a:r>
              <a:rPr lang="ko-KR" altLang="en-US" sz="1000" dirty="0"/>
              <a:t>준용</a:t>
            </a:r>
            <a:r>
              <a:rPr lang="en-US" altLang="ko-KR" sz="1000" dirty="0"/>
              <a:t> </a:t>
            </a:r>
            <a:r>
              <a:rPr lang="ko-KR" altLang="en-US" sz="1000" dirty="0"/>
              <a:t>민소</a:t>
            </a:r>
            <a:r>
              <a:rPr lang="en-US" altLang="ko-KR" sz="1000" dirty="0"/>
              <a:t>259)</a:t>
            </a:r>
          </a:p>
        </p:txBody>
      </p:sp>
      <p:sp>
        <p:nvSpPr>
          <p:cNvPr id="257" name="직사각형 256"/>
          <p:cNvSpPr/>
          <p:nvPr/>
        </p:nvSpPr>
        <p:spPr>
          <a:xfrm>
            <a:off x="8237008" y="5752000"/>
            <a:ext cx="420212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PCT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58" name="직사각형 257"/>
          <p:cNvSpPr/>
          <p:nvPr/>
        </p:nvSpPr>
        <p:spPr>
          <a:xfrm>
            <a:off x="8810868" y="566042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특허출원절차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192~198)</a:t>
            </a:r>
            <a:endParaRPr lang="ko-KR" altLang="en-US" sz="1000" dirty="0"/>
          </a:p>
        </p:txBody>
      </p:sp>
      <p:sp>
        <p:nvSpPr>
          <p:cNvPr id="259" name="직사각형 258"/>
          <p:cNvSpPr/>
          <p:nvPr/>
        </p:nvSpPr>
        <p:spPr>
          <a:xfrm>
            <a:off x="8810868" y="5856429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국제조사 및 국제예비심사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198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60" name="직사각형 259"/>
          <p:cNvSpPr/>
          <p:nvPr/>
        </p:nvSpPr>
        <p:spPr>
          <a:xfrm>
            <a:off x="8810868" y="604700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국제특허출원에 관한 특례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199~214)</a:t>
            </a:r>
            <a:endParaRPr lang="ko-KR" altLang="en-US" sz="1000" dirty="0"/>
          </a:p>
        </p:txBody>
      </p:sp>
      <p:cxnSp>
        <p:nvCxnSpPr>
          <p:cNvPr id="261" name="꺾인 연결선 260"/>
          <p:cNvCxnSpPr>
            <a:stCxn id="257" idx="3"/>
            <a:endCxn id="258" idx="1"/>
          </p:cNvCxnSpPr>
          <p:nvPr/>
        </p:nvCxnSpPr>
        <p:spPr>
          <a:xfrm flipV="1">
            <a:off x="8657220" y="5729706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꺾인 연결선 261"/>
          <p:cNvCxnSpPr>
            <a:stCxn id="257" idx="3"/>
            <a:endCxn id="259" idx="1"/>
          </p:cNvCxnSpPr>
          <p:nvPr/>
        </p:nvCxnSpPr>
        <p:spPr>
          <a:xfrm flipV="1">
            <a:off x="8657220" y="5925708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꺾인 연결선 262"/>
          <p:cNvCxnSpPr>
            <a:stCxn id="257" idx="3"/>
            <a:endCxn id="260" idx="1"/>
          </p:cNvCxnSpPr>
          <p:nvPr/>
        </p:nvCxnSpPr>
        <p:spPr>
          <a:xfrm>
            <a:off x="8657220" y="5934143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꺾인 연결선 263"/>
          <p:cNvCxnSpPr>
            <a:stCxn id="273" idx="3"/>
            <a:endCxn id="295" idx="1"/>
          </p:cNvCxnSpPr>
          <p:nvPr/>
        </p:nvCxnSpPr>
        <p:spPr>
          <a:xfrm flipV="1">
            <a:off x="4278775" y="4164703"/>
            <a:ext cx="168733" cy="44072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꺾인 연결선 264"/>
          <p:cNvCxnSpPr>
            <a:stCxn id="273" idx="3"/>
            <a:endCxn id="296" idx="1"/>
          </p:cNvCxnSpPr>
          <p:nvPr/>
        </p:nvCxnSpPr>
        <p:spPr>
          <a:xfrm flipV="1">
            <a:off x="4278775" y="4328505"/>
            <a:ext cx="168733" cy="27692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직사각형 265"/>
          <p:cNvSpPr/>
          <p:nvPr/>
        </p:nvSpPr>
        <p:spPr>
          <a:xfrm>
            <a:off x="612833" y="5324052"/>
            <a:ext cx="355015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소송</a:t>
            </a:r>
          </a:p>
        </p:txBody>
      </p:sp>
      <p:sp>
        <p:nvSpPr>
          <p:cNvPr id="267" name="직사각형 266"/>
          <p:cNvSpPr/>
          <p:nvPr/>
        </p:nvSpPr>
        <p:spPr>
          <a:xfrm>
            <a:off x="1121497" y="523247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 err="1"/>
              <a:t>심결취소소송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186~189)</a:t>
            </a:r>
            <a:endParaRPr lang="ko-KR" altLang="en-US" sz="1000" dirty="0"/>
          </a:p>
        </p:txBody>
      </p:sp>
      <p:sp>
        <p:nvSpPr>
          <p:cNvPr id="268" name="직사각형 267"/>
          <p:cNvSpPr/>
          <p:nvPr/>
        </p:nvSpPr>
        <p:spPr>
          <a:xfrm>
            <a:off x="1121497" y="5428481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보상금</a:t>
            </a:r>
            <a:r>
              <a:rPr lang="en-US" altLang="ko-KR" sz="1000" dirty="0"/>
              <a:t>/</a:t>
            </a:r>
            <a:r>
              <a:rPr lang="ko-KR" altLang="en-US" sz="1000" dirty="0"/>
              <a:t>대가에 대한 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190, 191)</a:t>
            </a:r>
            <a:endParaRPr lang="ko-KR" altLang="en-US" sz="1000" dirty="0"/>
          </a:p>
        </p:txBody>
      </p:sp>
      <p:sp>
        <p:nvSpPr>
          <p:cNvPr id="269" name="직사각형 268"/>
          <p:cNvSpPr/>
          <p:nvPr/>
        </p:nvSpPr>
        <p:spPr>
          <a:xfrm>
            <a:off x="1121497" y="561905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변리사 보수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191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cxnSp>
        <p:nvCxnSpPr>
          <p:cNvPr id="270" name="꺾인 연결선 269"/>
          <p:cNvCxnSpPr>
            <a:stCxn id="266" idx="3"/>
            <a:endCxn id="267" idx="1"/>
          </p:cNvCxnSpPr>
          <p:nvPr/>
        </p:nvCxnSpPr>
        <p:spPr>
          <a:xfrm flipV="1">
            <a:off x="967848" y="5301758"/>
            <a:ext cx="153649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꺾인 연결선 270"/>
          <p:cNvCxnSpPr>
            <a:stCxn id="266" idx="3"/>
            <a:endCxn id="268" idx="1"/>
          </p:cNvCxnSpPr>
          <p:nvPr/>
        </p:nvCxnSpPr>
        <p:spPr>
          <a:xfrm flipV="1">
            <a:off x="967848" y="5497760"/>
            <a:ext cx="153649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꺾인 연결선 271"/>
          <p:cNvCxnSpPr>
            <a:stCxn id="266" idx="3"/>
            <a:endCxn id="269" idx="1"/>
          </p:cNvCxnSpPr>
          <p:nvPr/>
        </p:nvCxnSpPr>
        <p:spPr>
          <a:xfrm>
            <a:off x="967848" y="5506195"/>
            <a:ext cx="153649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직사각형 272"/>
          <p:cNvSpPr/>
          <p:nvPr/>
        </p:nvSpPr>
        <p:spPr>
          <a:xfrm>
            <a:off x="3609544" y="4480740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accent3">
                    <a:lumMod val="50000"/>
                  </a:schemeClr>
                </a:solidFill>
              </a:rPr>
              <a:t>소송요건</a:t>
            </a:r>
            <a:endParaRPr lang="en-US" altLang="ko-KR" sz="1000" dirty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ko-KR" altLang="en-US" sz="700" dirty="0">
                <a:solidFill>
                  <a:schemeClr val="accent3">
                    <a:lumMod val="50000"/>
                  </a:schemeClr>
                </a:solidFill>
              </a:rPr>
              <a:t>法 </a:t>
            </a:r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186, 187)</a:t>
            </a:r>
            <a:endParaRPr lang="ko-KR" altLang="en-US" sz="7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3609544" y="5109654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소송제기</a:t>
            </a:r>
          </a:p>
        </p:txBody>
      </p:sp>
      <p:sp>
        <p:nvSpPr>
          <p:cNvPr id="275" name="직사각형 274"/>
          <p:cNvSpPr/>
          <p:nvPr/>
        </p:nvSpPr>
        <p:spPr>
          <a:xfrm>
            <a:off x="3609544" y="5640678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소송심리</a:t>
            </a:r>
          </a:p>
        </p:txBody>
      </p:sp>
      <p:sp>
        <p:nvSpPr>
          <p:cNvPr id="276" name="직사각형 275"/>
          <p:cNvSpPr/>
          <p:nvPr/>
        </p:nvSpPr>
        <p:spPr>
          <a:xfrm>
            <a:off x="3609544" y="6249551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소송종료</a:t>
            </a:r>
          </a:p>
        </p:txBody>
      </p:sp>
      <p:cxnSp>
        <p:nvCxnSpPr>
          <p:cNvPr id="277" name="꺾인 연결선 276"/>
          <p:cNvCxnSpPr>
            <a:stCxn id="267" idx="3"/>
            <a:endCxn id="273" idx="1"/>
          </p:cNvCxnSpPr>
          <p:nvPr/>
        </p:nvCxnSpPr>
        <p:spPr>
          <a:xfrm flipV="1">
            <a:off x="3454709" y="4605428"/>
            <a:ext cx="154835" cy="69633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꺾인 연결선 277"/>
          <p:cNvCxnSpPr>
            <a:stCxn id="267" idx="3"/>
            <a:endCxn id="276" idx="1"/>
          </p:cNvCxnSpPr>
          <p:nvPr/>
        </p:nvCxnSpPr>
        <p:spPr>
          <a:xfrm>
            <a:off x="3454709" y="5301758"/>
            <a:ext cx="154835" cy="107248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꺾인 연결선 278"/>
          <p:cNvCxnSpPr>
            <a:stCxn id="267" idx="3"/>
            <a:endCxn id="274" idx="1"/>
          </p:cNvCxnSpPr>
          <p:nvPr/>
        </p:nvCxnSpPr>
        <p:spPr>
          <a:xfrm flipV="1">
            <a:off x="3454709" y="5234342"/>
            <a:ext cx="154835" cy="6741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꺾인 연결선 279"/>
          <p:cNvCxnSpPr>
            <a:stCxn id="267" idx="3"/>
            <a:endCxn id="275" idx="1"/>
          </p:cNvCxnSpPr>
          <p:nvPr/>
        </p:nvCxnSpPr>
        <p:spPr>
          <a:xfrm>
            <a:off x="3454709" y="5301758"/>
            <a:ext cx="154835" cy="46360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꺾인 연결선 280"/>
          <p:cNvCxnSpPr>
            <a:stCxn id="273" idx="3"/>
            <a:endCxn id="297" idx="1"/>
          </p:cNvCxnSpPr>
          <p:nvPr/>
        </p:nvCxnSpPr>
        <p:spPr>
          <a:xfrm flipV="1">
            <a:off x="4278775" y="4489475"/>
            <a:ext cx="168733" cy="1159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꺾인 연결선 281"/>
          <p:cNvCxnSpPr>
            <a:stCxn id="274" idx="3"/>
            <a:endCxn id="298" idx="1"/>
          </p:cNvCxnSpPr>
          <p:nvPr/>
        </p:nvCxnSpPr>
        <p:spPr>
          <a:xfrm flipV="1">
            <a:off x="4278775" y="5070329"/>
            <a:ext cx="168733" cy="16401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꺾인 연결선 282"/>
          <p:cNvCxnSpPr>
            <a:stCxn id="274" idx="3"/>
            <a:endCxn id="299" idx="1"/>
          </p:cNvCxnSpPr>
          <p:nvPr/>
        </p:nvCxnSpPr>
        <p:spPr>
          <a:xfrm flipV="1">
            <a:off x="4278775" y="5234131"/>
            <a:ext cx="168733" cy="2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꺾인 연결선 283"/>
          <p:cNvCxnSpPr>
            <a:stCxn id="275" idx="3"/>
            <a:endCxn id="300" idx="1"/>
          </p:cNvCxnSpPr>
          <p:nvPr/>
        </p:nvCxnSpPr>
        <p:spPr>
          <a:xfrm flipV="1">
            <a:off x="4278775" y="5762383"/>
            <a:ext cx="168733" cy="298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꺾인 연결선 284"/>
          <p:cNvCxnSpPr>
            <a:cxnSpLocks/>
            <a:stCxn id="275" idx="3"/>
            <a:endCxn id="301" idx="1"/>
          </p:cNvCxnSpPr>
          <p:nvPr/>
        </p:nvCxnSpPr>
        <p:spPr>
          <a:xfrm>
            <a:off x="4278775" y="5765366"/>
            <a:ext cx="168733" cy="2485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꺾인 연결선 285"/>
          <p:cNvCxnSpPr>
            <a:stCxn id="276" idx="3"/>
            <a:endCxn id="302" idx="1"/>
          </p:cNvCxnSpPr>
          <p:nvPr/>
        </p:nvCxnSpPr>
        <p:spPr>
          <a:xfrm flipV="1">
            <a:off x="4278775" y="6284664"/>
            <a:ext cx="168733" cy="895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꺾인 연결선 286"/>
          <p:cNvCxnSpPr>
            <a:cxnSpLocks/>
            <a:stCxn id="276" idx="3"/>
            <a:endCxn id="303" idx="1"/>
          </p:cNvCxnSpPr>
          <p:nvPr/>
        </p:nvCxnSpPr>
        <p:spPr>
          <a:xfrm>
            <a:off x="4278775" y="6374239"/>
            <a:ext cx="168733" cy="17444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직사각형 288"/>
          <p:cNvSpPr/>
          <p:nvPr/>
        </p:nvSpPr>
        <p:spPr>
          <a:xfrm>
            <a:off x="5954614" y="5228714"/>
            <a:ext cx="1396961" cy="328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변론주의 원칙</a:t>
            </a:r>
            <a:endParaRPr lang="en-US" altLang="ko-KR" sz="1000" dirty="0"/>
          </a:p>
          <a:p>
            <a:pPr algn="ctr"/>
            <a:r>
              <a:rPr lang="en-US" altLang="ko-KR" sz="1000" dirty="0"/>
              <a:t>(</a:t>
            </a:r>
            <a:r>
              <a:rPr lang="ko-KR" altLang="en-US" sz="1000" dirty="0"/>
              <a:t>직권주의 가미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290" name="직사각형 289"/>
          <p:cNvSpPr/>
          <p:nvPr/>
        </p:nvSpPr>
        <p:spPr>
          <a:xfrm>
            <a:off x="5954614" y="5591097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위법판단의 기준시점</a:t>
            </a:r>
          </a:p>
        </p:txBody>
      </p:sp>
      <p:sp>
        <p:nvSpPr>
          <p:cNvPr id="291" name="직사각형 290"/>
          <p:cNvSpPr/>
          <p:nvPr/>
        </p:nvSpPr>
        <p:spPr>
          <a:xfrm>
            <a:off x="5954614" y="575324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심리범위</a:t>
            </a:r>
          </a:p>
        </p:txBody>
      </p:sp>
      <p:sp>
        <p:nvSpPr>
          <p:cNvPr id="292" name="직사각형 291"/>
          <p:cNvSpPr/>
          <p:nvPr/>
        </p:nvSpPr>
        <p:spPr>
          <a:xfrm>
            <a:off x="5954614" y="591100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주장증명책임</a:t>
            </a:r>
          </a:p>
        </p:txBody>
      </p:sp>
      <p:sp>
        <p:nvSpPr>
          <p:cNvPr id="293" name="직사각형 292"/>
          <p:cNvSpPr/>
          <p:nvPr/>
        </p:nvSpPr>
        <p:spPr>
          <a:xfrm>
            <a:off x="5954614" y="6071372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자백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4447508" y="410052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소송물</a:t>
            </a:r>
            <a:endParaRPr lang="ko-KR" altLang="en-US" sz="1000" dirty="0"/>
          </a:p>
        </p:txBody>
      </p:sp>
      <p:sp>
        <p:nvSpPr>
          <p:cNvPr id="296" name="직사각형 295"/>
          <p:cNvSpPr/>
          <p:nvPr/>
        </p:nvSpPr>
        <p:spPr>
          <a:xfrm>
            <a:off x="4447508" y="426432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소의 이익</a:t>
            </a:r>
          </a:p>
        </p:txBody>
      </p:sp>
      <p:sp>
        <p:nvSpPr>
          <p:cNvPr id="297" name="직사각형 296"/>
          <p:cNvSpPr/>
          <p:nvPr/>
        </p:nvSpPr>
        <p:spPr>
          <a:xfrm>
            <a:off x="4447508" y="442529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관할</a:t>
            </a:r>
          </a:p>
        </p:txBody>
      </p:sp>
      <p:sp>
        <p:nvSpPr>
          <p:cNvPr id="298" name="직사각형 297"/>
          <p:cNvSpPr/>
          <p:nvPr/>
        </p:nvSpPr>
        <p:spPr>
          <a:xfrm>
            <a:off x="4447508" y="5006153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제출</a:t>
            </a:r>
          </a:p>
        </p:txBody>
      </p:sp>
      <p:sp>
        <p:nvSpPr>
          <p:cNvPr id="299" name="직사각형 298"/>
          <p:cNvSpPr/>
          <p:nvPr/>
        </p:nvSpPr>
        <p:spPr>
          <a:xfrm>
            <a:off x="4447508" y="516995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심판원장에게 통지</a:t>
            </a:r>
            <a:r>
              <a:rPr lang="en-US" altLang="ko-KR" sz="600" dirty="0">
                <a:solidFill>
                  <a:schemeClr val="tx1"/>
                </a:solidFill>
              </a:rPr>
              <a:t>(</a:t>
            </a:r>
            <a:r>
              <a:rPr lang="ko-KR" altLang="en-US" sz="600" dirty="0">
                <a:solidFill>
                  <a:schemeClr val="tx1"/>
                </a:solidFill>
              </a:rPr>
              <a:t>法 </a:t>
            </a:r>
            <a:r>
              <a:rPr lang="en-US" altLang="ko-KR" sz="600" dirty="0">
                <a:solidFill>
                  <a:schemeClr val="tx1"/>
                </a:solidFill>
              </a:rPr>
              <a:t>188)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00" name="직사각형 299"/>
          <p:cNvSpPr/>
          <p:nvPr/>
        </p:nvSpPr>
        <p:spPr>
          <a:xfrm>
            <a:off x="4447508" y="569820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본안심리</a:t>
            </a:r>
            <a:endParaRPr lang="ko-KR" altLang="en-US" sz="1000" dirty="0"/>
          </a:p>
        </p:txBody>
      </p:sp>
      <p:sp>
        <p:nvSpPr>
          <p:cNvPr id="301" name="직사각형 300"/>
          <p:cNvSpPr/>
          <p:nvPr/>
        </p:nvSpPr>
        <p:spPr>
          <a:xfrm>
            <a:off x="4447508" y="5859952"/>
            <a:ext cx="1380067" cy="3080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기술심리관의 관여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188</a:t>
            </a:r>
            <a:r>
              <a:rPr lang="ko-KR" altLang="en-US" sz="800" dirty="0">
                <a:solidFill>
                  <a:schemeClr val="tx1"/>
                </a:solidFill>
              </a:rPr>
              <a:t>의</a:t>
            </a:r>
            <a:r>
              <a:rPr lang="en-US" altLang="ko-KR" sz="8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2" name="직사각형 301"/>
          <p:cNvSpPr/>
          <p:nvPr/>
        </p:nvSpPr>
        <p:spPr>
          <a:xfrm>
            <a:off x="4447508" y="622048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당사자에 의한 종결</a:t>
            </a:r>
          </a:p>
        </p:txBody>
      </p:sp>
      <p:sp>
        <p:nvSpPr>
          <p:cNvPr id="303" name="직사각형 302"/>
          <p:cNvSpPr/>
          <p:nvPr/>
        </p:nvSpPr>
        <p:spPr>
          <a:xfrm>
            <a:off x="4447508" y="6382234"/>
            <a:ext cx="1380067" cy="3328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종국판결에 의한 종결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4447508" y="459403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</a:t>
            </a:r>
          </a:p>
        </p:txBody>
      </p:sp>
      <p:sp>
        <p:nvSpPr>
          <p:cNvPr id="305" name="직사각형 304"/>
          <p:cNvSpPr/>
          <p:nvPr/>
        </p:nvSpPr>
        <p:spPr>
          <a:xfrm>
            <a:off x="4447508" y="554183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소송요건의 심리</a:t>
            </a:r>
            <a:endParaRPr lang="en-US" altLang="ko-KR" sz="1000" dirty="0"/>
          </a:p>
        </p:txBody>
      </p:sp>
      <p:sp>
        <p:nvSpPr>
          <p:cNvPr id="306" name="직사각형 305"/>
          <p:cNvSpPr/>
          <p:nvPr/>
        </p:nvSpPr>
        <p:spPr>
          <a:xfrm>
            <a:off x="4447508" y="5338441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심사</a:t>
            </a:r>
            <a:endParaRPr lang="en-US" altLang="ko-KR" sz="1000" dirty="0"/>
          </a:p>
        </p:txBody>
      </p:sp>
      <p:sp>
        <p:nvSpPr>
          <p:cNvPr id="307" name="직사각형 306"/>
          <p:cNvSpPr/>
          <p:nvPr/>
        </p:nvSpPr>
        <p:spPr>
          <a:xfrm>
            <a:off x="4447508" y="476412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제소기간</a:t>
            </a:r>
          </a:p>
        </p:txBody>
      </p:sp>
      <p:cxnSp>
        <p:nvCxnSpPr>
          <p:cNvPr id="309" name="꺾인 연결선 308"/>
          <p:cNvCxnSpPr>
            <a:stCxn id="273" idx="3"/>
            <a:endCxn id="304" idx="1"/>
          </p:cNvCxnSpPr>
          <p:nvPr/>
        </p:nvCxnSpPr>
        <p:spPr>
          <a:xfrm>
            <a:off x="4278775" y="4605428"/>
            <a:ext cx="168733" cy="527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꺾인 연결선 309"/>
          <p:cNvCxnSpPr>
            <a:stCxn id="273" idx="3"/>
            <a:endCxn id="307" idx="1"/>
          </p:cNvCxnSpPr>
          <p:nvPr/>
        </p:nvCxnSpPr>
        <p:spPr>
          <a:xfrm>
            <a:off x="4278775" y="4605428"/>
            <a:ext cx="168733" cy="2228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꺾인 연결선 310"/>
          <p:cNvCxnSpPr>
            <a:stCxn id="274" idx="3"/>
            <a:endCxn id="306" idx="1"/>
          </p:cNvCxnSpPr>
          <p:nvPr/>
        </p:nvCxnSpPr>
        <p:spPr>
          <a:xfrm>
            <a:off x="4278775" y="5234342"/>
            <a:ext cx="168733" cy="1682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꺾인 연결선 311"/>
          <p:cNvCxnSpPr>
            <a:stCxn id="275" idx="3"/>
            <a:endCxn id="305" idx="1"/>
          </p:cNvCxnSpPr>
          <p:nvPr/>
        </p:nvCxnSpPr>
        <p:spPr>
          <a:xfrm flipV="1">
            <a:off x="4278775" y="5606011"/>
            <a:ext cx="168733" cy="15935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꺾인 연결선 312"/>
          <p:cNvCxnSpPr>
            <a:stCxn id="300" idx="3"/>
            <a:endCxn id="289" idx="1"/>
          </p:cNvCxnSpPr>
          <p:nvPr/>
        </p:nvCxnSpPr>
        <p:spPr>
          <a:xfrm flipV="1">
            <a:off x="5827575" y="5393209"/>
            <a:ext cx="127039" cy="36917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꺾인 연결선 313"/>
          <p:cNvCxnSpPr>
            <a:stCxn id="300" idx="3"/>
            <a:endCxn id="290" idx="1"/>
          </p:cNvCxnSpPr>
          <p:nvPr/>
        </p:nvCxnSpPr>
        <p:spPr>
          <a:xfrm flipV="1">
            <a:off x="5827575" y="5655273"/>
            <a:ext cx="127039" cy="10711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꺾인 연결선 314"/>
          <p:cNvCxnSpPr>
            <a:stCxn id="300" idx="3"/>
            <a:endCxn id="291" idx="1"/>
          </p:cNvCxnSpPr>
          <p:nvPr/>
        </p:nvCxnSpPr>
        <p:spPr>
          <a:xfrm>
            <a:off x="5827575" y="5762383"/>
            <a:ext cx="127039" cy="5503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꺾인 연결선 315"/>
          <p:cNvCxnSpPr>
            <a:stCxn id="300" idx="3"/>
            <a:endCxn id="292" idx="1"/>
          </p:cNvCxnSpPr>
          <p:nvPr/>
        </p:nvCxnSpPr>
        <p:spPr>
          <a:xfrm>
            <a:off x="5827575" y="5762383"/>
            <a:ext cx="127039" cy="21279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꺾인 연결선 316"/>
          <p:cNvCxnSpPr>
            <a:endCxn id="293" idx="1"/>
          </p:cNvCxnSpPr>
          <p:nvPr/>
        </p:nvCxnSpPr>
        <p:spPr>
          <a:xfrm rot="16200000" flipH="1">
            <a:off x="5802218" y="5983152"/>
            <a:ext cx="293982" cy="10810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직사각형 317"/>
          <p:cNvSpPr/>
          <p:nvPr/>
        </p:nvSpPr>
        <p:spPr>
          <a:xfrm>
            <a:off x="6103431" y="3574465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특허법</a:t>
            </a:r>
            <a:endParaRPr lang="en-US" altLang="ko-KR" dirty="0"/>
          </a:p>
          <a:p>
            <a:pPr algn="ctr"/>
            <a:r>
              <a:rPr lang="ko-KR" altLang="en-US" dirty="0"/>
              <a:t>체계도</a:t>
            </a:r>
          </a:p>
        </p:txBody>
      </p:sp>
      <p:sp>
        <p:nvSpPr>
          <p:cNvPr id="319" name="타원 318"/>
          <p:cNvSpPr/>
          <p:nvPr/>
        </p:nvSpPr>
        <p:spPr>
          <a:xfrm>
            <a:off x="322118" y="268689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20" name="타원 319"/>
          <p:cNvSpPr/>
          <p:nvPr/>
        </p:nvSpPr>
        <p:spPr>
          <a:xfrm>
            <a:off x="262164" y="5316045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321" name="타원 320"/>
          <p:cNvSpPr/>
          <p:nvPr/>
        </p:nvSpPr>
        <p:spPr>
          <a:xfrm>
            <a:off x="7873581" y="5757616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322" name="타원 321"/>
          <p:cNvSpPr/>
          <p:nvPr/>
        </p:nvSpPr>
        <p:spPr>
          <a:xfrm>
            <a:off x="6772900" y="266696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23" name="자유형 322"/>
          <p:cNvSpPr/>
          <p:nvPr/>
        </p:nvSpPr>
        <p:spPr>
          <a:xfrm>
            <a:off x="523875" y="3059642"/>
            <a:ext cx="5571067" cy="1845733"/>
          </a:xfrm>
          <a:custGeom>
            <a:avLst/>
            <a:gdLst>
              <a:gd name="connsiteX0" fmla="*/ 5571067 w 5571067"/>
              <a:gd name="connsiteY0" fmla="*/ 872066 h 1845733"/>
              <a:gd name="connsiteX1" fmla="*/ 3708400 w 5571067"/>
              <a:gd name="connsiteY1" fmla="*/ 872066 h 1845733"/>
              <a:gd name="connsiteX2" fmla="*/ 3708400 w 5571067"/>
              <a:gd name="connsiteY2" fmla="*/ 1244600 h 1845733"/>
              <a:gd name="connsiteX3" fmla="*/ 2853267 w 5571067"/>
              <a:gd name="connsiteY3" fmla="*/ 1244600 h 1845733"/>
              <a:gd name="connsiteX4" fmla="*/ 2853267 w 5571067"/>
              <a:gd name="connsiteY4" fmla="*/ 1845733 h 1845733"/>
              <a:gd name="connsiteX5" fmla="*/ 0 w 5571067"/>
              <a:gd name="connsiteY5" fmla="*/ 1845733 h 1845733"/>
              <a:gd name="connsiteX6" fmla="*/ 0 w 5571067"/>
              <a:gd name="connsiteY6" fmla="*/ 0 h 1845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1067" h="1845733">
                <a:moveTo>
                  <a:pt x="5571067" y="872066"/>
                </a:moveTo>
                <a:lnTo>
                  <a:pt x="3708400" y="872066"/>
                </a:lnTo>
                <a:lnTo>
                  <a:pt x="3708400" y="1244600"/>
                </a:lnTo>
                <a:lnTo>
                  <a:pt x="2853267" y="1244600"/>
                </a:lnTo>
                <a:lnTo>
                  <a:pt x="2853267" y="1845733"/>
                </a:lnTo>
                <a:lnTo>
                  <a:pt x="0" y="1845733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4" name="자유형 323"/>
          <p:cNvSpPr/>
          <p:nvPr/>
        </p:nvSpPr>
        <p:spPr>
          <a:xfrm>
            <a:off x="422275" y="4905375"/>
            <a:ext cx="84667" cy="397933"/>
          </a:xfrm>
          <a:custGeom>
            <a:avLst/>
            <a:gdLst>
              <a:gd name="connsiteX0" fmla="*/ 84667 w 84667"/>
              <a:gd name="connsiteY0" fmla="*/ 0 h 397933"/>
              <a:gd name="connsiteX1" fmla="*/ 0 w 84667"/>
              <a:gd name="connsiteY1" fmla="*/ 0 h 397933"/>
              <a:gd name="connsiteX2" fmla="*/ 0 w 84667"/>
              <a:gd name="connsiteY2" fmla="*/ 397933 h 397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67" h="397933">
                <a:moveTo>
                  <a:pt x="84667" y="0"/>
                </a:moveTo>
                <a:lnTo>
                  <a:pt x="0" y="0"/>
                </a:lnTo>
                <a:lnTo>
                  <a:pt x="0" y="397933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5" name="자유형 324"/>
          <p:cNvSpPr/>
          <p:nvPr/>
        </p:nvSpPr>
        <p:spPr>
          <a:xfrm>
            <a:off x="6569075" y="2839508"/>
            <a:ext cx="186267" cy="745067"/>
          </a:xfrm>
          <a:custGeom>
            <a:avLst/>
            <a:gdLst>
              <a:gd name="connsiteX0" fmla="*/ 0 w 186267"/>
              <a:gd name="connsiteY0" fmla="*/ 745067 h 745067"/>
              <a:gd name="connsiteX1" fmla="*/ 0 w 186267"/>
              <a:gd name="connsiteY1" fmla="*/ 745067 h 745067"/>
              <a:gd name="connsiteX2" fmla="*/ 0 w 186267"/>
              <a:gd name="connsiteY2" fmla="*/ 0 h 745067"/>
              <a:gd name="connsiteX3" fmla="*/ 186267 w 186267"/>
              <a:gd name="connsiteY3" fmla="*/ 0 h 745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267" h="745067">
                <a:moveTo>
                  <a:pt x="0" y="745067"/>
                </a:moveTo>
                <a:lnTo>
                  <a:pt x="0" y="745067"/>
                </a:lnTo>
                <a:lnTo>
                  <a:pt x="0" y="0"/>
                </a:lnTo>
                <a:lnTo>
                  <a:pt x="186267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6" name="자유형 325"/>
          <p:cNvSpPr/>
          <p:nvPr/>
        </p:nvSpPr>
        <p:spPr>
          <a:xfrm>
            <a:off x="6577542" y="4498975"/>
            <a:ext cx="1498600" cy="1244600"/>
          </a:xfrm>
          <a:custGeom>
            <a:avLst/>
            <a:gdLst>
              <a:gd name="connsiteX0" fmla="*/ 0 w 1498600"/>
              <a:gd name="connsiteY0" fmla="*/ 0 h 1244600"/>
              <a:gd name="connsiteX1" fmla="*/ 0 w 1498600"/>
              <a:gd name="connsiteY1" fmla="*/ 423333 h 1244600"/>
              <a:gd name="connsiteX2" fmla="*/ 1498600 w 1498600"/>
              <a:gd name="connsiteY2" fmla="*/ 423333 h 1244600"/>
              <a:gd name="connsiteX3" fmla="*/ 1498600 w 1498600"/>
              <a:gd name="connsiteY3" fmla="*/ 1244600 h 124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8600" h="1244600">
                <a:moveTo>
                  <a:pt x="0" y="0"/>
                </a:moveTo>
                <a:lnTo>
                  <a:pt x="0" y="423333"/>
                </a:lnTo>
                <a:lnTo>
                  <a:pt x="1498600" y="423333"/>
                </a:lnTo>
                <a:lnTo>
                  <a:pt x="1498600" y="12446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9B6DE0DF-BFFF-497F-9FD1-C58A8CA97621}"/>
              </a:ext>
            </a:extLst>
          </p:cNvPr>
          <p:cNvSpPr/>
          <p:nvPr/>
        </p:nvSpPr>
        <p:spPr>
          <a:xfrm>
            <a:off x="8500191" y="3384273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관련</a:t>
            </a:r>
          </a:p>
        </p:txBody>
      </p:sp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A6BC253F-D9C4-4A98-984C-D8D62D28E8E9}"/>
              </a:ext>
            </a:extLst>
          </p:cNvPr>
          <p:cNvSpPr/>
          <p:nvPr/>
        </p:nvSpPr>
        <p:spPr>
          <a:xfrm>
            <a:off x="9363869" y="3290897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타절차와의 관계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164)</a:t>
            </a:r>
            <a:endParaRPr lang="ko-KR" altLang="en-US" sz="1000" dirty="0"/>
          </a:p>
        </p:txBody>
      </p: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855EA2A3-2862-42AE-AC8B-FB8E8761530B}"/>
              </a:ext>
            </a:extLst>
          </p:cNvPr>
          <p:cNvSpPr/>
          <p:nvPr/>
        </p:nvSpPr>
        <p:spPr>
          <a:xfrm>
            <a:off x="9363869" y="372062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심판비용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165, 166)</a:t>
            </a:r>
            <a:endParaRPr lang="ko-KR" altLang="en-US" sz="1000" dirty="0"/>
          </a:p>
        </p:txBody>
      </p:sp>
      <p:cxnSp>
        <p:nvCxnSpPr>
          <p:cNvPr id="329" name="꺾인 연결선 244">
            <a:extLst>
              <a:ext uri="{FF2B5EF4-FFF2-40B4-BE49-F238E27FC236}">
                <a16:creationId xmlns:a16="http://schemas.microsoft.com/office/drawing/2014/main" id="{A54F89B3-B4E9-4E0A-BB23-C1DB0F7A25D8}"/>
              </a:ext>
            </a:extLst>
          </p:cNvPr>
          <p:cNvCxnSpPr>
            <a:cxnSpLocks/>
            <a:stCxn id="294" idx="3"/>
            <a:endCxn id="308" idx="1"/>
          </p:cNvCxnSpPr>
          <p:nvPr/>
        </p:nvCxnSpPr>
        <p:spPr>
          <a:xfrm>
            <a:off x="9210221" y="3469781"/>
            <a:ext cx="151225" cy="1077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꺾인 연결선 245">
            <a:extLst>
              <a:ext uri="{FF2B5EF4-FFF2-40B4-BE49-F238E27FC236}">
                <a16:creationId xmlns:a16="http://schemas.microsoft.com/office/drawing/2014/main" id="{48543D6B-7C92-4D3D-B213-6D84DC780C17}"/>
              </a:ext>
            </a:extLst>
          </p:cNvPr>
          <p:cNvCxnSpPr>
            <a:cxnSpLocks/>
            <a:stCxn id="294" idx="3"/>
            <a:endCxn id="328" idx="1"/>
          </p:cNvCxnSpPr>
          <p:nvPr/>
        </p:nvCxnSpPr>
        <p:spPr>
          <a:xfrm>
            <a:off x="9210221" y="3469781"/>
            <a:ext cx="153648" cy="32012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B370871F-6F80-4244-8543-0634A44D09BD}"/>
              </a:ext>
            </a:extLst>
          </p:cNvPr>
          <p:cNvCxnSpPr>
            <a:stCxn id="205" idx="3"/>
            <a:endCxn id="294" idx="1"/>
          </p:cNvCxnSpPr>
          <p:nvPr/>
        </p:nvCxnSpPr>
        <p:spPr>
          <a:xfrm>
            <a:off x="8336650" y="2489931"/>
            <a:ext cx="163541" cy="9798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CCF75EB5-ACDA-45AD-A3D7-EAD9647556E3}"/>
              </a:ext>
            </a:extLst>
          </p:cNvPr>
          <p:cNvSpPr/>
          <p:nvPr/>
        </p:nvSpPr>
        <p:spPr>
          <a:xfrm>
            <a:off x="9358843" y="1365202"/>
            <a:ext cx="2333212" cy="2884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국선대리인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전문심리위원 및 참고인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法 </a:t>
            </a:r>
            <a:r>
              <a:rPr lang="en-US" altLang="ko-KR" sz="900" dirty="0">
                <a:solidFill>
                  <a:schemeClr val="tx1"/>
                </a:solidFill>
              </a:rPr>
              <a:t>139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3)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FBCE5317-4D8A-4C1C-92B6-ECD14431C289}"/>
              </a:ext>
            </a:extLst>
          </p:cNvPr>
          <p:cNvSpPr/>
          <p:nvPr/>
        </p:nvSpPr>
        <p:spPr>
          <a:xfrm>
            <a:off x="9361446" y="3486404"/>
            <a:ext cx="2330609" cy="1822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조정위원회 회부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164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31" name="꺾인 연결선 245">
            <a:extLst>
              <a:ext uri="{FF2B5EF4-FFF2-40B4-BE49-F238E27FC236}">
                <a16:creationId xmlns:a16="http://schemas.microsoft.com/office/drawing/2014/main" id="{8272E89B-C399-461C-82CA-028F1E621707}"/>
              </a:ext>
            </a:extLst>
          </p:cNvPr>
          <p:cNvCxnSpPr>
            <a:cxnSpLocks/>
            <a:stCxn id="294" idx="3"/>
            <a:endCxn id="327" idx="1"/>
          </p:cNvCxnSpPr>
          <p:nvPr/>
        </p:nvCxnSpPr>
        <p:spPr>
          <a:xfrm flipV="1">
            <a:off x="9210221" y="3360176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183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42808"/>
              </p:ext>
            </p:extLst>
          </p:nvPr>
        </p:nvGraphicFramePr>
        <p:xfrm>
          <a:off x="546483" y="2458715"/>
          <a:ext cx="11041222" cy="360234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363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6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8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2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9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08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8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구분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단계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국내대리인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현지대리인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관납료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09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PCT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출원단계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200~400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160~250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360~650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1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</a:t>
                      </a: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조 보정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20~50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　</a:t>
                      </a: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20~50</a:t>
                      </a: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7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국제예비심사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7~30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34~53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41~83</a:t>
                      </a: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1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34</a:t>
                      </a: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조 보정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20~50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　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20~50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3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247~530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194~303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441~833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353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개별국</a:t>
                      </a:r>
                      <a:endParaRPr kumimoji="0" lang="en-US" altLang="ko-KR" sz="10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(1</a:t>
                      </a: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국기준</a:t>
                      </a: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번역료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200~400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200~400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81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출원단계</a:t>
                      </a: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80~300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200~800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150~500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430~1600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81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OA</a:t>
                      </a: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20~150</a:t>
                      </a: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200~500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　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220~650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81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등록단계</a:t>
                      </a: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80~200</a:t>
                      </a: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100~500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150~700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330~1400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81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180~550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700~2200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300~1200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1180~3950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721762" y="2197104"/>
            <a:ext cx="8659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단위</a:t>
            </a:r>
            <a:r>
              <a:rPr lang="en-US" altLang="ko-KR" sz="1100" dirty="0">
                <a:latin typeface="+mn-ea"/>
              </a:rPr>
              <a:t>: </a:t>
            </a:r>
            <a:r>
              <a:rPr lang="ko-KR" altLang="en-US" sz="1100" dirty="0">
                <a:latin typeface="+mn-ea"/>
              </a:rPr>
              <a:t>만원</a:t>
            </a:r>
            <a:r>
              <a:rPr lang="en-US" altLang="ko-KR" sz="1100" dirty="0">
                <a:latin typeface="+mn-ea"/>
              </a:rPr>
              <a:t>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77875" y="150012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875" y="976902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한국의 경우 특허등록까지 건당 </a:t>
            </a:r>
            <a:r>
              <a:rPr lang="en-US" altLang="ko-KR" sz="1400" dirty="0">
                <a:solidFill>
                  <a:schemeClr val="tx2"/>
                </a:solidFill>
              </a:rPr>
              <a:t>400~600</a:t>
            </a:r>
            <a:r>
              <a:rPr lang="ko-KR" altLang="en-US" sz="1400" dirty="0">
                <a:solidFill>
                  <a:schemeClr val="tx2"/>
                </a:solidFill>
              </a:rPr>
              <a:t>만원</a:t>
            </a:r>
            <a:r>
              <a:rPr lang="en-US" altLang="ko-KR" sz="1400" dirty="0">
                <a:solidFill>
                  <a:schemeClr val="tx2"/>
                </a:solidFill>
              </a:rPr>
              <a:t>, PCT </a:t>
            </a:r>
            <a:r>
              <a:rPr lang="ko-KR" altLang="en-US" sz="1400" dirty="0">
                <a:solidFill>
                  <a:schemeClr val="tx2"/>
                </a:solidFill>
              </a:rPr>
              <a:t>출원의 경우 </a:t>
            </a:r>
            <a:r>
              <a:rPr lang="en-US" altLang="ko-KR" sz="1400" dirty="0">
                <a:solidFill>
                  <a:schemeClr val="tx2"/>
                </a:solidFill>
              </a:rPr>
              <a:t>400~800</a:t>
            </a:r>
            <a:r>
              <a:rPr lang="ko-KR" altLang="en-US" sz="1400" dirty="0">
                <a:solidFill>
                  <a:schemeClr val="tx2"/>
                </a:solidFill>
              </a:rPr>
              <a:t>만원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개별국가의 경우 특허등록까지 건당 </a:t>
            </a:r>
            <a:r>
              <a:rPr lang="en-US" altLang="ko-KR" sz="1400" dirty="0">
                <a:solidFill>
                  <a:schemeClr val="tx2"/>
                </a:solidFill>
              </a:rPr>
              <a:t>1200~3000</a:t>
            </a:r>
            <a:r>
              <a:rPr lang="ko-KR" altLang="en-US" sz="1400" dirty="0">
                <a:solidFill>
                  <a:schemeClr val="tx2"/>
                </a:solidFill>
              </a:rPr>
              <a:t>만원의 비용이 소용되기 때문에 </a:t>
            </a:r>
            <a:r>
              <a:rPr lang="en-US" altLang="ko-KR" sz="1400" dirty="0">
                <a:solidFill>
                  <a:schemeClr val="tx2"/>
                </a:solidFill>
              </a:rPr>
              <a:t>ROI(Return On Invest)</a:t>
            </a:r>
            <a:r>
              <a:rPr lang="ko-KR" altLang="en-US" sz="1400" dirty="0">
                <a:solidFill>
                  <a:schemeClr val="tx2"/>
                </a:solidFill>
              </a:rPr>
              <a:t>를 고려해야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왜 해외출원전략이 필요한가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541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887409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/>
          <p:cNvCxnSpPr/>
          <p:nvPr/>
        </p:nvCxnSpPr>
        <p:spPr>
          <a:xfrm>
            <a:off x="77875" y="126938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875" y="976902"/>
            <a:ext cx="11936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국가별로 시장이 상이하며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시장은 고정되어 있지 않고 계속 변화되어 가기 때문에 시장을 </a:t>
            </a:r>
            <a:r>
              <a:rPr lang="ko-KR" altLang="en-US" sz="1400" dirty="0" err="1">
                <a:solidFill>
                  <a:schemeClr val="tx2"/>
                </a:solidFill>
              </a:rPr>
              <a:t>정조준할</a:t>
            </a:r>
            <a:r>
              <a:rPr lang="ko-KR" altLang="en-US" sz="1400" dirty="0">
                <a:solidFill>
                  <a:schemeClr val="tx2"/>
                </a:solidFill>
              </a:rPr>
              <a:t> 수 있는 </a:t>
            </a:r>
            <a:r>
              <a:rPr lang="ko-KR" altLang="en-US" sz="1400" dirty="0" err="1">
                <a:solidFill>
                  <a:schemeClr val="tx2"/>
                </a:solidFill>
              </a:rPr>
              <a:t>출원전략이</a:t>
            </a:r>
            <a:r>
              <a:rPr lang="ko-KR" altLang="en-US" sz="1400" dirty="0">
                <a:solidFill>
                  <a:schemeClr val="tx2"/>
                </a:solidFill>
              </a:rPr>
              <a:t> 필요하다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왜 해외출원전략이 필요한가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857214" y="1795927"/>
            <a:ext cx="10477574" cy="2160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0" name="Text Box 25"/>
          <p:cNvSpPr txBox="1">
            <a:spLocks noChangeArrowheads="1"/>
          </p:cNvSpPr>
          <p:nvPr/>
        </p:nvSpPr>
        <p:spPr bwMode="auto">
          <a:xfrm>
            <a:off x="1047715" y="3308096"/>
            <a:ext cx="10096571" cy="500063"/>
          </a:xfrm>
          <a:prstGeom prst="rect">
            <a:avLst/>
          </a:prstGeom>
          <a:solidFill>
            <a:schemeClr val="tx1">
              <a:lumMod val="85000"/>
              <a:lumOff val="15000"/>
              <a:alpha val="79999"/>
            </a:schemeClr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PCT</a:t>
            </a: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를 경유하여 미국에서 특허를 받는 경우 대략 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5</a:t>
            </a: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년의 시간이 필요하다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. 5</a:t>
            </a: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년 후에도 미국에서 특허에 대한 시장이 있을까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? 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2250021" y="1742164"/>
            <a:ext cx="8894264" cy="34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Aft>
                <a:spcPct val="30000"/>
              </a:spcAft>
              <a:buFont typeface="Wingdings" pitchFamily="2" charset="2"/>
              <a:buChar char="§"/>
            </a:pPr>
            <a:endParaRPr lang="en-US" altLang="ko-KR" sz="1400" u="sng" dirty="0">
              <a:solidFill>
                <a:srgbClr val="4D4D4D"/>
              </a:solidFill>
              <a:latin typeface="+mn-ea"/>
            </a:endParaRPr>
          </a:p>
        </p:txBody>
      </p:sp>
      <p:grpSp>
        <p:nvGrpSpPr>
          <p:cNvPr id="12" name="그룹 63"/>
          <p:cNvGrpSpPr/>
          <p:nvPr/>
        </p:nvGrpSpPr>
        <p:grpSpPr>
          <a:xfrm>
            <a:off x="1428717" y="1939943"/>
            <a:ext cx="9245600" cy="1257834"/>
            <a:chOff x="1763713" y="1851411"/>
            <a:chExt cx="6934200" cy="1310118"/>
          </a:xfrm>
        </p:grpSpPr>
        <p:sp>
          <p:nvSpPr>
            <p:cNvPr id="15" name="Line 4"/>
            <p:cNvSpPr>
              <a:spLocks noChangeShapeType="1"/>
            </p:cNvSpPr>
            <p:nvPr/>
          </p:nvSpPr>
          <p:spPr bwMode="auto">
            <a:xfrm>
              <a:off x="1763713" y="2601913"/>
              <a:ext cx="6934200" cy="0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 anchorCtr="1"/>
            <a:lstStyle/>
            <a:p>
              <a:endParaRPr lang="ko-KR" altLang="en-US" sz="1000">
                <a:latin typeface="+mn-ea"/>
              </a:endParaRPr>
            </a:p>
          </p:txBody>
        </p:sp>
        <p:sp>
          <p:nvSpPr>
            <p:cNvPr id="16" name="Line 5"/>
            <p:cNvSpPr>
              <a:spLocks noChangeShapeType="1"/>
            </p:cNvSpPr>
            <p:nvPr/>
          </p:nvSpPr>
          <p:spPr bwMode="auto">
            <a:xfrm>
              <a:off x="2171700" y="2552700"/>
              <a:ext cx="1588" cy="230188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endParaRPr lang="ko-KR" altLang="en-US" sz="1000">
                <a:latin typeface="+mn-ea"/>
              </a:endParaRPr>
            </a:p>
          </p:txBody>
        </p:sp>
        <p:sp>
          <p:nvSpPr>
            <p:cNvPr id="17" name="Text Box 6"/>
            <p:cNvSpPr txBox="1">
              <a:spLocks noChangeArrowheads="1"/>
            </p:cNvSpPr>
            <p:nvPr/>
          </p:nvSpPr>
          <p:spPr bwMode="auto">
            <a:xfrm>
              <a:off x="1763713" y="2744788"/>
              <a:ext cx="792162" cy="2564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ko-KR" altLang="en-US" sz="1000" dirty="0">
                  <a:latin typeface="+mn-ea"/>
                </a:rPr>
                <a:t>한국출원</a:t>
              </a:r>
            </a:p>
          </p:txBody>
        </p:sp>
        <p:sp>
          <p:nvSpPr>
            <p:cNvPr id="18" name="Line 7"/>
            <p:cNvSpPr>
              <a:spLocks noChangeShapeType="1"/>
            </p:cNvSpPr>
            <p:nvPr/>
          </p:nvSpPr>
          <p:spPr bwMode="auto">
            <a:xfrm>
              <a:off x="6153150" y="2528888"/>
              <a:ext cx="1588" cy="230187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9" name="Text Box 11"/>
            <p:cNvSpPr txBox="1">
              <a:spLocks noChangeArrowheads="1"/>
            </p:cNvSpPr>
            <p:nvPr/>
          </p:nvSpPr>
          <p:spPr bwMode="auto">
            <a:xfrm>
              <a:off x="2987675" y="2744788"/>
              <a:ext cx="868363" cy="256455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777777"/>
              </a:solidFill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en-US" altLang="ko-KR" sz="1000">
                  <a:latin typeface="+mn-ea"/>
                </a:rPr>
                <a:t>PCT</a:t>
              </a:r>
              <a:r>
                <a:rPr lang="ko-KR" altLang="en-US" sz="1000">
                  <a:latin typeface="+mn-ea"/>
                </a:rPr>
                <a:t>출원</a:t>
              </a:r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4572000" y="2528888"/>
              <a:ext cx="1588" cy="230187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4211638" y="2744788"/>
              <a:ext cx="792162" cy="4167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ko-KR" altLang="en-US" sz="1000">
                  <a:latin typeface="+mn-ea"/>
                </a:rPr>
                <a:t>미국국내단계진입</a:t>
              </a:r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7234238" y="2528888"/>
              <a:ext cx="1587" cy="230187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23" name="Text Box 18"/>
            <p:cNvSpPr txBox="1">
              <a:spLocks noChangeArrowheads="1"/>
            </p:cNvSpPr>
            <p:nvPr/>
          </p:nvSpPr>
          <p:spPr bwMode="auto">
            <a:xfrm>
              <a:off x="6948488" y="2817813"/>
              <a:ext cx="609600" cy="2564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ko-KR" altLang="en-US" sz="1000">
                  <a:latin typeface="+mn-ea"/>
                </a:rPr>
                <a:t>등록</a:t>
              </a:r>
            </a:p>
          </p:txBody>
        </p:sp>
        <p:sp>
          <p:nvSpPr>
            <p:cNvPr id="24" name="Line 31"/>
            <p:cNvSpPr>
              <a:spLocks noChangeShapeType="1"/>
            </p:cNvSpPr>
            <p:nvPr/>
          </p:nvSpPr>
          <p:spPr bwMode="auto">
            <a:xfrm>
              <a:off x="3419475" y="2528888"/>
              <a:ext cx="0" cy="215900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25" name="Text Box 33"/>
            <p:cNvSpPr txBox="1">
              <a:spLocks noChangeArrowheads="1"/>
            </p:cNvSpPr>
            <p:nvPr/>
          </p:nvSpPr>
          <p:spPr bwMode="auto">
            <a:xfrm>
              <a:off x="5867400" y="2817813"/>
              <a:ext cx="609600" cy="2564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en-US" altLang="ko-KR" sz="1000">
                  <a:latin typeface="+mn-ea"/>
                </a:rPr>
                <a:t>OA </a:t>
              </a:r>
              <a:r>
                <a:rPr lang="ko-KR" altLang="en-US" sz="1000">
                  <a:latin typeface="+mn-ea"/>
                </a:rPr>
                <a:t>등</a:t>
              </a:r>
            </a:p>
          </p:txBody>
        </p:sp>
        <p:cxnSp>
          <p:nvCxnSpPr>
            <p:cNvPr id="26" name="AutoShape 34"/>
            <p:cNvCxnSpPr>
              <a:cxnSpLocks noChangeShapeType="1"/>
              <a:stCxn id="16" idx="0"/>
              <a:endCxn id="24" idx="0"/>
            </p:cNvCxnSpPr>
            <p:nvPr/>
          </p:nvCxnSpPr>
          <p:spPr bwMode="auto">
            <a:xfrm rot="16200000">
              <a:off x="2783682" y="1916906"/>
              <a:ext cx="23812" cy="1247775"/>
            </a:xfrm>
            <a:prstGeom prst="curvedConnector3">
              <a:avLst>
                <a:gd name="adj1" fmla="val 960000"/>
              </a:avLst>
            </a:prstGeom>
            <a:noFill/>
            <a:ln w="9525" cap="rnd">
              <a:solidFill>
                <a:srgbClr val="777777"/>
              </a:solidFill>
              <a:prstDash val="sysDot"/>
              <a:round/>
              <a:headEnd/>
              <a:tailEnd/>
            </a:ln>
          </p:spPr>
        </p:cxnSp>
        <p:sp>
          <p:nvSpPr>
            <p:cNvPr id="27" name="Text Box 13"/>
            <p:cNvSpPr txBox="1">
              <a:spLocks noChangeArrowheads="1"/>
            </p:cNvSpPr>
            <p:nvPr/>
          </p:nvSpPr>
          <p:spPr bwMode="auto">
            <a:xfrm>
              <a:off x="2484438" y="2168525"/>
              <a:ext cx="647700" cy="238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777777"/>
              </a:solidFill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en-US" altLang="ko-KR" sz="900">
                  <a:solidFill>
                    <a:schemeClr val="tx1"/>
                  </a:solidFill>
                  <a:latin typeface="+mn-ea"/>
                </a:rPr>
                <a:t>1</a:t>
              </a:r>
              <a:r>
                <a:rPr lang="ko-KR" altLang="en-US" sz="900">
                  <a:solidFill>
                    <a:schemeClr val="tx1"/>
                  </a:solidFill>
                  <a:latin typeface="+mn-ea"/>
                </a:rPr>
                <a:t>년이내</a:t>
              </a:r>
            </a:p>
          </p:txBody>
        </p:sp>
        <p:cxnSp>
          <p:nvCxnSpPr>
            <p:cNvPr id="28" name="AutoShape 35"/>
            <p:cNvCxnSpPr>
              <a:cxnSpLocks noChangeShapeType="1"/>
              <a:stCxn id="16" idx="0"/>
              <a:endCxn id="20" idx="0"/>
            </p:cNvCxnSpPr>
            <p:nvPr/>
          </p:nvCxnSpPr>
          <p:spPr bwMode="auto">
            <a:xfrm rot="16200000">
              <a:off x="3359944" y="1340644"/>
              <a:ext cx="23812" cy="2400300"/>
            </a:xfrm>
            <a:prstGeom prst="curvedConnector3">
              <a:avLst>
                <a:gd name="adj1" fmla="val 2350779"/>
              </a:avLst>
            </a:prstGeom>
            <a:noFill/>
            <a:ln w="9525" cap="rnd">
              <a:solidFill>
                <a:srgbClr val="777777"/>
              </a:solidFill>
              <a:prstDash val="sysDot"/>
              <a:round/>
              <a:headEnd/>
              <a:tailEnd/>
            </a:ln>
          </p:spPr>
        </p:cxnSp>
        <p:sp>
          <p:nvSpPr>
            <p:cNvPr id="29" name="Text Box 36"/>
            <p:cNvSpPr txBox="1">
              <a:spLocks noChangeArrowheads="1"/>
            </p:cNvSpPr>
            <p:nvPr/>
          </p:nvSpPr>
          <p:spPr bwMode="auto">
            <a:xfrm>
              <a:off x="3059113" y="1864532"/>
              <a:ext cx="647700" cy="238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777777"/>
              </a:solidFill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en-US" altLang="ko-KR" sz="900" dirty="0">
                  <a:solidFill>
                    <a:schemeClr val="tx1"/>
                  </a:solidFill>
                  <a:latin typeface="+mn-ea"/>
                </a:rPr>
                <a:t>30</a:t>
              </a:r>
              <a:r>
                <a:rPr lang="ko-KR" altLang="en-US" sz="900" dirty="0">
                  <a:solidFill>
                    <a:schemeClr val="tx1"/>
                  </a:solidFill>
                  <a:latin typeface="+mn-ea"/>
                </a:rPr>
                <a:t>개월</a:t>
              </a:r>
            </a:p>
          </p:txBody>
        </p:sp>
        <p:cxnSp>
          <p:nvCxnSpPr>
            <p:cNvPr id="30" name="AutoShape 37"/>
            <p:cNvCxnSpPr>
              <a:cxnSpLocks noChangeShapeType="1"/>
              <a:stCxn id="20" idx="0"/>
              <a:endCxn id="18" idx="0"/>
            </p:cNvCxnSpPr>
            <p:nvPr/>
          </p:nvCxnSpPr>
          <p:spPr bwMode="auto">
            <a:xfrm rot="5400000" flipV="1">
              <a:off x="5361781" y="1739107"/>
              <a:ext cx="1587" cy="1581150"/>
            </a:xfrm>
            <a:prstGeom prst="curvedConnector3">
              <a:avLst>
                <a:gd name="adj1" fmla="val -14400005"/>
              </a:avLst>
            </a:prstGeom>
            <a:noFill/>
            <a:ln w="9525" cap="rnd">
              <a:solidFill>
                <a:srgbClr val="777777"/>
              </a:solidFill>
              <a:prstDash val="sysDot"/>
              <a:round/>
              <a:headEnd/>
              <a:tailEnd/>
            </a:ln>
          </p:spPr>
        </p:cxnSp>
        <p:sp>
          <p:nvSpPr>
            <p:cNvPr id="31" name="Text Box 38"/>
            <p:cNvSpPr txBox="1">
              <a:spLocks noChangeArrowheads="1"/>
            </p:cNvSpPr>
            <p:nvPr/>
          </p:nvSpPr>
          <p:spPr bwMode="auto">
            <a:xfrm>
              <a:off x="5003800" y="2168525"/>
              <a:ext cx="936625" cy="238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777777"/>
              </a:solidFill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ko-KR" altLang="en-US" sz="900">
                  <a:solidFill>
                    <a:schemeClr val="tx1"/>
                  </a:solidFill>
                  <a:latin typeface="+mn-ea"/>
                </a:rPr>
                <a:t>평균</a:t>
              </a:r>
              <a:r>
                <a:rPr lang="en-US" altLang="ko-KR" sz="900">
                  <a:solidFill>
                    <a:schemeClr val="tx1"/>
                  </a:solidFill>
                  <a:latin typeface="+mn-ea"/>
                </a:rPr>
                <a:t>25.6</a:t>
              </a:r>
              <a:r>
                <a:rPr lang="ko-KR" altLang="en-US" sz="900">
                  <a:solidFill>
                    <a:schemeClr val="tx1"/>
                  </a:solidFill>
                  <a:latin typeface="+mn-ea"/>
                </a:rPr>
                <a:t>개월</a:t>
              </a:r>
            </a:p>
          </p:txBody>
        </p:sp>
        <p:cxnSp>
          <p:nvCxnSpPr>
            <p:cNvPr id="32" name="AutoShape 39"/>
            <p:cNvCxnSpPr>
              <a:cxnSpLocks noChangeShapeType="1"/>
              <a:stCxn id="20" idx="0"/>
              <a:endCxn id="22" idx="0"/>
            </p:cNvCxnSpPr>
            <p:nvPr/>
          </p:nvCxnSpPr>
          <p:spPr bwMode="auto">
            <a:xfrm rot="5400000" flipV="1">
              <a:off x="5902325" y="1198563"/>
              <a:ext cx="1587" cy="2662238"/>
            </a:xfrm>
            <a:prstGeom prst="curvedConnector3">
              <a:avLst>
                <a:gd name="adj1" fmla="val -34130326"/>
              </a:avLst>
            </a:prstGeom>
            <a:noFill/>
            <a:ln w="9525" cap="rnd">
              <a:solidFill>
                <a:srgbClr val="777777"/>
              </a:solidFill>
              <a:prstDash val="sysDot"/>
              <a:round/>
              <a:headEnd/>
              <a:tailEnd/>
            </a:ln>
          </p:spPr>
        </p:cxnSp>
        <p:sp>
          <p:nvSpPr>
            <p:cNvPr id="33" name="Text Box 40"/>
            <p:cNvSpPr txBox="1">
              <a:spLocks noChangeArrowheads="1"/>
            </p:cNvSpPr>
            <p:nvPr/>
          </p:nvSpPr>
          <p:spPr bwMode="auto">
            <a:xfrm>
              <a:off x="5651500" y="1851411"/>
              <a:ext cx="1008063" cy="238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777777"/>
              </a:solidFill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ko-KR" altLang="en-US" sz="900">
                  <a:solidFill>
                    <a:schemeClr val="tx1"/>
                  </a:solidFill>
                  <a:latin typeface="+mn-ea"/>
                </a:rPr>
                <a:t>평균</a:t>
              </a:r>
              <a:r>
                <a:rPr lang="en-US" altLang="ko-KR" sz="900">
                  <a:solidFill>
                    <a:schemeClr val="tx1"/>
                  </a:solidFill>
                  <a:latin typeface="+mn-ea"/>
                </a:rPr>
                <a:t>32.2</a:t>
              </a:r>
              <a:r>
                <a:rPr lang="ko-KR" altLang="en-US" sz="900">
                  <a:solidFill>
                    <a:schemeClr val="tx1"/>
                  </a:solidFill>
                  <a:latin typeface="+mn-ea"/>
                </a:rPr>
                <a:t>개월</a:t>
              </a:r>
            </a:p>
          </p:txBody>
        </p:sp>
      </p:grpSp>
      <p:sp>
        <p:nvSpPr>
          <p:cNvPr id="34" name="Freeform 31"/>
          <p:cNvSpPr>
            <a:spLocks/>
          </p:cNvSpPr>
          <p:nvPr/>
        </p:nvSpPr>
        <p:spPr bwMode="auto">
          <a:xfrm rot="1038601">
            <a:off x="3695142" y="4609722"/>
            <a:ext cx="1848492" cy="670914"/>
          </a:xfrm>
          <a:custGeom>
            <a:avLst/>
            <a:gdLst>
              <a:gd name="T0" fmla="*/ 0 w 1361"/>
              <a:gd name="T1" fmla="*/ 2147483647 h 408"/>
              <a:gd name="T2" fmla="*/ 2147483647 w 1361"/>
              <a:gd name="T3" fmla="*/ 0 h 408"/>
              <a:gd name="T4" fmla="*/ 2147483647 w 1361"/>
              <a:gd name="T5" fmla="*/ 2147483647 h 408"/>
              <a:gd name="T6" fmla="*/ 0 60000 65536"/>
              <a:gd name="T7" fmla="*/ 0 60000 65536"/>
              <a:gd name="T8" fmla="*/ 0 60000 65536"/>
              <a:gd name="T9" fmla="*/ 0 w 1361"/>
              <a:gd name="T10" fmla="*/ 0 h 408"/>
              <a:gd name="T11" fmla="*/ 1361 w 1361"/>
              <a:gd name="T12" fmla="*/ 408 h 4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1" h="408">
                <a:moveTo>
                  <a:pt x="0" y="408"/>
                </a:moveTo>
                <a:cubicBezTo>
                  <a:pt x="204" y="204"/>
                  <a:pt x="408" y="0"/>
                  <a:pt x="635" y="0"/>
                </a:cubicBezTo>
                <a:cubicBezTo>
                  <a:pt x="862" y="0"/>
                  <a:pt x="1233" y="340"/>
                  <a:pt x="1361" y="408"/>
                </a:cubicBezTo>
              </a:path>
            </a:pathLst>
          </a:cu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anchor="ctr" anchorCtr="1"/>
          <a:lstStyle/>
          <a:p>
            <a:endParaRPr lang="ko-KR" altLang="en-US">
              <a:latin typeface="+mn-ea"/>
            </a:endParaRPr>
          </a:p>
        </p:txBody>
      </p:sp>
      <p:sp>
        <p:nvSpPr>
          <p:cNvPr id="35" name="Freeform 32"/>
          <p:cNvSpPr>
            <a:spLocks/>
          </p:cNvSpPr>
          <p:nvPr/>
        </p:nvSpPr>
        <p:spPr bwMode="auto">
          <a:xfrm rot="521027">
            <a:off x="3652302" y="4637018"/>
            <a:ext cx="5004059" cy="798903"/>
          </a:xfrm>
          <a:custGeom>
            <a:avLst/>
            <a:gdLst>
              <a:gd name="T0" fmla="*/ 0 w 1361"/>
              <a:gd name="T1" fmla="*/ 2147483647 h 408"/>
              <a:gd name="T2" fmla="*/ 2147483647 w 1361"/>
              <a:gd name="T3" fmla="*/ 0 h 408"/>
              <a:gd name="T4" fmla="*/ 2147483647 w 1361"/>
              <a:gd name="T5" fmla="*/ 2147483647 h 408"/>
              <a:gd name="T6" fmla="*/ 0 60000 65536"/>
              <a:gd name="T7" fmla="*/ 0 60000 65536"/>
              <a:gd name="T8" fmla="*/ 0 60000 65536"/>
              <a:gd name="T9" fmla="*/ 0 w 1361"/>
              <a:gd name="T10" fmla="*/ 0 h 408"/>
              <a:gd name="T11" fmla="*/ 1361 w 1361"/>
              <a:gd name="T12" fmla="*/ 408 h 4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1" h="408">
                <a:moveTo>
                  <a:pt x="0" y="408"/>
                </a:moveTo>
                <a:cubicBezTo>
                  <a:pt x="204" y="204"/>
                  <a:pt x="408" y="0"/>
                  <a:pt x="635" y="0"/>
                </a:cubicBezTo>
                <a:cubicBezTo>
                  <a:pt x="862" y="0"/>
                  <a:pt x="1233" y="340"/>
                  <a:pt x="1361" y="408"/>
                </a:cubicBezTo>
              </a:path>
            </a:pathLst>
          </a:cu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anchor="ctr" anchorCtr="1"/>
          <a:lstStyle/>
          <a:p>
            <a:endParaRPr lang="ko-KR" altLang="en-US">
              <a:latin typeface="+mn-ea"/>
            </a:endParaRPr>
          </a:p>
        </p:txBody>
      </p:sp>
      <p:pic>
        <p:nvPicPr>
          <p:cNvPr id="36" name="Picture 3" descr="MCj0421542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22532" y="4740445"/>
            <a:ext cx="1473135" cy="1237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" name="Freeform 26"/>
          <p:cNvSpPr>
            <a:spLocks/>
          </p:cNvSpPr>
          <p:nvPr/>
        </p:nvSpPr>
        <p:spPr bwMode="auto">
          <a:xfrm rot="467151">
            <a:off x="3722027" y="4743752"/>
            <a:ext cx="6184549" cy="668992"/>
          </a:xfrm>
          <a:custGeom>
            <a:avLst/>
            <a:gdLst>
              <a:gd name="T0" fmla="*/ 0 w 1361"/>
              <a:gd name="T1" fmla="*/ 2147483647 h 408"/>
              <a:gd name="T2" fmla="*/ 2147483647 w 1361"/>
              <a:gd name="T3" fmla="*/ 0 h 408"/>
              <a:gd name="T4" fmla="*/ 2147483647 w 1361"/>
              <a:gd name="T5" fmla="*/ 2147483647 h 408"/>
              <a:gd name="T6" fmla="*/ 0 60000 65536"/>
              <a:gd name="T7" fmla="*/ 0 60000 65536"/>
              <a:gd name="T8" fmla="*/ 0 60000 65536"/>
              <a:gd name="T9" fmla="*/ 0 w 1361"/>
              <a:gd name="T10" fmla="*/ 0 h 408"/>
              <a:gd name="T11" fmla="*/ 1361 w 1361"/>
              <a:gd name="T12" fmla="*/ 408 h 4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1" h="408">
                <a:moveTo>
                  <a:pt x="0" y="408"/>
                </a:moveTo>
                <a:cubicBezTo>
                  <a:pt x="204" y="204"/>
                  <a:pt x="408" y="0"/>
                  <a:pt x="635" y="0"/>
                </a:cubicBezTo>
                <a:cubicBezTo>
                  <a:pt x="862" y="0"/>
                  <a:pt x="1233" y="340"/>
                  <a:pt x="1361" y="408"/>
                </a:cubicBezTo>
              </a:path>
            </a:pathLst>
          </a:cu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anchor="ctr" anchorCtr="1"/>
          <a:lstStyle/>
          <a:p>
            <a:endParaRPr lang="ko-KR" altLang="en-US">
              <a:latin typeface="+mn-ea"/>
            </a:endParaRPr>
          </a:p>
        </p:txBody>
      </p:sp>
      <p:pic>
        <p:nvPicPr>
          <p:cNvPr id="38" name="Picture 4" descr="j0283267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5228828" y="5217627"/>
            <a:ext cx="1026152" cy="573986"/>
          </a:xfrm>
          <a:prstGeom prst="roundRect">
            <a:avLst>
              <a:gd name="adj" fmla="val 6980"/>
            </a:avLst>
          </a:prstGeom>
          <a:noFill/>
        </p:spPr>
      </p:pic>
      <p:pic>
        <p:nvPicPr>
          <p:cNvPr id="39" name="Picture 27" descr="j0283267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8851017" y="5302512"/>
            <a:ext cx="1027783" cy="573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" name="Picture 28" descr="j0283267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6408810" y="5302512"/>
            <a:ext cx="1027783" cy="573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" name="Picture 29" descr="j0283267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7666620" y="5302512"/>
            <a:ext cx="1027783" cy="573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" name="TextBox 41"/>
          <p:cNvSpPr txBox="1"/>
          <p:nvPr/>
        </p:nvSpPr>
        <p:spPr>
          <a:xfrm>
            <a:off x="4742812" y="4897866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latin typeface="+mn-ea"/>
              </a:rPr>
              <a:t>한국특허</a:t>
            </a:r>
            <a:endParaRPr lang="ko-KR" altLang="en-US" sz="1200" dirty="0">
              <a:latin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136842" y="5833970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+mn-ea"/>
              </a:rPr>
              <a:t>한국 시장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22416" y="5905978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+mn-ea"/>
              </a:rPr>
              <a:t>미국 시장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9972" y="5905978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+mn-ea"/>
              </a:rPr>
              <a:t>중국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시장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70688" y="5905978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+mn-ea"/>
              </a:rPr>
              <a:t>유럽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시장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50924" y="4897866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+mn-ea"/>
              </a:rPr>
              <a:t>미국특허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15020" y="4897866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+mn-ea"/>
              </a:rPr>
              <a:t>중국특허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23132" y="4897866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+mn-ea"/>
              </a:rPr>
              <a:t>유럽특허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542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74228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/>
          <p:cNvCxnSpPr/>
          <p:nvPr/>
        </p:nvCxnSpPr>
        <p:spPr>
          <a:xfrm>
            <a:off x="77875" y="126938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875" y="976902"/>
            <a:ext cx="11936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특허는 항상 무효화 가능성을 내포하고 있기 때문에</a:t>
            </a:r>
            <a:r>
              <a:rPr lang="en-US" altLang="ko-KR" sz="1400" dirty="0">
                <a:solidFill>
                  <a:schemeClr val="tx2"/>
                </a:solidFill>
              </a:rPr>
              <a:t>, 1~2</a:t>
            </a:r>
            <a:r>
              <a:rPr lang="ko-KR" altLang="en-US" sz="1400" dirty="0">
                <a:solidFill>
                  <a:schemeClr val="tx2"/>
                </a:solidFill>
              </a:rPr>
              <a:t>건의 특허에 의해서 침해소송에서 승소하기는 어렵다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강력한 특허포트폴리오를 구축해야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왜 해외출원전략이 필요한가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0" name="모서리가 둥근 직사각형 49"/>
          <p:cNvSpPr/>
          <p:nvPr/>
        </p:nvSpPr>
        <p:spPr bwMode="auto">
          <a:xfrm>
            <a:off x="548901" y="2492896"/>
            <a:ext cx="5048249" cy="3600400"/>
          </a:xfrm>
          <a:prstGeom prst="round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0000" tIns="46800" rIns="90000" bIns="46800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b="0" kern="0">
              <a:solidFill>
                <a:sysClr val="windowText" lastClr="000000"/>
              </a:solidFill>
              <a:latin typeface="+mn-ea"/>
              <a:cs typeface="Arial" charset="0"/>
            </a:endParaRPr>
          </a:p>
        </p:txBody>
      </p:sp>
      <p:cxnSp>
        <p:nvCxnSpPr>
          <p:cNvPr id="51" name="직선 화살표 연결선 50"/>
          <p:cNvCxnSpPr/>
          <p:nvPr/>
        </p:nvCxnSpPr>
        <p:spPr bwMode="auto">
          <a:xfrm>
            <a:off x="1768100" y="5266208"/>
            <a:ext cx="3155949" cy="0"/>
          </a:xfrm>
          <a:prstGeom prst="straightConnector1">
            <a:avLst/>
          </a:prstGeom>
          <a:noFill/>
          <a:ln w="38100" cap="flat" cmpd="sng" algn="ctr">
            <a:solidFill>
              <a:srgbClr val="C0504D"/>
            </a:solidFill>
            <a:prstDash val="solid"/>
            <a:headEnd type="none" w="med" len="me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52" name="직선 화살표 연결선 51"/>
          <p:cNvCxnSpPr/>
          <p:nvPr/>
        </p:nvCxnSpPr>
        <p:spPr bwMode="auto">
          <a:xfrm rot="5400000" flipH="1" flipV="1">
            <a:off x="702096" y="4226926"/>
            <a:ext cx="2111375" cy="2117"/>
          </a:xfrm>
          <a:prstGeom prst="straightConnector1">
            <a:avLst/>
          </a:prstGeom>
          <a:noFill/>
          <a:ln w="38100" cap="flat" cmpd="sng" algn="ctr">
            <a:solidFill>
              <a:srgbClr val="C0504D"/>
            </a:solidFill>
            <a:prstDash val="solid"/>
            <a:headEnd type="none" w="med" len="me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53" name="TextBox 52"/>
          <p:cNvSpPr txBox="1"/>
          <p:nvPr/>
        </p:nvSpPr>
        <p:spPr>
          <a:xfrm>
            <a:off x="1502848" y="2863970"/>
            <a:ext cx="59824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0" kern="0" dirty="0">
                <a:solidFill>
                  <a:srgbClr val="C00000"/>
                </a:solidFill>
                <a:latin typeface="+mn-ea"/>
                <a:cs typeface="Arial" charset="0"/>
              </a:rPr>
              <a:t>완벽성</a:t>
            </a:r>
          </a:p>
        </p:txBody>
      </p:sp>
      <p:sp>
        <p:nvSpPr>
          <p:cNvPr id="54" name="자유형 53"/>
          <p:cNvSpPr/>
          <p:nvPr/>
        </p:nvSpPr>
        <p:spPr bwMode="auto">
          <a:xfrm>
            <a:off x="1799850" y="3789040"/>
            <a:ext cx="3045884" cy="1459706"/>
          </a:xfrm>
          <a:custGeom>
            <a:avLst/>
            <a:gdLst>
              <a:gd name="connsiteX0" fmla="*/ 0 w 3585029"/>
              <a:gd name="connsiteY0" fmla="*/ 2322286 h 2322286"/>
              <a:gd name="connsiteX1" fmla="*/ 1509486 w 3585029"/>
              <a:gd name="connsiteY1" fmla="*/ 435428 h 2322286"/>
              <a:gd name="connsiteX2" fmla="*/ 3585029 w 3585029"/>
              <a:gd name="connsiteY2" fmla="*/ 0 h 232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5029" h="2322286">
                <a:moveTo>
                  <a:pt x="0" y="2322286"/>
                </a:moveTo>
                <a:cubicBezTo>
                  <a:pt x="455990" y="1572381"/>
                  <a:pt x="911981" y="822476"/>
                  <a:pt x="1509486" y="435428"/>
                </a:cubicBezTo>
                <a:cubicBezTo>
                  <a:pt x="2106991" y="48380"/>
                  <a:pt x="2846010" y="24190"/>
                  <a:pt x="3585029" y="0"/>
                </a:cubicBezTo>
              </a:path>
            </a:pathLst>
          </a:custGeom>
          <a:noFill/>
          <a:ln w="76200" cap="flat" cmpd="sng" algn="ctr">
            <a:solidFill>
              <a:srgbClr val="4BACC6">
                <a:lumMod val="50000"/>
              </a:srgbClr>
            </a:solidFill>
            <a:prstDash val="solid"/>
            <a:headEnd type="none" w="med" len="med"/>
            <a:tailEnd type="non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b="0" kern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55" name="직선 연결선 54"/>
          <p:cNvCxnSpPr/>
          <p:nvPr/>
        </p:nvCxnSpPr>
        <p:spPr bwMode="auto">
          <a:xfrm>
            <a:off x="1768101" y="3443758"/>
            <a:ext cx="3094567" cy="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ysDot"/>
            <a:headEnd type="none" w="med" len="med"/>
            <a:tailEnd type="non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56" name="TextBox 55"/>
          <p:cNvSpPr txBox="1"/>
          <p:nvPr/>
        </p:nvSpPr>
        <p:spPr>
          <a:xfrm>
            <a:off x="1111170" y="3285008"/>
            <a:ext cx="55175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50" b="0" kern="0" dirty="0">
                <a:solidFill>
                  <a:sysClr val="windowText" lastClr="000000"/>
                </a:solidFill>
                <a:latin typeface="+mn-ea"/>
                <a:cs typeface="Arial" charset="0"/>
              </a:rPr>
              <a:t>100%</a:t>
            </a:r>
            <a:endParaRPr kumimoji="0" lang="ko-KR" altLang="en-US" sz="1050" b="0" kern="0" dirty="0">
              <a:solidFill>
                <a:sysClr val="windowText" lastClr="000000"/>
              </a:solidFill>
              <a:latin typeface="+mn-ea"/>
              <a:cs typeface="Arial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28365" y="4002558"/>
            <a:ext cx="708848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50" b="0" kern="0" dirty="0">
                <a:solidFill>
                  <a:sysClr val="windowText" lastClr="000000"/>
                </a:solidFill>
                <a:latin typeface="+mn-ea"/>
                <a:cs typeface="Arial" charset="0"/>
              </a:rPr>
              <a:t>60~70%</a:t>
            </a:r>
            <a:endParaRPr kumimoji="0" lang="ko-KR" altLang="en-US" sz="1050" b="0" kern="0" dirty="0">
              <a:solidFill>
                <a:sysClr val="windowText" lastClr="000000"/>
              </a:solidFill>
              <a:latin typeface="+mn-ea"/>
              <a:cs typeface="Arial" charset="0"/>
            </a:endParaRPr>
          </a:p>
        </p:txBody>
      </p:sp>
      <p:cxnSp>
        <p:nvCxnSpPr>
          <p:cNvPr id="58" name="직선 연결선 57"/>
          <p:cNvCxnSpPr/>
          <p:nvPr/>
        </p:nvCxnSpPr>
        <p:spPr bwMode="auto">
          <a:xfrm>
            <a:off x="1780801" y="4135908"/>
            <a:ext cx="1058333" cy="793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ysDot"/>
            <a:headEnd type="none" w="med" len="med"/>
            <a:tailEnd type="non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59" name="직선 연결선 58"/>
          <p:cNvCxnSpPr/>
          <p:nvPr/>
        </p:nvCxnSpPr>
        <p:spPr bwMode="auto">
          <a:xfrm rot="16200000" flipH="1">
            <a:off x="2294357" y="4737307"/>
            <a:ext cx="1081087" cy="8467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ysDot"/>
            <a:headEnd type="none" w="med" len="med"/>
            <a:tailEnd type="non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60" name="TextBox 59"/>
          <p:cNvSpPr txBox="1"/>
          <p:nvPr/>
        </p:nvSpPr>
        <p:spPr>
          <a:xfrm>
            <a:off x="4477312" y="5378922"/>
            <a:ext cx="8130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0" kern="0">
                <a:solidFill>
                  <a:srgbClr val="C00000"/>
                </a:solidFill>
                <a:latin typeface="+mn-ea"/>
                <a:cs typeface="Arial" charset="0"/>
              </a:rPr>
              <a:t>비용</a:t>
            </a:r>
            <a:r>
              <a:rPr kumimoji="0" lang="en-US" altLang="ko-KR" sz="1200" b="0" kern="0" dirty="0">
                <a:solidFill>
                  <a:srgbClr val="C00000"/>
                </a:solidFill>
                <a:latin typeface="+mn-ea"/>
                <a:cs typeface="Arial" charset="0"/>
              </a:rPr>
              <a:t>/</a:t>
            </a:r>
            <a:r>
              <a:rPr kumimoji="0" lang="ko-KR" altLang="en-US" sz="1200" b="0" kern="0" dirty="0">
                <a:solidFill>
                  <a:srgbClr val="C00000"/>
                </a:solidFill>
                <a:latin typeface="+mn-ea"/>
                <a:cs typeface="Arial" charset="0"/>
              </a:rPr>
              <a:t>시간</a:t>
            </a:r>
          </a:p>
        </p:txBody>
      </p:sp>
      <p:sp>
        <p:nvSpPr>
          <p:cNvPr id="61" name="곱셈 기호 60"/>
          <p:cNvSpPr/>
          <p:nvPr/>
        </p:nvSpPr>
        <p:spPr bwMode="auto">
          <a:xfrm>
            <a:off x="2492001" y="3864446"/>
            <a:ext cx="666749" cy="571500"/>
          </a:xfrm>
          <a:prstGeom prst="mathMultiply">
            <a:avLst/>
          </a:prstGeom>
          <a:solidFill>
            <a:srgbClr val="C0504D">
              <a:lumMod val="75000"/>
            </a:srgbClr>
          </a:solidFill>
          <a:ln w="28575" cap="flat" cmpd="sng" algn="ctr">
            <a:solidFill>
              <a:srgbClr val="EEECE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b="0" kern="0">
              <a:solidFill>
                <a:sysClr val="windowText" lastClr="000000"/>
              </a:solidFill>
              <a:latin typeface="+mn-ea"/>
              <a:cs typeface="Arial" charset="0"/>
            </a:endParaRPr>
          </a:p>
        </p:txBody>
      </p:sp>
      <p:sp>
        <p:nvSpPr>
          <p:cNvPr id="62" name="AutoShape 300"/>
          <p:cNvSpPr>
            <a:spLocks noChangeArrowheads="1"/>
          </p:cNvSpPr>
          <p:nvPr/>
        </p:nvSpPr>
        <p:spPr bwMode="gray">
          <a:xfrm>
            <a:off x="1220975" y="2276872"/>
            <a:ext cx="2466637" cy="36004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0" latinLnBrk="0" hangingPunct="0"/>
            <a:r>
              <a:rPr lang="ko-KR" altLang="en-US" sz="1600" dirty="0">
                <a:solidFill>
                  <a:schemeClr val="bg1"/>
                </a:solidFill>
                <a:latin typeface="+mn-ea"/>
              </a:rPr>
              <a:t>특허의 완벽성</a:t>
            </a:r>
          </a:p>
        </p:txBody>
      </p:sp>
      <p:graphicFrame>
        <p:nvGraphicFramePr>
          <p:cNvPr id="63" name="표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504390"/>
              </p:ext>
            </p:extLst>
          </p:nvPr>
        </p:nvGraphicFramePr>
        <p:xfrm>
          <a:off x="6096000" y="2778034"/>
          <a:ext cx="5376598" cy="324325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688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8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앰피맨닷컴</a:t>
                      </a:r>
                      <a:endParaRPr lang="ko-KR" altLang="en-US" sz="1600" b="0" dirty="0"/>
                    </a:p>
                  </a:txBody>
                  <a:tcPr marL="121920" marR="1219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프라운호프</a:t>
                      </a:r>
                      <a:endParaRPr lang="ko-KR" altLang="en-US" sz="1600" b="0" dirty="0"/>
                    </a:p>
                  </a:txBody>
                  <a:tcPr marL="121920" marR="1219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3083">
                <a:tc>
                  <a:txBody>
                    <a:bodyPr/>
                    <a:lstStyle/>
                    <a:p>
                      <a:pPr marL="85725" lvl="1" indent="-85725">
                        <a:buFont typeface="Wingdings" pitchFamily="2" charset="2"/>
                        <a:buChar char="§"/>
                        <a:tabLst>
                          <a:tab pos="85725" algn="l"/>
                        </a:tabLst>
                      </a:pPr>
                      <a:endParaRPr lang="en-US" altLang="ko-KR" sz="1200" dirty="0"/>
                    </a:p>
                    <a:p>
                      <a:pPr marL="85725" lvl="1" indent="-85725">
                        <a:buFont typeface="Wingdings" pitchFamily="2" charset="2"/>
                        <a:buChar char="§"/>
                        <a:tabLst>
                          <a:tab pos="85725" algn="l"/>
                        </a:tabLst>
                      </a:pPr>
                      <a:r>
                        <a:rPr lang="en-US" altLang="ko-KR" sz="1200" dirty="0"/>
                        <a:t>MP3</a:t>
                      </a:r>
                      <a:r>
                        <a:rPr lang="ko-KR" altLang="en-US" sz="1200" dirty="0"/>
                        <a:t>에 활용되는 파일 압축기술은 </a:t>
                      </a:r>
                      <a:r>
                        <a:rPr lang="en-US" altLang="ko-KR" sz="1200" dirty="0"/>
                        <a:t>80</a:t>
                      </a:r>
                      <a:r>
                        <a:rPr lang="ko-KR" altLang="en-US" sz="1200" dirty="0"/>
                        <a:t>년대 초 독일의 </a:t>
                      </a:r>
                      <a:r>
                        <a:rPr lang="ko-KR" altLang="en-US" sz="1200" dirty="0" err="1"/>
                        <a:t>프라운호프가</a:t>
                      </a:r>
                      <a:r>
                        <a:rPr lang="ko-KR" altLang="en-US" sz="1200" dirty="0"/>
                        <a:t> 개발했으나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이를 오디오에 활용한 것은 한국 기업이 최초</a:t>
                      </a:r>
                      <a:endParaRPr lang="en-US" altLang="ko-KR" sz="1200" dirty="0"/>
                    </a:p>
                    <a:p>
                      <a:pPr marL="0" lvl="1" indent="0">
                        <a:buFont typeface="Wingdings" pitchFamily="2" charset="2"/>
                        <a:buNone/>
                        <a:tabLst>
                          <a:tab pos="85725" algn="l"/>
                        </a:tabLst>
                      </a:pPr>
                      <a:r>
                        <a:rPr lang="ko-KR" altLang="en-US" sz="1200" dirty="0"/>
                        <a:t> </a:t>
                      </a:r>
                      <a:endParaRPr lang="en-US" altLang="ko-KR" sz="1200" dirty="0"/>
                    </a:p>
                    <a:p>
                      <a:pPr marL="85725" lvl="1" indent="-85725">
                        <a:buFont typeface="Wingdings" pitchFamily="2" charset="2"/>
                        <a:buChar char="§"/>
                        <a:tabLst>
                          <a:tab pos="85725" algn="l"/>
                        </a:tabLst>
                      </a:pPr>
                      <a:r>
                        <a:rPr lang="ko-KR" altLang="en-US" sz="1200" dirty="0"/>
                        <a:t>관련 특허 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건 확보</a:t>
                      </a:r>
                      <a:endParaRPr lang="en-US" altLang="ko-KR" sz="1200" dirty="0"/>
                    </a:p>
                    <a:p>
                      <a:pPr marL="85725" lvl="1" indent="-85725">
                        <a:buFont typeface="Wingdings" pitchFamily="2" charset="2"/>
                        <a:buChar char="§"/>
                        <a:tabLst>
                          <a:tab pos="85725" algn="l"/>
                        </a:tabLst>
                      </a:pPr>
                      <a:endParaRPr lang="en-US" altLang="ko-KR" sz="1200" dirty="0"/>
                    </a:p>
                    <a:p>
                      <a:pPr marL="85725" lvl="1" indent="-85725">
                        <a:buFont typeface="Wingdings" pitchFamily="2" charset="2"/>
                        <a:buChar char="§"/>
                        <a:tabLst>
                          <a:tab pos="85725" algn="l"/>
                        </a:tabLst>
                      </a:pPr>
                      <a:r>
                        <a:rPr lang="ko-KR" altLang="en-US" sz="1200" dirty="0"/>
                        <a:t>후발 주자가 특허 무효 소송으로 대응하며 로열티 지불 거부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85725" lvl="1" indent="-85725">
                        <a:buFont typeface="Wingdings" pitchFamily="2" charset="2"/>
                        <a:buChar char="§"/>
                      </a:pPr>
                      <a:endParaRPr lang="en-US" altLang="ko-KR" sz="1200" dirty="0"/>
                    </a:p>
                    <a:p>
                      <a:pPr marL="85725" lvl="1" indent="-85725">
                        <a:buFont typeface="Wingdings" pitchFamily="2" charset="2"/>
                        <a:buChar char="§"/>
                      </a:pPr>
                      <a:r>
                        <a:rPr lang="en-US" altLang="ko-KR" sz="1200" dirty="0"/>
                        <a:t>MP3</a:t>
                      </a:r>
                      <a:r>
                        <a:rPr lang="ko-KR" altLang="en-US" sz="1200" dirty="0"/>
                        <a:t>에 활용되는 파일 압축기술 개발</a:t>
                      </a:r>
                      <a:endParaRPr lang="en-US" altLang="ko-KR" sz="1200" dirty="0"/>
                    </a:p>
                    <a:p>
                      <a:pPr marL="85725" lvl="1" indent="-85725">
                        <a:buFont typeface="Wingdings" pitchFamily="2" charset="2"/>
                        <a:buChar char="§"/>
                      </a:pPr>
                      <a:endParaRPr lang="en-US" altLang="ko-KR" sz="1200" dirty="0"/>
                    </a:p>
                    <a:p>
                      <a:pPr marL="85725" lvl="1" indent="-85725">
                        <a:buFont typeface="Wingdings" pitchFamily="2" charset="2"/>
                        <a:buChar char="§"/>
                      </a:pPr>
                      <a:r>
                        <a:rPr lang="ko-KR" altLang="en-US" sz="1200" dirty="0"/>
                        <a:t>관련 특허</a:t>
                      </a:r>
                      <a:r>
                        <a:rPr lang="en-US" altLang="ko-KR" sz="1200" dirty="0"/>
                        <a:t> 40</a:t>
                      </a:r>
                      <a:r>
                        <a:rPr lang="ko-KR" altLang="en-US" sz="1200" dirty="0" err="1"/>
                        <a:t>여개</a:t>
                      </a:r>
                      <a:r>
                        <a:rPr lang="ko-KR" altLang="en-US" sz="1200" dirty="0"/>
                        <a:t> 특허 확보</a:t>
                      </a:r>
                      <a:endParaRPr lang="en-US" altLang="ko-KR" sz="1200" dirty="0"/>
                    </a:p>
                    <a:p>
                      <a:pPr marL="85725" lvl="1" indent="-85725">
                        <a:buFont typeface="Wingdings" pitchFamily="2" charset="2"/>
                        <a:buChar char="§"/>
                      </a:pPr>
                      <a:endParaRPr lang="en-US" altLang="ko-KR" sz="1200" dirty="0"/>
                    </a:p>
                    <a:p>
                      <a:pPr marL="85725" lvl="1" indent="-85725">
                        <a:buFont typeface="Wingdings" pitchFamily="2" charset="2"/>
                        <a:buChar char="§"/>
                      </a:pPr>
                      <a:r>
                        <a:rPr lang="en-US" altLang="ko-KR" sz="1200" dirty="0"/>
                        <a:t>MP3 </a:t>
                      </a:r>
                      <a:r>
                        <a:rPr lang="ko-KR" altLang="en-US" sz="1200" dirty="0"/>
                        <a:t>제조업체로부터 대당 </a:t>
                      </a:r>
                      <a:r>
                        <a:rPr lang="en-US" altLang="ko-KR" sz="1200" dirty="0"/>
                        <a:t>25</a:t>
                      </a:r>
                      <a:r>
                        <a:rPr lang="ko-KR" altLang="en-US" sz="1200" dirty="0"/>
                        <a:t>센트</a:t>
                      </a:r>
                      <a:r>
                        <a:rPr lang="en-US" altLang="ko-KR" sz="1200" dirty="0"/>
                        <a:t>~1</a:t>
                      </a:r>
                      <a:r>
                        <a:rPr lang="ko-KR" altLang="en-US" sz="1200" dirty="0"/>
                        <a:t>달러 로열티 지급</a:t>
                      </a:r>
                    </a:p>
                    <a:p>
                      <a:pPr latinLnBrk="1"/>
                      <a:endParaRPr lang="ko-KR" altLang="en-US" sz="1200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4" name="AutoShape 300"/>
          <p:cNvSpPr>
            <a:spLocks noChangeArrowheads="1"/>
          </p:cNvSpPr>
          <p:nvPr/>
        </p:nvSpPr>
        <p:spPr bwMode="gray">
          <a:xfrm>
            <a:off x="7524765" y="2276872"/>
            <a:ext cx="2807100" cy="3600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0" latinLnBrk="0" hangingPunct="0"/>
            <a:r>
              <a:rPr lang="ko-KR" altLang="en-US" sz="1600" dirty="0" err="1">
                <a:solidFill>
                  <a:schemeClr val="bg1"/>
                </a:solidFill>
                <a:latin typeface="+mn-ea"/>
              </a:rPr>
              <a:t>앰피맨닷컴</a:t>
            </a:r>
            <a:r>
              <a:rPr lang="ko-KR" altLang="en-US" sz="16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+mn-ea"/>
              </a:rPr>
              <a:t>vs </a:t>
            </a:r>
            <a:r>
              <a:rPr lang="ko-KR" altLang="en-US" sz="1600" dirty="0" err="1">
                <a:solidFill>
                  <a:schemeClr val="bg1"/>
                </a:solidFill>
                <a:latin typeface="+mn-ea"/>
              </a:rPr>
              <a:t>프라운호프</a:t>
            </a:r>
            <a:endParaRPr lang="ko-KR" altLang="en-US" sz="1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543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18122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다이어그램 5"/>
          <p:cNvGraphicFramePr/>
          <p:nvPr>
            <p:extLst>
              <p:ext uri="{D42A27DB-BD31-4B8C-83A1-F6EECF244321}">
                <p14:modId xmlns:p14="http://schemas.microsoft.com/office/powerpoint/2010/main" val="3891639182"/>
              </p:ext>
            </p:extLst>
          </p:nvPr>
        </p:nvGraphicFramePr>
        <p:xfrm>
          <a:off x="6191103" y="1901058"/>
          <a:ext cx="5664629" cy="33281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자유형 10"/>
          <p:cNvSpPr/>
          <p:nvPr/>
        </p:nvSpPr>
        <p:spPr>
          <a:xfrm>
            <a:off x="2390459" y="1700809"/>
            <a:ext cx="3513519" cy="1177253"/>
          </a:xfrm>
          <a:custGeom>
            <a:avLst/>
            <a:gdLst>
              <a:gd name="connsiteX0" fmla="*/ 0 w 3255154"/>
              <a:gd name="connsiteY0" fmla="*/ 158750 h 1269999"/>
              <a:gd name="connsiteX1" fmla="*/ 2620155 w 3255154"/>
              <a:gd name="connsiteY1" fmla="*/ 158750 h 1269999"/>
              <a:gd name="connsiteX2" fmla="*/ 2620155 w 3255154"/>
              <a:gd name="connsiteY2" fmla="*/ 0 h 1269999"/>
              <a:gd name="connsiteX3" fmla="*/ 3255154 w 3255154"/>
              <a:gd name="connsiteY3" fmla="*/ 635000 h 1269999"/>
              <a:gd name="connsiteX4" fmla="*/ 2620155 w 3255154"/>
              <a:gd name="connsiteY4" fmla="*/ 1269999 h 1269999"/>
              <a:gd name="connsiteX5" fmla="*/ 2620155 w 3255154"/>
              <a:gd name="connsiteY5" fmla="*/ 1111249 h 1269999"/>
              <a:gd name="connsiteX6" fmla="*/ 0 w 3255154"/>
              <a:gd name="connsiteY6" fmla="*/ 1111249 h 1269999"/>
              <a:gd name="connsiteX7" fmla="*/ 0 w 3255154"/>
              <a:gd name="connsiteY7" fmla="*/ 158750 h 126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55154" h="1269999">
                <a:moveTo>
                  <a:pt x="0" y="158750"/>
                </a:moveTo>
                <a:lnTo>
                  <a:pt x="2620155" y="158750"/>
                </a:lnTo>
                <a:lnTo>
                  <a:pt x="2620155" y="0"/>
                </a:lnTo>
                <a:lnTo>
                  <a:pt x="3255154" y="635000"/>
                </a:lnTo>
                <a:lnTo>
                  <a:pt x="2620155" y="1269999"/>
                </a:lnTo>
                <a:lnTo>
                  <a:pt x="2620155" y="1111249"/>
                </a:lnTo>
                <a:lnTo>
                  <a:pt x="0" y="1111249"/>
                </a:lnTo>
                <a:lnTo>
                  <a:pt x="0" y="15875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0" vert="horz" wrap="square" lIns="216000" tIns="166370" rIns="483870" bIns="166370" numCol="1" spcCol="1270" anchor="ctr" anchorCtr="0">
            <a:noAutofit/>
          </a:bodyPr>
          <a:lstStyle/>
          <a:p>
            <a:pPr marL="114300" lvl="1" indent="-114300" algn="l" defTabSz="5334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200" kern="1200" dirty="0">
                <a:solidFill>
                  <a:schemeClr val="tx1"/>
                </a:solidFill>
                <a:latin typeface="+mn-ea"/>
              </a:rPr>
              <a:t>소요되는 시간 및 비용 대비</a:t>
            </a:r>
            <a:br>
              <a:rPr lang="en-US" altLang="ko-KR" sz="1200" kern="1200" dirty="0">
                <a:solidFill>
                  <a:schemeClr val="tx1"/>
                </a:solidFill>
                <a:latin typeface="+mn-ea"/>
              </a:rPr>
            </a:br>
            <a:r>
              <a:rPr lang="ko-KR" altLang="en-US" sz="1200" kern="1200" dirty="0">
                <a:solidFill>
                  <a:schemeClr val="tx1"/>
                </a:solidFill>
                <a:latin typeface="+mn-ea"/>
              </a:rPr>
              <a:t>효율적 특허출원 필요 </a:t>
            </a:r>
          </a:p>
          <a:p>
            <a:pPr marL="114300" lvl="1" indent="-114300" algn="l" defTabSz="5334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200" kern="1200" dirty="0">
                <a:solidFill>
                  <a:schemeClr val="tx1"/>
                </a:solidFill>
                <a:latin typeface="+mn-ea"/>
              </a:rPr>
              <a:t>선택과 집중 필요</a:t>
            </a:r>
          </a:p>
        </p:txBody>
      </p:sp>
      <p:sp>
        <p:nvSpPr>
          <p:cNvPr id="12" name="자유형 11"/>
          <p:cNvSpPr/>
          <p:nvPr/>
        </p:nvSpPr>
        <p:spPr>
          <a:xfrm>
            <a:off x="335361" y="1700809"/>
            <a:ext cx="1871127" cy="1177253"/>
          </a:xfrm>
          <a:custGeom>
            <a:avLst/>
            <a:gdLst>
              <a:gd name="connsiteX0" fmla="*/ 0 w 1882079"/>
              <a:gd name="connsiteY0" fmla="*/ 211671 h 1269999"/>
              <a:gd name="connsiteX1" fmla="*/ 211671 w 1882079"/>
              <a:gd name="connsiteY1" fmla="*/ 0 h 1269999"/>
              <a:gd name="connsiteX2" fmla="*/ 1670408 w 1882079"/>
              <a:gd name="connsiteY2" fmla="*/ 0 h 1269999"/>
              <a:gd name="connsiteX3" fmla="*/ 1882079 w 1882079"/>
              <a:gd name="connsiteY3" fmla="*/ 211671 h 1269999"/>
              <a:gd name="connsiteX4" fmla="*/ 1882079 w 1882079"/>
              <a:gd name="connsiteY4" fmla="*/ 1058328 h 1269999"/>
              <a:gd name="connsiteX5" fmla="*/ 1670408 w 1882079"/>
              <a:gd name="connsiteY5" fmla="*/ 1269999 h 1269999"/>
              <a:gd name="connsiteX6" fmla="*/ 211671 w 1882079"/>
              <a:gd name="connsiteY6" fmla="*/ 1269999 h 1269999"/>
              <a:gd name="connsiteX7" fmla="*/ 0 w 1882079"/>
              <a:gd name="connsiteY7" fmla="*/ 1058328 h 1269999"/>
              <a:gd name="connsiteX8" fmla="*/ 0 w 1882079"/>
              <a:gd name="connsiteY8" fmla="*/ 211671 h 126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2079" h="1269999">
                <a:moveTo>
                  <a:pt x="0" y="211671"/>
                </a:moveTo>
                <a:cubicBezTo>
                  <a:pt x="0" y="94768"/>
                  <a:pt x="94768" y="0"/>
                  <a:pt x="211671" y="0"/>
                </a:cubicBezTo>
                <a:lnTo>
                  <a:pt x="1670408" y="0"/>
                </a:lnTo>
                <a:cubicBezTo>
                  <a:pt x="1787311" y="0"/>
                  <a:pt x="1882079" y="94768"/>
                  <a:pt x="1882079" y="211671"/>
                </a:cubicBezTo>
                <a:lnTo>
                  <a:pt x="1882079" y="1058328"/>
                </a:lnTo>
                <a:cubicBezTo>
                  <a:pt x="1882079" y="1175231"/>
                  <a:pt x="1787311" y="1269999"/>
                  <a:pt x="1670408" y="1269999"/>
                </a:cubicBezTo>
                <a:lnTo>
                  <a:pt x="211671" y="1269999"/>
                </a:lnTo>
                <a:cubicBezTo>
                  <a:pt x="94768" y="1269999"/>
                  <a:pt x="0" y="1175231"/>
                  <a:pt x="0" y="1058328"/>
                </a:cubicBezTo>
                <a:lnTo>
                  <a:pt x="0" y="211671"/>
                </a:lnTo>
                <a:close/>
              </a:path>
            </a:pathLst>
          </a:cu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1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576" tIns="96286" rIns="130576" bIns="96286" numCol="1" spcCol="1270" anchor="ctr" anchorCtr="0">
            <a:noAutofit/>
          </a:bodyPr>
          <a:lstStyle/>
          <a:p>
            <a:pPr lvl="0" algn="ctr" defTabSz="8001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800" kern="1200" dirty="0">
                <a:latin typeface="+mn-ea"/>
              </a:rPr>
              <a:t>특허는</a:t>
            </a:r>
            <a:br>
              <a:rPr lang="en-US" altLang="ko-KR" sz="1800" kern="1200" dirty="0">
                <a:latin typeface="+mn-ea"/>
              </a:rPr>
            </a:br>
            <a:r>
              <a:rPr lang="ko-KR" altLang="en-US" sz="1800" kern="1200" dirty="0">
                <a:latin typeface="+mn-ea"/>
              </a:rPr>
              <a:t>돈이다</a:t>
            </a:r>
          </a:p>
        </p:txBody>
      </p:sp>
      <p:sp>
        <p:nvSpPr>
          <p:cNvPr id="14" name="자유형 13"/>
          <p:cNvSpPr/>
          <p:nvPr/>
        </p:nvSpPr>
        <p:spPr>
          <a:xfrm>
            <a:off x="2390459" y="2995788"/>
            <a:ext cx="3513519" cy="1177253"/>
          </a:xfrm>
          <a:custGeom>
            <a:avLst/>
            <a:gdLst>
              <a:gd name="connsiteX0" fmla="*/ 0 w 3255154"/>
              <a:gd name="connsiteY0" fmla="*/ 158750 h 1269999"/>
              <a:gd name="connsiteX1" fmla="*/ 2620155 w 3255154"/>
              <a:gd name="connsiteY1" fmla="*/ 158750 h 1269999"/>
              <a:gd name="connsiteX2" fmla="*/ 2620155 w 3255154"/>
              <a:gd name="connsiteY2" fmla="*/ 0 h 1269999"/>
              <a:gd name="connsiteX3" fmla="*/ 3255154 w 3255154"/>
              <a:gd name="connsiteY3" fmla="*/ 635000 h 1269999"/>
              <a:gd name="connsiteX4" fmla="*/ 2620155 w 3255154"/>
              <a:gd name="connsiteY4" fmla="*/ 1269999 h 1269999"/>
              <a:gd name="connsiteX5" fmla="*/ 2620155 w 3255154"/>
              <a:gd name="connsiteY5" fmla="*/ 1111249 h 1269999"/>
              <a:gd name="connsiteX6" fmla="*/ 0 w 3255154"/>
              <a:gd name="connsiteY6" fmla="*/ 1111249 h 1269999"/>
              <a:gd name="connsiteX7" fmla="*/ 0 w 3255154"/>
              <a:gd name="connsiteY7" fmla="*/ 158750 h 126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55154" h="1269999">
                <a:moveTo>
                  <a:pt x="0" y="158750"/>
                </a:moveTo>
                <a:lnTo>
                  <a:pt x="2620155" y="158750"/>
                </a:lnTo>
                <a:lnTo>
                  <a:pt x="2620155" y="0"/>
                </a:lnTo>
                <a:lnTo>
                  <a:pt x="3255154" y="635000"/>
                </a:lnTo>
                <a:lnTo>
                  <a:pt x="2620155" y="1269999"/>
                </a:lnTo>
                <a:lnTo>
                  <a:pt x="2620155" y="1111249"/>
                </a:lnTo>
                <a:lnTo>
                  <a:pt x="0" y="1111249"/>
                </a:lnTo>
                <a:lnTo>
                  <a:pt x="0" y="15875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spcFirstLastPara="0" vert="horz" wrap="square" lIns="216000" tIns="166370" rIns="483870" bIns="166370" numCol="1" spcCol="1270" anchor="ctr" anchorCtr="0">
            <a:noAutofit/>
          </a:bodyPr>
          <a:lstStyle/>
          <a:p>
            <a:pPr marL="114300" lvl="1" indent="-114300" defTabSz="533400">
              <a:lnSpc>
                <a:spcPct val="90000"/>
              </a:lnSpc>
              <a:spcAft>
                <a:spcPct val="15000"/>
              </a:spcAft>
              <a:buChar char="•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정확한 시장 현황 및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전망</a:t>
            </a:r>
            <a:br>
              <a:rPr lang="en-US" altLang="ko-KR" sz="1200" dirty="0">
                <a:solidFill>
                  <a:schemeClr val="tx1"/>
                </a:solidFill>
                <a:latin typeface="+mn-ea"/>
              </a:rPr>
            </a:b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파악에 따른 출원전략이 필요</a:t>
            </a:r>
            <a:endParaRPr lang="ko-KR" altLang="en-US" sz="1200" kern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335361" y="2995788"/>
            <a:ext cx="1871127" cy="1177253"/>
          </a:xfrm>
          <a:custGeom>
            <a:avLst/>
            <a:gdLst>
              <a:gd name="connsiteX0" fmla="*/ 0 w 1882079"/>
              <a:gd name="connsiteY0" fmla="*/ 211671 h 1269999"/>
              <a:gd name="connsiteX1" fmla="*/ 211671 w 1882079"/>
              <a:gd name="connsiteY1" fmla="*/ 0 h 1269999"/>
              <a:gd name="connsiteX2" fmla="*/ 1670408 w 1882079"/>
              <a:gd name="connsiteY2" fmla="*/ 0 h 1269999"/>
              <a:gd name="connsiteX3" fmla="*/ 1882079 w 1882079"/>
              <a:gd name="connsiteY3" fmla="*/ 211671 h 1269999"/>
              <a:gd name="connsiteX4" fmla="*/ 1882079 w 1882079"/>
              <a:gd name="connsiteY4" fmla="*/ 1058328 h 1269999"/>
              <a:gd name="connsiteX5" fmla="*/ 1670408 w 1882079"/>
              <a:gd name="connsiteY5" fmla="*/ 1269999 h 1269999"/>
              <a:gd name="connsiteX6" fmla="*/ 211671 w 1882079"/>
              <a:gd name="connsiteY6" fmla="*/ 1269999 h 1269999"/>
              <a:gd name="connsiteX7" fmla="*/ 0 w 1882079"/>
              <a:gd name="connsiteY7" fmla="*/ 1058328 h 1269999"/>
              <a:gd name="connsiteX8" fmla="*/ 0 w 1882079"/>
              <a:gd name="connsiteY8" fmla="*/ 211671 h 126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2079" h="1269999">
                <a:moveTo>
                  <a:pt x="0" y="211671"/>
                </a:moveTo>
                <a:cubicBezTo>
                  <a:pt x="0" y="94768"/>
                  <a:pt x="94768" y="0"/>
                  <a:pt x="211671" y="0"/>
                </a:cubicBezTo>
                <a:lnTo>
                  <a:pt x="1670408" y="0"/>
                </a:lnTo>
                <a:cubicBezTo>
                  <a:pt x="1787311" y="0"/>
                  <a:pt x="1882079" y="94768"/>
                  <a:pt x="1882079" y="211671"/>
                </a:cubicBezTo>
                <a:lnTo>
                  <a:pt x="1882079" y="1058328"/>
                </a:lnTo>
                <a:cubicBezTo>
                  <a:pt x="1882079" y="1175231"/>
                  <a:pt x="1787311" y="1269999"/>
                  <a:pt x="1670408" y="1269999"/>
                </a:cubicBezTo>
                <a:lnTo>
                  <a:pt x="211671" y="1269999"/>
                </a:lnTo>
                <a:cubicBezTo>
                  <a:pt x="94768" y="1269999"/>
                  <a:pt x="0" y="1175231"/>
                  <a:pt x="0" y="1058328"/>
                </a:cubicBezTo>
                <a:lnTo>
                  <a:pt x="0" y="211671"/>
                </a:lnTo>
                <a:close/>
              </a:path>
            </a:pathLst>
          </a:cu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1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576" tIns="96286" rIns="130576" bIns="9628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Aft>
                <a:spcPct val="35000"/>
              </a:spcAft>
            </a:pPr>
            <a:r>
              <a:rPr lang="ko-KR" altLang="en-US" dirty="0">
                <a:latin typeface="+mn-ea"/>
              </a:rPr>
              <a:t>시장은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변화한다</a:t>
            </a:r>
            <a:endParaRPr lang="ko-KR" altLang="en-US" sz="1800" kern="1200" dirty="0">
              <a:latin typeface="+mn-ea"/>
            </a:endParaRPr>
          </a:p>
        </p:txBody>
      </p:sp>
      <p:sp>
        <p:nvSpPr>
          <p:cNvPr id="16" name="자유형 15"/>
          <p:cNvSpPr/>
          <p:nvPr/>
        </p:nvSpPr>
        <p:spPr>
          <a:xfrm>
            <a:off x="2390459" y="4290766"/>
            <a:ext cx="3513519" cy="1177253"/>
          </a:xfrm>
          <a:custGeom>
            <a:avLst/>
            <a:gdLst>
              <a:gd name="connsiteX0" fmla="*/ 0 w 3255154"/>
              <a:gd name="connsiteY0" fmla="*/ 158750 h 1269999"/>
              <a:gd name="connsiteX1" fmla="*/ 2620155 w 3255154"/>
              <a:gd name="connsiteY1" fmla="*/ 158750 h 1269999"/>
              <a:gd name="connsiteX2" fmla="*/ 2620155 w 3255154"/>
              <a:gd name="connsiteY2" fmla="*/ 0 h 1269999"/>
              <a:gd name="connsiteX3" fmla="*/ 3255154 w 3255154"/>
              <a:gd name="connsiteY3" fmla="*/ 635000 h 1269999"/>
              <a:gd name="connsiteX4" fmla="*/ 2620155 w 3255154"/>
              <a:gd name="connsiteY4" fmla="*/ 1269999 h 1269999"/>
              <a:gd name="connsiteX5" fmla="*/ 2620155 w 3255154"/>
              <a:gd name="connsiteY5" fmla="*/ 1111249 h 1269999"/>
              <a:gd name="connsiteX6" fmla="*/ 0 w 3255154"/>
              <a:gd name="connsiteY6" fmla="*/ 1111249 h 1269999"/>
              <a:gd name="connsiteX7" fmla="*/ 0 w 3255154"/>
              <a:gd name="connsiteY7" fmla="*/ 158750 h 126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55154" h="1269999">
                <a:moveTo>
                  <a:pt x="0" y="158750"/>
                </a:moveTo>
                <a:lnTo>
                  <a:pt x="2620155" y="158750"/>
                </a:lnTo>
                <a:lnTo>
                  <a:pt x="2620155" y="0"/>
                </a:lnTo>
                <a:lnTo>
                  <a:pt x="3255154" y="635000"/>
                </a:lnTo>
                <a:lnTo>
                  <a:pt x="2620155" y="1269999"/>
                </a:lnTo>
                <a:lnTo>
                  <a:pt x="2620155" y="1111249"/>
                </a:lnTo>
                <a:lnTo>
                  <a:pt x="0" y="1111249"/>
                </a:lnTo>
                <a:lnTo>
                  <a:pt x="0" y="15875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16000" tIns="166370" rIns="483870" bIns="166370" numCol="1" spcCol="1270" anchor="ctr" anchorCtr="0">
            <a:noAutofit/>
          </a:bodyPr>
          <a:lstStyle/>
          <a:p>
            <a:pPr marL="114300" lvl="1" indent="-114300" algn="l" defTabSz="5334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200" dirty="0">
                <a:latin typeface="+mn-ea"/>
              </a:rPr>
              <a:t>언제든지 무효화 가능성 내포</a:t>
            </a:r>
            <a:endParaRPr lang="en-US" altLang="ko-KR" sz="1200" dirty="0">
              <a:latin typeface="+mn-ea"/>
            </a:endParaRPr>
          </a:p>
          <a:p>
            <a:pPr marL="114300" lvl="1" indent="-114300" algn="l" defTabSz="5334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200" dirty="0">
                <a:latin typeface="+mn-ea"/>
              </a:rPr>
              <a:t>회피설계기술의 등장 가능성</a:t>
            </a:r>
          </a:p>
        </p:txBody>
      </p:sp>
      <p:sp>
        <p:nvSpPr>
          <p:cNvPr id="17" name="자유형 16"/>
          <p:cNvSpPr/>
          <p:nvPr/>
        </p:nvSpPr>
        <p:spPr>
          <a:xfrm>
            <a:off x="335361" y="4290766"/>
            <a:ext cx="1871127" cy="1177253"/>
          </a:xfrm>
          <a:custGeom>
            <a:avLst/>
            <a:gdLst>
              <a:gd name="connsiteX0" fmla="*/ 0 w 1882079"/>
              <a:gd name="connsiteY0" fmla="*/ 211671 h 1269999"/>
              <a:gd name="connsiteX1" fmla="*/ 211671 w 1882079"/>
              <a:gd name="connsiteY1" fmla="*/ 0 h 1269999"/>
              <a:gd name="connsiteX2" fmla="*/ 1670408 w 1882079"/>
              <a:gd name="connsiteY2" fmla="*/ 0 h 1269999"/>
              <a:gd name="connsiteX3" fmla="*/ 1882079 w 1882079"/>
              <a:gd name="connsiteY3" fmla="*/ 211671 h 1269999"/>
              <a:gd name="connsiteX4" fmla="*/ 1882079 w 1882079"/>
              <a:gd name="connsiteY4" fmla="*/ 1058328 h 1269999"/>
              <a:gd name="connsiteX5" fmla="*/ 1670408 w 1882079"/>
              <a:gd name="connsiteY5" fmla="*/ 1269999 h 1269999"/>
              <a:gd name="connsiteX6" fmla="*/ 211671 w 1882079"/>
              <a:gd name="connsiteY6" fmla="*/ 1269999 h 1269999"/>
              <a:gd name="connsiteX7" fmla="*/ 0 w 1882079"/>
              <a:gd name="connsiteY7" fmla="*/ 1058328 h 1269999"/>
              <a:gd name="connsiteX8" fmla="*/ 0 w 1882079"/>
              <a:gd name="connsiteY8" fmla="*/ 211671 h 126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2079" h="1269999">
                <a:moveTo>
                  <a:pt x="0" y="211671"/>
                </a:moveTo>
                <a:cubicBezTo>
                  <a:pt x="0" y="94768"/>
                  <a:pt x="94768" y="0"/>
                  <a:pt x="211671" y="0"/>
                </a:cubicBezTo>
                <a:lnTo>
                  <a:pt x="1670408" y="0"/>
                </a:lnTo>
                <a:cubicBezTo>
                  <a:pt x="1787311" y="0"/>
                  <a:pt x="1882079" y="94768"/>
                  <a:pt x="1882079" y="211671"/>
                </a:cubicBezTo>
                <a:lnTo>
                  <a:pt x="1882079" y="1058328"/>
                </a:lnTo>
                <a:cubicBezTo>
                  <a:pt x="1882079" y="1175231"/>
                  <a:pt x="1787311" y="1269999"/>
                  <a:pt x="1670408" y="1269999"/>
                </a:cubicBezTo>
                <a:lnTo>
                  <a:pt x="211671" y="1269999"/>
                </a:lnTo>
                <a:cubicBezTo>
                  <a:pt x="94768" y="1269999"/>
                  <a:pt x="0" y="1175231"/>
                  <a:pt x="0" y="1058328"/>
                </a:cubicBezTo>
                <a:lnTo>
                  <a:pt x="0" y="211671"/>
                </a:lnTo>
                <a:close/>
              </a:path>
            </a:pathLst>
          </a:cu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576" tIns="96286" rIns="130576" bIns="96286" numCol="1" spcCol="1270" anchor="ctr" anchorCtr="0">
            <a:noAutofit/>
          </a:bodyPr>
          <a:lstStyle/>
          <a:p>
            <a:pPr algn="ctr" defTabSz="800100">
              <a:lnSpc>
                <a:spcPct val="90000"/>
              </a:lnSpc>
              <a:spcAft>
                <a:spcPts val="0"/>
              </a:spcAft>
            </a:pPr>
            <a:r>
              <a:rPr lang="ko-KR" altLang="en-US" dirty="0">
                <a:latin typeface="+mn-ea"/>
              </a:rPr>
              <a:t>특허는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완벽하지</a:t>
            </a:r>
            <a:endParaRPr lang="en-US" altLang="ko-KR" dirty="0">
              <a:latin typeface="+mn-ea"/>
            </a:endParaRPr>
          </a:p>
          <a:p>
            <a:pPr algn="ctr" defTabSz="800100">
              <a:lnSpc>
                <a:spcPct val="90000"/>
              </a:lnSpc>
              <a:spcAft>
                <a:spcPts val="0"/>
              </a:spcAft>
            </a:pPr>
            <a:r>
              <a:rPr lang="ko-KR" altLang="en-US" dirty="0">
                <a:latin typeface="+mn-ea"/>
              </a:rPr>
              <a:t>않다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해외출원의</a:t>
            </a:r>
            <a:r>
              <a:rPr lang="ko-KR" altLang="en-US" dirty="0"/>
              <a:t> 추진방향은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544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311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한쪽 모서리가 잘린 사각형 67"/>
          <p:cNvSpPr/>
          <p:nvPr/>
        </p:nvSpPr>
        <p:spPr bwMode="auto">
          <a:xfrm>
            <a:off x="911424" y="4942976"/>
            <a:ext cx="10369152" cy="1472560"/>
          </a:xfrm>
          <a:prstGeom prst="snip1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+mn-ea"/>
            </a:endParaRPr>
          </a:p>
        </p:txBody>
      </p:sp>
      <p:sp>
        <p:nvSpPr>
          <p:cNvPr id="66" name="한쪽 모서리가 잘린 사각형 65"/>
          <p:cNvSpPr/>
          <p:nvPr/>
        </p:nvSpPr>
        <p:spPr bwMode="auto">
          <a:xfrm>
            <a:off x="911424" y="1335938"/>
            <a:ext cx="10369152" cy="1474068"/>
          </a:xfrm>
          <a:prstGeom prst="snip1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+mn-ea"/>
            </a:endParaRPr>
          </a:p>
        </p:txBody>
      </p:sp>
      <p:sp>
        <p:nvSpPr>
          <p:cNvPr id="67" name="한쪽 모서리가 잘린 사각형 66"/>
          <p:cNvSpPr/>
          <p:nvPr/>
        </p:nvSpPr>
        <p:spPr bwMode="auto">
          <a:xfrm>
            <a:off x="911424" y="3136342"/>
            <a:ext cx="10369152" cy="1473865"/>
          </a:xfrm>
          <a:prstGeom prst="snip1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+mn-ea"/>
            </a:endParaRPr>
          </a:p>
        </p:txBody>
      </p:sp>
      <p:sp>
        <p:nvSpPr>
          <p:cNvPr id="361475" name="Rectangle 53"/>
          <p:cNvSpPr>
            <a:spLocks noChangeArrowheads="1"/>
          </p:cNvSpPr>
          <p:nvPr/>
        </p:nvSpPr>
        <p:spPr bwMode="auto">
          <a:xfrm>
            <a:off x="2993788" y="1657879"/>
            <a:ext cx="1248833" cy="287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A</a:t>
            </a:r>
            <a:r>
              <a:rPr kumimoji="1" lang="ko-KR" altLang="en-US" sz="1100">
                <a:latin typeface="+mn-ea"/>
              </a:rPr>
              <a:t>국 출원</a:t>
            </a:r>
          </a:p>
        </p:txBody>
      </p:sp>
      <p:sp>
        <p:nvSpPr>
          <p:cNvPr id="361476" name="Rectangle 54"/>
          <p:cNvSpPr>
            <a:spLocks noChangeArrowheads="1"/>
          </p:cNvSpPr>
          <p:nvPr/>
        </p:nvSpPr>
        <p:spPr bwMode="auto">
          <a:xfrm>
            <a:off x="2993788" y="2018240"/>
            <a:ext cx="1248833" cy="2873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B</a:t>
            </a:r>
            <a:r>
              <a:rPr kumimoji="1" lang="ko-KR" altLang="en-US" sz="1100">
                <a:latin typeface="+mn-ea"/>
              </a:rPr>
              <a:t>국 출원</a:t>
            </a:r>
          </a:p>
        </p:txBody>
      </p:sp>
      <p:sp>
        <p:nvSpPr>
          <p:cNvPr id="361477" name="Rectangle 55"/>
          <p:cNvSpPr>
            <a:spLocks noChangeArrowheads="1"/>
          </p:cNvSpPr>
          <p:nvPr/>
        </p:nvSpPr>
        <p:spPr bwMode="auto">
          <a:xfrm>
            <a:off x="2993788" y="2378604"/>
            <a:ext cx="1248833" cy="287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 dirty="0">
                <a:latin typeface="+mn-ea"/>
              </a:rPr>
              <a:t>C</a:t>
            </a:r>
            <a:r>
              <a:rPr kumimoji="1" lang="ko-KR" altLang="en-US" sz="1100" dirty="0">
                <a:latin typeface="+mn-ea"/>
              </a:rPr>
              <a:t>국 출원</a:t>
            </a:r>
          </a:p>
        </p:txBody>
      </p:sp>
      <p:sp>
        <p:nvSpPr>
          <p:cNvPr id="361478" name="Rectangle 57"/>
          <p:cNvSpPr>
            <a:spLocks noChangeArrowheads="1"/>
          </p:cNvSpPr>
          <p:nvPr/>
        </p:nvSpPr>
        <p:spPr bwMode="auto">
          <a:xfrm>
            <a:off x="5298836" y="1657879"/>
            <a:ext cx="2305051" cy="287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 dirty="0">
                <a:latin typeface="+mn-ea"/>
              </a:rPr>
              <a:t>A</a:t>
            </a:r>
            <a:r>
              <a:rPr kumimoji="1" lang="ko-KR" altLang="en-US" sz="1100" dirty="0">
                <a:latin typeface="+mn-ea"/>
              </a:rPr>
              <a:t>국 특허담당 정부기관 심사</a:t>
            </a:r>
          </a:p>
        </p:txBody>
      </p:sp>
      <p:sp>
        <p:nvSpPr>
          <p:cNvPr id="361479" name="Rectangle 58"/>
          <p:cNvSpPr>
            <a:spLocks noChangeArrowheads="1"/>
          </p:cNvSpPr>
          <p:nvPr/>
        </p:nvSpPr>
        <p:spPr bwMode="auto">
          <a:xfrm>
            <a:off x="5298836" y="2018240"/>
            <a:ext cx="2305051" cy="2873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kumimoji="1" lang="en-US" altLang="ko-KR" sz="1100" dirty="0">
                <a:latin typeface="+mn-ea"/>
              </a:rPr>
              <a:t>B</a:t>
            </a:r>
            <a:r>
              <a:rPr kumimoji="1" lang="ko-KR" altLang="en-US" sz="1100" dirty="0">
                <a:latin typeface="+mn-ea"/>
              </a:rPr>
              <a:t>국 특허담당 정부기관 심사</a:t>
            </a:r>
          </a:p>
        </p:txBody>
      </p:sp>
      <p:sp>
        <p:nvSpPr>
          <p:cNvPr id="361480" name="Rectangle 59"/>
          <p:cNvSpPr>
            <a:spLocks noChangeArrowheads="1"/>
          </p:cNvSpPr>
          <p:nvPr/>
        </p:nvSpPr>
        <p:spPr bwMode="auto">
          <a:xfrm>
            <a:off x="5298836" y="2378604"/>
            <a:ext cx="2305051" cy="287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kumimoji="1" lang="en-US" altLang="ko-KR" sz="1100" dirty="0">
                <a:latin typeface="+mn-ea"/>
              </a:rPr>
              <a:t>C</a:t>
            </a:r>
            <a:r>
              <a:rPr kumimoji="1" lang="ko-KR" altLang="en-US" sz="1100" dirty="0">
                <a:latin typeface="+mn-ea"/>
              </a:rPr>
              <a:t>국 특허담당 정부기관 심사</a:t>
            </a:r>
          </a:p>
        </p:txBody>
      </p:sp>
      <p:sp>
        <p:nvSpPr>
          <p:cNvPr id="361481" name="Rectangle 60"/>
          <p:cNvSpPr>
            <a:spLocks noChangeArrowheads="1"/>
          </p:cNvSpPr>
          <p:nvPr/>
        </p:nvSpPr>
        <p:spPr bwMode="auto">
          <a:xfrm>
            <a:off x="8657988" y="1657879"/>
            <a:ext cx="1248833" cy="287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A</a:t>
            </a:r>
            <a:r>
              <a:rPr kumimoji="1" lang="ko-KR" altLang="en-US" sz="1100">
                <a:latin typeface="+mn-ea"/>
              </a:rPr>
              <a:t>국 특허권</a:t>
            </a:r>
          </a:p>
        </p:txBody>
      </p:sp>
      <p:sp>
        <p:nvSpPr>
          <p:cNvPr id="361482" name="Rectangle 61"/>
          <p:cNvSpPr>
            <a:spLocks noChangeArrowheads="1"/>
          </p:cNvSpPr>
          <p:nvPr/>
        </p:nvSpPr>
        <p:spPr bwMode="auto">
          <a:xfrm>
            <a:off x="8657988" y="2018240"/>
            <a:ext cx="1248833" cy="2873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B</a:t>
            </a:r>
            <a:r>
              <a:rPr kumimoji="1" lang="ko-KR" altLang="en-US" sz="1100">
                <a:latin typeface="+mn-ea"/>
              </a:rPr>
              <a:t>국 특허권</a:t>
            </a:r>
          </a:p>
        </p:txBody>
      </p:sp>
      <p:sp>
        <p:nvSpPr>
          <p:cNvPr id="361483" name="Rectangle 62"/>
          <p:cNvSpPr>
            <a:spLocks noChangeArrowheads="1"/>
          </p:cNvSpPr>
          <p:nvPr/>
        </p:nvSpPr>
        <p:spPr bwMode="auto">
          <a:xfrm>
            <a:off x="8657988" y="2378604"/>
            <a:ext cx="1248833" cy="287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C</a:t>
            </a:r>
            <a:r>
              <a:rPr kumimoji="1" lang="ko-KR" altLang="en-US" sz="1100">
                <a:latin typeface="+mn-ea"/>
              </a:rPr>
              <a:t>국 특허권</a:t>
            </a:r>
          </a:p>
        </p:txBody>
      </p:sp>
      <p:sp>
        <p:nvSpPr>
          <p:cNvPr id="361485" name="Rectangle 64"/>
          <p:cNvSpPr>
            <a:spLocks noChangeArrowheads="1"/>
          </p:cNvSpPr>
          <p:nvPr/>
        </p:nvSpPr>
        <p:spPr bwMode="auto">
          <a:xfrm>
            <a:off x="3115669" y="3539863"/>
            <a:ext cx="1248833" cy="2873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A</a:t>
            </a:r>
            <a:r>
              <a:rPr kumimoji="1" lang="ko-KR" altLang="en-US" sz="1100">
                <a:latin typeface="+mn-ea"/>
              </a:rPr>
              <a:t>국 출원</a:t>
            </a:r>
          </a:p>
        </p:txBody>
      </p:sp>
      <p:sp>
        <p:nvSpPr>
          <p:cNvPr id="361486" name="Rectangle 65"/>
          <p:cNvSpPr>
            <a:spLocks noChangeArrowheads="1"/>
          </p:cNvSpPr>
          <p:nvPr/>
        </p:nvSpPr>
        <p:spPr bwMode="auto">
          <a:xfrm>
            <a:off x="3115669" y="3827199"/>
            <a:ext cx="1248833" cy="2873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B</a:t>
            </a:r>
            <a:r>
              <a:rPr kumimoji="1" lang="ko-KR" altLang="en-US" sz="1100">
                <a:latin typeface="+mn-ea"/>
              </a:rPr>
              <a:t>국 출원</a:t>
            </a:r>
          </a:p>
        </p:txBody>
      </p:sp>
      <p:sp>
        <p:nvSpPr>
          <p:cNvPr id="361487" name="Rectangle 66"/>
          <p:cNvSpPr>
            <a:spLocks noChangeArrowheads="1"/>
          </p:cNvSpPr>
          <p:nvPr/>
        </p:nvSpPr>
        <p:spPr bwMode="auto">
          <a:xfrm>
            <a:off x="3115669" y="4107415"/>
            <a:ext cx="1248833" cy="2873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C</a:t>
            </a:r>
            <a:r>
              <a:rPr kumimoji="1" lang="ko-KR" altLang="en-US" sz="1100">
                <a:latin typeface="+mn-ea"/>
              </a:rPr>
              <a:t>국 출원</a:t>
            </a:r>
          </a:p>
        </p:txBody>
      </p:sp>
      <p:sp>
        <p:nvSpPr>
          <p:cNvPr id="361488" name="Rectangle 70"/>
          <p:cNvSpPr>
            <a:spLocks noChangeArrowheads="1"/>
          </p:cNvSpPr>
          <p:nvPr/>
        </p:nvSpPr>
        <p:spPr bwMode="auto">
          <a:xfrm>
            <a:off x="8657988" y="3458129"/>
            <a:ext cx="1248833" cy="2873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A</a:t>
            </a:r>
            <a:r>
              <a:rPr kumimoji="1" lang="ko-KR" altLang="en-US" sz="1100">
                <a:latin typeface="+mn-ea"/>
              </a:rPr>
              <a:t>국 특허권</a:t>
            </a:r>
          </a:p>
        </p:txBody>
      </p:sp>
      <p:sp>
        <p:nvSpPr>
          <p:cNvPr id="361489" name="Rectangle 71"/>
          <p:cNvSpPr>
            <a:spLocks noChangeArrowheads="1"/>
          </p:cNvSpPr>
          <p:nvPr/>
        </p:nvSpPr>
        <p:spPr bwMode="auto">
          <a:xfrm>
            <a:off x="8657988" y="3818490"/>
            <a:ext cx="1248833" cy="2873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B</a:t>
            </a:r>
            <a:r>
              <a:rPr kumimoji="1" lang="ko-KR" altLang="en-US" sz="1100">
                <a:latin typeface="+mn-ea"/>
              </a:rPr>
              <a:t>국 특허권</a:t>
            </a:r>
          </a:p>
        </p:txBody>
      </p:sp>
      <p:sp>
        <p:nvSpPr>
          <p:cNvPr id="361490" name="Rectangle 72"/>
          <p:cNvSpPr>
            <a:spLocks noChangeArrowheads="1"/>
          </p:cNvSpPr>
          <p:nvPr/>
        </p:nvSpPr>
        <p:spPr bwMode="auto">
          <a:xfrm>
            <a:off x="8657988" y="4178854"/>
            <a:ext cx="1248833" cy="2873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C</a:t>
            </a:r>
            <a:r>
              <a:rPr kumimoji="1" lang="ko-KR" altLang="en-US" sz="1100">
                <a:latin typeface="+mn-ea"/>
              </a:rPr>
              <a:t>국 특허권</a:t>
            </a:r>
          </a:p>
        </p:txBody>
      </p:sp>
      <p:sp>
        <p:nvSpPr>
          <p:cNvPr id="361491" name="Rectangle 73"/>
          <p:cNvSpPr>
            <a:spLocks noChangeArrowheads="1"/>
          </p:cNvSpPr>
          <p:nvPr/>
        </p:nvSpPr>
        <p:spPr bwMode="auto">
          <a:xfrm>
            <a:off x="2444685" y="3531153"/>
            <a:ext cx="673100" cy="863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ko-KR" altLang="en-US" sz="1100" dirty="0">
                <a:latin typeface="+mn-ea"/>
              </a:rPr>
              <a:t>국제</a:t>
            </a:r>
          </a:p>
          <a:p>
            <a:pPr algn="ctr" eaLnBrk="1" latinLnBrk="1" hangingPunct="1"/>
            <a:r>
              <a:rPr kumimoji="1" lang="ko-KR" altLang="en-US" sz="1100" dirty="0">
                <a:latin typeface="+mn-ea"/>
              </a:rPr>
              <a:t>출원</a:t>
            </a:r>
          </a:p>
        </p:txBody>
      </p:sp>
      <p:sp>
        <p:nvSpPr>
          <p:cNvPr id="361492" name="Rectangle 74"/>
          <p:cNvSpPr>
            <a:spLocks noChangeArrowheads="1"/>
          </p:cNvSpPr>
          <p:nvPr/>
        </p:nvSpPr>
        <p:spPr bwMode="auto">
          <a:xfrm>
            <a:off x="4751851" y="3675616"/>
            <a:ext cx="1151467" cy="5762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ko-KR" altLang="en-US" sz="1100">
                <a:latin typeface="+mn-ea"/>
              </a:rPr>
              <a:t>국제조사</a:t>
            </a:r>
          </a:p>
          <a:p>
            <a:pPr algn="ctr" eaLnBrk="1" latinLnBrk="1" hangingPunct="1"/>
            <a:r>
              <a:rPr kumimoji="1" lang="ko-KR" altLang="en-US" sz="1100">
                <a:latin typeface="+mn-ea"/>
              </a:rPr>
              <a:t>국제공개</a:t>
            </a:r>
          </a:p>
        </p:txBody>
      </p:sp>
      <p:sp>
        <p:nvSpPr>
          <p:cNvPr id="361493" name="Rectangle 75"/>
          <p:cNvSpPr>
            <a:spLocks noChangeArrowheads="1"/>
          </p:cNvSpPr>
          <p:nvPr/>
        </p:nvSpPr>
        <p:spPr bwMode="auto">
          <a:xfrm>
            <a:off x="7123403" y="3458129"/>
            <a:ext cx="1151467" cy="2873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A</a:t>
            </a:r>
            <a:r>
              <a:rPr kumimoji="1" lang="ko-KR" altLang="en-US" sz="1100">
                <a:latin typeface="+mn-ea"/>
              </a:rPr>
              <a:t>국 심사</a:t>
            </a:r>
          </a:p>
        </p:txBody>
      </p:sp>
      <p:sp>
        <p:nvSpPr>
          <p:cNvPr id="361494" name="Rectangle 76"/>
          <p:cNvSpPr>
            <a:spLocks noChangeArrowheads="1"/>
          </p:cNvSpPr>
          <p:nvPr/>
        </p:nvSpPr>
        <p:spPr bwMode="auto">
          <a:xfrm>
            <a:off x="7123403" y="3818490"/>
            <a:ext cx="1151467" cy="2873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B</a:t>
            </a:r>
            <a:r>
              <a:rPr kumimoji="1" lang="ko-KR" altLang="en-US" sz="1100">
                <a:latin typeface="+mn-ea"/>
              </a:rPr>
              <a:t>국 심사</a:t>
            </a:r>
          </a:p>
        </p:txBody>
      </p:sp>
      <p:sp>
        <p:nvSpPr>
          <p:cNvPr id="361495" name="Rectangle 77"/>
          <p:cNvSpPr>
            <a:spLocks noChangeArrowheads="1"/>
          </p:cNvSpPr>
          <p:nvPr/>
        </p:nvSpPr>
        <p:spPr bwMode="auto">
          <a:xfrm>
            <a:off x="7123403" y="4178854"/>
            <a:ext cx="1151467" cy="2873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C</a:t>
            </a:r>
            <a:r>
              <a:rPr kumimoji="1" lang="ko-KR" altLang="en-US" sz="1100">
                <a:latin typeface="+mn-ea"/>
              </a:rPr>
              <a:t>국 심사</a:t>
            </a:r>
          </a:p>
        </p:txBody>
      </p:sp>
      <p:cxnSp>
        <p:nvCxnSpPr>
          <p:cNvPr id="361499" name="AutoShape 82"/>
          <p:cNvCxnSpPr>
            <a:cxnSpLocks noChangeShapeType="1"/>
            <a:stCxn id="361475" idx="3"/>
            <a:endCxn id="361478" idx="1"/>
          </p:cNvCxnSpPr>
          <p:nvPr/>
        </p:nvCxnSpPr>
        <p:spPr bwMode="auto">
          <a:xfrm>
            <a:off x="4242620" y="1801547"/>
            <a:ext cx="1056216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61500" name="AutoShape 83"/>
          <p:cNvCxnSpPr>
            <a:cxnSpLocks noChangeShapeType="1"/>
            <a:stCxn id="361476" idx="3"/>
            <a:endCxn id="361479" idx="1"/>
          </p:cNvCxnSpPr>
          <p:nvPr/>
        </p:nvCxnSpPr>
        <p:spPr bwMode="auto">
          <a:xfrm>
            <a:off x="4242620" y="2161909"/>
            <a:ext cx="1056216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61501" name="AutoShape 84"/>
          <p:cNvCxnSpPr>
            <a:cxnSpLocks noChangeShapeType="1"/>
            <a:stCxn id="361477" idx="3"/>
            <a:endCxn id="361480" idx="1"/>
          </p:cNvCxnSpPr>
          <p:nvPr/>
        </p:nvCxnSpPr>
        <p:spPr bwMode="auto">
          <a:xfrm>
            <a:off x="4242620" y="2522272"/>
            <a:ext cx="1056216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61502" name="AutoShape 85"/>
          <p:cNvCxnSpPr>
            <a:cxnSpLocks noChangeShapeType="1"/>
            <a:stCxn id="361478" idx="3"/>
            <a:endCxn id="361481" idx="1"/>
          </p:cNvCxnSpPr>
          <p:nvPr/>
        </p:nvCxnSpPr>
        <p:spPr bwMode="auto">
          <a:xfrm>
            <a:off x="7603887" y="1801547"/>
            <a:ext cx="1054100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61503" name="AutoShape 86"/>
          <p:cNvCxnSpPr>
            <a:cxnSpLocks noChangeShapeType="1"/>
            <a:stCxn id="361479" idx="3"/>
            <a:endCxn id="361482" idx="1"/>
          </p:cNvCxnSpPr>
          <p:nvPr/>
        </p:nvCxnSpPr>
        <p:spPr bwMode="auto">
          <a:xfrm>
            <a:off x="7603887" y="2161909"/>
            <a:ext cx="1054100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61504" name="AutoShape 87"/>
          <p:cNvCxnSpPr>
            <a:cxnSpLocks noChangeShapeType="1"/>
            <a:stCxn id="361480" idx="3"/>
            <a:endCxn id="361483" idx="1"/>
          </p:cNvCxnSpPr>
          <p:nvPr/>
        </p:nvCxnSpPr>
        <p:spPr bwMode="auto">
          <a:xfrm>
            <a:off x="7603887" y="2522272"/>
            <a:ext cx="1054100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61506" name="AutoShape 89"/>
          <p:cNvCxnSpPr>
            <a:cxnSpLocks noChangeShapeType="1"/>
            <a:stCxn id="361486" idx="3"/>
            <a:endCxn id="361492" idx="1"/>
          </p:cNvCxnSpPr>
          <p:nvPr/>
        </p:nvCxnSpPr>
        <p:spPr bwMode="auto">
          <a:xfrm flipV="1">
            <a:off x="4364502" y="3963748"/>
            <a:ext cx="387349" cy="7120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61507" name="AutoShape 90"/>
          <p:cNvCxnSpPr>
            <a:cxnSpLocks noChangeShapeType="1"/>
            <a:stCxn id="361492" idx="3"/>
            <a:endCxn id="361494" idx="1"/>
          </p:cNvCxnSpPr>
          <p:nvPr/>
        </p:nvCxnSpPr>
        <p:spPr bwMode="auto">
          <a:xfrm flipV="1">
            <a:off x="5903318" y="3962159"/>
            <a:ext cx="1220085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61508" name="AutoShape 91"/>
          <p:cNvCxnSpPr>
            <a:cxnSpLocks noChangeShapeType="1"/>
            <a:stCxn id="361493" idx="3"/>
            <a:endCxn id="361488" idx="1"/>
          </p:cNvCxnSpPr>
          <p:nvPr/>
        </p:nvCxnSpPr>
        <p:spPr bwMode="auto">
          <a:xfrm>
            <a:off x="8274870" y="3601797"/>
            <a:ext cx="383117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61509" name="AutoShape 92"/>
          <p:cNvCxnSpPr>
            <a:cxnSpLocks noChangeShapeType="1"/>
            <a:stCxn id="361494" idx="3"/>
            <a:endCxn id="361489" idx="1"/>
          </p:cNvCxnSpPr>
          <p:nvPr/>
        </p:nvCxnSpPr>
        <p:spPr bwMode="auto">
          <a:xfrm>
            <a:off x="8274870" y="3962159"/>
            <a:ext cx="383117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61510" name="AutoShape 93"/>
          <p:cNvCxnSpPr>
            <a:cxnSpLocks noChangeShapeType="1"/>
            <a:stCxn id="361495" idx="3"/>
            <a:endCxn id="361490" idx="1"/>
          </p:cNvCxnSpPr>
          <p:nvPr/>
        </p:nvCxnSpPr>
        <p:spPr bwMode="auto">
          <a:xfrm>
            <a:off x="8274870" y="4322522"/>
            <a:ext cx="383117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sp>
        <p:nvSpPr>
          <p:cNvPr id="361513" name="Text Box 96"/>
          <p:cNvSpPr txBox="1">
            <a:spLocks noChangeArrowheads="1"/>
          </p:cNvSpPr>
          <p:nvPr/>
        </p:nvSpPr>
        <p:spPr bwMode="auto">
          <a:xfrm>
            <a:off x="5903285" y="3709483"/>
            <a:ext cx="1248833" cy="515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spcBef>
                <a:spcPct val="50000"/>
              </a:spcBef>
            </a:pPr>
            <a:r>
              <a:rPr kumimoji="1" lang="ko-KR" altLang="en-US" sz="1100" b="1" dirty="0">
                <a:solidFill>
                  <a:srgbClr val="402B06"/>
                </a:solidFill>
                <a:latin typeface="+mn-ea"/>
              </a:rPr>
              <a:t>각지정국에</a:t>
            </a:r>
          </a:p>
          <a:p>
            <a:pPr eaLnBrk="1" latinLnBrk="1" hangingPunct="1">
              <a:spcBef>
                <a:spcPct val="50000"/>
              </a:spcBef>
            </a:pPr>
            <a:r>
              <a:rPr kumimoji="1" lang="ko-KR" altLang="en-US" sz="1100" b="1" dirty="0">
                <a:solidFill>
                  <a:srgbClr val="402B06"/>
                </a:solidFill>
                <a:latin typeface="+mn-ea"/>
              </a:rPr>
              <a:t>번역문제출</a:t>
            </a:r>
          </a:p>
        </p:txBody>
      </p:sp>
      <p:sp>
        <p:nvSpPr>
          <p:cNvPr id="361518" name="Rectangle 101"/>
          <p:cNvSpPr>
            <a:spLocks noChangeArrowheads="1"/>
          </p:cNvSpPr>
          <p:nvPr/>
        </p:nvSpPr>
        <p:spPr bwMode="auto">
          <a:xfrm>
            <a:off x="8779869" y="5269159"/>
            <a:ext cx="1248833" cy="2873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A</a:t>
            </a:r>
            <a:r>
              <a:rPr kumimoji="1" lang="ko-KR" altLang="en-US" sz="1100">
                <a:latin typeface="+mn-ea"/>
              </a:rPr>
              <a:t>국 특허권</a:t>
            </a:r>
          </a:p>
        </p:txBody>
      </p:sp>
      <p:sp>
        <p:nvSpPr>
          <p:cNvPr id="361519" name="Rectangle 102"/>
          <p:cNvSpPr>
            <a:spLocks noChangeArrowheads="1"/>
          </p:cNvSpPr>
          <p:nvPr/>
        </p:nvSpPr>
        <p:spPr bwMode="auto">
          <a:xfrm>
            <a:off x="8779869" y="5629520"/>
            <a:ext cx="1248833" cy="2873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B</a:t>
            </a:r>
            <a:r>
              <a:rPr kumimoji="1" lang="ko-KR" altLang="en-US" sz="1100">
                <a:latin typeface="+mn-ea"/>
              </a:rPr>
              <a:t>국 특허권</a:t>
            </a:r>
          </a:p>
        </p:txBody>
      </p:sp>
      <p:sp>
        <p:nvSpPr>
          <p:cNvPr id="361520" name="Rectangle 103"/>
          <p:cNvSpPr>
            <a:spLocks noChangeArrowheads="1"/>
          </p:cNvSpPr>
          <p:nvPr/>
        </p:nvSpPr>
        <p:spPr bwMode="auto">
          <a:xfrm>
            <a:off x="8783605" y="5989884"/>
            <a:ext cx="1248833" cy="2873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C</a:t>
            </a:r>
            <a:r>
              <a:rPr kumimoji="1" lang="ko-KR" altLang="en-US" sz="1100">
                <a:latin typeface="+mn-ea"/>
              </a:rPr>
              <a:t>국 특허권</a:t>
            </a:r>
          </a:p>
        </p:txBody>
      </p:sp>
      <p:sp>
        <p:nvSpPr>
          <p:cNvPr id="361521" name="Rectangle 104"/>
          <p:cNvSpPr>
            <a:spLocks noChangeArrowheads="1"/>
          </p:cNvSpPr>
          <p:nvPr/>
        </p:nvSpPr>
        <p:spPr bwMode="auto">
          <a:xfrm>
            <a:off x="2444684" y="5342183"/>
            <a:ext cx="1915387" cy="863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EPO</a:t>
            </a:r>
          </a:p>
          <a:p>
            <a:pPr algn="ctr" eaLnBrk="1" latinLnBrk="1" hangingPunct="1"/>
            <a:r>
              <a:rPr kumimoji="1" lang="ko-KR" altLang="en-US" sz="1100">
                <a:latin typeface="+mn-ea"/>
              </a:rPr>
              <a:t>출원</a:t>
            </a:r>
          </a:p>
        </p:txBody>
      </p:sp>
      <p:sp>
        <p:nvSpPr>
          <p:cNvPr id="361522" name="Rectangle 105"/>
          <p:cNvSpPr>
            <a:spLocks noChangeArrowheads="1"/>
          </p:cNvSpPr>
          <p:nvPr/>
        </p:nvSpPr>
        <p:spPr bwMode="auto">
          <a:xfrm>
            <a:off x="4751851" y="5486646"/>
            <a:ext cx="1151467" cy="5762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ko-KR" altLang="en-US" sz="1100" dirty="0">
                <a:latin typeface="+mn-ea"/>
              </a:rPr>
              <a:t>조사</a:t>
            </a:r>
          </a:p>
          <a:p>
            <a:pPr algn="ctr" eaLnBrk="1" latinLnBrk="1" hangingPunct="1"/>
            <a:r>
              <a:rPr kumimoji="1" lang="en-US" altLang="ko-KR" sz="1100" dirty="0">
                <a:latin typeface="+mn-ea"/>
              </a:rPr>
              <a:t>EPO </a:t>
            </a:r>
            <a:r>
              <a:rPr kumimoji="1" lang="ko-KR" altLang="en-US" sz="1100" dirty="0">
                <a:latin typeface="+mn-ea"/>
              </a:rPr>
              <a:t>공개</a:t>
            </a:r>
          </a:p>
        </p:txBody>
      </p:sp>
      <p:cxnSp>
        <p:nvCxnSpPr>
          <p:cNvPr id="361524" name="AutoShape 110"/>
          <p:cNvCxnSpPr>
            <a:cxnSpLocks noChangeShapeType="1"/>
            <a:stCxn id="361521" idx="3"/>
            <a:endCxn id="361522" idx="1"/>
          </p:cNvCxnSpPr>
          <p:nvPr/>
        </p:nvCxnSpPr>
        <p:spPr bwMode="auto">
          <a:xfrm>
            <a:off x="4360071" y="5773983"/>
            <a:ext cx="391780" cy="795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sp>
        <p:nvSpPr>
          <p:cNvPr id="361526" name="Rectangle 117"/>
          <p:cNvSpPr>
            <a:spLocks noChangeArrowheads="1"/>
          </p:cNvSpPr>
          <p:nvPr/>
        </p:nvSpPr>
        <p:spPr bwMode="auto">
          <a:xfrm>
            <a:off x="6284318" y="5486646"/>
            <a:ext cx="768351" cy="5762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EPO</a:t>
            </a:r>
          </a:p>
          <a:p>
            <a:pPr algn="ctr" eaLnBrk="1" latinLnBrk="1" hangingPunct="1"/>
            <a:r>
              <a:rPr kumimoji="1" lang="ko-KR" altLang="en-US" sz="1100">
                <a:latin typeface="+mn-ea"/>
              </a:rPr>
              <a:t>심사</a:t>
            </a:r>
          </a:p>
        </p:txBody>
      </p:sp>
      <p:cxnSp>
        <p:nvCxnSpPr>
          <p:cNvPr id="361527" name="AutoShape 118"/>
          <p:cNvCxnSpPr>
            <a:cxnSpLocks noChangeShapeType="1"/>
            <a:stCxn id="361522" idx="3"/>
            <a:endCxn id="361526" idx="1"/>
          </p:cNvCxnSpPr>
          <p:nvPr/>
        </p:nvCxnSpPr>
        <p:spPr bwMode="auto">
          <a:xfrm>
            <a:off x="5903317" y="5774777"/>
            <a:ext cx="381000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61528" name="AutoShape 119"/>
          <p:cNvCxnSpPr>
            <a:cxnSpLocks noChangeShapeType="1"/>
            <a:stCxn id="361526" idx="3"/>
            <a:endCxn id="361519" idx="1"/>
          </p:cNvCxnSpPr>
          <p:nvPr/>
        </p:nvCxnSpPr>
        <p:spPr bwMode="auto">
          <a:xfrm flipV="1">
            <a:off x="7052668" y="5773189"/>
            <a:ext cx="1727200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sp>
        <p:nvSpPr>
          <p:cNvPr id="361529" name="Text Box 120"/>
          <p:cNvSpPr txBox="1">
            <a:spLocks noChangeArrowheads="1"/>
          </p:cNvSpPr>
          <p:nvPr/>
        </p:nvSpPr>
        <p:spPr bwMode="auto">
          <a:xfrm>
            <a:off x="7057099" y="5486645"/>
            <a:ext cx="1727200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spcBef>
                <a:spcPct val="50000"/>
              </a:spcBef>
            </a:pPr>
            <a:r>
              <a:rPr kumimoji="1" lang="ko-KR" altLang="en-US" sz="1100" b="1" dirty="0">
                <a:solidFill>
                  <a:srgbClr val="402B06"/>
                </a:solidFill>
                <a:latin typeface="+mn-ea"/>
              </a:rPr>
              <a:t>각지정국에 등록</a:t>
            </a:r>
          </a:p>
        </p:txBody>
      </p:sp>
      <p:sp>
        <p:nvSpPr>
          <p:cNvPr id="361533" name="AutoShape 134"/>
          <p:cNvSpPr>
            <a:spLocks noChangeArrowheads="1"/>
          </p:cNvSpPr>
          <p:nvPr/>
        </p:nvSpPr>
        <p:spPr bwMode="gray">
          <a:xfrm>
            <a:off x="1294972" y="1153822"/>
            <a:ext cx="2305049" cy="360362"/>
          </a:xfrm>
          <a:prstGeom prst="homePlate">
            <a:avLst>
              <a:gd name="adj" fmla="val 53571"/>
            </a:avLst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1" hangingPunct="1"/>
            <a:r>
              <a:rPr lang="ko-KR" altLang="en-US" sz="1200" dirty="0">
                <a:solidFill>
                  <a:srgbClr val="FFFFFF"/>
                </a:solidFill>
                <a:latin typeface="+mn-ea"/>
              </a:rPr>
              <a:t>직접해외출원</a:t>
            </a:r>
          </a:p>
        </p:txBody>
      </p:sp>
      <p:sp>
        <p:nvSpPr>
          <p:cNvPr id="361534" name="AutoShape 135"/>
          <p:cNvSpPr>
            <a:spLocks noChangeArrowheads="1"/>
          </p:cNvSpPr>
          <p:nvPr/>
        </p:nvSpPr>
        <p:spPr bwMode="gray">
          <a:xfrm>
            <a:off x="1294972" y="2954022"/>
            <a:ext cx="2305049" cy="360362"/>
          </a:xfrm>
          <a:prstGeom prst="homePlate">
            <a:avLst>
              <a:gd name="adj" fmla="val 53571"/>
            </a:avLst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1" hangingPunct="1"/>
            <a:r>
              <a:rPr lang="en-US" altLang="ko-KR" sz="1200" dirty="0">
                <a:solidFill>
                  <a:srgbClr val="FFFFFF"/>
                </a:solidFill>
                <a:latin typeface="+mn-ea"/>
              </a:rPr>
              <a:t>PCT</a:t>
            </a:r>
            <a:r>
              <a:rPr lang="ko-KR" altLang="en-US" sz="1200" dirty="0">
                <a:solidFill>
                  <a:srgbClr val="FFFFFF"/>
                </a:solidFill>
                <a:latin typeface="+mn-ea"/>
              </a:rPr>
              <a:t>출원</a:t>
            </a:r>
            <a:r>
              <a:rPr lang="en-US" altLang="ko-KR" sz="1200" dirty="0">
                <a:solidFill>
                  <a:srgbClr val="FFFFFF"/>
                </a:solidFill>
                <a:latin typeface="+mn-ea"/>
              </a:rPr>
              <a:t>(=</a:t>
            </a:r>
            <a:r>
              <a:rPr lang="ko-KR" altLang="en-US" sz="1200" dirty="0">
                <a:solidFill>
                  <a:srgbClr val="FFFFFF"/>
                </a:solidFill>
                <a:latin typeface="+mn-ea"/>
              </a:rPr>
              <a:t>국제출원</a:t>
            </a:r>
            <a:r>
              <a:rPr lang="en-US" altLang="ko-KR" sz="1200" dirty="0">
                <a:solidFill>
                  <a:srgbClr val="FFFFFF"/>
                </a:solidFill>
                <a:latin typeface="+mn-ea"/>
              </a:rPr>
              <a:t>)</a:t>
            </a:r>
            <a:endParaRPr lang="ko-KR" altLang="en-US" sz="12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61535" name="AutoShape 136"/>
          <p:cNvSpPr>
            <a:spLocks noChangeArrowheads="1"/>
          </p:cNvSpPr>
          <p:nvPr/>
        </p:nvSpPr>
        <p:spPr bwMode="gray">
          <a:xfrm>
            <a:off x="1294972" y="4754222"/>
            <a:ext cx="2305049" cy="360362"/>
          </a:xfrm>
          <a:prstGeom prst="homePlate">
            <a:avLst>
              <a:gd name="adj" fmla="val 53571"/>
            </a:avLst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1" hangingPunct="1"/>
            <a:r>
              <a:rPr lang="en-US" altLang="ko-KR" sz="1200" dirty="0">
                <a:solidFill>
                  <a:srgbClr val="FFFFFF"/>
                </a:solidFill>
                <a:latin typeface="+mn-ea"/>
              </a:rPr>
              <a:t>EPO</a:t>
            </a:r>
            <a:r>
              <a:rPr lang="ko-KR" altLang="en-US" sz="1200" dirty="0">
                <a:solidFill>
                  <a:srgbClr val="FFFFFF"/>
                </a:solidFill>
                <a:latin typeface="+mn-ea"/>
              </a:rPr>
              <a:t>출원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해외출원루트의 선택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545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4843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/>
          <p:cNvSpPr/>
          <p:nvPr/>
        </p:nvSpPr>
        <p:spPr>
          <a:xfrm>
            <a:off x="6269372" y="1258993"/>
            <a:ext cx="5044403" cy="363985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7" name="직사각형 226"/>
          <p:cNvSpPr/>
          <p:nvPr/>
        </p:nvSpPr>
        <p:spPr>
          <a:xfrm>
            <a:off x="752601" y="4960561"/>
            <a:ext cx="5044403" cy="145015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6" name="직사각형 225"/>
          <p:cNvSpPr/>
          <p:nvPr/>
        </p:nvSpPr>
        <p:spPr>
          <a:xfrm>
            <a:off x="6269372" y="4960561"/>
            <a:ext cx="5044403" cy="145015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Rectangle 14"/>
          <p:cNvSpPr>
            <a:spLocks noChangeArrowheads="1"/>
          </p:cNvSpPr>
          <p:nvPr/>
        </p:nvSpPr>
        <p:spPr bwMode="auto">
          <a:xfrm>
            <a:off x="1904729" y="1605089"/>
            <a:ext cx="3744417" cy="458321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b"/>
          <a:lstStyle/>
          <a:p>
            <a:pPr algn="just"/>
            <a:r>
              <a:rPr lang="ko-KR" altLang="en-US" sz="1000" b="0" dirty="0">
                <a:latin typeface="+mj-ea"/>
                <a:ea typeface="+mj-ea"/>
              </a:rPr>
              <a:t>각국 국내법에서 정하는 방식</a:t>
            </a:r>
            <a:r>
              <a:rPr lang="en-US" altLang="ko-KR" sz="1000" dirty="0">
                <a:latin typeface="+mj-ea"/>
                <a:ea typeface="+mj-ea"/>
              </a:rPr>
              <a:t> </a:t>
            </a:r>
            <a:r>
              <a:rPr lang="ko-KR" altLang="en-US" sz="1000" dirty="0">
                <a:latin typeface="+mj-ea"/>
                <a:ea typeface="+mj-ea"/>
              </a:rPr>
              <a:t>및 언어로 작성된 출원서류를 </a:t>
            </a:r>
            <a:r>
              <a:rPr lang="ko-KR" altLang="en-US" sz="1000" b="0" dirty="0">
                <a:latin typeface="+mj-ea"/>
                <a:ea typeface="+mj-ea"/>
              </a:rPr>
              <a:t>각국 특허담당 정부기관에 제출</a:t>
            </a: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4778578" y="956652"/>
            <a:ext cx="1801284" cy="246688"/>
          </a:xfrm>
          <a:prstGeom prst="rect">
            <a:avLst/>
          </a:prstGeom>
          <a:solidFill>
            <a:schemeClr val="accent2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solidFill>
                  <a:schemeClr val="bg1"/>
                </a:solidFill>
                <a:latin typeface="+mj-ea"/>
                <a:ea typeface="+mj-ea"/>
              </a:rPr>
              <a:t>출원인</a:t>
            </a: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895358" y="1445774"/>
            <a:ext cx="1801284" cy="245491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dirty="0">
                <a:latin typeface="+mj-ea"/>
                <a:ea typeface="+mj-ea"/>
              </a:rPr>
              <a:t>일반</a:t>
            </a:r>
            <a:r>
              <a:rPr lang="ko-KR" altLang="en-US" sz="1000" b="0" dirty="0">
                <a:latin typeface="+mj-ea"/>
                <a:ea typeface="+mj-ea"/>
              </a:rPr>
              <a:t>해외출원</a:t>
            </a: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912688" y="5252911"/>
            <a:ext cx="1088053" cy="3544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b="0" dirty="0">
                <a:latin typeface="+mj-ea"/>
                <a:ea typeface="+mj-ea"/>
              </a:rPr>
              <a:t>A</a:t>
            </a:r>
            <a:r>
              <a:rPr lang="ko-KR" altLang="en-US" sz="1000" b="0" dirty="0">
                <a:latin typeface="+mj-ea"/>
                <a:ea typeface="+mj-ea"/>
              </a:rPr>
              <a:t>국 특허</a:t>
            </a:r>
            <a:r>
              <a:rPr lang="ko-KR" altLang="en-US" sz="1000" dirty="0">
                <a:latin typeface="+mj-ea"/>
                <a:ea typeface="+mj-ea"/>
              </a:rPr>
              <a:t>담당</a:t>
            </a:r>
            <a:endParaRPr lang="en-US" altLang="ko-KR" sz="1000" dirty="0">
              <a:latin typeface="+mj-ea"/>
              <a:ea typeface="+mj-ea"/>
            </a:endParaRPr>
          </a:p>
          <a:p>
            <a:pPr algn="ctr"/>
            <a:r>
              <a:rPr lang="ko-KR" altLang="en-US" sz="1000" b="0" dirty="0">
                <a:latin typeface="+mj-ea"/>
                <a:ea typeface="+mj-ea"/>
              </a:rPr>
              <a:t>정부기관</a:t>
            </a:r>
          </a:p>
        </p:txBody>
      </p:sp>
      <p:cxnSp>
        <p:nvCxnSpPr>
          <p:cNvPr id="24" name="직선 화살표 연결선 23"/>
          <p:cNvCxnSpPr>
            <a:cxnSpLocks/>
            <a:stCxn id="19" idx="2"/>
            <a:endCxn id="154" idx="0"/>
          </p:cNvCxnSpPr>
          <p:nvPr/>
        </p:nvCxnSpPr>
        <p:spPr>
          <a:xfrm>
            <a:off x="1456715" y="5607362"/>
            <a:ext cx="0" cy="10631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14"/>
          <p:cNvSpPr>
            <a:spLocks noChangeArrowheads="1"/>
          </p:cNvSpPr>
          <p:nvPr/>
        </p:nvSpPr>
        <p:spPr bwMode="auto">
          <a:xfrm>
            <a:off x="2224927" y="5252911"/>
            <a:ext cx="1088053" cy="3544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b="0" dirty="0">
                <a:latin typeface="+mj-ea"/>
                <a:ea typeface="+mj-ea"/>
              </a:rPr>
              <a:t>B</a:t>
            </a:r>
            <a:r>
              <a:rPr lang="ko-KR" altLang="en-US" sz="1000" b="0" dirty="0">
                <a:latin typeface="+mj-ea"/>
                <a:ea typeface="+mj-ea"/>
              </a:rPr>
              <a:t>국 </a:t>
            </a:r>
            <a:r>
              <a:rPr lang="ko-KR" altLang="en-US" sz="1000" dirty="0">
                <a:latin typeface="+mj-ea"/>
              </a:rPr>
              <a:t>특허담당</a:t>
            </a:r>
            <a:endParaRPr lang="en-US" altLang="ko-KR" sz="1000" dirty="0">
              <a:latin typeface="+mj-ea"/>
            </a:endParaRPr>
          </a:p>
          <a:p>
            <a:pPr algn="ctr"/>
            <a:r>
              <a:rPr lang="ko-KR" altLang="en-US" sz="1000" dirty="0">
                <a:latin typeface="+mj-ea"/>
              </a:rPr>
              <a:t>정부기관</a:t>
            </a:r>
            <a:endParaRPr lang="ko-KR" altLang="en-US" sz="1000" b="0" dirty="0">
              <a:latin typeface="+mj-ea"/>
              <a:ea typeface="+mj-ea"/>
            </a:endParaRPr>
          </a:p>
        </p:txBody>
      </p:sp>
      <p:sp>
        <p:nvSpPr>
          <p:cNvPr id="96" name="Rectangle 14"/>
          <p:cNvSpPr>
            <a:spLocks noChangeArrowheads="1"/>
          </p:cNvSpPr>
          <p:nvPr/>
        </p:nvSpPr>
        <p:spPr bwMode="auto">
          <a:xfrm>
            <a:off x="3537166" y="5252911"/>
            <a:ext cx="1088053" cy="3544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b="0" dirty="0">
                <a:latin typeface="+mj-ea"/>
                <a:ea typeface="+mj-ea"/>
              </a:rPr>
              <a:t>C</a:t>
            </a:r>
            <a:r>
              <a:rPr lang="ko-KR" altLang="en-US" sz="1000" b="0" dirty="0">
                <a:latin typeface="+mj-ea"/>
                <a:ea typeface="+mj-ea"/>
              </a:rPr>
              <a:t>국 </a:t>
            </a:r>
            <a:r>
              <a:rPr lang="ko-KR" altLang="en-US" sz="1000" dirty="0">
                <a:latin typeface="+mj-ea"/>
              </a:rPr>
              <a:t>특허담당</a:t>
            </a:r>
            <a:endParaRPr lang="en-US" altLang="ko-KR" sz="1000" dirty="0">
              <a:latin typeface="+mj-ea"/>
            </a:endParaRPr>
          </a:p>
          <a:p>
            <a:pPr algn="ctr"/>
            <a:r>
              <a:rPr lang="ko-KR" altLang="en-US" sz="1000" dirty="0">
                <a:latin typeface="+mj-ea"/>
              </a:rPr>
              <a:t>정부기관</a:t>
            </a:r>
            <a:endParaRPr lang="ko-KR" altLang="en-US" sz="1000" b="0" dirty="0">
              <a:latin typeface="+mj-ea"/>
              <a:ea typeface="+mj-ea"/>
            </a:endParaRPr>
          </a:p>
        </p:txBody>
      </p:sp>
      <p:sp>
        <p:nvSpPr>
          <p:cNvPr id="121" name="Rectangle 14"/>
          <p:cNvSpPr>
            <a:spLocks noChangeArrowheads="1"/>
          </p:cNvSpPr>
          <p:nvPr/>
        </p:nvSpPr>
        <p:spPr bwMode="auto">
          <a:xfrm>
            <a:off x="7426602" y="1652224"/>
            <a:ext cx="3744417" cy="421649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b"/>
          <a:lstStyle/>
          <a:p>
            <a:pPr algn="just"/>
            <a:r>
              <a:rPr lang="en-US" altLang="ko-KR" sz="1000" b="0" dirty="0">
                <a:latin typeface="+mj-ea"/>
                <a:ea typeface="+mj-ea"/>
              </a:rPr>
              <a:t>PCT</a:t>
            </a:r>
            <a:r>
              <a:rPr lang="ko-KR" altLang="en-US" sz="1000" b="0" dirty="0">
                <a:latin typeface="+mj-ea"/>
                <a:ea typeface="+mj-ea"/>
              </a:rPr>
              <a:t>에서 정하는 방식 및 언어로 지정국이 기재된 출원서 등을 수리관청이나 국제사무국에 제출</a:t>
            </a:r>
          </a:p>
        </p:txBody>
      </p:sp>
      <p:sp>
        <p:nvSpPr>
          <p:cNvPr id="122" name="Rectangle 14"/>
          <p:cNvSpPr>
            <a:spLocks noChangeArrowheads="1"/>
          </p:cNvSpPr>
          <p:nvPr/>
        </p:nvSpPr>
        <p:spPr bwMode="auto">
          <a:xfrm>
            <a:off x="6417231" y="1440014"/>
            <a:ext cx="1801284" cy="245491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b="0" dirty="0">
                <a:latin typeface="+mj-ea"/>
                <a:ea typeface="+mj-ea"/>
              </a:rPr>
              <a:t>PCT</a:t>
            </a:r>
            <a:r>
              <a:rPr lang="ko-KR" altLang="en-US" sz="1000" dirty="0">
                <a:latin typeface="+mj-ea"/>
                <a:ea typeface="+mj-ea"/>
              </a:rPr>
              <a:t>출원</a:t>
            </a:r>
            <a:r>
              <a:rPr lang="en-US" altLang="ko-KR" sz="1000" dirty="0">
                <a:latin typeface="+mj-ea"/>
                <a:ea typeface="+mj-ea"/>
              </a:rPr>
              <a:t>(</a:t>
            </a:r>
            <a:r>
              <a:rPr lang="ko-KR" altLang="en-US" sz="1000" dirty="0">
                <a:latin typeface="+mj-ea"/>
                <a:ea typeface="+mj-ea"/>
              </a:rPr>
              <a:t>국제출원</a:t>
            </a:r>
            <a:r>
              <a:rPr lang="en-US" altLang="ko-KR" sz="1000" dirty="0">
                <a:latin typeface="+mj-ea"/>
                <a:ea typeface="+mj-ea"/>
              </a:rPr>
              <a:t>)</a:t>
            </a:r>
            <a:endParaRPr lang="ko-KR" altLang="en-US" sz="1000" b="0" dirty="0">
              <a:latin typeface="+mj-ea"/>
              <a:ea typeface="+mj-ea"/>
            </a:endParaRPr>
          </a:p>
        </p:txBody>
      </p:sp>
      <p:sp>
        <p:nvSpPr>
          <p:cNvPr id="142" name="Rectangle 14"/>
          <p:cNvSpPr>
            <a:spLocks noChangeArrowheads="1"/>
          </p:cNvSpPr>
          <p:nvPr/>
        </p:nvSpPr>
        <p:spPr bwMode="auto">
          <a:xfrm>
            <a:off x="7426602" y="2305537"/>
            <a:ext cx="3744417" cy="25821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b"/>
          <a:lstStyle/>
          <a:p>
            <a:pPr algn="just"/>
            <a:r>
              <a:rPr lang="ko-KR" altLang="en-US" sz="1000" b="0">
                <a:latin typeface="+mj-ea"/>
                <a:ea typeface="+mj-ea"/>
              </a:rPr>
              <a:t>선행기술조사 및 </a:t>
            </a:r>
            <a:r>
              <a:rPr lang="ko-KR" altLang="en-US" sz="1000" b="0" dirty="0" err="1">
                <a:latin typeface="+mj-ea"/>
                <a:ea typeface="+mj-ea"/>
              </a:rPr>
              <a:t>특허성</a:t>
            </a:r>
            <a:r>
              <a:rPr lang="ko-KR" altLang="en-US" sz="1000" b="0" dirty="0">
                <a:latin typeface="+mj-ea"/>
                <a:ea typeface="+mj-ea"/>
              </a:rPr>
              <a:t> 검토</a:t>
            </a:r>
          </a:p>
        </p:txBody>
      </p:sp>
      <p:sp>
        <p:nvSpPr>
          <p:cNvPr id="143" name="Rectangle 14"/>
          <p:cNvSpPr>
            <a:spLocks noChangeArrowheads="1"/>
          </p:cNvSpPr>
          <p:nvPr/>
        </p:nvSpPr>
        <p:spPr bwMode="auto">
          <a:xfrm>
            <a:off x="6417231" y="2104935"/>
            <a:ext cx="1801284" cy="245491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solidFill>
                  <a:schemeClr val="bg1"/>
                </a:solidFill>
                <a:latin typeface="+mj-ea"/>
                <a:ea typeface="+mj-ea"/>
              </a:rPr>
              <a:t>국제조사</a:t>
            </a:r>
          </a:p>
        </p:txBody>
      </p:sp>
      <p:sp>
        <p:nvSpPr>
          <p:cNvPr id="147" name="Rectangle 14"/>
          <p:cNvSpPr>
            <a:spLocks noChangeArrowheads="1"/>
          </p:cNvSpPr>
          <p:nvPr/>
        </p:nvSpPr>
        <p:spPr bwMode="auto">
          <a:xfrm>
            <a:off x="6417231" y="3335235"/>
            <a:ext cx="1801284" cy="245491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국제예비심사청구</a:t>
            </a:r>
          </a:p>
        </p:txBody>
      </p:sp>
      <p:sp>
        <p:nvSpPr>
          <p:cNvPr id="148" name="Rectangle 14"/>
          <p:cNvSpPr>
            <a:spLocks noChangeArrowheads="1"/>
          </p:cNvSpPr>
          <p:nvPr/>
        </p:nvSpPr>
        <p:spPr bwMode="auto">
          <a:xfrm>
            <a:off x="7426602" y="2835065"/>
            <a:ext cx="3744417" cy="40563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b"/>
          <a:lstStyle/>
          <a:p>
            <a:pPr algn="just"/>
            <a:r>
              <a:rPr lang="ko-KR" altLang="en-US" sz="1000" b="0" dirty="0">
                <a:latin typeface="+mj-ea"/>
                <a:ea typeface="+mj-ea"/>
              </a:rPr>
              <a:t>국제출원서류 및 국제조사보고서를 전자적 형태로 공개</a:t>
            </a:r>
          </a:p>
        </p:txBody>
      </p:sp>
      <p:sp>
        <p:nvSpPr>
          <p:cNvPr id="149" name="Rectangle 14"/>
          <p:cNvSpPr>
            <a:spLocks noChangeArrowheads="1"/>
          </p:cNvSpPr>
          <p:nvPr/>
        </p:nvSpPr>
        <p:spPr bwMode="auto">
          <a:xfrm>
            <a:off x="6417231" y="2648121"/>
            <a:ext cx="1801284" cy="245491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solidFill>
                  <a:schemeClr val="bg1"/>
                </a:solidFill>
                <a:latin typeface="+mj-ea"/>
                <a:ea typeface="+mj-ea"/>
              </a:rPr>
              <a:t>국제공개</a:t>
            </a:r>
          </a:p>
        </p:txBody>
      </p:sp>
      <p:sp>
        <p:nvSpPr>
          <p:cNvPr id="150" name="Rectangle 14"/>
          <p:cNvSpPr>
            <a:spLocks noChangeArrowheads="1"/>
          </p:cNvSpPr>
          <p:nvPr/>
        </p:nvSpPr>
        <p:spPr bwMode="auto">
          <a:xfrm>
            <a:off x="7426602" y="3896951"/>
            <a:ext cx="3744417" cy="245491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b"/>
          <a:lstStyle/>
          <a:p>
            <a:pPr algn="just"/>
            <a:r>
              <a:rPr lang="ko-KR" altLang="en-US" sz="1000" dirty="0" err="1">
                <a:latin typeface="+mj-ea"/>
                <a:ea typeface="+mj-ea"/>
              </a:rPr>
              <a:t>특허성</a:t>
            </a:r>
            <a:r>
              <a:rPr lang="ko-KR" altLang="en-US" sz="1000" dirty="0">
                <a:latin typeface="+mj-ea"/>
                <a:ea typeface="+mj-ea"/>
              </a:rPr>
              <a:t> 유무에 대한 예비적 판단</a:t>
            </a:r>
            <a:r>
              <a:rPr lang="en-US" altLang="ko-KR" sz="1000" dirty="0">
                <a:latin typeface="+mj-ea"/>
                <a:ea typeface="+mj-ea"/>
              </a:rPr>
              <a:t>(</a:t>
            </a:r>
            <a:r>
              <a:rPr lang="ko-KR" altLang="en-US" sz="1000" dirty="0">
                <a:latin typeface="+mj-ea"/>
                <a:ea typeface="+mj-ea"/>
              </a:rPr>
              <a:t>임의적 단계</a:t>
            </a:r>
            <a:r>
              <a:rPr lang="en-US" altLang="ko-KR" sz="1000" dirty="0">
                <a:latin typeface="+mj-ea"/>
                <a:ea typeface="+mj-ea"/>
              </a:rPr>
              <a:t>)</a:t>
            </a:r>
            <a:endParaRPr lang="ko-KR" altLang="en-US" sz="1000" b="0" dirty="0">
              <a:latin typeface="+mj-ea"/>
              <a:ea typeface="+mj-ea"/>
            </a:endParaRPr>
          </a:p>
        </p:txBody>
      </p:sp>
      <p:sp>
        <p:nvSpPr>
          <p:cNvPr id="151" name="Rectangle 14"/>
          <p:cNvSpPr>
            <a:spLocks noChangeArrowheads="1"/>
          </p:cNvSpPr>
          <p:nvPr/>
        </p:nvSpPr>
        <p:spPr bwMode="auto">
          <a:xfrm>
            <a:off x="6417231" y="3677495"/>
            <a:ext cx="1801284" cy="245491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solidFill>
                  <a:schemeClr val="bg1"/>
                </a:solidFill>
                <a:latin typeface="+mj-ea"/>
                <a:ea typeface="+mj-ea"/>
              </a:rPr>
              <a:t>국제예비심사</a:t>
            </a:r>
          </a:p>
        </p:txBody>
      </p:sp>
      <p:sp>
        <p:nvSpPr>
          <p:cNvPr id="152" name="Rectangle 14"/>
          <p:cNvSpPr>
            <a:spLocks noChangeArrowheads="1"/>
          </p:cNvSpPr>
          <p:nvPr/>
        </p:nvSpPr>
        <p:spPr bwMode="auto">
          <a:xfrm>
            <a:off x="7426602" y="4378507"/>
            <a:ext cx="3744417" cy="40399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b"/>
          <a:lstStyle/>
          <a:p>
            <a:pPr algn="just"/>
            <a:r>
              <a:rPr lang="ko-KR" altLang="en-US" sz="1000" b="0" dirty="0">
                <a:latin typeface="+mj-ea"/>
                <a:ea typeface="+mj-ea"/>
              </a:rPr>
              <a:t>기준일 전에 각 지정국이 요구하는 언어로 작성된 번역문을 각 지정관청에 제출</a:t>
            </a:r>
          </a:p>
        </p:txBody>
      </p:sp>
      <p:sp>
        <p:nvSpPr>
          <p:cNvPr id="153" name="Rectangle 14"/>
          <p:cNvSpPr>
            <a:spLocks noChangeArrowheads="1"/>
          </p:cNvSpPr>
          <p:nvPr/>
        </p:nvSpPr>
        <p:spPr bwMode="auto">
          <a:xfrm>
            <a:off x="6417231" y="4177905"/>
            <a:ext cx="1801284" cy="245491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번역문 제출</a:t>
            </a:r>
          </a:p>
        </p:txBody>
      </p:sp>
      <p:sp>
        <p:nvSpPr>
          <p:cNvPr id="154" name="Rectangle 14"/>
          <p:cNvSpPr>
            <a:spLocks noChangeArrowheads="1"/>
          </p:cNvSpPr>
          <p:nvPr/>
        </p:nvSpPr>
        <p:spPr bwMode="auto">
          <a:xfrm>
            <a:off x="912688" y="5713672"/>
            <a:ext cx="1088053" cy="2454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심사</a:t>
            </a:r>
          </a:p>
        </p:txBody>
      </p:sp>
      <p:cxnSp>
        <p:nvCxnSpPr>
          <p:cNvPr id="155" name="직선 화살표 연결선 154"/>
          <p:cNvCxnSpPr>
            <a:stCxn id="154" idx="2"/>
            <a:endCxn id="156" idx="0"/>
          </p:cNvCxnSpPr>
          <p:nvPr/>
        </p:nvCxnSpPr>
        <p:spPr>
          <a:xfrm>
            <a:off x="1456715" y="5959164"/>
            <a:ext cx="0" cy="10892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tangle 14"/>
          <p:cNvSpPr>
            <a:spLocks noChangeArrowheads="1"/>
          </p:cNvSpPr>
          <p:nvPr/>
        </p:nvSpPr>
        <p:spPr bwMode="auto">
          <a:xfrm>
            <a:off x="912688" y="6068084"/>
            <a:ext cx="1088053" cy="2454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특허</a:t>
            </a:r>
          </a:p>
        </p:txBody>
      </p:sp>
      <p:cxnSp>
        <p:nvCxnSpPr>
          <p:cNvPr id="158" name="직선 화살표 연결선 157"/>
          <p:cNvCxnSpPr>
            <a:endCxn id="159" idx="0"/>
          </p:cNvCxnSpPr>
          <p:nvPr/>
        </p:nvCxnSpPr>
        <p:spPr>
          <a:xfrm>
            <a:off x="2768953" y="5607361"/>
            <a:ext cx="0" cy="10631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ectangle 14"/>
          <p:cNvSpPr>
            <a:spLocks noChangeArrowheads="1"/>
          </p:cNvSpPr>
          <p:nvPr/>
        </p:nvSpPr>
        <p:spPr bwMode="auto">
          <a:xfrm>
            <a:off x="2224927" y="5713672"/>
            <a:ext cx="1088053" cy="2454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심사</a:t>
            </a:r>
          </a:p>
        </p:txBody>
      </p:sp>
      <p:cxnSp>
        <p:nvCxnSpPr>
          <p:cNvPr id="160" name="직선 화살표 연결선 159"/>
          <p:cNvCxnSpPr>
            <a:stCxn id="159" idx="2"/>
            <a:endCxn id="161" idx="0"/>
          </p:cNvCxnSpPr>
          <p:nvPr/>
        </p:nvCxnSpPr>
        <p:spPr>
          <a:xfrm>
            <a:off x="2768953" y="5959164"/>
            <a:ext cx="0" cy="10892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ctangle 14"/>
          <p:cNvSpPr>
            <a:spLocks noChangeArrowheads="1"/>
          </p:cNvSpPr>
          <p:nvPr/>
        </p:nvSpPr>
        <p:spPr bwMode="auto">
          <a:xfrm>
            <a:off x="2224927" y="6068084"/>
            <a:ext cx="1088053" cy="2454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특허</a:t>
            </a:r>
          </a:p>
        </p:txBody>
      </p:sp>
      <p:cxnSp>
        <p:nvCxnSpPr>
          <p:cNvPr id="162" name="직선 화살표 연결선 161"/>
          <p:cNvCxnSpPr>
            <a:endCxn id="165" idx="0"/>
          </p:cNvCxnSpPr>
          <p:nvPr/>
        </p:nvCxnSpPr>
        <p:spPr>
          <a:xfrm>
            <a:off x="4081191" y="5607362"/>
            <a:ext cx="0" cy="460723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Rectangle 14"/>
          <p:cNvSpPr>
            <a:spLocks noChangeArrowheads="1"/>
          </p:cNvSpPr>
          <p:nvPr/>
        </p:nvSpPr>
        <p:spPr bwMode="auto">
          <a:xfrm>
            <a:off x="3537164" y="6068084"/>
            <a:ext cx="1088053" cy="2454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특허</a:t>
            </a:r>
          </a:p>
        </p:txBody>
      </p:sp>
      <p:cxnSp>
        <p:nvCxnSpPr>
          <p:cNvPr id="170" name="직선 화살표 연결선 169"/>
          <p:cNvCxnSpPr>
            <a:stCxn id="122" idx="2"/>
            <a:endCxn id="143" idx="0"/>
          </p:cNvCxnSpPr>
          <p:nvPr/>
        </p:nvCxnSpPr>
        <p:spPr>
          <a:xfrm>
            <a:off x="7317873" y="1685504"/>
            <a:ext cx="0" cy="41943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화살표 연결선 171"/>
          <p:cNvCxnSpPr>
            <a:stCxn id="143" idx="2"/>
            <a:endCxn id="149" idx="0"/>
          </p:cNvCxnSpPr>
          <p:nvPr/>
        </p:nvCxnSpPr>
        <p:spPr>
          <a:xfrm>
            <a:off x="7317873" y="2350426"/>
            <a:ext cx="0" cy="297695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화살표 연결선 173"/>
          <p:cNvCxnSpPr>
            <a:endCxn id="147" idx="0"/>
          </p:cNvCxnSpPr>
          <p:nvPr/>
        </p:nvCxnSpPr>
        <p:spPr>
          <a:xfrm>
            <a:off x="7317873" y="2893612"/>
            <a:ext cx="0" cy="441623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화살표 연결선 175"/>
          <p:cNvCxnSpPr>
            <a:stCxn id="147" idx="2"/>
            <a:endCxn id="151" idx="0"/>
          </p:cNvCxnSpPr>
          <p:nvPr/>
        </p:nvCxnSpPr>
        <p:spPr>
          <a:xfrm>
            <a:off x="7317873" y="3580726"/>
            <a:ext cx="0" cy="96769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화살표 연결선 177"/>
          <p:cNvCxnSpPr>
            <a:stCxn id="153" idx="2"/>
            <a:endCxn id="186" idx="0"/>
          </p:cNvCxnSpPr>
          <p:nvPr/>
        </p:nvCxnSpPr>
        <p:spPr>
          <a:xfrm>
            <a:off x="7317873" y="4423396"/>
            <a:ext cx="0" cy="405333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화살표 연결선 179"/>
          <p:cNvCxnSpPr>
            <a:cxnSpLocks/>
            <a:stCxn id="19" idx="0"/>
          </p:cNvCxnSpPr>
          <p:nvPr/>
        </p:nvCxnSpPr>
        <p:spPr>
          <a:xfrm flipV="1">
            <a:off x="1456715" y="1685504"/>
            <a:ext cx="0" cy="3567407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꺾인 연결선 181"/>
          <p:cNvCxnSpPr>
            <a:cxnSpLocks/>
            <a:stCxn id="19" idx="0"/>
            <a:endCxn id="96" idx="0"/>
          </p:cNvCxnSpPr>
          <p:nvPr/>
        </p:nvCxnSpPr>
        <p:spPr>
          <a:xfrm rot="5400000" flipH="1" flipV="1">
            <a:off x="2768954" y="3940672"/>
            <a:ext cx="12700" cy="2624478"/>
          </a:xfrm>
          <a:prstGeom prst="bentConnector3">
            <a:avLst>
              <a:gd name="adj1" fmla="val 180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꺾인 연결선 183"/>
          <p:cNvCxnSpPr>
            <a:cxnSpLocks/>
            <a:stCxn id="19" idx="0"/>
            <a:endCxn id="90" idx="0"/>
          </p:cNvCxnSpPr>
          <p:nvPr/>
        </p:nvCxnSpPr>
        <p:spPr>
          <a:xfrm rot="5400000" flipH="1" flipV="1">
            <a:off x="2112834" y="4596792"/>
            <a:ext cx="12700" cy="1312239"/>
          </a:xfrm>
          <a:prstGeom prst="bentConnector3">
            <a:avLst>
              <a:gd name="adj1" fmla="val 180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Rectangle 14"/>
          <p:cNvSpPr>
            <a:spLocks noChangeArrowheads="1"/>
          </p:cNvSpPr>
          <p:nvPr/>
        </p:nvSpPr>
        <p:spPr bwMode="auto">
          <a:xfrm>
            <a:off x="6417231" y="4828729"/>
            <a:ext cx="1801284" cy="245491"/>
          </a:xfrm>
          <a:prstGeom prst="roundRect">
            <a:avLst/>
          </a:prstGeom>
          <a:solidFill>
            <a:srgbClr val="00B0F0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solidFill>
                  <a:schemeClr val="bg1"/>
                </a:solidFill>
                <a:latin typeface="+mj-ea"/>
                <a:ea typeface="+mj-ea"/>
              </a:rPr>
              <a:t>기준일</a:t>
            </a:r>
          </a:p>
        </p:txBody>
      </p:sp>
      <p:sp>
        <p:nvSpPr>
          <p:cNvPr id="202" name="Rectangle 14"/>
          <p:cNvSpPr>
            <a:spLocks noChangeArrowheads="1"/>
          </p:cNvSpPr>
          <p:nvPr/>
        </p:nvSpPr>
        <p:spPr bwMode="auto">
          <a:xfrm>
            <a:off x="6767074" y="5292081"/>
            <a:ext cx="1088053" cy="3152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dirty="0">
                <a:latin typeface="+mj-ea"/>
              </a:rPr>
              <a:t>A</a:t>
            </a:r>
            <a:r>
              <a:rPr lang="ko-KR" altLang="en-US" sz="1000" dirty="0">
                <a:latin typeface="+mj-ea"/>
              </a:rPr>
              <a:t>국 특허담당</a:t>
            </a:r>
            <a:endParaRPr lang="en-US" altLang="ko-KR" sz="1000" dirty="0">
              <a:latin typeface="+mj-ea"/>
            </a:endParaRPr>
          </a:p>
          <a:p>
            <a:pPr algn="ctr"/>
            <a:r>
              <a:rPr lang="ko-KR" altLang="en-US" sz="1000" dirty="0">
                <a:latin typeface="+mj-ea"/>
              </a:rPr>
              <a:t>정부기관</a:t>
            </a:r>
          </a:p>
        </p:txBody>
      </p:sp>
      <p:cxnSp>
        <p:nvCxnSpPr>
          <p:cNvPr id="203" name="직선 화살표 연결선 202"/>
          <p:cNvCxnSpPr>
            <a:cxnSpLocks/>
            <a:stCxn id="202" idx="2"/>
            <a:endCxn id="206" idx="0"/>
          </p:cNvCxnSpPr>
          <p:nvPr/>
        </p:nvCxnSpPr>
        <p:spPr>
          <a:xfrm>
            <a:off x="7311101" y="5607362"/>
            <a:ext cx="0" cy="10631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ectangle 14"/>
          <p:cNvSpPr>
            <a:spLocks noChangeArrowheads="1"/>
          </p:cNvSpPr>
          <p:nvPr/>
        </p:nvSpPr>
        <p:spPr bwMode="auto">
          <a:xfrm>
            <a:off x="8070846" y="5292081"/>
            <a:ext cx="1088053" cy="3152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dirty="0">
                <a:latin typeface="+mj-ea"/>
              </a:rPr>
              <a:t>B</a:t>
            </a:r>
            <a:r>
              <a:rPr lang="ko-KR" altLang="en-US" sz="1000" dirty="0">
                <a:latin typeface="+mj-ea"/>
              </a:rPr>
              <a:t>국 특허담당</a:t>
            </a:r>
            <a:endParaRPr lang="en-US" altLang="ko-KR" sz="1000" dirty="0">
              <a:latin typeface="+mj-ea"/>
            </a:endParaRPr>
          </a:p>
          <a:p>
            <a:pPr algn="ctr"/>
            <a:r>
              <a:rPr lang="ko-KR" altLang="en-US" sz="1000" dirty="0">
                <a:latin typeface="+mj-ea"/>
              </a:rPr>
              <a:t>정부기관</a:t>
            </a:r>
          </a:p>
        </p:txBody>
      </p:sp>
      <p:sp>
        <p:nvSpPr>
          <p:cNvPr id="205" name="Rectangle 14"/>
          <p:cNvSpPr>
            <a:spLocks noChangeArrowheads="1"/>
          </p:cNvSpPr>
          <p:nvPr/>
        </p:nvSpPr>
        <p:spPr bwMode="auto">
          <a:xfrm>
            <a:off x="9383084" y="5292081"/>
            <a:ext cx="1088053" cy="3152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dirty="0">
                <a:latin typeface="+mj-ea"/>
              </a:rPr>
              <a:t>C</a:t>
            </a:r>
            <a:r>
              <a:rPr lang="ko-KR" altLang="en-US" sz="1000" dirty="0">
                <a:latin typeface="+mj-ea"/>
              </a:rPr>
              <a:t>국 특허담당</a:t>
            </a:r>
            <a:endParaRPr lang="en-US" altLang="ko-KR" sz="1000" dirty="0">
              <a:latin typeface="+mj-ea"/>
            </a:endParaRPr>
          </a:p>
          <a:p>
            <a:pPr algn="ctr"/>
            <a:r>
              <a:rPr lang="ko-KR" altLang="en-US" sz="1000" dirty="0">
                <a:latin typeface="+mj-ea"/>
              </a:rPr>
              <a:t>정부기관</a:t>
            </a:r>
          </a:p>
        </p:txBody>
      </p:sp>
      <p:sp>
        <p:nvSpPr>
          <p:cNvPr id="206" name="Rectangle 14"/>
          <p:cNvSpPr>
            <a:spLocks noChangeArrowheads="1"/>
          </p:cNvSpPr>
          <p:nvPr/>
        </p:nvSpPr>
        <p:spPr bwMode="auto">
          <a:xfrm>
            <a:off x="6767074" y="5713672"/>
            <a:ext cx="1088053" cy="2454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심사</a:t>
            </a:r>
          </a:p>
        </p:txBody>
      </p:sp>
      <p:cxnSp>
        <p:nvCxnSpPr>
          <p:cNvPr id="207" name="직선 화살표 연결선 206"/>
          <p:cNvCxnSpPr>
            <a:stCxn id="206" idx="2"/>
            <a:endCxn id="208" idx="0"/>
          </p:cNvCxnSpPr>
          <p:nvPr/>
        </p:nvCxnSpPr>
        <p:spPr>
          <a:xfrm>
            <a:off x="7311100" y="5959164"/>
            <a:ext cx="0" cy="10892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ctangle 14"/>
          <p:cNvSpPr>
            <a:spLocks noChangeArrowheads="1"/>
          </p:cNvSpPr>
          <p:nvPr/>
        </p:nvSpPr>
        <p:spPr bwMode="auto">
          <a:xfrm>
            <a:off x="6767074" y="6068084"/>
            <a:ext cx="1088053" cy="2454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특허</a:t>
            </a:r>
          </a:p>
        </p:txBody>
      </p:sp>
      <p:cxnSp>
        <p:nvCxnSpPr>
          <p:cNvPr id="209" name="직선 화살표 연결선 208"/>
          <p:cNvCxnSpPr>
            <a:endCxn id="210" idx="0"/>
          </p:cNvCxnSpPr>
          <p:nvPr/>
        </p:nvCxnSpPr>
        <p:spPr>
          <a:xfrm>
            <a:off x="8614872" y="5607361"/>
            <a:ext cx="0" cy="10631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Rectangle 14"/>
          <p:cNvSpPr>
            <a:spLocks noChangeArrowheads="1"/>
          </p:cNvSpPr>
          <p:nvPr/>
        </p:nvSpPr>
        <p:spPr bwMode="auto">
          <a:xfrm>
            <a:off x="8070846" y="5713672"/>
            <a:ext cx="1088053" cy="2454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심사</a:t>
            </a:r>
          </a:p>
        </p:txBody>
      </p:sp>
      <p:cxnSp>
        <p:nvCxnSpPr>
          <p:cNvPr id="211" name="직선 화살표 연결선 210"/>
          <p:cNvCxnSpPr>
            <a:stCxn id="210" idx="2"/>
            <a:endCxn id="212" idx="0"/>
          </p:cNvCxnSpPr>
          <p:nvPr/>
        </p:nvCxnSpPr>
        <p:spPr>
          <a:xfrm>
            <a:off x="8614872" y="5959164"/>
            <a:ext cx="0" cy="10892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Rectangle 14"/>
          <p:cNvSpPr>
            <a:spLocks noChangeArrowheads="1"/>
          </p:cNvSpPr>
          <p:nvPr/>
        </p:nvSpPr>
        <p:spPr bwMode="auto">
          <a:xfrm>
            <a:off x="8070846" y="6068084"/>
            <a:ext cx="1088053" cy="2454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특허</a:t>
            </a:r>
          </a:p>
        </p:txBody>
      </p:sp>
      <p:cxnSp>
        <p:nvCxnSpPr>
          <p:cNvPr id="213" name="직선 화살표 연결선 212"/>
          <p:cNvCxnSpPr>
            <a:endCxn id="214" idx="0"/>
          </p:cNvCxnSpPr>
          <p:nvPr/>
        </p:nvCxnSpPr>
        <p:spPr>
          <a:xfrm>
            <a:off x="9927109" y="5607362"/>
            <a:ext cx="0" cy="460723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Rectangle 14"/>
          <p:cNvSpPr>
            <a:spLocks noChangeArrowheads="1"/>
          </p:cNvSpPr>
          <p:nvPr/>
        </p:nvSpPr>
        <p:spPr bwMode="auto">
          <a:xfrm>
            <a:off x="9383083" y="6068084"/>
            <a:ext cx="1088053" cy="2454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특허</a:t>
            </a:r>
          </a:p>
        </p:txBody>
      </p:sp>
      <p:cxnSp>
        <p:nvCxnSpPr>
          <p:cNvPr id="215" name="꺾인 연결선 214"/>
          <p:cNvCxnSpPr>
            <a:cxnSpLocks/>
            <a:stCxn id="186" idx="2"/>
            <a:endCxn id="205" idx="0"/>
          </p:cNvCxnSpPr>
          <p:nvPr/>
        </p:nvCxnSpPr>
        <p:spPr>
          <a:xfrm rot="16200000" flipH="1">
            <a:off x="8513562" y="3878531"/>
            <a:ext cx="217861" cy="2609238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꺾인 연결선 215"/>
          <p:cNvCxnSpPr>
            <a:cxnSpLocks/>
            <a:stCxn id="186" idx="2"/>
            <a:endCxn id="204" idx="0"/>
          </p:cNvCxnSpPr>
          <p:nvPr/>
        </p:nvCxnSpPr>
        <p:spPr>
          <a:xfrm rot="16200000" flipH="1">
            <a:off x="7857443" y="4534650"/>
            <a:ext cx="217861" cy="129700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218"/>
          <p:cNvCxnSpPr>
            <a:stCxn id="151" idx="2"/>
            <a:endCxn id="153" idx="0"/>
          </p:cNvCxnSpPr>
          <p:nvPr/>
        </p:nvCxnSpPr>
        <p:spPr>
          <a:xfrm>
            <a:off x="7317873" y="3922986"/>
            <a:ext cx="0" cy="254919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화살표 연결선 221"/>
          <p:cNvCxnSpPr>
            <a:cxnSpLocks/>
            <a:stCxn id="186" idx="2"/>
            <a:endCxn id="202" idx="0"/>
          </p:cNvCxnSpPr>
          <p:nvPr/>
        </p:nvCxnSpPr>
        <p:spPr>
          <a:xfrm flipH="1">
            <a:off x="7311101" y="5074220"/>
            <a:ext cx="6772" cy="21786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꺾인 연결선 231"/>
          <p:cNvCxnSpPr>
            <a:stCxn id="6" idx="2"/>
            <a:endCxn id="7" idx="0"/>
          </p:cNvCxnSpPr>
          <p:nvPr/>
        </p:nvCxnSpPr>
        <p:spPr>
          <a:xfrm rot="5400000">
            <a:off x="3616395" y="-617053"/>
            <a:ext cx="242433" cy="388322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꺾인 연결선 233"/>
          <p:cNvCxnSpPr>
            <a:stCxn id="6" idx="2"/>
            <a:endCxn id="122" idx="0"/>
          </p:cNvCxnSpPr>
          <p:nvPr/>
        </p:nvCxnSpPr>
        <p:spPr>
          <a:xfrm rot="16200000" flipH="1">
            <a:off x="6380211" y="502350"/>
            <a:ext cx="236673" cy="163865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Rectangle 14"/>
          <p:cNvSpPr>
            <a:spLocks noChangeArrowheads="1"/>
          </p:cNvSpPr>
          <p:nvPr/>
        </p:nvSpPr>
        <p:spPr bwMode="auto">
          <a:xfrm>
            <a:off x="11390365" y="2296110"/>
            <a:ext cx="370265" cy="13027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b"/>
          <a:lstStyle/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국</a:t>
            </a:r>
            <a:endParaRPr lang="en-US" altLang="ko-KR" sz="1600" dirty="0">
              <a:solidFill>
                <a:schemeClr val="accent6">
                  <a:lumMod val="50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b="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제</a:t>
            </a:r>
            <a:endParaRPr lang="en-US" altLang="ko-KR" sz="1600" b="0" dirty="0">
              <a:solidFill>
                <a:schemeClr val="accent6">
                  <a:lumMod val="50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단</a:t>
            </a:r>
            <a:endParaRPr lang="en-US" altLang="ko-KR" sz="1600" dirty="0">
              <a:solidFill>
                <a:schemeClr val="accent6">
                  <a:lumMod val="50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b="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계</a:t>
            </a:r>
          </a:p>
        </p:txBody>
      </p:sp>
      <p:sp>
        <p:nvSpPr>
          <p:cNvPr id="238" name="Rectangle 14"/>
          <p:cNvSpPr>
            <a:spLocks noChangeArrowheads="1"/>
          </p:cNvSpPr>
          <p:nvPr/>
        </p:nvSpPr>
        <p:spPr bwMode="auto">
          <a:xfrm>
            <a:off x="11390365" y="4930831"/>
            <a:ext cx="370265" cy="13027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b"/>
          <a:lstStyle/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국</a:t>
            </a:r>
            <a:endParaRPr lang="en-US" altLang="ko-KR" sz="1600" dirty="0">
              <a:solidFill>
                <a:schemeClr val="accent6">
                  <a:lumMod val="50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내</a:t>
            </a:r>
            <a:endParaRPr lang="en-US" altLang="ko-KR" sz="1600" b="0" dirty="0">
              <a:solidFill>
                <a:schemeClr val="accent6">
                  <a:lumMod val="50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단</a:t>
            </a:r>
            <a:endParaRPr lang="en-US" altLang="ko-KR" sz="1600" dirty="0">
              <a:solidFill>
                <a:schemeClr val="accent6">
                  <a:lumMod val="50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b="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계</a:t>
            </a:r>
          </a:p>
        </p:txBody>
      </p:sp>
      <p:sp>
        <p:nvSpPr>
          <p:cNvPr id="239" name="Rectangle 14"/>
          <p:cNvSpPr>
            <a:spLocks noChangeArrowheads="1"/>
          </p:cNvSpPr>
          <p:nvPr/>
        </p:nvSpPr>
        <p:spPr bwMode="auto">
          <a:xfrm>
            <a:off x="353058" y="4930831"/>
            <a:ext cx="370265" cy="13027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b"/>
          <a:lstStyle/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국</a:t>
            </a:r>
            <a:endParaRPr lang="en-US" altLang="ko-KR" sz="1600" dirty="0">
              <a:solidFill>
                <a:schemeClr val="accent6">
                  <a:lumMod val="50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내</a:t>
            </a:r>
            <a:endParaRPr lang="en-US" altLang="ko-KR" sz="1600" b="0" dirty="0">
              <a:solidFill>
                <a:schemeClr val="accent6">
                  <a:lumMod val="50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단</a:t>
            </a:r>
            <a:endParaRPr lang="en-US" altLang="ko-KR" sz="1600" dirty="0">
              <a:solidFill>
                <a:schemeClr val="accent6">
                  <a:lumMod val="50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b="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계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해외출원루트의 선택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546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79083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해외출원루트의 선택</a:t>
            </a:r>
          </a:p>
        </p:txBody>
      </p:sp>
      <p:cxnSp>
        <p:nvCxnSpPr>
          <p:cNvPr id="65" name="직선 연결선 64"/>
          <p:cNvCxnSpPr/>
          <p:nvPr/>
        </p:nvCxnSpPr>
        <p:spPr>
          <a:xfrm>
            <a:off x="77875" y="148620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7875" y="976902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latin typeface="+mn-ea"/>
              </a:rPr>
              <a:t>해외출원할</a:t>
            </a:r>
            <a:r>
              <a:rPr lang="ko-KR" altLang="en-US" sz="1400" dirty="0">
                <a:latin typeface="+mn-ea"/>
              </a:rPr>
              <a:t> 수 있는 </a:t>
            </a:r>
            <a:r>
              <a:rPr lang="en-US" altLang="ko-KR" sz="1400" dirty="0">
                <a:latin typeface="+mn-ea"/>
              </a:rPr>
              <a:t>4</a:t>
            </a:r>
            <a:r>
              <a:rPr lang="ko-KR" altLang="en-US" sz="1400" dirty="0">
                <a:latin typeface="+mn-ea"/>
              </a:rPr>
              <a:t>가지 방법 中 </a:t>
            </a:r>
            <a:r>
              <a:rPr lang="ko-KR" altLang="en-US" sz="1400" dirty="0" err="1">
                <a:latin typeface="+mn-ea"/>
              </a:rPr>
              <a:t>우선기간의</a:t>
            </a:r>
            <a:r>
              <a:rPr lang="ko-KR" altLang="en-US" sz="1400" dirty="0">
                <a:latin typeface="+mn-ea"/>
              </a:rPr>
              <a:t> 이익을 최대한 활용한 </a:t>
            </a:r>
            <a:r>
              <a:rPr lang="en-US" altLang="ko-KR" sz="1400" dirty="0">
                <a:latin typeface="+mn-ea"/>
              </a:rPr>
              <a:t>D </a:t>
            </a:r>
            <a:r>
              <a:rPr lang="ko-KR" altLang="en-US" sz="1400" dirty="0">
                <a:latin typeface="+mn-ea"/>
              </a:rPr>
              <a:t>유형이 가장 많이 이용되고 있으며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그 다음 순으로는 </a:t>
            </a:r>
            <a:r>
              <a:rPr lang="en-US" altLang="ko-KR" sz="1400" dirty="0">
                <a:latin typeface="+mn-ea"/>
              </a:rPr>
              <a:t>B </a:t>
            </a:r>
            <a:r>
              <a:rPr lang="ko-KR" altLang="en-US" sz="1400" dirty="0">
                <a:latin typeface="+mn-ea"/>
              </a:rPr>
              <a:t>유형</a:t>
            </a:r>
            <a:r>
              <a:rPr lang="en-US" altLang="ko-KR" sz="1400" dirty="0">
                <a:latin typeface="+mn-ea"/>
                <a:sym typeface="Wingdings" pitchFamily="2" charset="2"/>
              </a:rPr>
              <a:t></a:t>
            </a:r>
            <a:r>
              <a:rPr lang="en-US" altLang="ko-KR" sz="1400" dirty="0">
                <a:latin typeface="+mn-ea"/>
              </a:rPr>
              <a:t> C </a:t>
            </a:r>
            <a:r>
              <a:rPr lang="ko-KR" altLang="en-US" sz="1400" dirty="0">
                <a:latin typeface="+mn-ea"/>
              </a:rPr>
              <a:t>유형</a:t>
            </a:r>
            <a:r>
              <a:rPr lang="en-US" altLang="ko-KR" sz="1400" dirty="0">
                <a:latin typeface="+mn-ea"/>
                <a:sym typeface="Wingdings" pitchFamily="2" charset="2"/>
              </a:rPr>
              <a:t></a:t>
            </a:r>
            <a:r>
              <a:rPr lang="en-US" altLang="ko-KR" sz="1400" dirty="0">
                <a:latin typeface="+mn-ea"/>
              </a:rPr>
              <a:t> A </a:t>
            </a:r>
            <a:r>
              <a:rPr lang="ko-KR" altLang="en-US" sz="1400" dirty="0">
                <a:latin typeface="+mn-ea"/>
              </a:rPr>
              <a:t>유형이 활용되고 있다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67" name="Rectangle 44"/>
          <p:cNvSpPr>
            <a:spLocks noChangeArrowheads="1"/>
          </p:cNvSpPr>
          <p:nvPr/>
        </p:nvSpPr>
        <p:spPr bwMode="auto">
          <a:xfrm>
            <a:off x="1649786" y="2191356"/>
            <a:ext cx="4152879" cy="17899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endParaRPr lang="ko-KR" altLang="ko-KR" sz="2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8" name="Rectangle 36"/>
          <p:cNvSpPr>
            <a:spLocks noChangeArrowheads="1"/>
          </p:cNvSpPr>
          <p:nvPr/>
        </p:nvSpPr>
        <p:spPr bwMode="auto">
          <a:xfrm>
            <a:off x="5864104" y="2191356"/>
            <a:ext cx="5365747" cy="17899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endParaRPr lang="ko-KR" altLang="ko-KR" sz="2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9" name="Rectangle 35"/>
          <p:cNvSpPr>
            <a:spLocks noChangeArrowheads="1"/>
          </p:cNvSpPr>
          <p:nvPr/>
        </p:nvSpPr>
        <p:spPr bwMode="auto">
          <a:xfrm>
            <a:off x="5864104" y="4094760"/>
            <a:ext cx="5365747" cy="19539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endParaRPr lang="ko-KR" altLang="ko-KR" sz="2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0" name="Rectangle 45"/>
          <p:cNvSpPr>
            <a:spLocks noChangeArrowheads="1"/>
          </p:cNvSpPr>
          <p:nvPr/>
        </p:nvSpPr>
        <p:spPr bwMode="auto">
          <a:xfrm>
            <a:off x="1649786" y="4094760"/>
            <a:ext cx="4152879" cy="19539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endParaRPr lang="ko-KR" altLang="ko-KR" sz="200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1" name="직선 연결선 70"/>
          <p:cNvCxnSpPr/>
          <p:nvPr/>
        </p:nvCxnSpPr>
        <p:spPr bwMode="auto">
          <a:xfrm rot="16200000" flipH="1">
            <a:off x="467486" y="4120037"/>
            <a:ext cx="3857356" cy="0"/>
          </a:xfrm>
          <a:prstGeom prst="line">
            <a:avLst/>
          </a:prstGeom>
          <a:ln w="6350">
            <a:solidFill>
              <a:schemeClr val="accent5">
                <a:lumMod val="50000"/>
              </a:schemeClr>
            </a:solidFill>
            <a:headEnd type="none" w="med" len="med"/>
            <a:tailEnd type="none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 bwMode="auto">
          <a:xfrm rot="16200000" flipH="1">
            <a:off x="2130913" y="4120037"/>
            <a:ext cx="3857356" cy="0"/>
          </a:xfrm>
          <a:prstGeom prst="line">
            <a:avLst/>
          </a:prstGeom>
          <a:ln w="6350">
            <a:solidFill>
              <a:schemeClr val="accent5">
                <a:lumMod val="50000"/>
              </a:schemeClr>
            </a:solidFill>
            <a:headEnd type="none" w="med" len="med"/>
            <a:tailEnd type="none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 bwMode="auto">
          <a:xfrm rot="16200000" flipH="1">
            <a:off x="4754623" y="4120037"/>
            <a:ext cx="3857356" cy="0"/>
          </a:xfrm>
          <a:prstGeom prst="line">
            <a:avLst/>
          </a:prstGeom>
          <a:ln w="6350">
            <a:solidFill>
              <a:schemeClr val="accent5">
                <a:lumMod val="50000"/>
              </a:schemeClr>
            </a:solidFill>
            <a:headEnd type="none" w="med" len="med"/>
            <a:tailEnd type="none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 bwMode="auto">
          <a:xfrm rot="16200000" flipH="1">
            <a:off x="6124503" y="4120037"/>
            <a:ext cx="3857356" cy="0"/>
          </a:xfrm>
          <a:prstGeom prst="line">
            <a:avLst/>
          </a:prstGeom>
          <a:ln w="6350">
            <a:solidFill>
              <a:schemeClr val="accent5">
                <a:lumMod val="50000"/>
              </a:schemeClr>
            </a:solidFill>
            <a:headEnd type="none" w="med" len="med"/>
            <a:tailEnd type="none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 bwMode="auto">
          <a:xfrm rot="16200000" flipH="1">
            <a:off x="7708546" y="4120037"/>
            <a:ext cx="3857356" cy="0"/>
          </a:xfrm>
          <a:prstGeom prst="line">
            <a:avLst/>
          </a:prstGeom>
          <a:ln w="6350">
            <a:solidFill>
              <a:schemeClr val="accent5">
                <a:lumMod val="50000"/>
              </a:schemeClr>
            </a:solidFill>
            <a:headEnd type="none" w="med" len="med"/>
            <a:tailEnd type="none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6" name="Rectangle 6"/>
          <p:cNvSpPr>
            <a:spLocks noChangeArrowheads="1"/>
          </p:cNvSpPr>
          <p:nvPr/>
        </p:nvSpPr>
        <p:spPr bwMode="auto">
          <a:xfrm>
            <a:off x="7689151" y="2389153"/>
            <a:ext cx="762308" cy="27475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US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7" name="Rectangle 7"/>
          <p:cNvSpPr>
            <a:spLocks noChangeArrowheads="1"/>
          </p:cNvSpPr>
          <p:nvPr/>
        </p:nvSpPr>
        <p:spPr bwMode="auto">
          <a:xfrm>
            <a:off x="7689151" y="2894676"/>
            <a:ext cx="762308" cy="27475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JP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8" name="Rectangle 8"/>
          <p:cNvSpPr>
            <a:spLocks noChangeArrowheads="1"/>
          </p:cNvSpPr>
          <p:nvPr/>
        </p:nvSpPr>
        <p:spPr bwMode="auto">
          <a:xfrm>
            <a:off x="7689151" y="3400198"/>
            <a:ext cx="762308" cy="27475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>
                <a:solidFill>
                  <a:srgbClr val="FFFFFF"/>
                </a:solidFill>
                <a:latin typeface="+mn-ea"/>
              </a:rPr>
              <a:t>EPO</a:t>
            </a:r>
          </a:p>
        </p:txBody>
      </p:sp>
      <p:sp>
        <p:nvSpPr>
          <p:cNvPr id="79" name="Rectangle 9"/>
          <p:cNvSpPr>
            <a:spLocks noChangeArrowheads="1"/>
          </p:cNvSpPr>
          <p:nvPr/>
        </p:nvSpPr>
        <p:spPr bwMode="auto">
          <a:xfrm>
            <a:off x="8833753" y="3400198"/>
            <a:ext cx="757759" cy="27475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GR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80" name="Rectangle 10"/>
          <p:cNvSpPr>
            <a:spLocks noChangeArrowheads="1"/>
          </p:cNvSpPr>
          <p:nvPr/>
        </p:nvSpPr>
        <p:spPr bwMode="auto">
          <a:xfrm>
            <a:off x="8833753" y="2982596"/>
            <a:ext cx="757759" cy="272966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FR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86" name="Rectangle 18"/>
          <p:cNvSpPr>
            <a:spLocks noChangeArrowheads="1"/>
          </p:cNvSpPr>
          <p:nvPr/>
        </p:nvSpPr>
        <p:spPr bwMode="auto">
          <a:xfrm>
            <a:off x="7621000" y="6110496"/>
            <a:ext cx="762309" cy="3384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>
                <a:solidFill>
                  <a:schemeClr val="accent1">
                    <a:lumMod val="50000"/>
                  </a:schemeClr>
                </a:solidFill>
                <a:latin typeface="+mn-ea"/>
                <a:cs typeface="Arial" charset="0"/>
              </a:rPr>
              <a:t>12</a:t>
            </a:r>
            <a:r>
              <a:rPr kumimoji="0" lang="ko-KR" altLang="en-US" sz="1050">
                <a:solidFill>
                  <a:schemeClr val="accent1">
                    <a:lumMod val="50000"/>
                  </a:schemeClr>
                </a:solidFill>
                <a:latin typeface="+mn-ea"/>
                <a:cs typeface="Arial" charset="0"/>
              </a:rPr>
              <a:t>월</a:t>
            </a:r>
          </a:p>
        </p:txBody>
      </p:sp>
      <p:sp>
        <p:nvSpPr>
          <p:cNvPr id="87" name="Rectangle 20"/>
          <p:cNvSpPr>
            <a:spLocks noChangeArrowheads="1"/>
          </p:cNvSpPr>
          <p:nvPr/>
        </p:nvSpPr>
        <p:spPr bwMode="auto">
          <a:xfrm>
            <a:off x="8833697" y="6119925"/>
            <a:ext cx="1526895" cy="3384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chemeClr val="accent1">
                    <a:lumMod val="50000"/>
                  </a:schemeClr>
                </a:solidFill>
                <a:latin typeface="+mn-ea"/>
                <a:cs typeface="Arial" charset="0"/>
              </a:rPr>
              <a:t>30/31</a:t>
            </a:r>
            <a:r>
              <a:rPr kumimoji="0" lang="ko-KR" altLang="en-US" sz="1050" dirty="0">
                <a:solidFill>
                  <a:schemeClr val="accent1">
                    <a:lumMod val="50000"/>
                  </a:schemeClr>
                </a:solidFill>
                <a:latin typeface="+mn-ea"/>
                <a:cs typeface="Arial" charset="0"/>
              </a:rPr>
              <a:t>월</a:t>
            </a:r>
          </a:p>
        </p:txBody>
      </p:sp>
      <p:cxnSp>
        <p:nvCxnSpPr>
          <p:cNvPr id="88" name="AutoShape 21"/>
          <p:cNvCxnSpPr>
            <a:cxnSpLocks noChangeShapeType="1"/>
          </p:cNvCxnSpPr>
          <p:nvPr/>
        </p:nvCxnSpPr>
        <p:spPr bwMode="auto">
          <a:xfrm>
            <a:off x="7061043" y="2525443"/>
            <a:ext cx="628052" cy="2199"/>
          </a:xfrm>
          <a:prstGeom prst="straightConnector1">
            <a:avLst/>
          </a:prstGeom>
          <a:noFill/>
          <a:ln w="19050">
            <a:solidFill>
              <a:srgbClr val="800000"/>
            </a:solidFill>
            <a:round/>
            <a:headEnd/>
            <a:tailEnd type="stealth" w="med" len="med"/>
          </a:ln>
        </p:spPr>
      </p:cxnSp>
      <p:cxnSp>
        <p:nvCxnSpPr>
          <p:cNvPr id="89" name="AutoShape 22"/>
          <p:cNvCxnSpPr>
            <a:cxnSpLocks noChangeShapeType="1"/>
          </p:cNvCxnSpPr>
          <p:nvPr/>
        </p:nvCxnSpPr>
        <p:spPr bwMode="auto">
          <a:xfrm>
            <a:off x="7061043" y="2525443"/>
            <a:ext cx="628052" cy="505523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800000"/>
            </a:solidFill>
            <a:miter lim="800000"/>
            <a:headEnd/>
            <a:tailEnd type="stealth" w="med" len="med"/>
          </a:ln>
        </p:spPr>
      </p:cxnSp>
      <p:cxnSp>
        <p:nvCxnSpPr>
          <p:cNvPr id="91" name="AutoShape 23"/>
          <p:cNvCxnSpPr>
            <a:cxnSpLocks noChangeShapeType="1"/>
          </p:cNvCxnSpPr>
          <p:nvPr/>
        </p:nvCxnSpPr>
        <p:spPr bwMode="auto">
          <a:xfrm>
            <a:off x="7061043" y="2525443"/>
            <a:ext cx="628052" cy="101104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800000"/>
            </a:solidFill>
            <a:miter lim="800000"/>
            <a:headEnd/>
            <a:tailEnd type="stealth" w="med" len="med"/>
          </a:ln>
        </p:spPr>
      </p:cxnSp>
      <p:sp>
        <p:nvSpPr>
          <p:cNvPr id="92" name="Rectangle 25"/>
          <p:cNvSpPr>
            <a:spLocks noChangeArrowheads="1"/>
          </p:cNvSpPr>
          <p:nvPr/>
        </p:nvSpPr>
        <p:spPr bwMode="auto">
          <a:xfrm>
            <a:off x="7689151" y="4382656"/>
            <a:ext cx="762308" cy="274750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PCT</a:t>
            </a:r>
          </a:p>
        </p:txBody>
      </p:sp>
      <p:cxnSp>
        <p:nvCxnSpPr>
          <p:cNvPr id="93" name="AutoShape 26"/>
          <p:cNvCxnSpPr>
            <a:cxnSpLocks noChangeShapeType="1"/>
          </p:cNvCxnSpPr>
          <p:nvPr/>
        </p:nvCxnSpPr>
        <p:spPr bwMode="auto">
          <a:xfrm>
            <a:off x="7061043" y="4518959"/>
            <a:ext cx="628052" cy="2198"/>
          </a:xfrm>
          <a:prstGeom prst="straightConnector1">
            <a:avLst/>
          </a:prstGeom>
          <a:noFill/>
          <a:ln w="19050">
            <a:solidFill>
              <a:srgbClr val="800000"/>
            </a:solidFill>
            <a:round/>
            <a:headEnd/>
            <a:tailEnd type="stealth" w="med" len="med"/>
          </a:ln>
        </p:spPr>
      </p:cxnSp>
      <p:cxnSp>
        <p:nvCxnSpPr>
          <p:cNvPr id="94" name="AutoShape 28"/>
          <p:cNvCxnSpPr>
            <a:cxnSpLocks noChangeShapeType="1"/>
            <a:stCxn id="92" idx="3"/>
            <a:endCxn id="137" idx="1"/>
          </p:cNvCxnSpPr>
          <p:nvPr/>
        </p:nvCxnSpPr>
        <p:spPr bwMode="auto">
          <a:xfrm>
            <a:off x="8451459" y="4520031"/>
            <a:ext cx="806885" cy="0"/>
          </a:xfrm>
          <a:prstGeom prst="straightConnector1">
            <a:avLst/>
          </a:prstGeom>
          <a:noFill/>
          <a:ln w="19050">
            <a:solidFill>
              <a:srgbClr val="800000"/>
            </a:solidFill>
            <a:round/>
            <a:headEnd/>
            <a:tailEnd type="stealth" w="med" len="med"/>
          </a:ln>
        </p:spPr>
      </p:cxnSp>
      <p:cxnSp>
        <p:nvCxnSpPr>
          <p:cNvPr id="95" name="AutoShape 29"/>
          <p:cNvCxnSpPr>
            <a:cxnSpLocks noChangeShapeType="1"/>
            <a:endCxn id="146" idx="1"/>
          </p:cNvCxnSpPr>
          <p:nvPr/>
        </p:nvCxnSpPr>
        <p:spPr bwMode="auto">
          <a:xfrm>
            <a:off x="8451405" y="4518960"/>
            <a:ext cx="806939" cy="798048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800000"/>
            </a:solidFill>
            <a:miter lim="800000"/>
            <a:headEnd/>
            <a:tailEnd type="stealth" w="med" len="med"/>
          </a:ln>
        </p:spPr>
      </p:cxnSp>
      <p:cxnSp>
        <p:nvCxnSpPr>
          <p:cNvPr id="97" name="AutoShape 30"/>
          <p:cNvCxnSpPr>
            <a:cxnSpLocks noChangeShapeType="1"/>
            <a:stCxn id="92" idx="3"/>
            <a:endCxn id="139" idx="1"/>
          </p:cNvCxnSpPr>
          <p:nvPr/>
        </p:nvCxnSpPr>
        <p:spPr bwMode="auto">
          <a:xfrm>
            <a:off x="8451459" y="4520031"/>
            <a:ext cx="806885" cy="11935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800000"/>
            </a:solidFill>
            <a:miter lim="800000"/>
            <a:headEnd/>
            <a:tailEnd type="stealth" w="med" len="med"/>
          </a:ln>
        </p:spPr>
      </p:cxnSp>
      <p:cxnSp>
        <p:nvCxnSpPr>
          <p:cNvPr id="98" name="AutoShape 31"/>
          <p:cNvCxnSpPr>
            <a:cxnSpLocks noChangeShapeType="1"/>
          </p:cNvCxnSpPr>
          <p:nvPr/>
        </p:nvCxnSpPr>
        <p:spPr bwMode="auto">
          <a:xfrm>
            <a:off x="8451405" y="3536488"/>
            <a:ext cx="382292" cy="2199"/>
          </a:xfrm>
          <a:prstGeom prst="straightConnector1">
            <a:avLst/>
          </a:prstGeom>
          <a:noFill/>
          <a:ln w="19050">
            <a:solidFill>
              <a:srgbClr val="800000"/>
            </a:solidFill>
            <a:round/>
            <a:headEnd/>
            <a:tailEnd type="stealth" w="med" len="med"/>
          </a:ln>
        </p:spPr>
      </p:cxnSp>
      <p:cxnSp>
        <p:nvCxnSpPr>
          <p:cNvPr id="99" name="AutoShape 32"/>
          <p:cNvCxnSpPr>
            <a:cxnSpLocks noChangeShapeType="1"/>
          </p:cNvCxnSpPr>
          <p:nvPr/>
        </p:nvCxnSpPr>
        <p:spPr bwMode="auto">
          <a:xfrm flipV="1">
            <a:off x="8451405" y="3118882"/>
            <a:ext cx="382292" cy="41760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800000"/>
            </a:solidFill>
            <a:miter lim="800000"/>
            <a:headEnd/>
            <a:tailEnd type="stealth" w="med" len="med"/>
          </a:ln>
        </p:spPr>
      </p:cxnSp>
      <p:sp>
        <p:nvSpPr>
          <p:cNvPr id="102" name="Rectangle 4"/>
          <p:cNvSpPr>
            <a:spLocks noChangeArrowheads="1"/>
          </p:cNvSpPr>
          <p:nvPr/>
        </p:nvSpPr>
        <p:spPr bwMode="auto">
          <a:xfrm>
            <a:off x="6303340" y="2389153"/>
            <a:ext cx="757759" cy="2747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KR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03" name="Rectangle 24"/>
          <p:cNvSpPr>
            <a:spLocks noChangeArrowheads="1"/>
          </p:cNvSpPr>
          <p:nvPr/>
        </p:nvSpPr>
        <p:spPr bwMode="auto">
          <a:xfrm>
            <a:off x="6303340" y="4382656"/>
            <a:ext cx="757759" cy="2747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KR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04" name="Rectangle 43"/>
          <p:cNvSpPr>
            <a:spLocks noChangeArrowheads="1"/>
          </p:cNvSpPr>
          <p:nvPr/>
        </p:nvSpPr>
        <p:spPr bwMode="auto">
          <a:xfrm>
            <a:off x="6301010" y="6110496"/>
            <a:ext cx="762308" cy="3384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50">
                <a:solidFill>
                  <a:schemeClr val="accent1">
                    <a:lumMod val="50000"/>
                  </a:schemeClr>
                </a:solidFill>
                <a:latin typeface="+mn-ea"/>
                <a:cs typeface="Arial" charset="0"/>
              </a:rPr>
              <a:t>우선일</a:t>
            </a:r>
          </a:p>
        </p:txBody>
      </p:sp>
      <p:sp>
        <p:nvSpPr>
          <p:cNvPr id="105" name="Rectangle 47"/>
          <p:cNvSpPr>
            <a:spLocks noChangeArrowheads="1"/>
          </p:cNvSpPr>
          <p:nvPr/>
        </p:nvSpPr>
        <p:spPr bwMode="auto">
          <a:xfrm>
            <a:off x="2018410" y="2389153"/>
            <a:ext cx="762308" cy="2747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KR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06" name="Rectangle 48"/>
          <p:cNvSpPr>
            <a:spLocks noChangeArrowheads="1"/>
          </p:cNvSpPr>
          <p:nvPr/>
        </p:nvSpPr>
        <p:spPr bwMode="auto">
          <a:xfrm>
            <a:off x="2018410" y="2789182"/>
            <a:ext cx="762308" cy="27475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US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07" name="Rectangle 49"/>
          <p:cNvSpPr>
            <a:spLocks noChangeArrowheads="1"/>
          </p:cNvSpPr>
          <p:nvPr/>
        </p:nvSpPr>
        <p:spPr bwMode="auto">
          <a:xfrm>
            <a:off x="2018410" y="3580440"/>
            <a:ext cx="762308" cy="27475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>
                <a:solidFill>
                  <a:srgbClr val="FFFFFF"/>
                </a:solidFill>
                <a:latin typeface="+mn-ea"/>
              </a:rPr>
              <a:t>EPO</a:t>
            </a:r>
          </a:p>
        </p:txBody>
      </p:sp>
      <p:sp>
        <p:nvSpPr>
          <p:cNvPr id="108" name="Rectangle 50"/>
          <p:cNvSpPr>
            <a:spLocks noChangeArrowheads="1"/>
          </p:cNvSpPr>
          <p:nvPr/>
        </p:nvSpPr>
        <p:spPr bwMode="auto">
          <a:xfrm>
            <a:off x="3163011" y="3576040"/>
            <a:ext cx="757759" cy="27475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GE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09" name="Rectangle 51"/>
          <p:cNvSpPr>
            <a:spLocks noChangeArrowheads="1"/>
          </p:cNvSpPr>
          <p:nvPr/>
        </p:nvSpPr>
        <p:spPr bwMode="auto">
          <a:xfrm>
            <a:off x="3163011" y="3180410"/>
            <a:ext cx="757759" cy="272966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FR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10" name="Rectangle 53"/>
          <p:cNvSpPr>
            <a:spLocks noChangeArrowheads="1"/>
          </p:cNvSpPr>
          <p:nvPr/>
        </p:nvSpPr>
        <p:spPr bwMode="auto">
          <a:xfrm>
            <a:off x="3672735" y="4382656"/>
            <a:ext cx="757759" cy="2747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KR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11" name="Rectangle 54"/>
          <p:cNvSpPr>
            <a:spLocks noChangeArrowheads="1"/>
          </p:cNvSpPr>
          <p:nvPr/>
        </p:nvSpPr>
        <p:spPr bwMode="auto">
          <a:xfrm>
            <a:off x="3672735" y="4784895"/>
            <a:ext cx="757759" cy="272965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US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12" name="Rectangle 55"/>
          <p:cNvSpPr>
            <a:spLocks noChangeArrowheads="1"/>
          </p:cNvSpPr>
          <p:nvPr/>
        </p:nvSpPr>
        <p:spPr bwMode="auto">
          <a:xfrm>
            <a:off x="3672735" y="5576156"/>
            <a:ext cx="757759" cy="27475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EPO</a:t>
            </a:r>
          </a:p>
        </p:txBody>
      </p:sp>
      <p:sp>
        <p:nvSpPr>
          <p:cNvPr id="113" name="Rectangle 56"/>
          <p:cNvSpPr>
            <a:spLocks noChangeArrowheads="1"/>
          </p:cNvSpPr>
          <p:nvPr/>
        </p:nvSpPr>
        <p:spPr bwMode="auto">
          <a:xfrm>
            <a:off x="4805958" y="5576156"/>
            <a:ext cx="760033" cy="27475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GE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14" name="Rectangle 57"/>
          <p:cNvSpPr>
            <a:spLocks noChangeArrowheads="1"/>
          </p:cNvSpPr>
          <p:nvPr/>
        </p:nvSpPr>
        <p:spPr bwMode="auto">
          <a:xfrm>
            <a:off x="4805958" y="5173913"/>
            <a:ext cx="760033" cy="27475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FR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15" name="Rectangle 58"/>
          <p:cNvSpPr>
            <a:spLocks noChangeArrowheads="1"/>
          </p:cNvSpPr>
          <p:nvPr/>
        </p:nvSpPr>
        <p:spPr bwMode="auto">
          <a:xfrm>
            <a:off x="2032078" y="6110496"/>
            <a:ext cx="762308" cy="3384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50">
                <a:solidFill>
                  <a:schemeClr val="accent1">
                    <a:lumMod val="50000"/>
                  </a:schemeClr>
                </a:solidFill>
                <a:latin typeface="+mn-ea"/>
                <a:cs typeface="Arial" charset="0"/>
              </a:rPr>
              <a:t>우선일</a:t>
            </a:r>
          </a:p>
        </p:txBody>
      </p:sp>
      <p:sp>
        <p:nvSpPr>
          <p:cNvPr id="116" name="Rectangle 59"/>
          <p:cNvSpPr>
            <a:spLocks noChangeArrowheads="1"/>
          </p:cNvSpPr>
          <p:nvPr/>
        </p:nvSpPr>
        <p:spPr bwMode="auto">
          <a:xfrm>
            <a:off x="3329141" y="6110496"/>
            <a:ext cx="1524619" cy="3384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>
                <a:solidFill>
                  <a:schemeClr val="accent1">
                    <a:lumMod val="50000"/>
                  </a:schemeClr>
                </a:solidFill>
                <a:latin typeface="+mn-ea"/>
                <a:cs typeface="Arial" charset="0"/>
              </a:rPr>
              <a:t>30/31</a:t>
            </a:r>
            <a:r>
              <a:rPr kumimoji="0" lang="ko-KR" altLang="en-US" sz="1050">
                <a:solidFill>
                  <a:schemeClr val="accent1">
                    <a:lumMod val="50000"/>
                  </a:schemeClr>
                </a:solidFill>
                <a:latin typeface="+mn-ea"/>
                <a:cs typeface="Arial" charset="0"/>
              </a:rPr>
              <a:t>월</a:t>
            </a:r>
          </a:p>
        </p:txBody>
      </p:sp>
      <p:sp>
        <p:nvSpPr>
          <p:cNvPr id="117" name="Rectangle 63"/>
          <p:cNvSpPr>
            <a:spLocks noChangeArrowheads="1"/>
          </p:cNvSpPr>
          <p:nvPr/>
        </p:nvSpPr>
        <p:spPr bwMode="auto">
          <a:xfrm>
            <a:off x="2029787" y="4382656"/>
            <a:ext cx="762309" cy="274750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PCT</a:t>
            </a:r>
          </a:p>
        </p:txBody>
      </p:sp>
      <p:cxnSp>
        <p:nvCxnSpPr>
          <p:cNvPr id="118" name="AutoShape 65"/>
          <p:cNvCxnSpPr>
            <a:cxnSpLocks noChangeShapeType="1"/>
          </p:cNvCxnSpPr>
          <p:nvPr/>
        </p:nvCxnSpPr>
        <p:spPr bwMode="auto">
          <a:xfrm>
            <a:off x="2792111" y="4518959"/>
            <a:ext cx="880637" cy="2198"/>
          </a:xfrm>
          <a:prstGeom prst="straightConnector1">
            <a:avLst/>
          </a:prstGeom>
          <a:noFill/>
          <a:ln w="19050">
            <a:solidFill>
              <a:srgbClr val="800000"/>
            </a:solidFill>
            <a:round/>
            <a:headEnd/>
            <a:tailEnd type="stealth" w="med" len="med"/>
          </a:ln>
        </p:spPr>
      </p:cxnSp>
      <p:cxnSp>
        <p:nvCxnSpPr>
          <p:cNvPr id="119" name="AutoShape 66"/>
          <p:cNvCxnSpPr>
            <a:cxnSpLocks noChangeShapeType="1"/>
          </p:cNvCxnSpPr>
          <p:nvPr/>
        </p:nvCxnSpPr>
        <p:spPr bwMode="auto">
          <a:xfrm>
            <a:off x="2792111" y="4518960"/>
            <a:ext cx="880637" cy="40222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800000"/>
            </a:solidFill>
            <a:miter lim="800000"/>
            <a:headEnd/>
            <a:tailEnd type="stealth" w="med" len="med"/>
          </a:ln>
        </p:spPr>
      </p:cxnSp>
      <p:cxnSp>
        <p:nvCxnSpPr>
          <p:cNvPr id="120" name="AutoShape 67"/>
          <p:cNvCxnSpPr>
            <a:cxnSpLocks noChangeShapeType="1"/>
          </p:cNvCxnSpPr>
          <p:nvPr/>
        </p:nvCxnSpPr>
        <p:spPr bwMode="auto">
          <a:xfrm>
            <a:off x="2792111" y="4518960"/>
            <a:ext cx="880637" cy="1195671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800000"/>
            </a:solidFill>
            <a:miter lim="800000"/>
            <a:headEnd/>
            <a:tailEnd type="stealth" w="med" len="med"/>
          </a:ln>
        </p:spPr>
      </p:cxnSp>
      <p:cxnSp>
        <p:nvCxnSpPr>
          <p:cNvPr id="123" name="AutoShape 68"/>
          <p:cNvCxnSpPr>
            <a:cxnSpLocks noChangeShapeType="1"/>
          </p:cNvCxnSpPr>
          <p:nvPr/>
        </p:nvCxnSpPr>
        <p:spPr bwMode="auto">
          <a:xfrm flipV="1">
            <a:off x="2780734" y="3714519"/>
            <a:ext cx="382292" cy="4395"/>
          </a:xfrm>
          <a:prstGeom prst="straightConnector1">
            <a:avLst/>
          </a:prstGeom>
          <a:noFill/>
          <a:ln w="19050">
            <a:solidFill>
              <a:srgbClr val="800000"/>
            </a:solidFill>
            <a:round/>
            <a:headEnd/>
            <a:tailEnd type="stealth" w="med" len="med"/>
          </a:ln>
        </p:spPr>
      </p:cxnSp>
      <p:cxnSp>
        <p:nvCxnSpPr>
          <p:cNvPr id="124" name="AutoShape 69"/>
          <p:cNvCxnSpPr>
            <a:cxnSpLocks noChangeShapeType="1"/>
          </p:cNvCxnSpPr>
          <p:nvPr/>
        </p:nvCxnSpPr>
        <p:spPr bwMode="auto">
          <a:xfrm flipV="1">
            <a:off x="2780734" y="3316694"/>
            <a:ext cx="382292" cy="402221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800000"/>
            </a:solidFill>
            <a:miter lim="800000"/>
            <a:headEnd/>
            <a:tailEnd type="stealth" w="med" len="med"/>
          </a:ln>
        </p:spPr>
      </p:cxnSp>
      <p:cxnSp>
        <p:nvCxnSpPr>
          <p:cNvPr id="125" name="AutoShape 70"/>
          <p:cNvCxnSpPr>
            <a:cxnSpLocks noChangeShapeType="1"/>
          </p:cNvCxnSpPr>
          <p:nvPr/>
        </p:nvCxnSpPr>
        <p:spPr bwMode="auto">
          <a:xfrm flipV="1">
            <a:off x="4430508" y="5310212"/>
            <a:ext cx="375465" cy="404418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800000"/>
            </a:solidFill>
            <a:miter lim="800000"/>
            <a:headEnd/>
            <a:tailEnd type="stealth" w="med" len="med"/>
          </a:ln>
        </p:spPr>
      </p:cxnSp>
      <p:cxnSp>
        <p:nvCxnSpPr>
          <p:cNvPr id="126" name="AutoShape 71"/>
          <p:cNvCxnSpPr>
            <a:cxnSpLocks noChangeShapeType="1"/>
          </p:cNvCxnSpPr>
          <p:nvPr/>
        </p:nvCxnSpPr>
        <p:spPr bwMode="auto">
          <a:xfrm>
            <a:off x="4430508" y="5714629"/>
            <a:ext cx="375465" cy="2198"/>
          </a:xfrm>
          <a:prstGeom prst="straightConnector1">
            <a:avLst/>
          </a:prstGeom>
          <a:noFill/>
          <a:ln w="19050">
            <a:solidFill>
              <a:srgbClr val="800000"/>
            </a:solidFill>
            <a:round/>
            <a:headEnd/>
            <a:tailEnd type="stealth" w="med" len="med"/>
          </a:ln>
        </p:spPr>
      </p:cxnSp>
      <p:sp>
        <p:nvSpPr>
          <p:cNvPr id="127" name="Rectangle 77"/>
          <p:cNvSpPr>
            <a:spLocks noChangeArrowheads="1"/>
          </p:cNvSpPr>
          <p:nvPr/>
        </p:nvSpPr>
        <p:spPr bwMode="auto">
          <a:xfrm>
            <a:off x="1649787" y="1762815"/>
            <a:ext cx="4152878" cy="395627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400" dirty="0">
                <a:solidFill>
                  <a:srgbClr val="FFFFFF"/>
                </a:solidFill>
                <a:latin typeface="+mn-ea"/>
              </a:rPr>
              <a:t>우선권주장을 수반하지 않은 경우</a:t>
            </a:r>
          </a:p>
        </p:txBody>
      </p:sp>
      <p:sp>
        <p:nvSpPr>
          <p:cNvPr id="128" name="Rectangle 78"/>
          <p:cNvSpPr>
            <a:spLocks noChangeArrowheads="1"/>
          </p:cNvSpPr>
          <p:nvPr/>
        </p:nvSpPr>
        <p:spPr bwMode="auto">
          <a:xfrm>
            <a:off x="5848178" y="1762815"/>
            <a:ext cx="5381673" cy="38620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400" dirty="0">
                <a:solidFill>
                  <a:srgbClr val="FFFFFF"/>
                </a:solidFill>
                <a:latin typeface="+mn-ea"/>
              </a:rPr>
              <a:t>우선권주장을 수반하는 경우</a:t>
            </a:r>
          </a:p>
        </p:txBody>
      </p:sp>
      <p:sp>
        <p:nvSpPr>
          <p:cNvPr id="129" name="Rectangle 79"/>
          <p:cNvSpPr>
            <a:spLocks noChangeArrowheads="1"/>
          </p:cNvSpPr>
          <p:nvPr/>
        </p:nvSpPr>
        <p:spPr bwMode="auto">
          <a:xfrm>
            <a:off x="643937" y="2613371"/>
            <a:ext cx="960338" cy="962670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600">
                <a:solidFill>
                  <a:srgbClr val="FFFFFF"/>
                </a:solidFill>
                <a:latin typeface="+mn-ea"/>
              </a:rPr>
              <a:t>일반</a:t>
            </a:r>
          </a:p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600">
                <a:solidFill>
                  <a:srgbClr val="FFFFFF"/>
                </a:solidFill>
                <a:latin typeface="+mn-ea"/>
              </a:rPr>
              <a:t>해외</a:t>
            </a:r>
          </a:p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600">
                <a:solidFill>
                  <a:srgbClr val="FFFFFF"/>
                </a:solidFill>
                <a:latin typeface="+mn-ea"/>
              </a:rPr>
              <a:t>출원</a:t>
            </a:r>
          </a:p>
        </p:txBody>
      </p:sp>
      <p:sp>
        <p:nvSpPr>
          <p:cNvPr id="130" name="Rectangle 80"/>
          <p:cNvSpPr>
            <a:spLocks noChangeArrowheads="1"/>
          </p:cNvSpPr>
          <p:nvPr/>
        </p:nvSpPr>
        <p:spPr bwMode="auto">
          <a:xfrm>
            <a:off x="643937" y="4565122"/>
            <a:ext cx="960338" cy="1011034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600" dirty="0">
                <a:solidFill>
                  <a:srgbClr val="FFFFFF"/>
                </a:solidFill>
                <a:latin typeface="+mn-ea"/>
              </a:rPr>
              <a:t>PCT</a:t>
            </a:r>
            <a:endParaRPr kumimoji="0" lang="ko-KR" altLang="en-US" sz="1600" dirty="0">
              <a:solidFill>
                <a:srgbClr val="FFFFFF"/>
              </a:solidFill>
              <a:latin typeface="+mn-ea"/>
            </a:endParaRPr>
          </a:p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600" dirty="0">
                <a:solidFill>
                  <a:srgbClr val="FFFFFF"/>
                </a:solidFill>
                <a:latin typeface="+mn-ea"/>
              </a:rPr>
              <a:t>출원</a:t>
            </a:r>
          </a:p>
        </p:txBody>
      </p:sp>
      <p:sp>
        <p:nvSpPr>
          <p:cNvPr id="131" name="Rectangle 48"/>
          <p:cNvSpPr>
            <a:spLocks noChangeArrowheads="1"/>
          </p:cNvSpPr>
          <p:nvPr/>
        </p:nvSpPr>
        <p:spPr bwMode="auto">
          <a:xfrm>
            <a:off x="2018410" y="3184811"/>
            <a:ext cx="762308" cy="27475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JP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32" name="Rectangle 54"/>
          <p:cNvSpPr>
            <a:spLocks noChangeArrowheads="1"/>
          </p:cNvSpPr>
          <p:nvPr/>
        </p:nvSpPr>
        <p:spPr bwMode="auto">
          <a:xfrm>
            <a:off x="3672735" y="5180525"/>
            <a:ext cx="757759" cy="272965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JP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33" name="직사각형 132"/>
          <p:cNvSpPr/>
          <p:nvPr/>
        </p:nvSpPr>
        <p:spPr bwMode="auto">
          <a:xfrm>
            <a:off x="4740680" y="2257348"/>
            <a:ext cx="960107" cy="353230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A </a:t>
            </a:r>
            <a:r>
              <a:rPr lang="ko-KR" altLang="en-US" sz="1400" dirty="0">
                <a:latin typeface="+mn-ea"/>
              </a:rPr>
              <a:t>유형</a:t>
            </a:r>
          </a:p>
        </p:txBody>
      </p:sp>
      <p:sp>
        <p:nvSpPr>
          <p:cNvPr id="134" name="직사각형 133"/>
          <p:cNvSpPr/>
          <p:nvPr/>
        </p:nvSpPr>
        <p:spPr bwMode="auto">
          <a:xfrm>
            <a:off x="10213288" y="2257348"/>
            <a:ext cx="960107" cy="353230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B </a:t>
            </a:r>
            <a:r>
              <a:rPr lang="ko-KR" altLang="en-US" sz="1400" dirty="0">
                <a:latin typeface="+mn-ea"/>
              </a:rPr>
              <a:t>유형</a:t>
            </a:r>
          </a:p>
        </p:txBody>
      </p:sp>
      <p:sp>
        <p:nvSpPr>
          <p:cNvPr id="135" name="직사각형 134"/>
          <p:cNvSpPr/>
          <p:nvPr/>
        </p:nvSpPr>
        <p:spPr bwMode="auto">
          <a:xfrm>
            <a:off x="10213288" y="4158942"/>
            <a:ext cx="960107" cy="353230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D </a:t>
            </a:r>
            <a:r>
              <a:rPr lang="ko-KR" altLang="en-US" sz="1400" dirty="0">
                <a:latin typeface="+mn-ea"/>
              </a:rPr>
              <a:t>유형</a:t>
            </a:r>
          </a:p>
        </p:txBody>
      </p:sp>
      <p:sp>
        <p:nvSpPr>
          <p:cNvPr id="136" name="직사각형 135"/>
          <p:cNvSpPr/>
          <p:nvPr/>
        </p:nvSpPr>
        <p:spPr bwMode="auto">
          <a:xfrm>
            <a:off x="4740680" y="4158942"/>
            <a:ext cx="960107" cy="353230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C </a:t>
            </a:r>
            <a:r>
              <a:rPr lang="ko-KR" altLang="en-US" sz="1400" dirty="0">
                <a:latin typeface="+mn-ea"/>
              </a:rPr>
              <a:t>유형</a:t>
            </a:r>
          </a:p>
        </p:txBody>
      </p:sp>
      <p:sp>
        <p:nvSpPr>
          <p:cNvPr id="137" name="Rectangle 53"/>
          <p:cNvSpPr>
            <a:spLocks noChangeArrowheads="1"/>
          </p:cNvSpPr>
          <p:nvPr/>
        </p:nvSpPr>
        <p:spPr bwMode="auto">
          <a:xfrm>
            <a:off x="9258344" y="4382656"/>
            <a:ext cx="757759" cy="2747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KR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38" name="Rectangle 54"/>
          <p:cNvSpPr>
            <a:spLocks noChangeArrowheads="1"/>
          </p:cNvSpPr>
          <p:nvPr/>
        </p:nvSpPr>
        <p:spPr bwMode="auto">
          <a:xfrm>
            <a:off x="9258344" y="4784895"/>
            <a:ext cx="757759" cy="272965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US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39" name="Rectangle 55"/>
          <p:cNvSpPr>
            <a:spLocks noChangeArrowheads="1"/>
          </p:cNvSpPr>
          <p:nvPr/>
        </p:nvSpPr>
        <p:spPr bwMode="auto">
          <a:xfrm>
            <a:off x="9258344" y="5576156"/>
            <a:ext cx="757759" cy="27475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EPO</a:t>
            </a:r>
          </a:p>
        </p:txBody>
      </p:sp>
      <p:sp>
        <p:nvSpPr>
          <p:cNvPr id="140" name="Rectangle 56"/>
          <p:cNvSpPr>
            <a:spLocks noChangeArrowheads="1"/>
          </p:cNvSpPr>
          <p:nvPr/>
        </p:nvSpPr>
        <p:spPr bwMode="auto">
          <a:xfrm>
            <a:off x="10391567" y="5576156"/>
            <a:ext cx="760033" cy="27475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GE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41" name="Rectangle 57"/>
          <p:cNvSpPr>
            <a:spLocks noChangeArrowheads="1"/>
          </p:cNvSpPr>
          <p:nvPr/>
        </p:nvSpPr>
        <p:spPr bwMode="auto">
          <a:xfrm>
            <a:off x="10391567" y="5173913"/>
            <a:ext cx="760033" cy="27475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FR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cxnSp>
        <p:nvCxnSpPr>
          <p:cNvPr id="144" name="AutoShape 70"/>
          <p:cNvCxnSpPr>
            <a:cxnSpLocks noChangeShapeType="1"/>
          </p:cNvCxnSpPr>
          <p:nvPr/>
        </p:nvCxnSpPr>
        <p:spPr bwMode="auto">
          <a:xfrm flipV="1">
            <a:off x="10016117" y="5310212"/>
            <a:ext cx="375465" cy="404418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800000"/>
            </a:solidFill>
            <a:miter lim="800000"/>
            <a:headEnd/>
            <a:tailEnd type="stealth" w="med" len="med"/>
          </a:ln>
        </p:spPr>
      </p:cxnSp>
      <p:cxnSp>
        <p:nvCxnSpPr>
          <p:cNvPr id="145" name="AutoShape 71"/>
          <p:cNvCxnSpPr>
            <a:cxnSpLocks noChangeShapeType="1"/>
          </p:cNvCxnSpPr>
          <p:nvPr/>
        </p:nvCxnSpPr>
        <p:spPr bwMode="auto">
          <a:xfrm>
            <a:off x="10016117" y="5714629"/>
            <a:ext cx="375465" cy="2198"/>
          </a:xfrm>
          <a:prstGeom prst="straightConnector1">
            <a:avLst/>
          </a:prstGeom>
          <a:noFill/>
          <a:ln w="19050">
            <a:solidFill>
              <a:srgbClr val="800000"/>
            </a:solidFill>
            <a:round/>
            <a:headEnd/>
            <a:tailEnd type="stealth" w="med" len="med"/>
          </a:ln>
        </p:spPr>
      </p:cxnSp>
      <p:sp>
        <p:nvSpPr>
          <p:cNvPr id="146" name="Rectangle 54"/>
          <p:cNvSpPr>
            <a:spLocks noChangeArrowheads="1"/>
          </p:cNvSpPr>
          <p:nvPr/>
        </p:nvSpPr>
        <p:spPr bwMode="auto">
          <a:xfrm>
            <a:off x="9258344" y="5180525"/>
            <a:ext cx="757759" cy="272965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JP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cxnSp>
        <p:nvCxnSpPr>
          <p:cNvPr id="157" name="AutoShape 30"/>
          <p:cNvCxnSpPr>
            <a:cxnSpLocks noChangeShapeType="1"/>
            <a:stCxn id="92" idx="3"/>
            <a:endCxn id="138" idx="1"/>
          </p:cNvCxnSpPr>
          <p:nvPr/>
        </p:nvCxnSpPr>
        <p:spPr bwMode="auto">
          <a:xfrm>
            <a:off x="8451459" y="4520031"/>
            <a:ext cx="806885" cy="401347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800000"/>
            </a:solidFill>
            <a:miter lim="800000"/>
            <a:headEnd/>
            <a:tailEnd type="stealth" w="med" len="med"/>
          </a:ln>
        </p:spPr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547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402933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해외출원루트의 선택</a:t>
            </a:r>
          </a:p>
        </p:txBody>
      </p:sp>
      <p:graphicFrame>
        <p:nvGraphicFramePr>
          <p:cNvPr id="81" name="표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601275"/>
              </p:ext>
            </p:extLst>
          </p:nvPr>
        </p:nvGraphicFramePr>
        <p:xfrm>
          <a:off x="679624" y="1285798"/>
          <a:ext cx="10517855" cy="499346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274965">
                  <a:extLst>
                    <a:ext uri="{9D8B030D-6E8A-4147-A177-3AD203B41FA5}">
                      <a16:colId xmlns:a16="http://schemas.microsoft.com/office/drawing/2014/main" val="430904551"/>
                    </a:ext>
                  </a:extLst>
                </a:gridCol>
                <a:gridCol w="1274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9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8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88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항목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2000" marR="72000" marT="10242" marB="10242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PCT 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해외 출원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일반 해외 출원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35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출원단계</a:t>
                      </a: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출원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>
                          <a:effectLst/>
                        </a:rPr>
                        <a:t>하나의 방식으로 </a:t>
                      </a:r>
                      <a:r>
                        <a:rPr lang="en-US" altLang="ko-KR" sz="1400" kern="0" spc="-50" dirty="0">
                          <a:effectLst/>
                        </a:rPr>
                        <a:t>PCT </a:t>
                      </a:r>
                      <a:r>
                        <a:rPr lang="ko-KR" altLang="en-US" sz="1400" kern="0" spc="-50" dirty="0">
                          <a:effectLst/>
                        </a:rPr>
                        <a:t>출원을 하면 세계 여러 국가에 </a:t>
                      </a:r>
                      <a:r>
                        <a:rPr lang="ko-KR" altLang="en-US" sz="1400" kern="0" spc="-50" dirty="0" err="1">
                          <a:effectLst/>
                        </a:rPr>
                        <a:t>출원되는</a:t>
                      </a:r>
                      <a:r>
                        <a:rPr lang="ko-KR" altLang="en-US" sz="1400" kern="0" spc="-50" dirty="0">
                          <a:effectLst/>
                        </a:rPr>
                        <a:t> 효과 발생</a:t>
                      </a:r>
                      <a:endParaRPr lang="en-US" altLang="ko-KR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>
                          <a:effectLst/>
                        </a:rPr>
                        <a:t>각 국가의 국내법에서 정하는 방식 및 언어로 각 국가에 개별 출원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88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우선기간이용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>
                          <a:effectLst/>
                        </a:rPr>
                        <a:t>우선일로부터 </a:t>
                      </a:r>
                      <a:r>
                        <a:rPr lang="en-US" altLang="ko-KR" sz="1400" kern="0" spc="-50" dirty="0">
                          <a:effectLst/>
                        </a:rPr>
                        <a:t>1</a:t>
                      </a:r>
                      <a:r>
                        <a:rPr lang="ko-KR" altLang="en-US" sz="1400" kern="0" spc="-50" dirty="0">
                          <a:effectLst/>
                        </a:rPr>
                        <a:t>년 이내 </a:t>
                      </a:r>
                      <a:r>
                        <a:rPr lang="en-US" altLang="ko-KR" sz="1400" kern="0" spc="-50" dirty="0">
                          <a:effectLst/>
                        </a:rPr>
                        <a:t>PCT </a:t>
                      </a:r>
                      <a:r>
                        <a:rPr lang="ko-KR" altLang="en-US" sz="1400" kern="0" spc="-50" dirty="0">
                          <a:effectLst/>
                        </a:rPr>
                        <a:t>출원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>
                          <a:effectLst/>
                        </a:rPr>
                        <a:t>우선일로부터 </a:t>
                      </a:r>
                      <a:r>
                        <a:rPr lang="en-US" altLang="ko-KR" sz="1400" kern="0" spc="-50" dirty="0">
                          <a:effectLst/>
                        </a:rPr>
                        <a:t>1</a:t>
                      </a:r>
                      <a:r>
                        <a:rPr lang="ko-KR" altLang="en-US" sz="1400" kern="0" spc="-50" dirty="0">
                          <a:effectLst/>
                        </a:rPr>
                        <a:t>년 이내 각 국가에 모두 출원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894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국제단계</a:t>
                      </a: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국내단계진입</a:t>
                      </a:r>
                      <a:endParaRPr kumimoji="0" lang="en-US" altLang="ko-KR" sz="14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기간확보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>
                          <a:effectLst/>
                        </a:rPr>
                        <a:t>국내단계진입기간</a:t>
                      </a:r>
                      <a:r>
                        <a:rPr lang="en-US" altLang="ko-KR" sz="1400" kern="0" spc="-50" dirty="0">
                          <a:effectLst/>
                        </a:rPr>
                        <a:t>(30/31</a:t>
                      </a:r>
                      <a:r>
                        <a:rPr lang="ko-KR" altLang="en-US" sz="1400" kern="0" spc="-50" dirty="0">
                          <a:effectLst/>
                        </a:rPr>
                        <a:t>개월</a:t>
                      </a:r>
                      <a:r>
                        <a:rPr lang="en-US" altLang="ko-KR" sz="1400" kern="0" spc="-50" dirty="0">
                          <a:effectLst/>
                        </a:rPr>
                        <a:t>)</a:t>
                      </a:r>
                      <a:r>
                        <a:rPr lang="ko-KR" altLang="en-US" sz="1400" kern="0" spc="-50" dirty="0">
                          <a:effectLst/>
                        </a:rPr>
                        <a:t>의 확보로 무분별한 </a:t>
                      </a:r>
                      <a:r>
                        <a:rPr lang="ko-KR" altLang="en-US" sz="1400" kern="0" spc="-50" dirty="0" err="1">
                          <a:effectLst/>
                        </a:rPr>
                        <a:t>해외출원</a:t>
                      </a:r>
                      <a:r>
                        <a:rPr lang="ko-KR" altLang="en-US" sz="1400" kern="0" spc="-50" dirty="0">
                          <a:effectLst/>
                        </a:rPr>
                        <a:t> 방지</a:t>
                      </a:r>
                      <a:r>
                        <a:rPr lang="en-US" altLang="ko-KR" sz="1400" kern="0" spc="-50" dirty="0">
                          <a:effectLst/>
                        </a:rPr>
                        <a:t>: </a:t>
                      </a:r>
                      <a:r>
                        <a:rPr lang="ko-KR" altLang="en-US" sz="1400" kern="0" spc="-50" dirty="0">
                          <a:effectLst/>
                        </a:rPr>
                        <a:t>사업화 및 </a:t>
                      </a:r>
                      <a:r>
                        <a:rPr lang="ko-KR" altLang="en-US" sz="1400" kern="0" spc="-50" dirty="0" err="1">
                          <a:effectLst/>
                        </a:rPr>
                        <a:t>시장국가</a:t>
                      </a:r>
                      <a:r>
                        <a:rPr lang="ko-KR" altLang="en-US" sz="1400" kern="0" spc="-50" dirty="0">
                          <a:effectLst/>
                        </a:rPr>
                        <a:t> 예측이 곤란한 경우 최종적인 결정의 연기 가능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effectLst/>
                        </a:rPr>
                        <a:t>-</a:t>
                      </a:r>
                      <a:endParaRPr 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27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비용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 err="1">
                          <a:effectLst/>
                        </a:rPr>
                        <a:t>국제단계</a:t>
                      </a:r>
                      <a:r>
                        <a:rPr lang="ko-KR" altLang="en-US" sz="1400" kern="0" spc="-50" dirty="0">
                          <a:effectLst/>
                        </a:rPr>
                        <a:t> </a:t>
                      </a:r>
                      <a:r>
                        <a:rPr lang="en-US" altLang="ko-KR" sz="1400" kern="0" spc="-50" dirty="0">
                          <a:effectLst/>
                        </a:rPr>
                        <a:t>+ </a:t>
                      </a:r>
                      <a:r>
                        <a:rPr lang="ko-KR" altLang="en-US" sz="1400" kern="0" spc="-50" dirty="0" err="1">
                          <a:effectLst/>
                        </a:rPr>
                        <a:t>국내단계</a:t>
                      </a:r>
                      <a:endParaRPr lang="ko-KR" altLang="en-US" sz="1400" kern="0" spc="-9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 err="1">
                          <a:effectLst/>
                        </a:rPr>
                        <a:t>국내단계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88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소요비용분산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179388" marR="0" lvl="0" indent="-144463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lang="ko-KR" altLang="en-US" sz="1400" kern="0" spc="-5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국내단계</a:t>
                      </a:r>
                      <a:r>
                        <a:rPr lang="ko-KR" altLang="en-US" sz="1400" kern="0" spc="-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진입 시기를 달리하여 소요되는 비용의 분산</a:t>
                      </a: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179388" marR="0" lvl="0" indent="-144463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lang="ko-KR" altLang="en-US" sz="1400" kern="0" spc="-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소요비용의 분산이 되지 않음</a:t>
                      </a:r>
                    </a:p>
                  </a:txBody>
                  <a:tcPr marL="72000" marR="72000" marT="10242" marB="10242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779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보고서 </a:t>
                      </a:r>
                      <a:endParaRPr kumimoji="0" lang="en-US" altLang="ko-KR" sz="14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활용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>
                          <a:effectLst/>
                        </a:rPr>
                        <a:t>국제단계에서 국제조사보고서</a:t>
                      </a:r>
                      <a:r>
                        <a:rPr lang="en-US" altLang="ko-KR" sz="1400" kern="0" spc="-50" dirty="0">
                          <a:effectLst/>
                        </a:rPr>
                        <a:t>, </a:t>
                      </a:r>
                      <a:r>
                        <a:rPr lang="ko-KR" altLang="en-US" sz="1400" kern="0" spc="-50" dirty="0">
                          <a:effectLst/>
                        </a:rPr>
                        <a:t>국제예비심사보고서를 활용하여 국내단계진입여부 </a:t>
                      </a:r>
                      <a:r>
                        <a:rPr lang="ko-KR" altLang="en-US" sz="1400" kern="0" spc="-50" dirty="0" err="1">
                          <a:effectLst/>
                        </a:rPr>
                        <a:t>결정가능</a:t>
                      </a:r>
                      <a:endParaRPr lang="ko-KR" altLang="en-US" sz="1400" kern="0" spc="-50" dirty="0">
                        <a:effectLst/>
                      </a:endParaRPr>
                    </a:p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>
                          <a:effectLst/>
                        </a:rPr>
                        <a:t>등록 가능성이 없는 경우 국내단계진입을 포기하여 불필요한 비용의 </a:t>
                      </a:r>
                      <a:r>
                        <a:rPr lang="ko-KR" altLang="en-US" sz="1400" kern="0" spc="-50" dirty="0" err="1">
                          <a:effectLst/>
                        </a:rPr>
                        <a:t>절감가능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>
                          <a:effectLst/>
                        </a:rPr>
                        <a:t>국내 단계 진입 전에 </a:t>
                      </a:r>
                      <a:r>
                        <a:rPr lang="ko-KR" altLang="en-US" sz="1400" kern="0" spc="-50" dirty="0" err="1">
                          <a:effectLst/>
                        </a:rPr>
                        <a:t>특허성과</a:t>
                      </a:r>
                      <a:r>
                        <a:rPr lang="ko-KR" altLang="en-US" sz="1400" kern="0" spc="-50" dirty="0">
                          <a:effectLst/>
                        </a:rPr>
                        <a:t> 관련하여 참고할 수 있는 공적 보고서 없음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445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보정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80" dirty="0">
                          <a:effectLst/>
                        </a:rPr>
                        <a:t>국제단계에서 </a:t>
                      </a:r>
                      <a:r>
                        <a:rPr lang="en-US" altLang="ko-KR" sz="1400" kern="0" spc="-80" dirty="0">
                          <a:effectLst/>
                        </a:rPr>
                        <a:t>PCT </a:t>
                      </a:r>
                      <a:r>
                        <a:rPr lang="ko-KR" altLang="en-US" sz="1400" kern="0" spc="-80" dirty="0">
                          <a:effectLst/>
                        </a:rPr>
                        <a:t>제</a:t>
                      </a:r>
                      <a:r>
                        <a:rPr lang="en-US" altLang="ko-KR" sz="1400" kern="0" spc="-80" dirty="0">
                          <a:effectLst/>
                        </a:rPr>
                        <a:t>19</a:t>
                      </a:r>
                      <a:r>
                        <a:rPr lang="ko-KR" altLang="en-US" sz="1400" kern="0" spc="-80" dirty="0">
                          <a:effectLst/>
                        </a:rPr>
                        <a:t>조 보정</a:t>
                      </a:r>
                      <a:r>
                        <a:rPr lang="en-US" altLang="ko-KR" sz="1400" kern="0" spc="-80" dirty="0">
                          <a:effectLst/>
                        </a:rPr>
                        <a:t>, PCT </a:t>
                      </a:r>
                      <a:r>
                        <a:rPr lang="ko-KR" altLang="en-US" sz="1400" kern="0" spc="-80" dirty="0">
                          <a:effectLst/>
                        </a:rPr>
                        <a:t>제</a:t>
                      </a:r>
                      <a:r>
                        <a:rPr lang="en-US" altLang="ko-KR" sz="1400" kern="0" spc="-80" dirty="0">
                          <a:effectLst/>
                        </a:rPr>
                        <a:t>34</a:t>
                      </a:r>
                      <a:r>
                        <a:rPr lang="ko-KR" altLang="en-US" sz="1400" kern="0" spc="-80" dirty="0">
                          <a:effectLst/>
                        </a:rPr>
                        <a:t>조 보정을 통해 등록 가능성 향상 가능</a:t>
                      </a:r>
                      <a:endParaRPr lang="ko-KR" altLang="en-US" sz="1400" kern="0" spc="-8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effectLst/>
                        </a:rPr>
                        <a:t>-</a:t>
                      </a:r>
                      <a:endParaRPr 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5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국내단계</a:t>
                      </a: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조기권리화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>
                          <a:effectLst/>
                        </a:rPr>
                        <a:t>국내단계절차진행이 지연되어 등록까지 오랜 시간 소요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effectLst/>
                        </a:rPr>
                        <a:t>-</a:t>
                      </a:r>
                      <a:endParaRPr 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44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PCT 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가입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effectLst/>
                        </a:rPr>
                        <a:t>-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>
                          <a:effectLst/>
                        </a:rPr>
                        <a:t>대만 등과 같이 </a:t>
                      </a:r>
                      <a:r>
                        <a:rPr lang="en-US" altLang="ko-KR" sz="1400" kern="0" spc="-50" dirty="0">
                          <a:effectLst/>
                        </a:rPr>
                        <a:t>PCT </a:t>
                      </a:r>
                      <a:r>
                        <a:rPr lang="ko-KR" altLang="en-US" sz="1400" kern="0" spc="-50" dirty="0">
                          <a:effectLst/>
                        </a:rPr>
                        <a:t>가입국이 아닌 경우 일반 </a:t>
                      </a:r>
                      <a:r>
                        <a:rPr lang="ko-KR" altLang="en-US" sz="1400" kern="0" spc="-50" dirty="0" err="1">
                          <a:effectLst/>
                        </a:rPr>
                        <a:t>해외출원만</a:t>
                      </a:r>
                      <a:r>
                        <a:rPr lang="ko-KR" altLang="en-US" sz="1400" kern="0" spc="-50" dirty="0">
                          <a:effectLst/>
                        </a:rPr>
                        <a:t> 가능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548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275332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해외출원국가의 선택</a:t>
            </a:r>
          </a:p>
        </p:txBody>
      </p:sp>
      <p:graphicFrame>
        <p:nvGraphicFramePr>
          <p:cNvPr id="6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235344"/>
              </p:ext>
            </p:extLst>
          </p:nvPr>
        </p:nvGraphicFramePr>
        <p:xfrm>
          <a:off x="6768445" y="2383974"/>
          <a:ext cx="4820100" cy="410445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946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3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 </a:t>
                      </a: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출원 목적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효과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자사 현재 시장 국가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>
                          <a:srgbClr val="003366"/>
                        </a:buClr>
                        <a:buSzPct val="120000"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자사 사업의 유지 확대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타사 현재 시장 국가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>
                          <a:srgbClr val="003366"/>
                        </a:buClr>
                        <a:buSzPct val="120000"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타사 사업 견제 및 로열티 수입 획득 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2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자사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타사 장래 시장 국가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>
                          <a:srgbClr val="003366"/>
                        </a:buClr>
                        <a:buSzPct val="120000"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신규 시장 개척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01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자사 생산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예정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국가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>
                          <a:srgbClr val="003366"/>
                        </a:buClr>
                        <a:buSzPct val="120000"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자사 사업의 보호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>
                          <a:srgbClr val="003366"/>
                        </a:buClr>
                        <a:buSzPct val="120000"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자회사로부터의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기술료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회수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>
                          <a:srgbClr val="003366"/>
                        </a:buClr>
                        <a:buSzPct val="120000"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타사 생산 진입의 견제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36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타사 생산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예정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국가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>
                          <a:srgbClr val="003366"/>
                        </a:buClr>
                        <a:buSzPct val="120000"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타사 생산의 금지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저지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>
                          <a:srgbClr val="003366"/>
                        </a:buClr>
                        <a:buSzPct val="120000"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기술 로열티 획득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Group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955306"/>
              </p:ext>
            </p:extLst>
          </p:nvPr>
        </p:nvGraphicFramePr>
        <p:xfrm>
          <a:off x="649463" y="2383974"/>
          <a:ext cx="4846363" cy="4104459"/>
        </p:xfrm>
        <a:graphic>
          <a:graphicData uri="http://schemas.openxmlformats.org/drawingml/2006/table">
            <a:tbl>
              <a:tblPr bandRow="1">
                <a:tableStyleId>{85BE263C-DBD7-4A20-BB59-AAB30ACAA65A}</a:tableStyleId>
              </a:tblPr>
              <a:tblGrid>
                <a:gridCol w="4846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해당 국가에서 예측되는 수익이 권리화 소요 비용을 상회하는가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수익성 있는 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Licensing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이 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가능한가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국가 특허로 또는 지역 특허로 할 것 인가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1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발명의 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economic lifecycle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이 권리화 소요 기간에 비하여 충분히 긴가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5.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해당 국가에서 해당 발명의 보호 및 권리 행사가 가능한가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6.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특허권자가 특허권 행사할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의사가 있는가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94754">
                <a:tc>
                  <a:txBody>
                    <a:bodyPr/>
                    <a:lstStyle/>
                    <a:p>
                      <a:pPr marL="0" lvl="2" indent="0" algn="l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Pct val="120000"/>
                        <a:buFontTx/>
                        <a:buNone/>
                        <a:defRPr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7.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경쟁기업과 관련된 사항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  </a:t>
                      </a:r>
                    </a:p>
                    <a:p>
                      <a:pPr marL="0" lvl="2" indent="0" algn="l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Pct val="120000"/>
                        <a:buFontTx/>
                        <a:buNone/>
                        <a:defRPr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0" lang="en-US" altLang="ko-KR" sz="1200" dirty="0">
                          <a:latin typeface="+mn-ea"/>
                          <a:ea typeface="+mn-ea"/>
                        </a:rPr>
                        <a:t>Where do competitors manufacture and sell?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</a:t>
                      </a:r>
                      <a:b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0" lang="en-US" altLang="ko-KR" sz="1200" dirty="0">
                          <a:latin typeface="+mn-ea"/>
                          <a:ea typeface="+mn-ea"/>
                        </a:rPr>
                        <a:t>Is the competition global or local? </a:t>
                      </a:r>
                    </a:p>
                    <a:p>
                      <a:pPr marL="0" lvl="2" indent="0" algn="l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Pct val="120000"/>
                        <a:buFontTx/>
                        <a:buNone/>
                        <a:defRPr/>
                      </a:pPr>
                      <a:r>
                        <a:rPr kumimoji="0" lang="en-US" altLang="ko-KR" sz="1200" dirty="0">
                          <a:latin typeface="+mn-ea"/>
                          <a:ea typeface="+mn-ea"/>
                        </a:rPr>
                        <a:t> - How difficult or simple would it be to detect infringement?</a:t>
                      </a:r>
                      <a:endParaRPr kumimoji="0" lang="en-US" altLang="ko-KR" sz="1200" b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8.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권리화로 인해 가격 인상 가능한가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9.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권리화로 인해 틈새 시장 공격 가능한가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모서리가 둥근 직사각형 7"/>
          <p:cNvSpPr/>
          <p:nvPr/>
        </p:nvSpPr>
        <p:spPr bwMode="auto">
          <a:xfrm>
            <a:off x="629941" y="1984040"/>
            <a:ext cx="2622306" cy="2559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해외출원국가의 </a:t>
            </a:r>
            <a:r>
              <a:rPr lang="ko-KR" altLang="en-US" sz="1400" dirty="0" err="1">
                <a:solidFill>
                  <a:schemeClr val="bg1"/>
                </a:solidFill>
                <a:latin typeface="+mn-ea"/>
              </a:rPr>
              <a:t>선택시</a:t>
            </a: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 고려사항</a:t>
            </a:r>
          </a:p>
        </p:txBody>
      </p:sp>
      <p:sp>
        <p:nvSpPr>
          <p:cNvPr id="9" name="모서리가 둥근 직사각형 8"/>
          <p:cNvSpPr/>
          <p:nvPr/>
        </p:nvSpPr>
        <p:spPr bwMode="auto">
          <a:xfrm>
            <a:off x="6768445" y="1984040"/>
            <a:ext cx="1668545" cy="2559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1"/>
                </a:solidFill>
                <a:latin typeface="+mn-ea"/>
              </a:rPr>
              <a:t>핵심적인 선택기준</a:t>
            </a:r>
            <a:endParaRPr lang="ko-KR" altLang="en-US" sz="14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77875" y="148620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875" y="976902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+mn-ea"/>
              </a:rPr>
              <a:t>기술의 사업방향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경쟁사 동향 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 err="1">
                <a:latin typeface="+mn-ea"/>
              </a:rPr>
              <a:t>출원건수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등록건수 등</a:t>
            </a:r>
            <a:r>
              <a:rPr lang="en-US" altLang="ko-KR" sz="1400" dirty="0">
                <a:latin typeface="+mn-ea"/>
              </a:rPr>
              <a:t>), </a:t>
            </a:r>
            <a:r>
              <a:rPr lang="ko-KR" altLang="en-US" sz="1400" dirty="0" err="1">
                <a:latin typeface="+mn-ea"/>
              </a:rPr>
              <a:t>개별사정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계약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예산 등</a:t>
            </a:r>
            <a:r>
              <a:rPr lang="en-US" altLang="ko-KR" sz="1400" dirty="0">
                <a:latin typeface="+mn-ea"/>
              </a:rPr>
              <a:t>), </a:t>
            </a:r>
            <a:r>
              <a:rPr lang="ko-KR" altLang="en-US" sz="1400" dirty="0">
                <a:latin typeface="+mn-ea"/>
              </a:rPr>
              <a:t>당해 국가의 기초 자료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인구</a:t>
            </a:r>
            <a:r>
              <a:rPr lang="en-US" altLang="ko-KR" sz="1400" dirty="0">
                <a:latin typeface="+mn-ea"/>
              </a:rPr>
              <a:t>, GNP, </a:t>
            </a:r>
            <a:r>
              <a:rPr lang="ko-KR" altLang="en-US" sz="1400" dirty="0">
                <a:latin typeface="+mn-ea"/>
              </a:rPr>
              <a:t>기술력 등</a:t>
            </a:r>
            <a:r>
              <a:rPr lang="en-US" altLang="ko-KR" sz="1400" dirty="0">
                <a:latin typeface="+mn-ea"/>
              </a:rPr>
              <a:t>) </a:t>
            </a:r>
            <a:r>
              <a:rPr lang="ko-KR" altLang="en-US" sz="1400" dirty="0">
                <a:latin typeface="+mn-ea"/>
              </a:rPr>
              <a:t>등을 고려하여 특허활용가능성이 있는 국가를 선택하며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핵심적인 선택기준은 시장이 있거나 생산 가능성이 있는 국가인지 여부이다</a:t>
            </a:r>
            <a:r>
              <a:rPr lang="en-US" altLang="ko-KR" sz="1400" dirty="0">
                <a:latin typeface="+mn-ea"/>
              </a:rPr>
              <a:t>.</a:t>
            </a:r>
            <a:r>
              <a:rPr lang="ko-KR" altLang="en-US" sz="1400" dirty="0">
                <a:latin typeface="+mn-ea"/>
              </a:rPr>
              <a:t> </a:t>
            </a:r>
          </a:p>
        </p:txBody>
      </p:sp>
      <p:cxnSp>
        <p:nvCxnSpPr>
          <p:cNvPr id="12" name="직선 연결선 11"/>
          <p:cNvCxnSpPr/>
          <p:nvPr/>
        </p:nvCxnSpPr>
        <p:spPr>
          <a:xfrm>
            <a:off x="6076950" y="1828800"/>
            <a:ext cx="0" cy="4811097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549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686727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PCT </a:t>
            </a:r>
            <a:r>
              <a:rPr lang="ko-KR" altLang="en-US" dirty="0"/>
              <a:t>출원 국내단계진입의 결정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77875" y="149798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875" y="976902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n-ea"/>
              </a:rPr>
              <a:t>PCT </a:t>
            </a:r>
            <a:r>
              <a:rPr lang="ko-KR" altLang="en-US" sz="1400" dirty="0" err="1">
                <a:latin typeface="+mn-ea"/>
              </a:rPr>
              <a:t>출원시</a:t>
            </a:r>
            <a:r>
              <a:rPr lang="ko-KR" altLang="en-US" sz="1400" dirty="0">
                <a:latin typeface="+mn-ea"/>
              </a:rPr>
              <a:t> 자기지정제도와 </a:t>
            </a:r>
            <a:r>
              <a:rPr lang="ko-KR" altLang="en-US" sz="1400" dirty="0" err="1">
                <a:latin typeface="+mn-ea"/>
              </a:rPr>
              <a:t>국제단계의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err="1">
                <a:latin typeface="+mn-ea"/>
              </a:rPr>
              <a:t>기간이익을</a:t>
            </a:r>
            <a:r>
              <a:rPr lang="ko-KR" altLang="en-US" sz="1400" dirty="0">
                <a:latin typeface="+mn-ea"/>
              </a:rPr>
              <a:t> 적극 활용하면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시장의 변화에 대응할 수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 국제단계기간 동안 해외시장의 상황을 모니터링 하면서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각 국가별 </a:t>
            </a:r>
            <a:r>
              <a:rPr lang="ko-KR" altLang="en-US" sz="1400" dirty="0" err="1">
                <a:latin typeface="+mn-ea"/>
              </a:rPr>
              <a:t>국내단계</a:t>
            </a:r>
            <a:r>
              <a:rPr lang="ko-KR" altLang="en-US" sz="1400" dirty="0">
                <a:latin typeface="+mn-ea"/>
              </a:rPr>
              <a:t> 진입을 결정하되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각 국가별 권리범위 재설계의 필요성을 검토한다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3530601" y="1916832"/>
            <a:ext cx="4095751" cy="3927922"/>
          </a:xfrm>
          <a:prstGeom prst="roundRect">
            <a:avLst>
              <a:gd name="adj" fmla="val 1117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sz="2400">
              <a:latin typeface="+mn-ea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028419" y="4342182"/>
            <a:ext cx="3642882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ct val="30000"/>
              </a:spcAft>
              <a:buFont typeface="Wingdings" pitchFamily="2" charset="2"/>
              <a:buChar char="§"/>
              <a:defRPr/>
            </a:pP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Arial" charset="0"/>
              </a:rPr>
              <a:t> 각 국가의 국내단계 진입 여부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Arial" charset="0"/>
              </a:rPr>
              <a:t>(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Arial" charset="0"/>
              </a:rPr>
              <a:t>비용절감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Arial" charset="0"/>
              </a:rPr>
              <a:t>)</a:t>
            </a:r>
          </a:p>
          <a:p>
            <a:pPr algn="l">
              <a:spcAft>
                <a:spcPct val="30000"/>
              </a:spcAft>
              <a:buFont typeface="Wingdings" pitchFamily="2" charset="2"/>
              <a:buChar char="§"/>
              <a:defRPr/>
            </a:pP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Arial" charset="0"/>
              </a:rPr>
              <a:t> CLAIM-REPOSITIONING 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Arial" charset="0"/>
              </a:rPr>
              <a:t>검토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5863" y="2570066"/>
            <a:ext cx="372089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66700" lvl="1" indent="-266700" algn="l">
              <a:spcAft>
                <a:spcPct val="30000"/>
              </a:spcAft>
              <a:defRPr/>
            </a:pP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Arial" charset="0"/>
              </a:rPr>
              <a:t>한국출원을 기초로 해외출원의 필요성 검토</a:t>
            </a:r>
            <a:endParaRPr lang="en-US" altLang="ko-KR" sz="1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Arial" charset="0"/>
            </a:endParaRPr>
          </a:p>
        </p:txBody>
      </p:sp>
      <p:sp>
        <p:nvSpPr>
          <p:cNvPr id="72" name="모서리가 둥근 직사각형 71"/>
          <p:cNvSpPr/>
          <p:nvPr/>
        </p:nvSpPr>
        <p:spPr bwMode="auto">
          <a:xfrm>
            <a:off x="4236707" y="2590304"/>
            <a:ext cx="1397033" cy="288032"/>
          </a:xfrm>
          <a:prstGeom prst="roundRect">
            <a:avLst/>
          </a:prstGeom>
          <a:solidFill>
            <a:schemeClr val="accent4"/>
          </a:solidFill>
          <a:ln>
            <a:noFill/>
            <a:headEnd type="none" w="med" len="med"/>
            <a:tailEnd type="triangl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400" dirty="0">
                <a:latin typeface="+mn-ea"/>
              </a:rPr>
              <a:t>우선기간</a:t>
            </a:r>
            <a:r>
              <a:rPr lang="en-US" altLang="ko-KR" sz="1400" dirty="0">
                <a:latin typeface="+mn-ea"/>
              </a:rPr>
              <a:t>(1</a:t>
            </a:r>
            <a:r>
              <a:rPr lang="ko-KR" altLang="en-US" sz="1400" dirty="0">
                <a:latin typeface="+mn-ea"/>
              </a:rPr>
              <a:t>년</a:t>
            </a:r>
            <a:r>
              <a:rPr lang="en-US" altLang="ko-KR" sz="1400" dirty="0">
                <a:latin typeface="+mn-ea"/>
              </a:rPr>
              <a:t>)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4" name="Rectangle 24"/>
          <p:cNvSpPr>
            <a:spLocks noChangeArrowheads="1"/>
          </p:cNvSpPr>
          <p:nvPr/>
        </p:nvSpPr>
        <p:spPr bwMode="auto">
          <a:xfrm>
            <a:off x="6198354" y="4630311"/>
            <a:ext cx="1047757" cy="251520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b="0" dirty="0">
                <a:solidFill>
                  <a:srgbClr val="FFFFFF"/>
                </a:solidFill>
                <a:latin typeface="+mn-ea"/>
              </a:rPr>
              <a:t>EPO</a:t>
            </a:r>
            <a:endParaRPr kumimoji="0" lang="ko-KR" altLang="en-US" b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5" name="Rectangle 24"/>
          <p:cNvSpPr>
            <a:spLocks noChangeArrowheads="1"/>
          </p:cNvSpPr>
          <p:nvPr/>
        </p:nvSpPr>
        <p:spPr bwMode="auto">
          <a:xfrm>
            <a:off x="4960095" y="4630311"/>
            <a:ext cx="1047757" cy="25152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b="0" dirty="0">
                <a:solidFill>
                  <a:srgbClr val="FFFFFF"/>
                </a:solidFill>
                <a:latin typeface="+mn-ea"/>
              </a:rPr>
              <a:t>KR</a:t>
            </a:r>
            <a:endParaRPr kumimoji="0" lang="ko-KR" altLang="en-US" b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6" name="Rectangle 24"/>
          <p:cNvSpPr>
            <a:spLocks noChangeArrowheads="1"/>
          </p:cNvSpPr>
          <p:nvPr/>
        </p:nvSpPr>
        <p:spPr bwMode="auto">
          <a:xfrm>
            <a:off x="3721836" y="4630311"/>
            <a:ext cx="1047757" cy="251520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b="0" dirty="0">
                <a:solidFill>
                  <a:srgbClr val="FFFFFF"/>
                </a:solidFill>
                <a:latin typeface="+mn-ea"/>
              </a:rPr>
              <a:t>US</a:t>
            </a:r>
            <a:endParaRPr kumimoji="0" lang="ko-KR" altLang="en-US" b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7" name="Rectangle 24"/>
          <p:cNvSpPr>
            <a:spLocks noChangeArrowheads="1"/>
          </p:cNvSpPr>
          <p:nvPr/>
        </p:nvSpPr>
        <p:spPr bwMode="auto">
          <a:xfrm>
            <a:off x="6198354" y="5344691"/>
            <a:ext cx="1047757" cy="251520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b="0" dirty="0">
                <a:solidFill>
                  <a:srgbClr val="FFFFFF"/>
                </a:solidFill>
                <a:latin typeface="+mn-ea"/>
              </a:rPr>
              <a:t>GE</a:t>
            </a:r>
            <a:endParaRPr kumimoji="0" lang="ko-KR" altLang="en-US" b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8" name="Rectangle 24"/>
          <p:cNvSpPr>
            <a:spLocks noChangeArrowheads="1"/>
          </p:cNvSpPr>
          <p:nvPr/>
        </p:nvSpPr>
        <p:spPr bwMode="auto">
          <a:xfrm>
            <a:off x="4960095" y="5344691"/>
            <a:ext cx="1047757" cy="251520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b="0" dirty="0">
                <a:solidFill>
                  <a:srgbClr val="FFFFFF"/>
                </a:solidFill>
                <a:latin typeface="+mn-ea"/>
              </a:rPr>
              <a:t>FR</a:t>
            </a:r>
            <a:endParaRPr kumimoji="0" lang="ko-KR" altLang="en-US" b="0" dirty="0">
              <a:solidFill>
                <a:srgbClr val="FFFFFF"/>
              </a:solidFill>
              <a:latin typeface="+mn-ea"/>
            </a:endParaRPr>
          </a:p>
        </p:txBody>
      </p:sp>
      <p:cxnSp>
        <p:nvCxnSpPr>
          <p:cNvPr id="79" name="직선 화살표 연결선 78"/>
          <p:cNvCxnSpPr/>
          <p:nvPr/>
        </p:nvCxnSpPr>
        <p:spPr>
          <a:xfrm rot="5400000">
            <a:off x="6311108" y="2720290"/>
            <a:ext cx="820737" cy="211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/>
          <p:cNvCxnSpPr/>
          <p:nvPr/>
        </p:nvCxnSpPr>
        <p:spPr>
          <a:xfrm rot="5400000">
            <a:off x="6096795" y="4006165"/>
            <a:ext cx="1249363" cy="211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/>
          <p:nvPr/>
        </p:nvCxnSpPr>
        <p:spPr>
          <a:xfrm rot="5400000">
            <a:off x="6489701" y="5113446"/>
            <a:ext cx="463550" cy="211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 81"/>
          <p:cNvCxnSpPr/>
          <p:nvPr/>
        </p:nvCxnSpPr>
        <p:spPr>
          <a:xfrm rot="5400000">
            <a:off x="4859603" y="2767385"/>
            <a:ext cx="1249362" cy="2476500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꺾인 연결선 82"/>
          <p:cNvCxnSpPr/>
          <p:nvPr/>
        </p:nvCxnSpPr>
        <p:spPr>
          <a:xfrm rot="5400000">
            <a:off x="5478728" y="3386511"/>
            <a:ext cx="1249362" cy="1238249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꺾인 연결선 83"/>
          <p:cNvCxnSpPr/>
          <p:nvPr/>
        </p:nvCxnSpPr>
        <p:spPr>
          <a:xfrm rot="5400000">
            <a:off x="5871634" y="4493792"/>
            <a:ext cx="463550" cy="1238249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오른쪽 중괄호 84"/>
          <p:cNvSpPr/>
          <p:nvPr/>
        </p:nvSpPr>
        <p:spPr>
          <a:xfrm rot="10800000">
            <a:off x="5772151" y="2201441"/>
            <a:ext cx="447044" cy="1071563"/>
          </a:xfrm>
          <a:prstGeom prst="rightBrace">
            <a:avLst>
              <a:gd name="adj1" fmla="val 62165"/>
              <a:gd name="adj2" fmla="val 48815"/>
            </a:avLst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>
              <a:defRPr/>
            </a:pPr>
            <a:endParaRPr lang="ko-KR" altLang="en-US" sz="2400">
              <a:latin typeface="+mn-ea"/>
            </a:endParaRPr>
          </a:p>
        </p:txBody>
      </p:sp>
      <p:sp>
        <p:nvSpPr>
          <p:cNvPr id="86" name="오른쪽 중괄호 85"/>
          <p:cNvSpPr/>
          <p:nvPr/>
        </p:nvSpPr>
        <p:spPr>
          <a:xfrm>
            <a:off x="7359651" y="3345581"/>
            <a:ext cx="463549" cy="1427609"/>
          </a:xfrm>
          <a:prstGeom prst="rightBrace">
            <a:avLst>
              <a:gd name="adj1" fmla="val 76451"/>
              <a:gd name="adj2" fmla="val 50352"/>
            </a:avLst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>
              <a:defRPr/>
            </a:pPr>
            <a:endParaRPr lang="ko-KR" altLang="en-US" sz="2400">
              <a:latin typeface="+mn-ea"/>
            </a:endParaRPr>
          </a:p>
        </p:txBody>
      </p:sp>
      <p:sp>
        <p:nvSpPr>
          <p:cNvPr id="87" name="모서리가 둥근 직사각형 86"/>
          <p:cNvSpPr/>
          <p:nvPr/>
        </p:nvSpPr>
        <p:spPr bwMode="auto">
          <a:xfrm>
            <a:off x="8028418" y="3896246"/>
            <a:ext cx="2496277" cy="357187"/>
          </a:xfrm>
          <a:prstGeom prst="roundRect">
            <a:avLst/>
          </a:prstGeom>
          <a:solidFill>
            <a:schemeClr val="accent4"/>
          </a:solidFill>
          <a:ln>
            <a:noFill/>
            <a:headEnd type="none" w="med" len="med"/>
            <a:tailEnd type="triangl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400" dirty="0">
                <a:latin typeface="+mn-ea"/>
              </a:rPr>
              <a:t>국제단계기간</a:t>
            </a:r>
            <a:r>
              <a:rPr lang="en-US" altLang="ko-KR" sz="1400" dirty="0">
                <a:latin typeface="+mn-ea"/>
              </a:rPr>
              <a:t>(18/19</a:t>
            </a:r>
            <a:r>
              <a:rPr lang="ko-KR" altLang="en-US" sz="1400" dirty="0">
                <a:latin typeface="+mn-ea"/>
              </a:rPr>
              <a:t>월</a:t>
            </a:r>
            <a:r>
              <a:rPr lang="en-US" altLang="ko-KR" sz="1400" dirty="0">
                <a:latin typeface="+mn-ea"/>
              </a:rPr>
              <a:t>)</a:t>
            </a:r>
            <a:endParaRPr lang="ko-KR" altLang="en-US" sz="1400" dirty="0">
              <a:latin typeface="+mn-ea"/>
            </a:endParaRPr>
          </a:p>
        </p:txBody>
      </p:sp>
      <p:sp>
        <p:nvSpPr>
          <p:cNvPr id="88" name="모서리가 둥근 사각형 설명선 87"/>
          <p:cNvSpPr/>
          <p:nvPr/>
        </p:nvSpPr>
        <p:spPr bwMode="auto">
          <a:xfrm>
            <a:off x="8097507" y="2820418"/>
            <a:ext cx="2496277" cy="288032"/>
          </a:xfrm>
          <a:prstGeom prst="wedgeRoundRectCallout">
            <a:avLst>
              <a:gd name="adj1" fmla="val -80667"/>
              <a:gd name="adj2" fmla="val 78540"/>
              <a:gd name="adj3" fmla="val 16667"/>
            </a:avLst>
          </a:prstGeom>
          <a:solidFill>
            <a:schemeClr val="accent4"/>
          </a:solidFill>
          <a:ln>
            <a:headEnd type="none" w="med" len="med"/>
            <a:tailEnd type="none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+mn-ea"/>
              </a:rPr>
              <a:t>자기지정</a:t>
            </a:r>
            <a:r>
              <a:rPr lang="en-US" altLang="ko-KR" sz="1400" dirty="0">
                <a:latin typeface="+mn-ea"/>
              </a:rPr>
              <a:t>* </a:t>
            </a:r>
            <a:r>
              <a:rPr lang="ko-KR" altLang="en-US" sz="1400" dirty="0">
                <a:latin typeface="+mn-ea"/>
              </a:rPr>
              <a:t>포함여부 결정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5863" y="6223693"/>
            <a:ext cx="95365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* </a:t>
            </a:r>
            <a:r>
              <a:rPr lang="ko-KR" altLang="en-US" sz="1600" dirty="0">
                <a:latin typeface="+mn-ea"/>
              </a:rPr>
              <a:t>자기지정</a:t>
            </a:r>
            <a:r>
              <a:rPr lang="en-US" altLang="ko-KR" sz="1600" dirty="0">
                <a:latin typeface="+mn-ea"/>
              </a:rPr>
              <a:t>: KR</a:t>
            </a:r>
            <a:r>
              <a:rPr lang="ko-KR" altLang="en-US" sz="1600" dirty="0">
                <a:latin typeface="+mn-ea"/>
              </a:rPr>
              <a:t>의 선출원을 기초로 우선권주장을 수반한 </a:t>
            </a:r>
            <a:r>
              <a:rPr lang="en-US" altLang="ko-KR" sz="1600" dirty="0">
                <a:latin typeface="+mn-ea"/>
              </a:rPr>
              <a:t>PCT </a:t>
            </a:r>
            <a:r>
              <a:rPr lang="ko-KR" altLang="en-US" sz="1600" dirty="0">
                <a:latin typeface="+mn-ea"/>
              </a:rPr>
              <a:t>출원을 하면서 </a:t>
            </a:r>
            <a:r>
              <a:rPr lang="en-US" altLang="ko-KR" sz="1600" dirty="0">
                <a:latin typeface="+mn-ea"/>
              </a:rPr>
              <a:t>KR</a:t>
            </a:r>
            <a:r>
              <a:rPr lang="ko-KR" altLang="en-US" sz="1600" dirty="0">
                <a:latin typeface="+mn-ea"/>
              </a:rPr>
              <a:t>을 지정국에 포함시키는 것을 말함</a:t>
            </a:r>
          </a:p>
        </p:txBody>
      </p:sp>
      <p:sp>
        <p:nvSpPr>
          <p:cNvPr id="71" name="Rectangle 24"/>
          <p:cNvSpPr>
            <a:spLocks noChangeArrowheads="1"/>
          </p:cNvSpPr>
          <p:nvPr/>
        </p:nvSpPr>
        <p:spPr bwMode="auto">
          <a:xfrm>
            <a:off x="6198354" y="2058543"/>
            <a:ext cx="1047757" cy="25152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b="0" dirty="0">
                <a:solidFill>
                  <a:srgbClr val="FFFFFF"/>
                </a:solidFill>
                <a:latin typeface="+mn-ea"/>
              </a:rPr>
              <a:t>KR</a:t>
            </a:r>
            <a:endParaRPr kumimoji="0" lang="ko-KR" altLang="en-US" b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3" name="Rectangle 24"/>
          <p:cNvSpPr>
            <a:spLocks noChangeArrowheads="1"/>
          </p:cNvSpPr>
          <p:nvPr/>
        </p:nvSpPr>
        <p:spPr bwMode="auto">
          <a:xfrm>
            <a:off x="6198354" y="3130113"/>
            <a:ext cx="1047757" cy="251520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b="0" dirty="0">
                <a:solidFill>
                  <a:srgbClr val="FFFFFF"/>
                </a:solidFill>
                <a:latin typeface="+mn-ea"/>
              </a:rPr>
              <a:t>PCT</a:t>
            </a:r>
            <a:endParaRPr kumimoji="0" lang="ko-KR" altLang="en-US" b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550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519061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/>
          <p:nvPr/>
        </p:nvSpPr>
        <p:spPr>
          <a:xfrm>
            <a:off x="2026763" y="4515439"/>
            <a:ext cx="7145517" cy="0"/>
          </a:xfrm>
          <a:custGeom>
            <a:avLst/>
            <a:gdLst>
              <a:gd name="connsiteX0" fmla="*/ 0 w 7145517"/>
              <a:gd name="connsiteY0" fmla="*/ 0 h 0"/>
              <a:gd name="connsiteX1" fmla="*/ 7145517 w 714551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145517">
                <a:moveTo>
                  <a:pt x="0" y="0"/>
                </a:moveTo>
                <a:lnTo>
                  <a:pt x="7145517" y="0"/>
                </a:lnTo>
              </a:path>
            </a:pathLst>
          </a:cu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944617" y="4537043"/>
            <a:ext cx="10160158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1367957" y="4046754"/>
            <a:ext cx="1354688" cy="325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b="0" dirty="0">
                <a:latin typeface="+mj-ea"/>
                <a:ea typeface="+mj-ea"/>
              </a:rPr>
              <a:t>PCT </a:t>
            </a:r>
            <a:r>
              <a:rPr lang="ko-KR" altLang="en-US" sz="1400" b="0" dirty="0">
                <a:latin typeface="+mj-ea"/>
                <a:ea typeface="+mj-ea"/>
              </a:rPr>
              <a:t>출원</a:t>
            </a: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1452625" y="3350800"/>
            <a:ext cx="567217" cy="659156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하나</a:t>
            </a:r>
            <a:endParaRPr lang="en-US" altLang="ko-KR" sz="1400" dirty="0">
              <a:latin typeface="+mj-ea"/>
              <a:ea typeface="+mj-ea"/>
            </a:endParaRPr>
          </a:p>
          <a:p>
            <a:pPr algn="ctr"/>
            <a:r>
              <a:rPr lang="ko-KR" altLang="en-US" sz="1400" dirty="0">
                <a:latin typeface="+mj-ea"/>
                <a:ea typeface="+mj-ea"/>
              </a:rPr>
              <a:t>방식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 flipV="1">
            <a:off x="1935174" y="4418779"/>
            <a:ext cx="193805" cy="201270"/>
          </a:xfrm>
          <a:prstGeom prst="ellipse">
            <a:avLst/>
          </a:prstGeom>
          <a:solidFill>
            <a:schemeClr val="tx2"/>
          </a:solidFill>
          <a:ln w="285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 flipV="1">
            <a:off x="4031398" y="4418779"/>
            <a:ext cx="193805" cy="201270"/>
          </a:xfrm>
          <a:prstGeom prst="ellipse">
            <a:avLst/>
          </a:prstGeom>
          <a:solidFill>
            <a:schemeClr val="tx2"/>
          </a:solidFill>
          <a:ln w="285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26" name="Rectangle 14"/>
          <p:cNvSpPr>
            <a:spLocks noChangeArrowheads="1"/>
          </p:cNvSpPr>
          <p:nvPr/>
        </p:nvSpPr>
        <p:spPr bwMode="auto">
          <a:xfrm flipV="1">
            <a:off x="5551948" y="4418779"/>
            <a:ext cx="193805" cy="201270"/>
          </a:xfrm>
          <a:prstGeom prst="ellipse">
            <a:avLst/>
          </a:prstGeom>
          <a:solidFill>
            <a:schemeClr val="tx2"/>
          </a:solidFill>
          <a:ln w="285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 flipV="1">
            <a:off x="7075972" y="4418779"/>
            <a:ext cx="193805" cy="201270"/>
          </a:xfrm>
          <a:prstGeom prst="ellipse">
            <a:avLst/>
          </a:prstGeom>
          <a:solidFill>
            <a:schemeClr val="tx2"/>
          </a:solidFill>
          <a:ln w="285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33" name="Rectangle 14"/>
          <p:cNvSpPr>
            <a:spLocks noChangeArrowheads="1"/>
          </p:cNvSpPr>
          <p:nvPr/>
        </p:nvSpPr>
        <p:spPr bwMode="auto">
          <a:xfrm>
            <a:off x="1387189" y="4754713"/>
            <a:ext cx="1354688" cy="4682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t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국제출원</a:t>
            </a:r>
            <a:endParaRPr lang="en-US" altLang="ko-KR" sz="1400" dirty="0">
              <a:latin typeface="+mj-ea"/>
              <a:ea typeface="+mj-ea"/>
            </a:endParaRPr>
          </a:p>
          <a:p>
            <a:pPr algn="ctr"/>
            <a:r>
              <a:rPr lang="en-US" altLang="ko-KR" sz="1400" b="0" dirty="0">
                <a:latin typeface="+mj-ea"/>
                <a:ea typeface="+mj-ea"/>
              </a:rPr>
              <a:t>(</a:t>
            </a:r>
            <a:r>
              <a:rPr lang="ko-KR" altLang="en-US" sz="1400" b="0" dirty="0">
                <a:latin typeface="+mj-ea"/>
                <a:ea typeface="+mj-ea"/>
              </a:rPr>
              <a:t>국제사무국</a:t>
            </a:r>
            <a:r>
              <a:rPr lang="en-US" altLang="ko-KR" sz="1400" b="0" dirty="0">
                <a:latin typeface="+mj-ea"/>
                <a:ea typeface="+mj-ea"/>
              </a:rPr>
              <a:t>/</a:t>
            </a:r>
            <a:r>
              <a:rPr lang="ko-KR" altLang="en-US" sz="1400" b="0" dirty="0">
                <a:latin typeface="+mj-ea"/>
                <a:ea typeface="+mj-ea"/>
              </a:rPr>
              <a:t>수리관청</a:t>
            </a:r>
            <a:r>
              <a:rPr lang="en-US" altLang="ko-KR" sz="1400" b="0" dirty="0">
                <a:latin typeface="+mj-ea"/>
                <a:ea typeface="+mj-ea"/>
              </a:rPr>
              <a:t>)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 flipV="1">
            <a:off x="9072743" y="4413592"/>
            <a:ext cx="193805" cy="201270"/>
          </a:xfrm>
          <a:prstGeom prst="ellipse">
            <a:avLst/>
          </a:prstGeom>
          <a:solidFill>
            <a:srgbClr val="FF0000"/>
          </a:solidFill>
          <a:ln w="285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54" name="Rectangle 14"/>
          <p:cNvSpPr>
            <a:spLocks noChangeArrowheads="1"/>
          </p:cNvSpPr>
          <p:nvPr/>
        </p:nvSpPr>
        <p:spPr bwMode="auto">
          <a:xfrm>
            <a:off x="8029589" y="4539176"/>
            <a:ext cx="1354688" cy="325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기준일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23113" y="6239868"/>
            <a:ext cx="4175782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fontAlgn="base" latinLnBrk="0"/>
            <a:r>
              <a:rPr lang="ko-KR" altLang="en-US" sz="1400"/>
              <a:t>대한민국 지식재산처가 </a:t>
            </a:r>
            <a:r>
              <a:rPr lang="ko-KR" altLang="en-US" sz="1400" dirty="0" err="1"/>
              <a:t>수리관청인</a:t>
            </a:r>
            <a:r>
              <a:rPr lang="ko-KR" altLang="en-US" sz="1400" dirty="0"/>
              <a:t> 경우</a:t>
            </a:r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192~198)</a:t>
            </a:r>
            <a:endParaRPr lang="ko-KR" altLang="en-US" sz="1400" dirty="0"/>
          </a:p>
        </p:txBody>
      </p:sp>
      <p:cxnSp>
        <p:nvCxnSpPr>
          <p:cNvPr id="4" name="꺾인 연결선 3"/>
          <p:cNvCxnSpPr>
            <a:stCxn id="34" idx="4"/>
          </p:cNvCxnSpPr>
          <p:nvPr/>
        </p:nvCxnSpPr>
        <p:spPr>
          <a:xfrm rot="5400000" flipH="1" flipV="1">
            <a:off x="9691028" y="3153598"/>
            <a:ext cx="738612" cy="1781376"/>
          </a:xfrm>
          <a:prstGeom prst="bentConnector2">
            <a:avLst/>
          </a:prstGeom>
          <a:ln w="57150">
            <a:solidFill>
              <a:schemeClr val="accent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 36"/>
          <p:cNvCxnSpPr>
            <a:stCxn id="34" idx="0"/>
          </p:cNvCxnSpPr>
          <p:nvPr/>
        </p:nvCxnSpPr>
        <p:spPr>
          <a:xfrm rot="16200000" flipH="1">
            <a:off x="9702184" y="4082323"/>
            <a:ext cx="716304" cy="1781381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4"/>
          <p:cNvSpPr>
            <a:spLocks noChangeArrowheads="1"/>
          </p:cNvSpPr>
          <p:nvPr/>
        </p:nvSpPr>
        <p:spPr bwMode="auto">
          <a:xfrm>
            <a:off x="6532704" y="4754713"/>
            <a:ext cx="1354688" cy="4682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t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국제예비심사</a:t>
            </a:r>
            <a:endParaRPr lang="en-US" altLang="ko-KR" sz="1400" dirty="0">
              <a:latin typeface="+mj-ea"/>
              <a:ea typeface="+mj-ea"/>
            </a:endParaRPr>
          </a:p>
          <a:p>
            <a:pPr algn="ctr"/>
            <a:r>
              <a:rPr lang="en-US" altLang="ko-KR" sz="1400" b="0" dirty="0">
                <a:latin typeface="+mj-ea"/>
                <a:ea typeface="+mj-ea"/>
              </a:rPr>
              <a:t>(</a:t>
            </a:r>
            <a:r>
              <a:rPr lang="ko-KR" altLang="en-US" sz="1400" b="0" dirty="0">
                <a:latin typeface="+mj-ea"/>
                <a:ea typeface="+mj-ea"/>
              </a:rPr>
              <a:t>국제예비심사기관</a:t>
            </a:r>
            <a:r>
              <a:rPr lang="en-US" altLang="ko-KR" sz="1400" b="0" dirty="0">
                <a:latin typeface="+mj-ea"/>
                <a:ea typeface="+mj-ea"/>
              </a:rPr>
              <a:t>)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5003964" y="4754713"/>
            <a:ext cx="1354688" cy="4682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t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국제공개</a:t>
            </a:r>
            <a:endParaRPr lang="en-US" altLang="ko-KR" sz="1400" dirty="0">
              <a:latin typeface="+mj-ea"/>
              <a:ea typeface="+mj-ea"/>
            </a:endParaRPr>
          </a:p>
          <a:p>
            <a:pPr algn="ctr"/>
            <a:r>
              <a:rPr lang="en-US" altLang="ko-KR" sz="1400" b="0" dirty="0">
                <a:latin typeface="+mj-ea"/>
                <a:ea typeface="+mj-ea"/>
              </a:rPr>
              <a:t>(</a:t>
            </a:r>
            <a:r>
              <a:rPr lang="ko-KR" altLang="en-US" sz="1400" b="0" dirty="0">
                <a:latin typeface="+mj-ea"/>
                <a:ea typeface="+mj-ea"/>
              </a:rPr>
              <a:t>국제사무국</a:t>
            </a:r>
            <a:r>
              <a:rPr lang="en-US" altLang="ko-KR" sz="1400" b="0" dirty="0">
                <a:latin typeface="+mj-ea"/>
                <a:ea typeface="+mj-ea"/>
              </a:rPr>
              <a:t>)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3484657" y="4754713"/>
            <a:ext cx="1354688" cy="4682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t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국제조사</a:t>
            </a:r>
            <a:endParaRPr lang="en-US" altLang="ko-KR" sz="1400" dirty="0">
              <a:latin typeface="+mj-ea"/>
              <a:ea typeface="+mj-ea"/>
            </a:endParaRPr>
          </a:p>
          <a:p>
            <a:pPr algn="ctr"/>
            <a:r>
              <a:rPr lang="en-US" altLang="ko-KR" sz="1400" b="0" dirty="0">
                <a:latin typeface="+mj-ea"/>
                <a:ea typeface="+mj-ea"/>
              </a:rPr>
              <a:t>(</a:t>
            </a:r>
            <a:r>
              <a:rPr lang="ko-KR" altLang="en-US" sz="1400" b="0" dirty="0">
                <a:latin typeface="+mj-ea"/>
                <a:ea typeface="+mj-ea"/>
              </a:rPr>
              <a:t>국제조사기관</a:t>
            </a:r>
            <a:r>
              <a:rPr lang="en-US" altLang="ko-KR" sz="1400" b="0" dirty="0">
                <a:latin typeface="+mj-ea"/>
                <a:ea typeface="+mj-ea"/>
              </a:rPr>
              <a:t>)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46" name="Rectangle 14"/>
          <p:cNvSpPr>
            <a:spLocks noChangeArrowheads="1"/>
          </p:cNvSpPr>
          <p:nvPr/>
        </p:nvSpPr>
        <p:spPr bwMode="auto">
          <a:xfrm>
            <a:off x="2047403" y="3348401"/>
            <a:ext cx="567217" cy="217670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+mj-ea"/>
                <a:ea typeface="+mj-ea"/>
              </a:rPr>
              <a:t>한국</a:t>
            </a:r>
            <a:endParaRPr lang="ko-KR" altLang="en-US" sz="14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7" name="Rectangle 14"/>
          <p:cNvSpPr>
            <a:spLocks noChangeArrowheads="1"/>
          </p:cNvSpPr>
          <p:nvPr/>
        </p:nvSpPr>
        <p:spPr bwMode="auto">
          <a:xfrm>
            <a:off x="2047403" y="3567900"/>
            <a:ext cx="567217" cy="217670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400">
                <a:latin typeface="+mj-ea"/>
                <a:ea typeface="+mj-ea"/>
              </a:rPr>
              <a:t>미국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49" name="Rectangle 14"/>
          <p:cNvSpPr>
            <a:spLocks noChangeArrowheads="1"/>
          </p:cNvSpPr>
          <p:nvPr/>
        </p:nvSpPr>
        <p:spPr bwMode="auto">
          <a:xfrm>
            <a:off x="2047403" y="3792285"/>
            <a:ext cx="567217" cy="217670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일본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9405597" y="3385402"/>
            <a:ext cx="1354688" cy="325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>
                <a:latin typeface="+mj-ea"/>
                <a:ea typeface="+mj-ea"/>
              </a:rPr>
              <a:t>한국의 국내단계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56" name="Rectangle 14"/>
          <p:cNvSpPr>
            <a:spLocks noChangeArrowheads="1"/>
          </p:cNvSpPr>
          <p:nvPr/>
        </p:nvSpPr>
        <p:spPr bwMode="auto">
          <a:xfrm>
            <a:off x="9405597" y="4210777"/>
            <a:ext cx="1354688" cy="325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>
                <a:latin typeface="+mj-ea"/>
                <a:ea typeface="+mj-ea"/>
              </a:rPr>
              <a:t>미국의 국내단계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58" name="Rectangle 14"/>
          <p:cNvSpPr>
            <a:spLocks noChangeArrowheads="1"/>
          </p:cNvSpPr>
          <p:nvPr/>
        </p:nvSpPr>
        <p:spPr bwMode="auto">
          <a:xfrm>
            <a:off x="9405597" y="5041589"/>
            <a:ext cx="1354688" cy="325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일본의 국내단계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093348" y="5929106"/>
            <a:ext cx="6011427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fontAlgn="base" latinLnBrk="0"/>
            <a:r>
              <a:rPr lang="ko-KR" altLang="en-US" sz="1400" dirty="0"/>
              <a:t>대한민국 지식재산처가 국제조사기관 또는 국제예비심사기관인 경우</a:t>
            </a:r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198</a:t>
            </a:r>
            <a:r>
              <a:rPr lang="ko-KR" altLang="en-US" sz="1400" dirty="0"/>
              <a:t>의</a:t>
            </a:r>
            <a:r>
              <a:rPr lang="en-US" altLang="ko-KR" sz="1400" dirty="0"/>
              <a:t>2)</a:t>
            </a:r>
            <a:endParaRPr lang="ko-KR" altLang="en-US" sz="1400" dirty="0"/>
          </a:p>
        </p:txBody>
      </p:sp>
      <p:sp>
        <p:nvSpPr>
          <p:cNvPr id="61" name="TextBox 60"/>
          <p:cNvSpPr txBox="1"/>
          <p:nvPr/>
        </p:nvSpPr>
        <p:spPr>
          <a:xfrm>
            <a:off x="5699106" y="2487438"/>
            <a:ext cx="3271171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fontAlgn="base" latinLnBrk="0"/>
            <a:r>
              <a:rPr lang="ko-KR" altLang="en-US" sz="1400" dirty="0"/>
              <a:t>국제특허출원이 국내단계에 진입한 경우</a:t>
            </a:r>
          </a:p>
          <a:p>
            <a:pPr fontAlgn="base" latinLnBrk="0"/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199 </a:t>
            </a:r>
            <a:r>
              <a:rPr lang="ko-KR" altLang="en-US" sz="1400" dirty="0"/>
              <a:t>내지 </a:t>
            </a:r>
            <a:r>
              <a:rPr lang="en-US" altLang="ko-KR" sz="1400" dirty="0"/>
              <a:t>214)</a:t>
            </a:r>
            <a:endParaRPr lang="ko-KR" altLang="en-US" sz="1400" dirty="0"/>
          </a:p>
        </p:txBody>
      </p:sp>
      <p:cxnSp>
        <p:nvCxnSpPr>
          <p:cNvPr id="20" name="꺾인 연결선 19"/>
          <p:cNvCxnSpPr>
            <a:cxnSpLocks/>
            <a:stCxn id="55" idx="0"/>
            <a:endCxn id="33" idx="2"/>
          </p:cNvCxnSpPr>
          <p:nvPr/>
        </p:nvCxnSpPr>
        <p:spPr>
          <a:xfrm rot="16200000" flipV="1">
            <a:off x="1779341" y="5508204"/>
            <a:ext cx="1016857" cy="44647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cxnSpLocks/>
            <a:stCxn id="60" idx="0"/>
            <a:endCxn id="41" idx="2"/>
          </p:cNvCxnSpPr>
          <p:nvPr/>
        </p:nvCxnSpPr>
        <p:spPr>
          <a:xfrm rot="16200000" flipV="1">
            <a:off x="7301508" y="5131552"/>
            <a:ext cx="706095" cy="88901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꺾인 연결선 38"/>
          <p:cNvCxnSpPr>
            <a:cxnSpLocks/>
            <a:stCxn id="60" idx="1"/>
            <a:endCxn id="43" idx="2"/>
          </p:cNvCxnSpPr>
          <p:nvPr/>
        </p:nvCxnSpPr>
        <p:spPr>
          <a:xfrm rot="10800000">
            <a:off x="4162002" y="5223011"/>
            <a:ext cx="931347" cy="859984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연결선 61"/>
          <p:cNvCxnSpPr>
            <a:stCxn id="61" idx="2"/>
            <a:endCxn id="50" idx="0"/>
          </p:cNvCxnSpPr>
          <p:nvPr/>
        </p:nvCxnSpPr>
        <p:spPr>
          <a:xfrm rot="16200000" flipH="1">
            <a:off x="8521444" y="1823905"/>
            <a:ext cx="374744" cy="274824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192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214</a:t>
            </a:r>
            <a:r>
              <a:rPr lang="ko-KR" altLang="en-US" dirty="0"/>
              <a:t>조</a:t>
            </a:r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우리나라 특허법 규정에 반영된 </a:t>
            </a:r>
            <a:r>
              <a:rPr lang="en-US" altLang="ko-KR" dirty="0"/>
              <a:t>PCT</a:t>
            </a:r>
            <a:endParaRPr lang="ko-KR" altLang="en-US" dirty="0"/>
          </a:p>
        </p:txBody>
      </p:sp>
      <p:sp>
        <p:nvSpPr>
          <p:cNvPr id="21" name="모서리가 둥근 사각형 설명선 20"/>
          <p:cNvSpPr/>
          <p:nvPr/>
        </p:nvSpPr>
        <p:spPr>
          <a:xfrm>
            <a:off x="2959100" y="3123376"/>
            <a:ext cx="1266103" cy="262025"/>
          </a:xfrm>
          <a:prstGeom prst="wedgeRoundRectCallout">
            <a:avLst>
              <a:gd name="adj1" fmla="val -71117"/>
              <a:gd name="adj2" fmla="val 50431"/>
              <a:gd name="adj3" fmla="val 16667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국제특허출원</a:t>
            </a:r>
          </a:p>
        </p:txBody>
      </p:sp>
      <p:sp>
        <p:nvSpPr>
          <p:cNvPr id="48" name="모서리가 둥근 사각형 설명선 47"/>
          <p:cNvSpPr/>
          <p:nvPr/>
        </p:nvSpPr>
        <p:spPr>
          <a:xfrm>
            <a:off x="2819548" y="4123166"/>
            <a:ext cx="1266103" cy="262025"/>
          </a:xfrm>
          <a:prstGeom prst="wedgeRoundRectCallout">
            <a:avLst>
              <a:gd name="adj1" fmla="val -80796"/>
              <a:gd name="adj2" fmla="val -32316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국제출원</a:t>
            </a:r>
          </a:p>
        </p:txBody>
      </p:sp>
      <p:cxnSp>
        <p:nvCxnSpPr>
          <p:cNvPr id="51" name="직선 연결선 50"/>
          <p:cNvCxnSpPr/>
          <p:nvPr/>
        </p:nvCxnSpPr>
        <p:spPr>
          <a:xfrm>
            <a:off x="77875" y="192926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7875" y="976902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우리나라 특허법상 특허협력조약에 의한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국제출원은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국제출원절차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192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내지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198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와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ⅱ)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국제특허출원에 관한 특례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199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내지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214)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로 구분되어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여기서 국제출원절차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192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내지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198)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는 어느 나라를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지정국으로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했는지 여부와 관계없이 우리나라를 수리관청으로 하여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국제출원할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때 적용되는 규정이고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국제특허출원에 관한 특례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199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내지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214)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는 어느 나라를 수리관청으로 했는지 여부와 관계없이 우리나라를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지정국으로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한 국제출원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이를 “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국제특허출원”이라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국내단계로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진입시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적용되는 규정이다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198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는 우리나라가 국제조사 및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국제예비심사기관인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경우에 적용되는 규정이다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  <a:endParaRPr lang="ko-KR" altLang="en-US" sz="14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551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725455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특허와 관련된 조약</a:t>
            </a:r>
            <a:r>
              <a:rPr lang="en-US" altLang="ko-KR" dirty="0"/>
              <a:t>: </a:t>
            </a:r>
            <a:r>
              <a:rPr lang="ko-KR" altLang="en-US" dirty="0"/>
              <a:t>발명의 국제적 보호 </a:t>
            </a:r>
            <a:r>
              <a:rPr lang="en-US" altLang="ko-KR" dirty="0"/>
              <a:t>vs </a:t>
            </a:r>
            <a:r>
              <a:rPr lang="ko-KR" altLang="en-US" dirty="0"/>
              <a:t>지배수단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823235" y="1006129"/>
            <a:ext cx="10318898" cy="5688632"/>
            <a:chOff x="823235" y="1006129"/>
            <a:chExt cx="8280920" cy="5688632"/>
          </a:xfrm>
        </p:grpSpPr>
        <p:cxnSp>
          <p:nvCxnSpPr>
            <p:cNvPr id="19" name="직선 화살표 연결선 18"/>
            <p:cNvCxnSpPr/>
            <p:nvPr/>
          </p:nvCxnSpPr>
          <p:spPr>
            <a:xfrm>
              <a:off x="1039259" y="1290934"/>
              <a:ext cx="0" cy="3352416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직사각형 3"/>
            <p:cNvSpPr/>
            <p:nvPr/>
          </p:nvSpPr>
          <p:spPr>
            <a:xfrm>
              <a:off x="823235" y="1006129"/>
              <a:ext cx="1152128" cy="3785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파리조약</a:t>
              </a:r>
              <a:endParaRPr lang="en-US" altLang="ko-KR" sz="11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(1883)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2047371" y="1006129"/>
              <a:ext cx="7056784" cy="6265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산업재산권의 국제적 보호를 위한 조약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특색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동맹조약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다자간 조약</a:t>
              </a:r>
              <a:r>
                <a:rPr lang="en-US" altLang="ko-KR" sz="1000" dirty="0">
                  <a:solidFill>
                    <a:schemeClr val="tx1"/>
                  </a:solidFill>
                </a:rPr>
                <a:t>), </a:t>
              </a:r>
              <a:r>
                <a:rPr lang="ko-KR" altLang="en-US" sz="1000" dirty="0">
                  <a:solidFill>
                    <a:schemeClr val="tx1"/>
                  </a:solidFill>
                </a:rPr>
                <a:t>기본조약의 존속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동맹국이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개정조약을</a:t>
              </a:r>
              <a:r>
                <a:rPr lang="ko-KR" altLang="en-US" sz="1000" dirty="0">
                  <a:solidFill>
                    <a:schemeClr val="tx1"/>
                  </a:solidFill>
                </a:rPr>
                <a:t> 비준하지 아니한 경우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적용범위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동맹국보다 넓게 적용</a:t>
              </a:r>
              <a:r>
                <a:rPr lang="en-US" altLang="ko-KR" sz="1000" dirty="0">
                  <a:solidFill>
                    <a:schemeClr val="tx1"/>
                  </a:solidFill>
                </a:rPr>
                <a:t>), 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대상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저작권을 제외하고 광범위하게 인정</a:t>
              </a:r>
              <a:r>
                <a:rPr lang="en-US" altLang="ko-KR" sz="1000" dirty="0">
                  <a:solidFill>
                    <a:schemeClr val="tx1"/>
                  </a:solidFill>
                </a:rPr>
                <a:t>),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시기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무제한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탈퇴가능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 원칙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>
                  <a:solidFill>
                    <a:schemeClr val="tx1"/>
                  </a:solidFill>
                </a:rPr>
                <a:t>내외국인 평등의 원칙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조약우선권의 원칙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특허독립의</a:t>
              </a:r>
              <a:r>
                <a:rPr lang="ko-KR" altLang="en-US" sz="1000" dirty="0">
                  <a:solidFill>
                    <a:schemeClr val="tx1"/>
                  </a:solidFill>
                </a:rPr>
                <a:t> 원칙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속지주의</a:t>
              </a:r>
              <a:r>
                <a:rPr lang="en-US" altLang="ko-KR" sz="1000" dirty="0">
                  <a:solidFill>
                    <a:schemeClr val="tx1"/>
                  </a:solidFill>
                </a:rPr>
                <a:t>) 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1550437" y="1689661"/>
              <a:ext cx="1577054" cy="3785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err="1">
                  <a:solidFill>
                    <a:schemeClr val="tx1"/>
                  </a:solidFill>
                </a:rPr>
                <a:t>스트라스부르그</a:t>
              </a:r>
              <a:r>
                <a:rPr lang="ko-KR" altLang="en-US" sz="1100" dirty="0">
                  <a:solidFill>
                    <a:schemeClr val="tx1"/>
                  </a:solidFill>
                </a:rPr>
                <a:t> 협정</a:t>
              </a:r>
              <a:endParaRPr lang="en-US" altLang="ko-KR" sz="11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(1971)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199499" y="1689661"/>
              <a:ext cx="5904656" cy="509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특허나 실용신안에 대하여 통일된 국제특허분류</a:t>
              </a:r>
              <a:r>
                <a:rPr lang="en-US" altLang="ko-KR" sz="1000" dirty="0">
                  <a:solidFill>
                    <a:schemeClr val="tx1"/>
                  </a:solidFill>
                </a:rPr>
                <a:t>(IPC)</a:t>
              </a:r>
              <a:r>
                <a:rPr lang="ko-KR" altLang="en-US" sz="1000" dirty="0">
                  <a:solidFill>
                    <a:schemeClr val="tx1"/>
                  </a:solidFill>
                </a:rPr>
                <a:t>라는 분류체계를 사용하여 산업재산권분야에서 국제적 협력 확인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국제특허분류는 관리적 성격만을 가지며 회원국들은 분류를 주요 또는 보조 분류로 사용할 권한을 가짐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550437" y="2259543"/>
              <a:ext cx="1577054" cy="3785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부다페스트 조약</a:t>
              </a:r>
              <a:endParaRPr lang="en-US" altLang="ko-KR" sz="11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(1977)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3199499" y="2259543"/>
              <a:ext cx="5904656" cy="4841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미생물의 국제기탁기관의 승인에 관한 조약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조약이 정한 국제기탁기관이 해당 회원국의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영토내에</a:t>
              </a:r>
              <a:r>
                <a:rPr lang="ko-KR" altLang="en-US" sz="1000" dirty="0">
                  <a:solidFill>
                    <a:schemeClr val="tx1"/>
                  </a:solidFill>
                </a:rPr>
                <a:t> 있거나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없거나에</a:t>
              </a:r>
              <a:r>
                <a:rPr lang="ko-KR" altLang="en-US" sz="1000" dirty="0">
                  <a:solidFill>
                    <a:schemeClr val="tx1"/>
                  </a:solidFill>
                </a:rPr>
                <a:t> 관계없이 </a:t>
              </a:r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r>
                <a:rPr lang="ko-KR" altLang="en-US" sz="1000" dirty="0">
                  <a:solidFill>
                    <a:schemeClr val="tx1"/>
                  </a:solidFill>
                </a:rPr>
                <a:t>회에 기탁기관에의 기탁을 상호 승인하여야 함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550437" y="2805359"/>
              <a:ext cx="1577054" cy="3785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PCT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(1978)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199499" y="2805359"/>
              <a:ext cx="5904656" cy="6788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국제출원에 대한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방식요건의</a:t>
              </a:r>
              <a:r>
                <a:rPr lang="ko-KR" altLang="en-US" sz="1000" dirty="0">
                  <a:solidFill>
                    <a:schemeClr val="tx1"/>
                  </a:solidFill>
                </a:rPr>
                <a:t> 통일화를 위한 조약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국제출원단계에서 국제조사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국제공개 </a:t>
              </a:r>
              <a:r>
                <a:rPr lang="en-US" altLang="ko-KR" sz="1000" dirty="0">
                  <a:solidFill>
                    <a:schemeClr val="tx1"/>
                  </a:solidFill>
                </a:rPr>
                <a:t>&amp; </a:t>
              </a:r>
              <a:r>
                <a:rPr lang="ko-KR" altLang="en-US" sz="1000" dirty="0">
                  <a:solidFill>
                    <a:schemeClr val="tx1"/>
                  </a:solidFill>
                </a:rPr>
                <a:t>국제예비심사단계를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통일화함</a:t>
              </a:r>
              <a:endParaRPr lang="ko-KR" altLang="en-US" sz="10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altLang="ko-KR" sz="1000" dirty="0">
                  <a:solidFill>
                    <a:schemeClr val="tx1"/>
                  </a:solidFill>
                </a:rPr>
                <a:t>PCT</a:t>
              </a:r>
              <a:r>
                <a:rPr lang="ko-KR" altLang="en-US" sz="1000" dirty="0">
                  <a:solidFill>
                    <a:schemeClr val="tx1"/>
                  </a:solidFill>
                </a:rPr>
                <a:t>의 어떠한 규정도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파리조약의</a:t>
              </a:r>
              <a:r>
                <a:rPr lang="ko-KR" altLang="en-US" sz="1000" dirty="0">
                  <a:solidFill>
                    <a:schemeClr val="tx1"/>
                  </a:solidFill>
                </a:rPr>
                <a:t> 당사국 국민 또는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재내자의</a:t>
              </a:r>
              <a:r>
                <a:rPr lang="ko-KR" altLang="en-US" sz="1000" dirty="0">
                  <a:solidFill>
                    <a:schemeClr val="tx1"/>
                  </a:solidFill>
                </a:rPr>
                <a:t> 파리조약상의 권리를 축소하지 아니함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altLang="ko-KR" sz="1000" dirty="0">
                  <a:solidFill>
                    <a:schemeClr val="tx1"/>
                  </a:solidFill>
                </a:rPr>
                <a:t>PLT</a:t>
              </a:r>
              <a:r>
                <a:rPr lang="ko-KR" altLang="en-US" sz="1000" dirty="0">
                  <a:solidFill>
                    <a:schemeClr val="tx1"/>
                  </a:solidFill>
                </a:rPr>
                <a:t>와의 정합성을 위한 활발한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개혁논의</a:t>
              </a:r>
              <a:r>
                <a:rPr lang="ko-KR" altLang="en-US" sz="1000" dirty="0">
                  <a:solidFill>
                    <a:schemeClr val="tx1"/>
                  </a:solidFill>
                </a:rPr>
                <a:t> 진행중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1550437" y="3543662"/>
              <a:ext cx="1577054" cy="3785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PHT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(1985)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4135603" y="3543662"/>
              <a:ext cx="4968552" cy="3876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 err="1">
                  <a:solidFill>
                    <a:schemeClr val="tx1"/>
                  </a:solidFill>
                </a:rPr>
                <a:t>국내단계의</a:t>
              </a:r>
              <a:r>
                <a:rPr lang="ko-KR" altLang="en-US" sz="1000" dirty="0">
                  <a:solidFill>
                    <a:schemeClr val="tx1"/>
                  </a:solidFill>
                </a:rPr>
                <a:t> 실체법 통일화 조약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각국의 이해관계가 첨예하게 대립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논의중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3350637" y="3543662"/>
              <a:ext cx="712958" cy="3785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2">
                      <a:lumMod val="50000"/>
                    </a:schemeClr>
                  </a:solidFill>
                </a:rPr>
                <a:t>SPLT</a:t>
              </a:r>
              <a:endParaRPr lang="ko-KR" altLang="en-US" sz="11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350637" y="4033693"/>
              <a:ext cx="712958" cy="3527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PLT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(2000)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135603" y="4033693"/>
              <a:ext cx="4968552" cy="3746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 err="1">
                  <a:solidFill>
                    <a:schemeClr val="tx1"/>
                  </a:solidFill>
                </a:rPr>
                <a:t>국내단계의</a:t>
              </a:r>
              <a:r>
                <a:rPr lang="ko-KR" altLang="en-US" sz="1000" dirty="0">
                  <a:solidFill>
                    <a:schemeClr val="tx1"/>
                  </a:solidFill>
                </a:rPr>
                <a:t> 절차법 통일화 조약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전문 </a:t>
              </a:r>
              <a:r>
                <a:rPr lang="en-US" altLang="ko-KR" sz="1000" dirty="0">
                  <a:solidFill>
                    <a:schemeClr val="tx1"/>
                  </a:solidFill>
                </a:rPr>
                <a:t>27</a:t>
              </a:r>
              <a:r>
                <a:rPr lang="ko-KR" altLang="en-US" sz="1000" dirty="0">
                  <a:solidFill>
                    <a:schemeClr val="tx1"/>
                  </a:solidFill>
                </a:rPr>
                <a:t>개의 조문이 채택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>
                  <a:solidFill>
                    <a:schemeClr val="tx1"/>
                  </a:solidFill>
                </a:rPr>
                <a:t>우리나라는 비준을 함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단 아직 가입하지 아니함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823235" y="4643350"/>
              <a:ext cx="1152128" cy="3785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WTO/TRIPs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(1993)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2047371" y="4643350"/>
              <a:ext cx="7056784" cy="20514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 err="1">
                  <a:solidFill>
                    <a:schemeClr val="tx1"/>
                  </a:solidFill>
                </a:rPr>
                <a:t>파리조약의</a:t>
              </a:r>
              <a:r>
                <a:rPr lang="ko-KR" altLang="en-US" sz="1000" dirty="0">
                  <a:solidFill>
                    <a:schemeClr val="tx1"/>
                  </a:solidFill>
                </a:rPr>
                <a:t> 문제점 해결</a:t>
              </a:r>
            </a:p>
            <a:p>
              <a:r>
                <a:rPr lang="ko-KR" altLang="en-US" sz="1000" dirty="0">
                  <a:solidFill>
                    <a:schemeClr val="tx1"/>
                  </a:solidFill>
                </a:rPr>
                <a:t>  </a:t>
              </a:r>
              <a:r>
                <a:rPr lang="en-US" altLang="ko-KR" sz="1000" dirty="0">
                  <a:solidFill>
                    <a:schemeClr val="tx1"/>
                  </a:solidFill>
                </a:rPr>
                <a:t>1. </a:t>
              </a:r>
              <a:r>
                <a:rPr lang="ko-KR" altLang="en-US" sz="1000" dirty="0">
                  <a:solidFill>
                    <a:schemeClr val="tx1"/>
                  </a:solidFill>
                </a:rPr>
                <a:t>지식재산권 침해의 직접적인 구제방법 </a:t>
              </a:r>
              <a:r>
                <a:rPr lang="en-US" altLang="ko-KR" sz="1000" dirty="0">
                  <a:solidFill>
                    <a:schemeClr val="tx1"/>
                  </a:solidFill>
                </a:rPr>
                <a:t>×(</a:t>
              </a:r>
              <a:r>
                <a:rPr lang="ko-KR" altLang="en-US" sz="1000" dirty="0">
                  <a:solidFill>
                    <a:schemeClr val="tx1"/>
                  </a:solidFill>
                </a:rPr>
                <a:t>국제사법재판소가 있으나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강제관할권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분쟁해결수단 없음</a:t>
              </a:r>
              <a:r>
                <a:rPr lang="en-US" altLang="ko-KR" sz="1000" dirty="0">
                  <a:solidFill>
                    <a:schemeClr val="tx1"/>
                  </a:solidFill>
                </a:rPr>
                <a:t>) → </a:t>
              </a:r>
              <a:r>
                <a:rPr lang="ko-KR" altLang="en-US" sz="1000" dirty="0">
                  <a:solidFill>
                    <a:schemeClr val="tx1"/>
                  </a:solidFill>
                </a:rPr>
                <a:t>분쟁해결방안 마련</a:t>
              </a:r>
            </a:p>
            <a:p>
              <a:r>
                <a:rPr lang="ko-KR" altLang="en-US" sz="1000" dirty="0">
                  <a:solidFill>
                    <a:schemeClr val="tx1"/>
                  </a:solidFill>
                </a:rPr>
                <a:t>  </a:t>
              </a:r>
              <a:r>
                <a:rPr lang="en-US" altLang="ko-KR" sz="1000" dirty="0">
                  <a:solidFill>
                    <a:schemeClr val="tx1"/>
                  </a:solidFill>
                </a:rPr>
                <a:t>2. </a:t>
              </a:r>
              <a:r>
                <a:rPr lang="ko-KR" altLang="en-US" sz="1000" dirty="0">
                  <a:solidFill>
                    <a:schemeClr val="tx1"/>
                  </a:solidFill>
                </a:rPr>
                <a:t>다수결의 원칙에 의하여 선진국의 입장 관철의 어려움 → </a:t>
              </a:r>
              <a:r>
                <a:rPr lang="en-US" altLang="ko-KR" sz="1000" b="1" dirty="0">
                  <a:solidFill>
                    <a:srgbClr val="FF0000"/>
                  </a:solidFill>
                </a:rPr>
                <a:t>Consensus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제 도입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합의가 있을 때까지 계속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>
                  <a:solidFill>
                    <a:schemeClr val="tx1"/>
                  </a:solidFill>
                </a:rPr>
                <a:t>약소국의 각개격파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  <a:p>
              <a:r>
                <a:rPr lang="en-US" altLang="ko-KR" sz="1000" dirty="0">
                  <a:solidFill>
                    <a:schemeClr val="tx1"/>
                  </a:solidFill>
                </a:rPr>
                <a:t>  3.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신기술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반도체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배치설계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컴퓨터 프로그램</a:t>
              </a:r>
              <a:r>
                <a:rPr lang="en-US" altLang="ko-KR" sz="1000" dirty="0">
                  <a:solidFill>
                    <a:schemeClr val="tx1"/>
                  </a:solidFill>
                </a:rPr>
                <a:t>) </a:t>
              </a:r>
              <a:r>
                <a:rPr lang="ko-KR" altLang="en-US" sz="1000" dirty="0">
                  <a:solidFill>
                    <a:schemeClr val="tx1"/>
                  </a:solidFill>
                </a:rPr>
                <a:t>보호 미흡 → 보호대상에 포함시킴</a:t>
              </a:r>
            </a:p>
            <a:p>
              <a:r>
                <a:rPr lang="ko-KR" altLang="en-US" sz="1000" dirty="0">
                  <a:solidFill>
                    <a:schemeClr val="tx1"/>
                  </a:solidFill>
                </a:rPr>
                <a:t>  </a:t>
              </a:r>
              <a:r>
                <a:rPr lang="en-US" altLang="ko-KR" sz="1000" dirty="0">
                  <a:solidFill>
                    <a:schemeClr val="tx1"/>
                  </a:solidFill>
                </a:rPr>
                <a:t>4. </a:t>
              </a:r>
              <a:r>
                <a:rPr lang="ko-KR" altLang="en-US" sz="1000" dirty="0">
                  <a:solidFill>
                    <a:schemeClr val="tx1"/>
                  </a:solidFill>
                </a:rPr>
                <a:t>기타</a:t>
              </a:r>
            </a:p>
            <a:p>
              <a:r>
                <a:rPr lang="ko-KR" altLang="en-US" sz="1000" dirty="0">
                  <a:solidFill>
                    <a:schemeClr val="tx1"/>
                  </a:solidFill>
                </a:rPr>
                <a:t>   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강제실시권</a:t>
              </a:r>
              <a:r>
                <a:rPr lang="ko-KR" altLang="en-US" sz="1000" dirty="0">
                  <a:solidFill>
                    <a:schemeClr val="tx1"/>
                  </a:solidFill>
                </a:rPr>
                <a:t>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엄격하게 적용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충분한 보상 신설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개량특허침해의 특별규정 둠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경쟁촉진규정 둠</a:t>
              </a:r>
              <a:r>
                <a:rPr lang="en-US" altLang="ko-KR" sz="1000" dirty="0">
                  <a:solidFill>
                    <a:schemeClr val="tx1"/>
                  </a:solidFill>
                </a:rPr>
                <a:t>. </a:t>
              </a:r>
            </a:p>
            <a:p>
              <a:r>
                <a:rPr lang="en-US" altLang="ko-KR" sz="1000" dirty="0">
                  <a:solidFill>
                    <a:schemeClr val="tx1"/>
                  </a:solidFill>
                </a:rPr>
                <a:t>    - </a:t>
              </a:r>
              <a:r>
                <a:rPr lang="ko-KR" altLang="en-US" sz="1000" dirty="0">
                  <a:solidFill>
                    <a:schemeClr val="tx1"/>
                  </a:solidFill>
                </a:rPr>
                <a:t>특허권의 최소보호기간 신설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기본원칙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r>
                <a:rPr lang="en-US" altLang="ko-KR" sz="1000" dirty="0">
                  <a:solidFill>
                    <a:schemeClr val="tx1"/>
                  </a:solidFill>
                </a:rPr>
                <a:t>  1.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최소보호의</a:t>
              </a:r>
              <a:r>
                <a:rPr lang="ko-KR" altLang="en-US" sz="1000" dirty="0">
                  <a:solidFill>
                    <a:schemeClr val="tx1"/>
                  </a:solidFill>
                </a:rPr>
                <a:t> 원칙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국제협정 플러스 방식</a:t>
              </a:r>
              <a:r>
                <a:rPr lang="en-US" altLang="ko-KR" sz="1000" dirty="0">
                  <a:solidFill>
                    <a:schemeClr val="tx1"/>
                  </a:solidFill>
                </a:rPr>
                <a:t>) - </a:t>
              </a:r>
              <a:r>
                <a:rPr lang="ko-KR" altLang="en-US" sz="1000" dirty="0">
                  <a:solidFill>
                    <a:schemeClr val="tx1"/>
                  </a:solidFill>
                </a:rPr>
                <a:t>최저보호수준을 정해 개도국의 수준향상</a:t>
              </a:r>
            </a:p>
            <a:p>
              <a:r>
                <a:rPr lang="ko-KR" altLang="en-US" sz="1000" dirty="0">
                  <a:solidFill>
                    <a:schemeClr val="tx1"/>
                  </a:solidFill>
                </a:rPr>
                <a:t>  </a:t>
              </a:r>
              <a:r>
                <a:rPr lang="en-US" altLang="ko-KR" sz="1000" dirty="0">
                  <a:solidFill>
                    <a:schemeClr val="tx1"/>
                  </a:solidFill>
                </a:rPr>
                <a:t>2. </a:t>
              </a:r>
              <a:r>
                <a:rPr lang="ko-KR" altLang="en-US" sz="1000" dirty="0">
                  <a:solidFill>
                    <a:schemeClr val="tx1"/>
                  </a:solidFill>
                </a:rPr>
                <a:t>내국민대우의 원칙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>
                  <a:solidFill>
                    <a:schemeClr val="tx1"/>
                  </a:solidFill>
                </a:rPr>
                <a:t>자국민보다 불리한 대우 금지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파리조약보다 완화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  <a:p>
              <a:r>
                <a:rPr lang="en-US" altLang="ko-KR" sz="1000" dirty="0">
                  <a:solidFill>
                    <a:schemeClr val="tx1"/>
                  </a:solidFill>
                </a:rPr>
                <a:t>  3. </a:t>
              </a:r>
              <a:r>
                <a:rPr lang="ko-KR" altLang="en-US" sz="1000" dirty="0">
                  <a:solidFill>
                    <a:schemeClr val="tx1"/>
                  </a:solidFill>
                </a:rPr>
                <a:t>최혜국대우의 원칙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조약을 체결한 나라 중 가장 유리한 취급</a:t>
              </a:r>
            </a:p>
            <a:p>
              <a:pPr marL="214313" indent="-214313"/>
              <a:r>
                <a:rPr lang="ko-KR" altLang="en-US" sz="1000" dirty="0">
                  <a:solidFill>
                    <a:schemeClr val="tx1"/>
                  </a:solidFill>
                </a:rPr>
                <a:t>  </a:t>
              </a:r>
              <a:r>
                <a:rPr lang="en-US" altLang="ko-KR" sz="1000" dirty="0">
                  <a:solidFill>
                    <a:schemeClr val="tx1"/>
                  </a:solidFill>
                </a:rPr>
                <a:t>4.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권리소진의</a:t>
              </a:r>
              <a:r>
                <a:rPr lang="ko-KR" altLang="en-US" sz="1000" dirty="0">
                  <a:solidFill>
                    <a:schemeClr val="tx1"/>
                  </a:solidFill>
                </a:rPr>
                <a:t> 원칙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>
                  <a:solidFill>
                    <a:schemeClr val="tx1"/>
                  </a:solidFill>
                </a:rPr>
                <a:t>진정상품병행수입의 경우 국가별로 이해관계를 달리하고 있어 명시적으로 규정을 두지 아니함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꺾인 연결선 19"/>
            <p:cNvCxnSpPr>
              <a:cxnSpLocks/>
              <a:stCxn id="4" idx="2"/>
              <a:endCxn id="6" idx="1"/>
            </p:cNvCxnSpPr>
            <p:nvPr/>
          </p:nvCxnSpPr>
          <p:spPr>
            <a:xfrm rot="16200000" flipH="1">
              <a:off x="1227736" y="1556226"/>
              <a:ext cx="494265" cy="151137"/>
            </a:xfrm>
            <a:prstGeom prst="bentConnector2">
              <a:avLst/>
            </a:prstGeom>
            <a:ln w="12700">
              <a:solidFill>
                <a:srgbClr val="00206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꺾인 연결선 20"/>
            <p:cNvCxnSpPr>
              <a:cxnSpLocks/>
              <a:stCxn id="4" idx="2"/>
              <a:endCxn id="8" idx="1"/>
            </p:cNvCxnSpPr>
            <p:nvPr/>
          </p:nvCxnSpPr>
          <p:spPr>
            <a:xfrm rot="16200000" flipH="1">
              <a:off x="942795" y="1841167"/>
              <a:ext cx="1064147" cy="151137"/>
            </a:xfrm>
            <a:prstGeom prst="bentConnector2">
              <a:avLst/>
            </a:prstGeom>
            <a:ln w="12700">
              <a:solidFill>
                <a:srgbClr val="00206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꺾인 연결선 21"/>
            <p:cNvCxnSpPr>
              <a:cxnSpLocks/>
              <a:stCxn id="4" idx="2"/>
              <a:endCxn id="10" idx="1"/>
            </p:cNvCxnSpPr>
            <p:nvPr/>
          </p:nvCxnSpPr>
          <p:spPr>
            <a:xfrm rot="16200000" flipH="1">
              <a:off x="669887" y="2114075"/>
              <a:ext cx="1609963" cy="151137"/>
            </a:xfrm>
            <a:prstGeom prst="bentConnector2">
              <a:avLst/>
            </a:prstGeom>
            <a:ln w="12700">
              <a:solidFill>
                <a:srgbClr val="00206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꺾인 연결선 22"/>
            <p:cNvCxnSpPr>
              <a:cxnSpLocks/>
              <a:stCxn id="4" idx="2"/>
              <a:endCxn id="12" idx="1"/>
            </p:cNvCxnSpPr>
            <p:nvPr/>
          </p:nvCxnSpPr>
          <p:spPr>
            <a:xfrm rot="16200000" flipH="1">
              <a:off x="300735" y="2483227"/>
              <a:ext cx="2348266" cy="151137"/>
            </a:xfrm>
            <a:prstGeom prst="bentConnector2">
              <a:avLst/>
            </a:prstGeom>
            <a:ln w="12700">
              <a:solidFill>
                <a:srgbClr val="00206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꺾인 연결선 23"/>
            <p:cNvCxnSpPr>
              <a:cxnSpLocks/>
              <a:stCxn id="12" idx="3"/>
              <a:endCxn id="15" idx="1"/>
            </p:cNvCxnSpPr>
            <p:nvPr/>
          </p:nvCxnSpPr>
          <p:spPr>
            <a:xfrm>
              <a:off x="3127491" y="3732929"/>
              <a:ext cx="223146" cy="477133"/>
            </a:xfrm>
            <a:prstGeom prst="bentConnector3">
              <a:avLst/>
            </a:prstGeom>
            <a:ln w="12700">
              <a:solidFill>
                <a:srgbClr val="00206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꺾인 연결선 24"/>
            <p:cNvCxnSpPr>
              <a:cxnSpLocks/>
              <a:stCxn id="12" idx="3"/>
              <a:endCxn id="14" idx="1"/>
            </p:cNvCxnSpPr>
            <p:nvPr/>
          </p:nvCxnSpPr>
          <p:spPr>
            <a:xfrm>
              <a:off x="3127491" y="3732929"/>
              <a:ext cx="223146" cy="12700"/>
            </a:xfrm>
            <a:prstGeom prst="bentConnector3">
              <a:avLst/>
            </a:prstGeom>
            <a:ln w="12700">
              <a:solidFill>
                <a:srgbClr val="00206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542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8915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192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214</a:t>
            </a:r>
            <a:r>
              <a:rPr lang="ko-KR" altLang="en-US" dirty="0"/>
              <a:t>조</a:t>
            </a:r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PCT </a:t>
            </a:r>
            <a:r>
              <a:rPr lang="ko-KR" altLang="en-US" dirty="0"/>
              <a:t>출원의 개략적인 절차</a:t>
            </a:r>
          </a:p>
        </p:txBody>
      </p:sp>
      <p:sp>
        <p:nvSpPr>
          <p:cNvPr id="40" name="타원 39"/>
          <p:cNvSpPr/>
          <p:nvPr/>
        </p:nvSpPr>
        <p:spPr>
          <a:xfrm>
            <a:off x="10081983" y="2966140"/>
            <a:ext cx="142479" cy="10273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/>
          </a:p>
        </p:txBody>
      </p:sp>
      <p:sp>
        <p:nvSpPr>
          <p:cNvPr id="44" name="Rectangle 24"/>
          <p:cNvSpPr>
            <a:spLocks noChangeArrowheads="1"/>
          </p:cNvSpPr>
          <p:nvPr/>
        </p:nvSpPr>
        <p:spPr bwMode="auto">
          <a:xfrm>
            <a:off x="3262240" y="1438683"/>
            <a:ext cx="2065675" cy="241815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bg1"/>
                </a:solidFill>
                <a:latin typeface="+mn-ea"/>
              </a:rPr>
              <a:t>출원인</a:t>
            </a:r>
          </a:p>
        </p:txBody>
      </p:sp>
      <p:sp>
        <p:nvSpPr>
          <p:cNvPr id="45" name="Rectangle 24"/>
          <p:cNvSpPr>
            <a:spLocks noChangeArrowheads="1"/>
          </p:cNvSpPr>
          <p:nvPr/>
        </p:nvSpPr>
        <p:spPr bwMode="auto">
          <a:xfrm>
            <a:off x="3262240" y="1891378"/>
            <a:ext cx="2065675" cy="24181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200" dirty="0">
                <a:solidFill>
                  <a:schemeClr val="tx1"/>
                </a:solidFill>
                <a:latin typeface="+mn-ea"/>
              </a:rPr>
              <a:t>PCT </a:t>
            </a: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국제출원</a:t>
            </a:r>
          </a:p>
        </p:txBody>
      </p:sp>
      <p:sp>
        <p:nvSpPr>
          <p:cNvPr id="53" name="Rectangle 24"/>
          <p:cNvSpPr>
            <a:spLocks noChangeArrowheads="1"/>
          </p:cNvSpPr>
          <p:nvPr/>
        </p:nvSpPr>
        <p:spPr bwMode="auto">
          <a:xfrm>
            <a:off x="3262240" y="2338665"/>
            <a:ext cx="2065675" cy="24181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b="1" dirty="0">
                <a:solidFill>
                  <a:schemeClr val="tx1"/>
                </a:solidFill>
                <a:latin typeface="+mn-ea"/>
              </a:rPr>
              <a:t>수리관청</a:t>
            </a:r>
            <a:r>
              <a:rPr kumimoji="0" lang="en-US" altLang="ko-KR" sz="1200" b="1" dirty="0">
                <a:solidFill>
                  <a:schemeClr val="tx1"/>
                </a:solidFill>
                <a:latin typeface="+mn-ea"/>
              </a:rPr>
              <a:t>/</a:t>
            </a:r>
            <a:r>
              <a:rPr kumimoji="0" lang="ko-KR" altLang="en-US" sz="1200" b="1" dirty="0">
                <a:solidFill>
                  <a:schemeClr val="tx1"/>
                </a:solidFill>
                <a:latin typeface="+mn-ea"/>
              </a:rPr>
              <a:t>국제사무국</a:t>
            </a:r>
          </a:p>
        </p:txBody>
      </p:sp>
      <p:sp>
        <p:nvSpPr>
          <p:cNvPr id="57" name="Rectangle 24"/>
          <p:cNvSpPr>
            <a:spLocks noChangeArrowheads="1"/>
          </p:cNvSpPr>
          <p:nvPr/>
        </p:nvSpPr>
        <p:spPr bwMode="auto">
          <a:xfrm>
            <a:off x="1511260" y="2823271"/>
            <a:ext cx="2065675" cy="24181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 err="1">
                <a:solidFill>
                  <a:schemeClr val="tx1"/>
                </a:solidFill>
                <a:latin typeface="+mn-ea"/>
              </a:rPr>
              <a:t>조사용사본</a:t>
            </a: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 송부</a:t>
            </a:r>
          </a:p>
        </p:txBody>
      </p:sp>
      <p:sp>
        <p:nvSpPr>
          <p:cNvPr id="59" name="Rectangle 24"/>
          <p:cNvSpPr>
            <a:spLocks noChangeArrowheads="1"/>
          </p:cNvSpPr>
          <p:nvPr/>
        </p:nvSpPr>
        <p:spPr bwMode="auto">
          <a:xfrm>
            <a:off x="4847862" y="2823271"/>
            <a:ext cx="2065675" cy="24181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기록원부 송부</a:t>
            </a:r>
          </a:p>
        </p:txBody>
      </p:sp>
      <p:sp>
        <p:nvSpPr>
          <p:cNvPr id="63" name="Rectangle 24"/>
          <p:cNvSpPr>
            <a:spLocks noChangeArrowheads="1"/>
          </p:cNvSpPr>
          <p:nvPr/>
        </p:nvSpPr>
        <p:spPr bwMode="auto">
          <a:xfrm>
            <a:off x="1509640" y="3272726"/>
            <a:ext cx="2065675" cy="24181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b="1" dirty="0">
                <a:solidFill>
                  <a:schemeClr val="tx1"/>
                </a:solidFill>
                <a:latin typeface="+mn-ea"/>
              </a:rPr>
              <a:t>국제조사기관</a:t>
            </a:r>
          </a:p>
        </p:txBody>
      </p:sp>
      <p:sp>
        <p:nvSpPr>
          <p:cNvPr id="64" name="Rectangle 24"/>
          <p:cNvSpPr>
            <a:spLocks noChangeArrowheads="1"/>
          </p:cNvSpPr>
          <p:nvPr/>
        </p:nvSpPr>
        <p:spPr bwMode="auto">
          <a:xfrm>
            <a:off x="4860562" y="3272726"/>
            <a:ext cx="2065675" cy="24181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b="1" dirty="0">
                <a:solidFill>
                  <a:schemeClr val="tx1"/>
                </a:solidFill>
                <a:latin typeface="+mn-ea"/>
              </a:rPr>
              <a:t>국제사무국</a:t>
            </a:r>
          </a:p>
        </p:txBody>
      </p:sp>
      <p:sp>
        <p:nvSpPr>
          <p:cNvPr id="65" name="Rectangle 24"/>
          <p:cNvSpPr>
            <a:spLocks noChangeArrowheads="1"/>
          </p:cNvSpPr>
          <p:nvPr/>
        </p:nvSpPr>
        <p:spPr bwMode="auto">
          <a:xfrm>
            <a:off x="1511259" y="3792483"/>
            <a:ext cx="3240591" cy="24181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선행기술조사 및 </a:t>
            </a:r>
            <a:r>
              <a:rPr kumimoji="0" lang="ko-KR" altLang="en-US" sz="1200" dirty="0" err="1">
                <a:solidFill>
                  <a:schemeClr val="tx1"/>
                </a:solidFill>
                <a:latin typeface="+mn-ea"/>
              </a:rPr>
              <a:t>특허성</a:t>
            </a: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 유무 판단</a:t>
            </a:r>
          </a:p>
        </p:txBody>
      </p:sp>
      <p:sp>
        <p:nvSpPr>
          <p:cNvPr id="66" name="Rectangle 24"/>
          <p:cNvSpPr>
            <a:spLocks noChangeArrowheads="1"/>
          </p:cNvSpPr>
          <p:nvPr/>
        </p:nvSpPr>
        <p:spPr bwMode="auto">
          <a:xfrm>
            <a:off x="1511259" y="4312192"/>
            <a:ext cx="3240591" cy="24181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국제조사보고서 및 견해서의 작성</a:t>
            </a:r>
          </a:p>
        </p:txBody>
      </p:sp>
      <p:sp>
        <p:nvSpPr>
          <p:cNvPr id="67" name="Rectangle 24"/>
          <p:cNvSpPr>
            <a:spLocks noChangeArrowheads="1"/>
          </p:cNvSpPr>
          <p:nvPr/>
        </p:nvSpPr>
        <p:spPr bwMode="auto">
          <a:xfrm>
            <a:off x="4847862" y="4692466"/>
            <a:ext cx="2065675" cy="24181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국제공개</a:t>
            </a:r>
          </a:p>
        </p:txBody>
      </p:sp>
      <p:sp>
        <p:nvSpPr>
          <p:cNvPr id="68" name="Rectangle 24"/>
          <p:cNvSpPr>
            <a:spLocks noChangeArrowheads="1"/>
          </p:cNvSpPr>
          <p:nvPr/>
        </p:nvSpPr>
        <p:spPr bwMode="auto">
          <a:xfrm>
            <a:off x="3791744" y="5113709"/>
            <a:ext cx="3121792" cy="24181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국제출원</a:t>
            </a:r>
            <a:r>
              <a:rPr kumimoji="0" lang="en-US" altLang="ko-KR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국제조사보고서 송달</a:t>
            </a:r>
          </a:p>
        </p:txBody>
      </p:sp>
      <p:sp>
        <p:nvSpPr>
          <p:cNvPr id="69" name="Rectangle 24"/>
          <p:cNvSpPr>
            <a:spLocks noChangeArrowheads="1"/>
          </p:cNvSpPr>
          <p:nvPr/>
        </p:nvSpPr>
        <p:spPr bwMode="auto">
          <a:xfrm>
            <a:off x="8158784" y="2823271"/>
            <a:ext cx="2065675" cy="241815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bg1"/>
                </a:solidFill>
                <a:latin typeface="+mn-ea"/>
              </a:rPr>
              <a:t>출원인</a:t>
            </a:r>
          </a:p>
        </p:txBody>
      </p:sp>
      <p:sp>
        <p:nvSpPr>
          <p:cNvPr id="70" name="Rectangle 24"/>
          <p:cNvSpPr>
            <a:spLocks noChangeArrowheads="1"/>
          </p:cNvSpPr>
          <p:nvPr/>
        </p:nvSpPr>
        <p:spPr bwMode="auto">
          <a:xfrm>
            <a:off x="8158784" y="3377107"/>
            <a:ext cx="2065675" cy="24181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 err="1">
                <a:solidFill>
                  <a:schemeClr val="tx1"/>
                </a:solidFill>
                <a:latin typeface="+mn-ea"/>
              </a:rPr>
              <a:t>국졔예비심사청구</a:t>
            </a:r>
            <a:endParaRPr kumimoji="0"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1" name="Rectangle 24"/>
          <p:cNvSpPr>
            <a:spLocks noChangeArrowheads="1"/>
          </p:cNvSpPr>
          <p:nvPr/>
        </p:nvSpPr>
        <p:spPr bwMode="auto">
          <a:xfrm>
            <a:off x="8158784" y="3896816"/>
            <a:ext cx="2065675" cy="24181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b="1" dirty="0">
                <a:solidFill>
                  <a:schemeClr val="tx1"/>
                </a:solidFill>
                <a:latin typeface="+mn-ea"/>
              </a:rPr>
              <a:t>국제예비심사기관</a:t>
            </a:r>
          </a:p>
        </p:txBody>
      </p:sp>
      <p:sp>
        <p:nvSpPr>
          <p:cNvPr id="72" name="Rectangle 24"/>
          <p:cNvSpPr>
            <a:spLocks noChangeArrowheads="1"/>
          </p:cNvSpPr>
          <p:nvPr/>
        </p:nvSpPr>
        <p:spPr bwMode="auto">
          <a:xfrm>
            <a:off x="8158784" y="4381422"/>
            <a:ext cx="2065675" cy="24181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 err="1">
                <a:solidFill>
                  <a:schemeClr val="tx1"/>
                </a:solidFill>
                <a:latin typeface="+mn-ea"/>
              </a:rPr>
              <a:t>특허성</a:t>
            </a: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 유무 판단</a:t>
            </a:r>
          </a:p>
        </p:txBody>
      </p:sp>
      <p:sp>
        <p:nvSpPr>
          <p:cNvPr id="73" name="Rectangle 24"/>
          <p:cNvSpPr>
            <a:spLocks noChangeArrowheads="1"/>
          </p:cNvSpPr>
          <p:nvPr/>
        </p:nvSpPr>
        <p:spPr bwMode="auto">
          <a:xfrm>
            <a:off x="8158784" y="4866028"/>
            <a:ext cx="2065675" cy="24181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견해서의 작성</a:t>
            </a:r>
          </a:p>
        </p:txBody>
      </p:sp>
      <p:sp>
        <p:nvSpPr>
          <p:cNvPr id="74" name="Rectangle 24"/>
          <p:cNvSpPr>
            <a:spLocks noChangeArrowheads="1"/>
          </p:cNvSpPr>
          <p:nvPr/>
        </p:nvSpPr>
        <p:spPr bwMode="auto">
          <a:xfrm>
            <a:off x="8158784" y="5355524"/>
            <a:ext cx="2065675" cy="24181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국제예비심사보고서 작성</a:t>
            </a:r>
          </a:p>
        </p:txBody>
      </p:sp>
      <p:cxnSp>
        <p:nvCxnSpPr>
          <p:cNvPr id="75" name="직선 화살표 연결선 74"/>
          <p:cNvCxnSpPr>
            <a:stCxn id="44" idx="2"/>
            <a:endCxn id="45" idx="0"/>
          </p:cNvCxnSpPr>
          <p:nvPr/>
        </p:nvCxnSpPr>
        <p:spPr>
          <a:xfrm>
            <a:off x="4295078" y="1680497"/>
            <a:ext cx="0" cy="21088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>
            <a:stCxn id="57" idx="2"/>
            <a:endCxn id="63" idx="0"/>
          </p:cNvCxnSpPr>
          <p:nvPr/>
        </p:nvCxnSpPr>
        <p:spPr>
          <a:xfrm flipH="1">
            <a:off x="2542478" y="3065086"/>
            <a:ext cx="1620" cy="20764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76"/>
          <p:cNvCxnSpPr>
            <a:stCxn id="53" idx="2"/>
            <a:endCxn id="57" idx="0"/>
          </p:cNvCxnSpPr>
          <p:nvPr/>
        </p:nvCxnSpPr>
        <p:spPr>
          <a:xfrm rot="5400000">
            <a:off x="3298193" y="1826386"/>
            <a:ext cx="242791" cy="175098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53" idx="2"/>
            <a:endCxn id="59" idx="0"/>
          </p:cNvCxnSpPr>
          <p:nvPr/>
        </p:nvCxnSpPr>
        <p:spPr>
          <a:xfrm rot="16200000" flipH="1">
            <a:off x="4966492" y="1909065"/>
            <a:ext cx="242791" cy="158562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/>
          <p:nvPr/>
        </p:nvCxnSpPr>
        <p:spPr>
          <a:xfrm flipH="1">
            <a:off x="2542478" y="3515566"/>
            <a:ext cx="1620" cy="276918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/>
          <p:cNvCxnSpPr>
            <a:stCxn id="45" idx="2"/>
            <a:endCxn id="53" idx="0"/>
          </p:cNvCxnSpPr>
          <p:nvPr/>
        </p:nvCxnSpPr>
        <p:spPr>
          <a:xfrm>
            <a:off x="4295078" y="2133193"/>
            <a:ext cx="0" cy="205472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/>
          <p:nvPr/>
        </p:nvCxnSpPr>
        <p:spPr>
          <a:xfrm flipH="1">
            <a:off x="2542478" y="4027644"/>
            <a:ext cx="1620" cy="276918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>
            <a:stCxn id="59" idx="2"/>
            <a:endCxn id="64" idx="0"/>
          </p:cNvCxnSpPr>
          <p:nvPr/>
        </p:nvCxnSpPr>
        <p:spPr>
          <a:xfrm>
            <a:off x="5880699" y="3065086"/>
            <a:ext cx="12700" cy="20764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/>
          <p:cNvCxnSpPr>
            <a:stCxn id="64" idx="2"/>
            <a:endCxn id="67" idx="0"/>
          </p:cNvCxnSpPr>
          <p:nvPr/>
        </p:nvCxnSpPr>
        <p:spPr>
          <a:xfrm flipH="1">
            <a:off x="5880699" y="3514541"/>
            <a:ext cx="12700" cy="1177925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/>
          <p:cNvCxnSpPr>
            <a:stCxn id="66" idx="3"/>
          </p:cNvCxnSpPr>
          <p:nvPr/>
        </p:nvCxnSpPr>
        <p:spPr>
          <a:xfrm>
            <a:off x="4751850" y="4433100"/>
            <a:ext cx="1128849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/>
          <p:cNvCxnSpPr/>
          <p:nvPr/>
        </p:nvCxnSpPr>
        <p:spPr>
          <a:xfrm flipH="1">
            <a:off x="5891464" y="4934280"/>
            <a:ext cx="1936" cy="179429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>
            <a:endCxn id="100" idx="0"/>
          </p:cNvCxnSpPr>
          <p:nvPr/>
        </p:nvCxnSpPr>
        <p:spPr>
          <a:xfrm>
            <a:off x="5880699" y="5355524"/>
            <a:ext cx="0" cy="343929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/>
          <p:cNvCxnSpPr>
            <a:endCxn id="101" idx="0"/>
          </p:cNvCxnSpPr>
          <p:nvPr/>
        </p:nvCxnSpPr>
        <p:spPr>
          <a:xfrm>
            <a:off x="5880699" y="5941267"/>
            <a:ext cx="0" cy="205017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/>
          <p:cNvCxnSpPr>
            <a:stCxn id="69" idx="2"/>
            <a:endCxn id="70" idx="0"/>
          </p:cNvCxnSpPr>
          <p:nvPr/>
        </p:nvCxnSpPr>
        <p:spPr>
          <a:xfrm>
            <a:off x="9191621" y="3065086"/>
            <a:ext cx="0" cy="31202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>
            <a:stCxn id="70" idx="2"/>
            <a:endCxn id="71" idx="0"/>
          </p:cNvCxnSpPr>
          <p:nvPr/>
        </p:nvCxnSpPr>
        <p:spPr>
          <a:xfrm>
            <a:off x="9191621" y="3618921"/>
            <a:ext cx="0" cy="277895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/>
          <p:cNvCxnSpPr>
            <a:stCxn id="71" idx="2"/>
            <a:endCxn id="72" idx="0"/>
          </p:cNvCxnSpPr>
          <p:nvPr/>
        </p:nvCxnSpPr>
        <p:spPr>
          <a:xfrm>
            <a:off x="9191621" y="4138630"/>
            <a:ext cx="0" cy="24279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>
            <a:stCxn id="72" idx="2"/>
            <a:endCxn id="73" idx="0"/>
          </p:cNvCxnSpPr>
          <p:nvPr/>
        </p:nvCxnSpPr>
        <p:spPr>
          <a:xfrm>
            <a:off x="9191621" y="4623236"/>
            <a:ext cx="0" cy="24279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>
            <a:stCxn id="73" idx="2"/>
            <a:endCxn id="74" idx="0"/>
          </p:cNvCxnSpPr>
          <p:nvPr/>
        </p:nvCxnSpPr>
        <p:spPr>
          <a:xfrm>
            <a:off x="9191621" y="5107842"/>
            <a:ext cx="0" cy="24768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꺾인 연결선 92"/>
          <p:cNvCxnSpPr>
            <a:stCxn id="66" idx="1"/>
          </p:cNvCxnSpPr>
          <p:nvPr/>
        </p:nvCxnSpPr>
        <p:spPr>
          <a:xfrm rot="10800000" flipH="1">
            <a:off x="1511258" y="1613008"/>
            <a:ext cx="1704884" cy="2820092"/>
          </a:xfrm>
          <a:prstGeom prst="bentConnector4">
            <a:avLst>
              <a:gd name="adj1" fmla="val -17878"/>
              <a:gd name="adj2" fmla="val 99878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93"/>
          <p:cNvCxnSpPr>
            <a:stCxn id="44" idx="1"/>
            <a:endCxn id="100" idx="1"/>
          </p:cNvCxnSpPr>
          <p:nvPr/>
        </p:nvCxnSpPr>
        <p:spPr>
          <a:xfrm rot="10800000" flipH="1" flipV="1">
            <a:off x="3262240" y="1559589"/>
            <a:ext cx="482944" cy="4260770"/>
          </a:xfrm>
          <a:prstGeom prst="bentConnector3">
            <a:avLst>
              <a:gd name="adj1" fmla="val -468087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>
            <a:stCxn id="74" idx="1"/>
          </p:cNvCxnSpPr>
          <p:nvPr/>
        </p:nvCxnSpPr>
        <p:spPr>
          <a:xfrm flipH="1">
            <a:off x="5880699" y="5476431"/>
            <a:ext cx="2278085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꺾인 연결선 95"/>
          <p:cNvCxnSpPr>
            <a:stCxn id="74" idx="3"/>
            <a:endCxn id="40" idx="6"/>
          </p:cNvCxnSpPr>
          <p:nvPr/>
        </p:nvCxnSpPr>
        <p:spPr>
          <a:xfrm flipV="1">
            <a:off x="10224459" y="3017508"/>
            <a:ext cx="3" cy="2458922"/>
          </a:xfrm>
          <a:prstGeom prst="bentConnector3">
            <a:avLst>
              <a:gd name="adj1" fmla="val 1143010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꺾인 연결선 96"/>
          <p:cNvCxnSpPr>
            <a:stCxn id="69" idx="3"/>
            <a:endCxn id="100" idx="3"/>
          </p:cNvCxnSpPr>
          <p:nvPr/>
        </p:nvCxnSpPr>
        <p:spPr>
          <a:xfrm flipH="1">
            <a:off x="8016213" y="2944179"/>
            <a:ext cx="2208245" cy="2876182"/>
          </a:xfrm>
          <a:prstGeom prst="bentConnector3">
            <a:avLst>
              <a:gd name="adj1" fmla="val -47735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모서리가 둥근 직사각형 97"/>
          <p:cNvSpPr/>
          <p:nvPr/>
        </p:nvSpPr>
        <p:spPr>
          <a:xfrm>
            <a:off x="719403" y="1230994"/>
            <a:ext cx="6432714" cy="5261437"/>
          </a:xfrm>
          <a:prstGeom prst="roundRect">
            <a:avLst>
              <a:gd name="adj" fmla="val 6796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/>
          </a:p>
        </p:txBody>
      </p:sp>
      <p:sp>
        <p:nvSpPr>
          <p:cNvPr id="99" name="모서리가 둥근 직사각형 98"/>
          <p:cNvSpPr/>
          <p:nvPr/>
        </p:nvSpPr>
        <p:spPr>
          <a:xfrm>
            <a:off x="7344139" y="1230994"/>
            <a:ext cx="4224469" cy="5261437"/>
          </a:xfrm>
          <a:prstGeom prst="roundRect">
            <a:avLst>
              <a:gd name="adj" fmla="val 6796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/>
          </a:p>
        </p:txBody>
      </p:sp>
      <p:sp>
        <p:nvSpPr>
          <p:cNvPr id="100" name="Rectangle 24"/>
          <p:cNvSpPr>
            <a:spLocks noChangeArrowheads="1"/>
          </p:cNvSpPr>
          <p:nvPr/>
        </p:nvSpPr>
        <p:spPr bwMode="auto">
          <a:xfrm>
            <a:off x="3745184" y="5699453"/>
            <a:ext cx="4271029" cy="241815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bg1"/>
                </a:solidFill>
                <a:latin typeface="+mn-ea"/>
              </a:rPr>
              <a:t>지정</a:t>
            </a:r>
            <a:r>
              <a:rPr kumimoji="0" lang="en-US" altLang="ko-KR" sz="1200" dirty="0">
                <a:solidFill>
                  <a:schemeClr val="bg1"/>
                </a:solidFill>
                <a:latin typeface="+mn-ea"/>
              </a:rPr>
              <a:t>/</a:t>
            </a:r>
            <a:r>
              <a:rPr kumimoji="0" lang="ko-KR" altLang="en-US" sz="1200" dirty="0">
                <a:solidFill>
                  <a:schemeClr val="bg1"/>
                </a:solidFill>
                <a:latin typeface="+mn-ea"/>
              </a:rPr>
              <a:t>선택관청</a:t>
            </a:r>
          </a:p>
        </p:txBody>
      </p:sp>
      <p:sp>
        <p:nvSpPr>
          <p:cNvPr id="101" name="Rectangle 24"/>
          <p:cNvSpPr>
            <a:spLocks noChangeArrowheads="1"/>
          </p:cNvSpPr>
          <p:nvPr/>
        </p:nvSpPr>
        <p:spPr bwMode="auto">
          <a:xfrm>
            <a:off x="3745184" y="6146284"/>
            <a:ext cx="4271029" cy="2418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각국 지식재산처의 국내법에 의하여 개별심사</a:t>
            </a:r>
          </a:p>
        </p:txBody>
      </p:sp>
      <p:sp>
        <p:nvSpPr>
          <p:cNvPr id="102" name="Rectangle 24"/>
          <p:cNvSpPr>
            <a:spLocks noChangeArrowheads="1"/>
          </p:cNvSpPr>
          <p:nvPr/>
        </p:nvSpPr>
        <p:spPr bwMode="auto">
          <a:xfrm>
            <a:off x="1065879" y="1110087"/>
            <a:ext cx="2065675" cy="2418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필수적 절차</a:t>
            </a:r>
            <a:endParaRPr kumimoji="0" lang="ko-KR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3" name="Rectangle 24"/>
          <p:cNvSpPr>
            <a:spLocks noChangeArrowheads="1"/>
          </p:cNvSpPr>
          <p:nvPr/>
        </p:nvSpPr>
        <p:spPr bwMode="auto">
          <a:xfrm>
            <a:off x="7632171" y="1110087"/>
            <a:ext cx="2065675" cy="2328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선택적 절차</a:t>
            </a:r>
            <a:endParaRPr kumimoji="0" lang="ko-KR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4" name="Rectangle 24"/>
          <p:cNvSpPr>
            <a:spLocks noChangeArrowheads="1"/>
          </p:cNvSpPr>
          <p:nvPr/>
        </p:nvSpPr>
        <p:spPr bwMode="auto">
          <a:xfrm>
            <a:off x="1368198" y="5682364"/>
            <a:ext cx="2065675" cy="241815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lnSpc>
                <a:spcPct val="150000"/>
              </a:lnSpc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번역문 제출</a:t>
            </a:r>
            <a:endParaRPr kumimoji="0"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 latinLnBrk="0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기준일까지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kumimoji="0"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5" name="Rectangle 24"/>
          <p:cNvSpPr>
            <a:spLocks noChangeArrowheads="1"/>
          </p:cNvSpPr>
          <p:nvPr/>
        </p:nvSpPr>
        <p:spPr bwMode="auto">
          <a:xfrm>
            <a:off x="8254795" y="5682364"/>
            <a:ext cx="2065675" cy="241815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lnSpc>
                <a:spcPct val="150000"/>
              </a:lnSpc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번역문 제출</a:t>
            </a:r>
            <a:endParaRPr kumimoji="0"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 latinLnBrk="0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기준일까지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kumimoji="0"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553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351842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192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198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국제출원절차 일반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436776" y="3007151"/>
            <a:ext cx="970961" cy="933253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국제출원</a:t>
            </a:r>
            <a:endParaRPr lang="en-US" altLang="ko-KR" sz="1600" dirty="0"/>
          </a:p>
          <a:p>
            <a:pPr algn="ctr"/>
            <a:r>
              <a:rPr lang="ko-KR" altLang="en-US" sz="1600" dirty="0"/>
              <a:t>절차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1988139" y="1403269"/>
            <a:ext cx="1744875" cy="3711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주체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1988139" y="2366410"/>
            <a:ext cx="1744875" cy="3711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서류 등의 제출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4325985" y="1238250"/>
            <a:ext cx="3103515" cy="209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>
                <a:solidFill>
                  <a:schemeClr val="tx1"/>
                </a:solidFill>
              </a:rPr>
              <a:t>1. </a:t>
            </a:r>
            <a:r>
              <a:rPr lang="ko-KR" altLang="en-US" sz="1200" dirty="0" err="1">
                <a:solidFill>
                  <a:schemeClr val="tx1"/>
                </a:solidFill>
              </a:rPr>
              <a:t>국제출원인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192)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4325985" y="1476840"/>
            <a:ext cx="3103515" cy="209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>
                <a:solidFill>
                  <a:schemeClr val="tx1"/>
                </a:solidFill>
              </a:rPr>
              <a:t>2. </a:t>
            </a:r>
            <a:r>
              <a:rPr lang="ko-KR" altLang="en-US" sz="1200" dirty="0">
                <a:solidFill>
                  <a:schemeClr val="tx1"/>
                </a:solidFill>
              </a:rPr>
              <a:t>대표자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197</a:t>
            </a:r>
            <a:r>
              <a:rPr lang="ko-KR" altLang="en-US" sz="1200" dirty="0">
                <a:solidFill>
                  <a:schemeClr val="tx1"/>
                </a:solidFill>
              </a:rPr>
              <a:t>①②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4325985" y="1715429"/>
            <a:ext cx="3103515" cy="209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3. </a:t>
            </a:r>
            <a:r>
              <a:rPr lang="ko-KR" altLang="en-US" sz="1200" dirty="0">
                <a:solidFill>
                  <a:schemeClr val="tx1"/>
                </a:solidFill>
              </a:rPr>
              <a:t>대리인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197</a:t>
            </a:r>
            <a:r>
              <a:rPr lang="ko-KR" altLang="en-US" sz="1200" dirty="0">
                <a:solidFill>
                  <a:schemeClr val="tx1"/>
                </a:solidFill>
              </a:rPr>
              <a:t>③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4325985" y="2201391"/>
            <a:ext cx="3103515" cy="209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>
                <a:solidFill>
                  <a:schemeClr val="tx1"/>
                </a:solidFill>
              </a:rPr>
              <a:t>1. </a:t>
            </a:r>
            <a:r>
              <a:rPr lang="ko-KR" altLang="en-US" sz="1200" dirty="0">
                <a:solidFill>
                  <a:schemeClr val="tx1"/>
                </a:solidFill>
              </a:rPr>
              <a:t>첨부서류 </a:t>
            </a:r>
            <a:r>
              <a:rPr lang="en-US" altLang="ko-KR" sz="1200" dirty="0">
                <a:solidFill>
                  <a:schemeClr val="tx1"/>
                </a:solidFill>
              </a:rPr>
              <a:t>&amp; </a:t>
            </a:r>
            <a:r>
              <a:rPr lang="ko-KR" altLang="en-US" sz="1200" dirty="0">
                <a:solidFill>
                  <a:schemeClr val="tx1"/>
                </a:solidFill>
              </a:rPr>
              <a:t>언어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193</a:t>
            </a:r>
            <a:r>
              <a:rPr lang="ko-KR" altLang="en-US" sz="1200" dirty="0">
                <a:solidFill>
                  <a:schemeClr val="tx1"/>
                </a:solidFill>
              </a:rPr>
              <a:t>①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4325985" y="2439981"/>
            <a:ext cx="3103515" cy="209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>
                <a:solidFill>
                  <a:schemeClr val="tx1"/>
                </a:solidFill>
              </a:rPr>
              <a:t>2. </a:t>
            </a:r>
            <a:r>
              <a:rPr lang="ko-KR" altLang="en-US" sz="1200" dirty="0" err="1">
                <a:solidFill>
                  <a:schemeClr val="tx1"/>
                </a:solidFill>
              </a:rPr>
              <a:t>기재방법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4325985" y="2678571"/>
            <a:ext cx="3103515" cy="209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>
                <a:solidFill>
                  <a:schemeClr val="tx1"/>
                </a:solidFill>
              </a:rPr>
              <a:t>3. </a:t>
            </a:r>
            <a:r>
              <a:rPr lang="ko-KR" altLang="en-US" sz="1200" dirty="0">
                <a:solidFill>
                  <a:schemeClr val="tx1"/>
                </a:solidFill>
              </a:rPr>
              <a:t>수수료의 납부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198)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8099260" y="1740053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 err="1">
                <a:solidFill>
                  <a:schemeClr val="tx1"/>
                </a:solidFill>
              </a:rPr>
              <a:t>발명의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err="1">
                <a:solidFill>
                  <a:schemeClr val="tx1"/>
                </a:solidFill>
              </a:rPr>
              <a:t>설명</a:t>
            </a:r>
            <a:r>
              <a:rPr lang="en-US" altLang="ko-KR" sz="1200" dirty="0">
                <a:solidFill>
                  <a:schemeClr val="tx1"/>
                </a:solidFill>
              </a:rPr>
              <a:t>(法 193③)</a:t>
            </a:r>
          </a:p>
        </p:txBody>
      </p:sp>
      <p:sp>
        <p:nvSpPr>
          <p:cNvPr id="109" name="직사각형 108"/>
          <p:cNvSpPr/>
          <p:nvPr/>
        </p:nvSpPr>
        <p:spPr>
          <a:xfrm>
            <a:off x="8099260" y="1978643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 err="1">
                <a:solidFill>
                  <a:schemeClr val="tx1"/>
                </a:solidFill>
              </a:rPr>
              <a:t>청구범위</a:t>
            </a:r>
            <a:r>
              <a:rPr lang="en-US" altLang="ko-KR" sz="1200" dirty="0">
                <a:solidFill>
                  <a:schemeClr val="tx1"/>
                </a:solidFill>
              </a:rPr>
              <a:t>(法 193④) </a:t>
            </a:r>
          </a:p>
        </p:txBody>
      </p:sp>
      <p:sp>
        <p:nvSpPr>
          <p:cNvPr id="110" name="직사각형 109"/>
          <p:cNvSpPr/>
          <p:nvPr/>
        </p:nvSpPr>
        <p:spPr>
          <a:xfrm>
            <a:off x="8099260" y="2217233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 err="1">
                <a:solidFill>
                  <a:schemeClr val="tx1"/>
                </a:solidFill>
              </a:rPr>
              <a:t>기타</a:t>
            </a:r>
            <a:r>
              <a:rPr lang="en-US" altLang="ko-KR" sz="1200" dirty="0">
                <a:solidFill>
                  <a:schemeClr val="tx1"/>
                </a:solidFill>
              </a:rPr>
              <a:t>(法 193⑤)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8099260" y="1501463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 err="1">
                <a:solidFill>
                  <a:schemeClr val="tx1"/>
                </a:solidFill>
              </a:rPr>
              <a:t>출원서</a:t>
            </a:r>
            <a:r>
              <a:rPr lang="en-US" altLang="ko-KR" sz="1200" dirty="0">
                <a:solidFill>
                  <a:schemeClr val="tx1"/>
                </a:solidFill>
              </a:rPr>
              <a:t>(法 193②)</a:t>
            </a:r>
          </a:p>
        </p:txBody>
      </p:sp>
      <p:sp>
        <p:nvSpPr>
          <p:cNvPr id="115" name="직사각형 114"/>
          <p:cNvSpPr/>
          <p:nvPr/>
        </p:nvSpPr>
        <p:spPr>
          <a:xfrm>
            <a:off x="8099260" y="2795482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 err="1">
                <a:solidFill>
                  <a:schemeClr val="tx1"/>
                </a:solidFill>
              </a:rPr>
              <a:t>보완명령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194②)</a:t>
            </a:r>
          </a:p>
        </p:txBody>
      </p:sp>
      <p:sp>
        <p:nvSpPr>
          <p:cNvPr id="116" name="직사각형 115"/>
          <p:cNvSpPr/>
          <p:nvPr/>
        </p:nvSpPr>
        <p:spPr>
          <a:xfrm>
            <a:off x="8099260" y="3034071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>
                <a:solidFill>
                  <a:schemeClr val="tx1"/>
                </a:solidFill>
              </a:rPr>
              <a:t>보완한 경우의 효과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194④</a:t>
            </a:r>
            <a:r>
              <a:rPr lang="ko-KR" altLang="en-US" sz="1200" dirty="0" err="1">
                <a:solidFill>
                  <a:schemeClr val="tx1"/>
                </a:solidFill>
              </a:rPr>
              <a:t>전단부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17" name="직사각형 116"/>
          <p:cNvSpPr/>
          <p:nvPr/>
        </p:nvSpPr>
        <p:spPr>
          <a:xfrm>
            <a:off x="8099260" y="3272661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>
                <a:solidFill>
                  <a:schemeClr val="tx1"/>
                </a:solidFill>
              </a:rPr>
              <a:t>보완하지 아니한 경우의 효과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194①</a:t>
            </a:r>
            <a:r>
              <a:rPr lang="ko-KR" altLang="en-US" sz="1200" dirty="0">
                <a:solidFill>
                  <a:schemeClr val="tx1"/>
                </a:solidFill>
              </a:rPr>
              <a:t>단서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18" name="직사각형 117"/>
          <p:cNvSpPr/>
          <p:nvPr/>
        </p:nvSpPr>
        <p:spPr>
          <a:xfrm>
            <a:off x="8099260" y="2556892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 err="1">
                <a:solidFill>
                  <a:schemeClr val="tx1"/>
                </a:solidFill>
              </a:rPr>
              <a:t>보완사유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194①</a:t>
            </a:r>
            <a:r>
              <a:rPr lang="ko-KR" altLang="en-US" sz="1200" dirty="0">
                <a:solidFill>
                  <a:schemeClr val="tx1"/>
                </a:solidFill>
              </a:rPr>
              <a:t>각호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19" name="직사각형 118"/>
          <p:cNvSpPr/>
          <p:nvPr/>
        </p:nvSpPr>
        <p:spPr>
          <a:xfrm>
            <a:off x="4325985" y="3124540"/>
            <a:ext cx="3103515" cy="209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>
                <a:solidFill>
                  <a:schemeClr val="tx1"/>
                </a:solidFill>
              </a:rPr>
              <a:t>1. </a:t>
            </a:r>
            <a:r>
              <a:rPr lang="ko-KR" altLang="en-US" sz="1200" dirty="0">
                <a:solidFill>
                  <a:schemeClr val="tx1"/>
                </a:solidFill>
              </a:rPr>
              <a:t>보완</a:t>
            </a:r>
          </a:p>
        </p:txBody>
      </p:sp>
      <p:sp>
        <p:nvSpPr>
          <p:cNvPr id="120" name="직사각형 119"/>
          <p:cNvSpPr/>
          <p:nvPr/>
        </p:nvSpPr>
        <p:spPr>
          <a:xfrm>
            <a:off x="4325985" y="3944155"/>
            <a:ext cx="3103515" cy="209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>
                <a:solidFill>
                  <a:schemeClr val="tx1"/>
                </a:solidFill>
              </a:rPr>
              <a:t>2. </a:t>
            </a:r>
            <a:r>
              <a:rPr lang="ko-KR" altLang="en-US" sz="1200" dirty="0">
                <a:solidFill>
                  <a:schemeClr val="tx1"/>
                </a:solidFill>
              </a:rPr>
              <a:t>보정</a:t>
            </a:r>
          </a:p>
        </p:txBody>
      </p:sp>
      <p:sp>
        <p:nvSpPr>
          <p:cNvPr id="121" name="직사각형 120"/>
          <p:cNvSpPr/>
          <p:nvPr/>
        </p:nvSpPr>
        <p:spPr>
          <a:xfrm>
            <a:off x="4325985" y="5020944"/>
            <a:ext cx="3103515" cy="209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>
                <a:solidFill>
                  <a:schemeClr val="tx1"/>
                </a:solidFill>
              </a:rPr>
              <a:t>3. </a:t>
            </a:r>
            <a:r>
              <a:rPr lang="ko-KR" altLang="en-US" sz="1200" dirty="0">
                <a:solidFill>
                  <a:schemeClr val="tx1"/>
                </a:solidFill>
              </a:rPr>
              <a:t>누락 부분의 보완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194③④, </a:t>
            </a:r>
            <a:r>
              <a:rPr lang="ko-KR" altLang="en-US" sz="1200" dirty="0">
                <a:solidFill>
                  <a:schemeClr val="tx1"/>
                </a:solidFill>
              </a:rPr>
              <a:t>施規 </a:t>
            </a:r>
            <a:r>
              <a:rPr lang="en-US" altLang="ko-KR" sz="1200" dirty="0">
                <a:solidFill>
                  <a:schemeClr val="tx1"/>
                </a:solidFill>
              </a:rPr>
              <a:t>99</a:t>
            </a:r>
            <a:r>
              <a:rPr lang="ko-KR" altLang="en-US" sz="1200" dirty="0">
                <a:solidFill>
                  <a:schemeClr val="tx1"/>
                </a:solidFill>
              </a:rPr>
              <a:t>의</a:t>
            </a:r>
            <a:r>
              <a:rPr lang="en-US" altLang="ko-KR" sz="1200" dirty="0">
                <a:solidFill>
                  <a:schemeClr val="tx1"/>
                </a:solidFill>
              </a:rPr>
              <a:t>2)</a:t>
            </a:r>
          </a:p>
        </p:txBody>
      </p:sp>
      <p:sp>
        <p:nvSpPr>
          <p:cNvPr id="122" name="직사각형 121"/>
          <p:cNvSpPr/>
          <p:nvPr/>
        </p:nvSpPr>
        <p:spPr>
          <a:xfrm>
            <a:off x="8099260" y="3834777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>
                <a:solidFill>
                  <a:schemeClr val="tx1"/>
                </a:solidFill>
              </a:rPr>
              <a:t>보정한 경우의 효과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명문의 규정 없음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8099260" y="4073367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>
                <a:solidFill>
                  <a:schemeClr val="tx1"/>
                </a:solidFill>
              </a:rPr>
              <a:t>보정하지 아니한 경우의 효과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196①Ⅰ,Ⅱ)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8099260" y="4388159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 err="1">
                <a:solidFill>
                  <a:schemeClr val="tx1"/>
                </a:solidFill>
              </a:rPr>
              <a:t>보완사유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8099260" y="3596187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 err="1">
                <a:solidFill>
                  <a:schemeClr val="tx1"/>
                </a:solidFill>
              </a:rPr>
              <a:t>보정사유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195)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4325985" y="5736249"/>
            <a:ext cx="3103515" cy="209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>
                <a:solidFill>
                  <a:schemeClr val="tx1"/>
                </a:solidFill>
              </a:rPr>
              <a:t>1. </a:t>
            </a:r>
            <a:r>
              <a:rPr lang="ko-KR" altLang="en-US" sz="1200" dirty="0">
                <a:solidFill>
                  <a:schemeClr val="tx1"/>
                </a:solidFill>
              </a:rPr>
              <a:t>취하된 것으로 보는 국제출원 등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196)</a:t>
            </a:r>
          </a:p>
        </p:txBody>
      </p:sp>
      <p:sp>
        <p:nvSpPr>
          <p:cNvPr id="127" name="직사각형 126"/>
          <p:cNvSpPr/>
          <p:nvPr/>
        </p:nvSpPr>
        <p:spPr>
          <a:xfrm>
            <a:off x="4325985" y="5974838"/>
            <a:ext cx="3103515" cy="209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>
                <a:solidFill>
                  <a:schemeClr val="tx1"/>
                </a:solidFill>
              </a:rPr>
              <a:t>2. </a:t>
            </a:r>
            <a:r>
              <a:rPr lang="ko-KR" altLang="en-US" sz="1200" dirty="0">
                <a:solidFill>
                  <a:schemeClr val="tx1"/>
                </a:solidFill>
              </a:rPr>
              <a:t>국제조사 및 국제예비심사기관 등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198</a:t>
            </a:r>
            <a:r>
              <a:rPr lang="ko-KR" altLang="en-US" sz="1200" dirty="0">
                <a:solidFill>
                  <a:schemeClr val="tx1"/>
                </a:solidFill>
              </a:rPr>
              <a:t>의</a:t>
            </a:r>
            <a:r>
              <a:rPr lang="en-US" altLang="ko-KR" sz="1200" dirty="0">
                <a:solidFill>
                  <a:schemeClr val="tx1"/>
                </a:solidFill>
              </a:rPr>
              <a:t>2)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8099260" y="4865336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>
                <a:solidFill>
                  <a:schemeClr val="tx1"/>
                </a:solidFill>
              </a:rPr>
              <a:t>보완한 경우의 효과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30" name="직사각형 129"/>
          <p:cNvSpPr/>
          <p:nvPr/>
        </p:nvSpPr>
        <p:spPr>
          <a:xfrm>
            <a:off x="8099260" y="5103925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>
                <a:solidFill>
                  <a:schemeClr val="tx1"/>
                </a:solidFill>
              </a:rPr>
              <a:t>보완하지 아니한 경우의 효과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8099260" y="5342515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>
                <a:solidFill>
                  <a:schemeClr val="tx1"/>
                </a:solidFill>
              </a:rPr>
              <a:t>보완의 취하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8099260" y="4626746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>
                <a:solidFill>
                  <a:schemeClr val="tx1"/>
                </a:solidFill>
              </a:rPr>
              <a:t>명령 또는 의사에 의한 보완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8099260" y="5980276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 err="1">
                <a:solidFill>
                  <a:schemeClr val="tx1"/>
                </a:solidFill>
              </a:rPr>
              <a:t>지정국의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취하간주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196②)</a:t>
            </a:r>
          </a:p>
        </p:txBody>
      </p:sp>
      <p:sp>
        <p:nvSpPr>
          <p:cNvPr id="139" name="직사각형 138"/>
          <p:cNvSpPr/>
          <p:nvPr/>
        </p:nvSpPr>
        <p:spPr>
          <a:xfrm>
            <a:off x="8099260" y="6218865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 err="1">
                <a:solidFill>
                  <a:schemeClr val="tx1"/>
                </a:solidFill>
              </a:rPr>
              <a:t>출원인에게</a:t>
            </a:r>
            <a:r>
              <a:rPr lang="ko-KR" altLang="en-US" sz="1200" dirty="0">
                <a:solidFill>
                  <a:schemeClr val="tx1"/>
                </a:solidFill>
              </a:rPr>
              <a:t> 통지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196③)</a:t>
            </a:r>
          </a:p>
        </p:txBody>
      </p:sp>
      <p:sp>
        <p:nvSpPr>
          <p:cNvPr id="141" name="직사각형 140"/>
          <p:cNvSpPr/>
          <p:nvPr/>
        </p:nvSpPr>
        <p:spPr>
          <a:xfrm>
            <a:off x="8099260" y="5741686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 err="1">
                <a:solidFill>
                  <a:schemeClr val="tx1"/>
                </a:solidFill>
              </a:rPr>
              <a:t>국제출원의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취하간주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196①)</a:t>
            </a:r>
          </a:p>
        </p:txBody>
      </p:sp>
      <p:sp>
        <p:nvSpPr>
          <p:cNvPr id="142" name="직사각형 141"/>
          <p:cNvSpPr/>
          <p:nvPr/>
        </p:nvSpPr>
        <p:spPr>
          <a:xfrm>
            <a:off x="1988139" y="3723090"/>
            <a:ext cx="1744875" cy="3711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출원일 인정</a:t>
            </a:r>
          </a:p>
        </p:txBody>
      </p:sp>
      <p:sp>
        <p:nvSpPr>
          <p:cNvPr id="143" name="직사각형 142"/>
          <p:cNvSpPr/>
          <p:nvPr/>
        </p:nvSpPr>
        <p:spPr>
          <a:xfrm>
            <a:off x="1988139" y="5778237"/>
            <a:ext cx="1744875" cy="3711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기타</a:t>
            </a:r>
          </a:p>
        </p:txBody>
      </p:sp>
      <p:cxnSp>
        <p:nvCxnSpPr>
          <p:cNvPr id="5" name="꺾인 연결선 4"/>
          <p:cNvCxnSpPr>
            <a:stCxn id="54" idx="3"/>
            <a:endCxn id="58" idx="1"/>
          </p:cNvCxnSpPr>
          <p:nvPr/>
        </p:nvCxnSpPr>
        <p:spPr>
          <a:xfrm flipV="1">
            <a:off x="3733014" y="1342819"/>
            <a:ext cx="592971" cy="24604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꺾인 연결선 6"/>
          <p:cNvCxnSpPr>
            <a:stCxn id="54" idx="3"/>
            <a:endCxn id="61" idx="1"/>
          </p:cNvCxnSpPr>
          <p:nvPr/>
        </p:nvCxnSpPr>
        <p:spPr>
          <a:xfrm>
            <a:off x="3733014" y="1588864"/>
            <a:ext cx="592971" cy="23113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꺾인 연결선 8"/>
          <p:cNvCxnSpPr>
            <a:stCxn id="54" idx="3"/>
            <a:endCxn id="60" idx="1"/>
          </p:cNvCxnSpPr>
          <p:nvPr/>
        </p:nvCxnSpPr>
        <p:spPr>
          <a:xfrm flipV="1">
            <a:off x="3733014" y="1581409"/>
            <a:ext cx="592971" cy="745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꺾인 연결선 10"/>
          <p:cNvCxnSpPr>
            <a:stCxn id="55" idx="3"/>
            <a:endCxn id="62" idx="1"/>
          </p:cNvCxnSpPr>
          <p:nvPr/>
        </p:nvCxnSpPr>
        <p:spPr>
          <a:xfrm flipV="1">
            <a:off x="3733014" y="2305960"/>
            <a:ext cx="592971" cy="24604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꺾인 연결선 12"/>
          <p:cNvCxnSpPr>
            <a:stCxn id="55" idx="3"/>
            <a:endCxn id="106" idx="1"/>
          </p:cNvCxnSpPr>
          <p:nvPr/>
        </p:nvCxnSpPr>
        <p:spPr>
          <a:xfrm flipV="1">
            <a:off x="3733014" y="2544550"/>
            <a:ext cx="592971" cy="745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꺾인 연결선 14"/>
          <p:cNvCxnSpPr>
            <a:stCxn id="55" idx="3"/>
            <a:endCxn id="107" idx="1"/>
          </p:cNvCxnSpPr>
          <p:nvPr/>
        </p:nvCxnSpPr>
        <p:spPr>
          <a:xfrm>
            <a:off x="3733014" y="2552005"/>
            <a:ext cx="592971" cy="23113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2" idx="3"/>
            <a:endCxn id="54" idx="1"/>
          </p:cNvCxnSpPr>
          <p:nvPr/>
        </p:nvCxnSpPr>
        <p:spPr>
          <a:xfrm flipV="1">
            <a:off x="1407737" y="1588864"/>
            <a:ext cx="580402" cy="188491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2" idx="3"/>
            <a:endCxn id="143" idx="1"/>
          </p:cNvCxnSpPr>
          <p:nvPr/>
        </p:nvCxnSpPr>
        <p:spPr>
          <a:xfrm>
            <a:off x="1407737" y="3473778"/>
            <a:ext cx="580402" cy="24900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2" idx="3"/>
            <a:endCxn id="55" idx="1"/>
          </p:cNvCxnSpPr>
          <p:nvPr/>
        </p:nvCxnSpPr>
        <p:spPr>
          <a:xfrm flipV="1">
            <a:off x="1407737" y="2552005"/>
            <a:ext cx="580402" cy="92177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stCxn id="2" idx="3"/>
            <a:endCxn id="142" idx="1"/>
          </p:cNvCxnSpPr>
          <p:nvPr/>
        </p:nvCxnSpPr>
        <p:spPr>
          <a:xfrm>
            <a:off x="1407737" y="3473778"/>
            <a:ext cx="580402" cy="43490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stCxn id="142" idx="3"/>
            <a:endCxn id="119" idx="1"/>
          </p:cNvCxnSpPr>
          <p:nvPr/>
        </p:nvCxnSpPr>
        <p:spPr>
          <a:xfrm flipV="1">
            <a:off x="3733014" y="3229109"/>
            <a:ext cx="592971" cy="67957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8"/>
          <p:cNvCxnSpPr>
            <a:stCxn id="142" idx="3"/>
            <a:endCxn id="121" idx="1"/>
          </p:cNvCxnSpPr>
          <p:nvPr/>
        </p:nvCxnSpPr>
        <p:spPr>
          <a:xfrm>
            <a:off x="3733014" y="3908685"/>
            <a:ext cx="592971" cy="121682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꺾인 연결선 30"/>
          <p:cNvCxnSpPr>
            <a:stCxn id="142" idx="3"/>
            <a:endCxn id="120" idx="1"/>
          </p:cNvCxnSpPr>
          <p:nvPr/>
        </p:nvCxnSpPr>
        <p:spPr>
          <a:xfrm>
            <a:off x="3733014" y="3908685"/>
            <a:ext cx="592971" cy="14003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꺾인 연결선 32"/>
          <p:cNvCxnSpPr>
            <a:stCxn id="143" idx="3"/>
            <a:endCxn id="126" idx="1"/>
          </p:cNvCxnSpPr>
          <p:nvPr/>
        </p:nvCxnSpPr>
        <p:spPr>
          <a:xfrm flipV="1">
            <a:off x="3733014" y="5840818"/>
            <a:ext cx="592971" cy="12301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꺾인 연결선 34"/>
          <p:cNvCxnSpPr>
            <a:stCxn id="143" idx="3"/>
            <a:endCxn id="127" idx="1"/>
          </p:cNvCxnSpPr>
          <p:nvPr/>
        </p:nvCxnSpPr>
        <p:spPr>
          <a:xfrm>
            <a:off x="3733014" y="5963832"/>
            <a:ext cx="592971" cy="11557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 36"/>
          <p:cNvCxnSpPr>
            <a:stCxn id="106" idx="3"/>
            <a:endCxn id="111" idx="1"/>
          </p:cNvCxnSpPr>
          <p:nvPr/>
        </p:nvCxnSpPr>
        <p:spPr>
          <a:xfrm flipV="1">
            <a:off x="7429500" y="1598576"/>
            <a:ext cx="669760" cy="94597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꺾인 연결선 38"/>
          <p:cNvCxnSpPr>
            <a:stCxn id="106" idx="3"/>
            <a:endCxn id="110" idx="1"/>
          </p:cNvCxnSpPr>
          <p:nvPr/>
        </p:nvCxnSpPr>
        <p:spPr>
          <a:xfrm flipV="1">
            <a:off x="7429500" y="2314346"/>
            <a:ext cx="669760" cy="23020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106" idx="3"/>
            <a:endCxn id="108" idx="1"/>
          </p:cNvCxnSpPr>
          <p:nvPr/>
        </p:nvCxnSpPr>
        <p:spPr>
          <a:xfrm flipV="1">
            <a:off x="7429500" y="1837166"/>
            <a:ext cx="669760" cy="70738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꺾인 연결선 45"/>
          <p:cNvCxnSpPr>
            <a:stCxn id="106" idx="3"/>
            <a:endCxn id="109" idx="1"/>
          </p:cNvCxnSpPr>
          <p:nvPr/>
        </p:nvCxnSpPr>
        <p:spPr>
          <a:xfrm flipV="1">
            <a:off x="7429500" y="2075756"/>
            <a:ext cx="669760" cy="46879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119" idx="3"/>
            <a:endCxn id="118" idx="1"/>
          </p:cNvCxnSpPr>
          <p:nvPr/>
        </p:nvCxnSpPr>
        <p:spPr>
          <a:xfrm flipV="1">
            <a:off x="7429500" y="2654005"/>
            <a:ext cx="669760" cy="57510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49"/>
          <p:cNvCxnSpPr>
            <a:stCxn id="119" idx="3"/>
            <a:endCxn id="117" idx="1"/>
          </p:cNvCxnSpPr>
          <p:nvPr/>
        </p:nvCxnSpPr>
        <p:spPr>
          <a:xfrm>
            <a:off x="7429500" y="3229109"/>
            <a:ext cx="669760" cy="14066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 51"/>
          <p:cNvCxnSpPr>
            <a:stCxn id="119" idx="3"/>
            <a:endCxn id="115" idx="1"/>
          </p:cNvCxnSpPr>
          <p:nvPr/>
        </p:nvCxnSpPr>
        <p:spPr>
          <a:xfrm flipV="1">
            <a:off x="7429500" y="2892595"/>
            <a:ext cx="669760" cy="33651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>
            <a:stCxn id="119" idx="3"/>
            <a:endCxn id="116" idx="1"/>
          </p:cNvCxnSpPr>
          <p:nvPr/>
        </p:nvCxnSpPr>
        <p:spPr>
          <a:xfrm flipV="1">
            <a:off x="7429500" y="3131184"/>
            <a:ext cx="669760" cy="979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146"/>
          <p:cNvCxnSpPr>
            <a:stCxn id="120" idx="3"/>
            <a:endCxn id="125" idx="1"/>
          </p:cNvCxnSpPr>
          <p:nvPr/>
        </p:nvCxnSpPr>
        <p:spPr>
          <a:xfrm flipV="1">
            <a:off x="7429500" y="3693300"/>
            <a:ext cx="669760" cy="35542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stCxn id="121" idx="3"/>
            <a:endCxn id="124" idx="1"/>
          </p:cNvCxnSpPr>
          <p:nvPr/>
        </p:nvCxnSpPr>
        <p:spPr>
          <a:xfrm flipV="1">
            <a:off x="7429500" y="4485272"/>
            <a:ext cx="669760" cy="64024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꺾인 연결선 151"/>
          <p:cNvCxnSpPr>
            <a:stCxn id="120" idx="3"/>
            <a:endCxn id="122" idx="1"/>
          </p:cNvCxnSpPr>
          <p:nvPr/>
        </p:nvCxnSpPr>
        <p:spPr>
          <a:xfrm flipV="1">
            <a:off x="7429500" y="3931890"/>
            <a:ext cx="669760" cy="11683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꺾인 연결선 153"/>
          <p:cNvCxnSpPr>
            <a:stCxn id="120" idx="3"/>
            <a:endCxn id="123" idx="1"/>
          </p:cNvCxnSpPr>
          <p:nvPr/>
        </p:nvCxnSpPr>
        <p:spPr>
          <a:xfrm>
            <a:off x="7429500" y="4048724"/>
            <a:ext cx="669760" cy="12175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꺾인 연결선 155"/>
          <p:cNvCxnSpPr>
            <a:stCxn id="121" idx="3"/>
            <a:endCxn id="132" idx="1"/>
          </p:cNvCxnSpPr>
          <p:nvPr/>
        </p:nvCxnSpPr>
        <p:spPr>
          <a:xfrm flipV="1">
            <a:off x="7429500" y="4723859"/>
            <a:ext cx="669760" cy="4016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꺾인 연결선 157"/>
          <p:cNvCxnSpPr>
            <a:stCxn id="121" idx="3"/>
            <a:endCxn id="131" idx="1"/>
          </p:cNvCxnSpPr>
          <p:nvPr/>
        </p:nvCxnSpPr>
        <p:spPr>
          <a:xfrm>
            <a:off x="7429500" y="5125513"/>
            <a:ext cx="669760" cy="31411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꺾인 연결선 159"/>
          <p:cNvCxnSpPr>
            <a:stCxn id="121" idx="3"/>
            <a:endCxn id="129" idx="1"/>
          </p:cNvCxnSpPr>
          <p:nvPr/>
        </p:nvCxnSpPr>
        <p:spPr>
          <a:xfrm flipV="1">
            <a:off x="7429500" y="4962449"/>
            <a:ext cx="669760" cy="16306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꺾인 연결선 161"/>
          <p:cNvCxnSpPr>
            <a:stCxn id="121" idx="3"/>
            <a:endCxn id="130" idx="1"/>
          </p:cNvCxnSpPr>
          <p:nvPr/>
        </p:nvCxnSpPr>
        <p:spPr>
          <a:xfrm>
            <a:off x="7429500" y="5125513"/>
            <a:ext cx="669760" cy="755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꺾인 연결선 163"/>
          <p:cNvCxnSpPr>
            <a:stCxn id="126" idx="3"/>
            <a:endCxn id="141" idx="1"/>
          </p:cNvCxnSpPr>
          <p:nvPr/>
        </p:nvCxnSpPr>
        <p:spPr>
          <a:xfrm flipV="1">
            <a:off x="7429500" y="5838799"/>
            <a:ext cx="669760" cy="201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꺾인 연결선 165"/>
          <p:cNvCxnSpPr>
            <a:stCxn id="126" idx="3"/>
            <a:endCxn id="139" idx="1"/>
          </p:cNvCxnSpPr>
          <p:nvPr/>
        </p:nvCxnSpPr>
        <p:spPr>
          <a:xfrm>
            <a:off x="7429500" y="5840818"/>
            <a:ext cx="669760" cy="47516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꺾인 연결선 167"/>
          <p:cNvCxnSpPr>
            <a:stCxn id="126" idx="3"/>
            <a:endCxn id="138" idx="1"/>
          </p:cNvCxnSpPr>
          <p:nvPr/>
        </p:nvCxnSpPr>
        <p:spPr>
          <a:xfrm>
            <a:off x="7429500" y="5840818"/>
            <a:ext cx="669760" cy="23657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544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975112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192</a:t>
            </a:r>
            <a:r>
              <a:rPr lang="ko-KR" altLang="en-US" dirty="0"/>
              <a:t>조</a:t>
            </a:r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spc="-150" dirty="0" err="1"/>
              <a:t>국제출원할</a:t>
            </a:r>
            <a:r>
              <a:rPr lang="ko-KR" altLang="en-US" spc="-150" dirty="0"/>
              <a:t> 수 있는 자 </a:t>
            </a:r>
            <a:r>
              <a:rPr lang="en-US" altLang="ko-KR" spc="-150" dirty="0"/>
              <a:t>vs </a:t>
            </a:r>
            <a:r>
              <a:rPr lang="ko-KR" altLang="en-US" spc="-150" dirty="0"/>
              <a:t>국제예비심사를 청구할 수 있는 자</a:t>
            </a:r>
          </a:p>
        </p:txBody>
      </p:sp>
      <p:cxnSp>
        <p:nvCxnSpPr>
          <p:cNvPr id="73" name="직선 연결선 72"/>
          <p:cNvCxnSpPr/>
          <p:nvPr/>
        </p:nvCxnSpPr>
        <p:spPr>
          <a:xfrm>
            <a:off x="77875" y="171556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7875" y="976902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총회는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PCT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의 당사국은 아니나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파리조약의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당사국인 어느 국가의 거주자와 국민이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국제출원을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하는 것을 인정하도록 결정할 수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(PCT 9(2)).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총회는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국제출원을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할 자격을 가지는 자에 대하여 동인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同人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 본 조약의 비당사국 또는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PCT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장의 규정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국제예비심사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에 구속되지 아니한 당사국의 거주자나 국민인 경우에 있어서도 국제예비심사의 청구를 허용하도록 결정할 수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(PCT 31, PCT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규칙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54.2).</a:t>
            </a:r>
            <a:endParaRPr lang="ko-KR" altLang="en-US" sz="14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428625" y="3086098"/>
            <a:ext cx="2895600" cy="263128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285843" y="2901432"/>
            <a:ext cx="108588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파리조약</a:t>
            </a:r>
          </a:p>
        </p:txBody>
      </p:sp>
      <p:sp>
        <p:nvSpPr>
          <p:cNvPr id="89" name="모서리가 둥근 직사각형 88"/>
          <p:cNvSpPr/>
          <p:nvPr/>
        </p:nvSpPr>
        <p:spPr>
          <a:xfrm>
            <a:off x="788837" y="3755883"/>
            <a:ext cx="1678145" cy="147637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1212426" y="3571217"/>
            <a:ext cx="83096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PCT</a:t>
            </a:r>
            <a:endParaRPr lang="ko-KR" altLang="en-US" dirty="0"/>
          </a:p>
        </p:txBody>
      </p:sp>
      <p:cxnSp>
        <p:nvCxnSpPr>
          <p:cNvPr id="10" name="직선 연결선 9"/>
          <p:cNvCxnSpPr>
            <a:stCxn id="90" idx="2"/>
            <a:endCxn id="89" idx="2"/>
          </p:cNvCxnSpPr>
          <p:nvPr/>
        </p:nvCxnSpPr>
        <p:spPr>
          <a:xfrm>
            <a:off x="1627909" y="3940549"/>
            <a:ext cx="1" cy="12917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84483" y="4174569"/>
            <a:ext cx="632337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72000" rIns="72000" rtlCol="0">
            <a:spAutoFit/>
          </a:bodyPr>
          <a:lstStyle/>
          <a:p>
            <a:pPr algn="ctr"/>
            <a:r>
              <a:rPr lang="ko-KR" altLang="en-US" sz="1600" dirty="0"/>
              <a:t>제</a:t>
            </a:r>
            <a:r>
              <a:rPr lang="en-US" altLang="ko-KR" sz="1600" dirty="0"/>
              <a:t>2</a:t>
            </a:r>
            <a:r>
              <a:rPr lang="ko-KR" altLang="en-US" sz="1600" dirty="0"/>
              <a:t>장</a:t>
            </a:r>
            <a:endParaRPr lang="en-US" altLang="ko-KR" sz="1600" dirty="0"/>
          </a:p>
          <a:p>
            <a:pPr algn="ctr"/>
            <a:r>
              <a:rPr lang="ko-KR" altLang="en-US" sz="1600" dirty="0"/>
              <a:t>구속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656000" y="4174569"/>
            <a:ext cx="725257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72000" rIns="72000" rtlCol="0">
            <a:spAutoFit/>
          </a:bodyPr>
          <a:lstStyle/>
          <a:p>
            <a:pPr algn="ctr"/>
            <a:r>
              <a:rPr lang="ko-KR" altLang="en-US" sz="1600" dirty="0"/>
              <a:t>제</a:t>
            </a:r>
            <a:r>
              <a:rPr lang="en-US" altLang="ko-KR" sz="1600" dirty="0"/>
              <a:t>2</a:t>
            </a:r>
            <a:r>
              <a:rPr lang="ko-KR" altLang="en-US" sz="1600" dirty="0"/>
              <a:t>장</a:t>
            </a:r>
            <a:endParaRPr lang="en-US" altLang="ko-KR" sz="1600" dirty="0"/>
          </a:p>
          <a:p>
            <a:pPr algn="ctr"/>
            <a:r>
              <a:rPr lang="ko-KR" altLang="en-US" sz="1600" dirty="0"/>
              <a:t>불구속</a:t>
            </a:r>
          </a:p>
        </p:txBody>
      </p:sp>
      <p:sp>
        <p:nvSpPr>
          <p:cNvPr id="14" name="모서리가 둥근 사각형 설명선 13"/>
          <p:cNvSpPr/>
          <p:nvPr/>
        </p:nvSpPr>
        <p:spPr>
          <a:xfrm>
            <a:off x="2595541" y="2703253"/>
            <a:ext cx="1895475" cy="581025"/>
          </a:xfrm>
          <a:prstGeom prst="wedgeRoundRectCallout">
            <a:avLst>
              <a:gd name="adj1" fmla="val -79089"/>
              <a:gd name="adj2" fmla="val 137911"/>
              <a:gd name="adj3" fmla="val 16667"/>
            </a:avLst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/>
              <a:t>* </a:t>
            </a:r>
            <a:r>
              <a:rPr lang="ko-KR" altLang="en-US" sz="1400" dirty="0" err="1"/>
              <a:t>파리조약의</a:t>
            </a:r>
            <a:r>
              <a:rPr lang="ko-KR" altLang="en-US" sz="1400" dirty="0"/>
              <a:t> 특별협정</a:t>
            </a:r>
            <a:endParaRPr lang="en-US" altLang="ko-KR" sz="1400" dirty="0"/>
          </a:p>
          <a:p>
            <a:r>
              <a:rPr lang="en-US" altLang="ko-KR" sz="1400" dirty="0"/>
              <a:t>* 150</a:t>
            </a:r>
            <a:r>
              <a:rPr lang="ko-KR" altLang="en-US" sz="1400" dirty="0" err="1"/>
              <a:t>여개국</a:t>
            </a:r>
            <a:r>
              <a:rPr lang="ko-KR" altLang="en-US" sz="1400" dirty="0"/>
              <a:t> 가입</a:t>
            </a: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237006"/>
              </p:ext>
            </p:extLst>
          </p:nvPr>
        </p:nvGraphicFramePr>
        <p:xfrm>
          <a:off x="5714958" y="2663515"/>
          <a:ext cx="5781717" cy="306841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781092">
                  <a:extLst>
                    <a:ext uri="{9D8B030D-6E8A-4147-A177-3AD203B41FA5}">
                      <a16:colId xmlns:a16="http://schemas.microsoft.com/office/drawing/2014/main" val="1664929871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780551584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3693987394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3515971832"/>
                    </a:ext>
                  </a:extLst>
                </a:gridCol>
              </a:tblGrid>
              <a:tr h="4549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국제출원할</a:t>
                      </a:r>
                      <a:r>
                        <a:rPr lang="ko-KR" altLang="en-US" sz="1400" dirty="0"/>
                        <a:t> 수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있는 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국제예비심사청구할</a:t>
                      </a:r>
                      <a:r>
                        <a:rPr lang="ko-KR" altLang="en-US" sz="1400" dirty="0"/>
                        <a:t> 수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있는 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244330"/>
                  </a:ext>
                </a:extLst>
              </a:tr>
              <a:tr h="699264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파리조약 당사국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총회의 결정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국민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 err="1"/>
                        <a:t>재내자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총회의 결정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국민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 err="1"/>
                        <a:t>재내자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892121"/>
                  </a:ext>
                </a:extLst>
              </a:tr>
              <a:tr h="699264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PCT </a:t>
                      </a:r>
                    </a:p>
                    <a:p>
                      <a:pPr algn="ctr"/>
                      <a:r>
                        <a:rPr lang="ko-KR" altLang="en-US" sz="1400" dirty="0"/>
                        <a:t>당사국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장 구속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85725" indent="-85725" algn="l" latinLnBrk="1">
                        <a:buFontTx/>
                        <a:buChar char="-"/>
                      </a:pPr>
                      <a:r>
                        <a:rPr lang="ko-KR" altLang="en-US" sz="1400" dirty="0"/>
                        <a:t>국민</a:t>
                      </a:r>
                      <a:endParaRPr lang="en-US" altLang="ko-KR" sz="1400" dirty="0"/>
                    </a:p>
                    <a:p>
                      <a:pPr marL="85725" indent="-85725" algn="l" latinLnBrk="1">
                        <a:buFontTx/>
                        <a:buChar char="-"/>
                      </a:pPr>
                      <a:r>
                        <a:rPr lang="ko-KR" altLang="en-US" sz="1400" dirty="0" err="1"/>
                        <a:t>재내자</a:t>
                      </a:r>
                      <a:endParaRPr lang="en-US" altLang="ko-KR" sz="1400" dirty="0"/>
                    </a:p>
                    <a:p>
                      <a:pPr marL="85725" indent="-85725" algn="l" latinLnBrk="1">
                        <a:buFontTx/>
                        <a:buChar char="-"/>
                      </a:pPr>
                      <a:r>
                        <a:rPr lang="ko-KR" altLang="en-US" sz="1400" dirty="0"/>
                        <a:t>둘 中 한 명 이상을 대표자로 하는 자</a:t>
                      </a:r>
                      <a:endParaRPr lang="en-US" altLang="ko-KR" sz="1400" dirty="0"/>
                    </a:p>
                    <a:p>
                      <a:pPr marL="85725" indent="-85725" algn="l" latinLnBrk="1">
                        <a:buFontTx/>
                        <a:buChar char="-"/>
                      </a:pPr>
                      <a:r>
                        <a:rPr lang="ko-KR" altLang="en-US" sz="1400" dirty="0"/>
                        <a:t>둘 中 한 명 이상과 공동출원하는 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좌동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950519"/>
                  </a:ext>
                </a:extLst>
              </a:tr>
              <a:tr h="1151729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장 불구속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총회의 결정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국민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 err="1"/>
                        <a:t>재내자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5480520"/>
                  </a:ext>
                </a:extLst>
              </a:tr>
            </a:tbl>
          </a:graphicData>
        </a:graphic>
      </p:graphicFrame>
      <p:cxnSp>
        <p:nvCxnSpPr>
          <p:cNvPr id="100" name="직선 연결선 99"/>
          <p:cNvCxnSpPr/>
          <p:nvPr/>
        </p:nvCxnSpPr>
        <p:spPr>
          <a:xfrm flipV="1">
            <a:off x="5035608" y="2292498"/>
            <a:ext cx="0" cy="357174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555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029236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양쪽 모서리가 둥근 사각형 4"/>
          <p:cNvSpPr/>
          <p:nvPr/>
        </p:nvSpPr>
        <p:spPr>
          <a:xfrm>
            <a:off x="730060" y="3609975"/>
            <a:ext cx="3003740" cy="446747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제목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193</a:t>
            </a:r>
            <a:r>
              <a:rPr lang="ko-KR" altLang="en-US" dirty="0"/>
              <a:t>조</a:t>
            </a:r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출원서의</a:t>
            </a:r>
            <a:r>
              <a:rPr lang="ko-KR" altLang="en-US" dirty="0"/>
              <a:t> 제출로 간주되는 내용</a:t>
            </a:r>
          </a:p>
        </p:txBody>
      </p:sp>
      <p:cxnSp>
        <p:nvCxnSpPr>
          <p:cNvPr id="73" name="직선 연결선 72"/>
          <p:cNvCxnSpPr/>
          <p:nvPr/>
        </p:nvCxnSpPr>
        <p:spPr>
          <a:xfrm>
            <a:off x="77875" y="235374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7875" y="976902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국제출원의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등이 제출된 경우에는 다음의 사항이 행하여진 것으로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施規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93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2).</a:t>
            </a:r>
          </a:p>
          <a:p>
            <a:pPr marL="266700" indent="-266700"/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ⅰ) 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조약 제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11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조에 따른 국제출원일에 조약에 구속되는 모든 체약국의 지정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(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이를 자동지정제도라 한다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.) 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다만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조약규칙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 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4.9(b)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에 따른 우선권 주장의 기초가 되는 자국내 </a:t>
            </a:r>
            <a:r>
              <a:rPr lang="ko-KR" altLang="en-US" sz="1400" dirty="0" err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선출원에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 대하여 취하되는 효과를 규정하고 있는 체약국에 대해서는 </a:t>
            </a:r>
            <a:r>
              <a:rPr lang="ko-KR" altLang="en-US" sz="1400" dirty="0" err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국제출원의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출원인은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 해당 체약국의 지정을 제외할 수 있다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.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 </a:t>
            </a:r>
            <a:endParaRPr lang="en-US" altLang="ko-KR" sz="1400" dirty="0">
              <a:solidFill>
                <a:schemeClr val="tx2">
                  <a:lumMod val="50000"/>
                </a:schemeClr>
              </a:solidFill>
              <a:highlight>
                <a:srgbClr val="FFFF00"/>
              </a:highlight>
              <a:latin typeface="+mn-ea"/>
            </a:endParaRPr>
          </a:p>
          <a:p>
            <a:pPr marL="266700" indent="-266700"/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ⅱ)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지정국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중 조약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43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 또는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44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조가 적용되는 각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지정국에서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얻을 수 있는 모든 종류의 권리를 위한 것이라는 표시</a:t>
            </a:r>
            <a:endParaRPr lang="en-US" altLang="ko-KR" sz="1400" dirty="0">
              <a:solidFill>
                <a:schemeClr val="tx2"/>
              </a:solidFill>
              <a:latin typeface="+mn-ea"/>
            </a:endParaRPr>
          </a:p>
          <a:p>
            <a:pPr marL="266700" indent="-266700"/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ⅲ)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조약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45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(1)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 적용되는 각 지역구의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지역특허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[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조약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(ⅳ)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에 따른 특허를 말한다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]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및 국내특허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[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조약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45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(2)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가 적용되는 경우를 제외한다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]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를 위한 것이라는 표시</a:t>
            </a:r>
          </a:p>
        </p:txBody>
      </p:sp>
      <p:cxnSp>
        <p:nvCxnSpPr>
          <p:cNvPr id="22" name="직선 연결선 21"/>
          <p:cNvCxnSpPr/>
          <p:nvPr/>
        </p:nvCxnSpPr>
        <p:spPr>
          <a:xfrm>
            <a:off x="319894" y="4055959"/>
            <a:ext cx="5696789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24152" y="3847172"/>
            <a:ext cx="1011815" cy="417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국내출원</a:t>
            </a:r>
            <a:r>
              <a:rPr lang="en-US" altLang="ko-KR" sz="1200" dirty="0"/>
              <a:t>(X)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6677" y="3847172"/>
            <a:ext cx="1011815" cy="417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국제출원</a:t>
            </a:r>
            <a:r>
              <a:rPr lang="en-US" altLang="ko-KR" sz="1200" dirty="0"/>
              <a:t>(Y)</a:t>
            </a:r>
            <a:endParaRPr lang="ko-KR" alt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1626677" y="4224192"/>
            <a:ext cx="1011815" cy="322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우선권주장</a:t>
            </a:r>
            <a:endParaRPr lang="ko-KR" alt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224152" y="2967185"/>
            <a:ext cx="1011815" cy="322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152" y="2644861"/>
            <a:ext cx="1011815" cy="322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6677" y="2967185"/>
            <a:ext cx="1011815" cy="322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26677" y="2644861"/>
            <a:ext cx="1011815" cy="322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6082" y="3847172"/>
            <a:ext cx="1011815" cy="4175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취하간주</a:t>
            </a:r>
            <a:r>
              <a:rPr lang="en-US" altLang="ko-KR" sz="1200" dirty="0"/>
              <a:t>(X)</a:t>
            </a:r>
          </a:p>
        </p:txBody>
      </p:sp>
      <p:cxnSp>
        <p:nvCxnSpPr>
          <p:cNvPr id="3" name="직선 연결선 2"/>
          <p:cNvCxnSpPr>
            <a:stCxn id="37" idx="2"/>
            <a:endCxn id="23" idx="0"/>
          </p:cNvCxnSpPr>
          <p:nvPr/>
        </p:nvCxnSpPr>
        <p:spPr>
          <a:xfrm>
            <a:off x="730060" y="3289509"/>
            <a:ext cx="0" cy="5576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2130235" y="3289509"/>
            <a:ext cx="0" cy="5576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134360" y="3318219"/>
            <a:ext cx="1011815" cy="32232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1</a:t>
            </a:r>
            <a:r>
              <a:rPr lang="ko-KR" altLang="en-US" sz="1200" dirty="0"/>
              <a:t>년 </a:t>
            </a:r>
            <a:r>
              <a:rPr lang="en-US" altLang="ko-KR" sz="1200" dirty="0"/>
              <a:t>3</a:t>
            </a:r>
            <a:r>
              <a:rPr lang="ko-KR" altLang="en-US" sz="1200" dirty="0"/>
              <a:t>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169" y="5031959"/>
            <a:ext cx="4848893" cy="322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150</a:t>
            </a:r>
            <a:r>
              <a:rPr lang="ko-KR" altLang="en-US" sz="1200" dirty="0"/>
              <a:t>여개 체약국 </a:t>
            </a:r>
            <a:r>
              <a:rPr lang="ko-KR" altLang="en-US" sz="1200" dirty="0" err="1"/>
              <a:t>자동지정</a:t>
            </a:r>
            <a:endParaRPr lang="en-US" altLang="ko-KR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455169" y="5934888"/>
            <a:ext cx="4848893" cy="4945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국내우선권주장의</a:t>
            </a:r>
            <a:r>
              <a:rPr lang="ko-KR" altLang="en-US" sz="1200" dirty="0"/>
              <a:t> 효과가 발생하지 않기 때문에</a:t>
            </a:r>
            <a:r>
              <a:rPr lang="en-US" altLang="ko-KR" sz="1200" dirty="0"/>
              <a:t> </a:t>
            </a:r>
            <a:r>
              <a:rPr lang="ko-KR" altLang="en-US" sz="1200" dirty="0" err="1"/>
              <a:t>선출원</a:t>
            </a:r>
            <a:r>
              <a:rPr lang="en-US" altLang="ko-KR" sz="1200" dirty="0"/>
              <a:t>(X)</a:t>
            </a:r>
            <a:r>
              <a:rPr lang="ko-KR" altLang="en-US" sz="1200" dirty="0"/>
              <a:t>이 </a:t>
            </a:r>
            <a:r>
              <a:rPr lang="ko-KR" altLang="en-US" sz="1200" dirty="0" err="1"/>
              <a:t>취하간주되지</a:t>
            </a:r>
            <a:r>
              <a:rPr lang="ko-KR" altLang="en-US" sz="1200" dirty="0"/>
              <a:t> 않고 국내에서의 절차가 진행되며</a:t>
            </a:r>
            <a:r>
              <a:rPr lang="en-US" altLang="ko-KR" sz="1200" dirty="0"/>
              <a:t>, </a:t>
            </a:r>
            <a:r>
              <a:rPr lang="ko-KR" altLang="en-US" sz="1200" dirty="0"/>
              <a:t>국제출원</a:t>
            </a:r>
            <a:r>
              <a:rPr lang="en-US" altLang="ko-KR" sz="1200" dirty="0"/>
              <a:t>(Y)</a:t>
            </a:r>
            <a:r>
              <a:rPr lang="ko-KR" altLang="en-US" sz="1200" dirty="0"/>
              <a:t>은 국내단계로 진입불가</a:t>
            </a:r>
            <a:endParaRPr lang="en-US" altLang="ko-KR" sz="1200" dirty="0"/>
          </a:p>
        </p:txBody>
      </p:sp>
      <p:sp>
        <p:nvSpPr>
          <p:cNvPr id="47" name="TextBox 46"/>
          <p:cNvSpPr txBox="1"/>
          <p:nvPr/>
        </p:nvSpPr>
        <p:spPr>
          <a:xfrm>
            <a:off x="455169" y="5386560"/>
            <a:ext cx="4848893" cy="4945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불필요하게 한국에 동일한 발명</a:t>
            </a:r>
            <a:r>
              <a:rPr lang="en-US" altLang="ko-KR" sz="1200" dirty="0"/>
              <a:t>(A)</a:t>
            </a:r>
            <a:r>
              <a:rPr lang="ko-KR" altLang="en-US" sz="1200" dirty="0"/>
              <a:t>을 </a:t>
            </a:r>
            <a:r>
              <a:rPr lang="en-US" altLang="ko-KR" sz="1200" dirty="0"/>
              <a:t>2</a:t>
            </a:r>
            <a:r>
              <a:rPr lang="ko-KR" altLang="en-US" sz="1200" dirty="0"/>
              <a:t>번 출원할 </a:t>
            </a:r>
            <a:endParaRPr lang="en-US" altLang="ko-KR" sz="1200" dirty="0"/>
          </a:p>
          <a:p>
            <a:pPr algn="ctr"/>
            <a:r>
              <a:rPr lang="ko-KR" altLang="en-US" sz="1200" dirty="0"/>
              <a:t>필요가 없기 때문에 </a:t>
            </a:r>
            <a:r>
              <a:rPr lang="ko-KR" altLang="en-US" sz="1200" dirty="0" err="1">
                <a:solidFill>
                  <a:srgbClr val="FF0000"/>
                </a:solidFill>
              </a:rPr>
              <a:t>한국지정</a:t>
            </a:r>
            <a:r>
              <a:rPr lang="ko-KR" altLang="en-US" sz="1200" dirty="0">
                <a:solidFill>
                  <a:srgbClr val="FF0000"/>
                </a:solidFill>
              </a:rPr>
              <a:t> 배제 가능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cxnSp>
        <p:nvCxnSpPr>
          <p:cNvPr id="50" name="직선 연결선 49"/>
          <p:cNvCxnSpPr/>
          <p:nvPr/>
        </p:nvCxnSpPr>
        <p:spPr>
          <a:xfrm flipV="1">
            <a:off x="6092883" y="2700520"/>
            <a:ext cx="0" cy="357174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679229" y="3847172"/>
            <a:ext cx="1011815" cy="4175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한국국내</a:t>
            </a:r>
            <a:endParaRPr lang="en-US" altLang="ko-KR" sz="1200" dirty="0"/>
          </a:p>
          <a:p>
            <a:pPr algn="ctr"/>
            <a:r>
              <a:rPr lang="ko-KR" altLang="en-US" sz="1200" dirty="0" err="1"/>
              <a:t>단계진입</a:t>
            </a:r>
            <a:r>
              <a:rPr lang="en-US" altLang="ko-KR" sz="1200" dirty="0"/>
              <a:t>(Y)</a:t>
            </a:r>
            <a:endParaRPr lang="ko-KR" altLang="en-US" sz="1200" dirty="0"/>
          </a:p>
        </p:txBody>
      </p:sp>
      <p:sp>
        <p:nvSpPr>
          <p:cNvPr id="62" name="양쪽 모서리가 둥근 사각형 61"/>
          <p:cNvSpPr/>
          <p:nvPr/>
        </p:nvSpPr>
        <p:spPr>
          <a:xfrm>
            <a:off x="6826060" y="3609975"/>
            <a:ext cx="3003740" cy="446747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" name="직선 연결선 62"/>
          <p:cNvCxnSpPr/>
          <p:nvPr/>
        </p:nvCxnSpPr>
        <p:spPr>
          <a:xfrm>
            <a:off x="6415894" y="4055959"/>
            <a:ext cx="5696789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320152" y="3847172"/>
            <a:ext cx="1011815" cy="417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국내출원</a:t>
            </a:r>
            <a:r>
              <a:rPr lang="en-US" altLang="ko-KR" sz="1200" dirty="0"/>
              <a:t>(X)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22677" y="3847172"/>
            <a:ext cx="1011815" cy="417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국제출원</a:t>
            </a:r>
            <a:r>
              <a:rPr lang="en-US" altLang="ko-KR" sz="1200" dirty="0"/>
              <a:t>(Y)</a:t>
            </a:r>
            <a:endParaRPr lang="ko-KR" altLang="en-US" sz="1200" dirty="0"/>
          </a:p>
        </p:txBody>
      </p:sp>
      <p:sp>
        <p:nvSpPr>
          <p:cNvPr id="66" name="TextBox 65"/>
          <p:cNvSpPr txBox="1"/>
          <p:nvPr/>
        </p:nvSpPr>
        <p:spPr>
          <a:xfrm>
            <a:off x="7722677" y="4224192"/>
            <a:ext cx="1011815" cy="322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우선권주장</a:t>
            </a:r>
            <a:endParaRPr lang="ko-KR" altLang="en-US" sz="1200" dirty="0"/>
          </a:p>
        </p:txBody>
      </p:sp>
      <p:sp>
        <p:nvSpPr>
          <p:cNvPr id="67" name="TextBox 66"/>
          <p:cNvSpPr txBox="1"/>
          <p:nvPr/>
        </p:nvSpPr>
        <p:spPr>
          <a:xfrm>
            <a:off x="6320152" y="2967185"/>
            <a:ext cx="1011815" cy="322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20152" y="2644861"/>
            <a:ext cx="1011815" cy="322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22677" y="2967185"/>
            <a:ext cx="1011815" cy="322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A, 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22677" y="2644861"/>
            <a:ext cx="1011815" cy="322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A, 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02082" y="3847172"/>
            <a:ext cx="1011815" cy="4175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취하간주</a:t>
            </a:r>
            <a:r>
              <a:rPr lang="en-US" altLang="ko-KR" sz="1200" dirty="0"/>
              <a:t>(X)</a:t>
            </a:r>
          </a:p>
        </p:txBody>
      </p:sp>
      <p:cxnSp>
        <p:nvCxnSpPr>
          <p:cNvPr id="72" name="직선 연결선 71"/>
          <p:cNvCxnSpPr>
            <a:stCxn id="67" idx="2"/>
            <a:endCxn id="64" idx="0"/>
          </p:cNvCxnSpPr>
          <p:nvPr/>
        </p:nvCxnSpPr>
        <p:spPr>
          <a:xfrm>
            <a:off x="6826060" y="3289509"/>
            <a:ext cx="0" cy="5576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>
            <a:off x="8226235" y="3289509"/>
            <a:ext cx="0" cy="5576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8230360" y="3318219"/>
            <a:ext cx="1011815" cy="32232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1</a:t>
            </a:r>
            <a:r>
              <a:rPr lang="ko-KR" altLang="en-US" sz="1200" dirty="0"/>
              <a:t>년 </a:t>
            </a:r>
            <a:r>
              <a:rPr lang="en-US" altLang="ko-KR" sz="1200" dirty="0"/>
              <a:t>3</a:t>
            </a:r>
            <a:r>
              <a:rPr lang="ko-KR" altLang="en-US" sz="1200" dirty="0"/>
              <a:t>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3171" y="5031959"/>
            <a:ext cx="4018217" cy="322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150</a:t>
            </a:r>
            <a:r>
              <a:rPr lang="ko-KR" altLang="en-US" sz="1200" dirty="0"/>
              <a:t>여개 체약국 </a:t>
            </a:r>
            <a:r>
              <a:rPr lang="ko-KR" altLang="en-US" sz="1200" dirty="0" err="1"/>
              <a:t>자동지정</a:t>
            </a:r>
            <a:endParaRPr lang="en-US" altLang="ko-KR" sz="1200" dirty="0"/>
          </a:p>
        </p:txBody>
      </p:sp>
      <p:sp>
        <p:nvSpPr>
          <p:cNvPr id="78" name="TextBox 77"/>
          <p:cNvSpPr txBox="1"/>
          <p:nvPr/>
        </p:nvSpPr>
        <p:spPr>
          <a:xfrm>
            <a:off x="7313171" y="5408647"/>
            <a:ext cx="4018217" cy="4945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B </a:t>
            </a:r>
            <a:r>
              <a:rPr lang="ko-KR" altLang="en-US" sz="1200" dirty="0"/>
              <a:t>발명을 보호할 필요가 있기 때문에 </a:t>
            </a:r>
            <a:r>
              <a:rPr lang="ko-KR" altLang="en-US" sz="1200" dirty="0">
                <a:solidFill>
                  <a:srgbClr val="FF0000"/>
                </a:solidFill>
              </a:rPr>
              <a:t>한국 지정을 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배제하지 않음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0775229" y="3847172"/>
            <a:ext cx="1011815" cy="4175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한국국내</a:t>
            </a:r>
            <a:endParaRPr lang="en-US" altLang="ko-KR" sz="1200" dirty="0"/>
          </a:p>
          <a:p>
            <a:pPr algn="ctr"/>
            <a:r>
              <a:rPr lang="ko-KR" altLang="en-US" sz="1200" dirty="0" err="1"/>
              <a:t>단계진입</a:t>
            </a:r>
            <a:r>
              <a:rPr lang="en-US" altLang="ko-KR" sz="1200" dirty="0"/>
              <a:t>(Y)</a:t>
            </a:r>
            <a:endParaRPr lang="ko-KR" altLang="en-US" sz="1200" dirty="0"/>
          </a:p>
        </p:txBody>
      </p:sp>
      <p:sp>
        <p:nvSpPr>
          <p:cNvPr id="82" name="도넛 81"/>
          <p:cNvSpPr/>
          <p:nvPr/>
        </p:nvSpPr>
        <p:spPr>
          <a:xfrm>
            <a:off x="10129839" y="4150287"/>
            <a:ext cx="368116" cy="351656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곱셈 기호 82"/>
          <p:cNvSpPr/>
          <p:nvPr/>
        </p:nvSpPr>
        <p:spPr>
          <a:xfrm>
            <a:off x="5445714" y="4055453"/>
            <a:ext cx="573921" cy="602794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도넛 83"/>
          <p:cNvSpPr/>
          <p:nvPr/>
        </p:nvSpPr>
        <p:spPr>
          <a:xfrm>
            <a:off x="11602986" y="4150287"/>
            <a:ext cx="368116" cy="351656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5" name="곱셈 기호 84"/>
          <p:cNvSpPr/>
          <p:nvPr/>
        </p:nvSpPr>
        <p:spPr>
          <a:xfrm>
            <a:off x="3930937" y="4055453"/>
            <a:ext cx="573921" cy="602794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556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3DE519-9AAE-0CC6-B40D-5CA1DB862817}"/>
              </a:ext>
            </a:extLst>
          </p:cNvPr>
          <p:cNvSpPr txBox="1"/>
          <p:nvPr/>
        </p:nvSpPr>
        <p:spPr>
          <a:xfrm>
            <a:off x="7313171" y="5952993"/>
            <a:ext cx="4018217" cy="4945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국내우선권주장의</a:t>
            </a:r>
            <a:r>
              <a:rPr lang="ko-KR" altLang="en-US" sz="1200" dirty="0"/>
              <a:t> 효과로 </a:t>
            </a:r>
            <a:r>
              <a:rPr lang="ko-KR" altLang="en-US" sz="1200" dirty="0" err="1"/>
              <a:t>선출원</a:t>
            </a:r>
            <a:r>
              <a:rPr lang="en-US" altLang="ko-KR" sz="1200" dirty="0"/>
              <a:t>(X)</a:t>
            </a:r>
            <a:r>
              <a:rPr lang="ko-KR" altLang="en-US" sz="1200" dirty="0"/>
              <a:t>이 </a:t>
            </a:r>
            <a:r>
              <a:rPr lang="ko-KR" altLang="en-US" sz="1200" dirty="0" err="1"/>
              <a:t>취하간주되기</a:t>
            </a:r>
            <a:r>
              <a:rPr lang="ko-KR" altLang="en-US" sz="1200" dirty="0"/>
              <a:t> 때문에</a:t>
            </a:r>
            <a:r>
              <a:rPr lang="en-US" altLang="ko-KR" sz="1200" dirty="0"/>
              <a:t> </a:t>
            </a:r>
          </a:p>
          <a:p>
            <a:pPr algn="ctr"/>
            <a:r>
              <a:rPr lang="ko-KR" altLang="en-US" sz="1200" dirty="0"/>
              <a:t>국제출원</a:t>
            </a:r>
            <a:r>
              <a:rPr lang="en-US" altLang="ko-KR" sz="1200" dirty="0"/>
              <a:t>(Y)</a:t>
            </a:r>
            <a:r>
              <a:rPr lang="ko-KR" altLang="en-US" sz="1200" dirty="0"/>
              <a:t>은 국내단계로 진입해야 함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595E6A25-9EFC-76FC-CEE0-9658723936DF}"/>
              </a:ext>
            </a:extLst>
          </p:cNvPr>
          <p:cNvCxnSpPr>
            <a:stCxn id="66" idx="2"/>
            <a:endCxn id="77" idx="0"/>
          </p:cNvCxnSpPr>
          <p:nvPr/>
        </p:nvCxnSpPr>
        <p:spPr>
          <a:xfrm rot="16200000" flipH="1">
            <a:off x="8532711" y="4242389"/>
            <a:ext cx="485443" cy="109369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C83A63C9-C46F-B192-1B44-B443382415AD}"/>
              </a:ext>
            </a:extLst>
          </p:cNvPr>
          <p:cNvCxnSpPr>
            <a:stCxn id="36" idx="2"/>
            <a:endCxn id="45" idx="0"/>
          </p:cNvCxnSpPr>
          <p:nvPr/>
        </p:nvCxnSpPr>
        <p:spPr>
          <a:xfrm rot="16200000" flipH="1">
            <a:off x="2263379" y="4415721"/>
            <a:ext cx="485443" cy="74703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39791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196</a:t>
            </a:r>
            <a:r>
              <a:rPr lang="ko-KR" altLang="en-US" dirty="0"/>
              <a:t>조</a:t>
            </a:r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국제출원일의 인정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596531"/>
              </p:ext>
            </p:extLst>
          </p:nvPr>
        </p:nvGraphicFramePr>
        <p:xfrm>
          <a:off x="314325" y="1138037"/>
          <a:ext cx="11544301" cy="535801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05391">
                  <a:extLst>
                    <a:ext uri="{9D8B030D-6E8A-4147-A177-3AD203B41FA5}">
                      <a16:colId xmlns:a16="http://schemas.microsoft.com/office/drawing/2014/main" val="2327967961"/>
                    </a:ext>
                  </a:extLst>
                </a:gridCol>
                <a:gridCol w="485209">
                  <a:extLst>
                    <a:ext uri="{9D8B030D-6E8A-4147-A177-3AD203B41FA5}">
                      <a16:colId xmlns:a16="http://schemas.microsoft.com/office/drawing/2014/main" val="2282364325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1790334757"/>
                    </a:ext>
                  </a:extLst>
                </a:gridCol>
                <a:gridCol w="2886075">
                  <a:extLst>
                    <a:ext uri="{9D8B030D-6E8A-4147-A177-3AD203B41FA5}">
                      <a16:colId xmlns:a16="http://schemas.microsoft.com/office/drawing/2014/main" val="779416976"/>
                    </a:ext>
                  </a:extLst>
                </a:gridCol>
                <a:gridCol w="3743326">
                  <a:extLst>
                    <a:ext uri="{9D8B030D-6E8A-4147-A177-3AD203B41FA5}">
                      <a16:colId xmlns:a16="http://schemas.microsoft.com/office/drawing/2014/main" val="2560862332"/>
                    </a:ext>
                  </a:extLst>
                </a:gridCol>
              </a:tblGrid>
              <a:tr h="22326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구분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보완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</a:rPr>
                        <a:t>보정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누락된 부분 등의 보완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599645"/>
                  </a:ext>
                </a:extLst>
              </a:tr>
              <a:tr h="223248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사유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14300" marR="17780" indent="-114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국제출원서에 발명의 설명 또는 청구범위가 제출되지 아니한 경우</a:t>
                      </a:r>
                    </a:p>
                    <a:p>
                      <a:pPr marL="114300" marR="17780" indent="-114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출원인의 성명이나 명칭을 적지 아니한 경우</a:t>
                      </a:r>
                    </a:p>
                    <a:p>
                      <a:pPr marL="137160" marR="17780" indent="-1371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대한민국에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국제출원할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수 있는 자격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192)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을 갖추지 아니한 자가 출원한 경우</a:t>
                      </a:r>
                    </a:p>
                    <a:p>
                      <a:pPr marL="137160" marR="17780" indent="-1371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4.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국제출원서에 특허협력조약에 따른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국제출원이라는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표시가 되어 있지 아니한 경우</a:t>
                      </a:r>
                    </a:p>
                    <a:p>
                      <a:pPr marL="120650" marR="17780" indent="-1206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5.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국제출원이 총리령으로 정하는 언어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국어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영어 또는 일어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로 작성되지 아니한 경우</a:t>
                      </a:r>
                    </a:p>
                    <a:p>
                      <a:pPr marL="125730" marR="17780" indent="-12573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6.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해당 출원된 발명의 보호가 필요한 특허협력조약 체약국의 지정을 하지 아니한 경우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47320" marR="17780" indent="-1473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발명의 명칭이 적혀 있지 아니한 경우</a:t>
                      </a:r>
                    </a:p>
                    <a:p>
                      <a:pPr marL="143510" marR="17780" indent="-14351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요약서가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제출되지 아니한 경우</a:t>
                      </a:r>
                    </a:p>
                    <a:p>
                      <a:pPr marL="134620" marR="17780" indent="-1346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행위제한능력자가 법정대리인에 의하지 않고 절차를 밟거나 선임된 임의대리인이 변리사가 아닌 경우</a:t>
                      </a:r>
                    </a:p>
                    <a:p>
                      <a:pPr marL="134620" marR="17780" indent="-1346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4.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총리령으로 정하는 방식에 위반된 경우</a:t>
                      </a:r>
                    </a:p>
                    <a:p>
                      <a:pPr marL="124460" marR="17780" indent="-1244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5.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국제출원을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한 자가 수수료를 해당 기간에 내지 아니한 경우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19380" marR="17780" indent="-1193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발명의 설명 또는 청구범위의 일부가 누락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발명의 설명 또는 청구범위가 제출되지 아니한 경우는 제외한다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되어 있거나 잘못 제출된 경우</a:t>
                      </a:r>
                    </a:p>
                    <a:p>
                      <a:pPr marL="127000" marR="17780" indent="-1270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도면의 전부 또는 일부가 누락되어 있거나 잘못 제출된 경우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extLst>
                  <a:ext uri="{0D108BD9-81ED-4DB2-BD59-A6C34878D82A}">
                    <a16:rowId xmlns:a16="http://schemas.microsoft.com/office/drawing/2014/main" val="4228068079"/>
                  </a:ext>
                </a:extLst>
              </a:tr>
              <a:tr h="223262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절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차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1915" marR="51915" marT="10167" marB="1016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의사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2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국제출원 계속 중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국제출원의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접수일로부터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개월 이내 보완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施規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99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②③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extLst>
                  <a:ext uri="{0D108BD9-81ED-4DB2-BD59-A6C34878D82A}">
                    <a16:rowId xmlns:a16="http://schemas.microsoft.com/office/drawing/2014/main" val="365670071"/>
                  </a:ext>
                </a:extLst>
              </a:tr>
              <a:tr h="4241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명령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지식재산처장은 기간을 정하여 보완명령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194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②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지식재산처장은 기간을 정하여 보정명령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195)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지식재산처장은 통지일로부터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개월 이내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보완명령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施規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99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③④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extLst>
                  <a:ext uri="{0D108BD9-81ED-4DB2-BD59-A6C34878D82A}">
                    <a16:rowId xmlns:a16="http://schemas.microsoft.com/office/drawing/2014/main" val="914984191"/>
                  </a:ext>
                </a:extLst>
              </a:tr>
              <a:tr h="102695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효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과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1915" marR="51915" marT="10167" marB="1016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적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법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보완서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도달일을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국제출원일로 인정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194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④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전단부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보정된 내용대로 출원한 것으로 간주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40970" marR="17780" indent="-1409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접수일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도달일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을 국제출원일로 인정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단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국제출원일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통지일로부터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개월 이내 보완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취하시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국제출원일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정정 없었던 것으로 간주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施規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99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⑥본문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128270" marR="17780" indent="-1282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194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항에 따라 국제출원일로 인정되는 날보다 앞서는 경우는 그러하지 아니함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施規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99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⑥단서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extLst>
                  <a:ext uri="{0D108BD9-81ED-4DB2-BD59-A6C34878D82A}">
                    <a16:rowId xmlns:a16="http://schemas.microsoft.com/office/drawing/2014/main" val="4220222898"/>
                  </a:ext>
                </a:extLst>
              </a:tr>
              <a:tr h="12278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부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적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법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</a:rPr>
                        <a:t>국제출원일 불인정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</a:rPr>
                        <a:t>194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</a:rPr>
                        <a:t>①단서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국제출원의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취하간주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196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①</a:t>
                      </a:r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</a:rPr>
                        <a:t>ⅠⅡ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37160" marR="17780" indent="-1371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국제출원절차 진행하고 나중에 기재불비 등의 거절이유가 발생할 가능성 존재</a:t>
                      </a:r>
                    </a:p>
                    <a:p>
                      <a:pPr marL="119380" marR="17780" indent="-1193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도면에 관하여 기재하고 있으나 그 출원에 도면이 포함되어 있지 아니함에도 불구하고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출원인이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기간에 도면을 제출하지 아니한 경우에는 그 도면에 관한 기재는 없는 것으로 간주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194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④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extLst>
                  <a:ext uri="{0D108BD9-81ED-4DB2-BD59-A6C34878D82A}">
                    <a16:rowId xmlns:a16="http://schemas.microsoft.com/office/drawing/2014/main" val="3678391353"/>
                  </a:ext>
                </a:extLst>
              </a:tr>
            </a:tbl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547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94943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꺾인 연결선 110"/>
          <p:cNvCxnSpPr>
            <a:stCxn id="83" idx="2"/>
            <a:endCxn id="80" idx="3"/>
          </p:cNvCxnSpPr>
          <p:nvPr/>
        </p:nvCxnSpPr>
        <p:spPr>
          <a:xfrm rot="5400000">
            <a:off x="6095265" y="3409857"/>
            <a:ext cx="899093" cy="5446437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24"/>
          <p:cNvSpPr>
            <a:spLocks noChangeArrowheads="1"/>
          </p:cNvSpPr>
          <p:nvPr/>
        </p:nvSpPr>
        <p:spPr bwMode="auto">
          <a:xfrm>
            <a:off x="3868151" y="868246"/>
            <a:ext cx="2065675" cy="20390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출원인</a:t>
            </a:r>
          </a:p>
        </p:txBody>
      </p:sp>
      <p:sp>
        <p:nvSpPr>
          <p:cNvPr id="31" name="Rectangle 24"/>
          <p:cNvSpPr>
            <a:spLocks noChangeArrowheads="1"/>
          </p:cNvSpPr>
          <p:nvPr/>
        </p:nvSpPr>
        <p:spPr bwMode="auto">
          <a:xfrm>
            <a:off x="2812034" y="1198358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PCT 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국제출원</a:t>
            </a:r>
          </a:p>
        </p:txBody>
      </p:sp>
      <p:sp>
        <p:nvSpPr>
          <p:cNvPr id="40" name="Rectangle 24"/>
          <p:cNvSpPr>
            <a:spLocks noChangeArrowheads="1"/>
          </p:cNvSpPr>
          <p:nvPr/>
        </p:nvSpPr>
        <p:spPr bwMode="auto">
          <a:xfrm>
            <a:off x="3868151" y="1532349"/>
            <a:ext cx="2065675" cy="20390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 err="1">
                <a:solidFill>
                  <a:schemeClr val="bg1"/>
                </a:solidFill>
                <a:latin typeface="+mn-ea"/>
              </a:rPr>
              <a:t>수리관청</a:t>
            </a:r>
            <a:r>
              <a:rPr kumimoji="0" lang="en-US" altLang="ko-KR" sz="1000" b="1" dirty="0">
                <a:solidFill>
                  <a:schemeClr val="bg1"/>
                </a:solidFill>
                <a:latin typeface="+mn-ea"/>
              </a:rPr>
              <a:t>/</a:t>
            </a:r>
            <a:r>
              <a:rPr kumimoji="0" lang="ko-KR" altLang="en-US" sz="1000" b="1" dirty="0" err="1">
                <a:solidFill>
                  <a:schemeClr val="bg1"/>
                </a:solidFill>
                <a:latin typeface="+mn-ea"/>
              </a:rPr>
              <a:t>국제사무국</a:t>
            </a:r>
            <a:endParaRPr kumimoji="0"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7" name="직선 화살표 연결선 6"/>
          <p:cNvCxnSpPr>
            <a:stCxn id="113" idx="2"/>
            <a:endCxn id="31" idx="0"/>
          </p:cNvCxnSpPr>
          <p:nvPr/>
        </p:nvCxnSpPr>
        <p:spPr>
          <a:xfrm>
            <a:off x="4900989" y="1072153"/>
            <a:ext cx="0" cy="126206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>
            <a:stCxn id="31" idx="2"/>
            <a:endCxn id="40" idx="0"/>
          </p:cNvCxnSpPr>
          <p:nvPr/>
        </p:nvCxnSpPr>
        <p:spPr>
          <a:xfrm>
            <a:off x="4900989" y="1402265"/>
            <a:ext cx="0" cy="130084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24"/>
          <p:cNvSpPr>
            <a:spLocks noChangeArrowheads="1"/>
          </p:cNvSpPr>
          <p:nvPr/>
        </p:nvSpPr>
        <p:spPr bwMode="auto">
          <a:xfrm>
            <a:off x="2812034" y="3560649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선행조사의 확인</a:t>
            </a:r>
          </a:p>
        </p:txBody>
      </p:sp>
      <p:sp>
        <p:nvSpPr>
          <p:cNvPr id="63" name="Rectangle 24"/>
          <p:cNvSpPr>
            <a:spLocks noChangeArrowheads="1"/>
          </p:cNvSpPr>
          <p:nvPr/>
        </p:nvSpPr>
        <p:spPr bwMode="auto">
          <a:xfrm>
            <a:off x="2812034" y="2542470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국제조사용 사본의 수령통지</a:t>
            </a:r>
          </a:p>
        </p:txBody>
      </p:sp>
      <p:sp>
        <p:nvSpPr>
          <p:cNvPr id="64" name="Rectangle 24"/>
          <p:cNvSpPr>
            <a:spLocks noChangeArrowheads="1"/>
          </p:cNvSpPr>
          <p:nvPr/>
        </p:nvSpPr>
        <p:spPr bwMode="auto">
          <a:xfrm>
            <a:off x="2812034" y="2893998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국제조사제외대상여부의 확인</a:t>
            </a:r>
          </a:p>
        </p:txBody>
      </p:sp>
      <p:sp>
        <p:nvSpPr>
          <p:cNvPr id="65" name="Rectangle 24"/>
          <p:cNvSpPr>
            <a:spLocks noChangeArrowheads="1"/>
          </p:cNvSpPr>
          <p:nvPr/>
        </p:nvSpPr>
        <p:spPr bwMode="auto">
          <a:xfrm>
            <a:off x="2812034" y="3218697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발명의 단일성 조사</a:t>
            </a:r>
          </a:p>
        </p:txBody>
      </p:sp>
      <p:sp>
        <p:nvSpPr>
          <p:cNvPr id="72" name="Rectangle 24"/>
          <p:cNvSpPr>
            <a:spLocks noChangeArrowheads="1"/>
          </p:cNvSpPr>
          <p:nvPr/>
        </p:nvSpPr>
        <p:spPr bwMode="auto">
          <a:xfrm>
            <a:off x="2812034" y="4251972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선행기술의 조사 및 </a:t>
            </a:r>
            <a:r>
              <a:rPr kumimoji="0" lang="ko-KR" altLang="en-US" sz="1000" dirty="0" err="1">
                <a:solidFill>
                  <a:schemeClr val="tx1"/>
                </a:solidFill>
                <a:latin typeface="+mn-ea"/>
              </a:rPr>
              <a:t>특허성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 판단</a:t>
            </a:r>
          </a:p>
        </p:txBody>
      </p:sp>
      <p:sp>
        <p:nvSpPr>
          <p:cNvPr id="73" name="Rectangle 24"/>
          <p:cNvSpPr>
            <a:spLocks noChangeArrowheads="1"/>
          </p:cNvSpPr>
          <p:nvPr/>
        </p:nvSpPr>
        <p:spPr bwMode="auto">
          <a:xfrm>
            <a:off x="2812034" y="3910021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발명의 명칭</a:t>
            </a: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/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요약서의 누락여부확인</a:t>
            </a:r>
          </a:p>
        </p:txBody>
      </p:sp>
      <p:sp>
        <p:nvSpPr>
          <p:cNvPr id="74" name="Rectangle 24"/>
          <p:cNvSpPr>
            <a:spLocks noChangeArrowheads="1"/>
          </p:cNvSpPr>
          <p:nvPr/>
        </p:nvSpPr>
        <p:spPr bwMode="auto">
          <a:xfrm>
            <a:off x="2812034" y="4593925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국제조사보고서 및 견해서의 작성</a:t>
            </a:r>
          </a:p>
        </p:txBody>
      </p:sp>
      <p:sp>
        <p:nvSpPr>
          <p:cNvPr id="75" name="Rectangle 24"/>
          <p:cNvSpPr>
            <a:spLocks noChangeArrowheads="1"/>
          </p:cNvSpPr>
          <p:nvPr/>
        </p:nvSpPr>
        <p:spPr bwMode="auto">
          <a:xfrm>
            <a:off x="1755917" y="5163298"/>
            <a:ext cx="2065675" cy="20390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국제사무국</a:t>
            </a:r>
          </a:p>
        </p:txBody>
      </p:sp>
      <p:sp>
        <p:nvSpPr>
          <p:cNvPr id="77" name="Rectangle 24"/>
          <p:cNvSpPr>
            <a:spLocks noChangeArrowheads="1"/>
          </p:cNvSpPr>
          <p:nvPr/>
        </p:nvSpPr>
        <p:spPr bwMode="auto">
          <a:xfrm>
            <a:off x="699800" y="5479743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국제공개</a:t>
            </a:r>
          </a:p>
        </p:txBody>
      </p:sp>
      <p:sp>
        <p:nvSpPr>
          <p:cNvPr id="78" name="Rectangle 24"/>
          <p:cNvSpPr>
            <a:spLocks noChangeArrowheads="1"/>
          </p:cNvSpPr>
          <p:nvPr/>
        </p:nvSpPr>
        <p:spPr bwMode="auto">
          <a:xfrm>
            <a:off x="699800" y="5831272"/>
            <a:ext cx="4177909" cy="203907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국제예비보고서</a:t>
            </a: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제</a:t>
            </a: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1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장</a:t>
            </a: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의 발생</a:t>
            </a:r>
          </a:p>
        </p:txBody>
      </p:sp>
      <p:sp>
        <p:nvSpPr>
          <p:cNvPr id="79" name="Rectangle 24"/>
          <p:cNvSpPr>
            <a:spLocks noChangeArrowheads="1"/>
          </p:cNvSpPr>
          <p:nvPr/>
        </p:nvSpPr>
        <p:spPr bwMode="auto">
          <a:xfrm>
            <a:off x="699800" y="6155970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국제조사 및 국제예비보고서의 송달</a:t>
            </a:r>
          </a:p>
        </p:txBody>
      </p:sp>
      <p:sp>
        <p:nvSpPr>
          <p:cNvPr id="80" name="Rectangle 24"/>
          <p:cNvSpPr>
            <a:spLocks noChangeArrowheads="1"/>
          </p:cNvSpPr>
          <p:nvPr/>
        </p:nvSpPr>
        <p:spPr bwMode="auto">
          <a:xfrm>
            <a:off x="1755917" y="6480670"/>
            <a:ext cx="2065675" cy="20390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지정관청</a:t>
            </a:r>
          </a:p>
        </p:txBody>
      </p:sp>
      <p:sp>
        <p:nvSpPr>
          <p:cNvPr id="81" name="Rectangle 24"/>
          <p:cNvSpPr>
            <a:spLocks noChangeArrowheads="1"/>
          </p:cNvSpPr>
          <p:nvPr/>
        </p:nvSpPr>
        <p:spPr bwMode="auto">
          <a:xfrm>
            <a:off x="8235191" y="5149511"/>
            <a:ext cx="2065675" cy="20390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출원인</a:t>
            </a:r>
          </a:p>
        </p:txBody>
      </p:sp>
      <p:sp>
        <p:nvSpPr>
          <p:cNvPr id="83" name="Rectangle 24"/>
          <p:cNvSpPr>
            <a:spLocks noChangeArrowheads="1"/>
          </p:cNvSpPr>
          <p:nvPr/>
        </p:nvSpPr>
        <p:spPr bwMode="auto">
          <a:xfrm>
            <a:off x="7179074" y="5479622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PCT 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제</a:t>
            </a: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19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조 보정</a:t>
            </a:r>
          </a:p>
        </p:txBody>
      </p:sp>
      <p:cxnSp>
        <p:nvCxnSpPr>
          <p:cNvPr id="84" name="직선 화살표 연결선 83"/>
          <p:cNvCxnSpPr>
            <a:stCxn id="81" idx="2"/>
            <a:endCxn id="83" idx="0"/>
          </p:cNvCxnSpPr>
          <p:nvPr/>
        </p:nvCxnSpPr>
        <p:spPr>
          <a:xfrm>
            <a:off x="9268029" y="5353417"/>
            <a:ext cx="0" cy="126206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/>
          <p:cNvCxnSpPr>
            <a:stCxn id="40" idx="2"/>
            <a:endCxn id="59" idx="0"/>
          </p:cNvCxnSpPr>
          <p:nvPr/>
        </p:nvCxnSpPr>
        <p:spPr>
          <a:xfrm>
            <a:off x="4900989" y="1736255"/>
            <a:ext cx="0" cy="124106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/>
          <p:cNvCxnSpPr>
            <a:stCxn id="63" idx="2"/>
            <a:endCxn id="64" idx="0"/>
          </p:cNvCxnSpPr>
          <p:nvPr/>
        </p:nvCxnSpPr>
        <p:spPr>
          <a:xfrm>
            <a:off x="4900989" y="2746377"/>
            <a:ext cx="0" cy="14762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>
            <a:stCxn id="64" idx="2"/>
            <a:endCxn id="65" idx="0"/>
          </p:cNvCxnSpPr>
          <p:nvPr/>
        </p:nvCxnSpPr>
        <p:spPr>
          <a:xfrm>
            <a:off x="4900989" y="3097907"/>
            <a:ext cx="0" cy="12079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>
            <a:stCxn id="65" idx="2"/>
            <a:endCxn id="60" idx="0"/>
          </p:cNvCxnSpPr>
          <p:nvPr/>
        </p:nvCxnSpPr>
        <p:spPr>
          <a:xfrm>
            <a:off x="4900989" y="3422604"/>
            <a:ext cx="0" cy="138044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>
            <a:stCxn id="60" idx="2"/>
            <a:endCxn id="73" idx="0"/>
          </p:cNvCxnSpPr>
          <p:nvPr/>
        </p:nvCxnSpPr>
        <p:spPr>
          <a:xfrm>
            <a:off x="4900989" y="3764556"/>
            <a:ext cx="0" cy="145465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/>
          <p:cNvCxnSpPr>
            <a:stCxn id="73" idx="2"/>
            <a:endCxn id="72" idx="0"/>
          </p:cNvCxnSpPr>
          <p:nvPr/>
        </p:nvCxnSpPr>
        <p:spPr>
          <a:xfrm>
            <a:off x="4900989" y="4113928"/>
            <a:ext cx="0" cy="138044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/>
          <p:cNvCxnSpPr>
            <a:stCxn id="72" idx="2"/>
            <a:endCxn id="74" idx="0"/>
          </p:cNvCxnSpPr>
          <p:nvPr/>
        </p:nvCxnSpPr>
        <p:spPr>
          <a:xfrm>
            <a:off x="4900989" y="4455879"/>
            <a:ext cx="0" cy="138045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 36"/>
          <p:cNvCxnSpPr>
            <a:stCxn id="74" idx="2"/>
            <a:endCxn id="75" idx="0"/>
          </p:cNvCxnSpPr>
          <p:nvPr/>
        </p:nvCxnSpPr>
        <p:spPr>
          <a:xfrm rot="5400000">
            <a:off x="3662140" y="3924447"/>
            <a:ext cx="365465" cy="21122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74" idx="2"/>
            <a:endCxn id="81" idx="0"/>
          </p:cNvCxnSpPr>
          <p:nvPr/>
        </p:nvCxnSpPr>
        <p:spPr>
          <a:xfrm rot="16200000" flipH="1">
            <a:off x="6908671" y="2790151"/>
            <a:ext cx="351678" cy="436704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/>
          <p:cNvCxnSpPr>
            <a:stCxn id="75" idx="2"/>
            <a:endCxn id="77" idx="0"/>
          </p:cNvCxnSpPr>
          <p:nvPr/>
        </p:nvCxnSpPr>
        <p:spPr>
          <a:xfrm>
            <a:off x="2788754" y="5367204"/>
            <a:ext cx="0" cy="11254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/>
          <p:cNvCxnSpPr>
            <a:stCxn id="77" idx="2"/>
            <a:endCxn id="78" idx="0"/>
          </p:cNvCxnSpPr>
          <p:nvPr/>
        </p:nvCxnSpPr>
        <p:spPr>
          <a:xfrm>
            <a:off x="2788754" y="5683650"/>
            <a:ext cx="0" cy="14762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/>
          <p:cNvCxnSpPr>
            <a:stCxn id="78" idx="2"/>
            <a:endCxn id="79" idx="0"/>
          </p:cNvCxnSpPr>
          <p:nvPr/>
        </p:nvCxnSpPr>
        <p:spPr>
          <a:xfrm>
            <a:off x="2788754" y="6035180"/>
            <a:ext cx="0" cy="12079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/>
          <p:cNvCxnSpPr>
            <a:stCxn id="79" idx="2"/>
            <a:endCxn id="80" idx="0"/>
          </p:cNvCxnSpPr>
          <p:nvPr/>
        </p:nvCxnSpPr>
        <p:spPr>
          <a:xfrm>
            <a:off x="2788754" y="6359878"/>
            <a:ext cx="0" cy="12079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꺾인 연결선 120"/>
          <p:cNvCxnSpPr>
            <a:stCxn id="83" idx="1"/>
            <a:endCxn id="75" idx="3"/>
          </p:cNvCxnSpPr>
          <p:nvPr/>
        </p:nvCxnSpPr>
        <p:spPr>
          <a:xfrm rot="10800000">
            <a:off x="3821591" y="5265251"/>
            <a:ext cx="3357483" cy="316325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24"/>
          <p:cNvSpPr>
            <a:spLocks noChangeArrowheads="1"/>
          </p:cNvSpPr>
          <p:nvPr/>
        </p:nvSpPr>
        <p:spPr bwMode="auto">
          <a:xfrm>
            <a:off x="7804589" y="3560649"/>
            <a:ext cx="3793867" cy="203907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선행조사의 결과를 이용</a:t>
            </a:r>
          </a:p>
        </p:txBody>
      </p:sp>
      <p:sp>
        <p:nvSpPr>
          <p:cNvPr id="133" name="Rectangle 24"/>
          <p:cNvSpPr>
            <a:spLocks noChangeArrowheads="1"/>
          </p:cNvSpPr>
          <p:nvPr/>
        </p:nvSpPr>
        <p:spPr bwMode="auto">
          <a:xfrm>
            <a:off x="7804589" y="2893998"/>
            <a:ext cx="3793867" cy="203907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국제조사보고서를 작성하지 않는다는 선언</a:t>
            </a:r>
          </a:p>
        </p:txBody>
      </p:sp>
      <p:sp>
        <p:nvSpPr>
          <p:cNvPr id="134" name="Rectangle 24"/>
          <p:cNvSpPr>
            <a:spLocks noChangeArrowheads="1"/>
          </p:cNvSpPr>
          <p:nvPr/>
        </p:nvSpPr>
        <p:spPr bwMode="auto">
          <a:xfrm>
            <a:off x="7804589" y="3218697"/>
            <a:ext cx="3793867" cy="203907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추가수수료 납부 요구</a:t>
            </a:r>
            <a:endParaRPr kumimoji="0" lang="en-US" altLang="ko-KR" sz="1000" dirty="0">
              <a:solidFill>
                <a:schemeClr val="tx1"/>
              </a:solidFill>
              <a:latin typeface="+mn-ea"/>
            </a:endParaRPr>
          </a:p>
          <a:p>
            <a:pPr latinLnBrk="0">
              <a:spcBef>
                <a:spcPct val="0"/>
              </a:spcBef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주발명에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대해서만 국제조사</a:t>
            </a:r>
            <a:endParaRPr kumimoji="0"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5" name="Rectangle 24"/>
          <p:cNvSpPr>
            <a:spLocks noChangeArrowheads="1"/>
          </p:cNvSpPr>
          <p:nvPr/>
        </p:nvSpPr>
        <p:spPr bwMode="auto">
          <a:xfrm>
            <a:off x="7804589" y="3910021"/>
            <a:ext cx="3793867" cy="203907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직권으로 발명의 명칭 결정 및 요약서 작성</a:t>
            </a:r>
          </a:p>
        </p:txBody>
      </p:sp>
      <p:cxnSp>
        <p:nvCxnSpPr>
          <p:cNvPr id="136" name="직선 화살표 연결선 135"/>
          <p:cNvCxnSpPr>
            <a:stCxn id="64" idx="3"/>
            <a:endCxn id="133" idx="1"/>
          </p:cNvCxnSpPr>
          <p:nvPr/>
        </p:nvCxnSpPr>
        <p:spPr>
          <a:xfrm>
            <a:off x="6989944" y="2995952"/>
            <a:ext cx="814645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/>
          <p:cNvCxnSpPr>
            <a:stCxn id="65" idx="3"/>
            <a:endCxn id="134" idx="1"/>
          </p:cNvCxnSpPr>
          <p:nvPr/>
        </p:nvCxnSpPr>
        <p:spPr>
          <a:xfrm>
            <a:off x="6989944" y="3320651"/>
            <a:ext cx="814645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/>
          <p:cNvCxnSpPr>
            <a:stCxn id="60" idx="3"/>
            <a:endCxn id="132" idx="1"/>
          </p:cNvCxnSpPr>
          <p:nvPr/>
        </p:nvCxnSpPr>
        <p:spPr>
          <a:xfrm>
            <a:off x="6989944" y="3662602"/>
            <a:ext cx="814645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143"/>
          <p:cNvCxnSpPr>
            <a:stCxn id="73" idx="3"/>
            <a:endCxn id="135" idx="1"/>
          </p:cNvCxnSpPr>
          <p:nvPr/>
        </p:nvCxnSpPr>
        <p:spPr>
          <a:xfrm>
            <a:off x="6989944" y="4011974"/>
            <a:ext cx="814645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24"/>
          <p:cNvSpPr>
            <a:spLocks noChangeArrowheads="1"/>
          </p:cNvSpPr>
          <p:nvPr/>
        </p:nvSpPr>
        <p:spPr bwMode="auto">
          <a:xfrm>
            <a:off x="6989943" y="2749855"/>
            <a:ext cx="960107" cy="23428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제외대상</a:t>
            </a:r>
          </a:p>
        </p:txBody>
      </p:sp>
      <p:sp>
        <p:nvSpPr>
          <p:cNvPr id="152" name="Rectangle 24"/>
          <p:cNvSpPr>
            <a:spLocks noChangeArrowheads="1"/>
          </p:cNvSpPr>
          <p:nvPr/>
        </p:nvSpPr>
        <p:spPr bwMode="auto">
          <a:xfrm>
            <a:off x="6989943" y="3061265"/>
            <a:ext cx="960107" cy="23428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위반</a:t>
            </a:r>
          </a:p>
        </p:txBody>
      </p:sp>
      <p:sp>
        <p:nvSpPr>
          <p:cNvPr id="153" name="Rectangle 24"/>
          <p:cNvSpPr>
            <a:spLocks noChangeArrowheads="1"/>
          </p:cNvSpPr>
          <p:nvPr/>
        </p:nvSpPr>
        <p:spPr bwMode="auto">
          <a:xfrm>
            <a:off x="6989943" y="3425654"/>
            <a:ext cx="960107" cy="23428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존재</a:t>
            </a:r>
          </a:p>
        </p:txBody>
      </p:sp>
      <p:sp>
        <p:nvSpPr>
          <p:cNvPr id="154" name="Rectangle 24"/>
          <p:cNvSpPr>
            <a:spLocks noChangeArrowheads="1"/>
          </p:cNvSpPr>
          <p:nvPr/>
        </p:nvSpPr>
        <p:spPr bwMode="auto">
          <a:xfrm>
            <a:off x="6989943" y="3789216"/>
            <a:ext cx="960107" cy="23428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누락</a:t>
            </a:r>
          </a:p>
        </p:txBody>
      </p:sp>
      <p:sp>
        <p:nvSpPr>
          <p:cNvPr id="155" name="Rectangle 24"/>
          <p:cNvSpPr>
            <a:spLocks noChangeArrowheads="1"/>
          </p:cNvSpPr>
          <p:nvPr/>
        </p:nvSpPr>
        <p:spPr bwMode="auto">
          <a:xfrm>
            <a:off x="4438918" y="5059669"/>
            <a:ext cx="960107" cy="23428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보정서 제출</a:t>
            </a:r>
          </a:p>
        </p:txBody>
      </p:sp>
      <p:sp>
        <p:nvSpPr>
          <p:cNvPr id="158" name="Rectangle 24"/>
          <p:cNvSpPr>
            <a:spLocks noChangeArrowheads="1"/>
          </p:cNvSpPr>
          <p:nvPr/>
        </p:nvSpPr>
        <p:spPr bwMode="auto">
          <a:xfrm>
            <a:off x="6112762" y="6348341"/>
            <a:ext cx="960107" cy="23428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번역문 제출</a:t>
            </a:r>
          </a:p>
        </p:txBody>
      </p:sp>
      <p:sp>
        <p:nvSpPr>
          <p:cNvPr id="159" name="Rectangle 24"/>
          <p:cNvSpPr>
            <a:spLocks noChangeArrowheads="1"/>
          </p:cNvSpPr>
          <p:nvPr/>
        </p:nvSpPr>
        <p:spPr bwMode="auto">
          <a:xfrm>
            <a:off x="4863741" y="5825197"/>
            <a:ext cx="960107" cy="23428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국제예비심사단계의 미진행시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198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국제조사와</a:t>
            </a:r>
            <a:r>
              <a:rPr lang="ko-KR" altLang="en-US" dirty="0"/>
              <a:t> 국제공개절차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548</a:t>
            </a:r>
            <a:endParaRPr lang="ko-KR" altLang="en-US" dirty="0"/>
          </a:p>
        </p:txBody>
      </p:sp>
      <p:sp>
        <p:nvSpPr>
          <p:cNvPr id="59" name="Rectangle 24"/>
          <p:cNvSpPr>
            <a:spLocks noChangeArrowheads="1"/>
          </p:cNvSpPr>
          <p:nvPr/>
        </p:nvSpPr>
        <p:spPr bwMode="auto">
          <a:xfrm>
            <a:off x="2812034" y="1860361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조사용 사본 송부</a:t>
            </a:r>
          </a:p>
        </p:txBody>
      </p:sp>
      <p:sp>
        <p:nvSpPr>
          <p:cNvPr id="61" name="Rectangle 24"/>
          <p:cNvSpPr>
            <a:spLocks noChangeArrowheads="1"/>
          </p:cNvSpPr>
          <p:nvPr/>
        </p:nvSpPr>
        <p:spPr bwMode="auto">
          <a:xfrm>
            <a:off x="3868151" y="2215372"/>
            <a:ext cx="2065675" cy="20390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국제조사기관</a:t>
            </a:r>
          </a:p>
        </p:txBody>
      </p:sp>
      <p:cxnSp>
        <p:nvCxnSpPr>
          <p:cNvPr id="66" name="직선 화살표 연결선 65"/>
          <p:cNvCxnSpPr>
            <a:stCxn id="59" idx="2"/>
            <a:endCxn id="61" idx="0"/>
          </p:cNvCxnSpPr>
          <p:nvPr/>
        </p:nvCxnSpPr>
        <p:spPr>
          <a:xfrm>
            <a:off x="4900989" y="2064268"/>
            <a:ext cx="0" cy="151104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/>
          <p:cNvCxnSpPr>
            <a:stCxn id="61" idx="2"/>
            <a:endCxn id="63" idx="0"/>
          </p:cNvCxnSpPr>
          <p:nvPr/>
        </p:nvCxnSpPr>
        <p:spPr>
          <a:xfrm>
            <a:off x="4900989" y="2419278"/>
            <a:ext cx="0" cy="123192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88416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198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국제조사기관 </a:t>
            </a:r>
            <a:r>
              <a:rPr lang="ko-KR" altLang="en-US" dirty="0" err="1"/>
              <a:t>견해서의</a:t>
            </a:r>
            <a:r>
              <a:rPr lang="ko-KR" altLang="en-US" dirty="0"/>
              <a:t> 취급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3451225" y="2686050"/>
            <a:ext cx="236855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국제조사기관견해서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5" name="순서도: 판단 54"/>
          <p:cNvSpPr/>
          <p:nvPr/>
        </p:nvSpPr>
        <p:spPr>
          <a:xfrm>
            <a:off x="3451225" y="3495675"/>
            <a:ext cx="2368550" cy="1143000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국제예비심사단계 진행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3451225" y="5676898"/>
            <a:ext cx="2368550" cy="752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국제사무국이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국제예비보고서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>
                <a:solidFill>
                  <a:schemeClr val="tx1"/>
                </a:solidFill>
              </a:rPr>
              <a:t>장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발간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6651625" y="3790950"/>
            <a:ext cx="2368550" cy="5524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국제예비심사기관의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견해서로</a:t>
            </a:r>
            <a:r>
              <a:rPr lang="ko-KR" altLang="en-US" sz="1400" dirty="0">
                <a:solidFill>
                  <a:schemeClr val="tx1"/>
                </a:solidFill>
              </a:rPr>
              <a:t> 간주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6651625" y="4733925"/>
            <a:ext cx="2368550" cy="5524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국제예비심사기관의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절차 진행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6651625" y="5676898"/>
            <a:ext cx="2368550" cy="752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국제예비심사기관이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국제예비보고서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r>
              <a:rPr lang="ko-KR" altLang="en-US" sz="1400" dirty="0">
                <a:solidFill>
                  <a:schemeClr val="tx1"/>
                </a:solidFill>
              </a:rPr>
              <a:t>장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발간</a:t>
            </a:r>
          </a:p>
        </p:txBody>
      </p:sp>
      <p:cxnSp>
        <p:nvCxnSpPr>
          <p:cNvPr id="62" name="직선 연결선 61"/>
          <p:cNvCxnSpPr/>
          <p:nvPr/>
        </p:nvCxnSpPr>
        <p:spPr>
          <a:xfrm>
            <a:off x="77875" y="235374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7875" y="976902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국제예비심사보고서가 작성되지 않았거나 예정이 없는 경우 국제사무국은 국제조사기관의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견해서와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동일한 내용의 보고서를 국제조사기관을 대신하여 발행하여야 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그 보고서에는 국제조사기관을 대신하여 국제사무국이 발행한다는 표시와 함께 「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특허성에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관한 국제예비보고서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특허협력조약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장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」라는 명칭을 붙여야 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그 후 국제사무국은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출원인과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지정관청에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국제예비보고서를 송달하여야 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(PCT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규칙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44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2.2).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이에 대한 특별한 규정은 없으나 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국제출원인은 국제조사기관이 작성한 견해서에 대해서 비공식적으로 의견서를 국제사무국에 제출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할 수 있도록 하여 출원인이 국제예비심사를 청구하지 아니한 경우 국제조사기관이 작성한 견해서에 대하여 출원인에게 반박할 기회를 부여하고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이는 국제예비심사를 청구하지 아니한 경우 국제조사기관의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견해서의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내용이 국제사무국에 의하여 「국제예비보고서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특허협력조약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장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」로 발간되어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출원인에게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불이익을 줄 수 있기 때문이다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  <a:endParaRPr lang="ko-KR" altLang="en-US" sz="1400" dirty="0">
              <a:solidFill>
                <a:schemeClr val="tx2"/>
              </a:solidFill>
              <a:latin typeface="+mn-ea"/>
            </a:endParaRPr>
          </a:p>
        </p:txBody>
      </p:sp>
      <p:cxnSp>
        <p:nvCxnSpPr>
          <p:cNvPr id="6" name="직선 화살표 연결선 5"/>
          <p:cNvCxnSpPr>
            <a:stCxn id="4" idx="2"/>
            <a:endCxn id="55" idx="0"/>
          </p:cNvCxnSpPr>
          <p:nvPr/>
        </p:nvCxnSpPr>
        <p:spPr>
          <a:xfrm>
            <a:off x="4635500" y="3067050"/>
            <a:ext cx="0" cy="42862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>
            <a:stCxn id="55" idx="2"/>
            <a:endCxn id="56" idx="0"/>
          </p:cNvCxnSpPr>
          <p:nvPr/>
        </p:nvCxnSpPr>
        <p:spPr>
          <a:xfrm>
            <a:off x="4635500" y="4638675"/>
            <a:ext cx="0" cy="103822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stCxn id="55" idx="3"/>
            <a:endCxn id="57" idx="1"/>
          </p:cNvCxnSpPr>
          <p:nvPr/>
        </p:nvCxnSpPr>
        <p:spPr>
          <a:xfrm>
            <a:off x="5819775" y="4067175"/>
            <a:ext cx="831850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57" idx="2"/>
            <a:endCxn id="58" idx="0"/>
          </p:cNvCxnSpPr>
          <p:nvPr/>
        </p:nvCxnSpPr>
        <p:spPr>
          <a:xfrm>
            <a:off x="7835900" y="4343400"/>
            <a:ext cx="0" cy="39052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>
            <a:stCxn id="58" idx="2"/>
            <a:endCxn id="61" idx="0"/>
          </p:cNvCxnSpPr>
          <p:nvPr/>
        </p:nvCxnSpPr>
        <p:spPr>
          <a:xfrm>
            <a:off x="7835900" y="5286375"/>
            <a:ext cx="0" cy="39052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24"/>
          <p:cNvSpPr>
            <a:spLocks noChangeArrowheads="1"/>
          </p:cNvSpPr>
          <p:nvPr/>
        </p:nvSpPr>
        <p:spPr bwMode="auto">
          <a:xfrm>
            <a:off x="5777243" y="3810000"/>
            <a:ext cx="960107" cy="25530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spcBef>
                <a:spcPct val="0"/>
              </a:spcBef>
              <a:defRPr/>
            </a:pPr>
            <a:r>
              <a:rPr kumimoji="0" lang="en-US" altLang="ko-KR" sz="1400" dirty="0">
                <a:solidFill>
                  <a:schemeClr val="tx1"/>
                </a:solidFill>
                <a:latin typeface="+mn-ea"/>
              </a:rPr>
              <a:t>Yes</a:t>
            </a:r>
            <a:endParaRPr kumimoji="0"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6" name="Rectangle 24"/>
          <p:cNvSpPr>
            <a:spLocks noChangeArrowheads="1"/>
          </p:cNvSpPr>
          <p:nvPr/>
        </p:nvSpPr>
        <p:spPr bwMode="auto">
          <a:xfrm>
            <a:off x="4635500" y="4638675"/>
            <a:ext cx="960107" cy="25530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spcBef>
                <a:spcPct val="0"/>
              </a:spcBef>
              <a:defRPr/>
            </a:pPr>
            <a:r>
              <a:rPr kumimoji="0" lang="en-US" altLang="ko-KR" sz="1400" dirty="0">
                <a:solidFill>
                  <a:schemeClr val="tx1"/>
                </a:solidFill>
                <a:latin typeface="+mn-ea"/>
              </a:rPr>
              <a:t>No</a:t>
            </a:r>
            <a:endParaRPr kumimoji="0"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모서리가 둥근 사각형 설명선 15"/>
          <p:cNvSpPr/>
          <p:nvPr/>
        </p:nvSpPr>
        <p:spPr>
          <a:xfrm>
            <a:off x="9334500" y="3067050"/>
            <a:ext cx="2143125" cy="428624"/>
          </a:xfrm>
          <a:prstGeom prst="wedgeRoundRectCallout">
            <a:avLst>
              <a:gd name="adj1" fmla="val -62166"/>
              <a:gd name="adj2" fmla="val 170308"/>
              <a:gd name="adj3" fmla="val 166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</a:rPr>
              <a:t>출원인과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 의견교환 ○</a:t>
            </a:r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88" name="모서리가 둥근 사각형 설명선 87"/>
          <p:cNvSpPr/>
          <p:nvPr/>
        </p:nvSpPr>
        <p:spPr>
          <a:xfrm>
            <a:off x="990600" y="3262311"/>
            <a:ext cx="2143125" cy="428624"/>
          </a:xfrm>
          <a:prstGeom prst="wedgeRoundRectCallout">
            <a:avLst>
              <a:gd name="adj1" fmla="val 62278"/>
              <a:gd name="adj2" fmla="val -131915"/>
              <a:gd name="adj3" fmla="val 166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</a:rPr>
              <a:t>출원인과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 의견교환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×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0" name="모서리가 둥근 사각형 설명선 89"/>
          <p:cNvSpPr/>
          <p:nvPr/>
        </p:nvSpPr>
        <p:spPr>
          <a:xfrm>
            <a:off x="971550" y="4733925"/>
            <a:ext cx="2143125" cy="638173"/>
          </a:xfrm>
          <a:prstGeom prst="wedgeRoundRectCallout">
            <a:avLst>
              <a:gd name="adj1" fmla="val 61834"/>
              <a:gd name="adj2" fmla="val 125299"/>
              <a:gd name="adj3" fmla="val 166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3">
                    <a:lumMod val="50000"/>
                  </a:schemeClr>
                </a:solidFill>
              </a:rPr>
              <a:t>비공식적으로 국제사무국에 의견서 제출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549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7165297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꺾인 연결선 110"/>
          <p:cNvCxnSpPr>
            <a:stCxn id="81" idx="2"/>
            <a:endCxn id="80" idx="3"/>
          </p:cNvCxnSpPr>
          <p:nvPr/>
        </p:nvCxnSpPr>
        <p:spPr>
          <a:xfrm rot="5400000">
            <a:off x="6966671" y="1962380"/>
            <a:ext cx="1327851" cy="7386779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24"/>
          <p:cNvSpPr>
            <a:spLocks noChangeArrowheads="1"/>
          </p:cNvSpPr>
          <p:nvPr/>
        </p:nvSpPr>
        <p:spPr bwMode="auto">
          <a:xfrm>
            <a:off x="2159563" y="1175421"/>
            <a:ext cx="2065675" cy="222201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출원인</a:t>
            </a:r>
          </a:p>
        </p:txBody>
      </p:sp>
      <p:sp>
        <p:nvSpPr>
          <p:cNvPr id="31" name="Rectangle 24"/>
          <p:cNvSpPr>
            <a:spLocks noChangeArrowheads="1"/>
          </p:cNvSpPr>
          <p:nvPr/>
        </p:nvSpPr>
        <p:spPr bwMode="auto">
          <a:xfrm>
            <a:off x="1103446" y="1535150"/>
            <a:ext cx="4177909" cy="22220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국제예비심사</a:t>
            </a:r>
          </a:p>
        </p:txBody>
      </p:sp>
      <p:sp>
        <p:nvSpPr>
          <p:cNvPr id="40" name="Rectangle 24"/>
          <p:cNvSpPr>
            <a:spLocks noChangeArrowheads="1"/>
          </p:cNvSpPr>
          <p:nvPr/>
        </p:nvSpPr>
        <p:spPr bwMode="auto">
          <a:xfrm>
            <a:off x="2159563" y="1933466"/>
            <a:ext cx="2065675" cy="22220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국제예비심사기관</a:t>
            </a:r>
          </a:p>
        </p:txBody>
      </p:sp>
      <p:cxnSp>
        <p:nvCxnSpPr>
          <p:cNvPr id="7" name="직선 화살표 연결선 6"/>
          <p:cNvCxnSpPr>
            <a:stCxn id="113" idx="2"/>
            <a:endCxn id="31" idx="0"/>
          </p:cNvCxnSpPr>
          <p:nvPr/>
        </p:nvCxnSpPr>
        <p:spPr>
          <a:xfrm>
            <a:off x="3192400" y="1397622"/>
            <a:ext cx="0" cy="137529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>
            <a:stCxn id="31" idx="2"/>
            <a:endCxn id="40" idx="0"/>
          </p:cNvCxnSpPr>
          <p:nvPr/>
        </p:nvCxnSpPr>
        <p:spPr>
          <a:xfrm>
            <a:off x="3192400" y="1757353"/>
            <a:ext cx="0" cy="176113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24"/>
          <p:cNvSpPr>
            <a:spLocks noChangeArrowheads="1"/>
          </p:cNvSpPr>
          <p:nvPr/>
        </p:nvSpPr>
        <p:spPr bwMode="auto">
          <a:xfrm>
            <a:off x="1103446" y="3387835"/>
            <a:ext cx="4177909" cy="22220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발명의 단일성 조사</a:t>
            </a:r>
          </a:p>
        </p:txBody>
      </p:sp>
      <p:sp>
        <p:nvSpPr>
          <p:cNvPr id="63" name="Rectangle 24"/>
          <p:cNvSpPr>
            <a:spLocks noChangeArrowheads="1"/>
          </p:cNvSpPr>
          <p:nvPr/>
        </p:nvSpPr>
        <p:spPr bwMode="auto">
          <a:xfrm>
            <a:off x="1103446" y="2278304"/>
            <a:ext cx="4177909" cy="22220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방식심사</a:t>
            </a:r>
          </a:p>
        </p:txBody>
      </p:sp>
      <p:sp>
        <p:nvSpPr>
          <p:cNvPr id="64" name="Rectangle 24"/>
          <p:cNvSpPr>
            <a:spLocks noChangeArrowheads="1"/>
          </p:cNvSpPr>
          <p:nvPr/>
        </p:nvSpPr>
        <p:spPr bwMode="auto">
          <a:xfrm>
            <a:off x="1103446" y="2661372"/>
            <a:ext cx="4177909" cy="22220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 err="1">
                <a:solidFill>
                  <a:schemeClr val="tx1"/>
                </a:solidFill>
                <a:latin typeface="+mn-ea"/>
              </a:rPr>
              <a:t>수리일통지</a:t>
            </a:r>
            <a:endParaRPr kumimoji="0"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5" name="Rectangle 24"/>
          <p:cNvSpPr>
            <a:spLocks noChangeArrowheads="1"/>
          </p:cNvSpPr>
          <p:nvPr/>
        </p:nvSpPr>
        <p:spPr bwMode="auto">
          <a:xfrm>
            <a:off x="1103446" y="3015203"/>
            <a:ext cx="4177909" cy="22220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국제예비심사제외대상여부 확인</a:t>
            </a:r>
          </a:p>
        </p:txBody>
      </p:sp>
      <p:sp>
        <p:nvSpPr>
          <p:cNvPr id="72" name="Rectangle 24"/>
          <p:cNvSpPr>
            <a:spLocks noChangeArrowheads="1"/>
          </p:cNvSpPr>
          <p:nvPr/>
        </p:nvSpPr>
        <p:spPr bwMode="auto">
          <a:xfrm>
            <a:off x="1103446" y="4499203"/>
            <a:ext cx="4177909" cy="22220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견해서의 작성</a:t>
            </a:r>
          </a:p>
        </p:txBody>
      </p:sp>
      <p:sp>
        <p:nvSpPr>
          <p:cNvPr id="73" name="Rectangle 24"/>
          <p:cNvSpPr>
            <a:spLocks noChangeArrowheads="1"/>
          </p:cNvSpPr>
          <p:nvPr/>
        </p:nvSpPr>
        <p:spPr bwMode="auto">
          <a:xfrm>
            <a:off x="1103446" y="4126571"/>
            <a:ext cx="4177909" cy="22220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 err="1">
                <a:solidFill>
                  <a:schemeClr val="tx1"/>
                </a:solidFill>
                <a:latin typeface="+mn-ea"/>
              </a:rPr>
              <a:t>특허성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 여부의 판단</a:t>
            </a:r>
          </a:p>
        </p:txBody>
      </p:sp>
      <p:sp>
        <p:nvSpPr>
          <p:cNvPr id="74" name="Rectangle 24"/>
          <p:cNvSpPr>
            <a:spLocks noChangeArrowheads="1"/>
          </p:cNvSpPr>
          <p:nvPr/>
        </p:nvSpPr>
        <p:spPr bwMode="auto">
          <a:xfrm>
            <a:off x="1103446" y="4871836"/>
            <a:ext cx="4177909" cy="22220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국제예비심사보고서</a:t>
            </a: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제</a:t>
            </a: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2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장</a:t>
            </a: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의 작성</a:t>
            </a:r>
          </a:p>
        </p:txBody>
      </p:sp>
      <p:sp>
        <p:nvSpPr>
          <p:cNvPr id="75" name="Rectangle 24"/>
          <p:cNvSpPr>
            <a:spLocks noChangeArrowheads="1"/>
          </p:cNvSpPr>
          <p:nvPr/>
        </p:nvSpPr>
        <p:spPr bwMode="auto">
          <a:xfrm>
            <a:off x="1871531" y="5493139"/>
            <a:ext cx="2065675" cy="22220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국제사무국</a:t>
            </a:r>
          </a:p>
        </p:txBody>
      </p:sp>
      <p:sp>
        <p:nvSpPr>
          <p:cNvPr id="79" name="Rectangle 24"/>
          <p:cNvSpPr>
            <a:spLocks noChangeArrowheads="1"/>
          </p:cNvSpPr>
          <p:nvPr/>
        </p:nvSpPr>
        <p:spPr bwMode="auto">
          <a:xfrm>
            <a:off x="815414" y="5854763"/>
            <a:ext cx="4177909" cy="22220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국제예비보고서의 송달</a:t>
            </a:r>
          </a:p>
        </p:txBody>
      </p:sp>
      <p:sp>
        <p:nvSpPr>
          <p:cNvPr id="80" name="Rectangle 24"/>
          <p:cNvSpPr>
            <a:spLocks noChangeArrowheads="1"/>
          </p:cNvSpPr>
          <p:nvPr/>
        </p:nvSpPr>
        <p:spPr bwMode="auto">
          <a:xfrm>
            <a:off x="1871531" y="6208595"/>
            <a:ext cx="2065675" cy="22220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lang="ko-KR" altLang="en-US" sz="1000" b="1" dirty="0">
                <a:solidFill>
                  <a:schemeClr val="bg1"/>
                </a:solidFill>
                <a:latin typeface="+mn-ea"/>
              </a:rPr>
              <a:t>선택</a:t>
            </a: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관청</a:t>
            </a:r>
          </a:p>
        </p:txBody>
      </p:sp>
      <p:sp>
        <p:nvSpPr>
          <p:cNvPr id="81" name="Rectangle 24"/>
          <p:cNvSpPr>
            <a:spLocks noChangeArrowheads="1"/>
          </p:cNvSpPr>
          <p:nvPr/>
        </p:nvSpPr>
        <p:spPr bwMode="auto">
          <a:xfrm>
            <a:off x="11175371" y="2278304"/>
            <a:ext cx="297227" cy="2713540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출</a:t>
            </a:r>
            <a:endParaRPr kumimoji="0" lang="en-US" altLang="ko-KR" sz="1000" b="1" dirty="0">
              <a:solidFill>
                <a:schemeClr val="bg1"/>
              </a:solidFill>
              <a:latin typeface="+mn-ea"/>
            </a:endParaRPr>
          </a:p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원</a:t>
            </a:r>
            <a:endParaRPr kumimoji="0" lang="en-US" altLang="ko-KR" sz="1000" b="1" dirty="0">
              <a:solidFill>
                <a:schemeClr val="bg1"/>
              </a:solidFill>
              <a:latin typeface="+mn-ea"/>
            </a:endParaRPr>
          </a:p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인</a:t>
            </a:r>
          </a:p>
        </p:txBody>
      </p:sp>
      <p:sp>
        <p:nvSpPr>
          <p:cNvPr id="83" name="Rectangle 24"/>
          <p:cNvSpPr>
            <a:spLocks noChangeArrowheads="1"/>
          </p:cNvSpPr>
          <p:nvPr/>
        </p:nvSpPr>
        <p:spPr bwMode="auto">
          <a:xfrm>
            <a:off x="6264740" y="1933465"/>
            <a:ext cx="4177909" cy="22220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PCT 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제</a:t>
            </a: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34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조 보정</a:t>
            </a:r>
          </a:p>
        </p:txBody>
      </p:sp>
      <p:cxnSp>
        <p:nvCxnSpPr>
          <p:cNvPr id="85" name="직선 화살표 연결선 84"/>
          <p:cNvCxnSpPr>
            <a:stCxn id="40" idx="2"/>
            <a:endCxn id="63" idx="0"/>
          </p:cNvCxnSpPr>
          <p:nvPr/>
        </p:nvCxnSpPr>
        <p:spPr>
          <a:xfrm>
            <a:off x="3192400" y="2155666"/>
            <a:ext cx="0" cy="122638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/>
          <p:cNvCxnSpPr>
            <a:stCxn id="63" idx="2"/>
            <a:endCxn id="64" idx="0"/>
          </p:cNvCxnSpPr>
          <p:nvPr/>
        </p:nvCxnSpPr>
        <p:spPr>
          <a:xfrm>
            <a:off x="3192400" y="2500506"/>
            <a:ext cx="0" cy="160866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>
            <a:stCxn id="64" idx="2"/>
            <a:endCxn id="65" idx="0"/>
          </p:cNvCxnSpPr>
          <p:nvPr/>
        </p:nvCxnSpPr>
        <p:spPr>
          <a:xfrm>
            <a:off x="3192400" y="2883575"/>
            <a:ext cx="0" cy="131629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>
            <a:stCxn id="65" idx="2"/>
            <a:endCxn id="60" idx="0"/>
          </p:cNvCxnSpPr>
          <p:nvPr/>
        </p:nvCxnSpPr>
        <p:spPr>
          <a:xfrm>
            <a:off x="3192400" y="3237405"/>
            <a:ext cx="0" cy="15043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>
            <a:stCxn id="60" idx="2"/>
            <a:endCxn id="92" idx="0"/>
          </p:cNvCxnSpPr>
          <p:nvPr/>
        </p:nvCxnSpPr>
        <p:spPr>
          <a:xfrm>
            <a:off x="3192400" y="3610038"/>
            <a:ext cx="0" cy="148977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/>
          <p:cNvCxnSpPr>
            <a:stCxn id="73" idx="2"/>
            <a:endCxn id="72" idx="0"/>
          </p:cNvCxnSpPr>
          <p:nvPr/>
        </p:nvCxnSpPr>
        <p:spPr>
          <a:xfrm>
            <a:off x="3192400" y="4348773"/>
            <a:ext cx="0" cy="15043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/>
          <p:cNvCxnSpPr>
            <a:stCxn id="72" idx="2"/>
            <a:endCxn id="74" idx="0"/>
          </p:cNvCxnSpPr>
          <p:nvPr/>
        </p:nvCxnSpPr>
        <p:spPr>
          <a:xfrm>
            <a:off x="3192400" y="4721406"/>
            <a:ext cx="0" cy="15043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 36"/>
          <p:cNvCxnSpPr>
            <a:stCxn id="74" idx="2"/>
            <a:endCxn id="75" idx="0"/>
          </p:cNvCxnSpPr>
          <p:nvPr/>
        </p:nvCxnSpPr>
        <p:spPr>
          <a:xfrm rot="5400000">
            <a:off x="2848834" y="5149572"/>
            <a:ext cx="399100" cy="28803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64" idx="1"/>
            <a:endCxn id="75" idx="1"/>
          </p:cNvCxnSpPr>
          <p:nvPr/>
        </p:nvCxnSpPr>
        <p:spPr>
          <a:xfrm rot="10800000" flipH="1" flipV="1">
            <a:off x="1103446" y="2772473"/>
            <a:ext cx="768085" cy="2831766"/>
          </a:xfrm>
          <a:prstGeom prst="bentConnector3">
            <a:avLst>
              <a:gd name="adj1" fmla="val -39683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/>
          <p:cNvCxnSpPr>
            <a:stCxn id="75" idx="2"/>
            <a:endCxn id="79" idx="0"/>
          </p:cNvCxnSpPr>
          <p:nvPr/>
        </p:nvCxnSpPr>
        <p:spPr>
          <a:xfrm>
            <a:off x="2904368" y="5715339"/>
            <a:ext cx="0" cy="139424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/>
          <p:cNvCxnSpPr>
            <a:stCxn id="79" idx="2"/>
            <a:endCxn id="80" idx="0"/>
          </p:cNvCxnSpPr>
          <p:nvPr/>
        </p:nvCxnSpPr>
        <p:spPr>
          <a:xfrm>
            <a:off x="2904368" y="6076966"/>
            <a:ext cx="0" cy="131629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꺾인 연결선 120"/>
          <p:cNvCxnSpPr>
            <a:stCxn id="81" idx="0"/>
            <a:endCxn id="83" idx="3"/>
          </p:cNvCxnSpPr>
          <p:nvPr/>
        </p:nvCxnSpPr>
        <p:spPr>
          <a:xfrm rot="16200000" flipV="1">
            <a:off x="10766448" y="1720768"/>
            <a:ext cx="233738" cy="881335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24"/>
          <p:cNvSpPr>
            <a:spLocks noChangeArrowheads="1"/>
          </p:cNvSpPr>
          <p:nvPr/>
        </p:nvSpPr>
        <p:spPr bwMode="auto">
          <a:xfrm>
            <a:off x="6046549" y="3387835"/>
            <a:ext cx="3793867" cy="222202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추가수수료 납부 및 특허청구범위 감축 요구</a:t>
            </a:r>
            <a:endParaRPr kumimoji="0" lang="en-US" altLang="ko-KR" sz="1000" dirty="0">
              <a:solidFill>
                <a:schemeClr val="tx1"/>
              </a:solidFill>
              <a:latin typeface="+mn-ea"/>
            </a:endParaRPr>
          </a:p>
          <a:p>
            <a:pPr latinLnBrk="0">
              <a:spcBef>
                <a:spcPct val="0"/>
              </a:spcBef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주발명에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대해서만 국제예비심사</a:t>
            </a:r>
            <a:endParaRPr kumimoji="0"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4" name="Rectangle 24"/>
          <p:cNvSpPr>
            <a:spLocks noChangeArrowheads="1"/>
          </p:cNvSpPr>
          <p:nvPr/>
        </p:nvSpPr>
        <p:spPr bwMode="auto">
          <a:xfrm>
            <a:off x="6046549" y="3015203"/>
            <a:ext cx="3793867" cy="222202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국제예비심사대상이 아니라는 보고서 작성</a:t>
            </a:r>
          </a:p>
        </p:txBody>
      </p:sp>
      <p:cxnSp>
        <p:nvCxnSpPr>
          <p:cNvPr id="136" name="직선 화살표 연결선 135"/>
          <p:cNvCxnSpPr>
            <a:stCxn id="64" idx="3"/>
          </p:cNvCxnSpPr>
          <p:nvPr/>
        </p:nvCxnSpPr>
        <p:spPr>
          <a:xfrm>
            <a:off x="5281355" y="2772473"/>
            <a:ext cx="5894016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/>
          <p:cNvCxnSpPr>
            <a:stCxn id="65" idx="3"/>
            <a:endCxn id="134" idx="1"/>
          </p:cNvCxnSpPr>
          <p:nvPr/>
        </p:nvCxnSpPr>
        <p:spPr>
          <a:xfrm>
            <a:off x="5281355" y="3126304"/>
            <a:ext cx="765195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/>
          <p:cNvCxnSpPr>
            <a:stCxn id="60" idx="3"/>
            <a:endCxn id="132" idx="1"/>
          </p:cNvCxnSpPr>
          <p:nvPr/>
        </p:nvCxnSpPr>
        <p:spPr>
          <a:xfrm>
            <a:off x="5281355" y="3498936"/>
            <a:ext cx="765195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143"/>
          <p:cNvCxnSpPr/>
          <p:nvPr/>
        </p:nvCxnSpPr>
        <p:spPr>
          <a:xfrm>
            <a:off x="5663952" y="4255850"/>
            <a:ext cx="5511419" cy="15915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4"/>
          <p:cNvSpPr>
            <a:spLocks noChangeArrowheads="1"/>
          </p:cNvSpPr>
          <p:nvPr/>
        </p:nvSpPr>
        <p:spPr bwMode="auto">
          <a:xfrm>
            <a:off x="5231904" y="2843646"/>
            <a:ext cx="960107" cy="25530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제외대상</a:t>
            </a:r>
          </a:p>
        </p:txBody>
      </p:sp>
      <p:sp>
        <p:nvSpPr>
          <p:cNvPr id="153" name="Rectangle 24"/>
          <p:cNvSpPr>
            <a:spLocks noChangeArrowheads="1"/>
          </p:cNvSpPr>
          <p:nvPr/>
        </p:nvSpPr>
        <p:spPr bwMode="auto">
          <a:xfrm>
            <a:off x="5231904" y="3240728"/>
            <a:ext cx="960107" cy="25530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위반</a:t>
            </a:r>
          </a:p>
        </p:txBody>
      </p:sp>
      <p:sp>
        <p:nvSpPr>
          <p:cNvPr id="158" name="Rectangle 24"/>
          <p:cNvSpPr>
            <a:spLocks noChangeArrowheads="1"/>
          </p:cNvSpPr>
          <p:nvPr/>
        </p:nvSpPr>
        <p:spPr bwMode="auto">
          <a:xfrm>
            <a:off x="6972417" y="6320720"/>
            <a:ext cx="960107" cy="25530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번역문 제출</a:t>
            </a:r>
          </a:p>
        </p:txBody>
      </p:sp>
      <p:sp>
        <p:nvSpPr>
          <p:cNvPr id="58" name="Rectangle 24"/>
          <p:cNvSpPr>
            <a:spLocks noChangeArrowheads="1"/>
          </p:cNvSpPr>
          <p:nvPr/>
        </p:nvSpPr>
        <p:spPr bwMode="auto">
          <a:xfrm>
            <a:off x="6046549" y="2278371"/>
            <a:ext cx="3793867" cy="222202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국제예비심사보고서가 제출되지 않았다는 선언</a:t>
            </a:r>
          </a:p>
        </p:txBody>
      </p:sp>
      <p:cxnSp>
        <p:nvCxnSpPr>
          <p:cNvPr id="59" name="직선 화살표 연결선 58"/>
          <p:cNvCxnSpPr>
            <a:stCxn id="63" idx="3"/>
            <a:endCxn id="58" idx="1"/>
          </p:cNvCxnSpPr>
          <p:nvPr/>
        </p:nvCxnSpPr>
        <p:spPr>
          <a:xfrm>
            <a:off x="5281355" y="2389406"/>
            <a:ext cx="765195" cy="67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24"/>
          <p:cNvSpPr>
            <a:spLocks noChangeArrowheads="1"/>
          </p:cNvSpPr>
          <p:nvPr/>
        </p:nvSpPr>
        <p:spPr bwMode="auto">
          <a:xfrm>
            <a:off x="5231904" y="2143873"/>
            <a:ext cx="960107" cy="25530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위반</a:t>
            </a:r>
          </a:p>
        </p:txBody>
      </p:sp>
      <p:cxnSp>
        <p:nvCxnSpPr>
          <p:cNvPr id="76" name="직선 화살표 연결선 75"/>
          <p:cNvCxnSpPr/>
          <p:nvPr/>
        </p:nvCxnSpPr>
        <p:spPr>
          <a:xfrm>
            <a:off x="5281355" y="4922357"/>
            <a:ext cx="5894016" cy="20696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24"/>
          <p:cNvSpPr>
            <a:spLocks noChangeArrowheads="1"/>
          </p:cNvSpPr>
          <p:nvPr/>
        </p:nvSpPr>
        <p:spPr bwMode="auto">
          <a:xfrm>
            <a:off x="7393589" y="3983733"/>
            <a:ext cx="960107" cy="25530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출원인과 충분한 의견교환</a:t>
            </a:r>
          </a:p>
        </p:txBody>
      </p:sp>
      <p:cxnSp>
        <p:nvCxnSpPr>
          <p:cNvPr id="88" name="직선 화살표 연결선 87"/>
          <p:cNvCxnSpPr>
            <a:stCxn id="83" idx="1"/>
            <a:endCxn id="40" idx="3"/>
          </p:cNvCxnSpPr>
          <p:nvPr/>
        </p:nvCxnSpPr>
        <p:spPr>
          <a:xfrm flipH="1">
            <a:off x="4225238" y="2044566"/>
            <a:ext cx="2039503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24"/>
          <p:cNvSpPr>
            <a:spLocks noChangeArrowheads="1"/>
          </p:cNvSpPr>
          <p:nvPr/>
        </p:nvSpPr>
        <p:spPr bwMode="auto">
          <a:xfrm>
            <a:off x="1103446" y="3759014"/>
            <a:ext cx="4177909" cy="22220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국제조사기관의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견해서를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차 견해서로 간주</a:t>
            </a:r>
            <a:endParaRPr kumimoji="0"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3" name="직선 화살표 연결선 92"/>
          <p:cNvCxnSpPr>
            <a:stCxn id="92" idx="2"/>
            <a:endCxn id="73" idx="0"/>
          </p:cNvCxnSpPr>
          <p:nvPr/>
        </p:nvCxnSpPr>
        <p:spPr>
          <a:xfrm>
            <a:off x="3192400" y="3981217"/>
            <a:ext cx="0" cy="145355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꺾인 연결선 42"/>
          <p:cNvCxnSpPr>
            <a:stCxn id="92" idx="3"/>
            <a:endCxn id="72" idx="3"/>
          </p:cNvCxnSpPr>
          <p:nvPr/>
        </p:nvCxnSpPr>
        <p:spPr>
          <a:xfrm>
            <a:off x="5281355" y="3870116"/>
            <a:ext cx="16933" cy="740189"/>
          </a:xfrm>
          <a:prstGeom prst="bentConnector3">
            <a:avLst>
              <a:gd name="adj1" fmla="val 180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198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국제예비심사절차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550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738182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258873"/>
              </p:ext>
            </p:extLst>
          </p:nvPr>
        </p:nvGraphicFramePr>
        <p:xfrm>
          <a:off x="387242" y="1031841"/>
          <a:ext cx="11328507" cy="549102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055833">
                  <a:extLst>
                    <a:ext uri="{9D8B030D-6E8A-4147-A177-3AD203B41FA5}">
                      <a16:colId xmlns:a16="http://schemas.microsoft.com/office/drawing/2014/main" val="4266357743"/>
                    </a:ext>
                  </a:extLst>
                </a:gridCol>
                <a:gridCol w="5055009">
                  <a:extLst>
                    <a:ext uri="{9D8B030D-6E8A-4147-A177-3AD203B41FA5}">
                      <a16:colId xmlns:a16="http://schemas.microsoft.com/office/drawing/2014/main" val="3085765251"/>
                    </a:ext>
                  </a:extLst>
                </a:gridCol>
                <a:gridCol w="5217665">
                  <a:extLst>
                    <a:ext uri="{9D8B030D-6E8A-4147-A177-3AD203B41FA5}">
                      <a16:colId xmlns:a16="http://schemas.microsoft.com/office/drawing/2014/main" val="3155668004"/>
                    </a:ext>
                  </a:extLst>
                </a:gridCol>
              </a:tblGrid>
              <a:tr h="14853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구 분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국제조사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국제예비심사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936494"/>
                  </a:ext>
                </a:extLst>
              </a:tr>
              <a:tr h="6755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목 적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85725" marR="31750" indent="-85725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국제조사기관이 </a:t>
                      </a:r>
                      <a:r>
                        <a:rPr lang="ko-KR" altLang="en-US" sz="1200" kern="1200" dirty="0" err="1"/>
                        <a:t>국제출원과</a:t>
                      </a:r>
                      <a:r>
                        <a:rPr lang="ko-KR" altLang="en-US" sz="1200" kern="1200" dirty="0"/>
                        <a:t> 관련된 </a:t>
                      </a:r>
                      <a:r>
                        <a:rPr lang="ko-KR" altLang="en-US" sz="1200" kern="1200" dirty="0" err="1"/>
                        <a:t>선행기술의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ko-KR" altLang="en-US" sz="1200" kern="1200" dirty="0" err="1"/>
                        <a:t>존재여부의</a:t>
                      </a:r>
                      <a:r>
                        <a:rPr lang="ko-KR" altLang="en-US" sz="1200" kern="1200" dirty="0"/>
                        <a:t> 발견</a:t>
                      </a:r>
                    </a:p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국제조사기관이 신규성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/>
                        <a:t>진보성 및 산업상 이용가능성 인정여부에 대하여 예비적이고 구속력이 없는 견해를 표시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국제예비심사기관이 신규성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/>
                        <a:t>진보성 및 산업상 이용가능성 인정여부에 대하여 예비적이며 구속력이 없는 견해를 표시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extLst>
                  <a:ext uri="{0D108BD9-81ED-4DB2-BD59-A6C34878D82A}">
                    <a16:rowId xmlns:a16="http://schemas.microsoft.com/office/drawing/2014/main" val="1386961524"/>
                  </a:ext>
                </a:extLst>
              </a:tr>
              <a:tr h="32732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대 상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모든 </a:t>
                      </a:r>
                      <a:r>
                        <a:rPr lang="ko-KR" altLang="en-US" sz="1200" kern="1200" dirty="0" err="1"/>
                        <a:t>국제출원이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ko-KR" altLang="en-US" sz="1200" kern="1200" dirty="0" err="1"/>
                        <a:t>국제조사의</a:t>
                      </a:r>
                      <a:r>
                        <a:rPr lang="ko-KR" altLang="en-US" sz="1200" kern="1200" dirty="0"/>
                        <a:t> 대상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국제조사와는 달리 출원인의 선택에 의한 임의적 절차로 </a:t>
                      </a:r>
                      <a:r>
                        <a:rPr lang="ko-KR" altLang="en-US" sz="1200" kern="1200" dirty="0" err="1"/>
                        <a:t>국제출원의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ko-KR" altLang="en-US" sz="1200" kern="1200" dirty="0" err="1"/>
                        <a:t>청구범위에</a:t>
                      </a:r>
                      <a:r>
                        <a:rPr lang="ko-KR" altLang="en-US" sz="1200" kern="1200" dirty="0"/>
                        <a:t> 기재되어 있는 발명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extLst>
                  <a:ext uri="{0D108BD9-81ED-4DB2-BD59-A6C34878D82A}">
                    <a16:rowId xmlns:a16="http://schemas.microsoft.com/office/drawing/2014/main" val="4041338310"/>
                  </a:ext>
                </a:extLst>
              </a:tr>
              <a:tr h="287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범 위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발명의 설명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/>
                        <a:t>도면에 타당한 고려를 하여 청구범위를 기초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</a:t>
                      </a:r>
                      <a:r>
                        <a:rPr lang="ko-KR" altLang="en-US" sz="1200" kern="1200" dirty="0" err="1"/>
                        <a:t>청구범위와</a:t>
                      </a:r>
                      <a:r>
                        <a:rPr lang="ko-KR" altLang="en-US" sz="1200" kern="1200" dirty="0"/>
                        <a:t> 발명의 설명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/>
                        <a:t>도면을 기초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extLst>
                  <a:ext uri="{0D108BD9-81ED-4DB2-BD59-A6C34878D82A}">
                    <a16:rowId xmlns:a16="http://schemas.microsoft.com/office/drawing/2014/main" val="2053629555"/>
                  </a:ext>
                </a:extLst>
              </a:tr>
              <a:tr h="4170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이용할 수 </a:t>
                      </a:r>
                      <a:endParaRPr lang="en-US" altLang="ko-KR" sz="1200" kern="1200" dirty="0"/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있는 자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</a:t>
                      </a:r>
                      <a:r>
                        <a:rPr lang="ko-KR" altLang="en-US" sz="1200" kern="1200" dirty="0" err="1"/>
                        <a:t>국제출원을</a:t>
                      </a:r>
                      <a:r>
                        <a:rPr lang="ko-KR" altLang="en-US" sz="1200" kern="1200" dirty="0"/>
                        <a:t> 할 수 있는 자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</a:t>
                      </a:r>
                      <a:r>
                        <a:rPr lang="en-US" altLang="ko-KR" sz="1200" kern="1200" dirty="0">
                          <a:highlight>
                            <a:srgbClr val="FFFF00"/>
                          </a:highlight>
                        </a:rPr>
                        <a:t>PCT 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제</a:t>
                      </a:r>
                      <a:r>
                        <a:rPr lang="en-US" altLang="ko-KR" sz="1200" kern="12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장 규정에 구속</a:t>
                      </a:r>
                      <a:r>
                        <a:rPr lang="ko-KR" altLang="en-US" sz="1200" kern="1200" dirty="0"/>
                        <a:t>된 체약국의 거주자 또는 국민으로서 그러한 체약국을 위해 행동하는 </a:t>
                      </a:r>
                      <a:r>
                        <a:rPr lang="ko-KR" altLang="en-US" sz="1200" kern="1200" dirty="0" err="1"/>
                        <a:t>수리관청에</a:t>
                      </a:r>
                      <a:r>
                        <a:rPr lang="ko-KR" altLang="en-US" sz="1200" kern="1200" dirty="0"/>
                        <a:t> 출원한 경우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extLst>
                  <a:ext uri="{0D108BD9-81ED-4DB2-BD59-A6C34878D82A}">
                    <a16:rowId xmlns:a16="http://schemas.microsoft.com/office/drawing/2014/main" val="3280514034"/>
                  </a:ext>
                </a:extLst>
              </a:tr>
              <a:tr h="287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지정</a:t>
                      </a:r>
                      <a:r>
                        <a:rPr lang="en-US" altLang="ko-KR" sz="1200" kern="1200"/>
                        <a:t>/</a:t>
                      </a:r>
                      <a:r>
                        <a:rPr lang="ko-KR" altLang="en-US" sz="1200" kern="1200"/>
                        <a:t>선택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</a:t>
                      </a:r>
                      <a:r>
                        <a:rPr lang="ko-KR" altLang="en-US" sz="1200" kern="1200" dirty="0" err="1"/>
                        <a:t>출원서</a:t>
                      </a:r>
                      <a:r>
                        <a:rPr lang="ko-KR" altLang="en-US" sz="1200" kern="1200" dirty="0"/>
                        <a:t> 제출로 </a:t>
                      </a:r>
                      <a:r>
                        <a:rPr lang="ko-KR" altLang="en-US" sz="1200" kern="1200" dirty="0" err="1"/>
                        <a:t>출원일의</a:t>
                      </a:r>
                      <a:r>
                        <a:rPr lang="ko-KR" altLang="en-US" sz="1200" kern="1200" dirty="0"/>
                        <a:t> 모든 체약국의 지정을 구성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청구서 제출로 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조약 제</a:t>
                      </a:r>
                      <a:r>
                        <a:rPr lang="en-US" altLang="ko-KR" sz="1200" kern="12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장에 구속</a:t>
                      </a:r>
                      <a:r>
                        <a:rPr lang="ko-KR" altLang="en-US" sz="1200" kern="1200" dirty="0"/>
                        <a:t>되는 모든 </a:t>
                      </a:r>
                      <a:r>
                        <a:rPr lang="ko-KR" altLang="en-US" sz="1200" kern="1200" dirty="0" err="1"/>
                        <a:t>지정국의</a:t>
                      </a:r>
                      <a:r>
                        <a:rPr lang="ko-KR" altLang="en-US" sz="1200" kern="1200" dirty="0"/>
                        <a:t> 선택을 구성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extLst>
                  <a:ext uri="{0D108BD9-81ED-4DB2-BD59-A6C34878D82A}">
                    <a16:rowId xmlns:a16="http://schemas.microsoft.com/office/drawing/2014/main" val="790369581"/>
                  </a:ext>
                </a:extLst>
              </a:tr>
              <a:tr h="4170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의견교환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불리한 보고서 작성 전에 </a:t>
                      </a:r>
                      <a:r>
                        <a:rPr lang="ko-KR" altLang="en-US" sz="1200" kern="1200" dirty="0" err="1"/>
                        <a:t>예고받을</a:t>
                      </a:r>
                      <a:r>
                        <a:rPr lang="ko-KR" altLang="en-US" sz="1200" kern="1200" dirty="0"/>
                        <a:t> 권리가 없으며 원칙적으로 국제조사기관과 </a:t>
                      </a:r>
                      <a:r>
                        <a:rPr lang="ko-KR" altLang="en-US" sz="1200" kern="1200" dirty="0" err="1"/>
                        <a:t>출원인간의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의견교환 </a:t>
                      </a:r>
                      <a:r>
                        <a:rPr lang="ko-KR" altLang="en-US" sz="1200" kern="1200" dirty="0" err="1">
                          <a:highlight>
                            <a:srgbClr val="FFFF00"/>
                          </a:highlight>
                        </a:rPr>
                        <a:t>불허용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0488" marR="31750" indent="-90488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 ▪불리한 보고서 작성 전에 </a:t>
                      </a:r>
                      <a:r>
                        <a:rPr lang="ko-KR" altLang="en-US" sz="1200" kern="1200" dirty="0" err="1"/>
                        <a:t>예고받을</a:t>
                      </a:r>
                      <a:r>
                        <a:rPr lang="ko-KR" altLang="en-US" sz="1200" kern="1200" dirty="0"/>
                        <a:t> 권리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견해서 송부</a:t>
                      </a:r>
                      <a:r>
                        <a:rPr lang="en-US" altLang="ko-KR" sz="1200" kern="1200" dirty="0"/>
                        <a:t>)</a:t>
                      </a:r>
                      <a:r>
                        <a:rPr lang="ko-KR" altLang="en-US" sz="1200" kern="1200" dirty="0"/>
                        <a:t>있으며 국제예비심사기관과 </a:t>
                      </a:r>
                      <a:r>
                        <a:rPr lang="ko-KR" altLang="en-US" sz="1200" kern="1200" dirty="0" err="1"/>
                        <a:t>출원인간의</a:t>
                      </a:r>
                      <a:r>
                        <a:rPr lang="ko-KR" altLang="en-US" sz="1200" kern="1200" dirty="0"/>
                        <a:t> 구두 또는 서면에 의한 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의견교환 허용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14605" marT="14605" marB="14605" anchor="ctr"/>
                </a:tc>
                <a:extLst>
                  <a:ext uri="{0D108BD9-81ED-4DB2-BD59-A6C34878D82A}">
                    <a16:rowId xmlns:a16="http://schemas.microsoft.com/office/drawing/2014/main" val="3303866100"/>
                  </a:ext>
                </a:extLst>
              </a:tr>
              <a:tr h="4170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보정의 범위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▪ 국제조사 보고서를 </a:t>
                      </a:r>
                      <a:r>
                        <a:rPr lang="ko-KR" altLang="en-US" sz="1200" kern="1200" dirty="0" err="1">
                          <a:highlight>
                            <a:srgbClr val="FFFF00"/>
                          </a:highlight>
                        </a:rPr>
                        <a:t>송달받은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 후 국제사무국에 대하여 </a:t>
                      </a:r>
                      <a:r>
                        <a:rPr lang="en-US" altLang="ko-KR" sz="1200" kern="12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회에 한해 </a:t>
                      </a:r>
                      <a:r>
                        <a:rPr lang="ko-KR" altLang="en-US" sz="1200" kern="1200" dirty="0" err="1">
                          <a:highlight>
                            <a:srgbClr val="FFFF00"/>
                          </a:highlight>
                        </a:rPr>
                        <a:t>청구범위에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 대하여 보정</a:t>
                      </a:r>
                      <a:r>
                        <a:rPr lang="en-US" altLang="ko-KR" sz="1200" kern="1200" dirty="0">
                          <a:highlight>
                            <a:srgbClr val="FFFF00"/>
                          </a:highlight>
                        </a:rPr>
                        <a:t>(PCT 19)</a:t>
                      </a:r>
                      <a:endParaRPr lang="ko-KR" altLang="en-US" sz="1200" kern="1200" dirty="0">
                        <a:highlight>
                          <a:srgbClr val="FFFF00"/>
                        </a:highlight>
                      </a:endParaRPr>
                    </a:p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동시에 설명서 제출 가능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▪ 국제예비심사 보고서가 작성 전까지 국제예비심사기관에 대하여 </a:t>
                      </a:r>
                      <a:r>
                        <a:rPr lang="ko-KR" altLang="en-US" sz="1200" kern="1200" dirty="0" err="1">
                          <a:highlight>
                            <a:srgbClr val="FFFF00"/>
                          </a:highlight>
                        </a:rPr>
                        <a:t>청구범위</a:t>
                      </a:r>
                      <a:r>
                        <a:rPr lang="en-US" altLang="ko-KR" sz="1200" kern="1200" dirty="0">
                          <a:highlight>
                            <a:srgbClr val="FFFF00"/>
                          </a:highlight>
                        </a:rPr>
                        <a:t>, 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발명의 설명 및 도면에 대하여 횟수의 제한없이 보정</a:t>
                      </a:r>
                      <a:r>
                        <a:rPr lang="en-US" altLang="ko-KR" sz="1200" kern="1200" dirty="0">
                          <a:highlight>
                            <a:srgbClr val="FFFF00"/>
                          </a:highlight>
                        </a:rPr>
                        <a:t>(PCT 34)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extLst>
                  <a:ext uri="{0D108BD9-81ED-4DB2-BD59-A6C34878D82A}">
                    <a16:rowId xmlns:a16="http://schemas.microsoft.com/office/drawing/2014/main" val="2125738142"/>
                  </a:ext>
                </a:extLst>
              </a:tr>
              <a:tr h="75823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발명의 단일성 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추가수수료의 납부를 요구</a:t>
                      </a:r>
                    </a:p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</a:t>
                      </a:r>
                      <a:r>
                        <a:rPr lang="ko-KR" altLang="en-US" sz="1200" kern="1200" dirty="0" err="1"/>
                        <a:t>주발명에</a:t>
                      </a:r>
                      <a:r>
                        <a:rPr lang="ko-KR" altLang="en-US" sz="1200" kern="1200" dirty="0"/>
                        <a:t> 관계되는 국제출원 부분과 추가수수료가 소정의 기간에 지불된 발명에 관계되는 국제출원 부분에 관하여 국제조사보고서를 작성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</a:t>
                      </a:r>
                      <a:r>
                        <a:rPr lang="ko-KR" altLang="en-US" sz="1200" kern="1200" dirty="0" err="1"/>
                        <a:t>출원인에게</a:t>
                      </a:r>
                      <a:r>
                        <a:rPr lang="ko-KR" altLang="en-US" sz="1200" kern="1200" dirty="0"/>
                        <a:t> 그의 선택에 따라 요건을 충족하도록 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청구범위를 제한</a:t>
                      </a:r>
                      <a:r>
                        <a:rPr lang="ko-KR" altLang="en-US" sz="1200" kern="1200" dirty="0"/>
                        <a:t>하거나 추가수수료를 낼 것을 요구 </a:t>
                      </a:r>
                    </a:p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</a:t>
                      </a:r>
                      <a:r>
                        <a:rPr lang="ko-KR" altLang="en-US" sz="1200" kern="1200" dirty="0" err="1"/>
                        <a:t>주발명에</a:t>
                      </a:r>
                      <a:r>
                        <a:rPr lang="ko-KR" altLang="en-US" sz="1200" kern="1200" dirty="0"/>
                        <a:t> 관계되는 국제출원 부분과 추가수수료가 소정의 기간에 지불된 발명에 관계되는 국제출원 부분에 관하여 국제예비심사보고서를 작성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extLst>
                  <a:ext uri="{0D108BD9-81ED-4DB2-BD59-A6C34878D82A}">
                    <a16:rowId xmlns:a16="http://schemas.microsoft.com/office/drawing/2014/main" val="102298458"/>
                  </a:ext>
                </a:extLst>
              </a:tr>
              <a:tr h="32732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공개여부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502" marR="14502" marT="14502" marB="14502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국제조사보고서와 견해서는 </a:t>
                      </a:r>
                      <a:r>
                        <a:rPr lang="ko-KR" altLang="en-US" sz="1200" kern="1200" dirty="0" err="1"/>
                        <a:t>국제출원의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ko-KR" altLang="en-US" sz="1200" kern="1200" dirty="0" err="1"/>
                        <a:t>공개시에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전자적 형태로 공개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국제예비심사보고서는 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비공개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 err="1"/>
                        <a:t>선택관청은</a:t>
                      </a:r>
                      <a:r>
                        <a:rPr lang="ko-KR" altLang="en-US" sz="1200" kern="1200" dirty="0"/>
                        <a:t> 제외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extLst>
                  <a:ext uri="{0D108BD9-81ED-4DB2-BD59-A6C34878D82A}">
                    <a16:rowId xmlns:a16="http://schemas.microsoft.com/office/drawing/2014/main" val="1524572152"/>
                  </a:ext>
                </a:extLst>
              </a:tr>
              <a:tr h="287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종료형식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국제조사보고서의 작성 또는 국제조사보고서를 작성하지 아니한다는 선언 </a:t>
                      </a:r>
                      <a:r>
                        <a:rPr lang="en-US" altLang="ko-KR" sz="1200" kern="1200" dirty="0"/>
                        <a:t>/ </a:t>
                      </a:r>
                      <a:r>
                        <a:rPr lang="ko-KR" altLang="en-US" sz="1200" kern="1200" dirty="0" err="1"/>
                        <a:t>견해서의</a:t>
                      </a:r>
                      <a:r>
                        <a:rPr lang="ko-KR" altLang="en-US" sz="1200" kern="1200" dirty="0"/>
                        <a:t> 작성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국제예비심사보고서의 작성 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extLst>
                  <a:ext uri="{0D108BD9-81ED-4DB2-BD59-A6C34878D82A}">
                    <a16:rowId xmlns:a16="http://schemas.microsoft.com/office/drawing/2014/main" val="4287133499"/>
                  </a:ext>
                </a:extLst>
              </a:tr>
            </a:tbl>
          </a:graphicData>
        </a:graphic>
      </p:graphicFrame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198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국제조사와</a:t>
            </a:r>
            <a:r>
              <a:rPr lang="ko-KR" altLang="en-US" dirty="0"/>
              <a:t> 국제예비심사의 비교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561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801943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199</a:t>
            </a:r>
            <a:r>
              <a:rPr lang="ko-KR" altLang="en-US" dirty="0"/>
              <a:t>조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국제출원에 의한 특허출원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875" y="976902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199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국제출원에 의한 특허출원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「특허협력조약」에 따라 </a:t>
            </a:r>
            <a:r>
              <a:rPr lang="ko-KR" altLang="en-US" sz="1400" dirty="0" err="1">
                <a:solidFill>
                  <a:schemeClr val="tx2"/>
                </a:solidFill>
              </a:rPr>
              <a:t>국제출원일이</a:t>
            </a:r>
            <a:r>
              <a:rPr lang="ko-KR" altLang="en-US" sz="1400" dirty="0">
                <a:solidFill>
                  <a:schemeClr val="tx2"/>
                </a:solidFill>
              </a:rPr>
              <a:t> 인정된 국제출원으로서 특허를 받기 위하여 대한민국을 </a:t>
            </a:r>
            <a:r>
              <a:rPr lang="ko-KR" altLang="en-US" sz="1400" dirty="0" err="1">
                <a:solidFill>
                  <a:schemeClr val="tx2"/>
                </a:solidFill>
              </a:rPr>
              <a:t>지정국으로</a:t>
            </a:r>
            <a:r>
              <a:rPr lang="ko-KR" altLang="en-US" sz="1400" dirty="0">
                <a:solidFill>
                  <a:schemeClr val="tx2"/>
                </a:solidFill>
              </a:rPr>
              <a:t> 지정한 국제출원은 그 </a:t>
            </a:r>
            <a:r>
              <a:rPr lang="ko-KR" altLang="en-US" sz="1400" dirty="0" err="1">
                <a:solidFill>
                  <a:schemeClr val="tx2"/>
                </a:solidFill>
              </a:rPr>
              <a:t>국제출원일에</a:t>
            </a:r>
            <a:r>
              <a:rPr lang="ko-KR" altLang="en-US" sz="1400" dirty="0">
                <a:solidFill>
                  <a:schemeClr val="tx2"/>
                </a:solidFill>
              </a:rPr>
              <a:t> 출원된 특허출원으로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특허출원으로 보는 국제출원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국제특허출원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이라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관하여는 제</a:t>
            </a:r>
            <a:r>
              <a:rPr lang="en-US" altLang="ko-KR" sz="1400" dirty="0">
                <a:solidFill>
                  <a:schemeClr val="tx2"/>
                </a:solidFill>
              </a:rPr>
              <a:t>42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 </a:t>
            </a:r>
            <a:r>
              <a:rPr lang="ko-KR" altLang="en-US" sz="1400" dirty="0">
                <a:solidFill>
                  <a:schemeClr val="tx2"/>
                </a:solidFill>
              </a:rPr>
              <a:t>및 제</a:t>
            </a:r>
            <a:r>
              <a:rPr lang="en-US" altLang="ko-KR" sz="1400" dirty="0">
                <a:solidFill>
                  <a:schemeClr val="tx2"/>
                </a:solidFill>
              </a:rPr>
              <a:t>54</a:t>
            </a:r>
            <a:r>
              <a:rPr lang="ko-KR" altLang="en-US" sz="1400" dirty="0">
                <a:solidFill>
                  <a:schemeClr val="tx2"/>
                </a:solidFill>
              </a:rPr>
              <a:t>조를 적용하지 아니한다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en-US" altLang="ko-KR" sz="1400" dirty="0">
              <a:solidFill>
                <a:schemeClr val="tx2"/>
              </a:solidFill>
              <a:effectLst/>
            </a:endParaRPr>
          </a:p>
        </p:txBody>
      </p:sp>
      <p:cxnSp>
        <p:nvCxnSpPr>
          <p:cNvPr id="43" name="직선 연결선 42"/>
          <p:cNvCxnSpPr/>
          <p:nvPr/>
        </p:nvCxnSpPr>
        <p:spPr>
          <a:xfrm>
            <a:off x="77875" y="174490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14"/>
          <p:cNvSpPr>
            <a:spLocks noChangeArrowheads="1"/>
          </p:cNvSpPr>
          <p:nvPr/>
        </p:nvSpPr>
        <p:spPr bwMode="auto">
          <a:xfrm>
            <a:off x="734419" y="3511854"/>
            <a:ext cx="1297582" cy="87188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285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b="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b="0" dirty="0">
                <a:solidFill>
                  <a:schemeClr val="bg1"/>
                </a:solidFill>
                <a:latin typeface="+mj-ea"/>
                <a:ea typeface="+mj-ea"/>
              </a:rPr>
              <a:t>199</a:t>
            </a:r>
            <a:r>
              <a:rPr lang="ko-KR" altLang="en-US" b="0" dirty="0">
                <a:solidFill>
                  <a:schemeClr val="bg1"/>
                </a:solidFill>
                <a:latin typeface="+mj-ea"/>
                <a:ea typeface="+mj-ea"/>
              </a:rPr>
              <a:t>조</a:t>
            </a:r>
            <a:endParaRPr lang="en-US" altLang="ko-KR" b="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항</a:t>
            </a:r>
            <a:endParaRPr lang="ko-KR" altLang="en-US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2503553" y="2617724"/>
            <a:ext cx="3283301" cy="2665476"/>
            <a:chOff x="2503553" y="3065018"/>
            <a:chExt cx="3283301" cy="1770888"/>
          </a:xfrm>
        </p:grpSpPr>
        <p:sp>
          <p:nvSpPr>
            <p:cNvPr id="54" name="Rectangle 14"/>
            <p:cNvSpPr>
              <a:spLocks noChangeArrowheads="1"/>
            </p:cNvSpPr>
            <p:nvPr/>
          </p:nvSpPr>
          <p:spPr bwMode="auto">
            <a:xfrm>
              <a:off x="2503554" y="3065018"/>
              <a:ext cx="3274946" cy="3611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square" anchor="ctr"/>
            <a:lstStyle/>
            <a:p>
              <a:pPr algn="ctr"/>
              <a:r>
                <a:rPr lang="ko-KR" altLang="en-US" b="0" dirty="0">
                  <a:latin typeface="+mj-ea"/>
                  <a:ea typeface="+mj-ea"/>
                </a:rPr>
                <a:t>제</a:t>
              </a:r>
              <a:r>
                <a:rPr lang="en-US" altLang="ko-KR" b="0" dirty="0">
                  <a:latin typeface="+mj-ea"/>
                  <a:ea typeface="+mj-ea"/>
                </a:rPr>
                <a:t>42</a:t>
              </a:r>
              <a:r>
                <a:rPr lang="ko-KR" altLang="en-US" b="0" dirty="0">
                  <a:latin typeface="+mj-ea"/>
                  <a:ea typeface="+mj-ea"/>
                </a:rPr>
                <a:t>조의</a:t>
              </a:r>
              <a:r>
                <a:rPr lang="en-US" altLang="ko-KR" b="0" dirty="0">
                  <a:latin typeface="+mj-ea"/>
                  <a:ea typeface="+mj-ea"/>
                </a:rPr>
                <a:t>2(</a:t>
              </a:r>
              <a:r>
                <a:rPr lang="ko-KR" altLang="en-US" b="0" dirty="0">
                  <a:latin typeface="+mj-ea"/>
                  <a:ea typeface="+mj-ea"/>
                </a:rPr>
                <a:t>청구범위제출유예</a:t>
              </a:r>
              <a:r>
                <a:rPr lang="en-US" altLang="ko-KR" b="0" dirty="0">
                  <a:latin typeface="+mj-ea"/>
                  <a:ea typeface="+mj-ea"/>
                </a:rPr>
                <a:t>)</a:t>
              </a:r>
              <a:endParaRPr lang="ko-KR" altLang="en-US" b="0" dirty="0">
                <a:latin typeface="+mj-ea"/>
                <a:ea typeface="+mj-ea"/>
              </a:endParaRPr>
            </a:p>
          </p:txBody>
        </p:sp>
        <p:sp>
          <p:nvSpPr>
            <p:cNvPr id="55" name="Rectangle 14"/>
            <p:cNvSpPr>
              <a:spLocks noChangeArrowheads="1"/>
            </p:cNvSpPr>
            <p:nvPr/>
          </p:nvSpPr>
          <p:spPr bwMode="auto">
            <a:xfrm>
              <a:off x="2503553" y="3769125"/>
              <a:ext cx="3283301" cy="3583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square" anchor="ctr"/>
            <a:lstStyle/>
            <a:p>
              <a:pPr algn="ctr"/>
              <a:r>
                <a:rPr lang="ko-KR" altLang="en-US" b="0" dirty="0">
                  <a:latin typeface="+mj-ea"/>
                  <a:ea typeface="+mj-ea"/>
                </a:rPr>
                <a:t>제</a:t>
              </a:r>
              <a:r>
                <a:rPr lang="en-US" altLang="ko-KR" b="0" dirty="0">
                  <a:latin typeface="+mj-ea"/>
                  <a:ea typeface="+mj-ea"/>
                </a:rPr>
                <a:t>42</a:t>
              </a:r>
              <a:r>
                <a:rPr lang="ko-KR" altLang="en-US" b="0" dirty="0">
                  <a:latin typeface="+mj-ea"/>
                  <a:ea typeface="+mj-ea"/>
                </a:rPr>
                <a:t>조의</a:t>
              </a:r>
              <a:r>
                <a:rPr lang="en-US" altLang="ko-KR" b="0" dirty="0">
                  <a:latin typeface="+mj-ea"/>
                  <a:ea typeface="+mj-ea"/>
                </a:rPr>
                <a:t>3(</a:t>
              </a:r>
              <a:r>
                <a:rPr lang="ko-KR" altLang="en-US" b="0" dirty="0">
                  <a:latin typeface="+mj-ea"/>
                  <a:ea typeface="+mj-ea"/>
                </a:rPr>
                <a:t>외국어특허출원</a:t>
              </a:r>
              <a:r>
                <a:rPr lang="en-US" altLang="ko-KR" b="0" dirty="0">
                  <a:latin typeface="+mj-ea"/>
                  <a:ea typeface="+mj-ea"/>
                </a:rPr>
                <a:t>)</a:t>
              </a:r>
            </a:p>
          </p:txBody>
        </p:sp>
        <p:sp>
          <p:nvSpPr>
            <p:cNvPr id="57" name="Rectangle 14"/>
            <p:cNvSpPr>
              <a:spLocks noChangeArrowheads="1"/>
            </p:cNvSpPr>
            <p:nvPr/>
          </p:nvSpPr>
          <p:spPr bwMode="auto">
            <a:xfrm>
              <a:off x="2503554" y="4474718"/>
              <a:ext cx="3274946" cy="3611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square" anchor="ctr"/>
            <a:lstStyle/>
            <a:p>
              <a:pPr algn="ctr"/>
              <a:r>
                <a:rPr lang="ko-KR" altLang="en-US" b="0" dirty="0">
                  <a:latin typeface="+mj-ea"/>
                  <a:ea typeface="+mj-ea"/>
                </a:rPr>
                <a:t>제</a:t>
              </a:r>
              <a:r>
                <a:rPr lang="en-US" altLang="ko-KR" b="0" dirty="0">
                  <a:latin typeface="+mj-ea"/>
                  <a:ea typeface="+mj-ea"/>
                </a:rPr>
                <a:t>54</a:t>
              </a:r>
              <a:r>
                <a:rPr lang="ko-KR" altLang="en-US" b="0" dirty="0">
                  <a:latin typeface="+mj-ea"/>
                  <a:ea typeface="+mj-ea"/>
                </a:rPr>
                <a:t>조</a:t>
              </a:r>
              <a:r>
                <a:rPr lang="en-US" altLang="ko-KR" dirty="0">
                  <a:latin typeface="+mj-ea"/>
                  <a:ea typeface="+mj-ea"/>
                </a:rPr>
                <a:t>(</a:t>
              </a:r>
              <a:r>
                <a:rPr lang="ko-KR" altLang="en-US" dirty="0">
                  <a:latin typeface="+mj-ea"/>
                  <a:ea typeface="+mj-ea"/>
                </a:rPr>
                <a:t>조약우선권주장출원</a:t>
              </a:r>
              <a:r>
                <a:rPr lang="en-US" altLang="ko-KR" dirty="0">
                  <a:latin typeface="+mj-ea"/>
                  <a:ea typeface="+mj-ea"/>
                </a:rPr>
                <a:t>)</a:t>
              </a:r>
              <a:endParaRPr lang="ko-KR" altLang="en-US" b="0" dirty="0">
                <a:latin typeface="+mj-ea"/>
                <a:ea typeface="+mj-ea"/>
              </a:endParaRPr>
            </a:p>
          </p:txBody>
        </p:sp>
      </p:grpSp>
      <p:cxnSp>
        <p:nvCxnSpPr>
          <p:cNvPr id="3" name="꺾인 연결선 2"/>
          <p:cNvCxnSpPr>
            <a:stCxn id="49" idx="3"/>
            <a:endCxn id="54" idx="1"/>
          </p:cNvCxnSpPr>
          <p:nvPr/>
        </p:nvCxnSpPr>
        <p:spPr>
          <a:xfrm flipV="1">
            <a:off x="2032001" y="2889548"/>
            <a:ext cx="471553" cy="105824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꺾인 연결선 4"/>
          <p:cNvCxnSpPr>
            <a:stCxn id="49" idx="3"/>
            <a:endCxn id="57" idx="1"/>
          </p:cNvCxnSpPr>
          <p:nvPr/>
        </p:nvCxnSpPr>
        <p:spPr>
          <a:xfrm>
            <a:off x="2032001" y="3947797"/>
            <a:ext cx="471553" cy="10635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꺾인 연결선 10"/>
          <p:cNvCxnSpPr>
            <a:stCxn id="49" idx="3"/>
            <a:endCxn id="55" idx="1"/>
          </p:cNvCxnSpPr>
          <p:nvPr/>
        </p:nvCxnSpPr>
        <p:spPr>
          <a:xfrm flipV="1">
            <a:off x="2032001" y="3947227"/>
            <a:ext cx="471552" cy="5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14"/>
          <p:cNvSpPr>
            <a:spLocks noChangeArrowheads="1"/>
          </p:cNvSpPr>
          <p:nvPr/>
        </p:nvSpPr>
        <p:spPr bwMode="auto">
          <a:xfrm>
            <a:off x="5875754" y="2617724"/>
            <a:ext cx="5287545" cy="5436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/>
          <a:lstStyle/>
          <a:p>
            <a:pPr fontAlgn="base"/>
            <a:r>
              <a:rPr lang="ko-KR" altLang="en-US" dirty="0"/>
              <a:t>국제특허출원은 출원할 때 청구범위를 적지 아니하면 보완사유</a:t>
            </a:r>
            <a:r>
              <a:rPr lang="en-US" altLang="ko-KR" dirty="0"/>
              <a:t>(</a:t>
            </a:r>
            <a:r>
              <a:rPr lang="ko-KR" altLang="en-US" dirty="0"/>
              <a:t>法 </a:t>
            </a:r>
            <a:r>
              <a:rPr lang="en-US" altLang="ko-KR" dirty="0"/>
              <a:t>194</a:t>
            </a:r>
            <a:r>
              <a:rPr lang="ko-KR" altLang="en-US" dirty="0"/>
              <a:t>①각호</a:t>
            </a:r>
            <a:r>
              <a:rPr lang="en-US" altLang="ko-KR" dirty="0"/>
              <a:t>)</a:t>
            </a:r>
            <a:r>
              <a:rPr lang="ko-KR" altLang="en-US" dirty="0"/>
              <a:t>에 해당</a:t>
            </a:r>
          </a:p>
        </p:txBody>
      </p:sp>
      <p:sp>
        <p:nvSpPr>
          <p:cNvPr id="41" name="Rectangle 14"/>
          <p:cNvSpPr>
            <a:spLocks noChangeArrowheads="1"/>
          </p:cNvSpPr>
          <p:nvPr/>
        </p:nvSpPr>
        <p:spPr bwMode="auto">
          <a:xfrm>
            <a:off x="5875754" y="3677520"/>
            <a:ext cx="5301035" cy="5394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/>
          <a:lstStyle/>
          <a:p>
            <a:pPr fontAlgn="base"/>
            <a:r>
              <a:rPr lang="ko-KR" altLang="en-US" dirty="0"/>
              <a:t>외국어국제특허출원은 국어번역문 제출과 관련하여 </a:t>
            </a:r>
            <a:endParaRPr lang="en-US" altLang="ko-KR" dirty="0"/>
          </a:p>
          <a:p>
            <a:pPr fontAlgn="base"/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조에서 별도로 규정</a:t>
            </a:r>
          </a:p>
        </p:txBody>
      </p: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5875754" y="4739553"/>
            <a:ext cx="5287545" cy="5436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/>
          <a:lstStyle/>
          <a:p>
            <a:r>
              <a:rPr lang="en-US" altLang="ko-KR" dirty="0">
                <a:latin typeface="+mj-ea"/>
                <a:ea typeface="+mj-ea"/>
              </a:rPr>
              <a:t>PCT </a:t>
            </a:r>
            <a:r>
              <a:rPr lang="ko-KR" altLang="en-US" dirty="0">
                <a:latin typeface="+mj-ea"/>
                <a:ea typeface="+mj-ea"/>
              </a:rPr>
              <a:t>제</a:t>
            </a:r>
            <a:r>
              <a:rPr lang="en-US" altLang="ko-KR" dirty="0">
                <a:latin typeface="+mj-ea"/>
                <a:ea typeface="+mj-ea"/>
              </a:rPr>
              <a:t>8</a:t>
            </a:r>
            <a:r>
              <a:rPr lang="ko-KR" altLang="en-US" dirty="0">
                <a:latin typeface="+mj-ea"/>
                <a:ea typeface="+mj-ea"/>
              </a:rPr>
              <a:t>조</a:t>
            </a:r>
            <a:r>
              <a:rPr lang="en-US" altLang="ko-KR" dirty="0">
                <a:latin typeface="+mj-ea"/>
                <a:ea typeface="+mj-ea"/>
              </a:rPr>
              <a:t>(1)</a:t>
            </a:r>
            <a:r>
              <a:rPr lang="ko-KR" altLang="en-US" dirty="0">
                <a:latin typeface="+mj-ea"/>
                <a:ea typeface="+mj-ea"/>
              </a:rPr>
              <a:t>과 제</a:t>
            </a:r>
            <a:r>
              <a:rPr lang="en-US" altLang="ko-KR" dirty="0">
                <a:latin typeface="+mj-ea"/>
                <a:ea typeface="+mj-ea"/>
              </a:rPr>
              <a:t>8</a:t>
            </a:r>
            <a:r>
              <a:rPr lang="ko-KR" altLang="en-US" dirty="0">
                <a:latin typeface="+mj-ea"/>
                <a:ea typeface="+mj-ea"/>
              </a:rPr>
              <a:t>조</a:t>
            </a:r>
            <a:r>
              <a:rPr lang="en-US" altLang="ko-KR" dirty="0">
                <a:latin typeface="+mj-ea"/>
                <a:ea typeface="+mj-ea"/>
              </a:rPr>
              <a:t>(2)(a)</a:t>
            </a:r>
            <a:r>
              <a:rPr lang="ko-KR" altLang="en-US" dirty="0">
                <a:latin typeface="+mj-ea"/>
                <a:ea typeface="+mj-ea"/>
              </a:rPr>
              <a:t>에 의함</a:t>
            </a:r>
            <a:endParaRPr lang="ko-KR" altLang="en-US" b="0" dirty="0">
              <a:latin typeface="+mj-ea"/>
              <a:ea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562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474354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200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국제특허출원의 출원서 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875" y="976902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200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조의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2(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국제특허출원의 출원서 등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)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국제출원일까지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제출된 출원서는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따라 제출된 특허출원서로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국제출원일까지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제출된 발명의 설명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청구범위 및 도면은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최초로 첨부된 명세서 및 도면으로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국제특허출원에 대해서는 다음 각 호의 구분에 따른 요약서 또는 국어번역문을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따른 요약서로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요약서를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국어로 적은 경우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국제특허출원의 요약서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요약서를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외국어로 적은 경우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201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따라 제출된 국제특허출원의 요약서의 국어번역문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201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본문에 따라 새로운 국어번역문을 제출한 경우에는 마지막에 제출한 국제특허출원의 요약서의 국어번역문을 말한다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4207339" y="2801325"/>
            <a:ext cx="32729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5030854" y="2565762"/>
            <a:ext cx="1574619" cy="482406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b="0">
                <a:solidFill>
                  <a:schemeClr val="bg1"/>
                </a:solidFill>
                <a:latin typeface="+mj-ea"/>
                <a:ea typeface="+mj-ea"/>
              </a:rPr>
              <a:t>국제출원일</a:t>
            </a:r>
            <a:endParaRPr lang="ko-KR" altLang="en-US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5030854" y="3880974"/>
            <a:ext cx="1574619" cy="361188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r>
              <a:rPr lang="ko-KR" altLang="en-US" dirty="0">
                <a:latin typeface="+mj-ea"/>
                <a:ea typeface="+mj-ea"/>
              </a:rPr>
              <a:t>출원서</a:t>
            </a:r>
            <a:endParaRPr lang="ko-KR" altLang="en-US" b="0" dirty="0">
              <a:latin typeface="+mj-ea"/>
              <a:ea typeface="+mj-ea"/>
            </a:endParaRPr>
          </a:p>
        </p:txBody>
      </p:sp>
      <p:sp>
        <p:nvSpPr>
          <p:cNvPr id="37" name="Rectangle 14"/>
          <p:cNvSpPr>
            <a:spLocks noChangeArrowheads="1"/>
          </p:cNvSpPr>
          <p:nvPr/>
        </p:nvSpPr>
        <p:spPr bwMode="auto">
          <a:xfrm>
            <a:off x="5030854" y="4343780"/>
            <a:ext cx="1578636" cy="914381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t"/>
          <a:lstStyle/>
          <a:p>
            <a:r>
              <a:rPr lang="ko-KR" altLang="en-US" dirty="0">
                <a:latin typeface="+mj-ea"/>
                <a:ea typeface="+mj-ea"/>
              </a:rPr>
              <a:t>발명의 설명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b="0" dirty="0">
                <a:latin typeface="+mj-ea"/>
                <a:ea typeface="+mj-ea"/>
              </a:rPr>
              <a:t>청구범위</a:t>
            </a:r>
            <a:endParaRPr lang="en-US" altLang="ko-KR" b="0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도면</a:t>
            </a:r>
            <a:endParaRPr lang="en-US" altLang="ko-KR" b="0" dirty="0">
              <a:latin typeface="+mj-ea"/>
              <a:ea typeface="+mj-ea"/>
            </a:endParaRPr>
          </a:p>
        </p:txBody>
      </p:sp>
      <p:cxnSp>
        <p:nvCxnSpPr>
          <p:cNvPr id="43" name="직선 연결선 42"/>
          <p:cNvCxnSpPr/>
          <p:nvPr/>
        </p:nvCxnSpPr>
        <p:spPr>
          <a:xfrm>
            <a:off x="77875" y="237883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14"/>
          <p:cNvSpPr>
            <a:spLocks noChangeArrowheads="1"/>
          </p:cNvSpPr>
          <p:nvPr/>
        </p:nvSpPr>
        <p:spPr bwMode="auto">
          <a:xfrm>
            <a:off x="5030854" y="3315062"/>
            <a:ext cx="1574619" cy="4824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b="0" dirty="0">
                <a:solidFill>
                  <a:schemeClr val="tx2"/>
                </a:solidFill>
                <a:latin typeface="+mj-ea"/>
                <a:ea typeface="+mj-ea"/>
              </a:rPr>
              <a:t>국제특허출원</a:t>
            </a:r>
          </a:p>
        </p:txBody>
      </p:sp>
      <p:cxnSp>
        <p:nvCxnSpPr>
          <p:cNvPr id="7" name="직선 화살표 연결선 6"/>
          <p:cNvCxnSpPr>
            <a:stCxn id="45" idx="0"/>
            <a:endCxn id="22" idx="2"/>
          </p:cNvCxnSpPr>
          <p:nvPr/>
        </p:nvCxnSpPr>
        <p:spPr>
          <a:xfrm flipV="1">
            <a:off x="5818164" y="3048168"/>
            <a:ext cx="0" cy="26689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14"/>
          <p:cNvSpPr>
            <a:spLocks noChangeArrowheads="1"/>
          </p:cNvSpPr>
          <p:nvPr/>
        </p:nvSpPr>
        <p:spPr bwMode="auto">
          <a:xfrm>
            <a:off x="9882254" y="3315062"/>
            <a:ext cx="1574619" cy="4824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b="0" dirty="0">
                <a:solidFill>
                  <a:schemeClr val="tx2"/>
                </a:solidFill>
                <a:latin typeface="+mj-ea"/>
                <a:ea typeface="+mj-ea"/>
              </a:rPr>
              <a:t>국내출원</a:t>
            </a:r>
          </a:p>
        </p:txBody>
      </p:sp>
      <p:sp>
        <p:nvSpPr>
          <p:cNvPr id="53" name="Rectangle 14"/>
          <p:cNvSpPr>
            <a:spLocks noChangeArrowheads="1"/>
          </p:cNvSpPr>
          <p:nvPr/>
        </p:nvSpPr>
        <p:spPr bwMode="auto">
          <a:xfrm>
            <a:off x="5030854" y="5544674"/>
            <a:ext cx="1574619" cy="361188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r>
              <a:rPr lang="ko-KR" altLang="en-US" b="0" dirty="0">
                <a:latin typeface="+mj-ea"/>
                <a:ea typeface="+mj-ea"/>
              </a:rPr>
              <a:t>요약서</a:t>
            </a:r>
          </a:p>
        </p:txBody>
      </p:sp>
      <p:sp>
        <p:nvSpPr>
          <p:cNvPr id="54" name="Rectangle 14"/>
          <p:cNvSpPr>
            <a:spLocks noChangeArrowheads="1"/>
          </p:cNvSpPr>
          <p:nvPr/>
        </p:nvSpPr>
        <p:spPr bwMode="auto">
          <a:xfrm>
            <a:off x="9878237" y="3880974"/>
            <a:ext cx="1574619" cy="361188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r>
              <a:rPr lang="ko-KR" altLang="en-US" dirty="0">
                <a:latin typeface="+mj-ea"/>
                <a:ea typeface="+mj-ea"/>
              </a:rPr>
              <a:t>출원서</a:t>
            </a:r>
            <a:endParaRPr lang="ko-KR" altLang="en-US" b="0" dirty="0">
              <a:latin typeface="+mj-ea"/>
              <a:ea typeface="+mj-ea"/>
            </a:endParaRPr>
          </a:p>
        </p:txBody>
      </p:sp>
      <p:sp>
        <p:nvSpPr>
          <p:cNvPr id="55" name="Rectangle 14"/>
          <p:cNvSpPr>
            <a:spLocks noChangeArrowheads="1"/>
          </p:cNvSpPr>
          <p:nvPr/>
        </p:nvSpPr>
        <p:spPr bwMode="auto">
          <a:xfrm>
            <a:off x="9878237" y="4343781"/>
            <a:ext cx="1578636" cy="914380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r>
              <a:rPr lang="ko-KR" altLang="en-US" b="0" dirty="0">
                <a:latin typeface="+mj-ea"/>
                <a:ea typeface="+mj-ea"/>
              </a:rPr>
              <a:t>최초로 첨부한 명세서 및 도면</a:t>
            </a:r>
            <a:endParaRPr lang="en-US" altLang="ko-KR" b="0" dirty="0">
              <a:latin typeface="+mj-ea"/>
              <a:ea typeface="+mj-ea"/>
            </a:endParaRPr>
          </a:p>
        </p:txBody>
      </p:sp>
      <p:sp>
        <p:nvSpPr>
          <p:cNvPr id="57" name="Rectangle 14"/>
          <p:cNvSpPr>
            <a:spLocks noChangeArrowheads="1"/>
          </p:cNvSpPr>
          <p:nvPr/>
        </p:nvSpPr>
        <p:spPr bwMode="auto">
          <a:xfrm>
            <a:off x="9878237" y="5544674"/>
            <a:ext cx="1574619" cy="361188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r>
              <a:rPr lang="ko-KR" altLang="en-US" b="0" dirty="0">
                <a:latin typeface="+mj-ea"/>
                <a:ea typeface="+mj-ea"/>
              </a:rPr>
              <a:t>요약서</a:t>
            </a:r>
          </a:p>
        </p:txBody>
      </p:sp>
      <p:cxnSp>
        <p:nvCxnSpPr>
          <p:cNvPr id="59" name="직선 화살표 연결선 58"/>
          <p:cNvCxnSpPr>
            <a:stCxn id="28" idx="3"/>
            <a:endCxn id="54" idx="1"/>
          </p:cNvCxnSpPr>
          <p:nvPr/>
        </p:nvCxnSpPr>
        <p:spPr>
          <a:xfrm>
            <a:off x="6605473" y="4061568"/>
            <a:ext cx="3272764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808875" y="3679536"/>
            <a:ext cx="243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간주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200</a:t>
            </a:r>
            <a:r>
              <a:rPr lang="ko-KR" altLang="en-US" dirty="0">
                <a:solidFill>
                  <a:srgbClr val="FF0000"/>
                </a:solidFill>
              </a:rPr>
              <a:t>조의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ko-KR" altLang="en-US" dirty="0">
                <a:solidFill>
                  <a:srgbClr val="FF0000"/>
                </a:solidFill>
              </a:rPr>
              <a:t>항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61" name="직선 화살표 연결선 60"/>
          <p:cNvCxnSpPr>
            <a:stCxn id="37" idx="3"/>
            <a:endCxn id="55" idx="1"/>
          </p:cNvCxnSpPr>
          <p:nvPr/>
        </p:nvCxnSpPr>
        <p:spPr>
          <a:xfrm>
            <a:off x="6609490" y="4800971"/>
            <a:ext cx="3268747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808875" y="4406354"/>
            <a:ext cx="243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간주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200</a:t>
            </a:r>
            <a:r>
              <a:rPr lang="ko-KR" altLang="en-US" dirty="0">
                <a:solidFill>
                  <a:srgbClr val="FF0000"/>
                </a:solidFill>
              </a:rPr>
              <a:t>조의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항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67" name="Rectangle 14"/>
          <p:cNvSpPr>
            <a:spLocks noChangeArrowheads="1"/>
          </p:cNvSpPr>
          <p:nvPr/>
        </p:nvSpPr>
        <p:spPr bwMode="auto">
          <a:xfrm>
            <a:off x="6948665" y="5183486"/>
            <a:ext cx="1115835" cy="361188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b="0">
                <a:latin typeface="+mj-ea"/>
                <a:ea typeface="+mj-ea"/>
              </a:rPr>
              <a:t>국어</a:t>
            </a:r>
            <a:endParaRPr lang="ko-KR" altLang="en-US" b="0" dirty="0">
              <a:latin typeface="+mj-ea"/>
              <a:ea typeface="+mj-ea"/>
            </a:endParaRPr>
          </a:p>
        </p:txBody>
      </p:sp>
      <p:sp>
        <p:nvSpPr>
          <p:cNvPr id="68" name="Rectangle 14"/>
          <p:cNvSpPr>
            <a:spLocks noChangeArrowheads="1"/>
          </p:cNvSpPr>
          <p:nvPr/>
        </p:nvSpPr>
        <p:spPr bwMode="auto">
          <a:xfrm>
            <a:off x="6948665" y="5905862"/>
            <a:ext cx="1115835" cy="361188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b="0">
                <a:latin typeface="+mj-ea"/>
                <a:ea typeface="+mj-ea"/>
              </a:rPr>
              <a:t>외국어</a:t>
            </a:r>
            <a:endParaRPr lang="ko-KR" altLang="en-US" b="0" dirty="0">
              <a:latin typeface="+mj-ea"/>
              <a:ea typeface="+mj-ea"/>
            </a:endParaRPr>
          </a:p>
        </p:txBody>
      </p:sp>
      <p:sp>
        <p:nvSpPr>
          <p:cNvPr id="69" name="Rectangle 14"/>
          <p:cNvSpPr>
            <a:spLocks noChangeArrowheads="1"/>
          </p:cNvSpPr>
          <p:nvPr/>
        </p:nvSpPr>
        <p:spPr bwMode="auto">
          <a:xfrm>
            <a:off x="8432978" y="5905862"/>
            <a:ext cx="1115835" cy="361188"/>
          </a:xfrm>
          <a:prstGeom prst="rect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b="0" dirty="0">
                <a:latin typeface="+mj-ea"/>
                <a:ea typeface="+mj-ea"/>
              </a:rPr>
              <a:t>번역문</a:t>
            </a:r>
          </a:p>
        </p:txBody>
      </p:sp>
      <p:cxnSp>
        <p:nvCxnSpPr>
          <p:cNvPr id="73" name="꺾인 연결선 72"/>
          <p:cNvCxnSpPr>
            <a:stCxn id="53" idx="3"/>
            <a:endCxn id="67" idx="1"/>
          </p:cNvCxnSpPr>
          <p:nvPr/>
        </p:nvCxnSpPr>
        <p:spPr>
          <a:xfrm flipV="1">
            <a:off x="6605473" y="5364080"/>
            <a:ext cx="343192" cy="36118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꺾인 연결선 74"/>
          <p:cNvCxnSpPr>
            <a:stCxn id="53" idx="3"/>
            <a:endCxn id="68" idx="1"/>
          </p:cNvCxnSpPr>
          <p:nvPr/>
        </p:nvCxnSpPr>
        <p:spPr>
          <a:xfrm>
            <a:off x="6605473" y="5725268"/>
            <a:ext cx="343192" cy="36118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>
            <a:stCxn id="68" idx="3"/>
            <a:endCxn id="69" idx="1"/>
          </p:cNvCxnSpPr>
          <p:nvPr/>
        </p:nvCxnSpPr>
        <p:spPr>
          <a:xfrm>
            <a:off x="8064500" y="6086456"/>
            <a:ext cx="36847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연결선 78"/>
          <p:cNvCxnSpPr>
            <a:stCxn id="67" idx="3"/>
            <a:endCxn id="57" idx="1"/>
          </p:cNvCxnSpPr>
          <p:nvPr/>
        </p:nvCxnSpPr>
        <p:spPr>
          <a:xfrm>
            <a:off x="8064500" y="5364080"/>
            <a:ext cx="1813737" cy="36118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꺾인 연결선 80"/>
          <p:cNvCxnSpPr>
            <a:stCxn id="69" idx="3"/>
            <a:endCxn id="57" idx="1"/>
          </p:cNvCxnSpPr>
          <p:nvPr/>
        </p:nvCxnSpPr>
        <p:spPr>
          <a:xfrm flipV="1">
            <a:off x="9548813" y="5725268"/>
            <a:ext cx="329424" cy="36118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타원 82"/>
          <p:cNvSpPr/>
          <p:nvPr/>
        </p:nvSpPr>
        <p:spPr>
          <a:xfrm>
            <a:off x="4912685" y="4133320"/>
            <a:ext cx="1411354" cy="1411354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xtBox 83"/>
          <p:cNvSpPr txBox="1"/>
          <p:nvPr/>
        </p:nvSpPr>
        <p:spPr>
          <a:xfrm>
            <a:off x="369975" y="3556265"/>
            <a:ext cx="3490058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원문에 기재된 범위 내에서</a:t>
            </a:r>
            <a:endParaRPr lang="en-US" altLang="ko-KR" sz="24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분할출원</a:t>
            </a:r>
            <a:r>
              <a:rPr lang="en-US" altLang="ko-KR" sz="2400" dirty="0">
                <a:solidFill>
                  <a:srgbClr val="FF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변경출원</a:t>
            </a:r>
            <a:r>
              <a:rPr lang="en-US" altLang="ko-KR" sz="2400" dirty="0">
                <a:solidFill>
                  <a:srgbClr val="FF0000"/>
                </a:solidFill>
                <a:highlight>
                  <a:srgbClr val="FFFF00"/>
                </a:highlight>
              </a:rPr>
              <a:t>, </a:t>
            </a:r>
          </a:p>
          <a:p>
            <a:r>
              <a:rPr lang="ko-KR" alt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국내우선권주장출원 등</a:t>
            </a:r>
            <a:endParaRPr lang="en-US" altLang="ko-KR" sz="24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가능 </a:t>
            </a:r>
          </a:p>
        </p:txBody>
      </p:sp>
      <p:cxnSp>
        <p:nvCxnSpPr>
          <p:cNvPr id="86" name="직선 화살표 연결선 85"/>
          <p:cNvCxnSpPr>
            <a:endCxn id="84" idx="3"/>
          </p:cNvCxnSpPr>
          <p:nvPr/>
        </p:nvCxnSpPr>
        <p:spPr>
          <a:xfrm flipH="1" flipV="1">
            <a:off x="3860033" y="4341095"/>
            <a:ext cx="1170823" cy="138504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563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6C7B7A-D8C1-4CFC-AE36-A4C554539C4C}"/>
              </a:ext>
            </a:extLst>
          </p:cNvPr>
          <p:cNvSpPr txBox="1"/>
          <p:nvPr/>
        </p:nvSpPr>
        <p:spPr>
          <a:xfrm>
            <a:off x="6808875" y="6289470"/>
            <a:ext cx="243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간주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200</a:t>
            </a:r>
            <a:r>
              <a:rPr lang="ko-KR" altLang="en-US" dirty="0">
                <a:solidFill>
                  <a:srgbClr val="FF0000"/>
                </a:solidFill>
              </a:rPr>
              <a:t>조의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3</a:t>
            </a:r>
            <a:r>
              <a:rPr lang="ko-KR" altLang="en-US" dirty="0">
                <a:solidFill>
                  <a:srgbClr val="FF0000"/>
                </a:solidFill>
              </a:rPr>
              <a:t>항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492137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국제특허출원의 번역문의 법조문 정리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77875" y="517314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76902"/>
            <a:ext cx="11936323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201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국제특허출원의 </a:t>
            </a:r>
            <a:r>
              <a:rPr lang="ko-KR" altLang="en-US" sz="1400" b="1" dirty="0" err="1">
                <a:solidFill>
                  <a:schemeClr val="accent1"/>
                </a:solidFill>
                <a:latin typeface="+mn-ea"/>
              </a:rPr>
              <a:t>국어번역문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)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 ①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국제특허출원을 외국어로 출원한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출원인은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「특허협력조약」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(xi)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의 우선일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우선일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이라 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7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개월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국내서면제출기간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이라 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이내에 다음 각 호의 국어번역문을 지식재산처장에게 제출하여야 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다만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국어번역문의 제출기간을 연장하여 달라는 취지를 제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203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항에 따른 서면에 적어 국내서면제출기간 만료일 전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개월부터 그 만료일까지 제출한 경우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그 서면을 제출하기 전에 국어번역문을 제출한 경우는 제외한다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에는 국내서면제출기간 만료일부터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개월이 되는 날까지 국어번역문을 제출할 수 있다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국제출원일까지 제출한 발명의 설명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청구범위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및 도면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도면 중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설명부분에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한정한다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국어번역문</a:t>
            </a:r>
            <a:endParaRPr lang="ko-KR" altLang="en-US" sz="1400" dirty="0">
              <a:solidFill>
                <a:schemeClr val="tx2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요약서의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국어번역문</a:t>
            </a:r>
            <a:endParaRPr lang="ko-KR" altLang="en-US" sz="1400" dirty="0">
              <a:solidFill>
                <a:schemeClr val="tx2"/>
              </a:solidFill>
              <a:latin typeface="+mn-ea"/>
            </a:endParaRPr>
          </a:p>
          <a:p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항에도 불구하고 국제특허출원을 외국어로 출원한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출원인이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「특허협력조약」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19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(1)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에 따라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청구범위에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관한 보정을 한 경우에는 국제출원일까지 제출한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청구범위에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대한 국어번역문을 보정 후의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청구범위에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대한 국어번역문으로 대체하여 제출할 수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따라 국어번역문을 제출한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출원인은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국내서면제출기간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단서에 따라 취지를 적은 서면이 제출된 경우에는 연장된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국어번역문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제출 기간을 말한다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이하 이 조에서 같다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에 그 국어번역문을 갈음하여 새로운 국어번역문을 제출할 수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출원인이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출원심사의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청구를 한 후에는 그러하지 아니하다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출원인이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국내서면제출기간에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따른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발명의 설명 및 청구범위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의 국어번역문을 제출하지 아니하면 그 국제특허출원을 취하한 것으로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⑤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특허출원인이 국내서면제출기간의 만료일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국내서면제출기간에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출원인이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출원심사의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청구를 한 경우에는 그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청구일을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말하며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기준일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이라 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까지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따라 발명의 설명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청구범위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및 도면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도면 중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설명부분에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한정한다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국어번역문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본문에 따라 새로운 국어번역문을 제출한 경우에는 마지막에 제출한 국어번역문을 말한다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이하 이 조에서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최종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국어번역문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이라 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을 제출한 경우에는 국제출원일까지 제출한 발명의 설명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청구범위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및 도면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도면 중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설명부분에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한정한다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을 최종 국어번역문에 따라 국제출원일에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47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따른 보정을 한 것으로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⑥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특허출원인은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47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및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208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따라 보정을 할 수 있는 기간에 최종 국어번역문의 잘못된 번역을 총리령으로 정하는 방법에 따라 정정할 수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 경우 정정된 국어번역문에 관하여는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5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항을 적용하지 아니한다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⑦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6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전단에 따라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47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호 또는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호에 따른 기간에 정정을 하는 경우에는 마지막 정정 전에 한 모든 정정은 처음부터 없었던 것으로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⑧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따라 보정 후의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청구범위에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대한 국어번역문을 제출하는 경우에는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204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및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항을 적용하지 아니한다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 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5259475" y="5334000"/>
            <a:ext cx="1687425" cy="39370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</a:t>
            </a:r>
            <a:endParaRPr lang="en-US" altLang="ko-KR" dirty="0"/>
          </a:p>
        </p:txBody>
      </p:sp>
      <p:sp>
        <p:nvSpPr>
          <p:cNvPr id="11" name="직사각형 10"/>
          <p:cNvSpPr/>
          <p:nvPr/>
        </p:nvSpPr>
        <p:spPr>
          <a:xfrm>
            <a:off x="256605" y="6108700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번역문 제출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207496" y="6108700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번역문 교체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4183787" y="6121400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부제출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효과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6134678" y="6121400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제출 효과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8066973" y="6121400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오역 정정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9999268" y="6121400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PCT 19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보정 번역문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7" name="꺾인 연결선 16"/>
          <p:cNvCxnSpPr>
            <a:stCxn id="4" idx="2"/>
            <a:endCxn id="11" idx="0"/>
          </p:cNvCxnSpPr>
          <p:nvPr/>
        </p:nvCxnSpPr>
        <p:spPr>
          <a:xfrm rot="5400000">
            <a:off x="3445979" y="3451491"/>
            <a:ext cx="381000" cy="493341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4" idx="2"/>
            <a:endCxn id="16" idx="0"/>
          </p:cNvCxnSpPr>
          <p:nvPr/>
        </p:nvCxnSpPr>
        <p:spPr>
          <a:xfrm rot="16200000" flipH="1">
            <a:off x="8310960" y="3519928"/>
            <a:ext cx="393700" cy="48092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4" idx="2"/>
            <a:endCxn id="12" idx="0"/>
          </p:cNvCxnSpPr>
          <p:nvPr/>
        </p:nvCxnSpPr>
        <p:spPr>
          <a:xfrm rot="5400000">
            <a:off x="4421424" y="4426936"/>
            <a:ext cx="381000" cy="298252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4" idx="2"/>
            <a:endCxn id="15" idx="0"/>
          </p:cNvCxnSpPr>
          <p:nvPr/>
        </p:nvCxnSpPr>
        <p:spPr>
          <a:xfrm rot="16200000" flipH="1">
            <a:off x="7344812" y="4486075"/>
            <a:ext cx="393700" cy="287694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stCxn id="4" idx="2"/>
            <a:endCxn id="13" idx="0"/>
          </p:cNvCxnSpPr>
          <p:nvPr/>
        </p:nvCxnSpPr>
        <p:spPr>
          <a:xfrm rot="5400000">
            <a:off x="5403220" y="5421432"/>
            <a:ext cx="393700" cy="100623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stCxn id="4" idx="2"/>
            <a:endCxn id="14" idx="0"/>
          </p:cNvCxnSpPr>
          <p:nvPr/>
        </p:nvCxnSpPr>
        <p:spPr>
          <a:xfrm rot="16200000" flipH="1">
            <a:off x="6378665" y="5452223"/>
            <a:ext cx="393700" cy="9446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564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330952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번역문 제출의 절차</a:t>
            </a:r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143339" y="2674953"/>
            <a:ext cx="1152128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966855" y="2259276"/>
            <a:ext cx="849246" cy="265453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b="0" dirty="0">
                <a:solidFill>
                  <a:schemeClr val="bg1"/>
                </a:solidFill>
                <a:latin typeface="+mj-ea"/>
                <a:ea typeface="+mj-ea"/>
              </a:rPr>
              <a:t>PCT </a:t>
            </a:r>
            <a:r>
              <a:rPr lang="ko-KR" altLang="en-US" sz="1200" b="0" dirty="0">
                <a:solidFill>
                  <a:schemeClr val="bg1"/>
                </a:solidFill>
                <a:latin typeface="+mj-ea"/>
                <a:ea typeface="+mj-ea"/>
              </a:rPr>
              <a:t>출원</a:t>
            </a:r>
          </a:p>
        </p:txBody>
      </p:sp>
      <p:sp>
        <p:nvSpPr>
          <p:cNvPr id="24" name="Rectangle 14"/>
          <p:cNvSpPr>
            <a:spLocks noChangeArrowheads="1"/>
          </p:cNvSpPr>
          <p:nvPr/>
        </p:nvSpPr>
        <p:spPr bwMode="auto">
          <a:xfrm>
            <a:off x="623392" y="1288778"/>
            <a:ext cx="1289923" cy="29916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+mj-ea"/>
                <a:ea typeface="+mj-ea"/>
              </a:rPr>
              <a:t>PCT </a:t>
            </a:r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+mj-ea"/>
                <a:ea typeface="+mj-ea"/>
              </a:rPr>
              <a:t>19</a:t>
            </a:r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조 보정</a:t>
            </a:r>
            <a:endParaRPr lang="ko-KR" altLang="en-US" sz="12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Rectangle 14"/>
          <p:cNvSpPr>
            <a:spLocks noChangeArrowheads="1"/>
          </p:cNvSpPr>
          <p:nvPr/>
        </p:nvSpPr>
        <p:spPr bwMode="auto">
          <a:xfrm flipV="1">
            <a:off x="1313415" y="2573926"/>
            <a:ext cx="199746" cy="202054"/>
          </a:xfrm>
          <a:prstGeom prst="ellipse">
            <a:avLst/>
          </a:prstGeom>
          <a:solidFill>
            <a:schemeClr val="tx2"/>
          </a:solidFill>
          <a:ln w="285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 flipV="1">
            <a:off x="2588291" y="2573926"/>
            <a:ext cx="199746" cy="202054"/>
          </a:xfrm>
          <a:prstGeom prst="ellipse">
            <a:avLst/>
          </a:prstGeom>
          <a:solidFill>
            <a:schemeClr val="tx2"/>
          </a:solidFill>
          <a:ln w="285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911424" y="3025326"/>
            <a:ext cx="1536171" cy="230755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ko-KR" altLang="en-US" sz="1200" dirty="0">
                <a:latin typeface="+mj-ea"/>
                <a:ea typeface="+mj-ea"/>
              </a:rPr>
              <a:t>출원서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31" name="Rectangle 14"/>
          <p:cNvSpPr>
            <a:spLocks noChangeArrowheads="1"/>
          </p:cNvSpPr>
          <p:nvPr/>
        </p:nvSpPr>
        <p:spPr bwMode="auto">
          <a:xfrm>
            <a:off x="3328538" y="2224253"/>
            <a:ext cx="1619104" cy="29916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번역문 제출</a:t>
            </a:r>
            <a:endParaRPr lang="ko-KR" altLang="en-US" sz="12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2" name="Rectangle 14"/>
          <p:cNvSpPr>
            <a:spLocks noChangeArrowheads="1"/>
          </p:cNvSpPr>
          <p:nvPr/>
        </p:nvSpPr>
        <p:spPr bwMode="auto">
          <a:xfrm flipV="1">
            <a:off x="4028854" y="2573926"/>
            <a:ext cx="199746" cy="202054"/>
          </a:xfrm>
          <a:prstGeom prst="ellipse">
            <a:avLst/>
          </a:prstGeom>
          <a:solidFill>
            <a:schemeClr val="tx2"/>
          </a:solidFill>
          <a:ln w="285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33" name="Rectangle 14"/>
          <p:cNvSpPr>
            <a:spLocks noChangeArrowheads="1"/>
          </p:cNvSpPr>
          <p:nvPr/>
        </p:nvSpPr>
        <p:spPr bwMode="auto">
          <a:xfrm flipV="1">
            <a:off x="5278722" y="2573926"/>
            <a:ext cx="199746" cy="202054"/>
          </a:xfrm>
          <a:prstGeom prst="ellipse">
            <a:avLst/>
          </a:prstGeom>
          <a:solidFill>
            <a:schemeClr val="tx2"/>
          </a:solidFill>
          <a:ln w="285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709825" y="2224253"/>
            <a:ext cx="1451538" cy="29916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국내서면제출기간</a:t>
            </a:r>
            <a:r>
              <a:rPr lang="en-US" altLang="ko-KR" sz="1200" dirty="0">
                <a:solidFill>
                  <a:schemeClr val="bg1"/>
                </a:solidFill>
                <a:latin typeface="+mj-ea"/>
                <a:ea typeface="+mj-ea"/>
              </a:rPr>
              <a:t>*</a:t>
            </a:r>
            <a:endParaRPr lang="ko-KR" altLang="en-US" sz="12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Rectangle 14"/>
          <p:cNvSpPr>
            <a:spLocks noChangeArrowheads="1"/>
          </p:cNvSpPr>
          <p:nvPr/>
        </p:nvSpPr>
        <p:spPr bwMode="auto">
          <a:xfrm flipV="1">
            <a:off x="6428718" y="2573926"/>
            <a:ext cx="199746" cy="202054"/>
          </a:xfrm>
          <a:prstGeom prst="ellipse">
            <a:avLst/>
          </a:prstGeom>
          <a:solidFill>
            <a:schemeClr val="tx2"/>
          </a:solidFill>
          <a:ln w="285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663940" y="2785018"/>
            <a:ext cx="5288711" cy="7638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</a:t>
            </a:r>
            <a:r>
              <a:rPr lang="ko-KR" altLang="en-US" sz="1200" dirty="0"/>
              <a:t> 제출하지 않거나 방식위반의 경우 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- </a:t>
            </a:r>
            <a:r>
              <a:rPr lang="ko-KR" altLang="en-US" sz="1200" dirty="0"/>
              <a:t>보정명령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203②)</a:t>
            </a:r>
          </a:p>
          <a:p>
            <a:r>
              <a:rPr lang="en-US" altLang="ko-KR" sz="1200" dirty="0"/>
              <a:t>* </a:t>
            </a:r>
            <a:r>
              <a:rPr lang="ko-KR" altLang="en-US" sz="1200" dirty="0"/>
              <a:t>보정하지 않는 경우 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- </a:t>
            </a:r>
            <a:r>
              <a:rPr lang="ko-KR" altLang="en-US" sz="1200" dirty="0"/>
              <a:t>국제특허출원절차를 무효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203③)</a:t>
            </a:r>
            <a:endParaRPr lang="ko-KR" alt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6663943" y="3608359"/>
            <a:ext cx="5288710" cy="30344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noAutofit/>
          </a:bodyPr>
          <a:lstStyle/>
          <a:p>
            <a:pPr fontAlgn="base"/>
            <a:r>
              <a:rPr lang="en-US" altLang="ko-KR" sz="1200" dirty="0"/>
              <a:t>*</a:t>
            </a:r>
            <a:r>
              <a:rPr lang="ko-KR" altLang="en-US" sz="1200" dirty="0"/>
              <a:t> 국어번역문을 제출하지 아니한 경우</a:t>
            </a:r>
          </a:p>
          <a:p>
            <a:pPr fontAlgn="base"/>
            <a:r>
              <a:rPr lang="en-US" altLang="ko-KR" sz="1200" dirty="0"/>
              <a:t> -</a:t>
            </a:r>
            <a:r>
              <a:rPr lang="ko-KR" altLang="en-US" sz="1200" dirty="0"/>
              <a:t> 발명의 설명 및 청구범위의 번역문 제출</a:t>
            </a:r>
            <a:r>
              <a:rPr lang="en-US" altLang="ko-KR" sz="1200" dirty="0"/>
              <a:t>×: </a:t>
            </a:r>
            <a:r>
              <a:rPr lang="ko-KR" altLang="en-US" sz="1200" dirty="0"/>
              <a:t>취하간주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201</a:t>
            </a:r>
            <a:r>
              <a:rPr lang="ko-KR" altLang="en-US" sz="1200" dirty="0"/>
              <a:t>④</a:t>
            </a:r>
            <a:r>
              <a:rPr lang="en-US" altLang="ko-KR" sz="1200" dirty="0"/>
              <a:t>)</a:t>
            </a:r>
            <a:endParaRPr lang="ko-KR" altLang="en-US" sz="1200" dirty="0"/>
          </a:p>
          <a:p>
            <a:pPr marL="177800" indent="-177800" fontAlgn="base"/>
            <a:r>
              <a:rPr lang="en-US" altLang="ko-KR" sz="1200" dirty="0"/>
              <a:t> - </a:t>
            </a:r>
            <a:r>
              <a:rPr lang="ko-KR" altLang="en-US" sz="1200" dirty="0"/>
              <a:t>도면의 설명부분 또는 요약서에 대한 번역문 제출</a:t>
            </a:r>
            <a:r>
              <a:rPr lang="en-US" altLang="ko-KR" sz="1200" dirty="0"/>
              <a:t>×: </a:t>
            </a:r>
            <a:r>
              <a:rPr lang="ko-KR" altLang="en-US" sz="1200" dirty="0"/>
              <a:t>기재가 없었던 것으로 간주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201</a:t>
            </a:r>
            <a:r>
              <a:rPr lang="ko-KR" altLang="en-US" sz="1200" dirty="0"/>
              <a:t>⑤</a:t>
            </a:r>
            <a:r>
              <a:rPr lang="en-US" altLang="ko-KR" sz="1200" dirty="0"/>
              <a:t>)/</a:t>
            </a:r>
            <a:r>
              <a:rPr lang="ko-KR" altLang="en-US" sz="1200" dirty="0"/>
              <a:t>보정명령 후 무효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42</a:t>
            </a:r>
            <a:r>
              <a:rPr lang="ko-KR" altLang="en-US" sz="1200" dirty="0"/>
              <a:t>⑨</a:t>
            </a:r>
            <a:r>
              <a:rPr lang="en-US" altLang="ko-KR" sz="1200" dirty="0"/>
              <a:t>, 46, 16)</a:t>
            </a:r>
            <a:endParaRPr lang="ko-KR" altLang="en-US" sz="1200" dirty="0"/>
          </a:p>
          <a:p>
            <a:pPr fontAlgn="base"/>
            <a:endParaRPr lang="en-US" altLang="ko-KR" sz="1200" dirty="0"/>
          </a:p>
          <a:p>
            <a:pPr fontAlgn="base"/>
            <a:r>
              <a:rPr lang="en-US" altLang="ko-KR" sz="1200" dirty="0"/>
              <a:t>*</a:t>
            </a:r>
            <a:r>
              <a:rPr lang="ko-KR" altLang="en-US" sz="1200" dirty="0"/>
              <a:t> 국어번역문을 제출한 경우</a:t>
            </a:r>
          </a:p>
          <a:p>
            <a:pPr marL="101600" indent="-101600" fontAlgn="base"/>
            <a:r>
              <a:rPr lang="en-US" altLang="ko-KR" sz="1200" dirty="0"/>
              <a:t> - </a:t>
            </a:r>
            <a:r>
              <a:rPr lang="ko-KR" altLang="en-US" sz="1200" dirty="0"/>
              <a:t>기준일까지 최종 국어번역문을 제출한 경우에는 국제출원일에 제출한 원문을 최종 국어번역문에 따라 국제출원일에 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/>
              <a:t>항에 따른 보정을 한 것으로 간주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201</a:t>
            </a:r>
            <a:r>
              <a:rPr lang="ko-KR" altLang="en-US" sz="1200" dirty="0"/>
              <a:t>⑤</a:t>
            </a:r>
            <a:r>
              <a:rPr lang="en-US" altLang="ko-KR" sz="1200" dirty="0"/>
              <a:t>)</a:t>
            </a:r>
            <a:endParaRPr lang="ko-KR" altLang="en-US" sz="1200" dirty="0"/>
          </a:p>
          <a:p>
            <a:pPr fontAlgn="base"/>
            <a:endParaRPr lang="en-US" altLang="ko-KR" sz="1200" dirty="0"/>
          </a:p>
          <a:p>
            <a:pPr fontAlgn="base"/>
            <a:r>
              <a:rPr lang="en-US" altLang="ko-KR" sz="1200" dirty="0"/>
              <a:t>*</a:t>
            </a:r>
            <a:r>
              <a:rPr lang="ko-KR" altLang="en-US" sz="1200" dirty="0"/>
              <a:t> 오역의 정정</a:t>
            </a:r>
          </a:p>
          <a:p>
            <a:pPr marL="101600" indent="-101600" fontAlgn="base"/>
            <a:r>
              <a:rPr lang="ko-KR" altLang="en-US" sz="1200" dirty="0"/>
              <a:t> </a:t>
            </a:r>
            <a:r>
              <a:rPr lang="en-US" altLang="ko-KR" sz="1200" dirty="0"/>
              <a:t>- </a:t>
            </a:r>
            <a:r>
              <a:rPr lang="ko-KR" altLang="en-US" sz="1200" dirty="0" err="1"/>
              <a:t>특허출원인은</a:t>
            </a:r>
            <a:r>
              <a:rPr lang="ko-KR" altLang="en-US" sz="1200" dirty="0"/>
              <a:t> 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및 제</a:t>
            </a:r>
            <a:r>
              <a:rPr lang="en-US" altLang="ko-KR" sz="1200" dirty="0"/>
              <a:t>208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/>
              <a:t>항에 따라 보정을 할 수 있는 기간에 최종 국어번역문의 잘못된 번역을 총리령으로 정하는 방법에 따라 정정 가능</a:t>
            </a:r>
            <a:r>
              <a:rPr lang="en-US" altLang="ko-KR" sz="1200" dirty="0"/>
              <a:t>. </a:t>
            </a:r>
            <a:r>
              <a:rPr lang="ko-KR" altLang="en-US" sz="1200" dirty="0"/>
              <a:t>이 경우 정정된 국어번역문에 관하여는 제</a:t>
            </a:r>
            <a:r>
              <a:rPr lang="en-US" altLang="ko-KR" sz="1200" dirty="0"/>
              <a:t>5</a:t>
            </a:r>
            <a:r>
              <a:rPr lang="ko-KR" altLang="en-US" sz="1200" dirty="0"/>
              <a:t>항을 </a:t>
            </a:r>
            <a:r>
              <a:rPr lang="ko-KR" altLang="en-US" sz="1200" dirty="0" err="1"/>
              <a:t>不적용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201</a:t>
            </a:r>
            <a:r>
              <a:rPr lang="ko-KR" altLang="en-US" sz="1200" dirty="0"/>
              <a:t>⑥</a:t>
            </a:r>
            <a:r>
              <a:rPr lang="en-US" altLang="ko-KR" sz="1200" dirty="0"/>
              <a:t>). </a:t>
            </a:r>
          </a:p>
          <a:p>
            <a:pPr marL="88900" indent="-88900" fontAlgn="base"/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dirty="0">
                <a:latin typeface="+mn-ea"/>
              </a:rPr>
              <a:t>제</a:t>
            </a:r>
            <a:r>
              <a:rPr lang="en-US" altLang="ko-KR" sz="1200" dirty="0">
                <a:latin typeface="+mn-ea"/>
              </a:rPr>
              <a:t>47</a:t>
            </a:r>
            <a:r>
              <a:rPr lang="ko-KR" altLang="en-US" sz="1200" dirty="0">
                <a:latin typeface="+mn-ea"/>
              </a:rPr>
              <a:t>조제</a:t>
            </a:r>
            <a:r>
              <a:rPr lang="en-US" altLang="ko-KR" sz="1200" dirty="0">
                <a:latin typeface="+mn-ea"/>
              </a:rPr>
              <a:t>1</a:t>
            </a:r>
            <a:r>
              <a:rPr lang="ko-KR" altLang="en-US" sz="1200" dirty="0" err="1">
                <a:latin typeface="+mn-ea"/>
              </a:rPr>
              <a:t>항제</a:t>
            </a:r>
            <a:r>
              <a:rPr lang="en-US" altLang="ko-KR" sz="1200" dirty="0">
                <a:latin typeface="+mn-ea"/>
              </a:rPr>
              <a:t>1</a:t>
            </a:r>
            <a:r>
              <a:rPr lang="ko-KR" altLang="en-US" sz="1200" dirty="0">
                <a:latin typeface="+mn-ea"/>
              </a:rPr>
              <a:t>호 또는 제</a:t>
            </a:r>
            <a:r>
              <a:rPr lang="en-US" altLang="ko-KR" sz="1200" dirty="0">
                <a:latin typeface="+mn-ea"/>
              </a:rPr>
              <a:t>2</a:t>
            </a:r>
            <a:r>
              <a:rPr lang="ko-KR" altLang="en-US" sz="1200" dirty="0">
                <a:latin typeface="+mn-ea"/>
              </a:rPr>
              <a:t>호에 따른 기간에 정정을 하는 경우에는 마지막 정정 전에 한 모든 정정은 처음부터 없었던 것으로 간주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201</a:t>
            </a:r>
            <a:r>
              <a:rPr lang="en-US" altLang="ko-KR" sz="1200" dirty="0">
                <a:latin typeface="+mn-ea"/>
              </a:rPr>
              <a:t>⑦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38" name="직선 연결선 37"/>
          <p:cNvCxnSpPr>
            <a:stCxn id="35" idx="0"/>
          </p:cNvCxnSpPr>
          <p:nvPr/>
        </p:nvCxnSpPr>
        <p:spPr>
          <a:xfrm>
            <a:off x="6528591" y="2775980"/>
            <a:ext cx="0" cy="2085942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14"/>
          <p:cNvSpPr>
            <a:spLocks noChangeArrowheads="1"/>
          </p:cNvSpPr>
          <p:nvPr/>
        </p:nvSpPr>
        <p:spPr bwMode="auto">
          <a:xfrm>
            <a:off x="911424" y="3415739"/>
            <a:ext cx="1536171" cy="741089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t"/>
          <a:lstStyle/>
          <a:p>
            <a:r>
              <a:rPr lang="ko-KR" altLang="en-US" sz="1200" dirty="0">
                <a:latin typeface="+mj-ea"/>
                <a:ea typeface="+mj-ea"/>
              </a:rPr>
              <a:t>발명의 설명</a:t>
            </a:r>
            <a:endParaRPr lang="en-US" altLang="ko-KR" sz="1200" dirty="0">
              <a:latin typeface="+mj-ea"/>
              <a:ea typeface="+mj-ea"/>
            </a:endParaRPr>
          </a:p>
          <a:p>
            <a:r>
              <a:rPr lang="ko-KR" altLang="en-US" sz="1200" b="0" dirty="0">
                <a:latin typeface="+mj-ea"/>
                <a:ea typeface="+mj-ea"/>
              </a:rPr>
              <a:t>청구범위</a:t>
            </a:r>
            <a:endParaRPr lang="en-US" altLang="ko-KR" sz="1200" b="0" dirty="0">
              <a:latin typeface="+mj-ea"/>
              <a:ea typeface="+mj-ea"/>
            </a:endParaRPr>
          </a:p>
          <a:p>
            <a:r>
              <a:rPr lang="ko-KR" altLang="en-US" sz="1200" dirty="0">
                <a:latin typeface="+mj-ea"/>
                <a:ea typeface="+mj-ea"/>
              </a:rPr>
              <a:t>도면</a:t>
            </a:r>
            <a:r>
              <a:rPr lang="en-US" altLang="ko-KR" sz="1200" dirty="0">
                <a:latin typeface="+mj-ea"/>
                <a:ea typeface="+mj-ea"/>
              </a:rPr>
              <a:t>(</a:t>
            </a:r>
            <a:r>
              <a:rPr lang="ko-KR" altLang="en-US" sz="1200" dirty="0">
                <a:latin typeface="+mj-ea"/>
                <a:ea typeface="+mj-ea"/>
              </a:rPr>
              <a:t>설명부분포함</a:t>
            </a:r>
            <a:r>
              <a:rPr lang="en-US" altLang="ko-KR" sz="1200" dirty="0">
                <a:latin typeface="+mj-ea"/>
                <a:ea typeface="+mj-ea"/>
              </a:rPr>
              <a:t>)</a:t>
            </a:r>
          </a:p>
          <a:p>
            <a:r>
              <a:rPr lang="ko-KR" altLang="en-US" sz="1200" b="0" dirty="0">
                <a:latin typeface="+mj-ea"/>
                <a:ea typeface="+mj-ea"/>
              </a:rPr>
              <a:t>요약서</a:t>
            </a:r>
          </a:p>
        </p:txBody>
      </p:sp>
      <p:cxnSp>
        <p:nvCxnSpPr>
          <p:cNvPr id="40" name="직선 화살표 연결선 39"/>
          <p:cNvCxnSpPr>
            <a:stCxn id="29" idx="3"/>
          </p:cNvCxnSpPr>
          <p:nvPr/>
        </p:nvCxnSpPr>
        <p:spPr>
          <a:xfrm>
            <a:off x="2447595" y="3140703"/>
            <a:ext cx="4080995" cy="9272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연결선 40"/>
          <p:cNvCxnSpPr/>
          <p:nvPr/>
        </p:nvCxnSpPr>
        <p:spPr>
          <a:xfrm>
            <a:off x="2588938" y="3503588"/>
            <a:ext cx="3933659" cy="341046"/>
          </a:xfrm>
          <a:prstGeom prst="bentConnector3">
            <a:avLst>
              <a:gd name="adj1" fmla="val 15777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/>
          <p:nvPr/>
        </p:nvCxnSpPr>
        <p:spPr>
          <a:xfrm flipV="1">
            <a:off x="2541474" y="3844634"/>
            <a:ext cx="3887244" cy="221378"/>
          </a:xfrm>
          <a:prstGeom prst="bentConnector3">
            <a:avLst>
              <a:gd name="adj1" fmla="val 17329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2492925" y="2866674"/>
            <a:ext cx="1536171" cy="2991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 latinLnBrk="0"/>
            <a:r>
              <a:rPr lang="ko-KR" altLang="en-US" sz="1200" dirty="0"/>
              <a:t>국내 진입 의사 표시 서면 제출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203</a:t>
            </a:r>
            <a:r>
              <a:rPr lang="ko-KR" altLang="en-US" sz="1200" dirty="0"/>
              <a:t>①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4" name="Rectangle 14"/>
          <p:cNvSpPr>
            <a:spLocks noChangeArrowheads="1"/>
          </p:cNvSpPr>
          <p:nvPr/>
        </p:nvSpPr>
        <p:spPr bwMode="auto">
          <a:xfrm>
            <a:off x="3411471" y="3313684"/>
            <a:ext cx="2066996" cy="40121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base" latinLnBrk="0"/>
            <a:r>
              <a:rPr lang="ko-KR" altLang="en-US" sz="1200" dirty="0"/>
              <a:t>외국어 출원의 경우 국어로 </a:t>
            </a:r>
          </a:p>
          <a:p>
            <a:pPr algn="ctr" fontAlgn="base" latinLnBrk="0"/>
            <a:r>
              <a:rPr lang="ko-KR" altLang="en-US" sz="1200" dirty="0"/>
              <a:t>번역문 제출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201</a:t>
            </a:r>
            <a:r>
              <a:rPr lang="ko-KR" altLang="en-US" sz="1200" dirty="0"/>
              <a:t>①본문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5" name="TextBox 44"/>
          <p:cNvSpPr txBox="1"/>
          <p:nvPr/>
        </p:nvSpPr>
        <p:spPr>
          <a:xfrm>
            <a:off x="7246048" y="986116"/>
            <a:ext cx="4706603" cy="1050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noAutofit/>
          </a:bodyPr>
          <a:lstStyle/>
          <a:p>
            <a:pPr fontAlgn="base"/>
            <a:r>
              <a:rPr lang="en-US" altLang="ko-KR" sz="1200" dirty="0"/>
              <a:t>* </a:t>
            </a:r>
            <a:r>
              <a:rPr lang="ko-KR" altLang="en-US" sz="1200" dirty="0"/>
              <a:t>기준일까지 </a:t>
            </a:r>
            <a:r>
              <a:rPr lang="en-US" altLang="ko-KR" sz="1200" dirty="0"/>
              <a:t>- </a:t>
            </a:r>
            <a:r>
              <a:rPr lang="ko-KR" altLang="en-US" sz="1200" dirty="0"/>
              <a:t>국내서면제출기간의 만료일과 출원인의 심사청구 중 </a:t>
            </a:r>
            <a:endParaRPr lang="en-US" altLang="ko-KR" sz="1200" dirty="0"/>
          </a:p>
          <a:p>
            <a:pPr fontAlgn="base"/>
            <a:r>
              <a:rPr lang="ko-KR" altLang="en-US" sz="1200" dirty="0"/>
              <a:t>   빠른 때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201</a:t>
            </a:r>
            <a:r>
              <a:rPr lang="ko-KR" altLang="en-US" sz="1200" dirty="0"/>
              <a:t>③</a:t>
            </a:r>
            <a:r>
              <a:rPr lang="en-US" altLang="ko-KR" sz="1200" dirty="0"/>
              <a:t>)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※ </a:t>
            </a:r>
            <a:r>
              <a:rPr lang="ko-KR" altLang="en-US" sz="1200" dirty="0"/>
              <a:t>심사청구의 특례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210)</a:t>
            </a:r>
            <a:endParaRPr lang="ko-KR" altLang="en-US" sz="1200" dirty="0"/>
          </a:p>
          <a:p>
            <a:pPr fontAlgn="base"/>
            <a:r>
              <a:rPr lang="ko-KR" altLang="en-US" sz="1200" dirty="0"/>
              <a:t> </a:t>
            </a:r>
            <a:r>
              <a:rPr lang="en-US" altLang="ko-KR" sz="1200" dirty="0"/>
              <a:t>- </a:t>
            </a:r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자</a:t>
            </a:r>
            <a:r>
              <a:rPr lang="en-US" altLang="ko-KR" sz="1200" dirty="0"/>
              <a:t>: </a:t>
            </a:r>
            <a:r>
              <a:rPr lang="ko-KR" altLang="en-US" sz="1200" dirty="0"/>
              <a:t>국내서면제출기간이 지난 후</a:t>
            </a:r>
          </a:p>
          <a:p>
            <a:pPr fontAlgn="base"/>
            <a:r>
              <a:rPr lang="en-US" altLang="ko-KR" sz="1200" dirty="0"/>
              <a:t> - </a:t>
            </a:r>
            <a:r>
              <a:rPr lang="ko-KR" altLang="en-US" sz="1200" dirty="0"/>
              <a:t>출원인</a:t>
            </a:r>
            <a:r>
              <a:rPr lang="en-US" altLang="ko-KR" sz="1200" dirty="0"/>
              <a:t>: </a:t>
            </a:r>
            <a:r>
              <a:rPr lang="ko-KR" altLang="en-US" sz="1200" dirty="0"/>
              <a:t>수수료 납부</a:t>
            </a:r>
            <a:r>
              <a:rPr lang="en-US" altLang="ko-KR" sz="1200" dirty="0"/>
              <a:t>, </a:t>
            </a:r>
            <a:r>
              <a:rPr lang="ko-KR" altLang="en-US" sz="1200" dirty="0"/>
              <a:t>국어번역문 제출 후 </a:t>
            </a:r>
            <a:r>
              <a:rPr lang="ko-KR" altLang="en-US" sz="1200" dirty="0" err="1"/>
              <a:t>국내서면제출기간전이라도</a:t>
            </a:r>
            <a:endParaRPr lang="ko-KR" altLang="en-US" sz="1200" dirty="0"/>
          </a:p>
        </p:txBody>
      </p:sp>
      <p:sp>
        <p:nvSpPr>
          <p:cNvPr id="46" name="Rectangle 14"/>
          <p:cNvSpPr>
            <a:spLocks noChangeArrowheads="1"/>
          </p:cNvSpPr>
          <p:nvPr/>
        </p:nvSpPr>
        <p:spPr bwMode="auto">
          <a:xfrm>
            <a:off x="6400830" y="1318429"/>
            <a:ext cx="845218" cy="29916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번역문 교체</a:t>
            </a:r>
            <a:endParaRPr lang="ko-KR" altLang="en-US" sz="12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13315" y="986117"/>
            <a:ext cx="4240131" cy="6715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noAutofit/>
          </a:bodyPr>
          <a:lstStyle/>
          <a:p>
            <a:pPr fontAlgn="base"/>
            <a:r>
              <a:rPr lang="en-US" altLang="ko-KR" sz="1200" dirty="0"/>
              <a:t>*</a:t>
            </a:r>
            <a:r>
              <a:rPr lang="ko-KR" altLang="en-US" sz="1200" dirty="0"/>
              <a:t> 보정 후의 청구범위에 대한 국어번역문으로 대체 가능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201</a:t>
            </a:r>
            <a:r>
              <a:rPr lang="ko-KR" altLang="en-US" sz="1200" dirty="0"/>
              <a:t>②</a:t>
            </a:r>
            <a:r>
              <a:rPr lang="en-US" altLang="ko-KR" sz="1200" dirty="0"/>
              <a:t>)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*</a:t>
            </a:r>
            <a:r>
              <a:rPr lang="ko-KR" altLang="en-US" sz="1200" dirty="0"/>
              <a:t> 제</a:t>
            </a:r>
            <a:r>
              <a:rPr lang="en-US" altLang="ko-KR" sz="1200" dirty="0"/>
              <a:t>204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및 제</a:t>
            </a:r>
            <a:r>
              <a:rPr lang="en-US" altLang="ko-KR" sz="1200" dirty="0"/>
              <a:t>2</a:t>
            </a:r>
            <a:r>
              <a:rPr lang="ko-KR" altLang="en-US" sz="1200" dirty="0"/>
              <a:t>항의 규정 적용 </a:t>
            </a:r>
            <a:r>
              <a:rPr lang="en-US" altLang="ko-KR" sz="1200" dirty="0"/>
              <a:t>× (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</a:rPr>
              <a:t>201⑧</a:t>
            </a:r>
            <a:r>
              <a:rPr lang="en-US" altLang="ko-KR" sz="1200" dirty="0"/>
              <a:t>)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  - 2</a:t>
            </a:r>
            <a:r>
              <a:rPr lang="ko-KR" altLang="en-US" sz="1200" dirty="0"/>
              <a:t>번 국어번역문 제출 不要</a:t>
            </a:r>
          </a:p>
        </p:txBody>
      </p:sp>
      <p:cxnSp>
        <p:nvCxnSpPr>
          <p:cNvPr id="48" name="꺾인 연결선 47"/>
          <p:cNvCxnSpPr>
            <a:stCxn id="33" idx="4"/>
            <a:endCxn id="46" idx="2"/>
          </p:cNvCxnSpPr>
          <p:nvPr/>
        </p:nvCxnSpPr>
        <p:spPr>
          <a:xfrm rot="5400000" flipH="1" flipV="1">
            <a:off x="5622849" y="1373336"/>
            <a:ext cx="956337" cy="144484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28" idx="4"/>
            <a:endCxn id="24" idx="1"/>
          </p:cNvCxnSpPr>
          <p:nvPr/>
        </p:nvCxnSpPr>
        <p:spPr>
          <a:xfrm rot="16200000" flipV="1">
            <a:off x="1087994" y="973756"/>
            <a:ext cx="1135568" cy="2064772"/>
          </a:xfrm>
          <a:prstGeom prst="bentConnector4">
            <a:avLst>
              <a:gd name="adj1" fmla="val 43414"/>
              <a:gd name="adj2" fmla="val 111071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143339" y="5762408"/>
            <a:ext cx="6372449" cy="8804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pPr fontAlgn="base"/>
            <a:r>
              <a:rPr lang="ko-KR" altLang="en-US" sz="1200" dirty="0"/>
              <a:t>* 국어번역문의 제출기간을 연장하여 달라는 취지를 국내 단계 진입 의사 서면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203</a:t>
            </a:r>
            <a:r>
              <a:rPr lang="ko-KR" altLang="en-US" sz="1200" dirty="0"/>
              <a:t>①</a:t>
            </a:r>
            <a:r>
              <a:rPr lang="en-US" altLang="ko-KR" sz="1200" dirty="0"/>
              <a:t>)</a:t>
            </a:r>
            <a:r>
              <a:rPr lang="ko-KR" altLang="en-US" sz="1200" dirty="0"/>
              <a:t>에 적어 국내서면제출기간 만료일 전 </a:t>
            </a:r>
            <a:r>
              <a:rPr lang="en-US" altLang="ko-KR" sz="1200" dirty="0"/>
              <a:t>1</a:t>
            </a:r>
            <a:r>
              <a:rPr lang="ko-KR" altLang="en-US" sz="1200" dirty="0"/>
              <a:t>개월부터 그 만료일까지 제출한 경우</a:t>
            </a:r>
            <a:r>
              <a:rPr lang="en-US" altLang="ko-KR" sz="1200" dirty="0"/>
              <a:t>(</a:t>
            </a:r>
            <a:r>
              <a:rPr lang="ko-KR" altLang="en-US" sz="1200" dirty="0"/>
              <a:t>그 서면을 제출하기 전에 국어번역문을 제출한 경우는 제외한다</a:t>
            </a:r>
            <a:r>
              <a:rPr lang="en-US" altLang="ko-KR" sz="1200" dirty="0"/>
              <a:t>)</a:t>
            </a:r>
            <a:r>
              <a:rPr lang="ko-KR" altLang="en-US" sz="1200" dirty="0"/>
              <a:t>에는 국어번역문의 제출기간을 국내서면제출기간 만료일부터 </a:t>
            </a:r>
            <a:r>
              <a:rPr lang="en-US" altLang="ko-KR" sz="1200" dirty="0"/>
              <a:t>1</a:t>
            </a:r>
            <a:r>
              <a:rPr lang="ko-KR" altLang="en-US" sz="1200" dirty="0"/>
              <a:t>개월까지 연장가능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201</a:t>
            </a:r>
            <a:r>
              <a:rPr lang="ko-KR" altLang="en-US" sz="1200" dirty="0"/>
              <a:t>①단서</a:t>
            </a:r>
            <a:r>
              <a:rPr lang="en-US" altLang="ko-KR" sz="1200" dirty="0"/>
              <a:t>, 203</a:t>
            </a:r>
            <a:r>
              <a:rPr lang="ko-KR" altLang="en-US" sz="1200" dirty="0"/>
              <a:t>②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565</a:t>
            </a:r>
            <a:endParaRPr lang="ko-KR" altLang="en-US" dirty="0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C4A1EE64-959C-E06D-F1F7-0D606807F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8538" y="1912691"/>
            <a:ext cx="1619104" cy="29916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국내 진입 의사 표시 서면 제출</a:t>
            </a:r>
            <a:endParaRPr lang="ko-KR" altLang="en-US" sz="10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05727550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조와 관련된 법조문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825500" y="2667000"/>
            <a:ext cx="1016000" cy="889000"/>
          </a:xfrm>
          <a:prstGeom prst="rect">
            <a:avLst/>
          </a:prstGeom>
          <a:solidFill>
            <a:schemeClr val="accent4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</a:t>
            </a:r>
            <a:endParaRPr lang="en-US" altLang="ko-KR" dirty="0"/>
          </a:p>
        </p:txBody>
      </p:sp>
      <p:sp>
        <p:nvSpPr>
          <p:cNvPr id="7" name="직사각형 6"/>
          <p:cNvSpPr/>
          <p:nvPr/>
        </p:nvSpPr>
        <p:spPr>
          <a:xfrm>
            <a:off x="2343680" y="1104646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번역문 제출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201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343679" y="1790699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번역문 교체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201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343678" y="3079623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부제출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효과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201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343677" y="3771647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제출 효과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201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2343676" y="4457699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오역 정정</a:t>
            </a:r>
            <a:endParaRPr lang="en-US" altLang="ko-KR" sz="140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201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343675" y="5143751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PCT 19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보정 번역문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201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3" name="꺾인 연결선 12"/>
          <p:cNvCxnSpPr>
            <a:stCxn id="6" idx="3"/>
            <a:endCxn id="7" idx="1"/>
          </p:cNvCxnSpPr>
          <p:nvPr/>
        </p:nvCxnSpPr>
        <p:spPr>
          <a:xfrm flipV="1">
            <a:off x="1841500" y="1358646"/>
            <a:ext cx="502180" cy="175285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>
            <a:stCxn id="6" idx="3"/>
            <a:endCxn id="12" idx="1"/>
          </p:cNvCxnSpPr>
          <p:nvPr/>
        </p:nvCxnSpPr>
        <p:spPr>
          <a:xfrm>
            <a:off x="1841500" y="3111500"/>
            <a:ext cx="502175" cy="228625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꺾인 연결선 14"/>
          <p:cNvCxnSpPr>
            <a:stCxn id="6" idx="3"/>
            <a:endCxn id="8" idx="1"/>
          </p:cNvCxnSpPr>
          <p:nvPr/>
        </p:nvCxnSpPr>
        <p:spPr>
          <a:xfrm flipV="1">
            <a:off x="1841500" y="2044699"/>
            <a:ext cx="502179" cy="106680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꺾인 연결선 15"/>
          <p:cNvCxnSpPr>
            <a:stCxn id="6" idx="3"/>
            <a:endCxn id="11" idx="1"/>
          </p:cNvCxnSpPr>
          <p:nvPr/>
        </p:nvCxnSpPr>
        <p:spPr>
          <a:xfrm>
            <a:off x="1841500" y="3111500"/>
            <a:ext cx="502176" cy="160019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꺾인 연결선 16"/>
          <p:cNvCxnSpPr>
            <a:stCxn id="6" idx="3"/>
            <a:endCxn id="9" idx="1"/>
          </p:cNvCxnSpPr>
          <p:nvPr/>
        </p:nvCxnSpPr>
        <p:spPr>
          <a:xfrm>
            <a:off x="1841500" y="3111500"/>
            <a:ext cx="502178" cy="22212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6" idx="3"/>
            <a:endCxn id="10" idx="1"/>
          </p:cNvCxnSpPr>
          <p:nvPr/>
        </p:nvCxnSpPr>
        <p:spPr>
          <a:xfrm>
            <a:off x="1841500" y="3111500"/>
            <a:ext cx="502177" cy="91414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/>
          <p:cNvSpPr/>
          <p:nvPr/>
        </p:nvSpPr>
        <p:spPr>
          <a:xfrm>
            <a:off x="4599877" y="1790699"/>
            <a:ext cx="2872126" cy="50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출원심사청구시기의 제한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210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4599877" y="1104646"/>
            <a:ext cx="2872126" cy="50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서면의 제출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203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4599877" y="4572251"/>
            <a:ext cx="2872126" cy="50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국제조사보고서를 받은 후의 보정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204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7910175" y="4572251"/>
            <a:ext cx="2872126" cy="50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국제예비심사보고서 작정 전의 보정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205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7910175" y="2831847"/>
            <a:ext cx="2872126" cy="50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보정의 특례 등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208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7910175" y="1790699"/>
            <a:ext cx="2872126" cy="50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변경출원시기의 제한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209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825500" y="4140199"/>
            <a:ext cx="1016000" cy="88900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조의</a:t>
            </a:r>
            <a:r>
              <a:rPr lang="en-US" altLang="ko-KR" dirty="0"/>
              <a:t>3</a:t>
            </a:r>
          </a:p>
        </p:txBody>
      </p:sp>
      <p:cxnSp>
        <p:nvCxnSpPr>
          <p:cNvPr id="88" name="직선 연결선 87"/>
          <p:cNvCxnSpPr>
            <a:stCxn id="6" idx="2"/>
            <a:endCxn id="86" idx="0"/>
          </p:cNvCxnSpPr>
          <p:nvPr/>
        </p:nvCxnSpPr>
        <p:spPr>
          <a:xfrm>
            <a:off x="1333500" y="3556000"/>
            <a:ext cx="0" cy="58419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/>
          <p:cNvCxnSpPr>
            <a:stCxn id="7" idx="3"/>
            <a:endCxn id="69" idx="1"/>
          </p:cNvCxnSpPr>
          <p:nvPr/>
        </p:nvCxnSpPr>
        <p:spPr>
          <a:xfrm>
            <a:off x="4170007" y="1358646"/>
            <a:ext cx="42987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>
            <a:stCxn id="8" idx="3"/>
            <a:endCxn id="68" idx="1"/>
          </p:cNvCxnSpPr>
          <p:nvPr/>
        </p:nvCxnSpPr>
        <p:spPr>
          <a:xfrm>
            <a:off x="4170006" y="2044699"/>
            <a:ext cx="429871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그룹 95"/>
          <p:cNvGrpSpPr/>
          <p:nvPr/>
        </p:nvGrpSpPr>
        <p:grpSpPr>
          <a:xfrm>
            <a:off x="4599877" y="2368169"/>
            <a:ext cx="317500" cy="647954"/>
            <a:chOff x="4853877" y="3015869"/>
            <a:chExt cx="317500" cy="743330"/>
          </a:xfrm>
        </p:grpSpPr>
        <p:sp>
          <p:nvSpPr>
            <p:cNvPr id="94" name="직사각형 93"/>
            <p:cNvSpPr/>
            <p:nvPr/>
          </p:nvSpPr>
          <p:spPr>
            <a:xfrm>
              <a:off x="4853877" y="3015869"/>
              <a:ext cx="317500" cy="349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1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4853877" y="3409822"/>
              <a:ext cx="317500" cy="349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2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/>
          <p:cNvSpPr/>
          <p:nvPr/>
        </p:nvSpPr>
        <p:spPr>
          <a:xfrm>
            <a:off x="4599877" y="5187569"/>
            <a:ext cx="317500" cy="304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①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4599877" y="5530974"/>
            <a:ext cx="317500" cy="304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②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4599877" y="5874379"/>
            <a:ext cx="317500" cy="304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③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4599877" y="6217784"/>
            <a:ext cx="317500" cy="304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④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7910175" y="5187569"/>
            <a:ext cx="317500" cy="304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①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7910175" y="5530974"/>
            <a:ext cx="317500" cy="304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②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7910175" y="5874379"/>
            <a:ext cx="317500" cy="304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③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7901878" y="3427987"/>
            <a:ext cx="317500" cy="304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①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7901878" y="3797297"/>
            <a:ext cx="317500" cy="304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③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7901878" y="4140702"/>
            <a:ext cx="317500" cy="304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④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11" name="꺾인 연결선 110"/>
          <p:cNvCxnSpPr>
            <a:stCxn id="73" idx="2"/>
            <a:endCxn id="94" idx="3"/>
          </p:cNvCxnSpPr>
          <p:nvPr/>
        </p:nvCxnSpPr>
        <p:spPr>
          <a:xfrm rot="5400000">
            <a:off x="7020936" y="195141"/>
            <a:ext cx="221745" cy="4428861"/>
          </a:xfrm>
          <a:prstGeom prst="bentConnector2">
            <a:avLst/>
          </a:prstGeom>
          <a:ln w="127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꺾인 연결선 121"/>
          <p:cNvCxnSpPr>
            <a:stCxn id="95" idx="1"/>
            <a:endCxn id="8" idx="2"/>
          </p:cNvCxnSpPr>
          <p:nvPr/>
        </p:nvCxnSpPr>
        <p:spPr>
          <a:xfrm rot="10800000">
            <a:off x="3256843" y="2298699"/>
            <a:ext cx="1343034" cy="565150"/>
          </a:xfrm>
          <a:prstGeom prst="bentConnector2">
            <a:avLst/>
          </a:prstGeom>
          <a:ln w="127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꺾인 연결선 123"/>
          <p:cNvCxnSpPr>
            <a:stCxn id="12" idx="3"/>
            <a:endCxn id="70" idx="1"/>
          </p:cNvCxnSpPr>
          <p:nvPr/>
        </p:nvCxnSpPr>
        <p:spPr>
          <a:xfrm flipV="1">
            <a:off x="4170002" y="4826251"/>
            <a:ext cx="429875" cy="5715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/>
          <p:cNvCxnSpPr>
            <a:stCxn id="98" idx="3"/>
            <a:endCxn id="102" idx="1"/>
          </p:cNvCxnSpPr>
          <p:nvPr/>
        </p:nvCxnSpPr>
        <p:spPr>
          <a:xfrm>
            <a:off x="4917377" y="5339844"/>
            <a:ext cx="2992798" cy="0"/>
          </a:xfrm>
          <a:prstGeom prst="line">
            <a:avLst/>
          </a:prstGeom>
          <a:ln w="127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/>
          <p:cNvCxnSpPr>
            <a:stCxn id="99" idx="3"/>
            <a:endCxn id="103" idx="1"/>
          </p:cNvCxnSpPr>
          <p:nvPr/>
        </p:nvCxnSpPr>
        <p:spPr>
          <a:xfrm>
            <a:off x="4917377" y="5683249"/>
            <a:ext cx="2992798" cy="0"/>
          </a:xfrm>
          <a:prstGeom prst="line">
            <a:avLst/>
          </a:prstGeom>
          <a:ln w="127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꺾인 연결선 129"/>
          <p:cNvCxnSpPr>
            <a:stCxn id="104" idx="1"/>
            <a:endCxn id="101" idx="3"/>
          </p:cNvCxnSpPr>
          <p:nvPr/>
        </p:nvCxnSpPr>
        <p:spPr>
          <a:xfrm rot="10800000" flipV="1">
            <a:off x="4917377" y="6026653"/>
            <a:ext cx="2992798" cy="343405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꺾인 연결선 133"/>
          <p:cNvCxnSpPr>
            <a:stCxn id="99" idx="1"/>
            <a:endCxn id="106" idx="3"/>
          </p:cNvCxnSpPr>
          <p:nvPr/>
        </p:nvCxnSpPr>
        <p:spPr>
          <a:xfrm rot="10800000" flipH="1">
            <a:off x="4599876" y="3580263"/>
            <a:ext cx="3619501" cy="2102987"/>
          </a:xfrm>
          <a:prstGeom prst="bentConnector5">
            <a:avLst>
              <a:gd name="adj1" fmla="val -6316"/>
              <a:gd name="adj2" fmla="val -43605"/>
              <a:gd name="adj3" fmla="val 194386"/>
            </a:avLst>
          </a:prstGeom>
          <a:ln w="127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꺾인 연결선 137"/>
          <p:cNvCxnSpPr>
            <a:stCxn id="103" idx="3"/>
            <a:endCxn id="106" idx="3"/>
          </p:cNvCxnSpPr>
          <p:nvPr/>
        </p:nvCxnSpPr>
        <p:spPr>
          <a:xfrm flipH="1" flipV="1">
            <a:off x="8219378" y="3580262"/>
            <a:ext cx="8297" cy="2102987"/>
          </a:xfrm>
          <a:prstGeom prst="bentConnector3">
            <a:avLst>
              <a:gd name="adj1" fmla="val -41022056"/>
            </a:avLst>
          </a:prstGeom>
          <a:ln w="127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/>
          <p:cNvCxnSpPr>
            <a:stCxn id="68" idx="3"/>
            <a:endCxn id="73" idx="1"/>
          </p:cNvCxnSpPr>
          <p:nvPr/>
        </p:nvCxnSpPr>
        <p:spPr>
          <a:xfrm>
            <a:off x="7472003" y="2044699"/>
            <a:ext cx="43817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142"/>
          <p:cNvCxnSpPr>
            <a:stCxn id="70" idx="3"/>
            <a:endCxn id="71" idx="1"/>
          </p:cNvCxnSpPr>
          <p:nvPr/>
        </p:nvCxnSpPr>
        <p:spPr>
          <a:xfrm>
            <a:off x="7472003" y="4826251"/>
            <a:ext cx="43817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>
            <a:stCxn id="70" idx="0"/>
            <a:endCxn id="72" idx="1"/>
          </p:cNvCxnSpPr>
          <p:nvPr/>
        </p:nvCxnSpPr>
        <p:spPr>
          <a:xfrm rot="5400000" flipH="1" flipV="1">
            <a:off x="6229855" y="2891932"/>
            <a:ext cx="1486404" cy="187423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146"/>
          <p:cNvCxnSpPr>
            <a:stCxn id="71" idx="3"/>
            <a:endCxn id="72" idx="3"/>
          </p:cNvCxnSpPr>
          <p:nvPr/>
        </p:nvCxnSpPr>
        <p:spPr>
          <a:xfrm flipV="1">
            <a:off x="10782301" y="3085847"/>
            <a:ext cx="12700" cy="1740404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566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26417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203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국내진입의사표시서면의 제출</a:t>
            </a: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408544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875" y="976902"/>
            <a:ext cx="1193632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203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서면의 제출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) 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국제특허출원의 출원인은 국내서면제출기간에 다음 각 호의 사항을 적은 서면을 지식재산처장에게 제출하여야 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이 경우 국제특허출원을 외국어로 출원한 </a:t>
            </a:r>
            <a:r>
              <a:rPr lang="ko-KR" altLang="en-US" sz="1400" dirty="0" err="1">
                <a:solidFill>
                  <a:srgbClr val="FF0000"/>
                </a:solidFill>
                <a:latin typeface="+mn-ea"/>
              </a:rPr>
              <a:t>출원인은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 제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201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항에 따른 국어번역문을 함께 제출하여야 한다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출원인의 성명 및 주소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법인인 경우에는 그 명칭 및 영업소의 소재지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출원인의 대리인이 있는 경우에는 그 대리인의 성명 및 주소나 영업소의 소재지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[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대리인이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특허법인ㆍ특허법인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유한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인 경우에는 그 명칭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사무소의 소재지 및 지정된 변리사의 성명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]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발명의 명칭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발명자의 성명 및 주소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5.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국제출원일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및 국제출원번호</a:t>
            </a:r>
          </a:p>
          <a:p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후단에도 불구하고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201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단서에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따라 국어번역문의 제출기간을 연장하여 달라는 취지를 적어 제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항 전단에 따른 서면을 제출하는 경우에는 국어번역문을 함께 제출하지 아니할 수 있다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지식재산처장은 다음 각 호의 어느 하나에 해당하는 경우에는 보정기간을 정하여 보정을 명하여야 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전단에 따른 서면을 국내서면제출기간에 제출하지 아니한 경우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전단에 따라 제출된 서면이 이 법 또는 이 법에 따른 명령으로 정하는 방식에 위반되는 경우</a:t>
            </a:r>
          </a:p>
          <a:p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④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따른 보정명령을 받은 자가 지정된 기간에 보정을 하지 아니하면 지식재산처장은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해당 국제특허출원을 무효로 할 수 있다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.</a:t>
            </a:r>
          </a:p>
        </p:txBody>
      </p:sp>
      <p:sp>
        <p:nvSpPr>
          <p:cNvPr id="52" name="양쪽 모서리가 둥근 사각형 51"/>
          <p:cNvSpPr/>
          <p:nvPr/>
        </p:nvSpPr>
        <p:spPr>
          <a:xfrm>
            <a:off x="7444564" y="5004030"/>
            <a:ext cx="1688411" cy="385521"/>
          </a:xfrm>
          <a:prstGeom prst="round2SameRect">
            <a:avLst>
              <a:gd name="adj1" fmla="val 0"/>
              <a:gd name="adj2" fmla="val 50000"/>
            </a:avLst>
          </a:prstGeom>
          <a:pattFill prst="pct10">
            <a:fgClr>
              <a:schemeClr val="bg2">
                <a:lumMod val="5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양쪽 모서리가 둥근 사각형 52"/>
          <p:cNvSpPr/>
          <p:nvPr/>
        </p:nvSpPr>
        <p:spPr>
          <a:xfrm>
            <a:off x="1402994" y="4580217"/>
            <a:ext cx="7729982" cy="404667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4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4" name="직선 연결선 53"/>
          <p:cNvCxnSpPr/>
          <p:nvPr/>
        </p:nvCxnSpPr>
        <p:spPr>
          <a:xfrm>
            <a:off x="990600" y="4984884"/>
            <a:ext cx="1045940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689336" y="4828329"/>
            <a:ext cx="1190264" cy="334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국내출원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3814943" y="4249360"/>
            <a:ext cx="2886992" cy="2949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31</a:t>
            </a:r>
            <a:r>
              <a:rPr lang="ko-KR" altLang="en-US" sz="1400" dirty="0">
                <a:solidFill>
                  <a:schemeClr val="tx1"/>
                </a:solidFill>
              </a:rPr>
              <a:t>개월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국내서면제출기간의 만료일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2451100" y="4828329"/>
            <a:ext cx="1190264" cy="334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국제출원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2451100" y="5169166"/>
            <a:ext cx="1190264" cy="3343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우선권주장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051300" y="4828329"/>
            <a:ext cx="1320800" cy="334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수수료 납부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7827822" y="5046251"/>
            <a:ext cx="669660" cy="2900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</a:t>
            </a:r>
            <a:r>
              <a:rPr lang="ko-KR" altLang="en-US" sz="1600" b="1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74" name="양쪽 모서리가 둥근 사각형 73"/>
          <p:cNvSpPr/>
          <p:nvPr/>
        </p:nvSpPr>
        <p:spPr>
          <a:xfrm>
            <a:off x="9132975" y="5004030"/>
            <a:ext cx="1688411" cy="385521"/>
          </a:xfrm>
          <a:prstGeom prst="round2SameRect">
            <a:avLst>
              <a:gd name="adj1" fmla="val 0"/>
              <a:gd name="adj2" fmla="val 50000"/>
            </a:avLst>
          </a:prstGeom>
          <a:pattFill prst="dotGrid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/>
          <p:cNvSpPr/>
          <p:nvPr/>
        </p:nvSpPr>
        <p:spPr>
          <a:xfrm>
            <a:off x="9516233" y="5046251"/>
            <a:ext cx="669660" cy="2900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</a:t>
            </a:r>
            <a:r>
              <a:rPr lang="ko-KR" altLang="en-US" sz="1600" b="1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76" name="직사각형 75"/>
          <p:cNvSpPr/>
          <p:nvPr/>
        </p:nvSpPr>
        <p:spPr>
          <a:xfrm>
            <a:off x="6870700" y="5884322"/>
            <a:ext cx="2262275" cy="49107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국내진입의사표시서면 제출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203</a:t>
            </a:r>
            <a:r>
              <a:rPr lang="ko-KR" altLang="en-US" sz="1400" dirty="0">
                <a:solidFill>
                  <a:schemeClr val="tx1"/>
                </a:solidFill>
              </a:rPr>
              <a:t>조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9" name="직선 화살표 연결선 18"/>
          <p:cNvCxnSpPr/>
          <p:nvPr/>
        </p:nvCxnSpPr>
        <p:spPr>
          <a:xfrm flipV="1">
            <a:off x="8737600" y="5020775"/>
            <a:ext cx="0" cy="86354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9473363" y="5884322"/>
            <a:ext cx="2262275" cy="491078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 제출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201</a:t>
            </a:r>
            <a:r>
              <a:rPr lang="ko-KR" altLang="en-US" sz="1400" dirty="0">
                <a:solidFill>
                  <a:schemeClr val="tx1"/>
                </a:solidFill>
              </a:rPr>
              <a:t>조제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 err="1">
                <a:solidFill>
                  <a:schemeClr val="tx1"/>
                </a:solidFill>
              </a:rPr>
              <a:t>항단서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8" name="직선 화살표 연결선 77"/>
          <p:cNvCxnSpPr/>
          <p:nvPr/>
        </p:nvCxnSpPr>
        <p:spPr>
          <a:xfrm flipV="1">
            <a:off x="10426700" y="5020775"/>
            <a:ext cx="0" cy="86354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567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36350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직선 연결선 78"/>
          <p:cNvCxnSpPr/>
          <p:nvPr/>
        </p:nvCxnSpPr>
        <p:spPr>
          <a:xfrm>
            <a:off x="7251700" y="5160606"/>
            <a:ext cx="0" cy="88136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양쪽 모서리가 둥근 사각형 135"/>
          <p:cNvSpPr/>
          <p:nvPr/>
        </p:nvSpPr>
        <p:spPr>
          <a:xfrm>
            <a:off x="3352799" y="6061119"/>
            <a:ext cx="7740406" cy="563320"/>
          </a:xfrm>
          <a:prstGeom prst="round2SameRect">
            <a:avLst>
              <a:gd name="adj1" fmla="val 0"/>
              <a:gd name="adj2" fmla="val 50000"/>
            </a:avLst>
          </a:prstGeom>
          <a:pattFill prst="pct10">
            <a:fgClr>
              <a:schemeClr val="bg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양쪽 모서리가 둥근 사각형 44"/>
          <p:cNvSpPr/>
          <p:nvPr/>
        </p:nvSpPr>
        <p:spPr>
          <a:xfrm>
            <a:off x="7166792" y="1598384"/>
            <a:ext cx="3997851" cy="404667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4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209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210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기준일의 정의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389118" y="1041400"/>
            <a:ext cx="1663700" cy="44450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/>
              <a:t>번역문 교체시기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2095500" y="1041400"/>
            <a:ext cx="2070100" cy="444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rgbClr val="FF0000"/>
                </a:solidFill>
              </a:rPr>
              <a:t>기준일</a:t>
            </a:r>
            <a:r>
              <a:rPr lang="ko-KR" altLang="en-US" sz="1600" dirty="0">
                <a:solidFill>
                  <a:schemeClr val="tx1"/>
                </a:solidFill>
              </a:rPr>
              <a:t>까지 가능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2171700" y="1485900"/>
            <a:ext cx="812800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389118" y="1839436"/>
            <a:ext cx="6240282" cy="89255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/>
              <a:t>1. </a:t>
            </a:r>
            <a:r>
              <a:rPr lang="ko-KR" altLang="en-US" sz="1600" dirty="0"/>
              <a:t>국제단계에서 </a:t>
            </a:r>
            <a:r>
              <a:rPr lang="ko-KR" altLang="en-US" sz="1600" dirty="0" err="1"/>
              <a:t>국내단계로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진입시점</a:t>
            </a:r>
            <a:endParaRPr lang="ko-KR" altLang="en-US" sz="1600" dirty="0"/>
          </a:p>
          <a:p>
            <a:r>
              <a:rPr lang="en-US" altLang="ko-KR" sz="1600" dirty="0"/>
              <a:t>2. </a:t>
            </a:r>
            <a:r>
              <a:rPr lang="ko-KR" altLang="en-US" sz="1600" dirty="0"/>
              <a:t>국어번역문의 확정일</a:t>
            </a:r>
            <a:r>
              <a:rPr lang="en-US" altLang="ko-KR" sz="1600" dirty="0"/>
              <a:t>(</a:t>
            </a:r>
            <a:r>
              <a:rPr lang="ko-KR" altLang="en-US" sz="1600" dirty="0"/>
              <a:t>기준일이 지난 후에는 더 이상 번역문 교체 불가</a:t>
            </a:r>
            <a:r>
              <a:rPr lang="en-US" altLang="ko-KR" sz="1600" dirty="0"/>
              <a:t>)</a:t>
            </a:r>
          </a:p>
          <a:p>
            <a:r>
              <a:rPr lang="en-US" altLang="ko-KR" sz="1600" dirty="0"/>
              <a:t>3. </a:t>
            </a:r>
            <a:r>
              <a:rPr lang="ko-KR" altLang="en-US" sz="2000" dirty="0">
                <a:solidFill>
                  <a:srgbClr val="FF0000"/>
                </a:solidFill>
              </a:rPr>
              <a:t>국내서면제출기간</a:t>
            </a:r>
            <a:r>
              <a:rPr lang="ko-KR" altLang="en-US" sz="1600" dirty="0"/>
              <a:t>의 만료일과 </a:t>
            </a:r>
            <a:r>
              <a:rPr lang="ko-KR" altLang="en-US" sz="2000" dirty="0">
                <a:solidFill>
                  <a:srgbClr val="FF0000"/>
                </a:solidFill>
              </a:rPr>
              <a:t>출원인의 심사청구</a:t>
            </a:r>
            <a:r>
              <a:rPr lang="ko-KR" altLang="en-US" sz="1600" dirty="0"/>
              <a:t> 중 빠른 때 </a:t>
            </a:r>
          </a:p>
        </p:txBody>
      </p:sp>
      <p:sp>
        <p:nvSpPr>
          <p:cNvPr id="28" name="자유형 27"/>
          <p:cNvSpPr/>
          <p:nvPr/>
        </p:nvSpPr>
        <p:spPr>
          <a:xfrm>
            <a:off x="190500" y="1511300"/>
            <a:ext cx="2425700" cy="990600"/>
          </a:xfrm>
          <a:custGeom>
            <a:avLst/>
            <a:gdLst>
              <a:gd name="connsiteX0" fmla="*/ 203200 w 2425700"/>
              <a:gd name="connsiteY0" fmla="*/ 762000 h 762000"/>
              <a:gd name="connsiteX1" fmla="*/ 0 w 2425700"/>
              <a:gd name="connsiteY1" fmla="*/ 762000 h 762000"/>
              <a:gd name="connsiteX2" fmla="*/ 0 w 2425700"/>
              <a:gd name="connsiteY2" fmla="*/ 152400 h 762000"/>
              <a:gd name="connsiteX3" fmla="*/ 2425700 w 2425700"/>
              <a:gd name="connsiteY3" fmla="*/ 152400 h 762000"/>
              <a:gd name="connsiteX4" fmla="*/ 2425700 w 2425700"/>
              <a:gd name="connsiteY4" fmla="*/ 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700" h="762000">
                <a:moveTo>
                  <a:pt x="203200" y="762000"/>
                </a:moveTo>
                <a:lnTo>
                  <a:pt x="0" y="762000"/>
                </a:lnTo>
                <a:lnTo>
                  <a:pt x="0" y="152400"/>
                </a:lnTo>
                <a:lnTo>
                  <a:pt x="2425700" y="152400"/>
                </a:lnTo>
                <a:lnTo>
                  <a:pt x="2425700" y="0"/>
                </a:lnTo>
              </a:path>
            </a:pathLst>
          </a:custGeom>
          <a:noFill/>
          <a:ln w="38100">
            <a:solidFill>
              <a:schemeClr val="accent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연결선 61"/>
          <p:cNvCxnSpPr/>
          <p:nvPr/>
        </p:nvCxnSpPr>
        <p:spPr>
          <a:xfrm>
            <a:off x="698500" y="2731988"/>
            <a:ext cx="1828800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/>
          <p:cNvSpPr/>
          <p:nvPr/>
        </p:nvSpPr>
        <p:spPr>
          <a:xfrm>
            <a:off x="389118" y="3065241"/>
            <a:ext cx="5821182" cy="64633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600" dirty="0"/>
              <a:t>1. </a:t>
            </a:r>
            <a:r>
              <a:rPr lang="ko-KR" altLang="en-US" sz="1600" dirty="0"/>
              <a:t>번역문 제출기간</a:t>
            </a:r>
          </a:p>
          <a:p>
            <a:pPr fontAlgn="base"/>
            <a:r>
              <a:rPr lang="en-US" altLang="ko-KR" sz="1600" dirty="0"/>
              <a:t>2. </a:t>
            </a:r>
            <a:r>
              <a:rPr lang="ko-KR" altLang="en-US" sz="2000" dirty="0">
                <a:solidFill>
                  <a:srgbClr val="FF0000"/>
                </a:solidFill>
              </a:rPr>
              <a:t>우선일</a:t>
            </a:r>
            <a:r>
              <a:rPr lang="ko-KR" altLang="en-US" sz="1600" dirty="0"/>
              <a:t>로부터 </a:t>
            </a:r>
            <a:r>
              <a:rPr lang="en-US" altLang="ko-KR" sz="1600" dirty="0"/>
              <a:t>2</a:t>
            </a:r>
            <a:r>
              <a:rPr lang="ko-KR" altLang="en-US" sz="1600" dirty="0"/>
              <a:t>년 </a:t>
            </a:r>
            <a:r>
              <a:rPr lang="en-US" altLang="ko-KR" sz="1600" dirty="0"/>
              <a:t>7</a:t>
            </a:r>
            <a:r>
              <a:rPr lang="ko-KR" altLang="en-US" sz="1600" dirty="0"/>
              <a:t>월</a:t>
            </a:r>
          </a:p>
        </p:txBody>
      </p:sp>
      <p:cxnSp>
        <p:nvCxnSpPr>
          <p:cNvPr id="74" name="직선 연결선 73"/>
          <p:cNvCxnSpPr/>
          <p:nvPr/>
        </p:nvCxnSpPr>
        <p:spPr>
          <a:xfrm>
            <a:off x="698500" y="3697058"/>
            <a:ext cx="657512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389118" y="4000310"/>
            <a:ext cx="5821182" cy="9541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600" dirty="0"/>
              <a:t>1. </a:t>
            </a:r>
            <a:r>
              <a:rPr lang="ko-KR" altLang="en-US" sz="1600" dirty="0" err="1"/>
              <a:t>국제출원이</a:t>
            </a:r>
            <a:r>
              <a:rPr lang="ko-KR" altLang="en-US" sz="1600" dirty="0"/>
              <a:t> 우선권주장을 수반하는 경우 </a:t>
            </a:r>
            <a:r>
              <a:rPr lang="en-US" altLang="ko-KR" sz="1600" dirty="0"/>
              <a:t>– </a:t>
            </a:r>
            <a:r>
              <a:rPr lang="ko-KR" altLang="en-US" sz="1600" dirty="0"/>
              <a:t>우선권주장의 최우선일</a:t>
            </a:r>
          </a:p>
          <a:p>
            <a:pPr fontAlgn="base"/>
            <a:r>
              <a:rPr lang="en-US" altLang="ko-KR" sz="1600" dirty="0"/>
              <a:t>2. </a:t>
            </a:r>
            <a:r>
              <a:rPr lang="ko-KR" altLang="en-US" sz="1600" dirty="0" err="1"/>
              <a:t>국제출원이</a:t>
            </a:r>
            <a:r>
              <a:rPr lang="ko-KR" altLang="en-US" sz="1600" dirty="0"/>
              <a:t> 우선권주장을 수반하지 아니한 경우 </a:t>
            </a:r>
            <a:r>
              <a:rPr lang="en-US" altLang="ko-KR" sz="1600" dirty="0"/>
              <a:t>– </a:t>
            </a:r>
            <a:r>
              <a:rPr lang="ko-KR" altLang="en-US" sz="1600" dirty="0" err="1"/>
              <a:t>국제출원일</a:t>
            </a:r>
            <a:endParaRPr lang="en-US" altLang="ko-KR" sz="1600" dirty="0"/>
          </a:p>
          <a:p>
            <a:pPr marL="88900" indent="-88900" fontAlgn="base"/>
            <a:r>
              <a:rPr lang="en-US" altLang="ko-KR" sz="1200" dirty="0"/>
              <a:t>* </a:t>
            </a:r>
            <a:r>
              <a:rPr lang="ko-KR" altLang="en-US" sz="1200" dirty="0"/>
              <a:t>일반적으로 조약</a:t>
            </a:r>
            <a:r>
              <a:rPr lang="en-US" altLang="ko-KR" sz="1200" dirty="0"/>
              <a:t>/</a:t>
            </a:r>
            <a:r>
              <a:rPr lang="ko-KR" altLang="en-US" sz="1200" dirty="0"/>
              <a:t>국내우선권주장의 </a:t>
            </a:r>
            <a:r>
              <a:rPr lang="ko-KR" altLang="en-US" sz="1200" dirty="0" err="1"/>
              <a:t>판단시점이</a:t>
            </a:r>
            <a:r>
              <a:rPr lang="ko-KR" altLang="en-US" sz="1200" dirty="0"/>
              <a:t> 소급하는 경우 </a:t>
            </a:r>
            <a:r>
              <a:rPr lang="en-US" altLang="ko-KR" sz="1200" dirty="0"/>
              <a:t> PCT </a:t>
            </a:r>
            <a:r>
              <a:rPr lang="ko-KR" altLang="en-US" sz="1200" dirty="0"/>
              <a:t>출원은 우선일 기준</a:t>
            </a:r>
            <a:r>
              <a:rPr lang="en-US" altLang="ko-KR" sz="1200" dirty="0"/>
              <a:t>, </a:t>
            </a:r>
            <a:r>
              <a:rPr lang="ko-KR" altLang="en-US" sz="1200" dirty="0"/>
              <a:t>그렇지 아니한 경우 </a:t>
            </a:r>
            <a:r>
              <a:rPr lang="ko-KR" altLang="en-US" sz="1200" dirty="0" err="1"/>
              <a:t>국제출원일</a:t>
            </a:r>
            <a:r>
              <a:rPr lang="ko-KR" altLang="en-US" sz="1200" dirty="0"/>
              <a:t> 기준으로 함</a:t>
            </a:r>
          </a:p>
        </p:txBody>
      </p:sp>
      <p:sp>
        <p:nvSpPr>
          <p:cNvPr id="37" name="자유형 36"/>
          <p:cNvSpPr/>
          <p:nvPr/>
        </p:nvSpPr>
        <p:spPr>
          <a:xfrm>
            <a:off x="114300" y="3711572"/>
            <a:ext cx="914400" cy="844099"/>
          </a:xfrm>
          <a:custGeom>
            <a:avLst/>
            <a:gdLst>
              <a:gd name="connsiteX0" fmla="*/ 266700 w 914400"/>
              <a:gd name="connsiteY0" fmla="*/ 952500 h 952500"/>
              <a:gd name="connsiteX1" fmla="*/ 0 w 914400"/>
              <a:gd name="connsiteY1" fmla="*/ 952500 h 952500"/>
              <a:gd name="connsiteX2" fmla="*/ 0 w 914400"/>
              <a:gd name="connsiteY2" fmla="*/ 241300 h 952500"/>
              <a:gd name="connsiteX3" fmla="*/ 914400 w 914400"/>
              <a:gd name="connsiteY3" fmla="*/ 241300 h 952500"/>
              <a:gd name="connsiteX4" fmla="*/ 914400 w 914400"/>
              <a:gd name="connsiteY4" fmla="*/ 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952500">
                <a:moveTo>
                  <a:pt x="266700" y="952500"/>
                </a:moveTo>
                <a:lnTo>
                  <a:pt x="0" y="952500"/>
                </a:lnTo>
                <a:lnTo>
                  <a:pt x="0" y="241300"/>
                </a:lnTo>
                <a:lnTo>
                  <a:pt x="914400" y="241300"/>
                </a:lnTo>
                <a:lnTo>
                  <a:pt x="914400" y="0"/>
                </a:lnTo>
              </a:path>
            </a:pathLst>
          </a:custGeom>
          <a:noFill/>
          <a:ln w="38100">
            <a:solidFill>
              <a:schemeClr val="accent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/>
          <p:cNvSpPr/>
          <p:nvPr/>
        </p:nvSpPr>
        <p:spPr>
          <a:xfrm>
            <a:off x="6320018" y="3137811"/>
            <a:ext cx="5744982" cy="181588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266700" indent="-266700" fontAlgn="base">
              <a:buAutoNum type="arabicPeriod"/>
            </a:pPr>
            <a:r>
              <a:rPr lang="ko-KR" altLang="en-US" sz="1600" dirty="0"/>
              <a:t>출원인 </a:t>
            </a:r>
            <a:r>
              <a:rPr lang="en-US" altLang="ko-KR" sz="1600" dirty="0"/>
              <a:t>- </a:t>
            </a:r>
            <a:r>
              <a:rPr lang="ko-KR" altLang="en-US" sz="1600" dirty="0"/>
              <a:t>수수료 납부와 번역문을 제출한 경우에만 심사청구가능</a:t>
            </a:r>
            <a:r>
              <a:rPr lang="en-US" altLang="ko-KR" sz="1600" dirty="0"/>
              <a:t>(</a:t>
            </a:r>
            <a:r>
              <a:rPr lang="ko-KR" altLang="en-US" sz="1600" dirty="0"/>
              <a:t>최소한 심사를 받기 위한 요건</a:t>
            </a:r>
            <a:r>
              <a:rPr lang="en-US" altLang="ko-KR" sz="1600" dirty="0"/>
              <a:t>): </a:t>
            </a:r>
            <a:r>
              <a:rPr lang="ko-KR" altLang="en-US" sz="1600" dirty="0" err="1"/>
              <a:t>변경출원시기의</a:t>
            </a:r>
            <a:r>
              <a:rPr lang="ko-KR" altLang="en-US" sz="1600" dirty="0"/>
              <a:t> 제한</a:t>
            </a:r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209</a:t>
            </a:r>
            <a:r>
              <a:rPr lang="ko-KR" altLang="en-US" sz="1600" dirty="0"/>
              <a:t>조</a:t>
            </a:r>
            <a:r>
              <a:rPr lang="en-US" altLang="ko-KR" sz="1600" dirty="0"/>
              <a:t>)</a:t>
            </a:r>
            <a:r>
              <a:rPr lang="ko-KR" altLang="en-US" sz="1600" dirty="0"/>
              <a:t>도 동일</a:t>
            </a:r>
            <a:endParaRPr lang="en-US" altLang="ko-KR" sz="1600" dirty="0"/>
          </a:p>
          <a:p>
            <a:pPr marL="266700" indent="-266700" fontAlgn="base">
              <a:buAutoNum type="arabicPeriod"/>
            </a:pPr>
            <a:r>
              <a:rPr lang="ko-KR" altLang="en-US" sz="1600" dirty="0"/>
              <a:t>제</a:t>
            </a:r>
            <a:r>
              <a:rPr lang="en-US" altLang="ko-KR" sz="1600" dirty="0"/>
              <a:t>3</a:t>
            </a:r>
            <a:r>
              <a:rPr lang="ko-KR" altLang="en-US" sz="1600" dirty="0"/>
              <a:t>자 </a:t>
            </a:r>
            <a:r>
              <a:rPr lang="en-US" altLang="ko-KR" sz="1600" dirty="0"/>
              <a:t>- </a:t>
            </a:r>
            <a:r>
              <a:rPr lang="ko-KR" altLang="en-US" sz="1600" dirty="0" err="1"/>
              <a:t>국내서면제출기간</a:t>
            </a:r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201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/>
              <a:t>항 각 호 외의 부분 단서에 따라 국어번역문의 제출기간을 연장하여 달라는 취지를 적은 서면이 제출된 경우에는 연장된 </a:t>
            </a:r>
            <a:r>
              <a:rPr lang="ko-KR" altLang="en-US" sz="1600" dirty="0" err="1"/>
              <a:t>국어번역문</a:t>
            </a:r>
            <a:r>
              <a:rPr lang="ko-KR" altLang="en-US" sz="1600" dirty="0"/>
              <a:t> 제출 기간을 말한다</a:t>
            </a:r>
            <a:r>
              <a:rPr lang="en-US" altLang="ko-KR" sz="1600" dirty="0"/>
              <a:t>)</a:t>
            </a:r>
            <a:r>
              <a:rPr lang="ko-KR" altLang="en-US" sz="1600" dirty="0"/>
              <a:t>이 지난 후 국제출원일로부터 </a:t>
            </a:r>
            <a:r>
              <a:rPr lang="en-US" altLang="ko-KR" sz="1600" dirty="0"/>
              <a:t>3</a:t>
            </a:r>
            <a:r>
              <a:rPr lang="ko-KR" altLang="en-US" sz="1600" dirty="0"/>
              <a:t>년 이내 심사청구가능</a:t>
            </a:r>
          </a:p>
        </p:txBody>
      </p:sp>
      <p:cxnSp>
        <p:nvCxnSpPr>
          <p:cNvPr id="39" name="직선 화살표 연결선 38"/>
          <p:cNvCxnSpPr/>
          <p:nvPr/>
        </p:nvCxnSpPr>
        <p:spPr>
          <a:xfrm flipH="1">
            <a:off x="1611086" y="2741386"/>
            <a:ext cx="4354" cy="323855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>
            <a:off x="3556000" y="2731988"/>
            <a:ext cx="1892300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6700432" y="2003051"/>
            <a:ext cx="531059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14"/>
          <p:cNvSpPr>
            <a:spLocks noChangeArrowheads="1"/>
          </p:cNvSpPr>
          <p:nvPr/>
        </p:nvSpPr>
        <p:spPr bwMode="auto">
          <a:xfrm flipV="1">
            <a:off x="7100116" y="192652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3" name="Rectangle 14"/>
          <p:cNvSpPr>
            <a:spLocks noChangeArrowheads="1"/>
          </p:cNvSpPr>
          <p:nvPr/>
        </p:nvSpPr>
        <p:spPr bwMode="auto">
          <a:xfrm flipV="1">
            <a:off x="11093205" y="192652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6709592" y="959758"/>
            <a:ext cx="914400" cy="279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우선일</a:t>
            </a:r>
          </a:p>
        </p:txBody>
      </p:sp>
      <p:cxnSp>
        <p:nvCxnSpPr>
          <p:cNvPr id="44" name="직선 화살표 연결선 43"/>
          <p:cNvCxnSpPr>
            <a:stCxn id="42" idx="2"/>
            <a:endCxn id="82" idx="4"/>
          </p:cNvCxnSpPr>
          <p:nvPr/>
        </p:nvCxnSpPr>
        <p:spPr>
          <a:xfrm>
            <a:off x="7166792" y="1239158"/>
            <a:ext cx="4762" cy="68736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/>
          <p:cNvSpPr/>
          <p:nvPr/>
        </p:nvSpPr>
        <p:spPr>
          <a:xfrm>
            <a:off x="8206213" y="1395512"/>
            <a:ext cx="2886992" cy="1517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31</a:t>
            </a:r>
            <a:r>
              <a:rPr lang="ko-KR" altLang="en-US" sz="1400" dirty="0">
                <a:solidFill>
                  <a:schemeClr val="tx1"/>
                </a:solidFill>
              </a:rPr>
              <a:t>개월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국내서면제출기간의 만료일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7774512" y="1837951"/>
            <a:ext cx="1153587" cy="342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심사청구일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7774512" y="2372797"/>
            <a:ext cx="1153587" cy="2216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심사청구 ○</a:t>
            </a:r>
          </a:p>
        </p:txBody>
      </p:sp>
      <p:sp>
        <p:nvSpPr>
          <p:cNvPr id="97" name="직사각형 96"/>
          <p:cNvSpPr/>
          <p:nvPr/>
        </p:nvSpPr>
        <p:spPr>
          <a:xfrm>
            <a:off x="7774512" y="2599584"/>
            <a:ext cx="1153587" cy="22163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기준일</a:t>
            </a:r>
          </a:p>
        </p:txBody>
      </p:sp>
      <p:cxnSp>
        <p:nvCxnSpPr>
          <p:cNvPr id="49" name="직선 화살표 연결선 48"/>
          <p:cNvCxnSpPr>
            <a:stCxn id="93" idx="0"/>
            <a:endCxn id="92" idx="2"/>
          </p:cNvCxnSpPr>
          <p:nvPr/>
        </p:nvCxnSpPr>
        <p:spPr>
          <a:xfrm flipV="1">
            <a:off x="8351306" y="2180850"/>
            <a:ext cx="0" cy="19194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/>
          <p:cNvSpPr/>
          <p:nvPr/>
        </p:nvSpPr>
        <p:spPr>
          <a:xfrm>
            <a:off x="10588514" y="2372797"/>
            <a:ext cx="1153587" cy="2216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심사청구 </a:t>
            </a:r>
            <a:r>
              <a:rPr lang="en-US" altLang="ko-KR" sz="1400" dirty="0">
                <a:solidFill>
                  <a:schemeClr val="tx1"/>
                </a:solidFill>
              </a:rPr>
              <a:t>×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10588514" y="2599584"/>
            <a:ext cx="1153587" cy="22163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기준일</a:t>
            </a:r>
          </a:p>
        </p:txBody>
      </p:sp>
      <p:cxnSp>
        <p:nvCxnSpPr>
          <p:cNvPr id="110" name="직선 화살표 연결선 109"/>
          <p:cNvCxnSpPr>
            <a:stCxn id="105" idx="0"/>
            <a:endCxn id="83" idx="0"/>
          </p:cNvCxnSpPr>
          <p:nvPr/>
        </p:nvCxnSpPr>
        <p:spPr>
          <a:xfrm flipH="1" flipV="1">
            <a:off x="11164643" y="2079582"/>
            <a:ext cx="665" cy="29321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양쪽 모서리가 둥근 사각형 111"/>
          <p:cNvSpPr/>
          <p:nvPr/>
        </p:nvSpPr>
        <p:spPr>
          <a:xfrm>
            <a:off x="1695093" y="5637306"/>
            <a:ext cx="7146219" cy="404667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4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3" name="직선 연결선 112"/>
          <p:cNvCxnSpPr/>
          <p:nvPr/>
        </p:nvCxnSpPr>
        <p:spPr>
          <a:xfrm>
            <a:off x="1282700" y="6041973"/>
            <a:ext cx="1045940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/>
          <p:cNvSpPr/>
          <p:nvPr/>
        </p:nvSpPr>
        <p:spPr>
          <a:xfrm>
            <a:off x="981436" y="5885418"/>
            <a:ext cx="1190264" cy="334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특허출원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4107043" y="5306449"/>
            <a:ext cx="2886992" cy="2949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31</a:t>
            </a:r>
            <a:r>
              <a:rPr lang="ko-KR" altLang="en-US" sz="1400" dirty="0">
                <a:solidFill>
                  <a:schemeClr val="tx1"/>
                </a:solidFill>
              </a:rPr>
              <a:t>개월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국내서면제출기간의 만료일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8" name="자유형 57"/>
          <p:cNvSpPr/>
          <p:nvPr/>
        </p:nvSpPr>
        <p:spPr>
          <a:xfrm>
            <a:off x="4644571" y="2741386"/>
            <a:ext cx="2481943" cy="377371"/>
          </a:xfrm>
          <a:custGeom>
            <a:avLst/>
            <a:gdLst>
              <a:gd name="connsiteX0" fmla="*/ 2481943 w 2481943"/>
              <a:gd name="connsiteY0" fmla="*/ 377371 h 377371"/>
              <a:gd name="connsiteX1" fmla="*/ 2481943 w 2481943"/>
              <a:gd name="connsiteY1" fmla="*/ 232228 h 377371"/>
              <a:gd name="connsiteX2" fmla="*/ 0 w 2481943"/>
              <a:gd name="connsiteY2" fmla="*/ 232228 h 377371"/>
              <a:gd name="connsiteX3" fmla="*/ 0 w 2481943"/>
              <a:gd name="connsiteY3" fmla="*/ 0 h 377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943" h="377371">
                <a:moveTo>
                  <a:pt x="2481943" y="377371"/>
                </a:moveTo>
                <a:lnTo>
                  <a:pt x="2481943" y="232228"/>
                </a:lnTo>
                <a:lnTo>
                  <a:pt x="0" y="232228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accent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직사각형 130"/>
          <p:cNvSpPr/>
          <p:nvPr/>
        </p:nvSpPr>
        <p:spPr>
          <a:xfrm>
            <a:off x="2743200" y="5885418"/>
            <a:ext cx="1190264" cy="334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국제출원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2743200" y="6226255"/>
            <a:ext cx="1190264" cy="3343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우선권주장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4343400" y="5885418"/>
            <a:ext cx="1320800" cy="334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수수료 납부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6040032" y="5885418"/>
            <a:ext cx="1320800" cy="334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 제출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5885542" y="6368572"/>
            <a:ext cx="2886992" cy="2949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3</a:t>
            </a:r>
            <a:r>
              <a:rPr lang="ko-KR" altLang="en-US" sz="1400" dirty="0">
                <a:solidFill>
                  <a:schemeClr val="tx1"/>
                </a:solidFill>
              </a:rPr>
              <a:t>년</a:t>
            </a:r>
          </a:p>
        </p:txBody>
      </p:sp>
      <p:cxnSp>
        <p:nvCxnSpPr>
          <p:cNvPr id="139" name="직선 연결선 138"/>
          <p:cNvCxnSpPr/>
          <p:nvPr/>
        </p:nvCxnSpPr>
        <p:spPr>
          <a:xfrm>
            <a:off x="11080505" y="5160606"/>
            <a:ext cx="0" cy="88136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/>
          <p:cNvCxnSpPr/>
          <p:nvPr/>
        </p:nvCxnSpPr>
        <p:spPr>
          <a:xfrm>
            <a:off x="8841312" y="5601415"/>
            <a:ext cx="0" cy="44055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/>
          <p:nvPr/>
        </p:nvCxnSpPr>
        <p:spPr>
          <a:xfrm>
            <a:off x="7251700" y="5306449"/>
            <a:ext cx="3828805" cy="0"/>
          </a:xfrm>
          <a:prstGeom prst="line">
            <a:avLst/>
          </a:prstGeom>
          <a:ln w="3810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직사각형 140"/>
          <p:cNvSpPr/>
          <p:nvPr/>
        </p:nvSpPr>
        <p:spPr>
          <a:xfrm>
            <a:off x="7644845" y="4986083"/>
            <a:ext cx="2886992" cy="2949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출원인의 심사청구기간</a:t>
            </a:r>
          </a:p>
        </p:txBody>
      </p:sp>
      <p:cxnSp>
        <p:nvCxnSpPr>
          <p:cNvPr id="142" name="직선 연결선 141"/>
          <p:cNvCxnSpPr>
            <a:stCxn id="112" idx="0"/>
          </p:cNvCxnSpPr>
          <p:nvPr/>
        </p:nvCxnSpPr>
        <p:spPr>
          <a:xfrm flipV="1">
            <a:off x="8841312" y="5821694"/>
            <a:ext cx="2239193" cy="17946"/>
          </a:xfrm>
          <a:prstGeom prst="line">
            <a:avLst/>
          </a:prstGeom>
          <a:ln w="3810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직사각형 143"/>
          <p:cNvSpPr/>
          <p:nvPr/>
        </p:nvSpPr>
        <p:spPr>
          <a:xfrm>
            <a:off x="8564563" y="5495532"/>
            <a:ext cx="2886992" cy="2949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3</a:t>
            </a:r>
            <a:r>
              <a:rPr lang="ko-KR" altLang="en-US" sz="1400" dirty="0">
                <a:solidFill>
                  <a:schemeClr val="tx1"/>
                </a:solidFill>
              </a:rPr>
              <a:t>자의 심사청구기간</a:t>
            </a:r>
          </a:p>
        </p:txBody>
      </p:sp>
      <p:cxnSp>
        <p:nvCxnSpPr>
          <p:cNvPr id="145" name="직선 연결선 144"/>
          <p:cNvCxnSpPr>
            <a:cxnSpLocks/>
          </p:cNvCxnSpPr>
          <p:nvPr/>
        </p:nvCxnSpPr>
        <p:spPr>
          <a:xfrm>
            <a:off x="8351305" y="2162708"/>
            <a:ext cx="2813338" cy="0"/>
          </a:xfrm>
          <a:prstGeom prst="line">
            <a:avLst/>
          </a:prstGeom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자유형 149"/>
          <p:cNvSpPr/>
          <p:nvPr/>
        </p:nvSpPr>
        <p:spPr>
          <a:xfrm>
            <a:off x="8928100" y="2223592"/>
            <a:ext cx="1155700" cy="506908"/>
          </a:xfrm>
          <a:custGeom>
            <a:avLst/>
            <a:gdLst>
              <a:gd name="connsiteX0" fmla="*/ 0 w 1155700"/>
              <a:gd name="connsiteY0" fmla="*/ 673100 h 673100"/>
              <a:gd name="connsiteX1" fmla="*/ 1155700 w 1155700"/>
              <a:gd name="connsiteY1" fmla="*/ 673100 h 673100"/>
              <a:gd name="connsiteX2" fmla="*/ 1155700 w 1155700"/>
              <a:gd name="connsiteY2" fmla="*/ 0 h 67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5700" h="673100">
                <a:moveTo>
                  <a:pt x="0" y="673100"/>
                </a:moveTo>
                <a:lnTo>
                  <a:pt x="1155700" y="673100"/>
                </a:lnTo>
                <a:lnTo>
                  <a:pt x="1155700" y="0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직사각형 151"/>
          <p:cNvSpPr/>
          <p:nvPr/>
        </p:nvSpPr>
        <p:spPr>
          <a:xfrm>
            <a:off x="8193513" y="2715338"/>
            <a:ext cx="2886992" cy="2949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 교체 불가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568</a:t>
            </a:r>
            <a:endParaRPr lang="ko-KR" altLang="en-US" dirty="0"/>
          </a:p>
        </p:txBody>
      </p:sp>
      <p:sp>
        <p:nvSpPr>
          <p:cNvPr id="54" name="직사각형 53"/>
          <p:cNvSpPr/>
          <p:nvPr/>
        </p:nvSpPr>
        <p:spPr>
          <a:xfrm>
            <a:off x="6684948" y="2637871"/>
            <a:ext cx="914400" cy="27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210</a:t>
            </a:r>
            <a:r>
              <a:rPr lang="ko-KR" altLang="en-US" sz="1400" dirty="0">
                <a:solidFill>
                  <a:schemeClr val="tx1"/>
                </a:solidFill>
              </a:rPr>
              <a:t>조</a:t>
            </a:r>
          </a:p>
        </p:txBody>
      </p:sp>
    </p:spTree>
    <p:extLst>
      <p:ext uri="{BB962C8B-B14F-4D97-AF65-F5344CB8AC3E}">
        <p14:creationId xmlns:p14="http://schemas.microsoft.com/office/powerpoint/2010/main" val="35638142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209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210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우선일의 정의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56" name="모서리가 둥근 직사각형 10">
            <a:extLst>
              <a:ext uri="{FF2B5EF4-FFF2-40B4-BE49-F238E27FC236}">
                <a16:creationId xmlns:a16="http://schemas.microsoft.com/office/drawing/2014/main" id="{CBF276A3-D694-46C9-978B-5D3F4A36E6BB}"/>
              </a:ext>
            </a:extLst>
          </p:cNvPr>
          <p:cNvSpPr/>
          <p:nvPr/>
        </p:nvSpPr>
        <p:spPr bwMode="auto">
          <a:xfrm>
            <a:off x="378418" y="1002199"/>
            <a:ext cx="5258975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2017. 4. 28.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2014</a:t>
            </a:r>
            <a:r>
              <a:rPr lang="ko-KR" altLang="en-US" sz="1400" dirty="0"/>
              <a:t>두</a:t>
            </a:r>
            <a:r>
              <a:rPr lang="en-US" altLang="ko-KR" sz="1400" dirty="0"/>
              <a:t>42490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반려처분 취소청구</a:t>
            </a:r>
            <a:r>
              <a:rPr lang="en-US" altLang="ko-KR" sz="1400" dirty="0"/>
              <a:t>】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D2B08DF-5BB2-4DEC-A837-F8CAF2819AFD}"/>
              </a:ext>
            </a:extLst>
          </p:cNvPr>
          <p:cNvSpPr/>
          <p:nvPr/>
        </p:nvSpPr>
        <p:spPr>
          <a:xfrm>
            <a:off x="232372" y="1333658"/>
            <a:ext cx="1168198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/>
              <a:t>특허법과 특허협력조약의 규정들에 의하면</a:t>
            </a:r>
            <a:r>
              <a:rPr lang="en-US" altLang="ko-KR" sz="1400" dirty="0"/>
              <a:t>, </a:t>
            </a:r>
            <a:r>
              <a:rPr lang="ko-KR" altLang="en-US" sz="1400" dirty="0"/>
              <a:t>출원인이 </a:t>
            </a:r>
            <a:r>
              <a:rPr lang="ko-KR" altLang="en-US" sz="1400" dirty="0" err="1"/>
              <a:t>국제특허출원을</a:t>
            </a:r>
            <a:r>
              <a:rPr lang="ko-KR" altLang="en-US" sz="1400" dirty="0"/>
              <a:t> 하면서 파리협약의 당사국에서 </a:t>
            </a:r>
            <a:r>
              <a:rPr lang="ko-KR" altLang="en-US" sz="1400" dirty="0" err="1"/>
              <a:t>행하여진</a:t>
            </a:r>
            <a:r>
              <a:rPr lang="ko-KR" altLang="en-US" sz="1400" dirty="0"/>
              <a:t> 선출원에 의한 우선권을 주장하였다면 구 특허법 제</a:t>
            </a:r>
            <a:r>
              <a:rPr lang="en-US" altLang="ko-KR" sz="1400" dirty="0"/>
              <a:t>201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 본문의 우선일은 </a:t>
            </a:r>
            <a:r>
              <a:rPr lang="ko-KR" altLang="en-US" sz="1400" dirty="0" err="1"/>
              <a:t>국제특허출원의</a:t>
            </a:r>
            <a:r>
              <a:rPr lang="ko-KR" altLang="en-US" sz="1400" dirty="0"/>
              <a:t> 제출일이 아니라 우선권을 주장한 선출원의 제출일이 된다</a:t>
            </a:r>
            <a:r>
              <a:rPr lang="en-US" altLang="ko-KR" sz="1400" dirty="0"/>
              <a:t>. </a:t>
            </a:r>
            <a:r>
              <a:rPr lang="ko-KR" altLang="en-US" sz="1400" dirty="0"/>
              <a:t>그리고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우선일은 특허협력조약과 그 규칙에서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국제특허출원의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국제공개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국제조사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국제예비심사 청구 등 국제단계를 구성하는 각종 절차들의 기한을 정하는 기준으로 되어 있고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구 특허법에서도 명세서 및 청구의 범위 등에 관한 번역문의 제출기한의 기준일로 되어 있는 등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출원 관계 기관의 업무와 관련자들의 이해관계에 중대한 영향을 미치게 되므로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우선일은 일률적으로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정하여질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필요가 있다</a:t>
            </a:r>
            <a:r>
              <a:rPr lang="en-US" altLang="ko-KR" sz="1400" dirty="0"/>
              <a:t>. </a:t>
            </a:r>
            <a:r>
              <a:rPr lang="ko-KR" altLang="en-US" sz="1400" dirty="0"/>
              <a:t>따라서 </a:t>
            </a:r>
            <a:r>
              <a:rPr lang="ko-KR" altLang="en-US" sz="1400" dirty="0" err="1"/>
              <a:t>국제특허출원인의</a:t>
            </a:r>
            <a:r>
              <a:rPr lang="ko-KR" altLang="en-US" sz="1400" dirty="0"/>
              <a:t> 우선권 주장에 명백한 오류가 없다면 그 주장하는 날을 우선일로 보아 이를 기준으로 특허협력조약 및 구 특허법에서 정한 절차를 진행하여야 하며</a:t>
            </a:r>
            <a:r>
              <a:rPr lang="en-US" altLang="ko-KR" sz="1400" dirty="0"/>
              <a:t>, </a:t>
            </a:r>
            <a:r>
              <a:rPr lang="ko-KR" altLang="en-US" sz="1400" dirty="0"/>
              <a:t>그 우선권 주장의 실체적 효력 유무에 따라 달리 볼 것은 아니다</a:t>
            </a:r>
            <a:r>
              <a:rPr lang="en-US" altLang="ko-KR" sz="1400" dirty="0"/>
              <a:t>. 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F19AE7-2A93-453F-AB73-988E5B88DD7E}"/>
              </a:ext>
            </a:extLst>
          </p:cNvPr>
          <p:cNvCxnSpPr/>
          <p:nvPr/>
        </p:nvCxnSpPr>
        <p:spPr>
          <a:xfrm>
            <a:off x="0" y="2759844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Line 5">
            <a:extLst>
              <a:ext uri="{FF2B5EF4-FFF2-40B4-BE49-F238E27FC236}">
                <a16:creationId xmlns:a16="http://schemas.microsoft.com/office/drawing/2014/main" id="{C5CA1EA9-492E-4C87-A530-1DEC434173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3402066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7471A3-367F-40BE-95E2-EC14DCED88B6}"/>
              </a:ext>
            </a:extLst>
          </p:cNvPr>
          <p:cNvSpPr txBox="1"/>
          <p:nvPr/>
        </p:nvSpPr>
        <p:spPr>
          <a:xfrm>
            <a:off x="1133060" y="3658241"/>
            <a:ext cx="1013644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+mn-ea"/>
              </a:rPr>
              <a:t>미국출원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427137E2-A460-4CF9-94C6-B084A508E491}"/>
              </a:ext>
            </a:extLst>
          </p:cNvPr>
          <p:cNvSpPr/>
          <p:nvPr/>
        </p:nvSpPr>
        <p:spPr>
          <a:xfrm>
            <a:off x="1562512" y="330813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E928C891-3DF8-4630-92A1-F2E97074F65E}"/>
              </a:ext>
            </a:extLst>
          </p:cNvPr>
          <p:cNvCxnSpPr>
            <a:cxnSpLocks/>
            <a:stCxn id="61" idx="0"/>
            <a:endCxn id="63" idx="4"/>
          </p:cNvCxnSpPr>
          <p:nvPr/>
        </p:nvCxnSpPr>
        <p:spPr>
          <a:xfrm flipH="1" flipV="1">
            <a:off x="1639881" y="3469470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81D15776-BC33-4EB0-BFC6-A7F7E7436233}"/>
              </a:ext>
            </a:extLst>
          </p:cNvPr>
          <p:cNvSpPr txBox="1"/>
          <p:nvPr/>
        </p:nvSpPr>
        <p:spPr>
          <a:xfrm>
            <a:off x="2567649" y="3658241"/>
            <a:ext cx="115134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국제특허출원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DC1B1EB8-8B7C-41CB-9C4C-9853A16E25DB}"/>
              </a:ext>
            </a:extLst>
          </p:cNvPr>
          <p:cNvSpPr/>
          <p:nvPr/>
        </p:nvSpPr>
        <p:spPr>
          <a:xfrm>
            <a:off x="3065949" y="330813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FC96BBCB-2082-4968-BEE6-C951DE595E2B}"/>
              </a:ext>
            </a:extLst>
          </p:cNvPr>
          <p:cNvCxnSpPr>
            <a:cxnSpLocks/>
            <a:stCxn id="66" idx="0"/>
            <a:endCxn id="67" idx="4"/>
          </p:cNvCxnSpPr>
          <p:nvPr/>
        </p:nvCxnSpPr>
        <p:spPr>
          <a:xfrm flipH="1" flipV="1">
            <a:off x="3143318" y="3469470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E8CCF0B-A4FE-4985-9DA1-319FE603654D}"/>
              </a:ext>
            </a:extLst>
          </p:cNvPr>
          <p:cNvSpPr txBox="1"/>
          <p:nvPr/>
        </p:nvSpPr>
        <p:spPr>
          <a:xfrm>
            <a:off x="9590466" y="3658241"/>
            <a:ext cx="688012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기각</a:t>
            </a: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DD5816CF-C29B-4FE1-A174-C6EC726C302A}"/>
              </a:ext>
            </a:extLst>
          </p:cNvPr>
          <p:cNvSpPr/>
          <p:nvPr/>
        </p:nvSpPr>
        <p:spPr>
          <a:xfrm>
            <a:off x="9857102" y="3308132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F9B914DB-2C3D-4527-8D88-D74C96244EE4}"/>
              </a:ext>
            </a:extLst>
          </p:cNvPr>
          <p:cNvCxnSpPr>
            <a:cxnSpLocks/>
            <a:stCxn id="80" idx="0"/>
            <a:endCxn id="84" idx="4"/>
          </p:cNvCxnSpPr>
          <p:nvPr/>
        </p:nvCxnSpPr>
        <p:spPr>
          <a:xfrm flipH="1" flipV="1">
            <a:off x="9934471" y="3469470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97C831F9-2677-4FE5-91C9-50224822DDD8}"/>
              </a:ext>
            </a:extLst>
          </p:cNvPr>
          <p:cNvSpPr txBox="1"/>
          <p:nvPr/>
        </p:nvSpPr>
        <p:spPr>
          <a:xfrm>
            <a:off x="2097815" y="4533229"/>
            <a:ext cx="2091008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fontAlgn="base"/>
            <a:r>
              <a:rPr lang="en-US" altLang="ko-KR" sz="1200" dirty="0"/>
              <a:t>2009. 5. 16(</a:t>
            </a:r>
            <a:r>
              <a:rPr lang="ko-KR" altLang="en-US" sz="1200" dirty="0"/>
              <a:t>토</a:t>
            </a:r>
            <a:r>
              <a:rPr lang="en-US" altLang="ko-KR" sz="1200" dirty="0"/>
              <a:t>), 17(</a:t>
            </a:r>
            <a:r>
              <a:rPr lang="ko-KR" altLang="en-US" sz="1200" dirty="0"/>
              <a:t>일</a:t>
            </a:r>
            <a:r>
              <a:rPr lang="en-US" altLang="ko-KR" sz="1200" dirty="0"/>
              <a:t>)</a:t>
            </a:r>
            <a:r>
              <a:rPr lang="ko-KR" altLang="en-US" sz="1200" dirty="0"/>
              <a:t>이기 때문에 </a:t>
            </a:r>
            <a:r>
              <a:rPr lang="en-US" altLang="ko-KR" sz="1200" dirty="0"/>
              <a:t>2009. 5. 18</a:t>
            </a:r>
            <a:r>
              <a:rPr lang="ko-KR" altLang="en-US" sz="1200" dirty="0"/>
              <a:t>까지 가능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B5A09D-94B3-4A61-8FCE-509955B307DE}"/>
              </a:ext>
            </a:extLst>
          </p:cNvPr>
          <p:cNvSpPr txBox="1"/>
          <p:nvPr/>
        </p:nvSpPr>
        <p:spPr>
          <a:xfrm>
            <a:off x="1163628" y="2988400"/>
            <a:ext cx="9525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2008. 5. 16</a:t>
            </a:r>
            <a:endParaRPr lang="ko-KR" altLang="en-US" sz="1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CD6DC8A-B907-40C4-B2FA-2D86DA7FB817}"/>
              </a:ext>
            </a:extLst>
          </p:cNvPr>
          <p:cNvSpPr txBox="1"/>
          <p:nvPr/>
        </p:nvSpPr>
        <p:spPr>
          <a:xfrm>
            <a:off x="2667065" y="2988400"/>
            <a:ext cx="9525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2009. 5. 18</a:t>
            </a:r>
            <a:endParaRPr lang="ko-KR" altLang="en-US" sz="12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E161997-BA73-49A7-BF91-DF323A774A90}"/>
              </a:ext>
            </a:extLst>
          </p:cNvPr>
          <p:cNvSpPr txBox="1"/>
          <p:nvPr/>
        </p:nvSpPr>
        <p:spPr>
          <a:xfrm>
            <a:off x="2567648" y="3969083"/>
            <a:ext cx="1151339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우선권주장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DE7CFE7-062E-4760-A7A1-E75F489257B2}"/>
              </a:ext>
            </a:extLst>
          </p:cNvPr>
          <p:cNvCxnSpPr>
            <a:cxnSpLocks/>
            <a:stCxn id="101" idx="0"/>
            <a:endCxn id="103" idx="2"/>
          </p:cNvCxnSpPr>
          <p:nvPr/>
        </p:nvCxnSpPr>
        <p:spPr>
          <a:xfrm flipH="1" flipV="1">
            <a:off x="3143318" y="4276860"/>
            <a:ext cx="1" cy="2563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1BB88535-1FF4-49B9-ACB9-14211CDFC57A}"/>
              </a:ext>
            </a:extLst>
          </p:cNvPr>
          <p:cNvSpPr txBox="1"/>
          <p:nvPr/>
        </p:nvSpPr>
        <p:spPr>
          <a:xfrm>
            <a:off x="4047522" y="3658241"/>
            <a:ext cx="115134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번역문 제출</a:t>
            </a: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ECBE2E8E-014F-4F02-A487-45F3EBE68911}"/>
              </a:ext>
            </a:extLst>
          </p:cNvPr>
          <p:cNvSpPr/>
          <p:nvPr/>
        </p:nvSpPr>
        <p:spPr>
          <a:xfrm>
            <a:off x="4545822" y="330813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D4636C60-A350-4064-B0DC-F15F0886CFF4}"/>
              </a:ext>
            </a:extLst>
          </p:cNvPr>
          <p:cNvCxnSpPr>
            <a:cxnSpLocks/>
            <a:stCxn id="104" idx="0"/>
            <a:endCxn id="106" idx="4"/>
          </p:cNvCxnSpPr>
          <p:nvPr/>
        </p:nvCxnSpPr>
        <p:spPr>
          <a:xfrm flipH="1" flipV="1">
            <a:off x="4623191" y="3469470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7DBAD8FB-DC6E-486D-BCBA-4360843CA772}"/>
              </a:ext>
            </a:extLst>
          </p:cNvPr>
          <p:cNvSpPr txBox="1"/>
          <p:nvPr/>
        </p:nvSpPr>
        <p:spPr>
          <a:xfrm>
            <a:off x="4146938" y="2988400"/>
            <a:ext cx="10374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2011. 12. 16</a:t>
            </a:r>
            <a:endParaRPr lang="ko-KR" altLang="en-US" sz="12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53FF830-C61A-4E8A-98C3-F6F3D5C264F9}"/>
              </a:ext>
            </a:extLst>
          </p:cNvPr>
          <p:cNvSpPr txBox="1"/>
          <p:nvPr/>
        </p:nvSpPr>
        <p:spPr>
          <a:xfrm>
            <a:off x="5562208" y="3658241"/>
            <a:ext cx="115134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기간경과로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번역문 반려</a:t>
            </a:r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9A39BFC9-A973-40F4-9384-04D67D5D0A53}"/>
              </a:ext>
            </a:extLst>
          </p:cNvPr>
          <p:cNvSpPr/>
          <p:nvPr/>
        </p:nvSpPr>
        <p:spPr>
          <a:xfrm>
            <a:off x="6060508" y="3308132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1C0012DB-48DA-4FF2-BF48-93628B255F93}"/>
              </a:ext>
            </a:extLst>
          </p:cNvPr>
          <p:cNvCxnSpPr>
            <a:cxnSpLocks/>
            <a:stCxn id="111" idx="0"/>
            <a:endCxn id="114" idx="4"/>
          </p:cNvCxnSpPr>
          <p:nvPr/>
        </p:nvCxnSpPr>
        <p:spPr>
          <a:xfrm flipH="1" flipV="1">
            <a:off x="6137877" y="3469470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E0C26796-E334-4C0B-AB96-5294D8137345}"/>
              </a:ext>
            </a:extLst>
          </p:cNvPr>
          <p:cNvSpPr txBox="1"/>
          <p:nvPr/>
        </p:nvSpPr>
        <p:spPr>
          <a:xfrm>
            <a:off x="7070600" y="3658241"/>
            <a:ext cx="115134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소 제기</a:t>
            </a:r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E3C89A5C-E774-4D94-ABE2-3CD860AD761E}"/>
              </a:ext>
            </a:extLst>
          </p:cNvPr>
          <p:cNvSpPr/>
          <p:nvPr/>
        </p:nvSpPr>
        <p:spPr>
          <a:xfrm>
            <a:off x="7568900" y="330813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3332218F-83EB-46BA-86F8-7BDAB50FE9A2}"/>
              </a:ext>
            </a:extLst>
          </p:cNvPr>
          <p:cNvCxnSpPr>
            <a:cxnSpLocks/>
            <a:stCxn id="119" idx="0"/>
            <a:endCxn id="120" idx="4"/>
          </p:cNvCxnSpPr>
          <p:nvPr/>
        </p:nvCxnSpPr>
        <p:spPr>
          <a:xfrm flipH="1" flipV="1">
            <a:off x="7646269" y="3469470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0DD77B1B-6A9F-46D6-9CA7-9E472483A5BE}"/>
              </a:ext>
            </a:extLst>
          </p:cNvPr>
          <p:cNvSpPr txBox="1"/>
          <p:nvPr/>
        </p:nvSpPr>
        <p:spPr>
          <a:xfrm>
            <a:off x="6600765" y="4420018"/>
            <a:ext cx="2091008" cy="120032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 fontAlgn="base"/>
            <a:r>
              <a:rPr lang="ko-KR" altLang="en-US" sz="1200" dirty="0"/>
              <a:t>우선일을 결정하기 위해서는 우선권주장의 특허협력조약 제</a:t>
            </a:r>
            <a:r>
              <a:rPr lang="en-US" altLang="ko-KR" sz="1200" dirty="0"/>
              <a:t>8</a:t>
            </a:r>
            <a:r>
              <a:rPr lang="ko-KR" altLang="en-US" sz="1200" dirty="0"/>
              <a:t>조</a:t>
            </a:r>
            <a:r>
              <a:rPr lang="en-US" altLang="ko-KR" sz="1200" dirty="0"/>
              <a:t>(2)</a:t>
            </a:r>
            <a:r>
              <a:rPr lang="ko-KR" altLang="en-US" sz="1200" dirty="0"/>
              <a:t>에서 정한 조건과 효과</a:t>
            </a:r>
            <a:r>
              <a:rPr lang="en-US" altLang="ko-KR" sz="1200" dirty="0"/>
              <a:t>, </a:t>
            </a:r>
            <a:r>
              <a:rPr lang="ko-KR" altLang="en-US" sz="1200" dirty="0"/>
              <a:t>즉 파리협약 제</a:t>
            </a:r>
            <a:r>
              <a:rPr lang="en-US" altLang="ko-KR" sz="1200" dirty="0"/>
              <a:t>4</a:t>
            </a:r>
            <a:r>
              <a:rPr lang="ko-KR" altLang="en-US" sz="1200" dirty="0"/>
              <a:t>조</a:t>
            </a:r>
            <a:r>
              <a:rPr lang="en-US" altLang="ko-KR" sz="1200" dirty="0"/>
              <a:t>(h)</a:t>
            </a:r>
            <a:r>
              <a:rPr lang="ko-KR" altLang="en-US" sz="1200" dirty="0"/>
              <a:t>의 요건을 </a:t>
            </a:r>
            <a:r>
              <a:rPr lang="ko-KR" altLang="en-US" sz="1200" dirty="0" err="1"/>
              <a:t>총족하는지</a:t>
            </a:r>
            <a:r>
              <a:rPr lang="ko-KR" altLang="en-US" sz="1200" dirty="0"/>
              <a:t> 여부까지 따져 보어야 한다</a:t>
            </a:r>
          </a:p>
        </p:txBody>
      </p: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149D5ADC-2CB7-46F4-A191-EE3F66D932B0}"/>
              </a:ext>
            </a:extLst>
          </p:cNvPr>
          <p:cNvCxnSpPr>
            <a:cxnSpLocks/>
            <a:stCxn id="122" idx="0"/>
            <a:endCxn id="119" idx="2"/>
          </p:cNvCxnSpPr>
          <p:nvPr/>
        </p:nvCxnSpPr>
        <p:spPr>
          <a:xfrm flipV="1">
            <a:off x="7646269" y="3966018"/>
            <a:ext cx="1" cy="4540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9C4DEA1E-4A21-4DDD-B323-DB9BA0A806F1}"/>
              </a:ext>
            </a:extLst>
          </p:cNvPr>
          <p:cNvSpPr txBox="1"/>
          <p:nvPr/>
        </p:nvSpPr>
        <p:spPr>
          <a:xfrm>
            <a:off x="8888967" y="4420018"/>
            <a:ext cx="2091008" cy="193899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 fontAlgn="base"/>
            <a:r>
              <a:rPr lang="ko-KR" altLang="en-US" sz="1200" dirty="0">
                <a:solidFill>
                  <a:srgbClr val="FF0000"/>
                </a:solidFill>
              </a:rPr>
              <a:t>우선일은 일률적으로 </a:t>
            </a:r>
            <a:r>
              <a:rPr lang="ko-KR" altLang="en-US" sz="1200" dirty="0" err="1">
                <a:solidFill>
                  <a:srgbClr val="FF0000"/>
                </a:solidFill>
              </a:rPr>
              <a:t>정하여질</a:t>
            </a:r>
            <a:r>
              <a:rPr lang="ko-KR" altLang="en-US" sz="1200" dirty="0">
                <a:solidFill>
                  <a:srgbClr val="FF0000"/>
                </a:solidFill>
              </a:rPr>
              <a:t> 필요가 있다</a:t>
            </a:r>
            <a:r>
              <a:rPr lang="en-US" altLang="ko-KR" sz="1200" dirty="0"/>
              <a:t>. </a:t>
            </a:r>
            <a:r>
              <a:rPr lang="ko-KR" altLang="en-US" sz="1200" dirty="0"/>
              <a:t>따라서 </a:t>
            </a:r>
            <a:r>
              <a:rPr lang="ko-KR" altLang="en-US" sz="1200" dirty="0" err="1"/>
              <a:t>국제특허출원인의</a:t>
            </a:r>
            <a:r>
              <a:rPr lang="ko-KR" altLang="en-US" sz="1200" dirty="0"/>
              <a:t> 우선권 주장에 명백한 오류가 없다면 그 주장하는 날을 우선일로 보아 이를 기준으로 특허협력조약 및 구 특허법에서 정한 절차를 진행하여야 하며</a:t>
            </a:r>
            <a:r>
              <a:rPr lang="en-US" altLang="ko-KR" sz="1200" dirty="0"/>
              <a:t>, </a:t>
            </a:r>
            <a:r>
              <a:rPr lang="ko-KR" altLang="en-US" sz="1200" dirty="0"/>
              <a:t>그 우선권 주장의 실체적 효력 유무에 따라 달리 볼 것은 아니다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7B7005C5-4AD6-469F-B557-B1FCF6579C6A}"/>
              </a:ext>
            </a:extLst>
          </p:cNvPr>
          <p:cNvCxnSpPr>
            <a:cxnSpLocks/>
            <a:stCxn id="124" idx="0"/>
          </p:cNvCxnSpPr>
          <p:nvPr/>
        </p:nvCxnSpPr>
        <p:spPr>
          <a:xfrm flipV="1">
            <a:off x="9934471" y="3966018"/>
            <a:ext cx="1" cy="4540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슬라이드 번호 개체 틀 1"/>
          <p:cNvSpPr txBox="1">
            <a:spLocks/>
          </p:cNvSpPr>
          <p:nvPr/>
        </p:nvSpPr>
        <p:spPr>
          <a:xfrm>
            <a:off x="11126400" y="-3363"/>
            <a:ext cx="1065600" cy="69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3600" b="1" kern="1200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559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79719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3225800" y="4112725"/>
            <a:ext cx="8674100" cy="11460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204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205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208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국제출원의</a:t>
            </a:r>
            <a:r>
              <a:rPr lang="ko-KR" altLang="en-US" dirty="0"/>
              <a:t> 보정</a:t>
            </a:r>
          </a:p>
        </p:txBody>
      </p:sp>
      <p:cxnSp>
        <p:nvCxnSpPr>
          <p:cNvPr id="113" name="직선 연결선 112"/>
          <p:cNvCxnSpPr/>
          <p:nvPr/>
        </p:nvCxnSpPr>
        <p:spPr>
          <a:xfrm>
            <a:off x="1003300" y="1962284"/>
            <a:ext cx="1045940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/>
          <p:cNvSpPr/>
          <p:nvPr/>
        </p:nvSpPr>
        <p:spPr>
          <a:xfrm>
            <a:off x="702036" y="1805729"/>
            <a:ext cx="1190264" cy="334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국제출원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2463800" y="1805729"/>
            <a:ext cx="1190264" cy="334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국제조사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4064000" y="1805729"/>
            <a:ext cx="1485900" cy="334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국제예비심사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6382932" y="1805729"/>
            <a:ext cx="1320800" cy="334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 제출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3" name="Rectangle 14"/>
          <p:cNvSpPr>
            <a:spLocks noChangeArrowheads="1"/>
          </p:cNvSpPr>
          <p:nvPr/>
        </p:nvSpPr>
        <p:spPr bwMode="auto">
          <a:xfrm flipV="1">
            <a:off x="8958263" y="188785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8434569" y="1266172"/>
            <a:ext cx="1190264" cy="334354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기준일</a:t>
            </a:r>
          </a:p>
        </p:txBody>
      </p:sp>
      <p:cxnSp>
        <p:nvCxnSpPr>
          <p:cNvPr id="6" name="직선 연결선 5"/>
          <p:cNvCxnSpPr>
            <a:stCxn id="54" idx="2"/>
            <a:endCxn id="53" idx="4"/>
          </p:cNvCxnSpPr>
          <p:nvPr/>
        </p:nvCxnSpPr>
        <p:spPr>
          <a:xfrm>
            <a:off x="9029701" y="1600526"/>
            <a:ext cx="0" cy="28733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/>
          <p:cNvSpPr/>
          <p:nvPr/>
        </p:nvSpPr>
        <p:spPr>
          <a:xfrm>
            <a:off x="2269764" y="2679641"/>
            <a:ext cx="1578336" cy="33435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PCT </a:t>
            </a:r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19</a:t>
            </a:r>
            <a:r>
              <a:rPr lang="ko-KR" altLang="en-US" sz="1400" dirty="0">
                <a:solidFill>
                  <a:schemeClr val="bg1"/>
                </a:solidFill>
              </a:rPr>
              <a:t>조 보정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534284" y="5657656"/>
            <a:ext cx="3859032" cy="73866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1. </a:t>
            </a:r>
            <a:r>
              <a:rPr lang="ko-KR" altLang="en-US" sz="1400" dirty="0">
                <a:solidFill>
                  <a:schemeClr val="bg1"/>
                </a:solidFill>
              </a:rPr>
              <a:t>보완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法 </a:t>
            </a:r>
            <a:r>
              <a:rPr lang="en-US" altLang="ko-KR" sz="1400" dirty="0">
                <a:solidFill>
                  <a:schemeClr val="bg1"/>
                </a:solidFill>
              </a:rPr>
              <a:t>194①②④)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2. </a:t>
            </a:r>
            <a:r>
              <a:rPr lang="ko-KR" altLang="en-US" sz="1400" dirty="0">
                <a:solidFill>
                  <a:schemeClr val="bg1"/>
                </a:solidFill>
              </a:rPr>
              <a:t>보정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法 </a:t>
            </a:r>
            <a:r>
              <a:rPr lang="en-US" altLang="ko-KR" sz="1400" dirty="0">
                <a:solidFill>
                  <a:schemeClr val="bg1"/>
                </a:solidFill>
              </a:rPr>
              <a:t>195, 196①)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3. </a:t>
            </a:r>
            <a:r>
              <a:rPr lang="ko-KR" altLang="en-US" sz="1400" dirty="0">
                <a:solidFill>
                  <a:schemeClr val="bg1"/>
                </a:solidFill>
              </a:rPr>
              <a:t>누락 부분의 보완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法 </a:t>
            </a:r>
            <a:r>
              <a:rPr lang="en-US" altLang="ko-KR" sz="1400" dirty="0">
                <a:solidFill>
                  <a:schemeClr val="bg1"/>
                </a:solidFill>
              </a:rPr>
              <a:t>194③④, </a:t>
            </a:r>
            <a:r>
              <a:rPr lang="ko-KR" altLang="en-US" sz="1400" dirty="0">
                <a:solidFill>
                  <a:schemeClr val="bg1"/>
                </a:solidFill>
              </a:rPr>
              <a:t>施規 </a:t>
            </a:r>
            <a:r>
              <a:rPr lang="en-US" altLang="ko-KR" sz="1400" dirty="0">
                <a:solidFill>
                  <a:schemeClr val="bg1"/>
                </a:solidFill>
              </a:rPr>
              <a:t>99</a:t>
            </a:r>
            <a:r>
              <a:rPr lang="ko-KR" altLang="en-US" sz="1400" dirty="0">
                <a:solidFill>
                  <a:schemeClr val="bg1"/>
                </a:solidFill>
              </a:rPr>
              <a:t>의</a:t>
            </a:r>
            <a:r>
              <a:rPr lang="en-US" altLang="ko-KR" sz="1400" dirty="0">
                <a:solidFill>
                  <a:schemeClr val="bg1"/>
                </a:solidFill>
              </a:rPr>
              <a:t>2)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10" name="직선 화살표 연결선 9"/>
          <p:cNvCxnSpPr/>
          <p:nvPr/>
        </p:nvCxnSpPr>
        <p:spPr>
          <a:xfrm flipV="1">
            <a:off x="1308100" y="2140083"/>
            <a:ext cx="0" cy="3517573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>
            <a:stCxn id="57" idx="0"/>
            <a:endCxn id="131" idx="2"/>
          </p:cNvCxnSpPr>
          <p:nvPr/>
        </p:nvCxnSpPr>
        <p:spPr>
          <a:xfrm flipV="1">
            <a:off x="3058932" y="2140083"/>
            <a:ext cx="0" cy="53955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/>
          <p:cNvSpPr/>
          <p:nvPr/>
        </p:nvSpPr>
        <p:spPr>
          <a:xfrm>
            <a:off x="4064000" y="2679641"/>
            <a:ext cx="1578336" cy="33435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PCT </a:t>
            </a:r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34</a:t>
            </a:r>
            <a:r>
              <a:rPr lang="ko-KR" altLang="en-US" sz="1400" dirty="0">
                <a:solidFill>
                  <a:schemeClr val="bg1"/>
                </a:solidFill>
              </a:rPr>
              <a:t>조 보정</a:t>
            </a:r>
          </a:p>
        </p:txBody>
      </p:sp>
      <p:cxnSp>
        <p:nvCxnSpPr>
          <p:cNvPr id="66" name="직선 화살표 연결선 65"/>
          <p:cNvCxnSpPr>
            <a:stCxn id="64" idx="0"/>
          </p:cNvCxnSpPr>
          <p:nvPr/>
        </p:nvCxnSpPr>
        <p:spPr>
          <a:xfrm flipV="1">
            <a:off x="4853168" y="2140083"/>
            <a:ext cx="0" cy="53955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/>
          <p:cNvSpPr/>
          <p:nvPr/>
        </p:nvSpPr>
        <p:spPr>
          <a:xfrm>
            <a:off x="4806950" y="4924456"/>
            <a:ext cx="2489202" cy="3343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  <a:r>
              <a:rPr lang="ko-KR" altLang="en-US" sz="1400" dirty="0">
                <a:solidFill>
                  <a:schemeClr val="tx1"/>
                </a:solidFill>
              </a:rPr>
              <a:t>사본 제출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204</a:t>
            </a:r>
            <a:r>
              <a:rPr lang="ko-KR" altLang="en-US" sz="1400" dirty="0">
                <a:solidFill>
                  <a:schemeClr val="tx1"/>
                </a:solidFill>
              </a:rPr>
              <a:t>조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자유형 15"/>
          <p:cNvSpPr/>
          <p:nvPr/>
        </p:nvSpPr>
        <p:spPr>
          <a:xfrm>
            <a:off x="3060700" y="2146300"/>
            <a:ext cx="4064000" cy="2108200"/>
          </a:xfrm>
          <a:custGeom>
            <a:avLst/>
            <a:gdLst>
              <a:gd name="connsiteX0" fmla="*/ 0 w 4064000"/>
              <a:gd name="connsiteY0" fmla="*/ 863600 h 2108200"/>
              <a:gd name="connsiteX1" fmla="*/ 444500 w 4064000"/>
              <a:gd name="connsiteY1" fmla="*/ 2108200 h 2108200"/>
              <a:gd name="connsiteX2" fmla="*/ 4064000 w 4064000"/>
              <a:gd name="connsiteY2" fmla="*/ 2108200 h 2108200"/>
              <a:gd name="connsiteX3" fmla="*/ 4064000 w 4064000"/>
              <a:gd name="connsiteY3" fmla="*/ 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4000" h="2108200">
                <a:moveTo>
                  <a:pt x="0" y="863600"/>
                </a:moveTo>
                <a:lnTo>
                  <a:pt x="444500" y="2108200"/>
                </a:lnTo>
                <a:lnTo>
                  <a:pt x="4064000" y="2108200"/>
                </a:lnTo>
                <a:lnTo>
                  <a:pt x="4064000" y="0"/>
                </a:lnTo>
              </a:path>
            </a:pathLst>
          </a:custGeom>
          <a:noFill/>
          <a:ln w="28575">
            <a:solidFill>
              <a:schemeClr val="accent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>
          <a:xfrm>
            <a:off x="3502823" y="4222811"/>
            <a:ext cx="3708398" cy="3343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외국어 출원의 번역문 제출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201</a:t>
            </a:r>
            <a:r>
              <a:rPr lang="ko-KR" altLang="en-US" sz="1400" dirty="0">
                <a:solidFill>
                  <a:schemeClr val="tx1"/>
                </a:solidFill>
              </a:rPr>
              <a:t>조제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r>
              <a:rPr lang="ko-KR" altLang="en-US" sz="1400" dirty="0">
                <a:solidFill>
                  <a:schemeClr val="tx1"/>
                </a:solidFill>
              </a:rPr>
              <a:t>항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8</a:t>
            </a:r>
            <a:r>
              <a:rPr lang="ko-KR" altLang="en-US" sz="1400" dirty="0">
                <a:solidFill>
                  <a:schemeClr val="tx1"/>
                </a:solidFill>
              </a:rPr>
              <a:t>항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자유형 16"/>
          <p:cNvSpPr/>
          <p:nvPr/>
        </p:nvSpPr>
        <p:spPr>
          <a:xfrm>
            <a:off x="3048000" y="2095500"/>
            <a:ext cx="5956300" cy="2844800"/>
          </a:xfrm>
          <a:custGeom>
            <a:avLst/>
            <a:gdLst>
              <a:gd name="connsiteX0" fmla="*/ 0 w 5956300"/>
              <a:gd name="connsiteY0" fmla="*/ 927100 h 2844800"/>
              <a:gd name="connsiteX1" fmla="*/ 0 w 5956300"/>
              <a:gd name="connsiteY1" fmla="*/ 2844800 h 2844800"/>
              <a:gd name="connsiteX2" fmla="*/ 5194300 w 5956300"/>
              <a:gd name="connsiteY2" fmla="*/ 2844800 h 2844800"/>
              <a:gd name="connsiteX3" fmla="*/ 5956300 w 5956300"/>
              <a:gd name="connsiteY3" fmla="*/ 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56300" h="2844800">
                <a:moveTo>
                  <a:pt x="0" y="927100"/>
                </a:moveTo>
                <a:lnTo>
                  <a:pt x="0" y="2844800"/>
                </a:lnTo>
                <a:lnTo>
                  <a:pt x="5194300" y="2844800"/>
                </a:lnTo>
                <a:lnTo>
                  <a:pt x="5956300" y="0"/>
                </a:lnTo>
              </a:path>
            </a:pathLst>
          </a:custGeom>
          <a:noFill/>
          <a:ln w="28575">
            <a:solidFill>
              <a:schemeClr val="accent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 17"/>
          <p:cNvSpPr/>
          <p:nvPr/>
        </p:nvSpPr>
        <p:spPr>
          <a:xfrm>
            <a:off x="4853168" y="2082800"/>
            <a:ext cx="4113032" cy="1612900"/>
          </a:xfrm>
          <a:custGeom>
            <a:avLst/>
            <a:gdLst>
              <a:gd name="connsiteX0" fmla="*/ 0 w 4127500"/>
              <a:gd name="connsiteY0" fmla="*/ 927100 h 1612900"/>
              <a:gd name="connsiteX1" fmla="*/ 0 w 4127500"/>
              <a:gd name="connsiteY1" fmla="*/ 1612900 h 1612900"/>
              <a:gd name="connsiteX2" fmla="*/ 3314700 w 4127500"/>
              <a:gd name="connsiteY2" fmla="*/ 1612900 h 1612900"/>
              <a:gd name="connsiteX3" fmla="*/ 4127500 w 4127500"/>
              <a:gd name="connsiteY3" fmla="*/ 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7500" h="1612900">
                <a:moveTo>
                  <a:pt x="0" y="927100"/>
                </a:moveTo>
                <a:lnTo>
                  <a:pt x="0" y="1612900"/>
                </a:lnTo>
                <a:lnTo>
                  <a:pt x="3314700" y="1612900"/>
                </a:lnTo>
                <a:lnTo>
                  <a:pt x="4127500" y="0"/>
                </a:lnTo>
              </a:path>
            </a:pathLst>
          </a:custGeom>
          <a:noFill/>
          <a:ln w="28575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/>
          <p:cNvSpPr/>
          <p:nvPr/>
        </p:nvSpPr>
        <p:spPr>
          <a:xfrm>
            <a:off x="4838700" y="3654673"/>
            <a:ext cx="2489202" cy="3343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  <a:r>
              <a:rPr lang="ko-KR" altLang="en-US" sz="1400" dirty="0">
                <a:solidFill>
                  <a:schemeClr val="tx1"/>
                </a:solidFill>
              </a:rPr>
              <a:t>사본 제출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205</a:t>
            </a:r>
            <a:r>
              <a:rPr lang="ko-KR" altLang="en-US" sz="1400" dirty="0">
                <a:solidFill>
                  <a:schemeClr val="tx1"/>
                </a:solidFill>
              </a:rPr>
              <a:t>조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0" name="Rectangle 14"/>
          <p:cNvSpPr>
            <a:spLocks noChangeArrowheads="1"/>
          </p:cNvSpPr>
          <p:nvPr/>
        </p:nvSpPr>
        <p:spPr bwMode="auto">
          <a:xfrm flipV="1">
            <a:off x="10139044" y="188785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9141908" y="2679641"/>
            <a:ext cx="2122992" cy="5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국내법 </a:t>
            </a:r>
            <a:r>
              <a:rPr lang="ko-KR" altLang="en-US" sz="1400" dirty="0" err="1">
                <a:solidFill>
                  <a:schemeClr val="bg1"/>
                </a:solidFill>
              </a:rPr>
              <a:t>적용받는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보정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208</a:t>
            </a:r>
            <a:r>
              <a:rPr lang="ko-KR" altLang="en-US" sz="1400" dirty="0">
                <a:solidFill>
                  <a:schemeClr val="bg1"/>
                </a:solidFill>
              </a:rPr>
              <a:t>조제</a:t>
            </a:r>
            <a:r>
              <a:rPr lang="en-US" altLang="ko-KR" sz="1400" dirty="0">
                <a:solidFill>
                  <a:schemeClr val="bg1"/>
                </a:solidFill>
              </a:rPr>
              <a:t>1</a:t>
            </a:r>
            <a:r>
              <a:rPr lang="ko-KR" altLang="en-US" sz="1400" dirty="0">
                <a:solidFill>
                  <a:schemeClr val="bg1"/>
                </a:solidFill>
              </a:rPr>
              <a:t>항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86" name="직선 화살표 연결선 85"/>
          <p:cNvCxnSpPr>
            <a:stCxn id="84" idx="0"/>
          </p:cNvCxnSpPr>
          <p:nvPr/>
        </p:nvCxnSpPr>
        <p:spPr>
          <a:xfrm flipV="1">
            <a:off x="10203404" y="2140083"/>
            <a:ext cx="0" cy="53955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017000" y="4237620"/>
            <a:ext cx="29001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외국어출원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&amp; </a:t>
            </a:r>
            <a:r>
              <a:rPr lang="ko-KR" altLang="en-US" dirty="0">
                <a:solidFill>
                  <a:srgbClr val="FF0000"/>
                </a:solidFill>
              </a:rPr>
              <a:t>번역문 제출 전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PCT </a:t>
            </a: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19</a:t>
            </a:r>
            <a:r>
              <a:rPr lang="ko-KR" altLang="en-US" dirty="0">
                <a:solidFill>
                  <a:srgbClr val="FF0000"/>
                </a:solidFill>
              </a:rPr>
              <a:t>조 보정이라면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출원인의 선택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570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60884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204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원문에 대한 번역문 제출 전후에 있어서 </a:t>
            </a:r>
            <a:r>
              <a:rPr lang="en-US" altLang="ko-KR" dirty="0"/>
              <a:t>PCT </a:t>
            </a:r>
            <a:r>
              <a:rPr lang="ko-KR" altLang="en-US" dirty="0"/>
              <a:t>제</a:t>
            </a:r>
            <a:r>
              <a:rPr lang="en-US" altLang="ko-KR" dirty="0"/>
              <a:t>19</a:t>
            </a:r>
            <a:r>
              <a:rPr lang="ko-KR" altLang="en-US" dirty="0"/>
              <a:t>조 보정</a:t>
            </a:r>
          </a:p>
        </p:txBody>
      </p:sp>
      <p:cxnSp>
        <p:nvCxnSpPr>
          <p:cNvPr id="113" name="직선 연결선 112"/>
          <p:cNvCxnSpPr/>
          <p:nvPr/>
        </p:nvCxnSpPr>
        <p:spPr>
          <a:xfrm>
            <a:off x="850900" y="1712919"/>
            <a:ext cx="1045940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/>
          <p:cNvSpPr/>
          <p:nvPr/>
        </p:nvSpPr>
        <p:spPr>
          <a:xfrm>
            <a:off x="412300" y="1507412"/>
            <a:ext cx="1464936" cy="4355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PCT </a:t>
            </a:r>
            <a:r>
              <a:rPr lang="ko-KR" altLang="en-US" sz="14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131" name="직사각형 130"/>
          <p:cNvSpPr/>
          <p:nvPr/>
        </p:nvSpPr>
        <p:spPr>
          <a:xfrm>
            <a:off x="3276600" y="1507412"/>
            <a:ext cx="1464936" cy="4355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PCT 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19</a:t>
            </a:r>
            <a:r>
              <a:rPr lang="ko-KR" altLang="en-US" sz="1400" dirty="0">
                <a:solidFill>
                  <a:schemeClr val="tx1"/>
                </a:solidFill>
              </a:rPr>
              <a:t>조 보정</a:t>
            </a:r>
          </a:p>
        </p:txBody>
      </p:sp>
      <p:sp>
        <p:nvSpPr>
          <p:cNvPr id="133" name="직사각형 132"/>
          <p:cNvSpPr/>
          <p:nvPr/>
        </p:nvSpPr>
        <p:spPr>
          <a:xfrm>
            <a:off x="5918200" y="1507412"/>
            <a:ext cx="1464936" cy="4355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원문의 번역문</a:t>
            </a:r>
          </a:p>
        </p:txBody>
      </p:sp>
      <p:sp>
        <p:nvSpPr>
          <p:cNvPr id="135" name="직사각형 134"/>
          <p:cNvSpPr/>
          <p:nvPr/>
        </p:nvSpPr>
        <p:spPr>
          <a:xfrm>
            <a:off x="8803464" y="1507412"/>
            <a:ext cx="1635936" cy="4355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PCT 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19</a:t>
            </a:r>
            <a:r>
              <a:rPr lang="ko-KR" altLang="en-US" sz="1400" dirty="0">
                <a:solidFill>
                  <a:schemeClr val="tx1"/>
                </a:solidFill>
              </a:rPr>
              <a:t>조 보정의 번역문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412300" y="1935774"/>
            <a:ext cx="1464936" cy="212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외국어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3276600" y="1935774"/>
            <a:ext cx="1464936" cy="212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외국어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5918200" y="1935774"/>
            <a:ext cx="1464935" cy="212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국어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8803463" y="1935774"/>
            <a:ext cx="1635937" cy="212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국어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412300" y="2237772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출원서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12300" y="2475238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발명의 설명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412300" y="2719799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청구범위</a:t>
            </a:r>
            <a:r>
              <a:rPr lang="en-US" altLang="ko-KR" sz="1400" dirty="0">
                <a:solidFill>
                  <a:schemeClr val="tx1"/>
                </a:solidFill>
              </a:rPr>
              <a:t>(A)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12300" y="2957265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도면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 err="1">
                <a:solidFill>
                  <a:schemeClr val="tx1"/>
                </a:solidFill>
              </a:rPr>
              <a:t>설명포함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12300" y="3194731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도면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 err="1">
                <a:solidFill>
                  <a:schemeClr val="tx1"/>
                </a:solidFill>
              </a:rPr>
              <a:t>설명제외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12300" y="3432197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요약서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5918200" y="2263172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</a:t>
            </a:r>
            <a:r>
              <a:rPr lang="en-US" altLang="ko-KR" sz="1400" dirty="0">
                <a:solidFill>
                  <a:schemeClr val="tx1"/>
                </a:solidFill>
              </a:rPr>
              <a:t>×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5918200" y="2500638"/>
            <a:ext cx="1464936" cy="2127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번역문○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5918200" y="2745199"/>
            <a:ext cx="1464936" cy="2127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B</a:t>
            </a:r>
            <a:r>
              <a:rPr lang="ko-KR" altLang="en-US" sz="1400" dirty="0">
                <a:solidFill>
                  <a:schemeClr val="tx1"/>
                </a:solidFill>
              </a:rPr>
              <a:t>의 번역문○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5918200" y="2982665"/>
            <a:ext cx="1464936" cy="2127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번역문○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5918200" y="3220131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</a:t>
            </a:r>
            <a:r>
              <a:rPr lang="en-US" altLang="ko-KR" sz="1400" dirty="0">
                <a:solidFill>
                  <a:schemeClr val="tx1"/>
                </a:solidFill>
              </a:rPr>
              <a:t>×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918200" y="3457597"/>
            <a:ext cx="1464936" cy="2127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번역문○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3276600" y="2719799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청구범위</a:t>
            </a:r>
            <a:r>
              <a:rPr lang="en-US" altLang="ko-KR" sz="1400" dirty="0">
                <a:solidFill>
                  <a:schemeClr val="tx1"/>
                </a:solidFill>
              </a:rPr>
              <a:t>(B)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8803462" y="2719799"/>
            <a:ext cx="1635937" cy="2127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B</a:t>
            </a:r>
            <a:r>
              <a:rPr lang="ko-KR" altLang="en-US" sz="1400" dirty="0">
                <a:solidFill>
                  <a:schemeClr val="tx1"/>
                </a:solidFill>
              </a:rPr>
              <a:t>의 번역문○</a:t>
            </a:r>
          </a:p>
        </p:txBody>
      </p:sp>
      <p:cxnSp>
        <p:nvCxnSpPr>
          <p:cNvPr id="13" name="직선 화살표 연결선 12"/>
          <p:cNvCxnSpPr>
            <a:stCxn id="35" idx="3"/>
            <a:endCxn id="41" idx="1"/>
          </p:cNvCxnSpPr>
          <p:nvPr/>
        </p:nvCxnSpPr>
        <p:spPr>
          <a:xfrm>
            <a:off x="1877236" y="2344124"/>
            <a:ext cx="4040964" cy="2540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36" idx="3"/>
            <a:endCxn id="42" idx="1"/>
          </p:cNvCxnSpPr>
          <p:nvPr/>
        </p:nvCxnSpPr>
        <p:spPr>
          <a:xfrm>
            <a:off x="1877236" y="2581590"/>
            <a:ext cx="4040964" cy="2540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stCxn id="37" idx="3"/>
            <a:endCxn id="48" idx="1"/>
          </p:cNvCxnSpPr>
          <p:nvPr/>
        </p:nvCxnSpPr>
        <p:spPr>
          <a:xfrm>
            <a:off x="1877236" y="2826151"/>
            <a:ext cx="1399364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48" idx="3"/>
            <a:endCxn id="43" idx="1"/>
          </p:cNvCxnSpPr>
          <p:nvPr/>
        </p:nvCxnSpPr>
        <p:spPr>
          <a:xfrm>
            <a:off x="4741536" y="2826151"/>
            <a:ext cx="1176664" cy="2540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38" idx="3"/>
            <a:endCxn id="44" idx="1"/>
          </p:cNvCxnSpPr>
          <p:nvPr/>
        </p:nvCxnSpPr>
        <p:spPr>
          <a:xfrm>
            <a:off x="1877236" y="3063617"/>
            <a:ext cx="4040964" cy="2540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stCxn id="39" idx="3"/>
            <a:endCxn id="45" idx="1"/>
          </p:cNvCxnSpPr>
          <p:nvPr/>
        </p:nvCxnSpPr>
        <p:spPr>
          <a:xfrm>
            <a:off x="1877236" y="3301083"/>
            <a:ext cx="4040964" cy="2540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40" idx="3"/>
            <a:endCxn id="46" idx="1"/>
          </p:cNvCxnSpPr>
          <p:nvPr/>
        </p:nvCxnSpPr>
        <p:spPr>
          <a:xfrm>
            <a:off x="1877236" y="3538549"/>
            <a:ext cx="4040964" cy="2540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 flipH="1" flipV="1">
            <a:off x="8712197" y="1355751"/>
            <a:ext cx="2082801" cy="2022447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/>
          <p:cNvSpPr/>
          <p:nvPr/>
        </p:nvSpPr>
        <p:spPr>
          <a:xfrm>
            <a:off x="8394700" y="3419498"/>
            <a:ext cx="2247899" cy="2898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204</a:t>
            </a:r>
            <a:r>
              <a:rPr lang="ko-KR" altLang="en-US" dirty="0">
                <a:solidFill>
                  <a:srgbClr val="FF0000"/>
                </a:solidFill>
              </a:rPr>
              <a:t>조제</a:t>
            </a:r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ko-KR" altLang="en-US" dirty="0">
                <a:solidFill>
                  <a:srgbClr val="FF0000"/>
                </a:solidFill>
              </a:rPr>
              <a:t>항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항</a:t>
            </a:r>
          </a:p>
        </p:txBody>
      </p:sp>
      <p:sp>
        <p:nvSpPr>
          <p:cNvPr id="47" name="모서리가 둥근 사각형 설명선 46"/>
          <p:cNvSpPr/>
          <p:nvPr/>
        </p:nvSpPr>
        <p:spPr>
          <a:xfrm>
            <a:off x="7497433" y="2344123"/>
            <a:ext cx="1011563" cy="613141"/>
          </a:xfrm>
          <a:prstGeom prst="wedgeRoundRectCallout">
            <a:avLst>
              <a:gd name="adj1" fmla="val -58226"/>
              <a:gd name="adj2" fmla="val 35807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제</a:t>
            </a:r>
            <a:r>
              <a:rPr lang="en-US" altLang="ko-KR" sz="1600" dirty="0"/>
              <a:t>201</a:t>
            </a:r>
            <a:r>
              <a:rPr lang="ko-KR" altLang="en-US" sz="1600" dirty="0"/>
              <a:t>조</a:t>
            </a:r>
            <a:endParaRPr lang="en-US" altLang="ko-KR" sz="1600" dirty="0"/>
          </a:p>
          <a:p>
            <a:pPr algn="ctr"/>
            <a:r>
              <a:rPr lang="ko-KR" altLang="en-US" sz="1600" dirty="0"/>
              <a:t>제</a:t>
            </a:r>
            <a:r>
              <a:rPr lang="en-US" altLang="ko-KR" sz="1600" dirty="0"/>
              <a:t>2</a:t>
            </a:r>
            <a:r>
              <a:rPr lang="ko-KR" altLang="en-US" sz="1600" dirty="0"/>
              <a:t>항</a:t>
            </a:r>
          </a:p>
        </p:txBody>
      </p:sp>
      <p:sp>
        <p:nvSpPr>
          <p:cNvPr id="67" name="모서리가 둥근 사각형 설명선 66"/>
          <p:cNvSpPr/>
          <p:nvPr/>
        </p:nvSpPr>
        <p:spPr>
          <a:xfrm>
            <a:off x="10693401" y="3100863"/>
            <a:ext cx="1346198" cy="613141"/>
          </a:xfrm>
          <a:prstGeom prst="wedgeRoundRectCallout">
            <a:avLst>
              <a:gd name="adj1" fmla="val -58226"/>
              <a:gd name="adj2" fmla="val 35807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 latinLnBrk="0"/>
            <a:r>
              <a:rPr lang="ko-KR" altLang="en-US" sz="1400" dirty="0"/>
              <a:t>不要</a:t>
            </a:r>
            <a:endParaRPr lang="en-US" altLang="ko-KR" sz="1400" dirty="0"/>
          </a:p>
          <a:p>
            <a:pPr fontAlgn="base" latinLnBrk="0"/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201</a:t>
            </a:r>
            <a:r>
              <a:rPr lang="ko-KR" altLang="en-US" sz="1400" dirty="0">
                <a:solidFill>
                  <a:schemeClr val="bg1"/>
                </a:solidFill>
              </a:rPr>
              <a:t>조제</a:t>
            </a:r>
            <a:r>
              <a:rPr lang="en-US" altLang="ko-KR" sz="1400" dirty="0">
                <a:solidFill>
                  <a:schemeClr val="bg1"/>
                </a:solidFill>
              </a:rPr>
              <a:t>8</a:t>
            </a:r>
            <a:r>
              <a:rPr lang="ko-KR" altLang="en-US" sz="1400" dirty="0">
                <a:solidFill>
                  <a:schemeClr val="bg1"/>
                </a:solidFill>
              </a:rPr>
              <a:t>항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68" name="직선 연결선 67"/>
          <p:cNvCxnSpPr/>
          <p:nvPr/>
        </p:nvCxnSpPr>
        <p:spPr>
          <a:xfrm flipH="1">
            <a:off x="374531" y="3963340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>
            <a:off x="850900" y="4745351"/>
            <a:ext cx="1045940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/>
          <p:cNvSpPr/>
          <p:nvPr/>
        </p:nvSpPr>
        <p:spPr>
          <a:xfrm>
            <a:off x="412300" y="4539844"/>
            <a:ext cx="1464936" cy="4355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PCT </a:t>
            </a:r>
            <a:r>
              <a:rPr lang="ko-KR" altLang="en-US" sz="14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5918200" y="4539844"/>
            <a:ext cx="1464936" cy="4355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PCT 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19</a:t>
            </a:r>
            <a:r>
              <a:rPr lang="ko-KR" altLang="en-US" sz="1400" dirty="0">
                <a:solidFill>
                  <a:schemeClr val="tx1"/>
                </a:solidFill>
              </a:rPr>
              <a:t>조 보정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3276600" y="4517316"/>
            <a:ext cx="1464936" cy="4355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원문의 번역문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8803464" y="4539844"/>
            <a:ext cx="1635936" cy="4355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PCT 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19</a:t>
            </a:r>
            <a:r>
              <a:rPr lang="ko-KR" altLang="en-US" sz="1400" dirty="0">
                <a:solidFill>
                  <a:schemeClr val="tx1"/>
                </a:solidFill>
              </a:rPr>
              <a:t>조 보정의 번역문</a:t>
            </a:r>
          </a:p>
        </p:txBody>
      </p:sp>
      <p:sp>
        <p:nvSpPr>
          <p:cNvPr id="76" name="직사각형 75"/>
          <p:cNvSpPr/>
          <p:nvPr/>
        </p:nvSpPr>
        <p:spPr>
          <a:xfrm>
            <a:off x="412300" y="4968206"/>
            <a:ext cx="1464936" cy="212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외국어</a:t>
            </a:r>
          </a:p>
        </p:txBody>
      </p:sp>
      <p:sp>
        <p:nvSpPr>
          <p:cNvPr id="78" name="직사각형 77"/>
          <p:cNvSpPr/>
          <p:nvPr/>
        </p:nvSpPr>
        <p:spPr>
          <a:xfrm>
            <a:off x="5918200" y="4968206"/>
            <a:ext cx="1464936" cy="212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외국어</a:t>
            </a:r>
          </a:p>
        </p:txBody>
      </p:sp>
      <p:sp>
        <p:nvSpPr>
          <p:cNvPr id="79" name="직사각형 78"/>
          <p:cNvSpPr/>
          <p:nvPr/>
        </p:nvSpPr>
        <p:spPr>
          <a:xfrm>
            <a:off x="3276600" y="4945678"/>
            <a:ext cx="1464935" cy="212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국어</a:t>
            </a:r>
          </a:p>
        </p:txBody>
      </p:sp>
      <p:sp>
        <p:nvSpPr>
          <p:cNvPr id="81" name="직사각형 80"/>
          <p:cNvSpPr/>
          <p:nvPr/>
        </p:nvSpPr>
        <p:spPr>
          <a:xfrm>
            <a:off x="8803463" y="4968206"/>
            <a:ext cx="1635937" cy="212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국어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412300" y="5270204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출원서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412300" y="5507670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발명의 설명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412300" y="5752231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청구범위</a:t>
            </a:r>
            <a:r>
              <a:rPr lang="en-US" altLang="ko-KR" sz="1400" dirty="0">
                <a:solidFill>
                  <a:schemeClr val="tx1"/>
                </a:solidFill>
              </a:rPr>
              <a:t>(A)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412300" y="5989697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도면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 err="1">
                <a:solidFill>
                  <a:schemeClr val="tx1"/>
                </a:solidFill>
              </a:rPr>
              <a:t>설명포함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412300" y="6227163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도면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 err="1">
                <a:solidFill>
                  <a:schemeClr val="tx1"/>
                </a:solidFill>
              </a:rPr>
              <a:t>설명제외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412300" y="6464629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요약서</a:t>
            </a:r>
          </a:p>
        </p:txBody>
      </p:sp>
      <p:sp>
        <p:nvSpPr>
          <p:cNvPr id="90" name="직사각형 89"/>
          <p:cNvSpPr/>
          <p:nvPr/>
        </p:nvSpPr>
        <p:spPr>
          <a:xfrm>
            <a:off x="3276600" y="5273076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</a:t>
            </a:r>
            <a:r>
              <a:rPr lang="en-US" altLang="ko-KR" sz="1400" dirty="0">
                <a:solidFill>
                  <a:schemeClr val="tx1"/>
                </a:solidFill>
              </a:rPr>
              <a:t>×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3276600" y="5510542"/>
            <a:ext cx="1464936" cy="2127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번역문○</a:t>
            </a:r>
          </a:p>
        </p:txBody>
      </p:sp>
      <p:sp>
        <p:nvSpPr>
          <p:cNvPr id="92" name="직사각형 91"/>
          <p:cNvSpPr/>
          <p:nvPr/>
        </p:nvSpPr>
        <p:spPr>
          <a:xfrm>
            <a:off x="3276600" y="5755103"/>
            <a:ext cx="1464936" cy="2127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</a:t>
            </a:r>
            <a:r>
              <a:rPr lang="ko-KR" altLang="en-US" sz="1400" dirty="0">
                <a:solidFill>
                  <a:schemeClr val="tx1"/>
                </a:solidFill>
              </a:rPr>
              <a:t>의 번역문○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3276600" y="5992569"/>
            <a:ext cx="1464936" cy="2127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번역문○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3276600" y="6230035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</a:t>
            </a:r>
            <a:r>
              <a:rPr lang="en-US" altLang="ko-KR" sz="1400" dirty="0">
                <a:solidFill>
                  <a:schemeClr val="tx1"/>
                </a:solidFill>
              </a:rPr>
              <a:t>×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3276600" y="6467501"/>
            <a:ext cx="1464936" cy="2127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번역문○</a:t>
            </a:r>
          </a:p>
        </p:txBody>
      </p:sp>
      <p:sp>
        <p:nvSpPr>
          <p:cNvPr id="97" name="직사각형 96"/>
          <p:cNvSpPr/>
          <p:nvPr/>
        </p:nvSpPr>
        <p:spPr>
          <a:xfrm>
            <a:off x="8803462" y="5752231"/>
            <a:ext cx="1635937" cy="2127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B</a:t>
            </a:r>
            <a:r>
              <a:rPr lang="ko-KR" altLang="en-US" sz="1400" dirty="0">
                <a:solidFill>
                  <a:schemeClr val="tx1"/>
                </a:solidFill>
              </a:rPr>
              <a:t>의 번역문○</a:t>
            </a:r>
          </a:p>
        </p:txBody>
      </p:sp>
      <p:cxnSp>
        <p:nvCxnSpPr>
          <p:cNvPr id="98" name="직선 화살표 연결선 97"/>
          <p:cNvCxnSpPr>
            <a:stCxn id="82" idx="3"/>
            <a:endCxn id="90" idx="1"/>
          </p:cNvCxnSpPr>
          <p:nvPr/>
        </p:nvCxnSpPr>
        <p:spPr>
          <a:xfrm>
            <a:off x="1877236" y="5376556"/>
            <a:ext cx="1399364" cy="287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>
            <a:stCxn id="83" idx="3"/>
            <a:endCxn id="91" idx="1"/>
          </p:cNvCxnSpPr>
          <p:nvPr/>
        </p:nvCxnSpPr>
        <p:spPr>
          <a:xfrm>
            <a:off x="1877236" y="5614022"/>
            <a:ext cx="1399364" cy="287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/>
          <p:cNvCxnSpPr>
            <a:stCxn id="85" idx="3"/>
            <a:endCxn id="92" idx="1"/>
          </p:cNvCxnSpPr>
          <p:nvPr/>
        </p:nvCxnSpPr>
        <p:spPr>
          <a:xfrm>
            <a:off x="1877236" y="5858583"/>
            <a:ext cx="1399364" cy="287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/>
          <p:cNvCxnSpPr>
            <a:stCxn id="87" idx="3"/>
            <a:endCxn id="93" idx="1"/>
          </p:cNvCxnSpPr>
          <p:nvPr/>
        </p:nvCxnSpPr>
        <p:spPr>
          <a:xfrm>
            <a:off x="1877236" y="6096049"/>
            <a:ext cx="1399364" cy="287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/>
          <p:cNvCxnSpPr>
            <a:stCxn id="88" idx="3"/>
            <a:endCxn id="94" idx="1"/>
          </p:cNvCxnSpPr>
          <p:nvPr/>
        </p:nvCxnSpPr>
        <p:spPr>
          <a:xfrm>
            <a:off x="1877236" y="6333515"/>
            <a:ext cx="1399364" cy="287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/>
          <p:cNvCxnSpPr>
            <a:stCxn id="89" idx="3"/>
            <a:endCxn id="95" idx="1"/>
          </p:cNvCxnSpPr>
          <p:nvPr/>
        </p:nvCxnSpPr>
        <p:spPr>
          <a:xfrm>
            <a:off x="1877236" y="6570981"/>
            <a:ext cx="1399364" cy="287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/>
          <p:cNvSpPr/>
          <p:nvPr/>
        </p:nvSpPr>
        <p:spPr>
          <a:xfrm>
            <a:off x="5918200" y="5752231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청구범위</a:t>
            </a:r>
            <a:r>
              <a:rPr lang="en-US" altLang="ko-KR" sz="1400" dirty="0">
                <a:solidFill>
                  <a:schemeClr val="tx1"/>
                </a:solidFill>
              </a:rPr>
              <a:t>(B)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12" name="직선 화살표 연결선 111"/>
          <p:cNvCxnSpPr>
            <a:stCxn id="92" idx="3"/>
            <a:endCxn id="110" idx="1"/>
          </p:cNvCxnSpPr>
          <p:nvPr/>
        </p:nvCxnSpPr>
        <p:spPr>
          <a:xfrm flipV="1">
            <a:off x="4741536" y="5858583"/>
            <a:ext cx="1176664" cy="287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/>
          <p:cNvCxnSpPr>
            <a:stCxn id="110" idx="3"/>
            <a:endCxn id="97" idx="1"/>
          </p:cNvCxnSpPr>
          <p:nvPr/>
        </p:nvCxnSpPr>
        <p:spPr>
          <a:xfrm>
            <a:off x="7383136" y="5858583"/>
            <a:ext cx="1420326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모서리가 둥근 직사각형 108"/>
          <p:cNvSpPr/>
          <p:nvPr/>
        </p:nvSpPr>
        <p:spPr>
          <a:xfrm>
            <a:off x="218121" y="1015635"/>
            <a:ext cx="4023679" cy="39870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원문에 대한 </a:t>
            </a:r>
            <a:r>
              <a:rPr lang="ko-KR" altLang="en-US" sz="1600" dirty="0" err="1"/>
              <a:t>국어번역문</a:t>
            </a:r>
            <a:r>
              <a:rPr lang="ko-KR" altLang="en-US" sz="1600" dirty="0"/>
              <a:t> 제출 전 </a:t>
            </a:r>
            <a:r>
              <a:rPr lang="en-US" altLang="ko-KR" sz="1600" dirty="0"/>
              <a:t>PCT 19 </a:t>
            </a:r>
            <a:r>
              <a:rPr lang="ko-KR" altLang="en-US" sz="1600" dirty="0"/>
              <a:t>보정</a:t>
            </a: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218121" y="4038289"/>
            <a:ext cx="4023679" cy="39870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원문에 대한 </a:t>
            </a:r>
            <a:r>
              <a:rPr lang="ko-KR" altLang="en-US" sz="1600" dirty="0" err="1"/>
              <a:t>국어번역문</a:t>
            </a:r>
            <a:r>
              <a:rPr lang="ko-KR" altLang="en-US" sz="1600" dirty="0"/>
              <a:t> 제출 후 </a:t>
            </a:r>
            <a:r>
              <a:rPr lang="en-US" altLang="ko-KR" sz="1600" dirty="0"/>
              <a:t>PCT 19 </a:t>
            </a:r>
            <a:r>
              <a:rPr lang="ko-KR" altLang="en-US" sz="1600" dirty="0"/>
              <a:t>보정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571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26109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204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205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국제단계의</a:t>
            </a:r>
            <a:r>
              <a:rPr lang="ko-KR" altLang="en-US" dirty="0"/>
              <a:t> 보정에 대한 번역문</a:t>
            </a:r>
            <a:r>
              <a:rPr lang="en-US" altLang="ko-KR" dirty="0"/>
              <a:t>/</a:t>
            </a:r>
            <a:r>
              <a:rPr lang="ko-KR" altLang="en-US" dirty="0"/>
              <a:t>사본 제출 법조문 비교</a:t>
            </a:r>
          </a:p>
        </p:txBody>
      </p:sp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80085"/>
              </p:ext>
            </p:extLst>
          </p:nvPr>
        </p:nvGraphicFramePr>
        <p:xfrm>
          <a:off x="317501" y="998181"/>
          <a:ext cx="11569700" cy="56324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6007099">
                  <a:extLst>
                    <a:ext uri="{9D8B030D-6E8A-4147-A177-3AD203B41FA5}">
                      <a16:colId xmlns:a16="http://schemas.microsoft.com/office/drawing/2014/main" val="4122316602"/>
                    </a:ext>
                  </a:extLst>
                </a:gridCol>
                <a:gridCol w="5562601">
                  <a:extLst>
                    <a:ext uri="{9D8B030D-6E8A-4147-A177-3AD203B41FA5}">
                      <a16:colId xmlns:a16="http://schemas.microsoft.com/office/drawing/2014/main" val="3501181814"/>
                    </a:ext>
                  </a:extLst>
                </a:gridCol>
              </a:tblGrid>
              <a:tr h="820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국제조사보고서를 받은 후의 보정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80" dirty="0">
                          <a:effectLst/>
                        </a:rPr>
                        <a:t>국제예비심사보고서 작성 전의 보정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54057"/>
                  </a:ext>
                </a:extLst>
              </a:tr>
              <a:tr h="179557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204</a:t>
                      </a:r>
                      <a:r>
                        <a:rPr lang="ko-KR" altLang="en-US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조</a:t>
                      </a:r>
                      <a:r>
                        <a:rPr lang="en-US" altLang="ko-KR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국제조사보고서를 받은 후의 보정</a:t>
                      </a:r>
                      <a:r>
                        <a:rPr lang="en-US" altLang="ko-KR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en-US" altLang="ko-KR" sz="1400" kern="0" spc="-80" dirty="0">
                          <a:effectLst/>
                        </a:rPr>
                        <a:t>① </a:t>
                      </a:r>
                      <a:r>
                        <a:rPr lang="ko-KR" altLang="en-US" sz="1400" kern="0" spc="-80" dirty="0">
                          <a:effectLst/>
                        </a:rPr>
                        <a:t>국제특허출원의 </a:t>
                      </a:r>
                      <a:r>
                        <a:rPr lang="ko-KR" altLang="en-US" sz="1400" kern="0" spc="-80" dirty="0" err="1">
                          <a:effectLst/>
                        </a:rPr>
                        <a:t>출원인은</a:t>
                      </a:r>
                      <a:r>
                        <a:rPr lang="ko-KR" altLang="en-US" sz="1400" kern="0" spc="-80" dirty="0">
                          <a:effectLst/>
                        </a:rPr>
                        <a:t> 「특허협력조약」 제</a:t>
                      </a:r>
                      <a:r>
                        <a:rPr lang="en-US" altLang="ko-KR" sz="1400" kern="0" spc="-80" dirty="0">
                          <a:effectLst/>
                        </a:rPr>
                        <a:t>19</a:t>
                      </a:r>
                      <a:r>
                        <a:rPr lang="ko-KR" altLang="en-US" sz="1400" kern="0" spc="-80" dirty="0">
                          <a:effectLst/>
                        </a:rPr>
                        <a:t>조</a:t>
                      </a:r>
                      <a:r>
                        <a:rPr lang="en-US" altLang="ko-KR" sz="1400" kern="0" spc="-80" dirty="0">
                          <a:effectLst/>
                        </a:rPr>
                        <a:t>(1)</a:t>
                      </a:r>
                      <a:r>
                        <a:rPr lang="ko-KR" altLang="en-US" sz="1400" kern="0" spc="-80" dirty="0">
                          <a:effectLst/>
                        </a:rPr>
                        <a:t>에 따라 국제조사보고서를 받은 후에 국제특허출원의 </a:t>
                      </a:r>
                      <a:r>
                        <a:rPr lang="ko-KR" altLang="en-US" sz="1400" kern="0" spc="-80" dirty="0" err="1">
                          <a:effectLst/>
                        </a:rPr>
                        <a:t>청구범위에</a:t>
                      </a:r>
                      <a:r>
                        <a:rPr lang="ko-KR" altLang="en-US" sz="1400" kern="0" spc="-80" dirty="0">
                          <a:effectLst/>
                        </a:rPr>
                        <a:t> 관하여 보정을 한 경우 기준일까지</a:t>
                      </a:r>
                      <a:r>
                        <a:rPr lang="en-US" altLang="ko-KR" sz="1400" kern="0" spc="-80" dirty="0">
                          <a:effectLst/>
                        </a:rPr>
                        <a:t>(</a:t>
                      </a:r>
                      <a:r>
                        <a:rPr lang="ko-KR" altLang="en-US" sz="1400" kern="0" spc="-80" dirty="0">
                          <a:effectLst/>
                        </a:rPr>
                        <a:t>기준일이 </a:t>
                      </a:r>
                      <a:r>
                        <a:rPr lang="ko-KR" altLang="en-US" sz="1400" kern="0" spc="-80" dirty="0" err="1">
                          <a:effectLst/>
                        </a:rPr>
                        <a:t>출원심사의</a:t>
                      </a:r>
                      <a:r>
                        <a:rPr lang="ko-KR" altLang="en-US" sz="1400" kern="0" spc="-80" dirty="0">
                          <a:effectLst/>
                        </a:rPr>
                        <a:t> </a:t>
                      </a:r>
                      <a:r>
                        <a:rPr lang="ko-KR" altLang="en-US" sz="1400" kern="0" spc="-80" dirty="0" err="1">
                          <a:effectLst/>
                        </a:rPr>
                        <a:t>청구일인</a:t>
                      </a:r>
                      <a:r>
                        <a:rPr lang="ko-KR" altLang="en-US" sz="1400" kern="0" spc="-80" dirty="0">
                          <a:effectLst/>
                        </a:rPr>
                        <a:t> 경우 </a:t>
                      </a:r>
                      <a:r>
                        <a:rPr lang="ko-KR" altLang="en-US" sz="1400" kern="0" spc="-80" dirty="0" err="1">
                          <a:effectLst/>
                        </a:rPr>
                        <a:t>출원심사의</a:t>
                      </a:r>
                      <a:r>
                        <a:rPr lang="ko-KR" altLang="en-US" sz="1400" kern="0" spc="-80" dirty="0">
                          <a:effectLst/>
                        </a:rPr>
                        <a:t> 청구를 한 때까지를 말한다</a:t>
                      </a:r>
                      <a:r>
                        <a:rPr lang="en-US" altLang="ko-KR" sz="1400" kern="0" spc="-80" dirty="0">
                          <a:effectLst/>
                        </a:rPr>
                        <a:t>. </a:t>
                      </a:r>
                      <a:r>
                        <a:rPr lang="ko-KR" altLang="en-US" sz="1400" kern="0" spc="-80" dirty="0">
                          <a:effectLst/>
                        </a:rPr>
                        <a:t>이하 이 조 및 제</a:t>
                      </a:r>
                      <a:r>
                        <a:rPr lang="en-US" altLang="ko-KR" sz="1400" kern="0" spc="-80" dirty="0">
                          <a:effectLst/>
                        </a:rPr>
                        <a:t>205</a:t>
                      </a:r>
                      <a:r>
                        <a:rPr lang="ko-KR" altLang="en-US" sz="1400" kern="0" spc="-80" dirty="0">
                          <a:effectLst/>
                        </a:rPr>
                        <a:t>조에서 같다</a:t>
                      </a:r>
                      <a:r>
                        <a:rPr lang="en-US" altLang="ko-KR" sz="1400" kern="0" spc="-80" dirty="0">
                          <a:effectLst/>
                        </a:rPr>
                        <a:t>) </a:t>
                      </a:r>
                      <a:r>
                        <a:rPr lang="ko-KR" altLang="en-US" sz="1400" kern="0" spc="-80" dirty="0">
                          <a:effectLst/>
                        </a:rPr>
                        <a:t>다음 각 호의 구분에 따른 서류를 지식재산처장에게 제출하여야 한다</a:t>
                      </a:r>
                      <a:r>
                        <a:rPr lang="en-US" altLang="ko-KR" sz="14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400" kern="0" spc="-80" dirty="0">
                          <a:effectLst/>
                        </a:rPr>
                        <a:t>1. </a:t>
                      </a:r>
                      <a:r>
                        <a:rPr lang="ko-KR" altLang="en-US" sz="1400" kern="0" spc="-80" dirty="0">
                          <a:effectLst/>
                        </a:rPr>
                        <a:t>외국어로 출원한 </a:t>
                      </a:r>
                      <a:r>
                        <a:rPr lang="ko-KR" altLang="en-US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국제특허출원</a:t>
                      </a:r>
                      <a:r>
                        <a:rPr lang="ko-KR" altLang="en-US" sz="1400" kern="0" spc="-80" dirty="0">
                          <a:effectLst/>
                        </a:rPr>
                        <a:t>인 경우</a:t>
                      </a:r>
                      <a:r>
                        <a:rPr lang="en-US" altLang="ko-KR" sz="1400" kern="0" spc="-80" dirty="0">
                          <a:effectLst/>
                        </a:rPr>
                        <a:t>: </a:t>
                      </a:r>
                      <a:r>
                        <a:rPr lang="ko-KR" altLang="en-US" sz="1400" kern="0" spc="-80" dirty="0">
                          <a:effectLst/>
                        </a:rPr>
                        <a:t>그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보정서의</a:t>
                      </a:r>
                      <a:r>
                        <a:rPr lang="ko-KR" altLang="en-US" sz="1400" kern="0" spc="-80" dirty="0">
                          <a:effectLst/>
                        </a:rPr>
                        <a:t> </a:t>
                      </a:r>
                      <a:r>
                        <a:rPr lang="ko-KR" altLang="en-US" sz="1400" kern="0" spc="-80" dirty="0" err="1">
                          <a:effectLst/>
                        </a:rPr>
                        <a:t>국어번역문</a:t>
                      </a:r>
                      <a:endParaRPr lang="ko-KR" altLang="en-US" sz="1400" kern="0" spc="-80" dirty="0">
                        <a:effectLst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400" kern="0" spc="-80" dirty="0">
                          <a:effectLst/>
                        </a:rPr>
                        <a:t>2. </a:t>
                      </a:r>
                      <a:r>
                        <a:rPr lang="ko-KR" altLang="en-US" sz="1400" kern="0" spc="-80" dirty="0">
                          <a:effectLst/>
                        </a:rPr>
                        <a:t>국어로 출원한 </a:t>
                      </a:r>
                      <a:r>
                        <a:rPr lang="ko-KR" altLang="en-US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국제특허출원</a:t>
                      </a:r>
                      <a:r>
                        <a:rPr lang="ko-KR" altLang="en-US" sz="1400" kern="0" spc="-80" dirty="0">
                          <a:effectLst/>
                        </a:rPr>
                        <a:t>인 경우</a:t>
                      </a:r>
                      <a:r>
                        <a:rPr lang="en-US" altLang="ko-KR" sz="1400" kern="0" spc="-80" dirty="0">
                          <a:effectLst/>
                        </a:rPr>
                        <a:t>: </a:t>
                      </a:r>
                      <a:r>
                        <a:rPr lang="ko-KR" altLang="en-US" sz="1400" kern="0" spc="-80" dirty="0">
                          <a:effectLst/>
                        </a:rPr>
                        <a:t>그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보정서의</a:t>
                      </a:r>
                      <a:r>
                        <a:rPr lang="ko-KR" altLang="en-US" sz="1400" kern="0" spc="-80" dirty="0">
                          <a:effectLst/>
                        </a:rPr>
                        <a:t> 사본</a:t>
                      </a: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400" kern="0" spc="-80" dirty="0">
                          <a:effectLst/>
                        </a:rPr>
                        <a:t>② 제</a:t>
                      </a:r>
                      <a:r>
                        <a:rPr lang="en-US" altLang="ko-KR" sz="1400" kern="0" spc="-80" dirty="0">
                          <a:effectLst/>
                        </a:rPr>
                        <a:t>1</a:t>
                      </a:r>
                      <a:r>
                        <a:rPr lang="ko-KR" altLang="en-US" sz="1400" kern="0" spc="-80" dirty="0">
                          <a:effectLst/>
                        </a:rPr>
                        <a:t>항에 따라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보정서의</a:t>
                      </a:r>
                      <a:r>
                        <a:rPr lang="ko-KR" altLang="en-US" sz="1400" kern="0" spc="-80" dirty="0">
                          <a:effectLst/>
                        </a:rPr>
                        <a:t> </a:t>
                      </a:r>
                      <a:r>
                        <a:rPr lang="ko-KR" altLang="en-US" sz="1400" kern="0" spc="-80" dirty="0" err="1">
                          <a:effectLst/>
                        </a:rPr>
                        <a:t>국어번역문</a:t>
                      </a:r>
                      <a:r>
                        <a:rPr lang="ko-KR" altLang="en-US" sz="1400" kern="0" spc="-80" dirty="0">
                          <a:effectLst/>
                        </a:rPr>
                        <a:t> 또는 사본이 제출되었을 때에는 그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보정서의</a:t>
                      </a:r>
                      <a:r>
                        <a:rPr lang="ko-KR" altLang="en-US" sz="1400" kern="0" spc="-80" dirty="0">
                          <a:effectLst/>
                        </a:rPr>
                        <a:t> </a:t>
                      </a:r>
                      <a:r>
                        <a:rPr lang="ko-KR" altLang="en-US" sz="1400" kern="0" spc="-80" dirty="0" err="1">
                          <a:effectLst/>
                        </a:rPr>
                        <a:t>국어번역문</a:t>
                      </a:r>
                      <a:r>
                        <a:rPr lang="ko-KR" altLang="en-US" sz="1400" kern="0" spc="-80" dirty="0">
                          <a:effectLst/>
                        </a:rPr>
                        <a:t> 또는 사본에 따라 제</a:t>
                      </a:r>
                      <a:r>
                        <a:rPr lang="en-US" altLang="ko-KR" sz="1400" kern="0" spc="-80" dirty="0">
                          <a:effectLst/>
                        </a:rPr>
                        <a:t>47</a:t>
                      </a:r>
                      <a:r>
                        <a:rPr lang="ko-KR" altLang="en-US" sz="1400" kern="0" spc="-80" dirty="0">
                          <a:effectLst/>
                        </a:rPr>
                        <a:t>조제</a:t>
                      </a:r>
                      <a:r>
                        <a:rPr lang="en-US" altLang="ko-KR" sz="1400" kern="0" spc="-80" dirty="0">
                          <a:effectLst/>
                        </a:rPr>
                        <a:t>1</a:t>
                      </a:r>
                      <a:r>
                        <a:rPr lang="ko-KR" altLang="en-US" sz="1400" kern="0" spc="-80" dirty="0">
                          <a:effectLst/>
                        </a:rPr>
                        <a:t>항에 따른 청구범위가 보정된 것으로 본다</a:t>
                      </a:r>
                      <a:r>
                        <a:rPr lang="en-US" altLang="ko-KR" sz="1400" kern="0" spc="-80" dirty="0">
                          <a:effectLst/>
                        </a:rPr>
                        <a:t>. </a:t>
                      </a:r>
                      <a:r>
                        <a:rPr lang="ko-KR" altLang="en-US" sz="1400" kern="0" spc="-80" dirty="0">
                          <a:effectLst/>
                        </a:rPr>
                        <a:t>다만</a:t>
                      </a:r>
                      <a:r>
                        <a:rPr lang="en-US" altLang="ko-KR" sz="1400" kern="0" spc="-80" dirty="0">
                          <a:effectLst/>
                        </a:rPr>
                        <a:t>, </a:t>
                      </a:r>
                      <a:r>
                        <a:rPr lang="ko-KR" altLang="en-US" sz="1400" kern="0" spc="-80" dirty="0">
                          <a:effectLst/>
                        </a:rPr>
                        <a:t>「특허협력조약」 제</a:t>
                      </a:r>
                      <a:r>
                        <a:rPr lang="en-US" altLang="ko-KR" sz="1400" kern="0" spc="-80" dirty="0">
                          <a:effectLst/>
                        </a:rPr>
                        <a:t>20</a:t>
                      </a:r>
                      <a:r>
                        <a:rPr lang="ko-KR" altLang="en-US" sz="1400" kern="0" spc="-80" dirty="0">
                          <a:effectLst/>
                        </a:rPr>
                        <a:t>조에 따라 기준일까지 그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</a:t>
                      </a:r>
                      <a:r>
                        <a:rPr lang="en-US" altLang="ko-KR" sz="1400" kern="0" spc="-80" dirty="0">
                          <a:effectLst/>
                        </a:rPr>
                        <a:t>(</a:t>
                      </a:r>
                      <a:r>
                        <a:rPr lang="ko-KR" altLang="en-US" sz="1400" kern="0" spc="-80" dirty="0">
                          <a:effectLst/>
                        </a:rPr>
                        <a:t>국어로 출원한 국제특허출원인 경우에 한정한다</a:t>
                      </a:r>
                      <a:r>
                        <a:rPr lang="en-US" altLang="ko-KR" sz="1400" kern="0" spc="-80" dirty="0">
                          <a:effectLst/>
                        </a:rPr>
                        <a:t>)</a:t>
                      </a:r>
                      <a:r>
                        <a:rPr lang="ko-KR" altLang="en-US" sz="1400" kern="0" spc="-80" dirty="0">
                          <a:effectLst/>
                        </a:rPr>
                        <a:t>가 지식재산처에 송달된 경우에는 그 보정서에 따라 보정된 것으로 본다</a:t>
                      </a:r>
                      <a:r>
                        <a:rPr lang="en-US" altLang="ko-KR" sz="14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③ </a:t>
                      </a:r>
                      <a:r>
                        <a:rPr lang="ko-KR" altLang="en-US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국제특허출원의 </a:t>
                      </a:r>
                      <a:r>
                        <a:rPr lang="ko-KR" altLang="en-US" sz="14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출원인은</a:t>
                      </a:r>
                      <a:r>
                        <a:rPr lang="ko-KR" altLang="en-US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 「특허협력조약」 제</a:t>
                      </a:r>
                      <a:r>
                        <a:rPr lang="en-US" altLang="ko-KR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19</a:t>
                      </a:r>
                      <a:r>
                        <a:rPr lang="ko-KR" altLang="en-US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조</a:t>
                      </a:r>
                      <a:r>
                        <a:rPr lang="en-US" altLang="ko-KR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(1)</a:t>
                      </a:r>
                      <a:r>
                        <a:rPr lang="ko-KR" altLang="en-US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에 따른 설명서를 국제사무국에 제출한 경우 다음 각 호의 구분에 따른 서류를 기준일까지 지식재산처장에게 제출하여야 한다</a:t>
                      </a:r>
                      <a:r>
                        <a:rPr lang="en-US" altLang="ko-KR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.</a:t>
                      </a: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1. </a:t>
                      </a:r>
                      <a:r>
                        <a:rPr lang="ko-KR" altLang="en-US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외국어로 출원한 국제특허출원인 경우</a:t>
                      </a:r>
                      <a:r>
                        <a:rPr lang="en-US" altLang="ko-KR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그 설명서의 </a:t>
                      </a:r>
                      <a:r>
                        <a:rPr lang="ko-KR" altLang="en-US" sz="14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국어번역문</a:t>
                      </a:r>
                      <a:endParaRPr lang="ko-KR" altLang="en-US" sz="1400" kern="0" spc="-8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2. </a:t>
                      </a:r>
                      <a:r>
                        <a:rPr lang="ko-KR" altLang="en-US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국어로 출원한 국제특허출원인 경우</a:t>
                      </a:r>
                      <a:r>
                        <a:rPr lang="en-US" altLang="ko-KR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그 설명서의 사본</a:t>
                      </a: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400" kern="0" spc="-80" dirty="0">
                          <a:effectLst/>
                        </a:rPr>
                        <a:t>④ 국제특허출원의 </a:t>
                      </a:r>
                      <a:r>
                        <a:rPr lang="ko-KR" altLang="en-US" sz="1400" kern="0" spc="-80" dirty="0" err="1">
                          <a:effectLst/>
                        </a:rPr>
                        <a:t>출원인이</a:t>
                      </a:r>
                      <a:r>
                        <a:rPr lang="ko-KR" altLang="en-US" sz="1400" kern="0" spc="-80" dirty="0">
                          <a:effectLst/>
                        </a:rPr>
                        <a:t> 기준일까지 제</a:t>
                      </a:r>
                      <a:r>
                        <a:rPr lang="en-US" altLang="ko-KR" sz="1400" kern="0" spc="-80" dirty="0">
                          <a:effectLst/>
                        </a:rPr>
                        <a:t>1</a:t>
                      </a:r>
                      <a:r>
                        <a:rPr lang="ko-KR" altLang="en-US" sz="1400" kern="0" spc="-80" dirty="0">
                          <a:effectLst/>
                        </a:rPr>
                        <a:t>항 또는 제</a:t>
                      </a:r>
                      <a:r>
                        <a:rPr lang="en-US" altLang="ko-KR" sz="1400" kern="0" spc="-80" dirty="0">
                          <a:effectLst/>
                        </a:rPr>
                        <a:t>3</a:t>
                      </a:r>
                      <a:r>
                        <a:rPr lang="ko-KR" altLang="en-US" sz="1400" kern="0" spc="-80" dirty="0">
                          <a:effectLst/>
                        </a:rPr>
                        <a:t>항에 따른 절차를 밟지 아니하면 「특허협력조약」 제</a:t>
                      </a:r>
                      <a:r>
                        <a:rPr lang="en-US" altLang="ko-KR" sz="1400" kern="0" spc="-80" dirty="0">
                          <a:effectLst/>
                        </a:rPr>
                        <a:t>19</a:t>
                      </a:r>
                      <a:r>
                        <a:rPr lang="ko-KR" altLang="en-US" sz="1400" kern="0" spc="-80" dirty="0">
                          <a:effectLst/>
                        </a:rPr>
                        <a:t>조</a:t>
                      </a:r>
                      <a:r>
                        <a:rPr lang="en-US" altLang="ko-KR" sz="1400" kern="0" spc="-80" dirty="0">
                          <a:effectLst/>
                        </a:rPr>
                        <a:t>(1)</a:t>
                      </a:r>
                      <a:r>
                        <a:rPr lang="ko-KR" altLang="en-US" sz="1400" kern="0" spc="-80" dirty="0">
                          <a:effectLst/>
                        </a:rPr>
                        <a:t>에 따른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</a:t>
                      </a:r>
                      <a:r>
                        <a:rPr lang="ko-KR" altLang="en-US" sz="1400" kern="0" spc="-80" dirty="0">
                          <a:effectLst/>
                        </a:rPr>
                        <a:t> 또는 설명서는 제출되지 아니한 것으로 본다</a:t>
                      </a:r>
                      <a:r>
                        <a:rPr lang="en-US" altLang="ko-KR" sz="1400" kern="0" spc="-80" dirty="0">
                          <a:effectLst/>
                        </a:rPr>
                        <a:t>. </a:t>
                      </a:r>
                      <a:r>
                        <a:rPr lang="ko-KR" altLang="en-US" sz="1400" kern="0" spc="-80" dirty="0">
                          <a:effectLst/>
                        </a:rPr>
                        <a:t>다만</a:t>
                      </a:r>
                      <a:r>
                        <a:rPr lang="en-US" altLang="ko-KR" sz="1400" kern="0" spc="-80" dirty="0">
                          <a:effectLst/>
                        </a:rPr>
                        <a:t>, </a:t>
                      </a:r>
                      <a:r>
                        <a:rPr lang="ko-KR" altLang="en-US" sz="1400" kern="0" spc="-80" dirty="0">
                          <a:effectLst/>
                        </a:rPr>
                        <a:t>국어로 출원한 국제특허출원인 경우에 「특허협력조약」 제</a:t>
                      </a:r>
                      <a:r>
                        <a:rPr lang="en-US" altLang="ko-KR" sz="1400" kern="0" spc="-80" dirty="0">
                          <a:effectLst/>
                        </a:rPr>
                        <a:t>20</a:t>
                      </a:r>
                      <a:r>
                        <a:rPr lang="ko-KR" altLang="en-US" sz="1400" kern="0" spc="-80" dirty="0">
                          <a:effectLst/>
                        </a:rPr>
                        <a:t>조에 따라 기준일까지 그 보정서 또는 그 설명서가 지식재산처에 송달된 경우에는 그러하지 아니하다</a:t>
                      </a:r>
                      <a:r>
                        <a:rPr lang="en-US" altLang="ko-KR" sz="1400" kern="0" spc="-80" dirty="0">
                          <a:effectLst/>
                        </a:rPr>
                        <a:t>.</a:t>
                      </a:r>
                      <a:endParaRPr lang="ko-KR" altLang="en-US" sz="1400" kern="0" spc="-8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205</a:t>
                      </a:r>
                      <a:r>
                        <a:rPr lang="ko-KR" altLang="en-US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조</a:t>
                      </a:r>
                      <a:r>
                        <a:rPr lang="en-US" altLang="ko-KR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국제예비심사보고서 작성 전의 보정</a:t>
                      </a:r>
                      <a:r>
                        <a:rPr lang="en-US" altLang="ko-KR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en-US" altLang="ko-KR" sz="1400" kern="0" spc="-80" dirty="0">
                          <a:effectLst/>
                        </a:rPr>
                        <a:t>① </a:t>
                      </a:r>
                      <a:r>
                        <a:rPr lang="ko-KR" altLang="en-US" sz="1400" kern="0" spc="-80" dirty="0">
                          <a:effectLst/>
                        </a:rPr>
                        <a:t>국제특허출원의 </a:t>
                      </a:r>
                      <a:r>
                        <a:rPr lang="ko-KR" altLang="en-US" sz="1400" kern="0" spc="-80" dirty="0" err="1">
                          <a:effectLst/>
                        </a:rPr>
                        <a:t>출원인은</a:t>
                      </a:r>
                      <a:r>
                        <a:rPr lang="ko-KR" altLang="en-US" sz="1400" kern="0" spc="-80" dirty="0">
                          <a:effectLst/>
                        </a:rPr>
                        <a:t> 「특허협력조약」 제</a:t>
                      </a:r>
                      <a:r>
                        <a:rPr lang="en-US" altLang="ko-KR" sz="1400" kern="0" spc="-80" dirty="0">
                          <a:effectLst/>
                        </a:rPr>
                        <a:t>34</a:t>
                      </a:r>
                      <a:r>
                        <a:rPr lang="ko-KR" altLang="en-US" sz="1400" kern="0" spc="-80" dirty="0">
                          <a:effectLst/>
                        </a:rPr>
                        <a:t>조</a:t>
                      </a:r>
                      <a:r>
                        <a:rPr lang="en-US" altLang="ko-KR" sz="1400" kern="0" spc="-80" dirty="0">
                          <a:effectLst/>
                        </a:rPr>
                        <a:t>(2)(b)</a:t>
                      </a:r>
                      <a:r>
                        <a:rPr lang="ko-KR" altLang="en-US" sz="1400" kern="0" spc="-80" dirty="0">
                          <a:effectLst/>
                        </a:rPr>
                        <a:t>에 따라 국제특허출원의 발명의 설명</a:t>
                      </a:r>
                      <a:r>
                        <a:rPr lang="en-US" altLang="ko-KR" sz="1400" kern="0" spc="-80" dirty="0">
                          <a:effectLst/>
                        </a:rPr>
                        <a:t>, </a:t>
                      </a:r>
                      <a:r>
                        <a:rPr lang="ko-KR" altLang="en-US" sz="1400" kern="0" spc="-80" dirty="0">
                          <a:effectLst/>
                        </a:rPr>
                        <a:t>청구범위 및 도면에 대하여 보정을 한 경우 기준일까지 다음 각 호의 구분에 따른 서류를 지식재산처장에게 제출하여야 한다</a:t>
                      </a:r>
                      <a:r>
                        <a:rPr lang="en-US" altLang="ko-KR" sz="14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400" kern="0" spc="-80" dirty="0">
                          <a:effectLst/>
                        </a:rPr>
                        <a:t>1. </a:t>
                      </a:r>
                      <a:r>
                        <a:rPr lang="ko-KR" altLang="en-US" sz="1400" kern="0" spc="-80" dirty="0">
                          <a:effectLst/>
                        </a:rPr>
                        <a:t>외국어로 작성된 </a:t>
                      </a:r>
                      <a:r>
                        <a:rPr lang="ko-KR" altLang="en-US" sz="14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보정서</a:t>
                      </a:r>
                      <a:r>
                        <a:rPr lang="ko-KR" altLang="en-US" sz="1400" kern="0" spc="-80" dirty="0" err="1">
                          <a:effectLst/>
                        </a:rPr>
                        <a:t>인</a:t>
                      </a:r>
                      <a:r>
                        <a:rPr lang="ko-KR" altLang="en-US" sz="1400" kern="0" spc="-80" dirty="0">
                          <a:effectLst/>
                        </a:rPr>
                        <a:t> 경우</a:t>
                      </a:r>
                      <a:r>
                        <a:rPr lang="en-US" altLang="ko-KR" sz="1400" kern="0" spc="-80" dirty="0">
                          <a:effectLst/>
                        </a:rPr>
                        <a:t>: </a:t>
                      </a:r>
                      <a:r>
                        <a:rPr lang="ko-KR" altLang="en-US" sz="1400" kern="0" spc="-80" dirty="0">
                          <a:effectLst/>
                        </a:rPr>
                        <a:t>그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보정서의</a:t>
                      </a:r>
                      <a:r>
                        <a:rPr lang="ko-KR" altLang="en-US" sz="1400" kern="0" spc="-80" dirty="0">
                          <a:effectLst/>
                        </a:rPr>
                        <a:t> </a:t>
                      </a:r>
                      <a:r>
                        <a:rPr lang="ko-KR" altLang="en-US" sz="1400" kern="0" spc="-80" dirty="0" err="1">
                          <a:effectLst/>
                        </a:rPr>
                        <a:t>국어번역문</a:t>
                      </a:r>
                      <a:endParaRPr lang="ko-KR" altLang="en-US" sz="1400" kern="0" spc="-80" dirty="0">
                        <a:effectLst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400" kern="0" spc="-80" dirty="0">
                          <a:effectLst/>
                        </a:rPr>
                        <a:t>2. </a:t>
                      </a:r>
                      <a:r>
                        <a:rPr lang="ko-KR" altLang="en-US" sz="1400" kern="0" spc="-80" dirty="0">
                          <a:effectLst/>
                        </a:rPr>
                        <a:t>국어로 작성된 </a:t>
                      </a:r>
                      <a:r>
                        <a:rPr lang="ko-KR" altLang="en-US" sz="14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보정서</a:t>
                      </a:r>
                      <a:r>
                        <a:rPr lang="ko-KR" altLang="en-US" sz="1400" kern="0" spc="-80" dirty="0" err="1">
                          <a:effectLst/>
                        </a:rPr>
                        <a:t>인</a:t>
                      </a:r>
                      <a:r>
                        <a:rPr lang="ko-KR" altLang="en-US" sz="1400" kern="0" spc="-80" dirty="0">
                          <a:effectLst/>
                        </a:rPr>
                        <a:t> 경우</a:t>
                      </a:r>
                      <a:r>
                        <a:rPr lang="en-US" altLang="ko-KR" sz="1400" kern="0" spc="-80" dirty="0">
                          <a:effectLst/>
                        </a:rPr>
                        <a:t>: </a:t>
                      </a:r>
                      <a:r>
                        <a:rPr lang="ko-KR" altLang="en-US" sz="1400" kern="0" spc="-80" dirty="0">
                          <a:effectLst/>
                        </a:rPr>
                        <a:t>그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보정서의</a:t>
                      </a:r>
                      <a:r>
                        <a:rPr lang="ko-KR" altLang="en-US" sz="1400" kern="0" spc="-80" dirty="0">
                          <a:effectLst/>
                        </a:rPr>
                        <a:t> 사본</a:t>
                      </a: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400" kern="0" spc="-80" dirty="0">
                        <a:effectLst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400" kern="0" spc="-80" dirty="0">
                          <a:effectLst/>
                        </a:rPr>
                        <a:t>② 제</a:t>
                      </a:r>
                      <a:r>
                        <a:rPr lang="en-US" altLang="ko-KR" sz="1400" kern="0" spc="-80" dirty="0">
                          <a:effectLst/>
                        </a:rPr>
                        <a:t>1</a:t>
                      </a:r>
                      <a:r>
                        <a:rPr lang="ko-KR" altLang="en-US" sz="1400" kern="0" spc="-80" dirty="0">
                          <a:effectLst/>
                        </a:rPr>
                        <a:t>항에 따라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보정서의</a:t>
                      </a:r>
                      <a:r>
                        <a:rPr lang="ko-KR" altLang="en-US" sz="1400" kern="0" spc="-80" dirty="0">
                          <a:effectLst/>
                        </a:rPr>
                        <a:t> </a:t>
                      </a:r>
                      <a:r>
                        <a:rPr lang="ko-KR" altLang="en-US" sz="1400" kern="0" spc="-80" dirty="0" err="1">
                          <a:effectLst/>
                        </a:rPr>
                        <a:t>국어번역문</a:t>
                      </a:r>
                      <a:r>
                        <a:rPr lang="ko-KR" altLang="en-US" sz="1400" kern="0" spc="-80" dirty="0">
                          <a:effectLst/>
                        </a:rPr>
                        <a:t> 또는 사본이 제출되었을 때에는 그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보정서의</a:t>
                      </a:r>
                      <a:r>
                        <a:rPr lang="ko-KR" altLang="en-US" sz="1400" kern="0" spc="-80" dirty="0">
                          <a:effectLst/>
                        </a:rPr>
                        <a:t> </a:t>
                      </a:r>
                      <a:r>
                        <a:rPr lang="ko-KR" altLang="en-US" sz="1400" kern="0" spc="-80" dirty="0" err="1">
                          <a:effectLst/>
                        </a:rPr>
                        <a:t>국어번역문</a:t>
                      </a:r>
                      <a:r>
                        <a:rPr lang="ko-KR" altLang="en-US" sz="1400" kern="0" spc="-80" dirty="0">
                          <a:effectLst/>
                        </a:rPr>
                        <a:t> 또는 사본에 따라 제</a:t>
                      </a:r>
                      <a:r>
                        <a:rPr lang="en-US" altLang="ko-KR" sz="1400" kern="0" spc="-80" dirty="0">
                          <a:effectLst/>
                        </a:rPr>
                        <a:t>47</a:t>
                      </a:r>
                      <a:r>
                        <a:rPr lang="ko-KR" altLang="en-US" sz="1400" kern="0" spc="-80" dirty="0">
                          <a:effectLst/>
                        </a:rPr>
                        <a:t>조제</a:t>
                      </a:r>
                      <a:r>
                        <a:rPr lang="en-US" altLang="ko-KR" sz="1400" kern="0" spc="-80" dirty="0">
                          <a:effectLst/>
                        </a:rPr>
                        <a:t>1</a:t>
                      </a:r>
                      <a:r>
                        <a:rPr lang="ko-KR" altLang="en-US" sz="1400" kern="0" spc="-80" dirty="0">
                          <a:effectLst/>
                        </a:rPr>
                        <a:t>항에 따른 명세서 및 도면이 보정된 것으로 본다</a:t>
                      </a:r>
                      <a:r>
                        <a:rPr lang="en-US" altLang="ko-KR" sz="1400" kern="0" spc="-80" dirty="0">
                          <a:effectLst/>
                        </a:rPr>
                        <a:t>. </a:t>
                      </a:r>
                      <a:r>
                        <a:rPr lang="ko-KR" altLang="en-US" sz="1400" kern="0" spc="-80" dirty="0">
                          <a:effectLst/>
                        </a:rPr>
                        <a:t>다만</a:t>
                      </a:r>
                      <a:r>
                        <a:rPr lang="en-US" altLang="ko-KR" sz="1400" kern="0" spc="-80" dirty="0">
                          <a:effectLst/>
                        </a:rPr>
                        <a:t>, </a:t>
                      </a:r>
                      <a:r>
                        <a:rPr lang="ko-KR" altLang="en-US" sz="1400" kern="0" spc="-80" dirty="0">
                          <a:effectLst/>
                        </a:rPr>
                        <a:t>「특허협력조약」 제</a:t>
                      </a:r>
                      <a:r>
                        <a:rPr lang="en-US" altLang="ko-KR" sz="1400" kern="0" spc="-80" dirty="0">
                          <a:effectLst/>
                        </a:rPr>
                        <a:t>36</a:t>
                      </a:r>
                      <a:r>
                        <a:rPr lang="ko-KR" altLang="en-US" sz="1400" kern="0" spc="-80" dirty="0">
                          <a:effectLst/>
                        </a:rPr>
                        <a:t>조</a:t>
                      </a:r>
                      <a:r>
                        <a:rPr lang="en-US" altLang="ko-KR" sz="1400" kern="0" spc="-80" dirty="0">
                          <a:effectLst/>
                        </a:rPr>
                        <a:t>(3)(a)</a:t>
                      </a:r>
                      <a:r>
                        <a:rPr lang="ko-KR" altLang="en-US" sz="1400" kern="0" spc="-80" dirty="0">
                          <a:effectLst/>
                        </a:rPr>
                        <a:t>에 따라 기준일까지 그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</a:t>
                      </a:r>
                      <a:r>
                        <a:rPr lang="en-US" altLang="ko-KR" sz="1400" kern="0" spc="-80" dirty="0">
                          <a:effectLst/>
                        </a:rPr>
                        <a:t>(</a:t>
                      </a:r>
                      <a:r>
                        <a:rPr lang="ko-KR" altLang="en-US" sz="1400" kern="0" spc="-80" dirty="0">
                          <a:effectLst/>
                        </a:rPr>
                        <a:t>국어로 작성된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보정서의</a:t>
                      </a:r>
                      <a:r>
                        <a:rPr lang="ko-KR" altLang="en-US" sz="1400" kern="0" spc="-80" dirty="0">
                          <a:effectLst/>
                        </a:rPr>
                        <a:t> 경우만 해당한다</a:t>
                      </a:r>
                      <a:r>
                        <a:rPr lang="en-US" altLang="ko-KR" sz="1400" kern="0" spc="-80" dirty="0">
                          <a:effectLst/>
                        </a:rPr>
                        <a:t>)</a:t>
                      </a:r>
                      <a:r>
                        <a:rPr lang="ko-KR" altLang="en-US" sz="1400" kern="0" spc="-80" dirty="0">
                          <a:effectLst/>
                        </a:rPr>
                        <a:t>가 지식재산처에 송달된 경우에는 그 보정서에 따라 보정된 것으로 본다</a:t>
                      </a:r>
                      <a:r>
                        <a:rPr lang="en-US" altLang="ko-KR" sz="14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400" kern="0" spc="-80" dirty="0">
                        <a:effectLst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400" kern="0" spc="-80" dirty="0">
                        <a:effectLst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400" kern="0" spc="-80" dirty="0">
                        <a:effectLst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400" kern="0" spc="-80" dirty="0">
                        <a:effectLst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400" kern="0" spc="-80" dirty="0">
                          <a:effectLst/>
                        </a:rPr>
                        <a:t>③ </a:t>
                      </a:r>
                      <a:r>
                        <a:rPr lang="ko-KR" altLang="en-US" sz="1400" kern="0" spc="-80" dirty="0">
                          <a:effectLst/>
                        </a:rPr>
                        <a:t>국제특허출원의 </a:t>
                      </a:r>
                      <a:r>
                        <a:rPr lang="ko-KR" altLang="en-US" sz="1400" kern="0" spc="-80" dirty="0" err="1">
                          <a:effectLst/>
                        </a:rPr>
                        <a:t>출원인이</a:t>
                      </a:r>
                      <a:r>
                        <a:rPr lang="ko-KR" altLang="en-US" sz="1400" kern="0" spc="-80" dirty="0">
                          <a:effectLst/>
                        </a:rPr>
                        <a:t> 기준일까지 제</a:t>
                      </a:r>
                      <a:r>
                        <a:rPr lang="en-US" altLang="ko-KR" sz="1400" kern="0" spc="-80" dirty="0">
                          <a:effectLst/>
                        </a:rPr>
                        <a:t>1</a:t>
                      </a:r>
                      <a:r>
                        <a:rPr lang="ko-KR" altLang="en-US" sz="1400" kern="0" spc="-80" dirty="0">
                          <a:effectLst/>
                        </a:rPr>
                        <a:t>항에 따른 절차를 밟지 아니하면 「특허협력조약」 제</a:t>
                      </a:r>
                      <a:r>
                        <a:rPr lang="en-US" altLang="ko-KR" sz="1400" kern="0" spc="-80" dirty="0">
                          <a:effectLst/>
                        </a:rPr>
                        <a:t>34</a:t>
                      </a:r>
                      <a:r>
                        <a:rPr lang="ko-KR" altLang="en-US" sz="1400" kern="0" spc="-80" dirty="0">
                          <a:effectLst/>
                        </a:rPr>
                        <a:t>조</a:t>
                      </a:r>
                      <a:r>
                        <a:rPr lang="en-US" altLang="ko-KR" sz="1400" kern="0" spc="-80" dirty="0">
                          <a:effectLst/>
                        </a:rPr>
                        <a:t>(2)(b)</a:t>
                      </a:r>
                      <a:r>
                        <a:rPr lang="ko-KR" altLang="en-US" sz="1400" kern="0" spc="-80" dirty="0">
                          <a:effectLst/>
                        </a:rPr>
                        <a:t>에 따른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보정서는</a:t>
                      </a:r>
                      <a:r>
                        <a:rPr lang="ko-KR" altLang="en-US" sz="1400" kern="0" spc="-80" dirty="0">
                          <a:effectLst/>
                        </a:rPr>
                        <a:t> 제출되지 아니한 것으로 본다</a:t>
                      </a:r>
                      <a:r>
                        <a:rPr lang="en-US" altLang="ko-KR" sz="1400" kern="0" spc="-80" dirty="0">
                          <a:effectLst/>
                        </a:rPr>
                        <a:t>. </a:t>
                      </a:r>
                      <a:r>
                        <a:rPr lang="ko-KR" altLang="en-US" sz="1400" kern="0" spc="-80" dirty="0">
                          <a:effectLst/>
                        </a:rPr>
                        <a:t>다만</a:t>
                      </a:r>
                      <a:r>
                        <a:rPr lang="en-US" altLang="ko-KR" sz="1400" kern="0" spc="-80" dirty="0">
                          <a:effectLst/>
                        </a:rPr>
                        <a:t>, </a:t>
                      </a:r>
                      <a:r>
                        <a:rPr lang="ko-KR" altLang="en-US" sz="1400" kern="0" spc="-80" dirty="0">
                          <a:effectLst/>
                        </a:rPr>
                        <a:t>「특허협력조약」 제</a:t>
                      </a:r>
                      <a:r>
                        <a:rPr lang="en-US" altLang="ko-KR" sz="1400" kern="0" spc="-80" dirty="0">
                          <a:effectLst/>
                        </a:rPr>
                        <a:t>36</a:t>
                      </a:r>
                      <a:r>
                        <a:rPr lang="ko-KR" altLang="en-US" sz="1400" kern="0" spc="-80" dirty="0">
                          <a:effectLst/>
                        </a:rPr>
                        <a:t>조</a:t>
                      </a:r>
                      <a:r>
                        <a:rPr lang="en-US" altLang="ko-KR" sz="1400" kern="0" spc="-80" dirty="0">
                          <a:effectLst/>
                        </a:rPr>
                        <a:t>(3)(a)</a:t>
                      </a:r>
                      <a:r>
                        <a:rPr lang="ko-KR" altLang="en-US" sz="1400" kern="0" spc="-80" dirty="0">
                          <a:effectLst/>
                        </a:rPr>
                        <a:t>에 따라 기준일까지 그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</a:t>
                      </a:r>
                      <a:r>
                        <a:rPr lang="en-US" altLang="ko-KR" sz="1400" kern="0" spc="-80" dirty="0">
                          <a:effectLst/>
                        </a:rPr>
                        <a:t>(</a:t>
                      </a:r>
                      <a:r>
                        <a:rPr lang="ko-KR" altLang="en-US" sz="1400" kern="0" spc="-80" dirty="0">
                          <a:effectLst/>
                        </a:rPr>
                        <a:t>국어로 작성된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보정서의</a:t>
                      </a:r>
                      <a:r>
                        <a:rPr lang="ko-KR" altLang="en-US" sz="1400" kern="0" spc="-80" dirty="0">
                          <a:effectLst/>
                        </a:rPr>
                        <a:t> 경우만 해당한다</a:t>
                      </a:r>
                      <a:r>
                        <a:rPr lang="en-US" altLang="ko-KR" sz="1400" kern="0" spc="-80" dirty="0">
                          <a:effectLst/>
                        </a:rPr>
                        <a:t>)</a:t>
                      </a:r>
                      <a:r>
                        <a:rPr lang="ko-KR" altLang="en-US" sz="1400" kern="0" spc="-80" dirty="0">
                          <a:effectLst/>
                        </a:rPr>
                        <a:t>가 지식재산처에 송달된 경우에는 그러하지 아니하다</a:t>
                      </a:r>
                      <a:r>
                        <a:rPr lang="en-US" altLang="ko-KR" sz="1400" kern="0" spc="-80" dirty="0">
                          <a:effectLst/>
                        </a:rPr>
                        <a:t>.</a:t>
                      </a:r>
                      <a:endParaRPr lang="ko-KR" altLang="en-US" sz="1400" kern="0" spc="-18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1743411643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572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99582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보정의 특례 등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77875" y="365455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875" y="976902"/>
            <a:ext cx="119363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208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보정의 특례 등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) 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국제특허출원에 관하여는 다음 각 호의 요건을 모두 갖추지 아니하면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47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항에도 불구하고 보정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204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및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205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따른 보정은 제외한다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을 할 수 없다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 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82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따른 수수료를 낼 것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201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따른 국어번역문을 제출할 것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국어로 출원된 국제특허출원인 경우는 그러하지 아니하다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기준일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기준일이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출원심사의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청구일인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경우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출원심사를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청구한 때를 말한다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 지날 것</a:t>
            </a:r>
          </a:p>
          <a:p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② 삭제  </a:t>
            </a:r>
            <a:endParaRPr lang="en-US" altLang="ko-KR" sz="1400" dirty="0">
              <a:solidFill>
                <a:schemeClr val="tx2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외국어로 출원된 국제특허출원의 보정할 수 있는 범위에 관하여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47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전단을 적용할 때에는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특허출원서에 최초로 첨부한 명세서 또는 도면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은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국제출원일까지 제출한 발명의 설명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  <a:latin typeface="+mn-ea"/>
              </a:rPr>
              <a:t>청구범위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 또는 도면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으로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 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외국어로 출원된 국제특허출원의 보정할 수 있는 범위에 관하여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47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후단을 적용할 때에는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외국어특허출원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은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외국어로 출원된 국제특허출원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으로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"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최종 </a:t>
            </a:r>
            <a:r>
              <a:rPr lang="ko-KR" altLang="en-US" sz="1400" dirty="0" err="1">
                <a:solidFill>
                  <a:srgbClr val="FF0000"/>
                </a:solidFill>
                <a:latin typeface="+mn-ea"/>
              </a:rPr>
              <a:t>국어번역문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42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조의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6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항 전단에 따른 정정이 있는 경우에는 정정된 국어번역문을 말한다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)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또는 특허출원서에 최초로 첨부한 도면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도면 중 </a:t>
            </a:r>
            <a:r>
              <a:rPr lang="ko-KR" altLang="en-US" sz="1400" dirty="0" err="1">
                <a:solidFill>
                  <a:srgbClr val="FF0000"/>
                </a:solidFill>
                <a:latin typeface="+mn-ea"/>
              </a:rPr>
              <a:t>설명부분은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 제외한다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)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은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201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5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항에 따른 최종 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  <a:latin typeface="+mn-ea"/>
              </a:rPr>
              <a:t>국어번역문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201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6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항 전단에 따른 정정이 있는 경우에는 정정된 국어번역문을 말한다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)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또는 국제출원일까지 제출한 도면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도면 중 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  <a:latin typeface="+mn-ea"/>
              </a:rPr>
              <a:t>설명부분은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 제외한다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)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으로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 </a:t>
            </a:r>
          </a:p>
        </p:txBody>
      </p:sp>
      <p:sp>
        <p:nvSpPr>
          <p:cNvPr id="8" name="양쪽 모서리가 둥근 사각형 7"/>
          <p:cNvSpPr/>
          <p:nvPr/>
        </p:nvSpPr>
        <p:spPr>
          <a:xfrm>
            <a:off x="709710" y="4228940"/>
            <a:ext cx="4646032" cy="404667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4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>
            <a:off x="243350" y="4633607"/>
            <a:ext cx="562405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4"/>
          <p:cNvSpPr>
            <a:spLocks noChangeArrowheads="1"/>
          </p:cNvSpPr>
          <p:nvPr/>
        </p:nvSpPr>
        <p:spPr bwMode="auto">
          <a:xfrm flipV="1">
            <a:off x="643034" y="4557076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52510" y="3768114"/>
            <a:ext cx="914400" cy="279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우선일</a:t>
            </a:r>
          </a:p>
        </p:txBody>
      </p:sp>
      <p:cxnSp>
        <p:nvCxnSpPr>
          <p:cNvPr id="13" name="직선 화살표 연결선 12"/>
          <p:cNvCxnSpPr>
            <a:stCxn id="12" idx="2"/>
            <a:endCxn id="10" idx="4"/>
          </p:cNvCxnSpPr>
          <p:nvPr/>
        </p:nvCxnSpPr>
        <p:spPr>
          <a:xfrm>
            <a:off x="709710" y="4047514"/>
            <a:ext cx="4762" cy="50956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1624110" y="4026068"/>
            <a:ext cx="2886992" cy="1517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31</a:t>
            </a:r>
            <a:r>
              <a:rPr lang="ko-KR" altLang="en-US" sz="1400" dirty="0">
                <a:solidFill>
                  <a:schemeClr val="tx1"/>
                </a:solidFill>
              </a:rPr>
              <a:t>개월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국내서면제출기간의 만료일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816030" y="4468507"/>
            <a:ext cx="1153587" cy="342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심사청구일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816030" y="5663753"/>
            <a:ext cx="1153587" cy="304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심사청구 </a:t>
            </a:r>
          </a:p>
        </p:txBody>
      </p:sp>
      <p:cxnSp>
        <p:nvCxnSpPr>
          <p:cNvPr id="18" name="직선 화살표 연결선 17"/>
          <p:cNvCxnSpPr>
            <a:stCxn id="16" idx="0"/>
            <a:endCxn id="15" idx="2"/>
          </p:cNvCxnSpPr>
          <p:nvPr/>
        </p:nvCxnSpPr>
        <p:spPr>
          <a:xfrm flipV="1">
            <a:off x="3392824" y="4811406"/>
            <a:ext cx="0" cy="85234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>
            <a:stCxn id="10" idx="0"/>
          </p:cNvCxnSpPr>
          <p:nvPr/>
        </p:nvCxnSpPr>
        <p:spPr>
          <a:xfrm flipH="1">
            <a:off x="709710" y="4710138"/>
            <a:ext cx="4762" cy="1220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709710" y="5237579"/>
            <a:ext cx="2683114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3392824" y="5237579"/>
            <a:ext cx="1962918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14"/>
          <p:cNvSpPr>
            <a:spLocks noChangeArrowheads="1"/>
          </p:cNvSpPr>
          <p:nvPr/>
        </p:nvSpPr>
        <p:spPr bwMode="auto">
          <a:xfrm flipV="1">
            <a:off x="5284304" y="4557076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34" name="직선 연결선 33"/>
          <p:cNvCxnSpPr/>
          <p:nvPr/>
        </p:nvCxnSpPr>
        <p:spPr>
          <a:xfrm flipH="1">
            <a:off x="5355742" y="4710138"/>
            <a:ext cx="4762" cy="1220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877719" y="4950748"/>
            <a:ext cx="2271776" cy="556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 latinLnBrk="0">
              <a:lnSpc>
                <a:spcPct val="110000"/>
              </a:lnSpc>
              <a:tabLst>
                <a:tab pos="227330" algn="l"/>
                <a:tab pos="434340" algn="l"/>
                <a:tab pos="563880" algn="l"/>
                <a:tab pos="722630" algn="l"/>
                <a:tab pos="1524000" algn="l"/>
                <a:tab pos="2032000" algn="l"/>
                <a:tab pos="2540000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</a:tabLst>
            </a:pP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국제단계에서의 보정에 대한 </a:t>
            </a:r>
            <a:endParaRPr lang="en-US" altLang="ko-KR" sz="1400" kern="0" dirty="0">
              <a:solidFill>
                <a:srgbClr val="000000"/>
              </a:solidFill>
              <a:latin typeface="+mn-ea"/>
            </a:endParaRPr>
          </a:p>
          <a:p>
            <a:pPr algn="ctr" fontAlgn="base" latinLnBrk="0">
              <a:lnSpc>
                <a:spcPct val="110000"/>
              </a:lnSpc>
              <a:tabLst>
                <a:tab pos="227330" algn="l"/>
                <a:tab pos="434340" algn="l"/>
                <a:tab pos="563880" algn="l"/>
                <a:tab pos="722630" algn="l"/>
                <a:tab pos="1524000" algn="l"/>
                <a:tab pos="2032000" algn="l"/>
                <a:tab pos="2540000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</a:tabLst>
            </a:pP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번역문 또는 사본의 제출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3508390" y="5229872"/>
            <a:ext cx="1689885" cy="32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 latinLnBrk="0">
              <a:lnSpc>
                <a:spcPct val="110000"/>
              </a:lnSpc>
              <a:tabLst>
                <a:tab pos="227330" algn="l"/>
                <a:tab pos="434340" algn="l"/>
                <a:tab pos="563880" algn="l"/>
                <a:tab pos="722630" algn="l"/>
                <a:tab pos="1524000" algn="l"/>
                <a:tab pos="2032000" algn="l"/>
                <a:tab pos="2540000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</a:tabLst>
            </a:pP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국내단계에서의 보정</a:t>
            </a:r>
          </a:p>
        </p:txBody>
      </p:sp>
      <p:sp>
        <p:nvSpPr>
          <p:cNvPr id="41" name="모서리가 둥근 직사각형 40"/>
          <p:cNvSpPr/>
          <p:nvPr/>
        </p:nvSpPr>
        <p:spPr>
          <a:xfrm>
            <a:off x="1508628" y="6267724"/>
            <a:ext cx="3281734" cy="3479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국내법 </a:t>
            </a:r>
            <a:r>
              <a:rPr lang="ko-KR" altLang="en-US" dirty="0" err="1">
                <a:solidFill>
                  <a:schemeClr val="bg1"/>
                </a:solidFill>
              </a:rPr>
              <a:t>적용받는</a:t>
            </a:r>
            <a:r>
              <a:rPr lang="ko-KR" altLang="en-US" dirty="0">
                <a:solidFill>
                  <a:schemeClr val="bg1"/>
                </a:solidFill>
              </a:rPr>
              <a:t> 보정으로 간주</a:t>
            </a:r>
          </a:p>
        </p:txBody>
      </p:sp>
      <p:cxnSp>
        <p:nvCxnSpPr>
          <p:cNvPr id="44" name="꺾인 연결선 43"/>
          <p:cNvCxnSpPr>
            <a:stCxn id="41" idx="0"/>
            <a:endCxn id="38" idx="2"/>
          </p:cNvCxnSpPr>
          <p:nvPr/>
        </p:nvCxnSpPr>
        <p:spPr>
          <a:xfrm rot="16200000" flipV="1">
            <a:off x="2201088" y="5319317"/>
            <a:ext cx="760926" cy="1135888"/>
          </a:xfrm>
          <a:prstGeom prst="bentConnector3">
            <a:avLst>
              <a:gd name="adj1" fmla="val 24965"/>
            </a:avLst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39" idx="2"/>
            <a:endCxn id="41" idx="0"/>
          </p:cNvCxnSpPr>
          <p:nvPr/>
        </p:nvCxnSpPr>
        <p:spPr>
          <a:xfrm rot="5400000">
            <a:off x="3397149" y="5311539"/>
            <a:ext cx="708531" cy="1203838"/>
          </a:xfrm>
          <a:prstGeom prst="bentConnector3">
            <a:avLst>
              <a:gd name="adj1" fmla="val 73302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/>
          <p:cNvCxnSpPr/>
          <p:nvPr/>
        </p:nvCxnSpPr>
        <p:spPr>
          <a:xfrm flipV="1">
            <a:off x="6092883" y="3975268"/>
            <a:ext cx="0" cy="271055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6314881" y="5217807"/>
            <a:ext cx="562405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14"/>
          <p:cNvSpPr>
            <a:spLocks noChangeArrowheads="1"/>
          </p:cNvSpPr>
          <p:nvPr/>
        </p:nvSpPr>
        <p:spPr bwMode="auto">
          <a:xfrm flipV="1">
            <a:off x="6714565" y="5141276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6324041" y="4695214"/>
            <a:ext cx="914400" cy="279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국제출원</a:t>
            </a:r>
          </a:p>
        </p:txBody>
      </p:sp>
      <p:cxnSp>
        <p:nvCxnSpPr>
          <p:cNvPr id="64" name="직선 화살표 연결선 63"/>
          <p:cNvCxnSpPr>
            <a:stCxn id="63" idx="2"/>
            <a:endCxn id="62" idx="4"/>
          </p:cNvCxnSpPr>
          <p:nvPr/>
        </p:nvCxnSpPr>
        <p:spPr>
          <a:xfrm>
            <a:off x="6781241" y="4974614"/>
            <a:ext cx="4762" cy="16666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6939301" y="5894104"/>
            <a:ext cx="1989647" cy="58477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fontAlgn="base" latinLnBrk="0"/>
            <a:r>
              <a:rPr lang="ko-KR" altLang="en-US" sz="1600" dirty="0"/>
              <a:t>제</a:t>
            </a:r>
            <a:r>
              <a:rPr lang="en-US" altLang="ko-KR" sz="1600" dirty="0"/>
              <a:t>47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/>
              <a:t>항에 따른 </a:t>
            </a:r>
            <a:endParaRPr lang="en-US" altLang="ko-KR" sz="1600" dirty="0"/>
          </a:p>
          <a:p>
            <a:pPr algn="ctr" fontAlgn="base" latinLnBrk="0"/>
            <a:r>
              <a:rPr lang="ko-KR" altLang="en-US" sz="1600" dirty="0"/>
              <a:t>보정한 것으로 간주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6324041" y="4338641"/>
            <a:ext cx="914400" cy="279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A, B, 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6324041" y="4059240"/>
            <a:ext cx="914400" cy="279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A, 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6" name="Rectangle 14"/>
          <p:cNvSpPr>
            <a:spLocks noChangeArrowheads="1"/>
          </p:cNvSpPr>
          <p:nvPr/>
        </p:nvSpPr>
        <p:spPr bwMode="auto">
          <a:xfrm flipV="1">
            <a:off x="7850059" y="5141276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7459535" y="4695214"/>
            <a:ext cx="914400" cy="279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기준일</a:t>
            </a:r>
          </a:p>
        </p:txBody>
      </p:sp>
      <p:cxnSp>
        <p:nvCxnSpPr>
          <p:cNvPr id="78" name="직선 화살표 연결선 77"/>
          <p:cNvCxnSpPr>
            <a:stCxn id="77" idx="2"/>
            <a:endCxn id="76" idx="4"/>
          </p:cNvCxnSpPr>
          <p:nvPr/>
        </p:nvCxnSpPr>
        <p:spPr>
          <a:xfrm>
            <a:off x="7916735" y="4974614"/>
            <a:ext cx="4762" cy="16666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/>
          <p:cNvSpPr/>
          <p:nvPr/>
        </p:nvSpPr>
        <p:spPr>
          <a:xfrm>
            <a:off x="7459535" y="4338641"/>
            <a:ext cx="914400" cy="279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A, B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7459535" y="4059240"/>
            <a:ext cx="914400" cy="279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1" name="Rectangle 14"/>
          <p:cNvSpPr>
            <a:spLocks noChangeArrowheads="1"/>
          </p:cNvSpPr>
          <p:nvPr/>
        </p:nvSpPr>
        <p:spPr bwMode="auto">
          <a:xfrm flipV="1">
            <a:off x="9419262" y="5141276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9028738" y="4695214"/>
            <a:ext cx="914400" cy="279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보정</a:t>
            </a:r>
          </a:p>
        </p:txBody>
      </p:sp>
      <p:cxnSp>
        <p:nvCxnSpPr>
          <p:cNvPr id="83" name="직선 화살표 연결선 82"/>
          <p:cNvCxnSpPr>
            <a:stCxn id="82" idx="2"/>
            <a:endCxn id="81" idx="4"/>
          </p:cNvCxnSpPr>
          <p:nvPr/>
        </p:nvCxnSpPr>
        <p:spPr>
          <a:xfrm>
            <a:off x="9485938" y="4974614"/>
            <a:ext cx="4762" cy="16666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/>
          <p:cNvSpPr/>
          <p:nvPr/>
        </p:nvSpPr>
        <p:spPr>
          <a:xfrm>
            <a:off x="9028738" y="4338641"/>
            <a:ext cx="914400" cy="279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9028738" y="4059240"/>
            <a:ext cx="914400" cy="279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9029162" y="5612480"/>
            <a:ext cx="2079257" cy="107721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 fontAlgn="base" latinLnBrk="0"/>
            <a:r>
              <a:rPr lang="ko-KR" altLang="en-US" sz="1600" dirty="0"/>
              <a:t>국어번역문의 범위를 벗어났기 때문에 신규사항추가</a:t>
            </a:r>
            <a:endParaRPr lang="en-US" altLang="ko-KR" sz="1600" dirty="0"/>
          </a:p>
          <a:p>
            <a:pPr algn="ctr" fontAlgn="base" latinLnBrk="0"/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47</a:t>
            </a:r>
            <a:r>
              <a:rPr lang="ko-KR" altLang="en-US" sz="1600" dirty="0"/>
              <a:t>조제</a:t>
            </a:r>
            <a:r>
              <a:rPr lang="en-US" altLang="ko-KR" sz="1600" dirty="0"/>
              <a:t>2</a:t>
            </a:r>
            <a:r>
              <a:rPr lang="ko-KR" altLang="en-US" sz="1600" dirty="0" err="1"/>
              <a:t>항후단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cxnSp>
        <p:nvCxnSpPr>
          <p:cNvPr id="91" name="직선 연결선 90"/>
          <p:cNvCxnSpPr>
            <a:cxnSpLocks/>
            <a:stCxn id="76" idx="0"/>
            <a:endCxn id="71" idx="0"/>
          </p:cNvCxnSpPr>
          <p:nvPr/>
        </p:nvCxnSpPr>
        <p:spPr>
          <a:xfrm>
            <a:off x="7921497" y="5294338"/>
            <a:ext cx="12628" cy="5997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573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9290804-E0B8-7731-A770-05FACAA54766}"/>
              </a:ext>
            </a:extLst>
          </p:cNvPr>
          <p:cNvSpPr/>
          <p:nvPr/>
        </p:nvSpPr>
        <p:spPr>
          <a:xfrm>
            <a:off x="10384795" y="5045044"/>
            <a:ext cx="1153587" cy="34289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최초</a:t>
            </a:r>
            <a:r>
              <a:rPr lang="en-US" altLang="ko-KR" sz="1400" dirty="0">
                <a:solidFill>
                  <a:schemeClr val="bg1"/>
                </a:solidFill>
              </a:rPr>
              <a:t>OA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847B19A1-D690-05CC-F841-E088B9462AC3}"/>
              </a:ext>
            </a:extLst>
          </p:cNvPr>
          <p:cNvCxnSpPr>
            <a:stCxn id="81" idx="7"/>
            <a:endCxn id="87" idx="0"/>
          </p:cNvCxnSpPr>
          <p:nvPr/>
        </p:nvCxnSpPr>
        <p:spPr>
          <a:xfrm rot="16200000" flipH="1">
            <a:off x="9634724" y="5178412"/>
            <a:ext cx="340557" cy="52757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8294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조의</a:t>
            </a:r>
            <a:r>
              <a:rPr lang="en-US" altLang="ko-KR" dirty="0"/>
              <a:t>3 vs </a:t>
            </a:r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879549"/>
              </p:ext>
            </p:extLst>
          </p:nvPr>
        </p:nvGraphicFramePr>
        <p:xfrm>
          <a:off x="279400" y="980550"/>
          <a:ext cx="11696700" cy="581901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44500">
                  <a:extLst>
                    <a:ext uri="{9D8B030D-6E8A-4147-A177-3AD203B41FA5}">
                      <a16:colId xmlns:a16="http://schemas.microsoft.com/office/drawing/2014/main" val="2842912106"/>
                    </a:ext>
                  </a:extLst>
                </a:gridCol>
                <a:gridCol w="5539591">
                  <a:extLst>
                    <a:ext uri="{9D8B030D-6E8A-4147-A177-3AD203B41FA5}">
                      <a16:colId xmlns:a16="http://schemas.microsoft.com/office/drawing/2014/main" val="2904194224"/>
                    </a:ext>
                  </a:extLst>
                </a:gridCol>
                <a:gridCol w="5712609">
                  <a:extLst>
                    <a:ext uri="{9D8B030D-6E8A-4147-A177-3AD203B41FA5}">
                      <a16:colId xmlns:a16="http://schemas.microsoft.com/office/drawing/2014/main" val="3266953995"/>
                    </a:ext>
                  </a:extLst>
                </a:gridCol>
              </a:tblGrid>
              <a:tr h="27269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구분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외국어특허출원</a:t>
                      </a:r>
                      <a:r>
                        <a:rPr lang="en-US" altLang="ko-KR" sz="1400" kern="0" spc="-100" dirty="0">
                          <a:effectLst/>
                        </a:rPr>
                        <a:t>(</a:t>
                      </a:r>
                      <a:r>
                        <a:rPr lang="ko-KR" altLang="en-US" sz="1400" kern="0" spc="-100" dirty="0">
                          <a:effectLst/>
                        </a:rPr>
                        <a:t>法 </a:t>
                      </a:r>
                      <a:r>
                        <a:rPr lang="en-US" altLang="ko-KR" sz="1400" kern="0" spc="-100" dirty="0">
                          <a:effectLst/>
                        </a:rPr>
                        <a:t>42</a:t>
                      </a:r>
                      <a:r>
                        <a:rPr lang="ko-KR" altLang="en-US" sz="1400" kern="0" spc="-100" dirty="0">
                          <a:effectLst/>
                        </a:rPr>
                        <a:t>의</a:t>
                      </a:r>
                      <a:r>
                        <a:rPr lang="en-US" altLang="ko-KR" sz="1400" kern="0" spc="-100" dirty="0">
                          <a:effectLst/>
                        </a:rPr>
                        <a:t>3)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외국어국제특허출원</a:t>
                      </a:r>
                      <a:r>
                        <a:rPr lang="en-US" altLang="ko-KR" sz="1400" kern="0" spc="-100" dirty="0">
                          <a:effectLst/>
                        </a:rPr>
                        <a:t>(</a:t>
                      </a:r>
                      <a:r>
                        <a:rPr lang="ko-KR" altLang="en-US" sz="1400" kern="0" spc="-100" dirty="0">
                          <a:effectLst/>
                        </a:rPr>
                        <a:t>法 </a:t>
                      </a:r>
                      <a:r>
                        <a:rPr lang="en-US" altLang="ko-KR" sz="1400" kern="0" spc="-100" dirty="0">
                          <a:effectLst/>
                        </a:rPr>
                        <a:t>201)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225404"/>
                  </a:ext>
                </a:extLst>
              </a:tr>
              <a:tr h="35394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제출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60" dirty="0">
                          <a:effectLst/>
                        </a:rPr>
                        <a:t>- </a:t>
                      </a:r>
                      <a:r>
                        <a:rPr lang="ko-KR" altLang="en-US" sz="1400" kern="0" spc="-100" dirty="0">
                          <a:effectLst/>
                        </a:rPr>
                        <a:t>특허출원인이 명세서 및 도면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100" dirty="0">
                          <a:effectLst/>
                        </a:rPr>
                        <a:t>도면 중 </a:t>
                      </a:r>
                      <a:r>
                        <a:rPr lang="ko-KR" altLang="en-US" sz="1400" kern="0" spc="-100" dirty="0" err="1">
                          <a:effectLst/>
                        </a:rPr>
                        <a:t>설명부분에</a:t>
                      </a:r>
                      <a:r>
                        <a:rPr lang="ko-KR" altLang="en-US" sz="1400" kern="0" spc="-100" dirty="0">
                          <a:effectLst/>
                        </a:rPr>
                        <a:t> 한정한다</a:t>
                      </a:r>
                      <a:r>
                        <a:rPr lang="en-US" altLang="ko-KR" sz="1400" kern="0" spc="-60" dirty="0">
                          <a:effectLst/>
                        </a:rPr>
                        <a:t>. </a:t>
                      </a:r>
                      <a:r>
                        <a:rPr lang="ko-KR" altLang="en-US" sz="1400" kern="0" spc="-100" dirty="0">
                          <a:effectLst/>
                        </a:rPr>
                        <a:t>이하 제</a:t>
                      </a:r>
                      <a:r>
                        <a:rPr lang="en-US" altLang="ko-KR" sz="1400" kern="0" spc="-60" dirty="0">
                          <a:effectLst/>
                        </a:rPr>
                        <a:t>2</a:t>
                      </a:r>
                      <a:r>
                        <a:rPr lang="ko-KR" altLang="en-US" sz="1400" kern="0" spc="-100" dirty="0">
                          <a:effectLst/>
                        </a:rPr>
                        <a:t>항 및 제</a:t>
                      </a:r>
                      <a:r>
                        <a:rPr lang="en-US" altLang="ko-KR" sz="1400" kern="0" spc="-60" dirty="0">
                          <a:effectLst/>
                        </a:rPr>
                        <a:t>5</a:t>
                      </a:r>
                      <a:r>
                        <a:rPr lang="ko-KR" altLang="en-US" sz="1400" kern="0" spc="-100" dirty="0">
                          <a:effectLst/>
                        </a:rPr>
                        <a:t>항에서 같다</a:t>
                      </a:r>
                      <a:r>
                        <a:rPr lang="en-US" altLang="ko-KR" sz="1400" kern="0" spc="-60" dirty="0">
                          <a:effectLst/>
                        </a:rPr>
                        <a:t>)</a:t>
                      </a:r>
                      <a:r>
                        <a:rPr lang="ko-KR" altLang="en-US" sz="1400" kern="0" spc="-100" dirty="0">
                          <a:effectLst/>
                        </a:rPr>
                        <a:t>을 국어가 아닌 총리령으로 정하는 언어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100" dirty="0">
                          <a:effectLst/>
                        </a:rPr>
                        <a:t>영어</a:t>
                      </a:r>
                      <a:r>
                        <a:rPr lang="en-US" altLang="ko-KR" sz="1400" kern="0" spc="-60" dirty="0">
                          <a:effectLst/>
                        </a:rPr>
                        <a:t>)</a:t>
                      </a:r>
                      <a:r>
                        <a:rPr lang="ko-KR" altLang="en-US" sz="1400" kern="0" spc="-100" dirty="0">
                          <a:effectLst/>
                        </a:rPr>
                        <a:t>로 적겠다는 취지를 특허출원을 할 때 특허출원서에 적은 경우에는 그 언어로 적을 수 있다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42</a:t>
                      </a:r>
                      <a:r>
                        <a:rPr lang="ko-KR" altLang="en-US" sz="1400" kern="0" spc="-100" dirty="0">
                          <a:effectLst/>
                        </a:rPr>
                        <a:t>의</a:t>
                      </a:r>
                      <a:r>
                        <a:rPr lang="en-US" altLang="ko-KR" sz="1400" kern="0" spc="-60" dirty="0">
                          <a:effectLst/>
                        </a:rPr>
                        <a:t>3</a:t>
                      </a:r>
                      <a:r>
                        <a:rPr lang="ko-KR" altLang="en-US" sz="1400" kern="0" spc="-60" dirty="0">
                          <a:effectLst/>
                        </a:rPr>
                        <a:t>①</a:t>
                      </a:r>
                      <a:r>
                        <a:rPr lang="en-US" altLang="ko-KR" sz="1400" kern="0" spc="-60" dirty="0">
                          <a:effectLst/>
                        </a:rPr>
                        <a:t>).</a:t>
                      </a:r>
                      <a:endParaRPr lang="ko-KR" altLang="en-US" sz="1400" kern="0" spc="-60" dirty="0">
                        <a:effectLst/>
                      </a:endParaRPr>
                    </a:p>
                    <a:p>
                      <a:pPr marL="71120" marR="31750" indent="-7112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60" dirty="0">
                          <a:effectLst/>
                        </a:rPr>
                        <a:t>- </a:t>
                      </a:r>
                      <a:r>
                        <a:rPr lang="ko-KR" altLang="en-US" sz="1400" kern="0" spc="-100" dirty="0">
                          <a:effectLst/>
                        </a:rPr>
                        <a:t>특허출원인이 특허출원서에 최초로 첨부한 명세서 및 도면을 제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항에 따른 언어로 적은 특허출원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100" dirty="0">
                          <a:effectLst/>
                        </a:rPr>
                        <a:t>이하 </a:t>
                      </a:r>
                      <a:r>
                        <a:rPr lang="en-US" altLang="ko-KR" sz="1400" kern="0" spc="-60" dirty="0">
                          <a:effectLst/>
                        </a:rPr>
                        <a:t>"</a:t>
                      </a:r>
                      <a:r>
                        <a:rPr lang="ko-KR" altLang="en-US" sz="1400" kern="0" spc="-100" dirty="0">
                          <a:effectLst/>
                        </a:rPr>
                        <a:t>외국어특허출원</a:t>
                      </a:r>
                      <a:r>
                        <a:rPr lang="en-US" altLang="ko-KR" sz="1400" kern="0" spc="-60" dirty="0">
                          <a:effectLst/>
                        </a:rPr>
                        <a:t>"</a:t>
                      </a:r>
                      <a:r>
                        <a:rPr lang="ko-KR" altLang="en-US" sz="1400" kern="0" spc="-100" dirty="0">
                          <a:effectLst/>
                        </a:rPr>
                        <a:t>이라 한다</a:t>
                      </a:r>
                      <a:r>
                        <a:rPr lang="en-US" altLang="ko-KR" sz="1400" kern="0" spc="-60" dirty="0">
                          <a:effectLst/>
                        </a:rPr>
                        <a:t>)</a:t>
                      </a:r>
                      <a:r>
                        <a:rPr lang="ko-KR" altLang="en-US" sz="1400" kern="0" spc="-100" dirty="0">
                          <a:effectLst/>
                        </a:rPr>
                        <a:t>을 한 경우에는 제</a:t>
                      </a:r>
                      <a:r>
                        <a:rPr lang="en-US" altLang="ko-KR" sz="1400" kern="0" spc="-60" dirty="0">
                          <a:effectLst/>
                        </a:rPr>
                        <a:t>64</a:t>
                      </a:r>
                      <a:r>
                        <a:rPr lang="ko-KR" altLang="en-US" sz="1400" kern="0" spc="-100" dirty="0">
                          <a:effectLst/>
                        </a:rPr>
                        <a:t>조제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항 각 호의 구분에 따른 날부터 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년 </a:t>
                      </a:r>
                      <a:r>
                        <a:rPr lang="en-US" altLang="ko-KR" sz="1400" kern="0" spc="-60" dirty="0">
                          <a:effectLst/>
                        </a:rPr>
                        <a:t>2</a:t>
                      </a:r>
                      <a:r>
                        <a:rPr lang="ko-KR" altLang="en-US" sz="1400" kern="0" spc="-100" dirty="0">
                          <a:effectLst/>
                        </a:rPr>
                        <a:t>개월이 되는 날까지 그 명세서 및 도면의 국어번역문을 총리령으로 정하는 방법에 따라 제출하여야 한다</a:t>
                      </a:r>
                      <a:r>
                        <a:rPr lang="en-US" altLang="ko-KR" sz="1400" kern="0" spc="-60" dirty="0">
                          <a:effectLst/>
                        </a:rPr>
                        <a:t>. </a:t>
                      </a:r>
                      <a:r>
                        <a:rPr lang="ko-KR" altLang="en-US" sz="1400" kern="0" spc="-100" dirty="0">
                          <a:effectLst/>
                        </a:rPr>
                        <a:t>다만</a:t>
                      </a:r>
                      <a:r>
                        <a:rPr lang="en-US" altLang="ko-KR" sz="1400" kern="0" spc="-60" dirty="0">
                          <a:effectLst/>
                        </a:rPr>
                        <a:t>, </a:t>
                      </a:r>
                      <a:r>
                        <a:rPr lang="ko-KR" altLang="en-US" sz="1400" kern="0" spc="-100" dirty="0">
                          <a:effectLst/>
                        </a:rPr>
                        <a:t>본문에 따른 기한 이전에 제</a:t>
                      </a:r>
                      <a:r>
                        <a:rPr lang="en-US" altLang="ko-KR" sz="1400" kern="0" spc="-60" dirty="0">
                          <a:effectLst/>
                        </a:rPr>
                        <a:t>60</a:t>
                      </a:r>
                      <a:r>
                        <a:rPr lang="ko-KR" altLang="en-US" sz="1400" kern="0" spc="-100" dirty="0">
                          <a:effectLst/>
                        </a:rPr>
                        <a:t>조제</a:t>
                      </a:r>
                      <a:r>
                        <a:rPr lang="en-US" altLang="ko-KR" sz="1400" kern="0" spc="-60" dirty="0">
                          <a:effectLst/>
                        </a:rPr>
                        <a:t>3</a:t>
                      </a:r>
                      <a:r>
                        <a:rPr lang="ko-KR" altLang="en-US" sz="1400" kern="0" spc="-100" dirty="0">
                          <a:effectLst/>
                        </a:rPr>
                        <a:t>항에 따른 </a:t>
                      </a:r>
                      <a:r>
                        <a:rPr lang="ko-KR" altLang="en-US" sz="1400" kern="0" spc="-100" dirty="0" err="1">
                          <a:effectLst/>
                        </a:rPr>
                        <a:t>출원심사</a:t>
                      </a:r>
                      <a:r>
                        <a:rPr lang="ko-KR" altLang="en-US" sz="1400" kern="0" spc="-100" dirty="0">
                          <a:effectLst/>
                        </a:rPr>
                        <a:t> 청구의 취지를 </a:t>
                      </a:r>
                      <a:r>
                        <a:rPr lang="ko-KR" altLang="en-US" sz="1400" kern="0" spc="-100" dirty="0" err="1">
                          <a:effectLst/>
                        </a:rPr>
                        <a:t>통지받은</a:t>
                      </a:r>
                      <a:r>
                        <a:rPr lang="ko-KR" altLang="en-US" sz="1400" kern="0" spc="-100" dirty="0">
                          <a:effectLst/>
                        </a:rPr>
                        <a:t> 경우에는 그 통지를 받은 날부터 </a:t>
                      </a:r>
                      <a:r>
                        <a:rPr lang="en-US" altLang="ko-KR" sz="1400" kern="0" spc="-60" dirty="0">
                          <a:effectLst/>
                        </a:rPr>
                        <a:t>3</a:t>
                      </a:r>
                      <a:r>
                        <a:rPr lang="ko-KR" altLang="en-US" sz="1400" kern="0" spc="-100" dirty="0">
                          <a:effectLst/>
                        </a:rPr>
                        <a:t>개월이 되는 날 또는 제</a:t>
                      </a:r>
                      <a:r>
                        <a:rPr lang="en-US" altLang="ko-KR" sz="1400" kern="0" spc="-60" dirty="0">
                          <a:effectLst/>
                        </a:rPr>
                        <a:t>64</a:t>
                      </a:r>
                      <a:r>
                        <a:rPr lang="ko-KR" altLang="en-US" sz="1400" kern="0" spc="-100" dirty="0">
                          <a:effectLst/>
                        </a:rPr>
                        <a:t>조제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항 각 호의 구분에 따른 날부터 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년 </a:t>
                      </a:r>
                      <a:r>
                        <a:rPr lang="en-US" altLang="ko-KR" sz="1400" kern="0" spc="-60" dirty="0">
                          <a:effectLst/>
                        </a:rPr>
                        <a:t>2</a:t>
                      </a:r>
                      <a:r>
                        <a:rPr lang="ko-KR" altLang="en-US" sz="1400" kern="0" spc="-100" dirty="0">
                          <a:effectLst/>
                        </a:rPr>
                        <a:t>개월이 되는 날 중 빠른 날까지 제출하여야 한다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42</a:t>
                      </a:r>
                      <a:r>
                        <a:rPr lang="ko-KR" altLang="en-US" sz="1400" kern="0" spc="-100" dirty="0">
                          <a:effectLst/>
                        </a:rPr>
                        <a:t>의</a:t>
                      </a:r>
                      <a:r>
                        <a:rPr lang="en-US" altLang="ko-KR" sz="1400" kern="0" spc="-60" dirty="0">
                          <a:effectLst/>
                        </a:rPr>
                        <a:t>3</a:t>
                      </a:r>
                      <a:r>
                        <a:rPr lang="ko-KR" altLang="en-US" sz="1400" kern="0" spc="-60" dirty="0">
                          <a:effectLst/>
                        </a:rPr>
                        <a:t>②</a:t>
                      </a:r>
                      <a:r>
                        <a:rPr lang="en-US" altLang="ko-KR" sz="1400" kern="0" spc="-60" dirty="0">
                          <a:effectLst/>
                        </a:rPr>
                        <a:t>).</a:t>
                      </a:r>
                      <a:endParaRPr lang="ko-KR" altLang="en-US" sz="14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tc>
                  <a:txBody>
                    <a:bodyPr/>
                    <a:lstStyle/>
                    <a:p>
                      <a:pPr marL="74930" marR="31750" indent="-7493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60" dirty="0">
                          <a:effectLst/>
                        </a:rPr>
                        <a:t>- </a:t>
                      </a:r>
                      <a:r>
                        <a:rPr lang="ko-KR" altLang="en-US" sz="1400" kern="0" spc="-60" dirty="0">
                          <a:effectLst/>
                        </a:rPr>
                        <a:t>국제특허출원을 외국어로 출원한 </a:t>
                      </a:r>
                      <a:r>
                        <a:rPr lang="ko-KR" altLang="en-US" sz="1400" kern="0" spc="-60" dirty="0" err="1">
                          <a:effectLst/>
                        </a:rPr>
                        <a:t>출원인은</a:t>
                      </a:r>
                      <a:r>
                        <a:rPr lang="ko-KR" altLang="en-US" sz="1400" kern="0" spc="-60" dirty="0">
                          <a:effectLst/>
                        </a:rPr>
                        <a:t> </a:t>
                      </a:r>
                      <a:r>
                        <a:rPr lang="ko-KR" altLang="en-US" sz="1400" kern="0" spc="-60" dirty="0" err="1">
                          <a:effectLst/>
                        </a:rPr>
                        <a:t>우선일부터</a:t>
                      </a:r>
                      <a:r>
                        <a:rPr lang="ko-KR" altLang="en-US" sz="1400" kern="0" spc="-60" dirty="0">
                          <a:effectLst/>
                        </a:rPr>
                        <a:t> </a:t>
                      </a:r>
                      <a:r>
                        <a:rPr lang="en-US" altLang="ko-KR" sz="1400" kern="0" spc="-60" dirty="0">
                          <a:effectLst/>
                        </a:rPr>
                        <a:t>2</a:t>
                      </a:r>
                      <a:r>
                        <a:rPr lang="ko-KR" altLang="en-US" sz="1400" kern="0" spc="-60" dirty="0">
                          <a:effectLst/>
                        </a:rPr>
                        <a:t>년 </a:t>
                      </a:r>
                      <a:r>
                        <a:rPr lang="en-US" altLang="ko-KR" sz="1400" kern="0" spc="-60" dirty="0">
                          <a:effectLst/>
                        </a:rPr>
                        <a:t>7</a:t>
                      </a:r>
                      <a:r>
                        <a:rPr lang="ko-KR" altLang="en-US" sz="1400" kern="0" spc="-60" dirty="0">
                          <a:effectLst/>
                        </a:rPr>
                        <a:t>개월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이하 </a:t>
                      </a:r>
                      <a:r>
                        <a:rPr lang="en-US" altLang="ko-KR" sz="1400" kern="0" spc="-60" dirty="0">
                          <a:effectLst/>
                        </a:rPr>
                        <a:t>"</a:t>
                      </a:r>
                      <a:r>
                        <a:rPr lang="ko-KR" altLang="en-US" sz="1400" kern="0" spc="-60" dirty="0">
                          <a:effectLst/>
                        </a:rPr>
                        <a:t>국내서면제출기간</a:t>
                      </a:r>
                      <a:r>
                        <a:rPr lang="en-US" altLang="ko-KR" sz="1400" kern="0" spc="-60" dirty="0">
                          <a:effectLst/>
                        </a:rPr>
                        <a:t>"</a:t>
                      </a:r>
                      <a:r>
                        <a:rPr lang="ko-KR" altLang="en-US" sz="1400" kern="0" spc="-60" dirty="0">
                          <a:effectLst/>
                        </a:rPr>
                        <a:t>이라 한다</a:t>
                      </a:r>
                      <a:r>
                        <a:rPr lang="en-US" altLang="ko-KR" sz="1400" kern="0" spc="-60" dirty="0">
                          <a:effectLst/>
                        </a:rPr>
                        <a:t>) </a:t>
                      </a:r>
                      <a:r>
                        <a:rPr lang="ko-KR" altLang="en-US" sz="1400" kern="0" spc="-60" dirty="0">
                          <a:effectLst/>
                        </a:rPr>
                        <a:t>이내에 다음의 국어번역문을 지식재산처장에게 제출하여야 한다</a:t>
                      </a:r>
                      <a:r>
                        <a:rPr lang="en-US" altLang="ko-KR" sz="1400" kern="0" spc="-60" dirty="0">
                          <a:effectLst/>
                        </a:rPr>
                        <a:t>. </a:t>
                      </a:r>
                      <a:r>
                        <a:rPr lang="ko-KR" altLang="en-US" sz="1400" kern="0" spc="-60" dirty="0">
                          <a:effectLst/>
                        </a:rPr>
                        <a:t>다만</a:t>
                      </a:r>
                      <a:r>
                        <a:rPr lang="en-US" altLang="ko-KR" sz="1400" kern="0" spc="-60" dirty="0">
                          <a:effectLst/>
                        </a:rPr>
                        <a:t>, </a:t>
                      </a:r>
                      <a:r>
                        <a:rPr lang="ko-KR" altLang="en-US" sz="1400" kern="0" spc="-60" dirty="0">
                          <a:effectLst/>
                        </a:rPr>
                        <a:t>국어번역문의 제출기간을 연장하여 달라는 취지를 제</a:t>
                      </a:r>
                      <a:r>
                        <a:rPr lang="en-US" altLang="ko-KR" sz="1400" kern="0" spc="-60" dirty="0">
                          <a:effectLst/>
                        </a:rPr>
                        <a:t>203</a:t>
                      </a:r>
                      <a:r>
                        <a:rPr lang="ko-KR" altLang="en-US" sz="1400" kern="0" spc="-60" dirty="0">
                          <a:effectLst/>
                        </a:rPr>
                        <a:t>조제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60" dirty="0">
                          <a:effectLst/>
                        </a:rPr>
                        <a:t>항에 따른 서면에 적어 국내서면제출기간 만료일 전 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60" dirty="0">
                          <a:effectLst/>
                        </a:rPr>
                        <a:t>개월부터 그 만료일까지 제출한 경우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그 서면을 제출하기 전에 국어번역문을 제출한 경우는 제외한다</a:t>
                      </a:r>
                      <a:r>
                        <a:rPr lang="en-US" altLang="ko-KR" sz="1400" kern="0" spc="-60" dirty="0">
                          <a:effectLst/>
                        </a:rPr>
                        <a:t>)</a:t>
                      </a:r>
                      <a:r>
                        <a:rPr lang="ko-KR" altLang="en-US" sz="1400" kern="0" spc="-60" dirty="0">
                          <a:effectLst/>
                        </a:rPr>
                        <a:t>에는 국내서면제출기간 만료일부터 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60" dirty="0">
                          <a:effectLst/>
                        </a:rPr>
                        <a:t>개월이 되는 날까지 국어번역문을 제출할 수 있다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201</a:t>
                      </a:r>
                      <a:r>
                        <a:rPr lang="ko-KR" altLang="en-US" sz="1400" kern="0" spc="-60" dirty="0">
                          <a:effectLst/>
                        </a:rPr>
                        <a:t>①</a:t>
                      </a:r>
                      <a:r>
                        <a:rPr lang="en-US" altLang="ko-KR" sz="1400" kern="0" spc="-60" dirty="0">
                          <a:effectLst/>
                        </a:rPr>
                        <a:t>).</a:t>
                      </a:r>
                      <a:endParaRPr lang="ko-KR" altLang="en-US" sz="1400" kern="0" spc="-60" dirty="0">
                        <a:effectLst/>
                      </a:endParaRPr>
                    </a:p>
                    <a:p>
                      <a:pPr marL="254000" marR="31750" indent="-25400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90" dirty="0">
                          <a:effectLst/>
                        </a:rPr>
                        <a:t>ⅰ) </a:t>
                      </a:r>
                      <a:r>
                        <a:rPr lang="ko-KR" altLang="en-US" sz="1400" kern="0" spc="-90" dirty="0">
                          <a:effectLst/>
                        </a:rPr>
                        <a:t>국제출원일까지 제출한 발명의 설명</a:t>
                      </a:r>
                      <a:r>
                        <a:rPr lang="en-US" altLang="ko-KR" sz="1400" kern="0" spc="-90" dirty="0">
                          <a:effectLst/>
                        </a:rPr>
                        <a:t>, </a:t>
                      </a:r>
                      <a:r>
                        <a:rPr lang="ko-KR" altLang="en-US" sz="1400" kern="0" spc="-90" dirty="0" err="1">
                          <a:effectLst/>
                        </a:rPr>
                        <a:t>청구범위</a:t>
                      </a:r>
                      <a:r>
                        <a:rPr lang="ko-KR" altLang="en-US" sz="1400" kern="0" spc="-90" dirty="0">
                          <a:effectLst/>
                        </a:rPr>
                        <a:t> 및 도면</a:t>
                      </a:r>
                      <a:r>
                        <a:rPr lang="en-US" altLang="ko-KR" sz="1400" kern="0" spc="-90" dirty="0">
                          <a:effectLst/>
                        </a:rPr>
                        <a:t>(</a:t>
                      </a:r>
                      <a:r>
                        <a:rPr lang="ko-KR" altLang="en-US" sz="1400" kern="0" spc="-90" dirty="0">
                          <a:effectLst/>
                        </a:rPr>
                        <a:t>도면 중 </a:t>
                      </a:r>
                      <a:r>
                        <a:rPr lang="ko-KR" altLang="en-US" sz="1400" kern="0" spc="-90" dirty="0" err="1">
                          <a:effectLst/>
                        </a:rPr>
                        <a:t>설명부분에</a:t>
                      </a:r>
                      <a:r>
                        <a:rPr lang="ko-KR" altLang="en-US" sz="1400" kern="0" spc="-90" dirty="0">
                          <a:effectLst/>
                        </a:rPr>
                        <a:t> 한정</a:t>
                      </a:r>
                      <a:r>
                        <a:rPr lang="en-US" altLang="ko-KR" sz="1400" kern="0" spc="-90" dirty="0">
                          <a:effectLst/>
                        </a:rPr>
                        <a:t>)</a:t>
                      </a:r>
                      <a:r>
                        <a:rPr lang="ko-KR" altLang="en-US" sz="1400" kern="0" spc="-90" dirty="0">
                          <a:effectLst/>
                        </a:rPr>
                        <a:t>의 </a:t>
                      </a:r>
                      <a:r>
                        <a:rPr lang="ko-KR" altLang="en-US" sz="1400" kern="0" spc="-90" dirty="0" err="1">
                          <a:effectLst/>
                        </a:rPr>
                        <a:t>국어번역문</a:t>
                      </a:r>
                      <a:endParaRPr lang="ko-KR" altLang="en-US" sz="1400" kern="0" spc="-90" dirty="0">
                        <a:effectLst/>
                      </a:endParaRPr>
                    </a:p>
                    <a:p>
                      <a:pPr marL="241300" marR="31750" indent="-24130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60" dirty="0">
                          <a:effectLst/>
                        </a:rPr>
                        <a:t>ⅱ) </a:t>
                      </a:r>
                      <a:r>
                        <a:rPr lang="ko-KR" altLang="en-US" sz="1400" kern="0" spc="-100" dirty="0">
                          <a:effectLst/>
                        </a:rPr>
                        <a:t>국제특허출원의 </a:t>
                      </a:r>
                      <a:r>
                        <a:rPr lang="ko-KR" altLang="en-US" sz="1400" kern="0" spc="-100" dirty="0" err="1">
                          <a:effectLst/>
                        </a:rPr>
                        <a:t>요약서의</a:t>
                      </a:r>
                      <a:r>
                        <a:rPr lang="ko-KR" altLang="en-US" sz="1400" kern="0" spc="-100" dirty="0">
                          <a:effectLst/>
                        </a:rPr>
                        <a:t> </a:t>
                      </a:r>
                      <a:r>
                        <a:rPr lang="ko-KR" altLang="en-US" sz="1400" kern="0" spc="-100" dirty="0" err="1">
                          <a:effectLst/>
                        </a:rPr>
                        <a:t>국어번역문</a:t>
                      </a:r>
                      <a:endParaRPr lang="ko-KR" altLang="en-US" sz="1400" kern="0" spc="-100" dirty="0">
                        <a:effectLst/>
                      </a:endParaRPr>
                    </a:p>
                    <a:p>
                      <a:pPr marL="80010" marR="31750" indent="-8001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60" dirty="0">
                          <a:effectLst/>
                        </a:rPr>
                        <a:t>- </a:t>
                      </a:r>
                      <a:r>
                        <a:rPr lang="ko-KR" altLang="en-US" sz="1400" kern="0" spc="-100" dirty="0">
                          <a:effectLst/>
                        </a:rPr>
                        <a:t>제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항에도 불구하고 국제특허출원을 외국어로 출원한 </a:t>
                      </a:r>
                      <a:r>
                        <a:rPr lang="ko-KR" altLang="en-US" sz="1400" kern="0" spc="-100" dirty="0" err="1">
                          <a:effectLst/>
                        </a:rPr>
                        <a:t>출원인이</a:t>
                      </a:r>
                      <a:r>
                        <a:rPr lang="ko-KR" altLang="en-US" sz="1400" kern="0" spc="-100" dirty="0">
                          <a:effectLst/>
                        </a:rPr>
                        <a:t> </a:t>
                      </a:r>
                      <a:r>
                        <a:rPr lang="ko-KR" altLang="en-US" sz="1400" kern="0" spc="-60" dirty="0">
                          <a:effectLst/>
                        </a:rPr>
                        <a:t>「</a:t>
                      </a:r>
                      <a:r>
                        <a:rPr lang="ko-KR" altLang="en-US" sz="1400" kern="0" spc="-100" dirty="0">
                          <a:effectLst/>
                        </a:rPr>
                        <a:t>특허협력조약</a:t>
                      </a:r>
                      <a:r>
                        <a:rPr lang="ko-KR" altLang="en-US" sz="1400" kern="0" spc="-60" dirty="0">
                          <a:effectLst/>
                        </a:rPr>
                        <a:t>」 </a:t>
                      </a:r>
                      <a:r>
                        <a:rPr lang="ko-KR" altLang="en-US" sz="1400" kern="0" spc="-100" dirty="0">
                          <a:effectLst/>
                        </a:rPr>
                        <a:t>제</a:t>
                      </a:r>
                      <a:r>
                        <a:rPr lang="en-US" altLang="ko-KR" sz="1400" kern="0" spc="-60" dirty="0">
                          <a:effectLst/>
                        </a:rPr>
                        <a:t>19</a:t>
                      </a:r>
                      <a:r>
                        <a:rPr lang="ko-KR" altLang="en-US" sz="1400" kern="0" spc="-100" dirty="0">
                          <a:effectLst/>
                        </a:rPr>
                        <a:t>조</a:t>
                      </a:r>
                      <a:r>
                        <a:rPr lang="en-US" altLang="ko-KR" sz="1400" kern="0" spc="-60" dirty="0">
                          <a:effectLst/>
                        </a:rPr>
                        <a:t>(1)</a:t>
                      </a:r>
                      <a:r>
                        <a:rPr lang="ko-KR" altLang="en-US" sz="1400" kern="0" spc="-100" dirty="0">
                          <a:effectLst/>
                        </a:rPr>
                        <a:t>에 따라 </a:t>
                      </a:r>
                      <a:r>
                        <a:rPr lang="ko-KR" altLang="en-US" sz="1400" kern="0" spc="-100" dirty="0" err="1">
                          <a:effectLst/>
                        </a:rPr>
                        <a:t>청구범위에</a:t>
                      </a:r>
                      <a:r>
                        <a:rPr lang="ko-KR" altLang="en-US" sz="1400" kern="0" spc="-100" dirty="0">
                          <a:effectLst/>
                        </a:rPr>
                        <a:t> 관한 보정을 한 경우에는 국제출원일까지 제출한 </a:t>
                      </a:r>
                      <a:r>
                        <a:rPr lang="ko-KR" altLang="en-US" sz="1400" kern="0" spc="-100" dirty="0" err="1">
                          <a:effectLst/>
                        </a:rPr>
                        <a:t>청구범위에</a:t>
                      </a:r>
                      <a:r>
                        <a:rPr lang="ko-KR" altLang="en-US" sz="1400" kern="0" spc="-100" dirty="0">
                          <a:effectLst/>
                        </a:rPr>
                        <a:t> 대한 국어번역문을 보정 후의 </a:t>
                      </a:r>
                      <a:r>
                        <a:rPr lang="ko-KR" altLang="en-US" sz="1400" kern="0" spc="-100" dirty="0" err="1">
                          <a:effectLst/>
                        </a:rPr>
                        <a:t>청구범위에</a:t>
                      </a:r>
                      <a:r>
                        <a:rPr lang="ko-KR" altLang="en-US" sz="1400" kern="0" spc="-100" dirty="0">
                          <a:effectLst/>
                        </a:rPr>
                        <a:t> 대한 국어번역문으로 대체하여 제출할 수 있다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201</a:t>
                      </a:r>
                      <a:r>
                        <a:rPr lang="ko-KR" altLang="en-US" sz="1400" kern="0" spc="-60" dirty="0">
                          <a:effectLst/>
                        </a:rPr>
                        <a:t>②</a:t>
                      </a:r>
                      <a:r>
                        <a:rPr lang="en-US" altLang="ko-KR" sz="1400" kern="0" spc="-60" dirty="0">
                          <a:effectLst/>
                        </a:rPr>
                        <a:t>). </a:t>
                      </a:r>
                      <a:r>
                        <a:rPr lang="ko-KR" altLang="en-US" sz="1400" kern="0" spc="-100" dirty="0">
                          <a:effectLst/>
                        </a:rPr>
                        <a:t>보정 후의 </a:t>
                      </a:r>
                      <a:r>
                        <a:rPr lang="ko-KR" altLang="en-US" sz="1400" kern="0" spc="-100" dirty="0" err="1">
                          <a:effectLst/>
                        </a:rPr>
                        <a:t>청구범위에</a:t>
                      </a:r>
                      <a:r>
                        <a:rPr lang="ko-KR" altLang="en-US" sz="1400" kern="0" spc="-100" dirty="0">
                          <a:effectLst/>
                        </a:rPr>
                        <a:t> 대한 국어번역문을 제출하는 경우에는 제</a:t>
                      </a:r>
                      <a:r>
                        <a:rPr lang="en-US" altLang="ko-KR" sz="1400" kern="0" spc="-60" dirty="0">
                          <a:effectLst/>
                        </a:rPr>
                        <a:t>204</a:t>
                      </a:r>
                      <a:r>
                        <a:rPr lang="ko-KR" altLang="en-US" sz="1400" kern="0" spc="-100" dirty="0">
                          <a:effectLst/>
                        </a:rPr>
                        <a:t>조제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항 및 제</a:t>
                      </a:r>
                      <a:r>
                        <a:rPr lang="en-US" altLang="ko-KR" sz="1400" kern="0" spc="-60" dirty="0">
                          <a:effectLst/>
                        </a:rPr>
                        <a:t>2</a:t>
                      </a:r>
                      <a:r>
                        <a:rPr lang="ko-KR" altLang="en-US" sz="1400" kern="0" spc="-100" dirty="0">
                          <a:effectLst/>
                        </a:rPr>
                        <a:t>항을 적용하지 아니한다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201</a:t>
                      </a:r>
                      <a:r>
                        <a:rPr lang="ko-KR" altLang="en-US" sz="1400" kern="0" spc="-60" dirty="0">
                          <a:effectLst/>
                        </a:rPr>
                        <a:t>⑧</a:t>
                      </a:r>
                      <a:r>
                        <a:rPr lang="en-US" altLang="ko-KR" sz="1400" kern="0" spc="-60" dirty="0">
                          <a:effectLst/>
                        </a:rPr>
                        <a:t>).</a:t>
                      </a:r>
                      <a:endParaRPr lang="ko-KR" altLang="en-US" sz="14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extLst>
                  <a:ext uri="{0D108BD9-81ED-4DB2-BD59-A6C34878D82A}">
                    <a16:rowId xmlns:a16="http://schemas.microsoft.com/office/drawing/2014/main" val="3174655349"/>
                  </a:ext>
                </a:extLst>
              </a:tr>
              <a:tr h="1177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교체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70" dirty="0">
                          <a:effectLst/>
                        </a:rPr>
                        <a:t>국어번역문을 제출한 특허출원인은 기한 이전에 그 국어번역문을 갈음하여 새로운 국어번역문을 제출할 수 있다</a:t>
                      </a:r>
                      <a:r>
                        <a:rPr lang="en-US" altLang="ko-KR" sz="1400" kern="0" spc="-70" dirty="0">
                          <a:effectLst/>
                        </a:rPr>
                        <a:t>. </a:t>
                      </a:r>
                      <a:r>
                        <a:rPr lang="ko-KR" altLang="en-US" sz="1400" kern="0" spc="-70" dirty="0">
                          <a:effectLst/>
                        </a:rPr>
                        <a:t>다만</a:t>
                      </a:r>
                      <a:r>
                        <a:rPr lang="en-US" altLang="ko-KR" sz="1400" kern="0" spc="-70" dirty="0">
                          <a:effectLst/>
                        </a:rPr>
                        <a:t>, </a:t>
                      </a:r>
                      <a:r>
                        <a:rPr lang="ko-KR" altLang="en-US" sz="1400" kern="0" spc="-70" dirty="0">
                          <a:effectLst/>
                        </a:rPr>
                        <a:t>다음의 어느 하나에 해당하는 경우에는 그러하지 아니하다</a:t>
                      </a:r>
                      <a:r>
                        <a:rPr lang="en-US" altLang="ko-KR" sz="1400" kern="0" spc="-70" dirty="0">
                          <a:effectLst/>
                        </a:rPr>
                        <a:t>(</a:t>
                      </a:r>
                      <a:r>
                        <a:rPr lang="ko-KR" altLang="en-US" sz="1400" kern="0" spc="-70" dirty="0">
                          <a:effectLst/>
                        </a:rPr>
                        <a:t>法 </a:t>
                      </a:r>
                      <a:r>
                        <a:rPr lang="en-US" altLang="ko-KR" sz="1400" kern="0" spc="-70" dirty="0">
                          <a:effectLst/>
                        </a:rPr>
                        <a:t>42</a:t>
                      </a:r>
                      <a:r>
                        <a:rPr lang="ko-KR" altLang="en-US" sz="1400" kern="0" spc="-70" dirty="0">
                          <a:effectLst/>
                        </a:rPr>
                        <a:t>의</a:t>
                      </a:r>
                      <a:r>
                        <a:rPr lang="en-US" altLang="ko-KR" sz="1400" kern="0" spc="-70" dirty="0">
                          <a:effectLst/>
                        </a:rPr>
                        <a:t>3</a:t>
                      </a:r>
                      <a:r>
                        <a:rPr lang="ko-KR" altLang="en-US" sz="1400" kern="0" spc="-70" dirty="0">
                          <a:effectLst/>
                        </a:rPr>
                        <a:t>③</a:t>
                      </a:r>
                      <a:r>
                        <a:rPr lang="en-US" altLang="ko-KR" sz="1400" kern="0" spc="-70" dirty="0">
                          <a:effectLst/>
                        </a:rPr>
                        <a:t>).</a:t>
                      </a:r>
                      <a:endParaRPr lang="ko-KR" altLang="en-US" sz="1400" kern="0" spc="-70" dirty="0">
                        <a:effectLst/>
                      </a:endParaRPr>
                    </a:p>
                    <a:p>
                      <a:pPr marL="167640" marR="31750" indent="-1676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90" dirty="0">
                          <a:effectLst/>
                        </a:rPr>
                        <a:t>ⅰ) </a:t>
                      </a:r>
                      <a:r>
                        <a:rPr lang="ko-KR" altLang="en-US" sz="1400" kern="0" spc="-90" dirty="0">
                          <a:effectLst/>
                        </a:rPr>
                        <a:t>명세서 또는 도면을 보정</a:t>
                      </a:r>
                      <a:r>
                        <a:rPr lang="en-US" altLang="ko-KR" sz="1400" kern="0" spc="-90" dirty="0">
                          <a:effectLst/>
                        </a:rPr>
                        <a:t>(</a:t>
                      </a:r>
                      <a:r>
                        <a:rPr lang="ko-KR" altLang="en-US" sz="1400" kern="0" spc="-90" dirty="0">
                          <a:effectLst/>
                        </a:rPr>
                        <a:t>제</a:t>
                      </a:r>
                      <a:r>
                        <a:rPr lang="en-US" altLang="ko-KR" sz="1400" kern="0" spc="-90" dirty="0">
                          <a:effectLst/>
                        </a:rPr>
                        <a:t>5</a:t>
                      </a:r>
                      <a:r>
                        <a:rPr lang="ko-KR" altLang="en-US" sz="1400" kern="0" spc="-90" dirty="0">
                          <a:effectLst/>
                        </a:rPr>
                        <a:t>항에 따라 보정한 것으로 보는 경우는 제외</a:t>
                      </a:r>
                      <a:r>
                        <a:rPr lang="en-US" altLang="ko-KR" sz="1400" kern="0" spc="-90" dirty="0">
                          <a:effectLst/>
                        </a:rPr>
                        <a:t>)</a:t>
                      </a:r>
                      <a:r>
                        <a:rPr lang="ko-KR" altLang="en-US" sz="1400" kern="0" spc="-90" dirty="0">
                          <a:effectLst/>
                        </a:rPr>
                        <a:t>한 경우</a:t>
                      </a:r>
                    </a:p>
                    <a:p>
                      <a:pPr marL="177800" marR="31750" indent="-17780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130" dirty="0">
                          <a:effectLst/>
                        </a:rPr>
                        <a:t>ⅱ)  </a:t>
                      </a:r>
                      <a:r>
                        <a:rPr lang="ko-KR" altLang="en-US" sz="1400" kern="0" spc="-130" dirty="0">
                          <a:effectLst/>
                        </a:rPr>
                        <a:t>특허출원인이 </a:t>
                      </a:r>
                      <a:r>
                        <a:rPr lang="ko-KR" altLang="en-US" sz="1400" kern="0" spc="-130" dirty="0" err="1">
                          <a:effectLst/>
                        </a:rPr>
                        <a:t>출원심사의</a:t>
                      </a:r>
                      <a:r>
                        <a:rPr lang="ko-KR" altLang="en-US" sz="1400" kern="0" spc="-130" dirty="0">
                          <a:effectLst/>
                        </a:rPr>
                        <a:t> 청구를 한 경우</a:t>
                      </a:r>
                      <a:endParaRPr lang="ko-KR" altLang="en-US" sz="1400" kern="0" spc="-1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국어번역문을 제출한 </a:t>
                      </a:r>
                      <a:r>
                        <a:rPr lang="ko-KR" altLang="en-US" sz="1400" kern="0" spc="-100" dirty="0" err="1">
                          <a:effectLst/>
                        </a:rPr>
                        <a:t>출원인은</a:t>
                      </a:r>
                      <a:r>
                        <a:rPr lang="ko-KR" altLang="en-US" sz="1400" kern="0" spc="-100" dirty="0">
                          <a:effectLst/>
                        </a:rPr>
                        <a:t> 국내서면제출기간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100" dirty="0">
                          <a:effectLst/>
                        </a:rPr>
                        <a:t>제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항 단서에 따라 취지를 적은 서면이 제출된 경우에는 연장된 </a:t>
                      </a:r>
                      <a:r>
                        <a:rPr lang="ko-KR" altLang="en-US" sz="1400" kern="0" spc="-100" dirty="0" err="1">
                          <a:effectLst/>
                        </a:rPr>
                        <a:t>국어번역문</a:t>
                      </a:r>
                      <a:r>
                        <a:rPr lang="ko-KR" altLang="en-US" sz="1400" kern="0" spc="-100" dirty="0">
                          <a:effectLst/>
                        </a:rPr>
                        <a:t> 제출 기간을 말한다</a:t>
                      </a:r>
                      <a:r>
                        <a:rPr lang="en-US" altLang="ko-KR" sz="1400" kern="0" spc="-60" dirty="0">
                          <a:effectLst/>
                        </a:rPr>
                        <a:t>. </a:t>
                      </a:r>
                      <a:r>
                        <a:rPr lang="ko-KR" altLang="en-US" sz="1400" kern="0" spc="-100" dirty="0">
                          <a:effectLst/>
                        </a:rPr>
                        <a:t>이하 이 조에서 같다</a:t>
                      </a:r>
                      <a:r>
                        <a:rPr lang="en-US" altLang="ko-KR" sz="1400" kern="0" spc="-60" dirty="0">
                          <a:effectLst/>
                        </a:rPr>
                        <a:t>)</a:t>
                      </a:r>
                      <a:r>
                        <a:rPr lang="ko-KR" altLang="en-US" sz="1400" kern="0" spc="-100" dirty="0">
                          <a:effectLst/>
                        </a:rPr>
                        <a:t>에 그 국어번역문을 갈음하여 새로운 국어번역문을 제출할 수 있다</a:t>
                      </a:r>
                      <a:r>
                        <a:rPr lang="en-US" altLang="ko-KR" sz="1400" kern="0" spc="-60" dirty="0">
                          <a:effectLst/>
                        </a:rPr>
                        <a:t>. </a:t>
                      </a:r>
                      <a:r>
                        <a:rPr lang="ko-KR" altLang="en-US" sz="1400" kern="0" spc="-100" dirty="0">
                          <a:effectLst/>
                        </a:rPr>
                        <a:t>다만</a:t>
                      </a:r>
                      <a:r>
                        <a:rPr lang="en-US" altLang="ko-KR" sz="1400" kern="0" spc="-60" dirty="0">
                          <a:effectLst/>
                        </a:rPr>
                        <a:t>, </a:t>
                      </a:r>
                      <a:r>
                        <a:rPr lang="ko-KR" altLang="en-US" sz="1400" kern="0" spc="-100" dirty="0" err="1">
                          <a:effectLst/>
                        </a:rPr>
                        <a:t>출원인이</a:t>
                      </a:r>
                      <a:r>
                        <a:rPr lang="ko-KR" altLang="en-US" sz="1400" kern="0" spc="-100" dirty="0">
                          <a:effectLst/>
                        </a:rPr>
                        <a:t> </a:t>
                      </a:r>
                      <a:r>
                        <a:rPr lang="ko-KR" altLang="en-US" sz="1400" kern="0" spc="-100" dirty="0" err="1">
                          <a:effectLst/>
                        </a:rPr>
                        <a:t>출원심사의</a:t>
                      </a:r>
                      <a:r>
                        <a:rPr lang="ko-KR" altLang="en-US" sz="1400" kern="0" spc="-100" dirty="0">
                          <a:effectLst/>
                        </a:rPr>
                        <a:t> 청구를 한 후에는 그러하지 아니하다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201</a:t>
                      </a:r>
                      <a:r>
                        <a:rPr lang="ko-KR" altLang="en-US" sz="1400" kern="0" spc="-60" dirty="0">
                          <a:effectLst/>
                        </a:rPr>
                        <a:t>③</a:t>
                      </a:r>
                      <a:r>
                        <a:rPr lang="en-US" altLang="ko-KR" sz="1400" kern="0" spc="-60" dirty="0">
                          <a:effectLst/>
                        </a:rPr>
                        <a:t>).</a:t>
                      </a:r>
                      <a:endParaRPr lang="ko-KR" altLang="en-US" sz="14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extLst>
                  <a:ext uri="{0D108BD9-81ED-4DB2-BD59-A6C34878D82A}">
                    <a16:rowId xmlns:a16="http://schemas.microsoft.com/office/drawing/2014/main" val="297125106"/>
                  </a:ext>
                </a:extLst>
              </a:tr>
            </a:tbl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564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71911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조의</a:t>
            </a:r>
            <a:r>
              <a:rPr lang="en-US" altLang="ko-KR" dirty="0"/>
              <a:t>3 vs </a:t>
            </a:r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434083"/>
              </p:ext>
            </p:extLst>
          </p:nvPr>
        </p:nvGraphicFramePr>
        <p:xfrm>
          <a:off x="292100" y="987424"/>
          <a:ext cx="11709400" cy="543877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842912106"/>
                    </a:ext>
                  </a:extLst>
                </a:gridCol>
                <a:gridCol w="5539591">
                  <a:extLst>
                    <a:ext uri="{9D8B030D-6E8A-4147-A177-3AD203B41FA5}">
                      <a16:colId xmlns:a16="http://schemas.microsoft.com/office/drawing/2014/main" val="2904194224"/>
                    </a:ext>
                  </a:extLst>
                </a:gridCol>
                <a:gridCol w="5712609">
                  <a:extLst>
                    <a:ext uri="{9D8B030D-6E8A-4147-A177-3AD203B41FA5}">
                      <a16:colId xmlns:a16="http://schemas.microsoft.com/office/drawing/2014/main" val="3266953995"/>
                    </a:ext>
                  </a:extLst>
                </a:gridCol>
              </a:tblGrid>
              <a:tr h="30445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구분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외국어특허출원</a:t>
                      </a:r>
                      <a:r>
                        <a:rPr lang="en-US" altLang="ko-KR" sz="1400" kern="0" spc="-100" dirty="0">
                          <a:effectLst/>
                        </a:rPr>
                        <a:t>(</a:t>
                      </a:r>
                      <a:r>
                        <a:rPr lang="ko-KR" altLang="en-US" sz="1400" kern="0" spc="-100" dirty="0">
                          <a:effectLst/>
                        </a:rPr>
                        <a:t>法 </a:t>
                      </a:r>
                      <a:r>
                        <a:rPr lang="en-US" altLang="ko-KR" sz="1400" kern="0" spc="-100" dirty="0">
                          <a:effectLst/>
                        </a:rPr>
                        <a:t>42</a:t>
                      </a:r>
                      <a:r>
                        <a:rPr lang="ko-KR" altLang="en-US" sz="1400" kern="0" spc="-100" dirty="0">
                          <a:effectLst/>
                        </a:rPr>
                        <a:t>의</a:t>
                      </a:r>
                      <a:r>
                        <a:rPr lang="en-US" altLang="ko-KR" sz="1400" kern="0" spc="-100" dirty="0">
                          <a:effectLst/>
                        </a:rPr>
                        <a:t>3)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외국어국제특허출원</a:t>
                      </a:r>
                      <a:r>
                        <a:rPr lang="en-US" altLang="ko-KR" sz="1400" kern="0" spc="-100" dirty="0">
                          <a:effectLst/>
                        </a:rPr>
                        <a:t>(</a:t>
                      </a:r>
                      <a:r>
                        <a:rPr lang="ko-KR" altLang="en-US" sz="1400" kern="0" spc="-100" dirty="0">
                          <a:effectLst/>
                        </a:rPr>
                        <a:t>法 </a:t>
                      </a:r>
                      <a:r>
                        <a:rPr lang="en-US" altLang="ko-KR" sz="1400" kern="0" spc="-100" dirty="0">
                          <a:effectLst/>
                        </a:rPr>
                        <a:t>201)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225404"/>
                  </a:ext>
                </a:extLst>
              </a:tr>
              <a:tr h="8526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 err="1">
                          <a:effectLst/>
                        </a:rPr>
                        <a:t>부제출</a:t>
                      </a:r>
                      <a:endParaRPr lang="ko-KR" altLang="en-US" sz="14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효과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40" dirty="0">
                          <a:effectLst/>
                        </a:rPr>
                        <a:t>특허출원인이 명세서의 국어번역문을 제출하지 아니한 경우에는 기한이 되는 날의 다음 날에 해당 특허출원을 취하한 것으로 본다</a:t>
                      </a:r>
                      <a:r>
                        <a:rPr lang="en-US" altLang="ko-KR" sz="1400" kern="0" spc="-140" dirty="0">
                          <a:effectLst/>
                        </a:rPr>
                        <a:t>(</a:t>
                      </a:r>
                      <a:r>
                        <a:rPr lang="ko-KR" altLang="en-US" sz="1400" kern="0" spc="-140" dirty="0">
                          <a:effectLst/>
                        </a:rPr>
                        <a:t>法 </a:t>
                      </a:r>
                      <a:r>
                        <a:rPr lang="en-US" altLang="ko-KR" sz="1400" kern="0" spc="-140" dirty="0">
                          <a:effectLst/>
                        </a:rPr>
                        <a:t>42</a:t>
                      </a:r>
                      <a:r>
                        <a:rPr lang="ko-KR" altLang="en-US" sz="1400" kern="0" spc="-140" dirty="0">
                          <a:effectLst/>
                        </a:rPr>
                        <a:t>의</a:t>
                      </a:r>
                      <a:r>
                        <a:rPr lang="en-US" altLang="ko-KR" sz="1400" kern="0" spc="-140" dirty="0">
                          <a:effectLst/>
                        </a:rPr>
                        <a:t>3</a:t>
                      </a:r>
                      <a:r>
                        <a:rPr lang="ko-KR" altLang="en-US" sz="1400" kern="0" spc="-140" dirty="0">
                          <a:effectLst/>
                        </a:rPr>
                        <a:t>④</a:t>
                      </a:r>
                      <a:r>
                        <a:rPr lang="en-US" altLang="ko-KR" sz="1400" kern="0" spc="-140" dirty="0">
                          <a:effectLst/>
                        </a:rPr>
                        <a:t>).</a:t>
                      </a:r>
                      <a:endParaRPr lang="ko-KR" altLang="en-US" sz="1400" kern="0" spc="-14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>
                          <a:effectLst/>
                        </a:rPr>
                        <a:t>출원인이 국내서면제출기간에 제</a:t>
                      </a:r>
                      <a:r>
                        <a:rPr lang="en-US" altLang="ko-KR" sz="1400" kern="0" spc="-60">
                          <a:effectLst/>
                        </a:rPr>
                        <a:t>1</a:t>
                      </a:r>
                      <a:r>
                        <a:rPr lang="ko-KR" altLang="en-US" sz="1400" kern="0" spc="-100">
                          <a:effectLst/>
                        </a:rPr>
                        <a:t>항에 따른 발명의 설명 및 청구범위의 국어번역문을 제출하지 아니하면 그 국제특허출원을 취하한 것으로 본다</a:t>
                      </a:r>
                      <a:r>
                        <a:rPr lang="en-US" altLang="ko-KR" sz="1400" kern="0" spc="-60">
                          <a:effectLst/>
                        </a:rPr>
                        <a:t>(</a:t>
                      </a:r>
                      <a:r>
                        <a:rPr lang="ko-KR" altLang="en-US" sz="1400" kern="0" spc="-60">
                          <a:effectLst/>
                        </a:rPr>
                        <a:t>法 </a:t>
                      </a:r>
                      <a:r>
                        <a:rPr lang="en-US" altLang="ko-KR" sz="1400" kern="0" spc="-60">
                          <a:effectLst/>
                        </a:rPr>
                        <a:t>201</a:t>
                      </a:r>
                      <a:r>
                        <a:rPr lang="ko-KR" altLang="en-US" sz="1400" kern="0" spc="-60">
                          <a:effectLst/>
                        </a:rPr>
                        <a:t>④</a:t>
                      </a:r>
                      <a:r>
                        <a:rPr lang="en-US" altLang="ko-KR" sz="1400" kern="0" spc="-60">
                          <a:effectLst/>
                        </a:rPr>
                        <a:t>).</a:t>
                      </a:r>
                      <a:endParaRPr lang="ko-KR" altLang="en-US" sz="1400" kern="0" spc="-6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extLst>
                  <a:ext uri="{0D108BD9-81ED-4DB2-BD59-A6C34878D82A}">
                    <a16:rowId xmlns:a16="http://schemas.microsoft.com/office/drawing/2014/main" val="974338376"/>
                  </a:ext>
                </a:extLst>
              </a:tr>
              <a:tr h="24468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제출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효과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30" dirty="0">
                          <a:effectLst/>
                        </a:rPr>
                        <a:t>특허출원인이 제</a:t>
                      </a:r>
                      <a:r>
                        <a:rPr lang="en-US" altLang="ko-KR" sz="1400" kern="0" spc="-130" dirty="0">
                          <a:effectLst/>
                        </a:rPr>
                        <a:t>2</a:t>
                      </a:r>
                      <a:r>
                        <a:rPr lang="ko-KR" altLang="en-US" sz="1400" kern="0" spc="-130" dirty="0">
                          <a:effectLst/>
                        </a:rPr>
                        <a:t>항에 따른 </a:t>
                      </a:r>
                      <a:r>
                        <a:rPr lang="ko-KR" altLang="en-US" sz="1400" kern="0" spc="-130" dirty="0" err="1">
                          <a:effectLst/>
                        </a:rPr>
                        <a:t>국어번역문</a:t>
                      </a:r>
                      <a:r>
                        <a:rPr lang="ko-KR" altLang="en-US" sz="1400" kern="0" spc="-130" dirty="0">
                          <a:effectLst/>
                        </a:rPr>
                        <a:t> 또는 제</a:t>
                      </a:r>
                      <a:r>
                        <a:rPr lang="en-US" altLang="ko-KR" sz="1400" kern="0" spc="-130" dirty="0">
                          <a:effectLst/>
                        </a:rPr>
                        <a:t>3</a:t>
                      </a:r>
                      <a:r>
                        <a:rPr lang="ko-KR" altLang="en-US" sz="1400" kern="0" spc="-130" dirty="0">
                          <a:effectLst/>
                        </a:rPr>
                        <a:t>항 본문에 따른 새로운 국어번역문을 제출한 경우에는 외국어특허출원의 특허출원서에 최초로 첨부한 명세서 및 도면을 그 국어번역문에 따라 보정한 것으로 본다</a:t>
                      </a:r>
                      <a:r>
                        <a:rPr lang="en-US" altLang="ko-KR" sz="1400" kern="0" spc="-130" dirty="0">
                          <a:effectLst/>
                        </a:rPr>
                        <a:t>. </a:t>
                      </a:r>
                      <a:r>
                        <a:rPr lang="ko-KR" altLang="en-US" sz="1400" kern="0" spc="-130" dirty="0">
                          <a:effectLst/>
                        </a:rPr>
                        <a:t>다만</a:t>
                      </a:r>
                      <a:r>
                        <a:rPr lang="en-US" altLang="ko-KR" sz="1400" kern="0" spc="-130" dirty="0">
                          <a:effectLst/>
                        </a:rPr>
                        <a:t>, </a:t>
                      </a:r>
                      <a:r>
                        <a:rPr lang="ko-KR" altLang="en-US" sz="1400" kern="0" spc="-130" dirty="0">
                          <a:effectLst/>
                        </a:rPr>
                        <a:t>제</a:t>
                      </a:r>
                      <a:r>
                        <a:rPr lang="en-US" altLang="ko-KR" sz="1400" kern="0" spc="-130" dirty="0">
                          <a:effectLst/>
                        </a:rPr>
                        <a:t>3</a:t>
                      </a:r>
                      <a:r>
                        <a:rPr lang="ko-KR" altLang="en-US" sz="1400" kern="0" spc="-130" dirty="0">
                          <a:effectLst/>
                        </a:rPr>
                        <a:t>항 본문에 따라 새로운 국어번역문을 제출한 경우에는 마지막 </a:t>
                      </a:r>
                      <a:r>
                        <a:rPr lang="ko-KR" altLang="en-US" sz="1400" kern="0" spc="-130" dirty="0" err="1">
                          <a:effectLst/>
                        </a:rPr>
                        <a:t>국어번역문</a:t>
                      </a:r>
                      <a:r>
                        <a:rPr lang="en-US" altLang="ko-KR" sz="1400" kern="0" spc="-130" dirty="0">
                          <a:effectLst/>
                        </a:rPr>
                        <a:t>(</a:t>
                      </a:r>
                      <a:r>
                        <a:rPr lang="ko-KR" altLang="en-US" sz="1400" kern="0" spc="-130" dirty="0">
                          <a:effectLst/>
                        </a:rPr>
                        <a:t>이하 이 조 및 제</a:t>
                      </a:r>
                      <a:r>
                        <a:rPr lang="en-US" altLang="ko-KR" sz="1400" kern="0" spc="-130" dirty="0">
                          <a:effectLst/>
                        </a:rPr>
                        <a:t>47</a:t>
                      </a:r>
                      <a:r>
                        <a:rPr lang="ko-KR" altLang="en-US" sz="1400" kern="0" spc="-130" dirty="0">
                          <a:effectLst/>
                        </a:rPr>
                        <a:t>조제</a:t>
                      </a:r>
                      <a:r>
                        <a:rPr lang="en-US" altLang="ko-KR" sz="1400" kern="0" spc="-130" dirty="0">
                          <a:effectLst/>
                        </a:rPr>
                        <a:t>2</a:t>
                      </a:r>
                      <a:r>
                        <a:rPr lang="ko-KR" altLang="en-US" sz="1400" kern="0" spc="-130" dirty="0">
                          <a:effectLst/>
                        </a:rPr>
                        <a:t>항 후단에서 </a:t>
                      </a:r>
                      <a:r>
                        <a:rPr lang="en-US" altLang="ko-KR" sz="1400" kern="0" spc="-130" dirty="0">
                          <a:effectLst/>
                        </a:rPr>
                        <a:t>"</a:t>
                      </a:r>
                      <a:r>
                        <a:rPr lang="ko-KR" altLang="en-US" sz="1400" kern="0" spc="-130" dirty="0">
                          <a:effectLst/>
                        </a:rPr>
                        <a:t>최종 </a:t>
                      </a:r>
                      <a:r>
                        <a:rPr lang="ko-KR" altLang="en-US" sz="1400" kern="0" spc="-130" dirty="0" err="1">
                          <a:effectLst/>
                        </a:rPr>
                        <a:t>국어번역문</a:t>
                      </a:r>
                      <a:r>
                        <a:rPr lang="en-US" altLang="ko-KR" sz="1400" kern="0" spc="-130" dirty="0">
                          <a:effectLst/>
                        </a:rPr>
                        <a:t>"</a:t>
                      </a:r>
                      <a:r>
                        <a:rPr lang="ko-KR" altLang="en-US" sz="1400" kern="0" spc="-130" dirty="0">
                          <a:effectLst/>
                        </a:rPr>
                        <a:t>이라 한다</a:t>
                      </a:r>
                      <a:r>
                        <a:rPr lang="en-US" altLang="ko-KR" sz="1400" kern="0" spc="-130" dirty="0">
                          <a:effectLst/>
                        </a:rPr>
                        <a:t>) </a:t>
                      </a:r>
                      <a:r>
                        <a:rPr lang="ko-KR" altLang="en-US" sz="1400" kern="0" spc="-130" dirty="0">
                          <a:effectLst/>
                        </a:rPr>
                        <a:t>전에 제출한 국어번역문에 따라 보정한 것으로 보는 모든 보정은 처음부터 없었던 것으로 본다</a:t>
                      </a:r>
                      <a:r>
                        <a:rPr lang="en-US" altLang="ko-KR" sz="1400" kern="0" spc="-130" dirty="0">
                          <a:effectLst/>
                        </a:rPr>
                        <a:t>(</a:t>
                      </a:r>
                      <a:r>
                        <a:rPr lang="ko-KR" altLang="en-US" sz="1400" kern="0" spc="-130" dirty="0">
                          <a:effectLst/>
                        </a:rPr>
                        <a:t>法 </a:t>
                      </a:r>
                      <a:r>
                        <a:rPr lang="en-US" altLang="ko-KR" sz="1400" kern="0" spc="-130" dirty="0">
                          <a:effectLst/>
                        </a:rPr>
                        <a:t>42</a:t>
                      </a:r>
                      <a:r>
                        <a:rPr lang="ko-KR" altLang="en-US" sz="1400" kern="0" spc="-130" dirty="0">
                          <a:effectLst/>
                        </a:rPr>
                        <a:t>의</a:t>
                      </a:r>
                      <a:r>
                        <a:rPr lang="en-US" altLang="ko-KR" sz="1400" kern="0" spc="-130" dirty="0">
                          <a:effectLst/>
                        </a:rPr>
                        <a:t>3</a:t>
                      </a:r>
                      <a:r>
                        <a:rPr lang="ko-KR" altLang="en-US" sz="1400" kern="0" spc="-130" dirty="0">
                          <a:effectLst/>
                        </a:rPr>
                        <a:t>⑤</a:t>
                      </a:r>
                      <a:r>
                        <a:rPr lang="en-US" altLang="ko-KR" sz="1400" kern="0" spc="-130" dirty="0">
                          <a:effectLst/>
                        </a:rPr>
                        <a:t>).</a:t>
                      </a:r>
                      <a:endParaRPr lang="ko-KR" altLang="en-US" sz="1400" kern="0" spc="-1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80">
                          <a:effectLst/>
                        </a:rPr>
                        <a:t>특허출원인이 국내서면제출기간의 만료일</a:t>
                      </a:r>
                      <a:r>
                        <a:rPr lang="en-US" altLang="ko-KR" sz="1400" kern="0" spc="-80">
                          <a:effectLst/>
                        </a:rPr>
                        <a:t>(</a:t>
                      </a:r>
                      <a:r>
                        <a:rPr lang="ko-KR" altLang="en-US" sz="1400" kern="0" spc="-80">
                          <a:effectLst/>
                        </a:rPr>
                        <a:t>국내서면제출기간에 출원인이 출원심사의 청구를 한 경우에는 그 청구일을 말하며</a:t>
                      </a:r>
                      <a:r>
                        <a:rPr lang="en-US" altLang="ko-KR" sz="1400" kern="0" spc="-80">
                          <a:effectLst/>
                        </a:rPr>
                        <a:t>, </a:t>
                      </a:r>
                      <a:r>
                        <a:rPr lang="ko-KR" altLang="en-US" sz="1400" kern="0" spc="-80">
                          <a:effectLst/>
                        </a:rPr>
                        <a:t>이하 </a:t>
                      </a:r>
                      <a:r>
                        <a:rPr lang="en-US" altLang="ko-KR" sz="1400" kern="0" spc="-80">
                          <a:effectLst/>
                        </a:rPr>
                        <a:t>"</a:t>
                      </a:r>
                      <a:r>
                        <a:rPr lang="ko-KR" altLang="en-US" sz="1400" kern="0" spc="-80">
                          <a:effectLst/>
                        </a:rPr>
                        <a:t>기준일</a:t>
                      </a:r>
                      <a:r>
                        <a:rPr lang="en-US" altLang="ko-KR" sz="1400" kern="0" spc="-80">
                          <a:effectLst/>
                        </a:rPr>
                        <a:t>"</a:t>
                      </a:r>
                      <a:r>
                        <a:rPr lang="ko-KR" altLang="en-US" sz="1400" kern="0" spc="-80">
                          <a:effectLst/>
                        </a:rPr>
                        <a:t>이라 한다</a:t>
                      </a:r>
                      <a:r>
                        <a:rPr lang="en-US" altLang="ko-KR" sz="1400" kern="0" spc="-80">
                          <a:effectLst/>
                        </a:rPr>
                        <a:t>)</a:t>
                      </a:r>
                      <a:r>
                        <a:rPr lang="ko-KR" altLang="en-US" sz="1400" kern="0" spc="-80">
                          <a:effectLst/>
                        </a:rPr>
                        <a:t>까지 제</a:t>
                      </a:r>
                      <a:r>
                        <a:rPr lang="en-US" altLang="ko-KR" sz="1400" kern="0" spc="-80">
                          <a:effectLst/>
                        </a:rPr>
                        <a:t>1</a:t>
                      </a:r>
                      <a:r>
                        <a:rPr lang="ko-KR" altLang="en-US" sz="1400" kern="0" spc="-80">
                          <a:effectLst/>
                        </a:rPr>
                        <a:t>항에 따라 발명의 설명</a:t>
                      </a:r>
                      <a:r>
                        <a:rPr lang="en-US" altLang="ko-KR" sz="1400" kern="0" spc="-80">
                          <a:effectLst/>
                        </a:rPr>
                        <a:t>, </a:t>
                      </a:r>
                      <a:r>
                        <a:rPr lang="ko-KR" altLang="en-US" sz="1400" kern="0" spc="-80">
                          <a:effectLst/>
                        </a:rPr>
                        <a:t>청구범위 및 도면</a:t>
                      </a:r>
                      <a:r>
                        <a:rPr lang="en-US" altLang="ko-KR" sz="1400" kern="0" spc="-80">
                          <a:effectLst/>
                        </a:rPr>
                        <a:t>(</a:t>
                      </a:r>
                      <a:r>
                        <a:rPr lang="ko-KR" altLang="en-US" sz="1400" kern="0" spc="-80">
                          <a:effectLst/>
                        </a:rPr>
                        <a:t>도면 중 설명부분에 한정한다</a:t>
                      </a:r>
                      <a:r>
                        <a:rPr lang="en-US" altLang="ko-KR" sz="1400" kern="0" spc="-80">
                          <a:effectLst/>
                        </a:rPr>
                        <a:t>)</a:t>
                      </a:r>
                      <a:r>
                        <a:rPr lang="ko-KR" altLang="en-US" sz="1400" kern="0" spc="-80">
                          <a:effectLst/>
                        </a:rPr>
                        <a:t>의 국어번역문</a:t>
                      </a:r>
                      <a:r>
                        <a:rPr lang="en-US" altLang="ko-KR" sz="1400" kern="0" spc="-80">
                          <a:effectLst/>
                        </a:rPr>
                        <a:t>(</a:t>
                      </a:r>
                      <a:r>
                        <a:rPr lang="ko-KR" altLang="en-US" sz="1400" kern="0" spc="-80">
                          <a:effectLst/>
                        </a:rPr>
                        <a:t>제</a:t>
                      </a:r>
                      <a:r>
                        <a:rPr lang="en-US" altLang="ko-KR" sz="1400" kern="0" spc="-80">
                          <a:effectLst/>
                        </a:rPr>
                        <a:t>3</a:t>
                      </a:r>
                      <a:r>
                        <a:rPr lang="ko-KR" altLang="en-US" sz="1400" kern="0" spc="-80">
                          <a:effectLst/>
                        </a:rPr>
                        <a:t>항 본문에 따라 새로운 국어번역문을 제출한 경우에는 마지막에 제출한 국어번역문을 말한다</a:t>
                      </a:r>
                      <a:r>
                        <a:rPr lang="en-US" altLang="ko-KR" sz="1400" kern="0" spc="-80">
                          <a:effectLst/>
                        </a:rPr>
                        <a:t>. </a:t>
                      </a:r>
                      <a:r>
                        <a:rPr lang="ko-KR" altLang="en-US" sz="1400" kern="0" spc="-80">
                          <a:effectLst/>
                        </a:rPr>
                        <a:t>이하 이 조에서 </a:t>
                      </a:r>
                      <a:r>
                        <a:rPr lang="en-US" altLang="ko-KR" sz="1400" kern="0" spc="-80">
                          <a:effectLst/>
                        </a:rPr>
                        <a:t>"</a:t>
                      </a:r>
                      <a:r>
                        <a:rPr lang="ko-KR" altLang="en-US" sz="1400" kern="0" spc="-80">
                          <a:effectLst/>
                        </a:rPr>
                        <a:t>최종 국어번역문</a:t>
                      </a:r>
                      <a:r>
                        <a:rPr lang="en-US" altLang="ko-KR" sz="1400" kern="0" spc="-80">
                          <a:effectLst/>
                        </a:rPr>
                        <a:t>"</a:t>
                      </a:r>
                      <a:r>
                        <a:rPr lang="ko-KR" altLang="en-US" sz="1400" kern="0" spc="-80">
                          <a:effectLst/>
                        </a:rPr>
                        <a:t>이라 한다</a:t>
                      </a:r>
                      <a:r>
                        <a:rPr lang="en-US" altLang="ko-KR" sz="1400" kern="0" spc="-80">
                          <a:effectLst/>
                        </a:rPr>
                        <a:t>)</a:t>
                      </a:r>
                      <a:r>
                        <a:rPr lang="ko-KR" altLang="en-US" sz="1400" kern="0" spc="-80">
                          <a:effectLst/>
                        </a:rPr>
                        <a:t>을 제출한 경우에는 국제출원일까지 제출한 발명의 설명</a:t>
                      </a:r>
                      <a:r>
                        <a:rPr lang="en-US" altLang="ko-KR" sz="1400" kern="0" spc="-80">
                          <a:effectLst/>
                        </a:rPr>
                        <a:t>, </a:t>
                      </a:r>
                      <a:r>
                        <a:rPr lang="ko-KR" altLang="en-US" sz="1400" kern="0" spc="-80">
                          <a:effectLst/>
                        </a:rPr>
                        <a:t>청구범위 및 도면</a:t>
                      </a:r>
                      <a:r>
                        <a:rPr lang="en-US" altLang="ko-KR" sz="1400" kern="0" spc="-80">
                          <a:effectLst/>
                        </a:rPr>
                        <a:t>(</a:t>
                      </a:r>
                      <a:r>
                        <a:rPr lang="ko-KR" altLang="en-US" sz="1400" kern="0" spc="-80">
                          <a:effectLst/>
                        </a:rPr>
                        <a:t>도면 중 설명부분에 한정한다</a:t>
                      </a:r>
                      <a:r>
                        <a:rPr lang="en-US" altLang="ko-KR" sz="1400" kern="0" spc="-80">
                          <a:effectLst/>
                        </a:rPr>
                        <a:t>)</a:t>
                      </a:r>
                      <a:r>
                        <a:rPr lang="ko-KR" altLang="en-US" sz="1400" kern="0" spc="-80">
                          <a:effectLst/>
                        </a:rPr>
                        <a:t>을 최종 국어번역문에 따라 국제출원일에 제</a:t>
                      </a:r>
                      <a:r>
                        <a:rPr lang="en-US" altLang="ko-KR" sz="1400" kern="0" spc="-80">
                          <a:effectLst/>
                        </a:rPr>
                        <a:t>47</a:t>
                      </a:r>
                      <a:r>
                        <a:rPr lang="ko-KR" altLang="en-US" sz="1400" kern="0" spc="-80">
                          <a:effectLst/>
                        </a:rPr>
                        <a:t>조제</a:t>
                      </a:r>
                      <a:r>
                        <a:rPr lang="en-US" altLang="ko-KR" sz="1400" kern="0" spc="-80">
                          <a:effectLst/>
                        </a:rPr>
                        <a:t>1</a:t>
                      </a:r>
                      <a:r>
                        <a:rPr lang="ko-KR" altLang="en-US" sz="1400" kern="0" spc="-80">
                          <a:effectLst/>
                        </a:rPr>
                        <a:t>항에 따른 보정을 한 것으로 본다</a:t>
                      </a:r>
                      <a:r>
                        <a:rPr lang="en-US" altLang="ko-KR" sz="1400" kern="0" spc="-80">
                          <a:effectLst/>
                        </a:rPr>
                        <a:t>(</a:t>
                      </a:r>
                      <a:r>
                        <a:rPr lang="ko-KR" altLang="en-US" sz="1400" kern="0" spc="-80">
                          <a:effectLst/>
                        </a:rPr>
                        <a:t>法 </a:t>
                      </a:r>
                      <a:r>
                        <a:rPr lang="en-US" altLang="ko-KR" sz="1400" kern="0" spc="-80">
                          <a:effectLst/>
                        </a:rPr>
                        <a:t>201</a:t>
                      </a:r>
                      <a:r>
                        <a:rPr lang="ko-KR" altLang="en-US" sz="1400" kern="0" spc="-80">
                          <a:effectLst/>
                        </a:rPr>
                        <a:t>⑤</a:t>
                      </a:r>
                      <a:r>
                        <a:rPr lang="en-US" altLang="ko-KR" sz="1400" kern="0" spc="-80">
                          <a:effectLst/>
                        </a:rPr>
                        <a:t>).</a:t>
                      </a:r>
                      <a:endParaRPr lang="ko-KR" altLang="en-US" sz="1400" kern="0" spc="-8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extLst>
                  <a:ext uri="{0D108BD9-81ED-4DB2-BD59-A6C34878D82A}">
                    <a16:rowId xmlns:a16="http://schemas.microsoft.com/office/drawing/2014/main" val="2152926381"/>
                  </a:ext>
                </a:extLst>
              </a:tr>
              <a:tr h="18347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오역의 정정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80" dirty="0" err="1">
                          <a:effectLst/>
                        </a:rPr>
                        <a:t>특허출원인은</a:t>
                      </a:r>
                      <a:r>
                        <a:rPr lang="ko-KR" altLang="en-US" sz="1400" kern="0" spc="-80" dirty="0">
                          <a:effectLst/>
                        </a:rPr>
                        <a:t> 제</a:t>
                      </a:r>
                      <a:r>
                        <a:rPr lang="en-US" altLang="ko-KR" sz="1400" kern="0" spc="-80" dirty="0">
                          <a:effectLst/>
                        </a:rPr>
                        <a:t>47</a:t>
                      </a:r>
                      <a:r>
                        <a:rPr lang="ko-KR" altLang="en-US" sz="1400" kern="0" spc="-80" dirty="0">
                          <a:effectLst/>
                        </a:rPr>
                        <a:t>조제</a:t>
                      </a:r>
                      <a:r>
                        <a:rPr lang="en-US" altLang="ko-KR" sz="1400" kern="0" spc="-80" dirty="0">
                          <a:effectLst/>
                        </a:rPr>
                        <a:t>1</a:t>
                      </a:r>
                      <a:r>
                        <a:rPr lang="ko-KR" altLang="en-US" sz="1400" kern="0" spc="-80" dirty="0">
                          <a:effectLst/>
                        </a:rPr>
                        <a:t>항에 따라 보정을 할 수 있는 기간에 최종 국어번역문의 잘못된 번역을 총리령으로 정하는 방법에 따라 정정할 수 있다</a:t>
                      </a:r>
                      <a:r>
                        <a:rPr lang="en-US" altLang="ko-KR" sz="1400" kern="0" spc="-80" dirty="0">
                          <a:effectLst/>
                        </a:rPr>
                        <a:t>. </a:t>
                      </a:r>
                      <a:r>
                        <a:rPr lang="ko-KR" altLang="en-US" sz="1400" kern="0" spc="-80" dirty="0">
                          <a:effectLst/>
                        </a:rPr>
                        <a:t>이 경우 정정된 국어번역문에 관하여는 제</a:t>
                      </a:r>
                      <a:r>
                        <a:rPr lang="en-US" altLang="ko-KR" sz="1400" kern="0" spc="-80" dirty="0">
                          <a:effectLst/>
                        </a:rPr>
                        <a:t>5</a:t>
                      </a:r>
                      <a:r>
                        <a:rPr lang="ko-KR" altLang="en-US" sz="1400" kern="0" spc="-80" dirty="0">
                          <a:effectLst/>
                        </a:rPr>
                        <a:t>항을 적용하지 아니한다</a:t>
                      </a:r>
                      <a:r>
                        <a:rPr lang="en-US" altLang="ko-KR" sz="1400" kern="0" spc="-80" dirty="0">
                          <a:effectLst/>
                        </a:rPr>
                        <a:t>(</a:t>
                      </a:r>
                      <a:r>
                        <a:rPr lang="ko-KR" altLang="en-US" sz="1400" kern="0" spc="-80" dirty="0">
                          <a:effectLst/>
                        </a:rPr>
                        <a:t>法 </a:t>
                      </a:r>
                      <a:r>
                        <a:rPr lang="en-US" altLang="ko-KR" sz="1400" kern="0" spc="-80" dirty="0">
                          <a:effectLst/>
                        </a:rPr>
                        <a:t>42</a:t>
                      </a:r>
                      <a:r>
                        <a:rPr lang="ko-KR" altLang="en-US" sz="1400" kern="0" spc="-80" dirty="0">
                          <a:effectLst/>
                        </a:rPr>
                        <a:t>의</a:t>
                      </a:r>
                      <a:r>
                        <a:rPr lang="en-US" altLang="ko-KR" sz="1400" kern="0" spc="-80" dirty="0">
                          <a:effectLst/>
                        </a:rPr>
                        <a:t>3</a:t>
                      </a:r>
                      <a:r>
                        <a:rPr lang="ko-KR" altLang="en-US" sz="1400" kern="0" spc="-80" dirty="0">
                          <a:effectLst/>
                        </a:rPr>
                        <a:t>⑥</a:t>
                      </a:r>
                      <a:r>
                        <a:rPr lang="en-US" altLang="ko-KR" sz="1400" kern="0" spc="-80" dirty="0">
                          <a:effectLst/>
                        </a:rPr>
                        <a:t>). </a:t>
                      </a:r>
                      <a:r>
                        <a:rPr lang="ko-KR" altLang="en-US" sz="1400" kern="0" spc="-100" dirty="0">
                          <a:effectLst/>
                        </a:rPr>
                        <a:t>최초거절이유통지에 따른 의견서 제출기간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47</a:t>
                      </a:r>
                      <a:r>
                        <a:rPr lang="ko-KR" altLang="en-US" sz="1400" kern="0" spc="-60" dirty="0">
                          <a:effectLst/>
                        </a:rPr>
                        <a:t>①</a:t>
                      </a:r>
                      <a:r>
                        <a:rPr lang="en-US" altLang="ko-KR" sz="1400" kern="0" spc="-60" dirty="0">
                          <a:effectLst/>
                        </a:rPr>
                        <a:t>Ⅰ) </a:t>
                      </a:r>
                      <a:r>
                        <a:rPr lang="ko-KR" altLang="en-US" sz="1400" kern="0" spc="-100" dirty="0">
                          <a:effectLst/>
                        </a:rPr>
                        <a:t>또는 최후거절이유통지에 따른 의견서 제출기간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47</a:t>
                      </a:r>
                      <a:r>
                        <a:rPr lang="ko-KR" altLang="en-US" sz="1400" kern="0" spc="-60" dirty="0">
                          <a:effectLst/>
                        </a:rPr>
                        <a:t>①</a:t>
                      </a:r>
                      <a:r>
                        <a:rPr lang="en-US" altLang="ko-KR" sz="1400" kern="0" spc="-60" dirty="0">
                          <a:effectLst/>
                        </a:rPr>
                        <a:t>Ⅱ)</a:t>
                      </a:r>
                      <a:r>
                        <a:rPr lang="ko-KR" altLang="en-US" sz="1400" kern="0" spc="-100" dirty="0">
                          <a:effectLst/>
                        </a:rPr>
                        <a:t>에 정정을 하는 경우에는 마지막 정정 전에 한 모든 정정은 처음부터 없었던 것으로 본다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42</a:t>
                      </a:r>
                      <a:r>
                        <a:rPr lang="ko-KR" altLang="en-US" sz="1400" kern="0" spc="-100" dirty="0">
                          <a:effectLst/>
                        </a:rPr>
                        <a:t>의</a:t>
                      </a:r>
                      <a:r>
                        <a:rPr lang="en-US" altLang="ko-KR" sz="1400" kern="0" spc="-60" dirty="0">
                          <a:effectLst/>
                        </a:rPr>
                        <a:t>3</a:t>
                      </a:r>
                      <a:r>
                        <a:rPr lang="ko-KR" altLang="en-US" sz="1400" kern="0" spc="-60" dirty="0">
                          <a:effectLst/>
                        </a:rPr>
                        <a:t>⑦</a:t>
                      </a:r>
                      <a:r>
                        <a:rPr lang="en-US" altLang="ko-KR" sz="1400" kern="0" spc="-60" dirty="0">
                          <a:effectLst/>
                        </a:rPr>
                        <a:t>).</a:t>
                      </a:r>
                      <a:endParaRPr lang="ko-KR" altLang="en-US" sz="1400" kern="0" spc="-8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특허출원인은 제</a:t>
                      </a:r>
                      <a:r>
                        <a:rPr lang="en-US" altLang="ko-KR" sz="1400" kern="0" spc="-60" dirty="0">
                          <a:effectLst/>
                        </a:rPr>
                        <a:t>47</a:t>
                      </a:r>
                      <a:r>
                        <a:rPr lang="ko-KR" altLang="en-US" sz="1400" kern="0" spc="-100" dirty="0">
                          <a:effectLst/>
                        </a:rPr>
                        <a:t>조제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항 및 제</a:t>
                      </a:r>
                      <a:r>
                        <a:rPr lang="en-US" altLang="ko-KR" sz="1400" kern="0" spc="-60" dirty="0">
                          <a:effectLst/>
                        </a:rPr>
                        <a:t>208</a:t>
                      </a:r>
                      <a:r>
                        <a:rPr lang="ko-KR" altLang="en-US" sz="1400" kern="0" spc="-100" dirty="0">
                          <a:effectLst/>
                        </a:rPr>
                        <a:t>조제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항에 따라 보정을 할 수 있는 기간에 최종 국어번역문의 잘못된 번역을 총리령으로 정하는 방법에 따라 정정할 수 있다</a:t>
                      </a:r>
                      <a:r>
                        <a:rPr lang="en-US" altLang="ko-KR" sz="1400" kern="0" spc="-60" dirty="0">
                          <a:effectLst/>
                        </a:rPr>
                        <a:t>. </a:t>
                      </a:r>
                      <a:r>
                        <a:rPr lang="ko-KR" altLang="en-US" sz="1400" kern="0" spc="-100" dirty="0">
                          <a:effectLst/>
                        </a:rPr>
                        <a:t>이 경우 정정된 국어번역문에 관하여는 제</a:t>
                      </a:r>
                      <a:r>
                        <a:rPr lang="en-US" altLang="ko-KR" sz="1400" kern="0" spc="-60" dirty="0">
                          <a:effectLst/>
                        </a:rPr>
                        <a:t>5</a:t>
                      </a:r>
                      <a:r>
                        <a:rPr lang="ko-KR" altLang="en-US" sz="1400" kern="0" spc="-100" dirty="0">
                          <a:effectLst/>
                        </a:rPr>
                        <a:t>항을 적용하지 아니한다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201</a:t>
                      </a:r>
                      <a:r>
                        <a:rPr lang="ko-KR" altLang="en-US" sz="1400" kern="0" spc="-60" dirty="0">
                          <a:effectLst/>
                        </a:rPr>
                        <a:t>⑥</a:t>
                      </a:r>
                      <a:r>
                        <a:rPr lang="en-US" altLang="ko-KR" sz="1400" kern="0" spc="-60" dirty="0">
                          <a:effectLst/>
                        </a:rPr>
                        <a:t>). </a:t>
                      </a:r>
                      <a:r>
                        <a:rPr lang="ko-KR" altLang="en-US" sz="1400" kern="0" spc="-100" dirty="0">
                          <a:effectLst/>
                        </a:rPr>
                        <a:t>최초거절이유통지에 따른 의견서 제출기간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47</a:t>
                      </a:r>
                      <a:r>
                        <a:rPr lang="ko-KR" altLang="en-US" sz="1400" kern="0" spc="-60" dirty="0">
                          <a:effectLst/>
                        </a:rPr>
                        <a:t>①</a:t>
                      </a:r>
                      <a:r>
                        <a:rPr lang="en-US" altLang="ko-KR" sz="1400" kern="0" spc="-60" dirty="0">
                          <a:effectLst/>
                        </a:rPr>
                        <a:t>Ⅰ) </a:t>
                      </a:r>
                      <a:r>
                        <a:rPr lang="ko-KR" altLang="en-US" sz="1400" kern="0" spc="-100" dirty="0">
                          <a:effectLst/>
                        </a:rPr>
                        <a:t>또는 최후거절이유통지에 따른 의견서 제출기간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47</a:t>
                      </a:r>
                      <a:r>
                        <a:rPr lang="ko-KR" altLang="en-US" sz="1400" kern="0" spc="-60" dirty="0">
                          <a:effectLst/>
                        </a:rPr>
                        <a:t>①</a:t>
                      </a:r>
                      <a:r>
                        <a:rPr lang="en-US" altLang="ko-KR" sz="1400" kern="0" spc="-60" dirty="0">
                          <a:effectLst/>
                        </a:rPr>
                        <a:t>Ⅱ)</a:t>
                      </a:r>
                      <a:r>
                        <a:rPr lang="ko-KR" altLang="en-US" sz="1400" kern="0" spc="-100" dirty="0">
                          <a:effectLst/>
                        </a:rPr>
                        <a:t>에 정정을 하는 경우에는 마지막 정정 전에 한 모든 정정은 처음부터 없었던 것으로 본다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201</a:t>
                      </a:r>
                      <a:r>
                        <a:rPr lang="ko-KR" altLang="en-US" sz="1400" kern="0" spc="-60" dirty="0">
                          <a:effectLst/>
                        </a:rPr>
                        <a:t>⑦</a:t>
                      </a:r>
                      <a:r>
                        <a:rPr lang="en-US" altLang="ko-KR" sz="1400" kern="0" spc="-60" dirty="0">
                          <a:effectLst/>
                        </a:rPr>
                        <a:t>).</a:t>
                      </a:r>
                      <a:endParaRPr lang="ko-KR" altLang="en-US" sz="14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extLst>
                  <a:ext uri="{0D108BD9-81ED-4DB2-BD59-A6C34878D82A}">
                    <a16:rowId xmlns:a16="http://schemas.microsoft.com/office/drawing/2014/main" val="3325381848"/>
                  </a:ext>
                </a:extLst>
              </a:tr>
            </a:tbl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565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5874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양쪽 모서리가 둥근 사각형 68"/>
          <p:cNvSpPr/>
          <p:nvPr/>
        </p:nvSpPr>
        <p:spPr>
          <a:xfrm>
            <a:off x="959482" y="6074494"/>
            <a:ext cx="3726817" cy="352883"/>
          </a:xfrm>
          <a:prstGeom prst="round2SameRect">
            <a:avLst>
              <a:gd name="adj1" fmla="val 0"/>
              <a:gd name="adj2" fmla="val 50000"/>
            </a:avLst>
          </a:prstGeom>
          <a:pattFill prst="pct20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양쪽 모서리가 둥근 사각형 65"/>
          <p:cNvSpPr/>
          <p:nvPr/>
        </p:nvSpPr>
        <p:spPr>
          <a:xfrm>
            <a:off x="2593948" y="5706285"/>
            <a:ext cx="2092352" cy="352883"/>
          </a:xfrm>
          <a:prstGeom prst="round2SameRect">
            <a:avLst>
              <a:gd name="adj1" fmla="val 50000"/>
              <a:gd name="adj2" fmla="val 0"/>
            </a:avLst>
          </a:prstGeom>
          <a:pattFill prst="ltHorz">
            <a:fgClr>
              <a:schemeClr val="accent4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양쪽 모서리가 둥근 사각형 22"/>
          <p:cNvSpPr/>
          <p:nvPr/>
        </p:nvSpPr>
        <p:spPr>
          <a:xfrm>
            <a:off x="972660" y="5706285"/>
            <a:ext cx="1618908" cy="352883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5</a:t>
            </a:r>
            <a:r>
              <a:rPr lang="ko-KR" altLang="en-US" dirty="0"/>
              <a:t>항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7</a:t>
            </a:r>
            <a:r>
              <a:rPr lang="ko-KR" altLang="en-US" dirty="0"/>
              <a:t>항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다른 출원이 국제특허출원인 경우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77875" y="322595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875" y="976902"/>
            <a:ext cx="119363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29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  <a:latin typeface="+mn-ea"/>
              </a:rPr>
              <a:t>특허요건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) </a:t>
            </a:r>
            <a:r>
              <a:rPr lang="ko-KR" altLang="en-US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발명이 다음 각 호의 요건을 모두 갖춘 다른 특허출원의 </a:t>
            </a:r>
            <a:r>
              <a:rPr lang="ko-KR" altLang="en-US" sz="14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400" dirty="0">
                <a:solidFill>
                  <a:srgbClr val="FF0000"/>
                </a:solidFill>
              </a:rPr>
              <a:t> 최초로 첨부된 명세서 또는 도면</a:t>
            </a:r>
            <a:r>
              <a:rPr lang="ko-KR" altLang="en-US" sz="1400" dirty="0">
                <a:solidFill>
                  <a:schemeClr val="tx2"/>
                </a:solidFill>
              </a:rPr>
              <a:t>에 기재된 발명과 동일한 경우에 그 발명은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항에도 불구하고 특허를 받을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 특허출원의 발명자와 다른 특허출원의 발명자가 같거나 그 특허출원을 출원한 때의 출원인과 다른 특허출원의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출원인이</a:t>
            </a:r>
            <a:r>
              <a:rPr lang="ko-KR" altLang="en-US" sz="1400" dirty="0">
                <a:solidFill>
                  <a:schemeClr val="tx2"/>
                </a:solidFill>
              </a:rPr>
              <a:t> 같은 경우에는 그러하지 아니하다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그 특허출원일 전에 출원된 특허출원일 것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그 특허출원 후 제</a:t>
            </a:r>
            <a:r>
              <a:rPr lang="en-US" altLang="ko-KR" sz="1400" dirty="0">
                <a:solidFill>
                  <a:schemeClr val="tx2"/>
                </a:solidFill>
              </a:rPr>
              <a:t>64</a:t>
            </a:r>
            <a:r>
              <a:rPr lang="ko-KR" altLang="en-US" sz="1400" dirty="0">
                <a:solidFill>
                  <a:schemeClr val="tx2"/>
                </a:solidFill>
              </a:rPr>
              <a:t>조에 따라 </a:t>
            </a:r>
            <a:r>
              <a:rPr lang="ko-KR" altLang="en-US" sz="1400" dirty="0" err="1">
                <a:solidFill>
                  <a:srgbClr val="FF0000"/>
                </a:solidFill>
              </a:rPr>
              <a:t>출원공개</a:t>
            </a:r>
            <a:r>
              <a:rPr lang="ko-KR" altLang="en-US" sz="1400" dirty="0" err="1">
                <a:solidFill>
                  <a:schemeClr val="tx2"/>
                </a:solidFill>
              </a:rPr>
              <a:t>되거나</a:t>
            </a:r>
            <a:r>
              <a:rPr lang="ko-KR" altLang="en-US" sz="1400" dirty="0">
                <a:solidFill>
                  <a:schemeClr val="tx2"/>
                </a:solidFill>
              </a:rPr>
              <a:t> 제</a:t>
            </a:r>
            <a:r>
              <a:rPr lang="en-US" altLang="ko-KR" sz="1400" dirty="0">
                <a:solidFill>
                  <a:schemeClr val="tx2"/>
                </a:solidFill>
              </a:rPr>
              <a:t>87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따라 </a:t>
            </a:r>
            <a:r>
              <a:rPr lang="ko-KR" altLang="en-US" sz="1400" dirty="0" err="1">
                <a:solidFill>
                  <a:schemeClr val="tx2"/>
                </a:solidFill>
              </a:rPr>
              <a:t>등록공고된</a:t>
            </a:r>
            <a:r>
              <a:rPr lang="ko-KR" altLang="en-US" sz="1400" dirty="0">
                <a:solidFill>
                  <a:schemeClr val="tx2"/>
                </a:solidFill>
              </a:rPr>
              <a:t> 특허출원일 것</a:t>
            </a:r>
          </a:p>
          <a:p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⑤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항을 적용할 때 다른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특허출원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 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199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항에 따른 국제특허출원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214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4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항에 따라 특허출원으로 보는 </a:t>
            </a:r>
            <a:r>
              <a:rPr lang="ko-KR" altLang="en-US" sz="1400" dirty="0" err="1">
                <a:solidFill>
                  <a:schemeClr val="accent2"/>
                </a:solidFill>
                <a:latin typeface="+mn-ea"/>
              </a:rPr>
              <a:t>국제출원을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 포함한다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인 경우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본문 중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 err="1">
                <a:solidFill>
                  <a:srgbClr val="FF0000"/>
                </a:solidFill>
                <a:latin typeface="+mn-ea"/>
              </a:rPr>
              <a:t>출원서에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 최초로 첨부된 명세서 또는 도면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은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국제출원일까지 제출한 발명의 설명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accent2"/>
                </a:solidFill>
                <a:latin typeface="+mn-ea"/>
              </a:rPr>
              <a:t>청구범위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 또는 도면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으로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같은 항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호 중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 err="1">
                <a:solidFill>
                  <a:srgbClr val="FF0000"/>
                </a:solidFill>
                <a:latin typeface="+mn-ea"/>
              </a:rPr>
              <a:t>출원공개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는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 err="1">
                <a:solidFill>
                  <a:schemeClr val="accent2"/>
                </a:solidFill>
                <a:latin typeface="+mn-ea"/>
              </a:rPr>
              <a:t>출원공개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 또는 「특허협력조약」 제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21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조에 따라 국제공개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⑦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또는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항을 적용할 때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201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따라 취하한 것으로 보는 국제특허출원 또는 「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실용신안법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」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35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따라 취하한 것으로 보는 국제실용신안등록출원은 다른 특허출원 또는 실용신안등록출원으로 보지 아니한다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cxnSp>
        <p:nvCxnSpPr>
          <p:cNvPr id="64" name="직선 화살표 연결선 63"/>
          <p:cNvCxnSpPr>
            <a:stCxn id="55" idx="2"/>
            <a:endCxn id="62" idx="4"/>
          </p:cNvCxnSpPr>
          <p:nvPr/>
        </p:nvCxnSpPr>
        <p:spPr>
          <a:xfrm flipH="1">
            <a:off x="959483" y="5320675"/>
            <a:ext cx="477" cy="66196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모서리가 둥근 직사각형 46"/>
          <p:cNvSpPr/>
          <p:nvPr/>
        </p:nvSpPr>
        <p:spPr>
          <a:xfrm>
            <a:off x="218121" y="3390535"/>
            <a:ext cx="2677479" cy="39870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국어로 </a:t>
            </a:r>
            <a:r>
              <a:rPr lang="ko-KR" altLang="en-US" sz="1600" dirty="0" err="1"/>
              <a:t>국제특허출원한</a:t>
            </a:r>
            <a:r>
              <a:rPr lang="ko-KR" altLang="en-US" sz="1600" dirty="0"/>
              <a:t> 경우</a:t>
            </a:r>
          </a:p>
        </p:txBody>
      </p:sp>
      <p:cxnSp>
        <p:nvCxnSpPr>
          <p:cNvPr id="51" name="직선 화살표 연결선 50"/>
          <p:cNvCxnSpPr>
            <a:stCxn id="56" idx="2"/>
            <a:endCxn id="49" idx="4"/>
          </p:cNvCxnSpPr>
          <p:nvPr/>
        </p:nvCxnSpPr>
        <p:spPr>
          <a:xfrm>
            <a:off x="2589186" y="5320675"/>
            <a:ext cx="4762" cy="66196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/>
          <p:cNvSpPr/>
          <p:nvPr/>
        </p:nvSpPr>
        <p:spPr>
          <a:xfrm>
            <a:off x="2131986" y="4855316"/>
            <a:ext cx="914400" cy="2367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국제공개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12259" y="4316401"/>
            <a:ext cx="1295401" cy="1004274"/>
            <a:chOff x="243521" y="4316401"/>
            <a:chExt cx="914400" cy="1004274"/>
          </a:xfrm>
        </p:grpSpPr>
        <p:sp>
          <p:nvSpPr>
            <p:cNvPr id="63" name="직사각형 62"/>
            <p:cNvSpPr/>
            <p:nvPr/>
          </p:nvSpPr>
          <p:spPr>
            <a:xfrm>
              <a:off x="243521" y="4855316"/>
              <a:ext cx="914400" cy="23675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</a:rPr>
                <a:t>국제특허출원</a:t>
              </a: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243521" y="4553161"/>
              <a:ext cx="914400" cy="236759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A, B, C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243521" y="4316401"/>
              <a:ext cx="914400" cy="236759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A, C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243521" y="5083916"/>
              <a:ext cx="914400" cy="23675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</a:rPr>
                <a:t>국어</a:t>
              </a:r>
            </a:p>
          </p:txBody>
        </p:sp>
      </p:grpSp>
      <p:sp>
        <p:nvSpPr>
          <p:cNvPr id="56" name="직사각형 55"/>
          <p:cNvSpPr/>
          <p:nvPr/>
        </p:nvSpPr>
        <p:spPr>
          <a:xfrm>
            <a:off x="2131986" y="5083916"/>
            <a:ext cx="914400" cy="2367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국어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972660" y="5467927"/>
            <a:ext cx="1580040" cy="236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확선의</a:t>
            </a:r>
            <a:r>
              <a:rPr lang="ko-KR" altLang="en-US" sz="1400" dirty="0">
                <a:solidFill>
                  <a:schemeClr val="tx1"/>
                </a:solidFill>
              </a:rPr>
              <a:t> 지위</a:t>
            </a:r>
            <a:r>
              <a:rPr lang="en-US" altLang="ko-KR" sz="1400" dirty="0">
                <a:solidFill>
                  <a:schemeClr val="tx1"/>
                </a:solidFill>
              </a:rPr>
              <a:t>-A,B,C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2568548" y="5467927"/>
            <a:ext cx="1889152" cy="236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공지기술의 지위</a:t>
            </a:r>
            <a:r>
              <a:rPr lang="en-US" altLang="ko-KR" sz="1400" dirty="0">
                <a:solidFill>
                  <a:schemeClr val="tx1"/>
                </a:solidFill>
              </a:rPr>
              <a:t>-A,B,C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1806084" y="6434304"/>
            <a:ext cx="2054716" cy="236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선출원의</a:t>
            </a:r>
            <a:r>
              <a:rPr lang="ko-KR" altLang="en-US" sz="1400" dirty="0">
                <a:solidFill>
                  <a:schemeClr val="tx1"/>
                </a:solidFill>
              </a:rPr>
              <a:t> 지위</a:t>
            </a:r>
            <a:r>
              <a:rPr lang="en-US" altLang="ko-KR" sz="1400" dirty="0">
                <a:solidFill>
                  <a:schemeClr val="tx1"/>
                </a:solidFill>
              </a:rPr>
              <a:t>-A,C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457699" y="5653886"/>
            <a:ext cx="344575" cy="847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연결선 58"/>
          <p:cNvCxnSpPr/>
          <p:nvPr/>
        </p:nvCxnSpPr>
        <p:spPr>
          <a:xfrm flipV="1">
            <a:off x="4845280" y="3390535"/>
            <a:ext cx="0" cy="336534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모서리가 둥근 직사각형 71"/>
          <p:cNvSpPr/>
          <p:nvPr/>
        </p:nvSpPr>
        <p:spPr>
          <a:xfrm>
            <a:off x="5177196" y="3390535"/>
            <a:ext cx="2849204" cy="39870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외국어로 </a:t>
            </a:r>
            <a:r>
              <a:rPr lang="ko-KR" altLang="en-US" sz="1600" dirty="0" err="1"/>
              <a:t>국제특허출원한</a:t>
            </a:r>
            <a:r>
              <a:rPr lang="ko-KR" altLang="en-US" sz="1600" dirty="0"/>
              <a:t> 경우</a:t>
            </a:r>
          </a:p>
        </p:txBody>
      </p:sp>
      <p:cxnSp>
        <p:nvCxnSpPr>
          <p:cNvPr id="61" name="직선 연결선 60"/>
          <p:cNvCxnSpPr/>
          <p:nvPr/>
        </p:nvCxnSpPr>
        <p:spPr>
          <a:xfrm>
            <a:off x="395921" y="6059168"/>
            <a:ext cx="4234065" cy="15326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14"/>
          <p:cNvSpPr>
            <a:spLocks noChangeArrowheads="1"/>
          </p:cNvSpPr>
          <p:nvPr/>
        </p:nvSpPr>
        <p:spPr bwMode="auto">
          <a:xfrm flipV="1">
            <a:off x="888045" y="598263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9" name="Rectangle 14"/>
          <p:cNvSpPr>
            <a:spLocks noChangeArrowheads="1"/>
          </p:cNvSpPr>
          <p:nvPr/>
        </p:nvSpPr>
        <p:spPr bwMode="auto">
          <a:xfrm flipV="1">
            <a:off x="2522510" y="598263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6" name="양쪽 모서리가 둥근 사각형 85"/>
          <p:cNvSpPr/>
          <p:nvPr/>
        </p:nvSpPr>
        <p:spPr>
          <a:xfrm>
            <a:off x="5749059" y="6074494"/>
            <a:ext cx="5823990" cy="352883"/>
          </a:xfrm>
          <a:prstGeom prst="round2SameRect">
            <a:avLst>
              <a:gd name="adj1" fmla="val 0"/>
              <a:gd name="adj2" fmla="val 50000"/>
            </a:avLst>
          </a:prstGeom>
          <a:pattFill prst="pct20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양쪽 모서리가 둥근 사각형 87"/>
          <p:cNvSpPr/>
          <p:nvPr/>
        </p:nvSpPr>
        <p:spPr>
          <a:xfrm>
            <a:off x="8216961" y="5706285"/>
            <a:ext cx="3356088" cy="352883"/>
          </a:xfrm>
          <a:prstGeom prst="round2SameRect">
            <a:avLst>
              <a:gd name="adj1" fmla="val 50000"/>
              <a:gd name="adj2" fmla="val 0"/>
            </a:avLst>
          </a:prstGeom>
          <a:pattFill prst="ltHorz">
            <a:fgClr>
              <a:schemeClr val="accent4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양쪽 모서리가 둥근 사각형 88"/>
          <p:cNvSpPr/>
          <p:nvPr/>
        </p:nvSpPr>
        <p:spPr>
          <a:xfrm>
            <a:off x="5749059" y="5706285"/>
            <a:ext cx="2467902" cy="352883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0" name="직선 화살표 연결선 89"/>
          <p:cNvCxnSpPr>
            <a:stCxn id="98" idx="2"/>
            <a:endCxn id="105" idx="4"/>
          </p:cNvCxnSpPr>
          <p:nvPr/>
        </p:nvCxnSpPr>
        <p:spPr>
          <a:xfrm>
            <a:off x="5744296" y="5320676"/>
            <a:ext cx="4762" cy="66196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/>
          <p:cNvSpPr/>
          <p:nvPr/>
        </p:nvSpPr>
        <p:spPr>
          <a:xfrm>
            <a:off x="5128494" y="4855316"/>
            <a:ext cx="1231604" cy="236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국제특허출원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5128494" y="4553161"/>
            <a:ext cx="1231604" cy="236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A, B, C(1)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5128494" y="4316401"/>
            <a:ext cx="1231604" cy="236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A, C(2)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96" name="직선 화살표 연결선 95"/>
          <p:cNvCxnSpPr>
            <a:stCxn id="99" idx="2"/>
            <a:endCxn id="106" idx="4"/>
          </p:cNvCxnSpPr>
          <p:nvPr/>
        </p:nvCxnSpPr>
        <p:spPr>
          <a:xfrm>
            <a:off x="8216961" y="5320676"/>
            <a:ext cx="4762" cy="66196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/>
          <p:cNvSpPr/>
          <p:nvPr/>
        </p:nvSpPr>
        <p:spPr>
          <a:xfrm>
            <a:off x="7601159" y="4855316"/>
            <a:ext cx="1231604" cy="236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국제공개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5128494" y="5083916"/>
            <a:ext cx="1231604" cy="236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외국어</a:t>
            </a:r>
          </a:p>
        </p:txBody>
      </p:sp>
      <p:sp>
        <p:nvSpPr>
          <p:cNvPr id="99" name="직사각형 98"/>
          <p:cNvSpPr/>
          <p:nvPr/>
        </p:nvSpPr>
        <p:spPr>
          <a:xfrm>
            <a:off x="7601159" y="5083916"/>
            <a:ext cx="1231604" cy="236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외국어</a:t>
            </a:r>
          </a:p>
        </p:txBody>
      </p:sp>
      <p:sp>
        <p:nvSpPr>
          <p:cNvPr id="100" name="직사각형 99"/>
          <p:cNvSpPr/>
          <p:nvPr/>
        </p:nvSpPr>
        <p:spPr>
          <a:xfrm>
            <a:off x="5863834" y="5467927"/>
            <a:ext cx="2048265" cy="236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확선의</a:t>
            </a:r>
            <a:r>
              <a:rPr lang="ko-KR" altLang="en-US" sz="1400" dirty="0">
                <a:solidFill>
                  <a:schemeClr val="tx1"/>
                </a:solidFill>
              </a:rPr>
              <a:t> 지위</a:t>
            </a:r>
            <a:r>
              <a:rPr lang="en-US" altLang="ko-KR" sz="1400" dirty="0">
                <a:solidFill>
                  <a:schemeClr val="tx1"/>
                </a:solidFill>
              </a:rPr>
              <a:t>-A,B,C(1)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8526522" y="5467927"/>
            <a:ext cx="2230377" cy="236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공지기술의 지위</a:t>
            </a:r>
            <a:r>
              <a:rPr lang="en-US" altLang="ko-KR" sz="1400" dirty="0">
                <a:solidFill>
                  <a:schemeClr val="tx1"/>
                </a:solidFill>
              </a:rPr>
              <a:t>-A,B,C(1)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7433859" y="6434304"/>
            <a:ext cx="2054716" cy="236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선출원의</a:t>
            </a:r>
            <a:r>
              <a:rPr lang="ko-KR" altLang="en-US" sz="1400" dirty="0">
                <a:solidFill>
                  <a:schemeClr val="tx1"/>
                </a:solidFill>
              </a:rPr>
              <a:t> 지위</a:t>
            </a:r>
            <a:r>
              <a:rPr lang="en-US" altLang="ko-KR" sz="1400" dirty="0">
                <a:solidFill>
                  <a:schemeClr val="tx1"/>
                </a:solidFill>
              </a:rPr>
              <a:t>-A(4)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11431674" y="5653886"/>
            <a:ext cx="344575" cy="847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4" name="직선 연결선 103"/>
          <p:cNvCxnSpPr/>
          <p:nvPr/>
        </p:nvCxnSpPr>
        <p:spPr>
          <a:xfrm>
            <a:off x="5287096" y="6059168"/>
            <a:ext cx="651120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4"/>
          <p:cNvSpPr>
            <a:spLocks noChangeArrowheads="1"/>
          </p:cNvSpPr>
          <p:nvPr/>
        </p:nvSpPr>
        <p:spPr bwMode="auto">
          <a:xfrm flipV="1">
            <a:off x="5677620" y="598263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6" name="Rectangle 14"/>
          <p:cNvSpPr>
            <a:spLocks noChangeArrowheads="1"/>
          </p:cNvSpPr>
          <p:nvPr/>
        </p:nvSpPr>
        <p:spPr bwMode="auto">
          <a:xfrm flipV="1">
            <a:off x="8150285" y="598263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07" name="직선 화살표 연결선 106"/>
          <p:cNvCxnSpPr>
            <a:stCxn id="109" idx="2"/>
          </p:cNvCxnSpPr>
          <p:nvPr/>
        </p:nvCxnSpPr>
        <p:spPr>
          <a:xfrm>
            <a:off x="10026798" y="5320676"/>
            <a:ext cx="4762" cy="78896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/>
          <p:cNvSpPr/>
          <p:nvPr/>
        </p:nvSpPr>
        <p:spPr>
          <a:xfrm>
            <a:off x="9410996" y="4855316"/>
            <a:ext cx="1231604" cy="236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국내공개</a:t>
            </a:r>
          </a:p>
        </p:txBody>
      </p:sp>
      <p:sp>
        <p:nvSpPr>
          <p:cNvPr id="109" name="직사각형 108"/>
          <p:cNvSpPr/>
          <p:nvPr/>
        </p:nvSpPr>
        <p:spPr>
          <a:xfrm>
            <a:off x="9410996" y="5083916"/>
            <a:ext cx="1231604" cy="236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국어</a:t>
            </a:r>
          </a:p>
        </p:txBody>
      </p:sp>
      <p:sp>
        <p:nvSpPr>
          <p:cNvPr id="110" name="직사각형 109"/>
          <p:cNvSpPr/>
          <p:nvPr/>
        </p:nvSpPr>
        <p:spPr>
          <a:xfrm>
            <a:off x="9055396" y="3589889"/>
            <a:ext cx="1942804" cy="519101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최종 국어번역문 확정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되어 국내단계 진입</a:t>
            </a:r>
          </a:p>
        </p:txBody>
      </p:sp>
      <p:cxnSp>
        <p:nvCxnSpPr>
          <p:cNvPr id="37" name="직선 연결선 36"/>
          <p:cNvCxnSpPr>
            <a:stCxn id="110" idx="2"/>
            <a:endCxn id="108" idx="0"/>
          </p:cNvCxnSpPr>
          <p:nvPr/>
        </p:nvCxnSpPr>
        <p:spPr>
          <a:xfrm>
            <a:off x="10026798" y="4108990"/>
            <a:ext cx="0" cy="74632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직사각형 110"/>
          <p:cNvSpPr/>
          <p:nvPr/>
        </p:nvSpPr>
        <p:spPr>
          <a:xfrm>
            <a:off x="9418873" y="4553161"/>
            <a:ext cx="1231604" cy="2367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A, B(3)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9418873" y="4316401"/>
            <a:ext cx="1231604" cy="2367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A(4)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130884" y="3907389"/>
            <a:ext cx="1326816" cy="519101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국내단계진입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여부와 무관</a:t>
            </a:r>
          </a:p>
        </p:txBody>
      </p:sp>
      <p:cxnSp>
        <p:nvCxnSpPr>
          <p:cNvPr id="68" name="직선 화살표 연결선 67"/>
          <p:cNvCxnSpPr>
            <a:stCxn id="60" idx="2"/>
          </p:cNvCxnSpPr>
          <p:nvPr/>
        </p:nvCxnSpPr>
        <p:spPr>
          <a:xfrm>
            <a:off x="3794292" y="4426490"/>
            <a:ext cx="0" cy="155614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576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25974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양쪽 모서리가 둥근 사각형 85"/>
          <p:cNvSpPr/>
          <p:nvPr/>
        </p:nvSpPr>
        <p:spPr>
          <a:xfrm>
            <a:off x="1467767" y="5785569"/>
            <a:ext cx="2837533" cy="352883"/>
          </a:xfrm>
          <a:prstGeom prst="round2SameRect">
            <a:avLst>
              <a:gd name="adj1" fmla="val 0"/>
              <a:gd name="adj2" fmla="val 50000"/>
            </a:avLst>
          </a:prstGeom>
          <a:pattFill prst="pct20">
            <a:fgClr>
              <a:schemeClr val="accent2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200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공지예외적용의 특례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77875" y="150027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875" y="976902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200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공지 등이 되지 아니한 발명으로 보는 경우의 특례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ko-KR" altLang="en-US" sz="1400" dirty="0" err="1">
                <a:solidFill>
                  <a:schemeClr val="tx2"/>
                </a:solidFill>
              </a:rPr>
              <a:t>국제특허출원된</a:t>
            </a:r>
            <a:r>
              <a:rPr lang="ko-KR" altLang="en-US" sz="1400" dirty="0">
                <a:solidFill>
                  <a:schemeClr val="tx2"/>
                </a:solidFill>
              </a:rPr>
              <a:t> 발명에 관하여 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30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 err="1">
                <a:solidFill>
                  <a:srgbClr val="FF0000"/>
                </a:solidFill>
              </a:rPr>
              <a:t>항제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>
                <a:solidFill>
                  <a:srgbClr val="FF0000"/>
                </a:solidFill>
              </a:rPr>
              <a:t>호</a:t>
            </a:r>
            <a:r>
              <a:rPr lang="ko-KR" altLang="en-US" sz="1400" dirty="0">
                <a:solidFill>
                  <a:schemeClr val="tx2"/>
                </a:solidFill>
              </a:rPr>
              <a:t>를 </a:t>
            </a:r>
            <a:r>
              <a:rPr lang="ko-KR" altLang="en-US" sz="1400" dirty="0" err="1">
                <a:solidFill>
                  <a:schemeClr val="tx2"/>
                </a:solidFill>
              </a:rPr>
              <a:t>적용받으려는</a:t>
            </a:r>
            <a:r>
              <a:rPr lang="ko-KR" altLang="en-US" sz="1400" dirty="0">
                <a:solidFill>
                  <a:schemeClr val="tx2"/>
                </a:solidFill>
              </a:rPr>
              <a:t> 자는 </a:t>
            </a:r>
            <a:r>
              <a:rPr lang="ko-KR" altLang="en-US" sz="1400" dirty="0">
                <a:solidFill>
                  <a:srgbClr val="FF0000"/>
                </a:solidFill>
              </a:rPr>
              <a:t>그 취지를 적은 서면 및 이를 증명할 수 있는 서류를 같은 조 제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항에도 불구하고 </a:t>
            </a:r>
            <a:r>
              <a:rPr lang="ko-KR" altLang="en-US" sz="1400" dirty="0">
                <a:solidFill>
                  <a:schemeClr val="tx2"/>
                </a:solidFill>
              </a:rPr>
              <a:t>총리령으로 정하는 기간에 지식재산처장에게 제출할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en-US" altLang="ko-KR" sz="14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88" name="양쪽 모서리가 둥근 사각형 87"/>
          <p:cNvSpPr/>
          <p:nvPr/>
        </p:nvSpPr>
        <p:spPr>
          <a:xfrm>
            <a:off x="7188261" y="5306046"/>
            <a:ext cx="3356088" cy="464197"/>
          </a:xfrm>
          <a:prstGeom prst="round2SameRect">
            <a:avLst>
              <a:gd name="adj1" fmla="val 50000"/>
              <a:gd name="adj2" fmla="val 0"/>
            </a:avLst>
          </a:pr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직사각형 99"/>
          <p:cNvSpPr/>
          <p:nvPr/>
        </p:nvSpPr>
        <p:spPr>
          <a:xfrm>
            <a:off x="763833" y="5321877"/>
            <a:ext cx="1407868" cy="236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A, B </a:t>
            </a:r>
            <a:r>
              <a:rPr lang="ko-KR" altLang="en-US" sz="1400" dirty="0">
                <a:solidFill>
                  <a:schemeClr val="tx1"/>
                </a:solidFill>
              </a:rPr>
              <a:t>논문발표</a:t>
            </a:r>
          </a:p>
        </p:txBody>
      </p:sp>
      <p:sp>
        <p:nvSpPr>
          <p:cNvPr id="102" name="직사각형 101"/>
          <p:cNvSpPr/>
          <p:nvPr/>
        </p:nvSpPr>
        <p:spPr>
          <a:xfrm>
            <a:off x="1859175" y="6138452"/>
            <a:ext cx="2054716" cy="236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12</a:t>
            </a:r>
            <a:r>
              <a:rPr lang="ko-KR" altLang="en-US" sz="1400" dirty="0">
                <a:solidFill>
                  <a:schemeClr val="tx1"/>
                </a:solidFill>
              </a:rPr>
              <a:t>개월 이내</a:t>
            </a:r>
          </a:p>
        </p:txBody>
      </p:sp>
      <p:cxnSp>
        <p:nvCxnSpPr>
          <p:cNvPr id="104" name="직선 연결선 103"/>
          <p:cNvCxnSpPr/>
          <p:nvPr/>
        </p:nvCxnSpPr>
        <p:spPr>
          <a:xfrm>
            <a:off x="447675" y="5770243"/>
            <a:ext cx="113506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4"/>
          <p:cNvSpPr>
            <a:spLocks noChangeArrowheads="1"/>
          </p:cNvSpPr>
          <p:nvPr/>
        </p:nvSpPr>
        <p:spPr bwMode="auto">
          <a:xfrm flipV="1">
            <a:off x="1396329" y="569371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6" name="Rectangle 14"/>
          <p:cNvSpPr>
            <a:spLocks noChangeArrowheads="1"/>
          </p:cNvSpPr>
          <p:nvPr/>
        </p:nvSpPr>
        <p:spPr bwMode="auto">
          <a:xfrm flipV="1">
            <a:off x="7121585" y="569371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3681621" y="5347539"/>
            <a:ext cx="1231604" cy="236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국제특허출원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3689498" y="5045384"/>
            <a:ext cx="1231604" cy="2367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A, B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3689498" y="4808624"/>
            <a:ext cx="1231604" cy="2367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A, B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77875" y="1567071"/>
            <a:ext cx="11936323" cy="28931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30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공지 등이 되지 아니한 발명으로 보는 경우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권리를 가진 자의 발명이 다음 각 호의 어느 하나에 해당하게 된 경우 그 날부터 </a:t>
            </a:r>
            <a:r>
              <a:rPr lang="en-US" altLang="ko-KR" sz="1400" dirty="0">
                <a:solidFill>
                  <a:schemeClr val="tx2"/>
                </a:solidFill>
              </a:rPr>
              <a:t>12</a:t>
            </a:r>
            <a:r>
              <a:rPr lang="ko-KR" altLang="en-US" sz="1400" dirty="0">
                <a:solidFill>
                  <a:schemeClr val="tx2"/>
                </a:solidFill>
              </a:rPr>
              <a:t>개월 이내에 특허출원을 하면 그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특허출원된</a:t>
            </a:r>
            <a:r>
              <a:rPr lang="ko-KR" altLang="en-US" sz="1400" dirty="0">
                <a:solidFill>
                  <a:schemeClr val="tx2"/>
                </a:solidFill>
              </a:rPr>
              <a:t> 발명에 대하여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또는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항을 적용할 때에는 그 발명은 같은 조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어느 하나에 해당하지 아니한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권리를 가진 자에 의하여 그 발명이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어느 하나에 해당하게 된 경우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조약 또는 법률에 따라 국내 또는 국외에서 </a:t>
            </a:r>
            <a:r>
              <a:rPr lang="ko-KR" altLang="en-US" sz="1400" dirty="0" err="1">
                <a:solidFill>
                  <a:schemeClr val="tx2"/>
                </a:solidFill>
              </a:rPr>
              <a:t>출원공개되거나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등록공고된</a:t>
            </a:r>
            <a:r>
              <a:rPr lang="ko-KR" altLang="en-US" sz="1400" dirty="0">
                <a:solidFill>
                  <a:schemeClr val="tx2"/>
                </a:solidFill>
              </a:rPr>
              <a:t> 경우는 제외한다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권리를 가진 자의 의사에 반하여 그 발명이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어느 하나에 해당하게 된 경우</a:t>
            </a:r>
          </a:p>
          <a:p>
            <a:pPr fontAlgn="base"/>
            <a:r>
              <a:rPr lang="ko-KR" altLang="en-US" sz="1400" dirty="0">
                <a:solidFill>
                  <a:srgbClr val="FF0000"/>
                </a:solidFill>
              </a:rPr>
              <a:t>② 제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 err="1">
                <a:solidFill>
                  <a:srgbClr val="FF0000"/>
                </a:solidFill>
              </a:rPr>
              <a:t>항제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>
                <a:solidFill>
                  <a:srgbClr val="FF0000"/>
                </a:solidFill>
              </a:rPr>
              <a:t>호를 </a:t>
            </a:r>
            <a:r>
              <a:rPr lang="ko-KR" altLang="en-US" sz="1400" dirty="0" err="1">
                <a:solidFill>
                  <a:srgbClr val="FF0000"/>
                </a:solidFill>
              </a:rPr>
              <a:t>적용받으려는</a:t>
            </a:r>
            <a:r>
              <a:rPr lang="ko-KR" altLang="en-US" sz="1400" dirty="0">
                <a:solidFill>
                  <a:srgbClr val="FF0000"/>
                </a:solidFill>
              </a:rPr>
              <a:t> 자는 </a:t>
            </a:r>
            <a:r>
              <a:rPr lang="ko-KR" altLang="en-US" sz="1400" dirty="0" err="1">
                <a:solidFill>
                  <a:srgbClr val="FF0000"/>
                </a:solidFill>
              </a:rPr>
              <a:t>특허출원서에</a:t>
            </a:r>
            <a:r>
              <a:rPr lang="ko-KR" altLang="en-US" sz="1400" dirty="0">
                <a:solidFill>
                  <a:srgbClr val="FF0000"/>
                </a:solidFill>
              </a:rPr>
              <a:t> 그 취지를 적어 출원하여야 하고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이를 증명할 수 있는 서류를 총리령으로 정하는 방법에 따라 </a:t>
            </a:r>
            <a:r>
              <a:rPr lang="ko-KR" altLang="en-US" sz="1400" dirty="0" err="1">
                <a:solidFill>
                  <a:srgbClr val="FF0000"/>
                </a:solidFill>
              </a:rPr>
              <a:t>특허출원일부터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30</a:t>
            </a:r>
            <a:r>
              <a:rPr lang="ko-KR" altLang="en-US" sz="1400" dirty="0">
                <a:solidFill>
                  <a:srgbClr val="FF0000"/>
                </a:solidFill>
              </a:rPr>
              <a:t>일 이내에 지식재산처장에게 제출하여야 한다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항에도 불구하고 총리령으로 정하는 보완수수료를 납부한 경우에는 다음 각 호의 어느 하나에 해당하는 기간에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호를 </a:t>
            </a:r>
            <a:r>
              <a:rPr lang="ko-KR" altLang="en-US" sz="1400" dirty="0" err="1">
                <a:solidFill>
                  <a:schemeClr val="tx2"/>
                </a:solidFill>
              </a:rPr>
              <a:t>적용받으려는</a:t>
            </a:r>
            <a:r>
              <a:rPr lang="ko-KR" altLang="en-US" sz="1400" dirty="0">
                <a:solidFill>
                  <a:schemeClr val="tx2"/>
                </a:solidFill>
              </a:rPr>
              <a:t> 취지를 적은 서류 또는 이를 증명할 수 있는 서류를 제출할 수 있다</a:t>
            </a:r>
            <a:endParaRPr lang="en-US" altLang="ko-KR" sz="14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보정할 수 있는 기간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조에 따른 특허결정 또는 제</a:t>
            </a:r>
            <a:r>
              <a:rPr lang="en-US" altLang="ko-KR" sz="1400" dirty="0">
                <a:solidFill>
                  <a:schemeClr val="tx2"/>
                </a:solidFill>
              </a:rPr>
              <a:t>176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특허거절결정 </a:t>
            </a:r>
            <a:r>
              <a:rPr lang="ko-KR" altLang="en-US" sz="1400" dirty="0" err="1">
                <a:solidFill>
                  <a:schemeClr val="tx2"/>
                </a:solidFill>
              </a:rPr>
              <a:t>취소심결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특허등록을 결정한 </a:t>
            </a:r>
            <a:r>
              <a:rPr lang="ko-KR" altLang="en-US" sz="1400" dirty="0" err="1">
                <a:solidFill>
                  <a:schemeClr val="tx2"/>
                </a:solidFill>
              </a:rPr>
              <a:t>심결에</a:t>
            </a:r>
            <a:r>
              <a:rPr lang="ko-KR" altLang="en-US" sz="1400" dirty="0">
                <a:solidFill>
                  <a:schemeClr val="tx2"/>
                </a:solidFill>
              </a:rPr>
              <a:t> 한정하되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재심심결을</a:t>
            </a:r>
            <a:r>
              <a:rPr lang="ko-KR" altLang="en-US" sz="1400" dirty="0">
                <a:solidFill>
                  <a:schemeClr val="tx2"/>
                </a:solidFill>
              </a:rPr>
              <a:t> 포함한다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의 등본을 </a:t>
            </a:r>
            <a:r>
              <a:rPr lang="ko-KR" altLang="en-US" sz="1400" dirty="0" err="1">
                <a:solidFill>
                  <a:schemeClr val="tx2"/>
                </a:solidFill>
              </a:rPr>
              <a:t>송달받은</a:t>
            </a:r>
            <a:r>
              <a:rPr lang="ko-KR" altLang="en-US" sz="1400" dirty="0">
                <a:solidFill>
                  <a:schemeClr val="tx2"/>
                </a:solidFill>
              </a:rPr>
              <a:t> 날부터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 이내의 기간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79</a:t>
            </a:r>
            <a:r>
              <a:rPr lang="ko-KR" altLang="en-US" sz="1400" dirty="0">
                <a:solidFill>
                  <a:schemeClr val="tx2"/>
                </a:solidFill>
              </a:rPr>
              <a:t>조에 따른 설정등록을 받으려는 날이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개월보다 짧은 경우에는 그 날까지의 기간</a:t>
            </a:r>
          </a:p>
        </p:txBody>
      </p:sp>
      <p:sp>
        <p:nvSpPr>
          <p:cNvPr id="117" name="Rectangle 14"/>
          <p:cNvSpPr>
            <a:spLocks noChangeArrowheads="1"/>
          </p:cNvSpPr>
          <p:nvPr/>
        </p:nvSpPr>
        <p:spPr bwMode="auto">
          <a:xfrm flipV="1">
            <a:off x="4225985" y="569371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6804146" y="5916778"/>
            <a:ext cx="777754" cy="236760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기준일</a:t>
            </a:r>
          </a:p>
        </p:txBody>
      </p:sp>
      <p:sp>
        <p:nvSpPr>
          <p:cNvPr id="119" name="직사각형 118"/>
          <p:cNvSpPr/>
          <p:nvPr/>
        </p:nvSpPr>
        <p:spPr>
          <a:xfrm>
            <a:off x="9772998" y="5916778"/>
            <a:ext cx="1542702" cy="236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취지 및 증명서류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7917075" y="5069287"/>
            <a:ext cx="2054716" cy="236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30</a:t>
            </a:r>
            <a:r>
              <a:rPr lang="ko-KR" altLang="en-US" sz="1400" dirty="0">
                <a:solidFill>
                  <a:schemeClr val="tx1"/>
                </a:solidFill>
              </a:rPr>
              <a:t>일 이내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577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75642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PCT 8</a:t>
            </a:r>
            <a:r>
              <a:rPr lang="ko-KR" altLang="en-US" dirty="0"/>
              <a:t>의 해석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3586370" y="1251789"/>
            <a:ext cx="1554769" cy="319836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PCT 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3586372" y="1570060"/>
            <a:ext cx="4233654" cy="30777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 anchor="b">
            <a:spAutoFit/>
          </a:bodyPr>
          <a:lstStyle/>
          <a:p>
            <a:pPr fontAlgn="base"/>
            <a:r>
              <a:rPr lang="en-US" altLang="ko-KR" sz="1400" dirty="0"/>
              <a:t>(1) </a:t>
            </a:r>
            <a:r>
              <a:rPr lang="ko-KR" altLang="en-US" sz="1400" dirty="0"/>
              <a:t>우선권주장선언가능 </a:t>
            </a:r>
            <a:r>
              <a:rPr lang="en-US" altLang="ko-KR" sz="1400" dirty="0"/>
              <a:t>(</a:t>
            </a:r>
            <a:r>
              <a:rPr lang="ko-KR" altLang="en-US" sz="1400" dirty="0"/>
              <a:t>절차 </a:t>
            </a:r>
            <a:r>
              <a:rPr lang="en-US" altLang="ko-KR" sz="1400" dirty="0"/>
              <a:t>– PCT)</a:t>
            </a:r>
            <a:endParaRPr lang="ko-KR" altLang="en-US" sz="1400" dirty="0"/>
          </a:p>
        </p:txBody>
      </p:sp>
      <p:sp>
        <p:nvSpPr>
          <p:cNvPr id="34" name="직사각형 33"/>
          <p:cNvSpPr/>
          <p:nvPr/>
        </p:nvSpPr>
        <p:spPr>
          <a:xfrm>
            <a:off x="3586372" y="1912960"/>
            <a:ext cx="4233654" cy="30777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 anchor="b">
            <a:spAutoFit/>
          </a:bodyPr>
          <a:lstStyle/>
          <a:p>
            <a:pPr fontAlgn="base"/>
            <a:r>
              <a:rPr lang="en-US" altLang="ko-KR" sz="1400" dirty="0"/>
              <a:t>(2)(a) </a:t>
            </a:r>
            <a:r>
              <a:rPr lang="ko-KR" altLang="en-US" sz="1400" dirty="0"/>
              <a:t>일반적인 경우 </a:t>
            </a:r>
            <a:r>
              <a:rPr lang="en-US" altLang="ko-KR" sz="1400" dirty="0"/>
              <a:t>(</a:t>
            </a:r>
            <a:r>
              <a:rPr lang="ko-KR" altLang="en-US" sz="1400" dirty="0"/>
              <a:t>요건 및 효과</a:t>
            </a:r>
            <a:r>
              <a:rPr lang="en-US" altLang="ko-KR" sz="1400" dirty="0"/>
              <a:t>) → </a:t>
            </a:r>
            <a:r>
              <a:rPr lang="ko-KR" altLang="en-US" sz="1400" dirty="0"/>
              <a:t>파리조약 제</a:t>
            </a:r>
            <a:r>
              <a:rPr lang="en-US" altLang="ko-KR" sz="1400" dirty="0"/>
              <a:t>4</a:t>
            </a:r>
            <a:r>
              <a:rPr lang="ko-KR" altLang="en-US" sz="1400" dirty="0"/>
              <a:t>조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3586372" y="2265385"/>
            <a:ext cx="4233654" cy="30777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 anchor="b">
            <a:spAutoFit/>
          </a:bodyPr>
          <a:lstStyle/>
          <a:p>
            <a:pPr fontAlgn="base"/>
            <a:r>
              <a:rPr lang="en-US" altLang="ko-KR" sz="1400" dirty="0"/>
              <a:t>(2)(b) </a:t>
            </a:r>
            <a:r>
              <a:rPr lang="ko-KR" altLang="en-US" sz="1400" dirty="0"/>
              <a:t>자기지정의 경우 </a:t>
            </a:r>
            <a:r>
              <a:rPr lang="en-US" altLang="ko-KR" sz="1400" dirty="0"/>
              <a:t>(</a:t>
            </a:r>
            <a:r>
              <a:rPr lang="ko-KR" altLang="en-US" sz="1400" dirty="0"/>
              <a:t>요건 및 효과</a:t>
            </a:r>
            <a:r>
              <a:rPr lang="en-US" altLang="ko-KR" sz="1400" dirty="0"/>
              <a:t>) → </a:t>
            </a:r>
            <a:r>
              <a:rPr lang="ko-KR" altLang="en-US" sz="1400" dirty="0"/>
              <a:t>국내법에 일임</a:t>
            </a:r>
          </a:p>
        </p:txBody>
      </p:sp>
      <p:cxnSp>
        <p:nvCxnSpPr>
          <p:cNvPr id="6" name="꺾인 연결선 5"/>
          <p:cNvCxnSpPr>
            <a:stCxn id="2" idx="3"/>
            <a:endCxn id="34" idx="3"/>
          </p:cNvCxnSpPr>
          <p:nvPr/>
        </p:nvCxnSpPr>
        <p:spPr>
          <a:xfrm>
            <a:off x="7820026" y="1723949"/>
            <a:ext cx="12700" cy="342900"/>
          </a:xfrm>
          <a:prstGeom prst="bentConnector3">
            <a:avLst>
              <a:gd name="adj1" fmla="val 1800000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꺾인 연결선 7"/>
          <p:cNvCxnSpPr>
            <a:stCxn id="2" idx="1"/>
            <a:endCxn id="35" idx="1"/>
          </p:cNvCxnSpPr>
          <p:nvPr/>
        </p:nvCxnSpPr>
        <p:spPr>
          <a:xfrm rot="10800000" flipV="1">
            <a:off x="3586372" y="1723948"/>
            <a:ext cx="12700" cy="695325"/>
          </a:xfrm>
          <a:prstGeom prst="bentConnector3">
            <a:avLst>
              <a:gd name="adj1" fmla="val 1800000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670354"/>
              </p:ext>
            </p:extLst>
          </p:nvPr>
        </p:nvGraphicFramePr>
        <p:xfrm>
          <a:off x="8134349" y="3072341"/>
          <a:ext cx="3752851" cy="20726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25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조약우선권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주장출원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국제특허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출원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특허출원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PCT 8(2)(a)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파리조약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54</a:t>
                      </a:r>
                      <a:r>
                        <a:rPr lang="ko-KR" altLang="en-US" sz="1400" dirty="0"/>
                        <a:t>조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파리조약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절차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PCT 8(1)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54</a:t>
                      </a:r>
                      <a:r>
                        <a:rPr lang="ko-KR" altLang="en-US" sz="1400" dirty="0"/>
                        <a:t>조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파리조약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효과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PCT 8(2)(a)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파리조약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54</a:t>
                      </a:r>
                      <a:r>
                        <a:rPr lang="ko-KR" altLang="en-US" sz="1400" dirty="0"/>
                        <a:t>조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파리조약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자유형 9"/>
          <p:cNvSpPr/>
          <p:nvPr/>
        </p:nvSpPr>
        <p:spPr>
          <a:xfrm>
            <a:off x="8048626" y="1885950"/>
            <a:ext cx="1905000" cy="1171575"/>
          </a:xfrm>
          <a:custGeom>
            <a:avLst/>
            <a:gdLst>
              <a:gd name="connsiteX0" fmla="*/ 0 w 2028825"/>
              <a:gd name="connsiteY0" fmla="*/ 0 h 1171575"/>
              <a:gd name="connsiteX1" fmla="*/ 2028825 w 2028825"/>
              <a:gd name="connsiteY1" fmla="*/ 0 h 1171575"/>
              <a:gd name="connsiteX2" fmla="*/ 2028825 w 2028825"/>
              <a:gd name="connsiteY2" fmla="*/ 1171575 h 1171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8825" h="1171575">
                <a:moveTo>
                  <a:pt x="0" y="0"/>
                </a:moveTo>
                <a:lnTo>
                  <a:pt x="2028825" y="0"/>
                </a:lnTo>
                <a:lnTo>
                  <a:pt x="2028825" y="1171575"/>
                </a:lnTo>
              </a:path>
            </a:pathLst>
          </a:cu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9277351" y="2886075"/>
            <a:ext cx="1352550" cy="3095625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..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9279402" y="5282625"/>
            <a:ext cx="134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54</a:t>
            </a:r>
            <a:r>
              <a:rPr lang="ko-KR" altLang="en-US" sz="1400" dirty="0">
                <a:solidFill>
                  <a:srgbClr val="FF0000"/>
                </a:solidFill>
              </a:rPr>
              <a:t>조 부적용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199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항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944178"/>
              </p:ext>
            </p:extLst>
          </p:nvPr>
        </p:nvGraphicFramePr>
        <p:xfrm>
          <a:off x="304799" y="3057525"/>
          <a:ext cx="3800476" cy="20497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2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국내우선권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주장출원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국제특허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출원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특허출원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2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PCT 8(2)(b)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202</a:t>
                      </a:r>
                      <a:r>
                        <a:rPr lang="ko-KR" altLang="en-US" sz="1400" dirty="0"/>
                        <a:t>조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55</a:t>
                      </a:r>
                      <a:r>
                        <a:rPr lang="ko-KR" altLang="en-US" sz="1400" dirty="0"/>
                        <a:t>조</a:t>
                      </a:r>
                      <a:r>
                        <a:rPr lang="en-US" altLang="ko-KR" sz="1400" dirty="0"/>
                        <a:t>,</a:t>
                      </a:r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56</a:t>
                      </a:r>
                      <a:r>
                        <a:rPr lang="ko-KR" altLang="en-US" sz="1400" dirty="0"/>
                        <a:t>조</a:t>
                      </a:r>
                      <a:endParaRPr lang="en-US" altLang="ko-K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절차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PCT 8(1)</a:t>
                      </a:r>
                      <a:endParaRPr lang="ko-KR" alt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55</a:t>
                      </a:r>
                      <a:r>
                        <a:rPr lang="ko-KR" altLang="en-US" sz="1400" dirty="0"/>
                        <a:t>조</a:t>
                      </a:r>
                      <a:r>
                        <a:rPr lang="en-US" altLang="ko-KR" sz="1400" dirty="0"/>
                        <a:t>,</a:t>
                      </a:r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56</a:t>
                      </a:r>
                      <a:r>
                        <a:rPr lang="ko-KR" altLang="en-US" sz="1400" dirty="0"/>
                        <a:t>조</a:t>
                      </a:r>
                      <a:endParaRPr lang="en-US" altLang="ko-KR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2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효과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PCT 8(2)(b)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202</a:t>
                      </a:r>
                      <a:r>
                        <a:rPr lang="ko-KR" altLang="en-US" sz="1400" dirty="0"/>
                        <a:t>조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55</a:t>
                      </a:r>
                      <a:r>
                        <a:rPr lang="ko-KR" altLang="en-US" sz="1400" dirty="0"/>
                        <a:t>조</a:t>
                      </a:r>
                      <a:r>
                        <a:rPr lang="en-US" altLang="ko-KR" sz="1400" dirty="0"/>
                        <a:t>,</a:t>
                      </a:r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56</a:t>
                      </a:r>
                      <a:r>
                        <a:rPr lang="ko-KR" altLang="en-US" sz="1400" dirty="0"/>
                        <a:t>조</a:t>
                      </a:r>
                      <a:endParaRPr lang="en-US" altLang="ko-K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4" name="꺾인 연결선 13"/>
          <p:cNvCxnSpPr>
            <a:endCxn id="45" idx="0"/>
          </p:cNvCxnSpPr>
          <p:nvPr/>
        </p:nvCxnSpPr>
        <p:spPr>
          <a:xfrm rot="10800000" flipV="1">
            <a:off x="2205038" y="2157335"/>
            <a:ext cx="1166831" cy="900190"/>
          </a:xfrm>
          <a:prstGeom prst="bentConnector2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/>
          <p:cNvSpPr/>
          <p:nvPr/>
        </p:nvSpPr>
        <p:spPr>
          <a:xfrm>
            <a:off x="3438544" y="1809750"/>
            <a:ext cx="952481" cy="962025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/>
          <p:cNvSpPr/>
          <p:nvPr/>
        </p:nvSpPr>
        <p:spPr>
          <a:xfrm>
            <a:off x="4505325" y="3248025"/>
            <a:ext cx="3200400" cy="485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우선순위를 부여하여 </a:t>
            </a:r>
            <a:r>
              <a:rPr lang="en-US" altLang="ko-KR" sz="1400" dirty="0">
                <a:solidFill>
                  <a:schemeClr val="tx1"/>
                </a:solidFill>
              </a:rPr>
              <a:t>PCT 8(2)(a)</a:t>
            </a:r>
            <a:r>
              <a:rPr lang="ko-KR" altLang="en-US" sz="1400" dirty="0">
                <a:solidFill>
                  <a:schemeClr val="tx1"/>
                </a:solidFill>
              </a:rPr>
              <a:t>가 적용되지 않은 경우에 </a:t>
            </a:r>
            <a:r>
              <a:rPr lang="en-US" altLang="ko-KR" sz="1400" dirty="0">
                <a:solidFill>
                  <a:schemeClr val="tx1"/>
                </a:solidFill>
              </a:rPr>
              <a:t>PCT 8(2)(b)</a:t>
            </a:r>
            <a:r>
              <a:rPr lang="ko-KR" altLang="en-US" sz="1400" dirty="0">
                <a:solidFill>
                  <a:schemeClr val="tx1"/>
                </a:solidFill>
              </a:rPr>
              <a:t>가 적용</a:t>
            </a:r>
          </a:p>
        </p:txBody>
      </p:sp>
      <p:cxnSp>
        <p:nvCxnSpPr>
          <p:cNvPr id="20" name="꺾인 연결선 19"/>
          <p:cNvCxnSpPr>
            <a:stCxn id="18" idx="4"/>
            <a:endCxn id="52" idx="0"/>
          </p:cNvCxnSpPr>
          <p:nvPr/>
        </p:nvCxnSpPr>
        <p:spPr>
          <a:xfrm rot="16200000" flipH="1">
            <a:off x="4772030" y="1914530"/>
            <a:ext cx="476250" cy="2190740"/>
          </a:xfrm>
          <a:prstGeom prst="bentConnector3">
            <a:avLst>
              <a:gd name="adj1" fmla="val 32000"/>
            </a:avLst>
          </a:prstGeom>
          <a:ln w="3810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/>
          <p:cNvSpPr/>
          <p:nvPr/>
        </p:nvSpPr>
        <p:spPr>
          <a:xfrm>
            <a:off x="4505325" y="4110037"/>
            <a:ext cx="3200400" cy="485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PCT 8(2)(b)</a:t>
            </a:r>
            <a:r>
              <a:rPr lang="ko-KR" altLang="en-US" sz="1400" dirty="0">
                <a:solidFill>
                  <a:schemeClr val="tx1"/>
                </a:solidFill>
              </a:rPr>
              <a:t>가 적용되는 경우를 자기지정이라고 함</a:t>
            </a:r>
          </a:p>
        </p:txBody>
      </p:sp>
      <p:cxnSp>
        <p:nvCxnSpPr>
          <p:cNvPr id="24" name="직선 연결선 23"/>
          <p:cNvCxnSpPr>
            <a:stCxn id="52" idx="2"/>
            <a:endCxn id="56" idx="0"/>
          </p:cNvCxnSpPr>
          <p:nvPr/>
        </p:nvCxnSpPr>
        <p:spPr>
          <a:xfrm>
            <a:off x="6105525" y="3733800"/>
            <a:ext cx="0" cy="37623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/>
          <p:cNvSpPr/>
          <p:nvPr/>
        </p:nvSpPr>
        <p:spPr>
          <a:xfrm>
            <a:off x="8048626" y="2687576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36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4885088" y="2598003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36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141200" y="2607430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3600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568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38382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PCT 8(2)(b) </a:t>
            </a:r>
            <a:r>
              <a:rPr lang="ko-KR" altLang="en-US" dirty="0"/>
              <a:t>자기지정의 해석</a:t>
            </a:r>
          </a:p>
        </p:txBody>
      </p:sp>
      <p:cxnSp>
        <p:nvCxnSpPr>
          <p:cNvPr id="25" name="직선 연결선 24"/>
          <p:cNvCxnSpPr/>
          <p:nvPr/>
        </p:nvCxnSpPr>
        <p:spPr>
          <a:xfrm>
            <a:off x="77875" y="393232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875" y="976902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「자기지정」이란 어느 체약국에서 또는 어느 체약국에 대하여 행하여진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선출원에</a:t>
            </a:r>
            <a:r>
              <a:rPr lang="ko-KR" altLang="en-US" sz="1400" dirty="0">
                <a:solidFill>
                  <a:schemeClr val="tx2"/>
                </a:solidFill>
              </a:rPr>
              <a:t> 의한 우선권주장을 수반하는 국제출원에 해당 체약국의 지정을 포함하는 것을 말한다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국제출원이 어느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지정국에서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또는 어느 지정국에 대하여 행하여진 국내출원에 의한 우선권주장을 수반하는 경우 또는 하나의 국가만의 지정을 포함한 국제출원에 의한 우선권주장을 수반하는 경우에는 해당 지정국에서의 요건 및 효과는 해당 지정국의 국내법령이 정하는 바에 의한다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(PCT 8(2)(b)). 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930931"/>
              </p:ext>
            </p:extLst>
          </p:nvPr>
        </p:nvGraphicFramePr>
        <p:xfrm>
          <a:off x="190500" y="1715567"/>
          <a:ext cx="11645901" cy="213512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917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7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2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181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14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구 분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 err="1"/>
                        <a:t>선출원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후출원</a:t>
                      </a:r>
                      <a:r>
                        <a:rPr lang="en-US" altLang="ko-KR" sz="1400" kern="1200"/>
                        <a:t>(</a:t>
                      </a:r>
                      <a:r>
                        <a:rPr lang="ko-KR" altLang="en-US" sz="1400" kern="1200"/>
                        <a:t>우선권주장출원</a:t>
                      </a:r>
                      <a:r>
                        <a:rPr lang="en-US" altLang="ko-KR" sz="1400" kern="1200"/>
                        <a:t>)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비 고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41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자기지정○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한국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/>
                        <a:t>PCT(</a:t>
                      </a:r>
                      <a:r>
                        <a:rPr lang="ko-KR" altLang="en-US" sz="1400" kern="1200"/>
                        <a:t>한국</a:t>
                      </a:r>
                      <a:r>
                        <a:rPr lang="en-US" altLang="ko-KR" sz="1400" kern="1200"/>
                        <a:t>, </a:t>
                      </a:r>
                      <a:r>
                        <a:rPr lang="ko-KR" altLang="en-US" sz="1400" kern="1200"/>
                        <a:t>미국</a:t>
                      </a:r>
                      <a:r>
                        <a:rPr lang="en-US" altLang="ko-KR" sz="1400" kern="1200"/>
                        <a:t>, </a:t>
                      </a:r>
                      <a:r>
                        <a:rPr lang="ko-KR" altLang="en-US" sz="1400" kern="1200"/>
                        <a:t>일본 등</a:t>
                      </a:r>
                      <a:r>
                        <a:rPr lang="en-US" altLang="ko-KR" sz="1400" kern="1200"/>
                        <a:t>)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 rowSpan="2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지정국 한국에 대해서는 </a:t>
                      </a:r>
                      <a:r>
                        <a:rPr lang="en-US" altLang="ko-KR" sz="1400" kern="1200"/>
                        <a:t>PCT 8(1),(2)b)</a:t>
                      </a:r>
                      <a:r>
                        <a:rPr lang="ko-KR" altLang="en-US" sz="1400" kern="1200"/>
                        <a:t>가 적용이 되며</a:t>
                      </a:r>
                      <a:r>
                        <a:rPr lang="en-US" altLang="ko-KR" sz="1400" kern="1200"/>
                        <a:t>, </a:t>
                      </a:r>
                      <a:r>
                        <a:rPr lang="ko-KR" altLang="en-US" sz="1400" kern="1200"/>
                        <a:t>한국이 아닌 지정국에 대해서는 </a:t>
                      </a:r>
                      <a:r>
                        <a:rPr lang="en-US" altLang="ko-KR" sz="1400" kern="1200"/>
                        <a:t>PCT 8(1),(2)a)</a:t>
                      </a:r>
                      <a:r>
                        <a:rPr lang="ko-KR" altLang="en-US" sz="1400" kern="1200"/>
                        <a:t>가 적용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1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/>
                        <a:t>PCT(</a:t>
                      </a:r>
                      <a:r>
                        <a:rPr lang="ko-KR" altLang="en-US" sz="1400" kern="1200" dirty="0"/>
                        <a:t>한국</a:t>
                      </a:r>
                      <a:r>
                        <a:rPr lang="en-US" altLang="ko-KR" sz="1400" kern="1200" dirty="0"/>
                        <a:t>)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/>
                        <a:t>PCT(</a:t>
                      </a:r>
                      <a:r>
                        <a:rPr lang="ko-KR" altLang="en-US" sz="1400" kern="1200" dirty="0"/>
                        <a:t>한국</a:t>
                      </a:r>
                      <a:r>
                        <a:rPr lang="en-US" altLang="ko-KR" sz="1400" kern="1200" dirty="0"/>
                        <a:t>, </a:t>
                      </a:r>
                      <a:r>
                        <a:rPr lang="ko-KR" altLang="en-US" sz="1400" kern="1200" dirty="0"/>
                        <a:t>미국</a:t>
                      </a:r>
                      <a:r>
                        <a:rPr lang="en-US" altLang="ko-KR" sz="1400" kern="1200" dirty="0"/>
                        <a:t>, </a:t>
                      </a:r>
                      <a:r>
                        <a:rPr lang="ko-KR" altLang="en-US" sz="1400" kern="1200" dirty="0"/>
                        <a:t>일본 등</a:t>
                      </a:r>
                      <a:r>
                        <a:rPr lang="en-US" altLang="ko-KR" sz="1400" kern="1200" dirty="0"/>
                        <a:t>)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207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자기지정</a:t>
                      </a:r>
                      <a:r>
                        <a:rPr lang="en-US" altLang="ko-KR" sz="1400" kern="1200"/>
                        <a:t>×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/>
                        <a:t>PCT(</a:t>
                      </a:r>
                      <a:r>
                        <a:rPr lang="ko-KR" altLang="en-US" sz="1400" kern="1200"/>
                        <a:t>한국</a:t>
                      </a:r>
                      <a:r>
                        <a:rPr lang="en-US" altLang="ko-KR" sz="1400" kern="1200"/>
                        <a:t>, </a:t>
                      </a:r>
                      <a:r>
                        <a:rPr lang="ko-KR" altLang="en-US" sz="1400" kern="1200"/>
                        <a:t>미국</a:t>
                      </a:r>
                      <a:r>
                        <a:rPr lang="en-US" altLang="ko-KR" sz="1400" kern="1200"/>
                        <a:t>, </a:t>
                      </a:r>
                      <a:r>
                        <a:rPr lang="ko-KR" altLang="en-US" sz="1400" kern="1200"/>
                        <a:t>일본 등</a:t>
                      </a:r>
                      <a:r>
                        <a:rPr lang="en-US" altLang="ko-KR" sz="1400" kern="1200"/>
                        <a:t>)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/>
                        <a:t>PCT(</a:t>
                      </a:r>
                      <a:r>
                        <a:rPr lang="ko-KR" altLang="en-US" sz="1400" kern="1200" dirty="0"/>
                        <a:t>한국</a:t>
                      </a:r>
                      <a:r>
                        <a:rPr lang="en-US" altLang="ko-KR" sz="1400" kern="1200" dirty="0"/>
                        <a:t>, </a:t>
                      </a:r>
                      <a:r>
                        <a:rPr lang="ko-KR" altLang="en-US" sz="1400" kern="1200" dirty="0"/>
                        <a:t>미국</a:t>
                      </a:r>
                      <a:r>
                        <a:rPr lang="en-US" altLang="ko-KR" sz="1400" kern="1200" dirty="0"/>
                        <a:t>, </a:t>
                      </a:r>
                      <a:r>
                        <a:rPr lang="ko-KR" altLang="en-US" sz="1400" kern="1200" dirty="0"/>
                        <a:t>일본 등</a:t>
                      </a:r>
                      <a:r>
                        <a:rPr lang="en-US" altLang="ko-KR" sz="1400" kern="1200" dirty="0"/>
                        <a:t>)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/>
                        <a:t>PCT 8(1),(2)a)</a:t>
                      </a:r>
                      <a:r>
                        <a:rPr lang="ko-KR" altLang="en-US" sz="1400" kern="1200"/>
                        <a:t>에 의한 조약우선권주장의 요건 및 효과 적용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2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/>
                        <a:t>PCT(</a:t>
                      </a:r>
                      <a:r>
                        <a:rPr lang="ko-KR" altLang="en-US" sz="1400" kern="1200"/>
                        <a:t>한국</a:t>
                      </a:r>
                      <a:r>
                        <a:rPr lang="en-US" altLang="ko-KR" sz="1400" kern="1200"/>
                        <a:t>, </a:t>
                      </a:r>
                      <a:r>
                        <a:rPr lang="ko-KR" altLang="en-US" sz="1400" kern="1200"/>
                        <a:t>미국</a:t>
                      </a:r>
                      <a:r>
                        <a:rPr lang="en-US" altLang="ko-KR" sz="1400" kern="1200"/>
                        <a:t>, </a:t>
                      </a:r>
                      <a:r>
                        <a:rPr lang="ko-KR" altLang="en-US" sz="1400" kern="1200"/>
                        <a:t>일본 등</a:t>
                      </a:r>
                      <a:r>
                        <a:rPr lang="en-US" altLang="ko-KR" sz="1400" kern="1200"/>
                        <a:t>)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한국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출원인의 의사에 의하여 조약우선권주장</a:t>
                      </a:r>
                      <a:r>
                        <a:rPr lang="en-US" altLang="ko-KR" sz="1400" kern="1200" dirty="0"/>
                        <a:t>(</a:t>
                      </a:r>
                      <a:r>
                        <a:rPr lang="ko-KR" altLang="en-US" sz="1400" kern="1200" dirty="0"/>
                        <a:t>法 </a:t>
                      </a:r>
                      <a:r>
                        <a:rPr lang="en-US" altLang="ko-KR" sz="1400" kern="1200" dirty="0"/>
                        <a:t>54) </a:t>
                      </a:r>
                      <a:r>
                        <a:rPr lang="ko-KR" altLang="en-US" sz="1400" kern="1200" dirty="0"/>
                        <a:t>또는 국내우선권주장 </a:t>
                      </a:r>
                      <a:r>
                        <a:rPr lang="en-US" altLang="ko-KR" sz="1400" kern="1200" dirty="0"/>
                        <a:t>(</a:t>
                      </a:r>
                      <a:r>
                        <a:rPr lang="ko-KR" altLang="en-US" sz="1400" kern="1200" dirty="0"/>
                        <a:t>法 </a:t>
                      </a:r>
                      <a:r>
                        <a:rPr lang="en-US" altLang="ko-KR" sz="1400" kern="1200" dirty="0"/>
                        <a:t>55) </a:t>
                      </a:r>
                      <a:r>
                        <a:rPr lang="ko-KR" altLang="en-US" sz="1400" kern="1200" dirty="0"/>
                        <a:t>중 선택가능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해 설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 gridSpan="3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/>
                        <a:t>PCT </a:t>
                      </a:r>
                      <a:r>
                        <a:rPr lang="ko-KR" altLang="en-US" sz="1400" kern="1200" dirty="0" err="1"/>
                        <a:t>출원서에서는</a:t>
                      </a:r>
                      <a:r>
                        <a:rPr lang="ko-KR" altLang="en-US" sz="1400" kern="1200" dirty="0"/>
                        <a:t> 우선권주장을 체크하는 </a:t>
                      </a:r>
                      <a:r>
                        <a:rPr lang="ko-KR" altLang="en-US" sz="1400" kern="1200" dirty="0" err="1"/>
                        <a:t>란은</a:t>
                      </a:r>
                      <a:r>
                        <a:rPr lang="ko-KR" altLang="en-US" sz="1400" kern="1200" dirty="0"/>
                        <a:t> 있지만 국내우선권과 조약우선권을 구별하는 </a:t>
                      </a:r>
                      <a:r>
                        <a:rPr lang="ko-KR" altLang="en-US" sz="1400" kern="1200" dirty="0" err="1"/>
                        <a:t>란이</a:t>
                      </a:r>
                      <a:r>
                        <a:rPr lang="ko-KR" altLang="en-US" sz="1400" kern="1200" dirty="0"/>
                        <a:t> 존재하지 아니한다</a:t>
                      </a:r>
                      <a:r>
                        <a:rPr lang="en-US" altLang="ko-KR" sz="1400" kern="1200" dirty="0"/>
                        <a:t>. </a:t>
                      </a:r>
                      <a:r>
                        <a:rPr lang="ko-KR" altLang="en-US" sz="1400" kern="1200" dirty="0"/>
                        <a:t>따라서 우선권주장을 체크하였을 때</a:t>
                      </a:r>
                      <a:r>
                        <a:rPr lang="en-US" altLang="ko-KR" sz="1400" kern="1200" dirty="0"/>
                        <a:t>, </a:t>
                      </a:r>
                      <a:r>
                        <a:rPr lang="ko-KR" altLang="en-US" sz="1400" kern="1200" dirty="0"/>
                        <a:t>원칙은 </a:t>
                      </a:r>
                      <a:r>
                        <a:rPr lang="en-US" altLang="ko-KR" sz="1400" kern="1200" dirty="0"/>
                        <a:t>PCT 8(1),(2)a)</a:t>
                      </a:r>
                      <a:r>
                        <a:rPr lang="ko-KR" altLang="en-US" sz="1400" kern="1200" dirty="0"/>
                        <a:t>가 적용이 되며</a:t>
                      </a:r>
                      <a:r>
                        <a:rPr lang="en-US" altLang="ko-KR" sz="1400" kern="1200" dirty="0"/>
                        <a:t>, </a:t>
                      </a:r>
                      <a:r>
                        <a:rPr lang="ko-KR" altLang="en-US" sz="1400" kern="1200" dirty="0"/>
                        <a:t>이를 적용할 수 없는 경우에만 예외적으로 </a:t>
                      </a:r>
                      <a:r>
                        <a:rPr lang="en-US" altLang="ko-KR" sz="1400" kern="1200" dirty="0"/>
                        <a:t>PCT 8(1),(2)b)</a:t>
                      </a:r>
                      <a:r>
                        <a:rPr lang="ko-KR" altLang="en-US" sz="1400" kern="1200" dirty="0"/>
                        <a:t>가 적용되는 것이다</a:t>
                      </a:r>
                      <a:r>
                        <a:rPr lang="en-US" altLang="ko-KR" sz="1400" kern="1200" dirty="0"/>
                        <a:t>. </a:t>
                      </a:r>
                      <a:r>
                        <a:rPr lang="ko-KR" altLang="en-US" sz="1400" kern="1200" dirty="0"/>
                        <a:t>한편</a:t>
                      </a:r>
                      <a:r>
                        <a:rPr lang="en-US" altLang="ko-KR" sz="1400" kern="1200" dirty="0"/>
                        <a:t>, </a:t>
                      </a:r>
                      <a:r>
                        <a:rPr lang="ko-KR" altLang="en-US" sz="1400" kern="1200" dirty="0" err="1"/>
                        <a:t>국내출원서에는</a:t>
                      </a:r>
                      <a:r>
                        <a:rPr lang="ko-KR" altLang="en-US" sz="1400" kern="1200" dirty="0"/>
                        <a:t> 출원 시 조약우선권주장</a:t>
                      </a:r>
                      <a:r>
                        <a:rPr lang="en-US" altLang="ko-KR" sz="1400" kern="1200" dirty="0"/>
                        <a:t>(</a:t>
                      </a:r>
                      <a:r>
                        <a:rPr lang="ko-KR" altLang="en-US" sz="1400" kern="1200" dirty="0"/>
                        <a:t>法 </a:t>
                      </a:r>
                      <a:r>
                        <a:rPr lang="en-US" altLang="ko-KR" sz="1400" kern="1200" dirty="0"/>
                        <a:t>54) </a:t>
                      </a:r>
                      <a:r>
                        <a:rPr lang="ko-KR" altLang="en-US" sz="1400" kern="1200" dirty="0"/>
                        <a:t>또는 국내우선권주장</a:t>
                      </a:r>
                      <a:r>
                        <a:rPr lang="en-US" altLang="ko-KR" sz="1400" kern="1200" dirty="0"/>
                        <a:t>(</a:t>
                      </a:r>
                      <a:r>
                        <a:rPr lang="ko-KR" altLang="en-US" sz="1400" kern="1200" dirty="0"/>
                        <a:t>法 </a:t>
                      </a:r>
                      <a:r>
                        <a:rPr lang="en-US" altLang="ko-KR" sz="1400" kern="1200" dirty="0"/>
                        <a:t>55)</a:t>
                      </a:r>
                      <a:r>
                        <a:rPr lang="ko-KR" altLang="en-US" sz="1400" kern="1200" dirty="0"/>
                        <a:t>을 선택하여 적을 수 있다</a:t>
                      </a:r>
                      <a:r>
                        <a:rPr lang="en-US" altLang="ko-KR" sz="1400" kern="1200" dirty="0"/>
                        <a:t>.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8" name="직선 연결선 27"/>
          <p:cNvCxnSpPr/>
          <p:nvPr/>
        </p:nvCxnSpPr>
        <p:spPr>
          <a:xfrm flipV="1">
            <a:off x="6089880" y="4203700"/>
            <a:ext cx="0" cy="247598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395921" y="4585968"/>
            <a:ext cx="5357179" cy="15326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2617310" y="4434844"/>
            <a:ext cx="1745141" cy="3580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국제출원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617310" y="4071867"/>
            <a:ext cx="1745141" cy="3580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우선권주장</a:t>
            </a:r>
            <a:r>
              <a:rPr lang="en-US" altLang="ko-KR" sz="1400" dirty="0">
                <a:solidFill>
                  <a:schemeClr val="tx1"/>
                </a:solidFill>
              </a:rPr>
              <a:t>(PCT8(1))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708183" y="4434844"/>
            <a:ext cx="1120618" cy="3580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한국출원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54" name="직선 연결선 53"/>
          <p:cNvCxnSpPr/>
          <p:nvPr/>
        </p:nvCxnSpPr>
        <p:spPr>
          <a:xfrm>
            <a:off x="3489880" y="4792860"/>
            <a:ext cx="0" cy="188682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모서리가 둥근 직사각형 54"/>
          <p:cNvSpPr/>
          <p:nvPr/>
        </p:nvSpPr>
        <p:spPr>
          <a:xfrm>
            <a:off x="3182460" y="5279135"/>
            <a:ext cx="614840" cy="358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한국</a:t>
            </a:r>
          </a:p>
        </p:txBody>
      </p:sp>
      <p:sp>
        <p:nvSpPr>
          <p:cNvPr id="57" name="모서리가 둥근 직사각형 56"/>
          <p:cNvSpPr/>
          <p:nvPr/>
        </p:nvSpPr>
        <p:spPr>
          <a:xfrm>
            <a:off x="3182460" y="5747763"/>
            <a:ext cx="614840" cy="358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일본</a:t>
            </a:r>
          </a:p>
        </p:txBody>
      </p:sp>
      <p:sp>
        <p:nvSpPr>
          <p:cNvPr id="58" name="모서리가 둥근 직사각형 57"/>
          <p:cNvSpPr/>
          <p:nvPr/>
        </p:nvSpPr>
        <p:spPr>
          <a:xfrm>
            <a:off x="3182460" y="6217663"/>
            <a:ext cx="614840" cy="358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미국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3489880" y="4861320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자동지정</a:t>
            </a:r>
          </a:p>
        </p:txBody>
      </p:sp>
      <p:cxnSp>
        <p:nvCxnSpPr>
          <p:cNvPr id="27" name="직선 연결선 26"/>
          <p:cNvCxnSpPr>
            <a:stCxn id="51" idx="2"/>
            <a:endCxn id="55" idx="1"/>
          </p:cNvCxnSpPr>
          <p:nvPr/>
        </p:nvCxnSpPr>
        <p:spPr>
          <a:xfrm>
            <a:off x="1268492" y="4792860"/>
            <a:ext cx="1913968" cy="66528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>
            <a:stCxn id="51" idx="2"/>
            <a:endCxn id="58" idx="1"/>
          </p:cNvCxnSpPr>
          <p:nvPr/>
        </p:nvCxnSpPr>
        <p:spPr>
          <a:xfrm>
            <a:off x="1268492" y="4792860"/>
            <a:ext cx="1913968" cy="16038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>
            <a:stCxn id="51" idx="2"/>
            <a:endCxn id="57" idx="1"/>
          </p:cNvCxnSpPr>
          <p:nvPr/>
        </p:nvCxnSpPr>
        <p:spPr>
          <a:xfrm>
            <a:off x="1268492" y="4792860"/>
            <a:ext cx="1913968" cy="11339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/>
          <p:cNvSpPr/>
          <p:nvPr/>
        </p:nvSpPr>
        <p:spPr>
          <a:xfrm>
            <a:off x="3802142" y="5279135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rgbClr val="FF0000"/>
                </a:solidFill>
              </a:rPr>
              <a:t>PCT 8(2)(b)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3802142" y="5736271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PCT 8(2)(a)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3802142" y="6217663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PCT 8(2)(a)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3" name="직선 연결선 72"/>
          <p:cNvCxnSpPr/>
          <p:nvPr/>
        </p:nvCxnSpPr>
        <p:spPr>
          <a:xfrm>
            <a:off x="6453821" y="4585968"/>
            <a:ext cx="5357179" cy="15326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/>
          <p:cNvSpPr/>
          <p:nvPr/>
        </p:nvSpPr>
        <p:spPr>
          <a:xfrm>
            <a:off x="9030810" y="4434844"/>
            <a:ext cx="1745141" cy="3580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국제출원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9030810" y="4071867"/>
            <a:ext cx="1745141" cy="3580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우선권주장</a:t>
            </a:r>
            <a:r>
              <a:rPr lang="en-US" altLang="ko-KR" sz="1400" dirty="0">
                <a:solidFill>
                  <a:schemeClr val="tx1"/>
                </a:solidFill>
              </a:rPr>
              <a:t>(PCT8(1))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6591300" y="4434844"/>
            <a:ext cx="1470184" cy="3580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국제출원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7" name="직선 연결선 76"/>
          <p:cNvCxnSpPr/>
          <p:nvPr/>
        </p:nvCxnSpPr>
        <p:spPr>
          <a:xfrm>
            <a:off x="9903380" y="4792860"/>
            <a:ext cx="0" cy="188682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모서리가 둥근 직사각형 77"/>
          <p:cNvSpPr/>
          <p:nvPr/>
        </p:nvSpPr>
        <p:spPr>
          <a:xfrm>
            <a:off x="9595960" y="5279135"/>
            <a:ext cx="614840" cy="358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한국</a:t>
            </a:r>
          </a:p>
        </p:txBody>
      </p:sp>
      <p:sp>
        <p:nvSpPr>
          <p:cNvPr id="79" name="모서리가 둥근 직사각형 78"/>
          <p:cNvSpPr/>
          <p:nvPr/>
        </p:nvSpPr>
        <p:spPr>
          <a:xfrm>
            <a:off x="9595960" y="5747763"/>
            <a:ext cx="614840" cy="358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일본</a:t>
            </a:r>
          </a:p>
        </p:txBody>
      </p:sp>
      <p:sp>
        <p:nvSpPr>
          <p:cNvPr id="80" name="모서리가 둥근 직사각형 79"/>
          <p:cNvSpPr/>
          <p:nvPr/>
        </p:nvSpPr>
        <p:spPr>
          <a:xfrm>
            <a:off x="9595960" y="6217663"/>
            <a:ext cx="614840" cy="358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미국</a:t>
            </a:r>
          </a:p>
        </p:txBody>
      </p:sp>
      <p:sp>
        <p:nvSpPr>
          <p:cNvPr id="81" name="직사각형 80"/>
          <p:cNvSpPr/>
          <p:nvPr/>
        </p:nvSpPr>
        <p:spPr>
          <a:xfrm>
            <a:off x="9903380" y="4861320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자동지정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10215642" y="5279135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rgbClr val="FF0000"/>
                </a:solidFill>
              </a:rPr>
              <a:t>PCT 8(2)(a)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10215642" y="5736271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PCT 8(2)(a)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10215642" y="6217663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PCT 8(2)(a)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2062240" y="4899835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PCT 8(2)(b)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1746207" y="5909942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PCT 8(2)(a)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1828801" y="5359815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PCT 8(2)(a)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95" name="직선 연결선 94"/>
          <p:cNvCxnSpPr/>
          <p:nvPr/>
        </p:nvCxnSpPr>
        <p:spPr>
          <a:xfrm>
            <a:off x="7274083" y="4792860"/>
            <a:ext cx="0" cy="188682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모서리가 둥근 직사각형 95"/>
          <p:cNvSpPr/>
          <p:nvPr/>
        </p:nvSpPr>
        <p:spPr>
          <a:xfrm>
            <a:off x="6966663" y="5279135"/>
            <a:ext cx="614840" cy="358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한국</a:t>
            </a:r>
          </a:p>
        </p:txBody>
      </p:sp>
      <p:sp>
        <p:nvSpPr>
          <p:cNvPr id="97" name="모서리가 둥근 직사각형 96"/>
          <p:cNvSpPr/>
          <p:nvPr/>
        </p:nvSpPr>
        <p:spPr>
          <a:xfrm>
            <a:off x="6966663" y="5747763"/>
            <a:ext cx="614840" cy="358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일본</a:t>
            </a:r>
          </a:p>
        </p:txBody>
      </p:sp>
      <p:sp>
        <p:nvSpPr>
          <p:cNvPr id="98" name="모서리가 둥근 직사각형 97"/>
          <p:cNvSpPr/>
          <p:nvPr/>
        </p:nvSpPr>
        <p:spPr>
          <a:xfrm>
            <a:off x="6966663" y="6217663"/>
            <a:ext cx="614840" cy="358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미국</a:t>
            </a:r>
          </a:p>
        </p:txBody>
      </p:sp>
      <p:cxnSp>
        <p:nvCxnSpPr>
          <p:cNvPr id="104" name="직선 화살표 연결선 103"/>
          <p:cNvCxnSpPr>
            <a:stCxn id="96" idx="3"/>
            <a:endCxn id="78" idx="1"/>
          </p:cNvCxnSpPr>
          <p:nvPr/>
        </p:nvCxnSpPr>
        <p:spPr>
          <a:xfrm>
            <a:off x="7581503" y="5458143"/>
            <a:ext cx="2014457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/>
          <p:cNvCxnSpPr>
            <a:stCxn id="97" idx="3"/>
            <a:endCxn id="78" idx="1"/>
          </p:cNvCxnSpPr>
          <p:nvPr/>
        </p:nvCxnSpPr>
        <p:spPr>
          <a:xfrm flipV="1">
            <a:off x="7581503" y="5458143"/>
            <a:ext cx="2014457" cy="46862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/>
          <p:cNvCxnSpPr>
            <a:stCxn id="98" idx="3"/>
            <a:endCxn id="78" idx="1"/>
          </p:cNvCxnSpPr>
          <p:nvPr/>
        </p:nvCxnSpPr>
        <p:spPr>
          <a:xfrm flipV="1">
            <a:off x="7581503" y="5458143"/>
            <a:ext cx="2014457" cy="93852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직사각형 110"/>
          <p:cNvSpPr/>
          <p:nvPr/>
        </p:nvSpPr>
        <p:spPr>
          <a:xfrm>
            <a:off x="7827641" y="5100127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PCT 8(2)(b)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7610434" y="5551366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PCT 8(2)(a)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7610434" y="5929030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PCT 8(2)(a)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579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06878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우선권주장의 </a:t>
            </a:r>
            <a:r>
              <a:rPr lang="ko-KR" altLang="en-US" dirty="0" err="1"/>
              <a:t>후출원이</a:t>
            </a:r>
            <a:r>
              <a:rPr lang="ko-KR" altLang="en-US" dirty="0"/>
              <a:t> 국제특허출원인 경우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" y="976902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202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특허출원 등에 의한 우선권 주장의 특례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/>
              <a:t>① </a:t>
            </a:r>
            <a:r>
              <a:rPr lang="ko-KR" altLang="en-US" sz="1400" dirty="0"/>
              <a:t>국제특허출원에 관하여는 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55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항 및 제</a:t>
            </a:r>
            <a:r>
              <a:rPr lang="en-US" altLang="ko-KR" sz="1400" dirty="0">
                <a:solidFill>
                  <a:srgbClr val="FF0000"/>
                </a:solidFill>
              </a:rPr>
              <a:t>56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항</a:t>
            </a:r>
            <a:r>
              <a:rPr lang="ko-KR" altLang="en-US" sz="1400" dirty="0"/>
              <a:t>을 적용하지 아니한다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② 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55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4</a:t>
            </a:r>
            <a:r>
              <a:rPr lang="ko-KR" altLang="en-US" sz="1400" dirty="0">
                <a:solidFill>
                  <a:srgbClr val="FF0000"/>
                </a:solidFill>
              </a:rPr>
              <a:t>항</a:t>
            </a:r>
            <a:r>
              <a:rPr lang="ko-KR" altLang="en-US" sz="1400" dirty="0"/>
              <a:t>을 적용할 때 우선권 주장을 수반하는 특허출원이 국제특허출원인 경우에는 같은 항 중 </a:t>
            </a:r>
            <a:r>
              <a:rPr lang="en-US" altLang="ko-KR" sz="1400" dirty="0"/>
              <a:t>"</a:t>
            </a:r>
            <a:r>
              <a:rPr lang="ko-KR" altLang="en-US" sz="1400" dirty="0">
                <a:solidFill>
                  <a:srgbClr val="FF0000"/>
                </a:solidFill>
              </a:rPr>
              <a:t>특허출원의 </a:t>
            </a:r>
            <a:r>
              <a:rPr lang="ko-KR" altLang="en-US" sz="14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400" dirty="0">
                <a:solidFill>
                  <a:srgbClr val="FF0000"/>
                </a:solidFill>
              </a:rPr>
              <a:t> 최초로 첨부된 명세서 또는 도면</a:t>
            </a:r>
            <a:r>
              <a:rPr lang="en-US" altLang="ko-KR" sz="1400" dirty="0"/>
              <a:t>"</a:t>
            </a:r>
            <a:r>
              <a:rPr lang="ko-KR" altLang="en-US" sz="1400" dirty="0"/>
              <a:t>은 </a:t>
            </a:r>
            <a:r>
              <a:rPr lang="en-US" altLang="ko-KR" sz="1400" dirty="0"/>
              <a:t>"</a:t>
            </a:r>
            <a:r>
              <a:rPr lang="ko-KR" altLang="en-US" sz="1400" dirty="0" err="1">
                <a:solidFill>
                  <a:schemeClr val="accent2"/>
                </a:solidFill>
              </a:rPr>
              <a:t>국제출원일까지</a:t>
            </a:r>
            <a:r>
              <a:rPr lang="ko-KR" altLang="en-US" sz="1400" dirty="0">
                <a:solidFill>
                  <a:schemeClr val="accent2"/>
                </a:solidFill>
              </a:rPr>
              <a:t> 제출된 발명의 설명</a:t>
            </a:r>
            <a:r>
              <a:rPr lang="en-US" altLang="ko-KR" sz="1400" dirty="0">
                <a:solidFill>
                  <a:schemeClr val="accent2"/>
                </a:solidFill>
              </a:rPr>
              <a:t>, </a:t>
            </a:r>
            <a:r>
              <a:rPr lang="ko-KR" altLang="en-US" sz="1400" dirty="0">
                <a:solidFill>
                  <a:schemeClr val="accent2"/>
                </a:solidFill>
              </a:rPr>
              <a:t>청구범위 또는 도면</a:t>
            </a:r>
            <a:r>
              <a:rPr lang="en-US" altLang="ko-KR" sz="1400" dirty="0"/>
              <a:t>"</a:t>
            </a:r>
            <a:r>
              <a:rPr lang="ko-KR" altLang="en-US" sz="1400" dirty="0"/>
              <a:t>으로</a:t>
            </a:r>
            <a:r>
              <a:rPr lang="en-US" altLang="ko-KR" sz="1400" dirty="0"/>
              <a:t>, "</a:t>
            </a:r>
            <a:r>
              <a:rPr lang="ko-KR" altLang="en-US" sz="1400" dirty="0" err="1">
                <a:solidFill>
                  <a:srgbClr val="FF0000"/>
                </a:solidFill>
              </a:rPr>
              <a:t>출원공개되거나</a:t>
            </a:r>
            <a:r>
              <a:rPr lang="en-US" altLang="ko-KR" sz="1400" dirty="0"/>
              <a:t>"</a:t>
            </a:r>
            <a:r>
              <a:rPr lang="ko-KR" altLang="en-US" sz="1400" dirty="0"/>
              <a:t>는 </a:t>
            </a:r>
            <a:r>
              <a:rPr lang="en-US" altLang="ko-KR" sz="1400" dirty="0"/>
              <a:t>"</a:t>
            </a:r>
            <a:r>
              <a:rPr lang="ko-KR" altLang="en-US" sz="1400" dirty="0">
                <a:solidFill>
                  <a:schemeClr val="accent2"/>
                </a:solidFill>
              </a:rPr>
              <a:t>출원공개 또는 「특허협력조약」 제</a:t>
            </a:r>
            <a:r>
              <a:rPr lang="en-US" altLang="ko-KR" sz="1400" dirty="0">
                <a:solidFill>
                  <a:schemeClr val="accent2"/>
                </a:solidFill>
              </a:rPr>
              <a:t>21</a:t>
            </a:r>
            <a:r>
              <a:rPr lang="ko-KR" altLang="en-US" sz="1400" dirty="0">
                <a:solidFill>
                  <a:schemeClr val="accent2"/>
                </a:solidFill>
              </a:rPr>
              <a:t>조에 따라 </a:t>
            </a:r>
            <a:r>
              <a:rPr lang="ko-KR" altLang="en-US" sz="1400" dirty="0" err="1">
                <a:solidFill>
                  <a:schemeClr val="accent2"/>
                </a:solidFill>
              </a:rPr>
              <a:t>국제공개되거나</a:t>
            </a:r>
            <a:r>
              <a:rPr lang="en-US" altLang="ko-KR" sz="1400" dirty="0"/>
              <a:t>"</a:t>
            </a:r>
            <a:r>
              <a:rPr lang="ko-KR" altLang="en-US" sz="1400" dirty="0"/>
              <a:t>로 본다</a:t>
            </a:r>
            <a:r>
              <a:rPr lang="en-US" altLang="ko-KR" sz="1400" dirty="0"/>
              <a:t>. </a:t>
            </a:r>
            <a:r>
              <a:rPr lang="ko-KR" altLang="en-US" sz="1400" dirty="0">
                <a:solidFill>
                  <a:srgbClr val="FF0000"/>
                </a:solidFill>
              </a:rPr>
              <a:t>다만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그 국제특허출원이 제</a:t>
            </a:r>
            <a:r>
              <a:rPr lang="en-US" altLang="ko-KR" sz="1400" dirty="0">
                <a:solidFill>
                  <a:srgbClr val="FF0000"/>
                </a:solidFill>
              </a:rPr>
              <a:t>201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4</a:t>
            </a:r>
            <a:r>
              <a:rPr lang="ko-KR" altLang="en-US" sz="1400" dirty="0">
                <a:solidFill>
                  <a:srgbClr val="FF0000"/>
                </a:solidFill>
              </a:rPr>
              <a:t>항에 따라 취하한 것으로 보는 경우에는 제</a:t>
            </a:r>
            <a:r>
              <a:rPr lang="en-US" altLang="ko-KR" sz="1400" dirty="0">
                <a:solidFill>
                  <a:srgbClr val="FF0000"/>
                </a:solidFill>
              </a:rPr>
              <a:t>55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4</a:t>
            </a:r>
            <a:r>
              <a:rPr lang="ko-KR" altLang="en-US" sz="1400" dirty="0">
                <a:solidFill>
                  <a:srgbClr val="FF0000"/>
                </a:solidFill>
              </a:rPr>
              <a:t>항을 적용하지 아니한다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193903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77874" y="2028041"/>
            <a:ext cx="12012525" cy="138499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55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특허출원 등을 기초로 한 우선권 주장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우선권을 주장하려는 자는 특허출원을 할 때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그 취지와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표시를 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④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주장을 수반하는 특허출원의 </a:t>
            </a:r>
            <a:r>
              <a:rPr lang="ko-KR" altLang="en-US" sz="14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400" dirty="0">
                <a:solidFill>
                  <a:srgbClr val="FF0000"/>
                </a:solidFill>
              </a:rPr>
              <a:t> 최초로 첨부된 명세서 또는 도면</a:t>
            </a:r>
            <a:r>
              <a:rPr lang="ko-KR" altLang="en-US" sz="1400" dirty="0">
                <a:solidFill>
                  <a:schemeClr val="tx2"/>
                </a:solidFill>
              </a:rPr>
              <a:t>에 기재된 발명 중 해당 우선권 주장의 기초가 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출원서에</a:t>
            </a:r>
            <a:r>
              <a:rPr lang="ko-KR" altLang="en-US" sz="1400" dirty="0">
                <a:solidFill>
                  <a:schemeClr val="tx2"/>
                </a:solidFill>
              </a:rPr>
              <a:t> 최초로 첨부된 명세서 또는 도면에 기재된 발명과 같은 발명은 그 특허출원이 </a:t>
            </a:r>
            <a:r>
              <a:rPr lang="ko-KR" altLang="en-US" sz="1400" dirty="0" err="1">
                <a:solidFill>
                  <a:srgbClr val="FF0000"/>
                </a:solidFill>
              </a:rPr>
              <a:t>출원공개</a:t>
            </a:r>
            <a:r>
              <a:rPr lang="ko-KR" altLang="en-US" sz="1400" dirty="0" err="1">
                <a:solidFill>
                  <a:schemeClr val="tx2"/>
                </a:solidFill>
              </a:rPr>
              <a:t>되거나</a:t>
            </a:r>
            <a:r>
              <a:rPr lang="ko-KR" altLang="en-US" sz="1400" dirty="0">
                <a:solidFill>
                  <a:schemeClr val="tx2"/>
                </a:solidFill>
              </a:rPr>
              <a:t> 특허가 </a:t>
            </a:r>
            <a:r>
              <a:rPr lang="ko-KR" altLang="en-US" sz="1400" dirty="0" err="1">
                <a:solidFill>
                  <a:schemeClr val="tx2"/>
                </a:solidFill>
              </a:rPr>
              <a:t>등록공고되었을</a:t>
            </a:r>
            <a:r>
              <a:rPr lang="ko-KR" altLang="en-US" sz="1400" dirty="0">
                <a:solidFill>
                  <a:schemeClr val="tx2"/>
                </a:solidFill>
              </a:rPr>
              <a:t> 때에 해당 우선권 주장의 기초가 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선출원에</a:t>
            </a:r>
            <a:r>
              <a:rPr lang="ko-KR" altLang="en-US" sz="1400" dirty="0">
                <a:solidFill>
                  <a:schemeClr val="tx2"/>
                </a:solidFill>
              </a:rPr>
              <a:t> 관하여 출원공개가 된 것으로 보고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본문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같은 조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 본문 또는 「</a:t>
            </a:r>
            <a:r>
              <a:rPr lang="ko-KR" altLang="en-US" sz="1400" dirty="0" err="1">
                <a:solidFill>
                  <a:schemeClr val="tx2"/>
                </a:solidFill>
              </a:rPr>
              <a:t>실용신안법</a:t>
            </a:r>
            <a:r>
              <a:rPr lang="ko-KR" altLang="en-US" sz="1400" dirty="0">
                <a:solidFill>
                  <a:schemeClr val="tx2"/>
                </a:solidFill>
              </a:rPr>
              <a:t>」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</a:t>
            </a:r>
            <a:r>
              <a:rPr lang="ko-KR" altLang="en-US" sz="1400" dirty="0" err="1">
                <a:solidFill>
                  <a:schemeClr val="tx2"/>
                </a:solidFill>
              </a:rPr>
              <a:t>본문ㆍ제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 본문을 적용한다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56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선출원의</a:t>
            </a:r>
            <a:r>
              <a:rPr lang="ko-KR" altLang="en-US" sz="1400" b="1" dirty="0">
                <a:solidFill>
                  <a:schemeClr val="accent1"/>
                </a:solidFill>
              </a:rPr>
              <a:t> 취하 등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55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주장을 수반하는 특허출원의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출원일부터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개월이 지난 후에는 그 우선권 주장을 취하할 수 없다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790139" y="3991710"/>
            <a:ext cx="815820" cy="52662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202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1</a:t>
            </a:r>
            <a:r>
              <a:rPr lang="ko-KR" altLang="en-US" sz="1400" dirty="0">
                <a:solidFill>
                  <a:schemeClr val="bg1"/>
                </a:solidFill>
              </a:rPr>
              <a:t>항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790139" y="5201943"/>
            <a:ext cx="815820" cy="52662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202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2</a:t>
            </a:r>
            <a:r>
              <a:rPr lang="ko-KR" altLang="en-US" sz="1400" dirty="0">
                <a:solidFill>
                  <a:schemeClr val="bg1"/>
                </a:solidFill>
              </a:rPr>
              <a:t>항</a:t>
            </a:r>
          </a:p>
        </p:txBody>
      </p:sp>
      <p:cxnSp>
        <p:nvCxnSpPr>
          <p:cNvPr id="10" name="꺾인 연결선 9"/>
          <p:cNvCxnSpPr>
            <a:stCxn id="53" idx="1"/>
            <a:endCxn id="56" idx="1"/>
          </p:cNvCxnSpPr>
          <p:nvPr/>
        </p:nvCxnSpPr>
        <p:spPr>
          <a:xfrm rot="10800000" flipV="1">
            <a:off x="790139" y="4255020"/>
            <a:ext cx="12700" cy="1210233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243870" y="3871836"/>
            <a:ext cx="9548437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제</a:t>
            </a:r>
            <a:r>
              <a:rPr lang="en-US" altLang="ko-KR" sz="1400" dirty="0"/>
              <a:t>55</a:t>
            </a:r>
            <a:r>
              <a:rPr lang="ko-KR" altLang="en-US" sz="1400" dirty="0"/>
              <a:t>조제</a:t>
            </a:r>
            <a:r>
              <a:rPr lang="en-US" altLang="ko-KR" sz="1400" dirty="0"/>
              <a:t>2</a:t>
            </a:r>
            <a:r>
              <a:rPr lang="ko-KR" altLang="en-US" sz="1400" dirty="0"/>
              <a:t>항</a:t>
            </a:r>
            <a:r>
              <a:rPr lang="en-US" altLang="ko-KR" sz="1400" dirty="0"/>
              <a:t>(</a:t>
            </a:r>
            <a:r>
              <a:rPr lang="ko-KR" altLang="en-US" sz="1400" dirty="0"/>
              <a:t>우선권주장절차</a:t>
            </a:r>
            <a:r>
              <a:rPr lang="en-US" altLang="ko-KR" sz="1400" dirty="0"/>
              <a:t>) </a:t>
            </a:r>
            <a:r>
              <a:rPr lang="ko-KR" altLang="en-US" sz="1400" dirty="0" err="1"/>
              <a:t>不적용</a:t>
            </a:r>
            <a:r>
              <a:rPr lang="ko-KR" altLang="en-US" sz="1400" dirty="0"/>
              <a:t> → </a:t>
            </a:r>
            <a:r>
              <a:rPr lang="en-US" altLang="ko-KR" sz="1400" dirty="0"/>
              <a:t>PCT 8(1)</a:t>
            </a:r>
            <a:endParaRPr lang="ko-KR" altLang="en-US" sz="1400" dirty="0"/>
          </a:p>
        </p:txBody>
      </p:sp>
      <p:sp>
        <p:nvSpPr>
          <p:cNvPr id="12" name="직사각형 11"/>
          <p:cNvSpPr/>
          <p:nvPr/>
        </p:nvSpPr>
        <p:spPr>
          <a:xfrm>
            <a:off x="2245743" y="4308764"/>
            <a:ext cx="9546566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제</a:t>
            </a:r>
            <a:r>
              <a:rPr lang="en-US" altLang="ko-KR" sz="1400" dirty="0"/>
              <a:t>56</a:t>
            </a:r>
            <a:r>
              <a:rPr lang="ko-KR" altLang="en-US" sz="1400" dirty="0"/>
              <a:t>조제</a:t>
            </a:r>
            <a:r>
              <a:rPr lang="en-US" altLang="ko-KR" sz="1400" dirty="0"/>
              <a:t>2</a:t>
            </a:r>
            <a:r>
              <a:rPr lang="ko-KR" altLang="en-US" sz="1400" dirty="0"/>
              <a:t>항</a:t>
            </a:r>
            <a:r>
              <a:rPr lang="en-US" altLang="ko-KR" sz="1400" dirty="0"/>
              <a:t>(</a:t>
            </a:r>
            <a:r>
              <a:rPr lang="ko-KR" altLang="en-US" sz="1400" dirty="0"/>
              <a:t>우선권주장취하</a:t>
            </a:r>
            <a:r>
              <a:rPr lang="en-US" altLang="ko-KR" sz="1400" dirty="0"/>
              <a:t>) </a:t>
            </a:r>
            <a:r>
              <a:rPr lang="ko-KR" altLang="en-US" sz="1400" dirty="0" err="1"/>
              <a:t>不적용</a:t>
            </a:r>
            <a:r>
              <a:rPr lang="ko-KR" altLang="en-US" sz="1400" dirty="0"/>
              <a:t> → 우선일로부터 </a:t>
            </a:r>
            <a:r>
              <a:rPr lang="en-US" altLang="ko-KR" sz="1400" dirty="0"/>
              <a:t>30</a:t>
            </a:r>
            <a:r>
              <a:rPr lang="ko-KR" altLang="en-US" sz="1400" dirty="0"/>
              <a:t>개월과 출원인이 출원심사청구 중 빠른 때</a:t>
            </a:r>
            <a:r>
              <a:rPr lang="en-US" altLang="ko-KR" sz="1400" dirty="0"/>
              <a:t>(</a:t>
            </a:r>
            <a:r>
              <a:rPr lang="ko-KR" altLang="en-US" sz="1400" dirty="0" err="1"/>
              <a:t>施規</a:t>
            </a:r>
            <a:r>
              <a:rPr lang="ko-KR" altLang="en-US" sz="1400" dirty="0"/>
              <a:t> </a:t>
            </a:r>
            <a:r>
              <a:rPr lang="en-US" altLang="ko-KR" sz="1400" dirty="0"/>
              <a:t>106</a:t>
            </a:r>
            <a:r>
              <a:rPr lang="ko-KR" altLang="en-US" sz="1400" dirty="0"/>
              <a:t>의</a:t>
            </a:r>
            <a:r>
              <a:rPr lang="en-US" altLang="ko-KR" sz="1400" dirty="0"/>
              <a:t>7)</a:t>
            </a:r>
            <a:endParaRPr lang="ko-KR" altLang="en-US" sz="1400" dirty="0"/>
          </a:p>
        </p:txBody>
      </p:sp>
      <p:sp>
        <p:nvSpPr>
          <p:cNvPr id="13" name="직사각형 12"/>
          <p:cNvSpPr/>
          <p:nvPr/>
        </p:nvSpPr>
        <p:spPr>
          <a:xfrm>
            <a:off x="3337525" y="4901412"/>
            <a:ext cx="8454781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 「</a:t>
            </a:r>
            <a:r>
              <a:rPr lang="ko-KR" altLang="en-US" sz="1400" dirty="0" err="1"/>
              <a:t>후출원의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최ㆍ명ㆍ도</a:t>
            </a:r>
            <a:r>
              <a:rPr lang="ko-KR" altLang="en-US" sz="1400" dirty="0"/>
              <a:t>」 → </a:t>
            </a:r>
            <a:r>
              <a:rPr lang="ko-KR" altLang="en-US" sz="1400" dirty="0" err="1"/>
              <a:t>후출원의</a:t>
            </a:r>
            <a:r>
              <a:rPr lang="ko-KR" altLang="en-US" sz="1400" dirty="0"/>
              <a:t> 발명의 설명</a:t>
            </a:r>
            <a:r>
              <a:rPr lang="en-US" altLang="ko-KR" sz="1400" dirty="0"/>
              <a:t>, </a:t>
            </a:r>
            <a:r>
              <a:rPr lang="ko-KR" altLang="en-US" sz="1400" dirty="0"/>
              <a:t>청구범위 또는 도면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335866" y="5310943"/>
            <a:ext cx="8456441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 「</a:t>
            </a:r>
            <a:r>
              <a:rPr lang="ko-KR" altLang="en-US" sz="1400" dirty="0" err="1"/>
              <a:t>후출원의</a:t>
            </a:r>
            <a:r>
              <a:rPr lang="ko-KR" altLang="en-US" sz="1400" dirty="0"/>
              <a:t> 출원공개」 → </a:t>
            </a:r>
            <a:r>
              <a:rPr lang="ko-KR" altLang="en-US" sz="1400" dirty="0" err="1"/>
              <a:t>후출원의</a:t>
            </a:r>
            <a:r>
              <a:rPr lang="ko-KR" altLang="en-US" sz="1400" dirty="0"/>
              <a:t> 출원공개 또는 「특허협력조약」에 따라 국제공개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3337526" y="5701909"/>
            <a:ext cx="8454782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다만</a:t>
            </a:r>
            <a:r>
              <a:rPr lang="en-US" altLang="ko-KR" sz="1400" dirty="0"/>
              <a:t>, </a:t>
            </a:r>
            <a:r>
              <a:rPr lang="ko-KR" altLang="en-US" sz="1400" dirty="0"/>
              <a:t>출원인이 국내서면제출기간에 발명의 설명 및 청구범위의 국어번역문을 제출하지 아니하여 그 국제특허출원이 취하된 것으로 보는 경우에는 제</a:t>
            </a:r>
            <a:r>
              <a:rPr lang="en-US" altLang="ko-KR" sz="1400" dirty="0"/>
              <a:t>55</a:t>
            </a:r>
            <a:r>
              <a:rPr lang="ko-KR" altLang="en-US" sz="1400" dirty="0"/>
              <a:t>조제</a:t>
            </a:r>
            <a:r>
              <a:rPr lang="en-US" altLang="ko-KR" sz="1400" dirty="0"/>
              <a:t>4</a:t>
            </a:r>
            <a:r>
              <a:rPr lang="ko-KR" altLang="en-US" sz="1400" dirty="0"/>
              <a:t>항은 </a:t>
            </a:r>
            <a:r>
              <a:rPr lang="ko-KR" altLang="en-US" sz="1400" dirty="0" err="1"/>
              <a:t>不적용</a:t>
            </a:r>
            <a:endParaRPr lang="ko-KR" altLang="en-US" sz="1400" dirty="0"/>
          </a:p>
        </p:txBody>
      </p:sp>
      <p:cxnSp>
        <p:nvCxnSpPr>
          <p:cNvPr id="17" name="꺾인 연결선 16"/>
          <p:cNvCxnSpPr>
            <a:stCxn id="53" idx="3"/>
            <a:endCxn id="11" idx="1"/>
          </p:cNvCxnSpPr>
          <p:nvPr/>
        </p:nvCxnSpPr>
        <p:spPr>
          <a:xfrm flipV="1">
            <a:off x="1605959" y="4025725"/>
            <a:ext cx="637911" cy="22929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53" idx="3"/>
            <a:endCxn id="12" idx="1"/>
          </p:cNvCxnSpPr>
          <p:nvPr/>
        </p:nvCxnSpPr>
        <p:spPr>
          <a:xfrm>
            <a:off x="1605959" y="4255021"/>
            <a:ext cx="639784" cy="20763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99" idx="3"/>
            <a:endCxn id="13" idx="1"/>
          </p:cNvCxnSpPr>
          <p:nvPr/>
        </p:nvCxnSpPr>
        <p:spPr>
          <a:xfrm flipV="1">
            <a:off x="2867489" y="5055301"/>
            <a:ext cx="470036" cy="40995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99" idx="3"/>
            <a:endCxn id="15" idx="1"/>
          </p:cNvCxnSpPr>
          <p:nvPr/>
        </p:nvCxnSpPr>
        <p:spPr>
          <a:xfrm>
            <a:off x="2867489" y="5465254"/>
            <a:ext cx="470037" cy="49826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8"/>
          <p:cNvCxnSpPr>
            <a:stCxn id="99" idx="3"/>
            <a:endCxn id="14" idx="1"/>
          </p:cNvCxnSpPr>
          <p:nvPr/>
        </p:nvCxnSpPr>
        <p:spPr>
          <a:xfrm flipV="1">
            <a:off x="2867489" y="5464832"/>
            <a:ext cx="468377" cy="42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/>
          <p:cNvSpPr/>
          <p:nvPr/>
        </p:nvSpPr>
        <p:spPr>
          <a:xfrm>
            <a:off x="2051669" y="5201943"/>
            <a:ext cx="815820" cy="5266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55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4</a:t>
            </a:r>
            <a:r>
              <a:rPr lang="ko-KR" altLang="en-US" sz="1400" dirty="0">
                <a:solidFill>
                  <a:schemeClr val="bg1"/>
                </a:solidFill>
              </a:rPr>
              <a:t>항 中</a:t>
            </a:r>
          </a:p>
        </p:txBody>
      </p:sp>
      <p:cxnSp>
        <p:nvCxnSpPr>
          <p:cNvPr id="68" name="직선 연결선 67"/>
          <p:cNvCxnSpPr>
            <a:stCxn id="56" idx="3"/>
            <a:endCxn id="99" idx="1"/>
          </p:cNvCxnSpPr>
          <p:nvPr/>
        </p:nvCxnSpPr>
        <p:spPr>
          <a:xfrm>
            <a:off x="1605959" y="5465254"/>
            <a:ext cx="44571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580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74956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우선권주장의 </a:t>
            </a:r>
            <a:r>
              <a:rPr lang="ko-KR" altLang="en-US" dirty="0" err="1"/>
              <a:t>선출원이</a:t>
            </a:r>
            <a:r>
              <a:rPr lang="ko-KR" altLang="en-US" dirty="0"/>
              <a:t> 국제특허출원인 경우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" y="917633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200" b="1" dirty="0">
                <a:solidFill>
                  <a:schemeClr val="accent1"/>
                </a:solidFill>
              </a:rPr>
              <a:t>제</a:t>
            </a:r>
            <a:r>
              <a:rPr lang="en-US" altLang="ko-KR" sz="1200" b="1" dirty="0">
                <a:solidFill>
                  <a:schemeClr val="accent1"/>
                </a:solidFill>
              </a:rPr>
              <a:t>202</a:t>
            </a:r>
            <a:r>
              <a:rPr lang="ko-KR" altLang="en-US" sz="1200" b="1" dirty="0">
                <a:solidFill>
                  <a:schemeClr val="accent1"/>
                </a:solidFill>
              </a:rPr>
              <a:t>조</a:t>
            </a:r>
            <a:r>
              <a:rPr lang="en-US" altLang="ko-KR" sz="1200" b="1" dirty="0">
                <a:solidFill>
                  <a:schemeClr val="accent1"/>
                </a:solidFill>
              </a:rPr>
              <a:t>(</a:t>
            </a:r>
            <a:r>
              <a:rPr lang="ko-KR" altLang="en-US" sz="1200" b="1" dirty="0">
                <a:solidFill>
                  <a:schemeClr val="accent1"/>
                </a:solidFill>
              </a:rPr>
              <a:t>특허출원 등에 의한 우선권 주장의 특례</a:t>
            </a:r>
            <a:r>
              <a:rPr lang="en-US" altLang="ko-KR" sz="1200" b="1" dirty="0">
                <a:solidFill>
                  <a:schemeClr val="accent1"/>
                </a:solidFill>
              </a:rPr>
              <a:t>) </a:t>
            </a:r>
            <a:r>
              <a:rPr lang="ko-KR" altLang="en-US" sz="1200" dirty="0"/>
              <a:t>③ 제</a:t>
            </a:r>
            <a:r>
              <a:rPr lang="en-US" altLang="ko-KR" sz="1200" dirty="0"/>
              <a:t>55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/>
              <a:t>항</a:t>
            </a:r>
            <a:r>
              <a:rPr lang="en-US" altLang="ko-KR" sz="1200" dirty="0"/>
              <a:t>, </a:t>
            </a:r>
            <a:r>
              <a:rPr lang="ko-KR" altLang="en-US" sz="1200" dirty="0"/>
              <a:t>같은 조 제</a:t>
            </a:r>
            <a:r>
              <a:rPr lang="en-US" altLang="ko-KR" sz="1200" dirty="0"/>
              <a:t>3</a:t>
            </a:r>
            <a:r>
              <a:rPr lang="ko-KR" altLang="en-US" sz="1200" dirty="0"/>
              <a:t>항부터 제</a:t>
            </a:r>
            <a:r>
              <a:rPr lang="en-US" altLang="ko-KR" sz="1200" dirty="0"/>
              <a:t>5</a:t>
            </a:r>
            <a:r>
              <a:rPr lang="ko-KR" altLang="en-US" sz="1200" dirty="0"/>
              <a:t>항까지 및 제</a:t>
            </a:r>
            <a:r>
              <a:rPr lang="en-US" altLang="ko-KR" sz="1200" dirty="0"/>
              <a:t>56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/>
              <a:t>항을 적용할 때 </a:t>
            </a:r>
            <a:r>
              <a:rPr lang="ko-KR" altLang="en-US" sz="1200" dirty="0" err="1"/>
              <a:t>선출원이</a:t>
            </a:r>
            <a:r>
              <a:rPr lang="ko-KR" altLang="en-US" sz="1200" dirty="0"/>
              <a:t> 국제특허출원 또는 「</a:t>
            </a:r>
            <a:r>
              <a:rPr lang="ko-KR" altLang="en-US" sz="1200" dirty="0" err="1"/>
              <a:t>실용신안법</a:t>
            </a:r>
            <a:r>
              <a:rPr lang="ko-KR" altLang="en-US" sz="1200" dirty="0"/>
              <a:t>」 제</a:t>
            </a:r>
            <a:r>
              <a:rPr lang="en-US" altLang="ko-KR" sz="1200" dirty="0"/>
              <a:t>34</a:t>
            </a:r>
            <a:r>
              <a:rPr lang="ko-KR" altLang="en-US" sz="1200" dirty="0"/>
              <a:t>조제</a:t>
            </a:r>
            <a:r>
              <a:rPr lang="en-US" altLang="ko-KR" sz="1200" dirty="0"/>
              <a:t>2</a:t>
            </a:r>
            <a:r>
              <a:rPr lang="ko-KR" altLang="en-US" sz="1200" dirty="0"/>
              <a:t>항에 따른 국제실용신안등록출원인 경우에는 다음 각 호에 따른다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1. </a:t>
            </a:r>
            <a:r>
              <a:rPr lang="ko-KR" altLang="en-US" sz="1200" dirty="0">
                <a:solidFill>
                  <a:srgbClr val="FF0000"/>
                </a:solidFill>
              </a:rPr>
              <a:t>제</a:t>
            </a:r>
            <a:r>
              <a:rPr lang="en-US" altLang="ko-KR" sz="1200" dirty="0">
                <a:solidFill>
                  <a:srgbClr val="FF0000"/>
                </a:solidFill>
              </a:rPr>
              <a:t>55</a:t>
            </a:r>
            <a:r>
              <a:rPr lang="ko-KR" altLang="en-US" sz="1200" dirty="0">
                <a:solidFill>
                  <a:srgbClr val="FF0000"/>
                </a:solidFill>
              </a:rPr>
              <a:t>조제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항 </a:t>
            </a:r>
            <a:r>
              <a:rPr lang="ko-KR" altLang="en-US" sz="1200" dirty="0"/>
              <a:t>각 호 외의 부분 본문</a:t>
            </a:r>
            <a:r>
              <a:rPr lang="en-US" altLang="ko-KR" sz="1200" dirty="0"/>
              <a:t>, </a:t>
            </a:r>
            <a:r>
              <a:rPr lang="ko-KR" altLang="en-US" sz="1200" dirty="0"/>
              <a:t>같은 조 </a:t>
            </a:r>
            <a:r>
              <a:rPr lang="ko-KR" altLang="en-US" sz="1200" dirty="0">
                <a:solidFill>
                  <a:srgbClr val="FF0000"/>
                </a:solidFill>
              </a:rPr>
              <a:t>제</a:t>
            </a:r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r>
              <a:rPr lang="ko-KR" altLang="en-US" sz="1200" dirty="0">
                <a:solidFill>
                  <a:srgbClr val="FF0000"/>
                </a:solidFill>
              </a:rPr>
              <a:t>항 및 제</a:t>
            </a:r>
            <a:r>
              <a:rPr lang="en-US" altLang="ko-KR" sz="1200" dirty="0">
                <a:solidFill>
                  <a:srgbClr val="FF0000"/>
                </a:solidFill>
              </a:rPr>
              <a:t>5</a:t>
            </a:r>
            <a:r>
              <a:rPr lang="ko-KR" altLang="en-US" sz="1200" dirty="0">
                <a:solidFill>
                  <a:srgbClr val="FF0000"/>
                </a:solidFill>
              </a:rPr>
              <a:t>항 </a:t>
            </a:r>
            <a:r>
              <a:rPr lang="ko-KR" altLang="en-US" sz="1200" dirty="0"/>
              <a:t>각 호 외의 부분 중 </a:t>
            </a:r>
            <a:r>
              <a:rPr lang="en-US" altLang="ko-KR" sz="1200" dirty="0"/>
              <a:t>"</a:t>
            </a:r>
            <a:r>
              <a:rPr lang="ko-KR" altLang="en-US" sz="12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200" dirty="0">
                <a:solidFill>
                  <a:srgbClr val="FF0000"/>
                </a:solidFill>
              </a:rPr>
              <a:t> 최초로 첨부된 명세서 또는 도면</a:t>
            </a:r>
            <a:r>
              <a:rPr lang="en-US" altLang="ko-KR" sz="1200" dirty="0"/>
              <a:t>"</a:t>
            </a:r>
            <a:r>
              <a:rPr lang="ko-KR" altLang="en-US" sz="1200" dirty="0"/>
              <a:t>은 다음 각 목의 구분에 따른 것으로 본다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pPr fontAlgn="base"/>
            <a:r>
              <a:rPr lang="ko-KR" altLang="en-US" sz="1200" dirty="0"/>
              <a:t>가</a:t>
            </a:r>
            <a:r>
              <a:rPr lang="en-US" altLang="ko-KR" sz="1200" dirty="0"/>
              <a:t>. </a:t>
            </a:r>
            <a:r>
              <a:rPr lang="ko-KR" altLang="en-US" sz="1200" dirty="0" err="1"/>
              <a:t>선출원이</a:t>
            </a:r>
            <a:r>
              <a:rPr lang="ko-KR" altLang="en-US" sz="1200" dirty="0"/>
              <a:t> 국제특허출원인 경우</a:t>
            </a:r>
            <a:r>
              <a:rPr lang="en-US" altLang="ko-KR" sz="1200" dirty="0"/>
              <a:t>: "</a:t>
            </a:r>
            <a:r>
              <a:rPr lang="ko-KR" altLang="en-US" sz="1200" dirty="0" err="1">
                <a:solidFill>
                  <a:schemeClr val="accent4"/>
                </a:solidFill>
              </a:rPr>
              <a:t>국제출원일까지</a:t>
            </a:r>
            <a:r>
              <a:rPr lang="ko-KR" altLang="en-US" sz="1200" dirty="0">
                <a:solidFill>
                  <a:schemeClr val="accent4"/>
                </a:solidFill>
              </a:rPr>
              <a:t> 제출된 국제출원의 발명의 설명</a:t>
            </a:r>
            <a:r>
              <a:rPr lang="en-US" altLang="ko-KR" sz="1200" dirty="0">
                <a:solidFill>
                  <a:schemeClr val="accent4"/>
                </a:solidFill>
              </a:rPr>
              <a:t>, </a:t>
            </a:r>
            <a:r>
              <a:rPr lang="ko-KR" altLang="en-US" sz="1200" dirty="0">
                <a:solidFill>
                  <a:schemeClr val="accent4"/>
                </a:solidFill>
              </a:rPr>
              <a:t>청구범위 또는 도면</a:t>
            </a:r>
            <a:r>
              <a:rPr lang="en-US" altLang="ko-KR" sz="1200" dirty="0"/>
              <a:t>"</a:t>
            </a:r>
            <a:endParaRPr lang="ko-KR" altLang="en-US" sz="1200" dirty="0"/>
          </a:p>
          <a:p>
            <a:pPr fontAlgn="base"/>
            <a:r>
              <a:rPr lang="ko-KR" altLang="en-US" sz="1200" dirty="0"/>
              <a:t>나</a:t>
            </a:r>
            <a:r>
              <a:rPr lang="en-US" altLang="ko-KR" sz="1200" dirty="0"/>
              <a:t>. </a:t>
            </a:r>
            <a:r>
              <a:rPr lang="ko-KR" altLang="en-US" sz="1200" dirty="0" err="1"/>
              <a:t>선출원이</a:t>
            </a:r>
            <a:r>
              <a:rPr lang="ko-KR" altLang="en-US" sz="1200" dirty="0"/>
              <a:t> 「</a:t>
            </a:r>
            <a:r>
              <a:rPr lang="ko-KR" altLang="en-US" sz="1200" dirty="0" err="1"/>
              <a:t>실용신안법</a:t>
            </a:r>
            <a:r>
              <a:rPr lang="ko-KR" altLang="en-US" sz="1200" dirty="0"/>
              <a:t>」 제</a:t>
            </a:r>
            <a:r>
              <a:rPr lang="en-US" altLang="ko-KR" sz="1200" dirty="0"/>
              <a:t>34</a:t>
            </a:r>
            <a:r>
              <a:rPr lang="ko-KR" altLang="en-US" sz="1200" dirty="0"/>
              <a:t>조제</a:t>
            </a:r>
            <a:r>
              <a:rPr lang="en-US" altLang="ko-KR" sz="1200" dirty="0"/>
              <a:t>2</a:t>
            </a:r>
            <a:r>
              <a:rPr lang="ko-KR" altLang="en-US" sz="1200" dirty="0"/>
              <a:t>항에 따른 국제실용신안등록출원인 경우</a:t>
            </a:r>
            <a:r>
              <a:rPr lang="en-US" altLang="ko-KR" sz="1200" dirty="0"/>
              <a:t>: "</a:t>
            </a:r>
            <a:r>
              <a:rPr lang="ko-KR" altLang="en-US" sz="1200" dirty="0" err="1">
                <a:solidFill>
                  <a:schemeClr val="accent4"/>
                </a:solidFill>
              </a:rPr>
              <a:t>국제출원일까지</a:t>
            </a:r>
            <a:r>
              <a:rPr lang="ko-KR" altLang="en-US" sz="1200" dirty="0">
                <a:solidFill>
                  <a:schemeClr val="accent4"/>
                </a:solidFill>
              </a:rPr>
              <a:t> 제출된 국제출원의 고안의 설명</a:t>
            </a:r>
            <a:r>
              <a:rPr lang="en-US" altLang="ko-KR" sz="1200" dirty="0">
                <a:solidFill>
                  <a:schemeClr val="accent4"/>
                </a:solidFill>
              </a:rPr>
              <a:t>, </a:t>
            </a:r>
            <a:r>
              <a:rPr lang="ko-KR" altLang="en-US" sz="1200" dirty="0">
                <a:solidFill>
                  <a:schemeClr val="accent4"/>
                </a:solidFill>
              </a:rPr>
              <a:t>청구범위 또는 도면</a:t>
            </a:r>
            <a:r>
              <a:rPr lang="en-US" altLang="ko-KR" sz="1200" dirty="0"/>
              <a:t>"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2. </a:t>
            </a:r>
            <a:r>
              <a:rPr lang="ko-KR" altLang="en-US" sz="1200" dirty="0">
                <a:solidFill>
                  <a:srgbClr val="FF0000"/>
                </a:solidFill>
              </a:rPr>
              <a:t>제</a:t>
            </a:r>
            <a:r>
              <a:rPr lang="en-US" altLang="ko-KR" sz="1200" dirty="0">
                <a:solidFill>
                  <a:srgbClr val="FF0000"/>
                </a:solidFill>
              </a:rPr>
              <a:t>55</a:t>
            </a:r>
            <a:r>
              <a:rPr lang="ko-KR" altLang="en-US" sz="1200" dirty="0">
                <a:solidFill>
                  <a:srgbClr val="FF0000"/>
                </a:solidFill>
              </a:rPr>
              <a:t>조제</a:t>
            </a:r>
            <a:r>
              <a:rPr lang="en-US" altLang="ko-KR" sz="1200" dirty="0">
                <a:solidFill>
                  <a:srgbClr val="FF0000"/>
                </a:solidFill>
              </a:rPr>
              <a:t>4</a:t>
            </a:r>
            <a:r>
              <a:rPr lang="ko-KR" altLang="en-US" sz="1200" dirty="0">
                <a:solidFill>
                  <a:srgbClr val="FF0000"/>
                </a:solidFill>
              </a:rPr>
              <a:t>항</a:t>
            </a:r>
            <a:r>
              <a:rPr lang="ko-KR" altLang="en-US" sz="1200" dirty="0"/>
              <a:t> 중 </a:t>
            </a:r>
            <a:r>
              <a:rPr lang="en-US" altLang="ko-KR" sz="1200" dirty="0"/>
              <a:t>"</a:t>
            </a:r>
            <a:r>
              <a:rPr lang="ko-KR" altLang="en-US" sz="1200" dirty="0" err="1">
                <a:solidFill>
                  <a:srgbClr val="FF0000"/>
                </a:solidFill>
              </a:rPr>
              <a:t>선출원의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200" dirty="0">
                <a:solidFill>
                  <a:srgbClr val="FF0000"/>
                </a:solidFill>
              </a:rPr>
              <a:t> 최초로 첨부된 명세서 또는 도면</a:t>
            </a:r>
            <a:r>
              <a:rPr lang="en-US" altLang="ko-KR" sz="1200" dirty="0"/>
              <a:t>"</a:t>
            </a:r>
            <a:r>
              <a:rPr lang="ko-KR" altLang="en-US" sz="1200" dirty="0"/>
              <a:t>은 다음 각 목의 구분에 따른 것으로 보고</a:t>
            </a:r>
            <a:r>
              <a:rPr lang="en-US" altLang="ko-KR" sz="1200" dirty="0"/>
              <a:t>, "</a:t>
            </a:r>
            <a:r>
              <a:rPr lang="ko-KR" altLang="en-US" sz="1200" dirty="0" err="1">
                <a:solidFill>
                  <a:srgbClr val="FF0000"/>
                </a:solidFill>
              </a:rPr>
              <a:t>선출원에</a:t>
            </a:r>
            <a:r>
              <a:rPr lang="ko-KR" altLang="en-US" sz="1200" dirty="0">
                <a:solidFill>
                  <a:srgbClr val="FF0000"/>
                </a:solidFill>
              </a:rPr>
              <a:t> 관하여 출원공개</a:t>
            </a:r>
            <a:r>
              <a:rPr lang="en-US" altLang="ko-KR" sz="1200" dirty="0"/>
              <a:t>"</a:t>
            </a:r>
            <a:r>
              <a:rPr lang="ko-KR" altLang="en-US" sz="1200" dirty="0"/>
              <a:t>는 </a:t>
            </a:r>
            <a:r>
              <a:rPr lang="en-US" altLang="ko-KR" sz="1200" dirty="0"/>
              <a:t>"</a:t>
            </a:r>
            <a:r>
              <a:rPr lang="ko-KR" altLang="en-US" sz="1200" dirty="0" err="1">
                <a:solidFill>
                  <a:schemeClr val="accent4"/>
                </a:solidFill>
              </a:rPr>
              <a:t>선출원에</a:t>
            </a:r>
            <a:r>
              <a:rPr lang="ko-KR" altLang="en-US" sz="1200" dirty="0">
                <a:solidFill>
                  <a:schemeClr val="accent4"/>
                </a:solidFill>
              </a:rPr>
              <a:t> 관하여 출원공개 또는 「특허협력조약」 제</a:t>
            </a:r>
            <a:r>
              <a:rPr lang="en-US" altLang="ko-KR" sz="1200" dirty="0">
                <a:solidFill>
                  <a:schemeClr val="accent4"/>
                </a:solidFill>
              </a:rPr>
              <a:t>21</a:t>
            </a:r>
            <a:r>
              <a:rPr lang="ko-KR" altLang="en-US" sz="1200" dirty="0">
                <a:solidFill>
                  <a:schemeClr val="accent4"/>
                </a:solidFill>
              </a:rPr>
              <a:t>조에 따른 국제공개</a:t>
            </a:r>
            <a:r>
              <a:rPr lang="en-US" altLang="ko-KR" sz="1200" dirty="0"/>
              <a:t>"</a:t>
            </a:r>
            <a:r>
              <a:rPr lang="ko-KR" altLang="en-US" sz="1200" dirty="0"/>
              <a:t>로 본다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pPr fontAlgn="base"/>
            <a:r>
              <a:rPr lang="ko-KR" altLang="en-US" sz="1200" dirty="0"/>
              <a:t>가</a:t>
            </a:r>
            <a:r>
              <a:rPr lang="en-US" altLang="ko-KR" sz="1200" dirty="0"/>
              <a:t>. </a:t>
            </a:r>
            <a:r>
              <a:rPr lang="ko-KR" altLang="en-US" sz="1200" dirty="0" err="1"/>
              <a:t>선출원이</a:t>
            </a:r>
            <a:r>
              <a:rPr lang="ko-KR" altLang="en-US" sz="1200" dirty="0"/>
              <a:t> 국제특허출원인 경우</a:t>
            </a:r>
            <a:r>
              <a:rPr lang="en-US" altLang="ko-KR" sz="1200" dirty="0"/>
              <a:t>: "</a:t>
            </a:r>
            <a:r>
              <a:rPr lang="ko-KR" altLang="en-US" sz="1200" dirty="0" err="1">
                <a:solidFill>
                  <a:schemeClr val="accent4"/>
                </a:solidFill>
              </a:rPr>
              <a:t>선출원의</a:t>
            </a:r>
            <a:r>
              <a:rPr lang="ko-KR" altLang="en-US" sz="1200" dirty="0">
                <a:solidFill>
                  <a:schemeClr val="accent4"/>
                </a:solidFill>
              </a:rPr>
              <a:t> </a:t>
            </a:r>
            <a:r>
              <a:rPr lang="ko-KR" altLang="en-US" sz="1200" dirty="0" err="1">
                <a:solidFill>
                  <a:schemeClr val="accent4"/>
                </a:solidFill>
              </a:rPr>
              <a:t>국제출원일까지</a:t>
            </a:r>
            <a:r>
              <a:rPr lang="ko-KR" altLang="en-US" sz="1200" dirty="0">
                <a:solidFill>
                  <a:schemeClr val="accent4"/>
                </a:solidFill>
              </a:rPr>
              <a:t> 제출된 국제출원의 발명의 설명</a:t>
            </a:r>
            <a:r>
              <a:rPr lang="en-US" altLang="ko-KR" sz="1200" dirty="0">
                <a:solidFill>
                  <a:schemeClr val="accent4"/>
                </a:solidFill>
              </a:rPr>
              <a:t>, </a:t>
            </a:r>
            <a:r>
              <a:rPr lang="ko-KR" altLang="en-US" sz="1200" dirty="0">
                <a:solidFill>
                  <a:schemeClr val="accent4"/>
                </a:solidFill>
              </a:rPr>
              <a:t>청구범위 또는 도면</a:t>
            </a:r>
            <a:r>
              <a:rPr lang="en-US" altLang="ko-KR" sz="1200" dirty="0"/>
              <a:t>"</a:t>
            </a:r>
            <a:endParaRPr lang="ko-KR" altLang="en-US" sz="1200" dirty="0"/>
          </a:p>
          <a:p>
            <a:pPr fontAlgn="base"/>
            <a:r>
              <a:rPr lang="ko-KR" altLang="en-US" sz="1200" dirty="0"/>
              <a:t>나</a:t>
            </a:r>
            <a:r>
              <a:rPr lang="en-US" altLang="ko-KR" sz="1200" dirty="0"/>
              <a:t>. </a:t>
            </a:r>
            <a:r>
              <a:rPr lang="ko-KR" altLang="en-US" sz="1200" dirty="0" err="1"/>
              <a:t>선출원이</a:t>
            </a:r>
            <a:r>
              <a:rPr lang="ko-KR" altLang="en-US" sz="1200" dirty="0"/>
              <a:t> 「</a:t>
            </a:r>
            <a:r>
              <a:rPr lang="ko-KR" altLang="en-US" sz="1200" dirty="0" err="1"/>
              <a:t>실용신안법</a:t>
            </a:r>
            <a:r>
              <a:rPr lang="ko-KR" altLang="en-US" sz="1200" dirty="0"/>
              <a:t>」 제</a:t>
            </a:r>
            <a:r>
              <a:rPr lang="en-US" altLang="ko-KR" sz="1200" dirty="0"/>
              <a:t>34</a:t>
            </a:r>
            <a:r>
              <a:rPr lang="ko-KR" altLang="en-US" sz="1200" dirty="0"/>
              <a:t>조제</a:t>
            </a:r>
            <a:r>
              <a:rPr lang="en-US" altLang="ko-KR" sz="1200" dirty="0"/>
              <a:t>2</a:t>
            </a:r>
            <a:r>
              <a:rPr lang="ko-KR" altLang="en-US" sz="1200" dirty="0"/>
              <a:t>항에 따른 국제실용신안등록출원인 경우</a:t>
            </a:r>
            <a:r>
              <a:rPr lang="en-US" altLang="ko-KR" sz="1200" dirty="0"/>
              <a:t>: "</a:t>
            </a:r>
            <a:r>
              <a:rPr lang="ko-KR" altLang="en-US" sz="1200" dirty="0" err="1">
                <a:solidFill>
                  <a:schemeClr val="accent4"/>
                </a:solidFill>
              </a:rPr>
              <a:t>선출원의</a:t>
            </a:r>
            <a:r>
              <a:rPr lang="ko-KR" altLang="en-US" sz="1200" dirty="0">
                <a:solidFill>
                  <a:schemeClr val="accent4"/>
                </a:solidFill>
              </a:rPr>
              <a:t> </a:t>
            </a:r>
            <a:r>
              <a:rPr lang="ko-KR" altLang="en-US" sz="1200" dirty="0" err="1">
                <a:solidFill>
                  <a:schemeClr val="accent4"/>
                </a:solidFill>
              </a:rPr>
              <a:t>국제출원일까지</a:t>
            </a:r>
            <a:r>
              <a:rPr lang="ko-KR" altLang="en-US" sz="1200" dirty="0">
                <a:solidFill>
                  <a:schemeClr val="accent4"/>
                </a:solidFill>
              </a:rPr>
              <a:t> 제출된 국제출원의 고안의 설명</a:t>
            </a:r>
            <a:r>
              <a:rPr lang="en-US" altLang="ko-KR" sz="1200" dirty="0">
                <a:solidFill>
                  <a:schemeClr val="accent4"/>
                </a:solidFill>
              </a:rPr>
              <a:t>, </a:t>
            </a:r>
            <a:r>
              <a:rPr lang="ko-KR" altLang="en-US" sz="1200" dirty="0">
                <a:solidFill>
                  <a:schemeClr val="accent4"/>
                </a:solidFill>
              </a:rPr>
              <a:t>청구범위 또는 도면</a:t>
            </a:r>
            <a:r>
              <a:rPr lang="en-US" altLang="ko-KR" sz="1200" dirty="0"/>
              <a:t>"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3. </a:t>
            </a:r>
            <a:r>
              <a:rPr lang="ko-KR" altLang="en-US" sz="1200" dirty="0">
                <a:solidFill>
                  <a:srgbClr val="FF0000"/>
                </a:solidFill>
              </a:rPr>
              <a:t>제</a:t>
            </a:r>
            <a:r>
              <a:rPr lang="en-US" altLang="ko-KR" sz="1200" dirty="0">
                <a:solidFill>
                  <a:srgbClr val="FF0000"/>
                </a:solidFill>
              </a:rPr>
              <a:t>56</a:t>
            </a:r>
            <a:r>
              <a:rPr lang="ko-KR" altLang="en-US" sz="1200" dirty="0">
                <a:solidFill>
                  <a:srgbClr val="FF0000"/>
                </a:solidFill>
              </a:rPr>
              <a:t>조제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항 </a:t>
            </a:r>
            <a:r>
              <a:rPr lang="ko-KR" altLang="en-US" sz="1200" dirty="0"/>
              <a:t>각 호 외의 부분 본문 중 </a:t>
            </a:r>
            <a:r>
              <a:rPr lang="en-US" altLang="ko-KR" sz="1200" dirty="0"/>
              <a:t>"</a:t>
            </a:r>
            <a:r>
              <a:rPr lang="ko-KR" altLang="en-US" sz="1200" dirty="0">
                <a:solidFill>
                  <a:srgbClr val="FF0000"/>
                </a:solidFill>
              </a:rPr>
              <a:t>그 </a:t>
            </a:r>
            <a:r>
              <a:rPr lang="ko-KR" altLang="en-US" sz="1200" dirty="0" err="1">
                <a:solidFill>
                  <a:srgbClr val="FF0000"/>
                </a:solidFill>
              </a:rPr>
              <a:t>출원일부터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년 </a:t>
            </a:r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r>
              <a:rPr lang="ko-KR" altLang="en-US" sz="1200" dirty="0">
                <a:solidFill>
                  <a:srgbClr val="FF0000"/>
                </a:solidFill>
              </a:rPr>
              <a:t>개월이 지난 때</a:t>
            </a:r>
            <a:r>
              <a:rPr lang="en-US" altLang="ko-KR" sz="1200" dirty="0"/>
              <a:t>"</a:t>
            </a:r>
            <a:r>
              <a:rPr lang="ko-KR" altLang="en-US" sz="1200" dirty="0"/>
              <a:t>는 </a:t>
            </a:r>
            <a:r>
              <a:rPr lang="en-US" altLang="ko-KR" sz="1200" dirty="0"/>
              <a:t>"</a:t>
            </a:r>
            <a:r>
              <a:rPr lang="ko-KR" altLang="en-US" sz="1200" dirty="0" err="1">
                <a:solidFill>
                  <a:schemeClr val="accent4"/>
                </a:solidFill>
              </a:rPr>
              <a:t>국제출원일부터</a:t>
            </a:r>
            <a:r>
              <a:rPr lang="ko-KR" altLang="en-US" sz="1200" dirty="0">
                <a:solidFill>
                  <a:schemeClr val="accent4"/>
                </a:solidFill>
              </a:rPr>
              <a:t> </a:t>
            </a:r>
            <a:r>
              <a:rPr lang="en-US" altLang="ko-KR" sz="1200" dirty="0">
                <a:solidFill>
                  <a:schemeClr val="accent4"/>
                </a:solidFill>
              </a:rPr>
              <a:t>1</a:t>
            </a:r>
            <a:r>
              <a:rPr lang="ko-KR" altLang="en-US" sz="1200" dirty="0">
                <a:solidFill>
                  <a:schemeClr val="accent4"/>
                </a:solidFill>
              </a:rPr>
              <a:t>년 </a:t>
            </a:r>
            <a:r>
              <a:rPr lang="en-US" altLang="ko-KR" sz="1200" dirty="0">
                <a:solidFill>
                  <a:schemeClr val="accent4"/>
                </a:solidFill>
              </a:rPr>
              <a:t>3</a:t>
            </a:r>
            <a:r>
              <a:rPr lang="ko-KR" altLang="en-US" sz="1200" dirty="0">
                <a:solidFill>
                  <a:schemeClr val="accent4"/>
                </a:solidFill>
              </a:rPr>
              <a:t>개월이 지난 때 또는 제</a:t>
            </a:r>
            <a:r>
              <a:rPr lang="en-US" altLang="ko-KR" sz="1200" dirty="0">
                <a:solidFill>
                  <a:schemeClr val="accent4"/>
                </a:solidFill>
              </a:rPr>
              <a:t>201</a:t>
            </a:r>
            <a:r>
              <a:rPr lang="ko-KR" altLang="en-US" sz="1200" dirty="0">
                <a:solidFill>
                  <a:schemeClr val="accent4"/>
                </a:solidFill>
              </a:rPr>
              <a:t>조제</a:t>
            </a:r>
            <a:r>
              <a:rPr lang="en-US" altLang="ko-KR" sz="1200" dirty="0">
                <a:solidFill>
                  <a:schemeClr val="accent4"/>
                </a:solidFill>
              </a:rPr>
              <a:t>5</a:t>
            </a:r>
            <a:r>
              <a:rPr lang="ko-KR" altLang="en-US" sz="1200" dirty="0">
                <a:solidFill>
                  <a:schemeClr val="accent4"/>
                </a:solidFill>
              </a:rPr>
              <a:t>항이나 「</a:t>
            </a:r>
            <a:r>
              <a:rPr lang="ko-KR" altLang="en-US" sz="1200" dirty="0" err="1">
                <a:solidFill>
                  <a:schemeClr val="accent4"/>
                </a:solidFill>
              </a:rPr>
              <a:t>실용신안법</a:t>
            </a:r>
            <a:r>
              <a:rPr lang="ko-KR" altLang="en-US" sz="1200" dirty="0">
                <a:solidFill>
                  <a:schemeClr val="accent4"/>
                </a:solidFill>
              </a:rPr>
              <a:t>」 제</a:t>
            </a:r>
            <a:r>
              <a:rPr lang="en-US" altLang="ko-KR" sz="1200" dirty="0">
                <a:solidFill>
                  <a:schemeClr val="accent4"/>
                </a:solidFill>
              </a:rPr>
              <a:t>35</a:t>
            </a:r>
            <a:r>
              <a:rPr lang="ko-KR" altLang="en-US" sz="1200" dirty="0">
                <a:solidFill>
                  <a:schemeClr val="accent4"/>
                </a:solidFill>
              </a:rPr>
              <a:t>조제</a:t>
            </a:r>
            <a:r>
              <a:rPr lang="en-US" altLang="ko-KR" sz="1200" dirty="0">
                <a:solidFill>
                  <a:schemeClr val="accent4"/>
                </a:solidFill>
              </a:rPr>
              <a:t>5</a:t>
            </a:r>
            <a:r>
              <a:rPr lang="ko-KR" altLang="en-US" sz="1200" dirty="0">
                <a:solidFill>
                  <a:schemeClr val="accent4"/>
                </a:solidFill>
              </a:rPr>
              <a:t>항에 따른 기준일 중 늦은 때</a:t>
            </a:r>
            <a:r>
              <a:rPr lang="en-US" altLang="ko-KR" sz="1200" dirty="0"/>
              <a:t>"</a:t>
            </a:r>
            <a:r>
              <a:rPr lang="ko-KR" altLang="en-US" sz="1200" dirty="0"/>
              <a:t>로 본다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303127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77874" y="3052548"/>
            <a:ext cx="12012525" cy="378565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200" b="1" dirty="0">
                <a:solidFill>
                  <a:schemeClr val="accent1"/>
                </a:solidFill>
              </a:rPr>
              <a:t>제</a:t>
            </a:r>
            <a:r>
              <a:rPr lang="en-US" altLang="ko-KR" sz="1200" b="1" dirty="0">
                <a:solidFill>
                  <a:schemeClr val="accent1"/>
                </a:solidFill>
              </a:rPr>
              <a:t>55</a:t>
            </a:r>
            <a:r>
              <a:rPr lang="ko-KR" altLang="en-US" sz="1200" b="1" dirty="0">
                <a:solidFill>
                  <a:schemeClr val="accent1"/>
                </a:solidFill>
              </a:rPr>
              <a:t>조</a:t>
            </a:r>
            <a:r>
              <a:rPr lang="en-US" altLang="ko-KR" sz="1200" b="1" dirty="0">
                <a:solidFill>
                  <a:schemeClr val="accent1"/>
                </a:solidFill>
              </a:rPr>
              <a:t>(</a:t>
            </a:r>
            <a:r>
              <a:rPr lang="ko-KR" altLang="en-US" sz="1200" b="1" dirty="0">
                <a:solidFill>
                  <a:schemeClr val="accent1"/>
                </a:solidFill>
              </a:rPr>
              <a:t>특허출원 등을 기초로 한 우선권 주장</a:t>
            </a:r>
            <a:r>
              <a:rPr lang="en-US" altLang="ko-KR" sz="1200" b="1" dirty="0">
                <a:solidFill>
                  <a:schemeClr val="accent1"/>
                </a:solidFill>
              </a:rPr>
              <a:t>) </a:t>
            </a:r>
            <a:r>
              <a:rPr lang="ko-KR" altLang="en-US" sz="1200" dirty="0">
                <a:solidFill>
                  <a:schemeClr val="tx2"/>
                </a:solidFill>
              </a:rPr>
              <a:t>① 특허를 받으려는 자는 자신이 특허나 실용신안등록을 받을 수 있는 권리를 가진 특허출원 또는 실용신안등록출원으로 먼저 한 출원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이하 </a:t>
            </a:r>
            <a:r>
              <a:rPr lang="en-US" altLang="ko-KR" sz="1200" dirty="0">
                <a:solidFill>
                  <a:schemeClr val="tx2"/>
                </a:solidFill>
              </a:rPr>
              <a:t>"</a:t>
            </a:r>
            <a:r>
              <a:rPr lang="ko-KR" altLang="en-US" sz="1200" dirty="0" err="1">
                <a:solidFill>
                  <a:schemeClr val="tx2"/>
                </a:solidFill>
              </a:rPr>
              <a:t>선출원</a:t>
            </a:r>
            <a:r>
              <a:rPr lang="en-US" altLang="ko-KR" sz="1200" dirty="0">
                <a:solidFill>
                  <a:schemeClr val="tx2"/>
                </a:solidFill>
              </a:rPr>
              <a:t>"</a:t>
            </a:r>
            <a:r>
              <a:rPr lang="ko-KR" altLang="en-US" sz="1200" dirty="0">
                <a:solidFill>
                  <a:schemeClr val="tx2"/>
                </a:solidFill>
              </a:rPr>
              <a:t>이라 한다</a:t>
            </a:r>
            <a:r>
              <a:rPr lang="en-US" altLang="ko-KR" sz="1200" dirty="0">
                <a:solidFill>
                  <a:schemeClr val="tx2"/>
                </a:solidFill>
              </a:rPr>
              <a:t>)</a:t>
            </a:r>
            <a:r>
              <a:rPr lang="ko-KR" altLang="en-US" sz="1200" dirty="0">
                <a:solidFill>
                  <a:srgbClr val="FF0000"/>
                </a:solidFill>
              </a:rPr>
              <a:t>의 </a:t>
            </a:r>
            <a:r>
              <a:rPr lang="ko-KR" altLang="en-US" sz="12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200" dirty="0">
                <a:solidFill>
                  <a:srgbClr val="FF0000"/>
                </a:solidFill>
              </a:rPr>
              <a:t> 최초로 첨부된 명세서 또는 도면</a:t>
            </a:r>
            <a:r>
              <a:rPr lang="ko-KR" altLang="en-US" sz="1200" dirty="0">
                <a:solidFill>
                  <a:schemeClr val="tx2"/>
                </a:solidFill>
              </a:rPr>
              <a:t>에 기재된 발명을 기초로 그 </a:t>
            </a:r>
            <a:r>
              <a:rPr lang="ko-KR" altLang="en-US" sz="12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200" dirty="0">
                <a:solidFill>
                  <a:schemeClr val="tx2"/>
                </a:solidFill>
              </a:rPr>
              <a:t> 발명에 관하여 우선권을 주장할 수 있다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다만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다음 각 호의 어느 하나에 해당하는 경우에는 그러하지 아니하다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200" dirty="0">
                <a:solidFill>
                  <a:schemeClr val="tx2"/>
                </a:solidFill>
              </a:rPr>
              <a:t>1. </a:t>
            </a:r>
            <a:r>
              <a:rPr lang="ko-KR" altLang="en-US" sz="1200" dirty="0">
                <a:solidFill>
                  <a:schemeClr val="tx2"/>
                </a:solidFill>
              </a:rPr>
              <a:t>그 특허출원이 </a:t>
            </a:r>
            <a:r>
              <a:rPr lang="ko-KR" altLang="en-US" sz="12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 err="1">
                <a:solidFill>
                  <a:schemeClr val="tx2"/>
                </a:solidFill>
              </a:rPr>
              <a:t>출원일부터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>
                <a:solidFill>
                  <a:schemeClr val="tx2"/>
                </a:solidFill>
              </a:rPr>
              <a:t>년이 지난 후에 출원된 경우</a:t>
            </a:r>
          </a:p>
          <a:p>
            <a:pPr fontAlgn="base"/>
            <a:r>
              <a:rPr lang="en-US" altLang="ko-KR" sz="1200" dirty="0">
                <a:solidFill>
                  <a:schemeClr val="tx2"/>
                </a:solidFill>
              </a:rPr>
              <a:t>2. </a:t>
            </a:r>
            <a:r>
              <a:rPr lang="ko-KR" altLang="en-US" sz="12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200" dirty="0">
                <a:solidFill>
                  <a:schemeClr val="tx2"/>
                </a:solidFill>
              </a:rPr>
              <a:t> 제</a:t>
            </a:r>
            <a:r>
              <a:rPr lang="en-US" altLang="ko-KR" sz="1200" dirty="0">
                <a:solidFill>
                  <a:schemeClr val="tx2"/>
                </a:solidFill>
              </a:rPr>
              <a:t>52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2</a:t>
            </a:r>
            <a:r>
              <a:rPr lang="ko-KR" altLang="en-US" sz="1200" dirty="0">
                <a:solidFill>
                  <a:schemeClr val="tx2"/>
                </a:solidFill>
              </a:rPr>
              <a:t>항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「</a:t>
            </a:r>
            <a:r>
              <a:rPr lang="ko-KR" altLang="en-US" sz="1200" dirty="0" err="1">
                <a:solidFill>
                  <a:schemeClr val="tx2"/>
                </a:solidFill>
              </a:rPr>
              <a:t>실용신안법</a:t>
            </a:r>
            <a:r>
              <a:rPr lang="ko-KR" altLang="en-US" sz="1200" dirty="0">
                <a:solidFill>
                  <a:schemeClr val="tx2"/>
                </a:solidFill>
              </a:rPr>
              <a:t>」 제</a:t>
            </a:r>
            <a:r>
              <a:rPr lang="en-US" altLang="ko-KR" sz="1200" dirty="0">
                <a:solidFill>
                  <a:schemeClr val="tx2"/>
                </a:solidFill>
              </a:rPr>
              <a:t>11</a:t>
            </a:r>
            <a:r>
              <a:rPr lang="ko-KR" altLang="en-US" sz="1200" dirty="0">
                <a:solidFill>
                  <a:schemeClr val="tx2"/>
                </a:solidFill>
              </a:rPr>
              <a:t>조에 따라 준용되는 경우를 포함한다</a:t>
            </a:r>
            <a:r>
              <a:rPr lang="en-US" altLang="ko-KR" sz="1200" dirty="0">
                <a:solidFill>
                  <a:schemeClr val="tx2"/>
                </a:solidFill>
              </a:rPr>
              <a:t>)</a:t>
            </a:r>
            <a:r>
              <a:rPr lang="ko-KR" altLang="en-US" sz="1200" dirty="0">
                <a:solidFill>
                  <a:schemeClr val="tx2"/>
                </a:solidFill>
              </a:rPr>
              <a:t>에 따른 분할출원이나 제</a:t>
            </a:r>
            <a:r>
              <a:rPr lang="en-US" altLang="ko-KR" sz="1200" dirty="0">
                <a:solidFill>
                  <a:schemeClr val="tx2"/>
                </a:solidFill>
              </a:rPr>
              <a:t>53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2</a:t>
            </a:r>
            <a:r>
              <a:rPr lang="ko-KR" altLang="en-US" sz="1200" dirty="0">
                <a:solidFill>
                  <a:schemeClr val="tx2"/>
                </a:solidFill>
              </a:rPr>
              <a:t>항 또는 「</a:t>
            </a:r>
            <a:r>
              <a:rPr lang="ko-KR" altLang="en-US" sz="1200" dirty="0" err="1">
                <a:solidFill>
                  <a:schemeClr val="tx2"/>
                </a:solidFill>
              </a:rPr>
              <a:t>실용신안법</a:t>
            </a:r>
            <a:r>
              <a:rPr lang="ko-KR" altLang="en-US" sz="1200" dirty="0">
                <a:solidFill>
                  <a:schemeClr val="tx2"/>
                </a:solidFill>
              </a:rPr>
              <a:t>」 제</a:t>
            </a:r>
            <a:r>
              <a:rPr lang="en-US" altLang="ko-KR" sz="1200" dirty="0">
                <a:solidFill>
                  <a:schemeClr val="tx2"/>
                </a:solidFill>
              </a:rPr>
              <a:t>10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2</a:t>
            </a:r>
            <a:r>
              <a:rPr lang="ko-KR" altLang="en-US" sz="1200" dirty="0">
                <a:solidFill>
                  <a:schemeClr val="tx2"/>
                </a:solidFill>
              </a:rPr>
              <a:t>항에 따른 변경출원인 경우</a:t>
            </a:r>
          </a:p>
          <a:p>
            <a:pPr fontAlgn="base"/>
            <a:r>
              <a:rPr lang="en-US" altLang="ko-KR" sz="1200" dirty="0">
                <a:solidFill>
                  <a:schemeClr val="tx2"/>
                </a:solidFill>
              </a:rPr>
              <a:t>3. </a:t>
            </a:r>
            <a:r>
              <a:rPr lang="ko-KR" altLang="en-US" sz="1200" dirty="0">
                <a:solidFill>
                  <a:schemeClr val="tx2"/>
                </a:solidFill>
              </a:rPr>
              <a:t>그 특허출원을 할 때에 </a:t>
            </a:r>
            <a:r>
              <a:rPr lang="ko-KR" altLang="en-US" sz="12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 err="1">
                <a:solidFill>
                  <a:schemeClr val="tx2"/>
                </a:solidFill>
              </a:rPr>
              <a:t>포기ㆍ무효</a:t>
            </a:r>
            <a:r>
              <a:rPr lang="ko-KR" altLang="en-US" sz="1200" dirty="0">
                <a:solidFill>
                  <a:schemeClr val="tx2"/>
                </a:solidFill>
              </a:rPr>
              <a:t> 또는 취하된 경우</a:t>
            </a:r>
          </a:p>
          <a:p>
            <a:pPr fontAlgn="base"/>
            <a:r>
              <a:rPr lang="en-US" altLang="ko-KR" sz="1200" dirty="0">
                <a:solidFill>
                  <a:schemeClr val="tx2"/>
                </a:solidFill>
              </a:rPr>
              <a:t>4. </a:t>
            </a:r>
            <a:r>
              <a:rPr lang="ko-KR" altLang="en-US" sz="1200" dirty="0">
                <a:solidFill>
                  <a:schemeClr val="tx2"/>
                </a:solidFill>
              </a:rPr>
              <a:t>그 특허출원을 할 때에 </a:t>
            </a:r>
            <a:r>
              <a:rPr lang="ko-KR" altLang="en-US" sz="12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200" dirty="0">
                <a:solidFill>
                  <a:schemeClr val="tx2"/>
                </a:solidFill>
              </a:rPr>
              <a:t> 특허 여부의 결정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실용신안등록 여부의 결정 또는 거절한다는 취지의 </a:t>
            </a:r>
            <a:r>
              <a:rPr lang="ko-KR" altLang="en-US" sz="1200" dirty="0" err="1">
                <a:solidFill>
                  <a:schemeClr val="tx2"/>
                </a:solidFill>
              </a:rPr>
              <a:t>심결이</a:t>
            </a:r>
            <a:r>
              <a:rPr lang="ko-KR" altLang="en-US" sz="1200" dirty="0">
                <a:solidFill>
                  <a:schemeClr val="tx2"/>
                </a:solidFill>
              </a:rPr>
              <a:t> 확정된 경우</a:t>
            </a:r>
          </a:p>
          <a:p>
            <a:pPr fontAlgn="base"/>
            <a:r>
              <a:rPr lang="ko-KR" altLang="en-US" sz="1200" dirty="0">
                <a:solidFill>
                  <a:schemeClr val="tx2"/>
                </a:solidFill>
              </a:rPr>
              <a:t>③ 제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>
                <a:solidFill>
                  <a:schemeClr val="tx2"/>
                </a:solidFill>
              </a:rPr>
              <a:t>항에 따른 우선권 주장을 수반하는 </a:t>
            </a:r>
            <a:r>
              <a:rPr lang="ko-KR" altLang="en-US" sz="1200" dirty="0" err="1">
                <a:solidFill>
                  <a:schemeClr val="tx2"/>
                </a:solidFill>
              </a:rPr>
              <a:t>특허출원된</a:t>
            </a:r>
            <a:r>
              <a:rPr lang="ko-KR" altLang="en-US" sz="1200" dirty="0">
                <a:solidFill>
                  <a:schemeClr val="tx2"/>
                </a:solidFill>
              </a:rPr>
              <a:t> 발명 중 해당 우선권 주장의 기초가 된 </a:t>
            </a:r>
            <a:r>
              <a:rPr lang="ko-KR" altLang="en-US" sz="1200" dirty="0" err="1">
                <a:solidFill>
                  <a:srgbClr val="FF0000"/>
                </a:solidFill>
              </a:rPr>
              <a:t>선출원의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200" dirty="0">
                <a:solidFill>
                  <a:srgbClr val="FF0000"/>
                </a:solidFill>
              </a:rPr>
              <a:t> 최초로 첨부된 명세서 또는 도면</a:t>
            </a:r>
            <a:r>
              <a:rPr lang="ko-KR" altLang="en-US" sz="1200" dirty="0">
                <a:solidFill>
                  <a:schemeClr val="tx2"/>
                </a:solidFill>
              </a:rPr>
              <a:t>에 기재된 발명과 같은 발명에 관하여 제</a:t>
            </a:r>
            <a:r>
              <a:rPr lang="en-US" altLang="ko-KR" sz="1200" dirty="0">
                <a:solidFill>
                  <a:schemeClr val="tx2"/>
                </a:solidFill>
              </a:rPr>
              <a:t>29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</a:rPr>
              <a:t>항ㆍ제</a:t>
            </a:r>
            <a:r>
              <a:rPr lang="en-US" altLang="ko-KR" sz="1200" dirty="0">
                <a:solidFill>
                  <a:schemeClr val="tx2"/>
                </a:solidFill>
              </a:rPr>
              <a:t>2</a:t>
            </a:r>
            <a:r>
              <a:rPr lang="ko-KR" altLang="en-US" sz="1200" dirty="0">
                <a:solidFill>
                  <a:schemeClr val="tx2"/>
                </a:solidFill>
              </a:rPr>
              <a:t>항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같은 조 제</a:t>
            </a:r>
            <a:r>
              <a:rPr lang="en-US" altLang="ko-KR" sz="1200" dirty="0">
                <a:solidFill>
                  <a:schemeClr val="tx2"/>
                </a:solidFill>
              </a:rPr>
              <a:t>3</a:t>
            </a:r>
            <a:r>
              <a:rPr lang="ko-KR" altLang="en-US" sz="1200" dirty="0">
                <a:solidFill>
                  <a:schemeClr val="tx2"/>
                </a:solidFill>
              </a:rPr>
              <a:t>항 본문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같은 조 제</a:t>
            </a:r>
            <a:r>
              <a:rPr lang="en-US" altLang="ko-KR" sz="1200" dirty="0">
                <a:solidFill>
                  <a:schemeClr val="tx2"/>
                </a:solidFill>
              </a:rPr>
              <a:t>4</a:t>
            </a:r>
            <a:r>
              <a:rPr lang="ko-KR" altLang="en-US" sz="1200" dirty="0">
                <a:solidFill>
                  <a:schemeClr val="tx2"/>
                </a:solidFill>
              </a:rPr>
              <a:t>항 본문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30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>
                <a:solidFill>
                  <a:schemeClr val="tx2"/>
                </a:solidFill>
              </a:rPr>
              <a:t>항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36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>
                <a:solidFill>
                  <a:schemeClr val="tx2"/>
                </a:solidFill>
              </a:rPr>
              <a:t>항부터 제</a:t>
            </a:r>
            <a:r>
              <a:rPr lang="en-US" altLang="ko-KR" sz="1200" dirty="0">
                <a:solidFill>
                  <a:schemeClr val="tx2"/>
                </a:solidFill>
              </a:rPr>
              <a:t>3</a:t>
            </a:r>
            <a:r>
              <a:rPr lang="ko-KR" altLang="en-US" sz="1200" dirty="0">
                <a:solidFill>
                  <a:schemeClr val="tx2"/>
                </a:solidFill>
              </a:rPr>
              <a:t>항까지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96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</a:rPr>
              <a:t>3</a:t>
            </a:r>
            <a:r>
              <a:rPr lang="ko-KR" altLang="en-US" sz="1200" dirty="0">
                <a:solidFill>
                  <a:schemeClr val="tx2"/>
                </a:solidFill>
              </a:rPr>
              <a:t>호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98</a:t>
            </a:r>
            <a:r>
              <a:rPr lang="ko-KR" altLang="en-US" sz="1200" dirty="0">
                <a:solidFill>
                  <a:schemeClr val="tx2"/>
                </a:solidFill>
              </a:rPr>
              <a:t>조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103</a:t>
            </a:r>
            <a:r>
              <a:rPr lang="ko-KR" altLang="en-US" sz="1200" dirty="0">
                <a:solidFill>
                  <a:schemeClr val="tx2"/>
                </a:solidFill>
              </a:rPr>
              <a:t>조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105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</a:rPr>
              <a:t>항ㆍ제</a:t>
            </a:r>
            <a:r>
              <a:rPr lang="en-US" altLang="ko-KR" sz="1200" dirty="0">
                <a:solidFill>
                  <a:schemeClr val="tx2"/>
                </a:solidFill>
              </a:rPr>
              <a:t>2</a:t>
            </a:r>
            <a:r>
              <a:rPr lang="ko-KR" altLang="en-US" sz="1200" dirty="0">
                <a:solidFill>
                  <a:schemeClr val="tx2"/>
                </a:solidFill>
              </a:rPr>
              <a:t>항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129</a:t>
            </a:r>
            <a:r>
              <a:rPr lang="ko-KR" altLang="en-US" sz="1200" dirty="0">
                <a:solidFill>
                  <a:schemeClr val="tx2"/>
                </a:solidFill>
              </a:rPr>
              <a:t>조 및 제</a:t>
            </a:r>
            <a:r>
              <a:rPr lang="en-US" altLang="ko-KR" sz="1200" dirty="0">
                <a:solidFill>
                  <a:schemeClr val="tx2"/>
                </a:solidFill>
              </a:rPr>
              <a:t>136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5</a:t>
            </a:r>
            <a:r>
              <a:rPr lang="ko-KR" altLang="en-US" sz="1200" dirty="0">
                <a:solidFill>
                  <a:schemeClr val="tx2"/>
                </a:solidFill>
              </a:rPr>
              <a:t>항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132</a:t>
            </a:r>
            <a:r>
              <a:rPr lang="ko-KR" altLang="en-US" sz="1200" dirty="0">
                <a:solidFill>
                  <a:schemeClr val="tx2"/>
                </a:solidFill>
              </a:rPr>
              <a:t>조의</a:t>
            </a:r>
            <a:r>
              <a:rPr lang="en-US" altLang="ko-KR" sz="1200" dirty="0">
                <a:solidFill>
                  <a:schemeClr val="tx2"/>
                </a:solidFill>
              </a:rPr>
              <a:t>3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3</a:t>
            </a:r>
            <a:r>
              <a:rPr lang="ko-KR" altLang="en-US" sz="1200" dirty="0">
                <a:solidFill>
                  <a:schemeClr val="tx2"/>
                </a:solidFill>
              </a:rPr>
              <a:t>항 또는 제</a:t>
            </a:r>
            <a:r>
              <a:rPr lang="en-US" altLang="ko-KR" sz="1200" dirty="0">
                <a:solidFill>
                  <a:schemeClr val="tx2"/>
                </a:solidFill>
              </a:rPr>
              <a:t>133</a:t>
            </a:r>
            <a:r>
              <a:rPr lang="ko-KR" altLang="en-US" sz="1200" dirty="0">
                <a:solidFill>
                  <a:schemeClr val="tx2"/>
                </a:solidFill>
              </a:rPr>
              <a:t>조의</a:t>
            </a:r>
            <a:r>
              <a:rPr lang="en-US" altLang="ko-KR" sz="1200" dirty="0">
                <a:solidFill>
                  <a:schemeClr val="tx2"/>
                </a:solidFill>
              </a:rPr>
              <a:t>2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4</a:t>
            </a:r>
            <a:r>
              <a:rPr lang="ko-KR" altLang="en-US" sz="1200" dirty="0">
                <a:solidFill>
                  <a:schemeClr val="tx2"/>
                </a:solidFill>
              </a:rPr>
              <a:t>항에 따라 준용되는 경우를 포함한다</a:t>
            </a:r>
            <a:r>
              <a:rPr lang="en-US" altLang="ko-KR" sz="1200" dirty="0">
                <a:solidFill>
                  <a:schemeClr val="tx2"/>
                </a:solidFill>
              </a:rPr>
              <a:t>), </a:t>
            </a:r>
            <a:r>
              <a:rPr lang="ko-KR" altLang="en-US" sz="1200" dirty="0">
                <a:solidFill>
                  <a:schemeClr val="tx2"/>
                </a:solidFill>
              </a:rPr>
              <a:t>「</a:t>
            </a:r>
            <a:r>
              <a:rPr lang="ko-KR" altLang="en-US" sz="1200" dirty="0" err="1">
                <a:solidFill>
                  <a:schemeClr val="tx2"/>
                </a:solidFill>
              </a:rPr>
              <a:t>실용신안법</a:t>
            </a:r>
            <a:r>
              <a:rPr lang="ko-KR" altLang="en-US" sz="1200" dirty="0">
                <a:solidFill>
                  <a:schemeClr val="tx2"/>
                </a:solidFill>
              </a:rPr>
              <a:t>」 제</a:t>
            </a:r>
            <a:r>
              <a:rPr lang="en-US" altLang="ko-KR" sz="1200" dirty="0">
                <a:solidFill>
                  <a:schemeClr val="tx2"/>
                </a:solidFill>
              </a:rPr>
              <a:t>7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3</a:t>
            </a:r>
            <a:r>
              <a:rPr lang="ko-KR" altLang="en-US" sz="1200" dirty="0" err="1">
                <a:solidFill>
                  <a:schemeClr val="tx2"/>
                </a:solidFill>
              </a:rPr>
              <a:t>항ㆍ제</a:t>
            </a:r>
            <a:r>
              <a:rPr lang="en-US" altLang="ko-KR" sz="1200" dirty="0">
                <a:solidFill>
                  <a:schemeClr val="tx2"/>
                </a:solidFill>
              </a:rPr>
              <a:t>4</a:t>
            </a:r>
            <a:r>
              <a:rPr lang="ko-KR" altLang="en-US" sz="1200" dirty="0">
                <a:solidFill>
                  <a:schemeClr val="tx2"/>
                </a:solidFill>
              </a:rPr>
              <a:t>항 및 제</a:t>
            </a:r>
            <a:r>
              <a:rPr lang="en-US" altLang="ko-KR" sz="1200" dirty="0">
                <a:solidFill>
                  <a:schemeClr val="tx2"/>
                </a:solidFill>
              </a:rPr>
              <a:t>25</a:t>
            </a:r>
            <a:r>
              <a:rPr lang="ko-KR" altLang="en-US" sz="1200" dirty="0">
                <a:solidFill>
                  <a:schemeClr val="tx2"/>
                </a:solidFill>
              </a:rPr>
              <a:t>조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「디자인보호법」 제</a:t>
            </a:r>
            <a:r>
              <a:rPr lang="en-US" altLang="ko-KR" sz="1200" dirty="0">
                <a:solidFill>
                  <a:schemeClr val="tx2"/>
                </a:solidFill>
              </a:rPr>
              <a:t>95</a:t>
            </a:r>
            <a:r>
              <a:rPr lang="ko-KR" altLang="en-US" sz="1200" dirty="0">
                <a:solidFill>
                  <a:schemeClr val="tx2"/>
                </a:solidFill>
              </a:rPr>
              <a:t>조 및 제</a:t>
            </a:r>
            <a:r>
              <a:rPr lang="en-US" altLang="ko-KR" sz="1200" dirty="0">
                <a:solidFill>
                  <a:schemeClr val="tx2"/>
                </a:solidFill>
              </a:rPr>
              <a:t>103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3</a:t>
            </a:r>
            <a:r>
              <a:rPr lang="ko-KR" altLang="en-US" sz="1200" dirty="0">
                <a:solidFill>
                  <a:schemeClr val="tx2"/>
                </a:solidFill>
              </a:rPr>
              <a:t>항을 적용할 때에는 그 특허출원은 그 </a:t>
            </a:r>
            <a:r>
              <a:rPr lang="ko-KR" altLang="en-US" sz="1200" dirty="0" err="1">
                <a:solidFill>
                  <a:schemeClr val="tx2"/>
                </a:solidFill>
              </a:rPr>
              <a:t>선출원을</a:t>
            </a:r>
            <a:r>
              <a:rPr lang="ko-KR" altLang="en-US" sz="1200" dirty="0">
                <a:solidFill>
                  <a:schemeClr val="tx2"/>
                </a:solidFill>
              </a:rPr>
              <a:t> 한 때에 </a:t>
            </a:r>
            <a:r>
              <a:rPr lang="ko-KR" altLang="en-US" sz="12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200" dirty="0">
                <a:solidFill>
                  <a:schemeClr val="tx2"/>
                </a:solidFill>
              </a:rPr>
              <a:t> 것으로 본다</a:t>
            </a:r>
            <a:r>
              <a:rPr lang="en-US" altLang="ko-KR" sz="1200" dirty="0">
                <a:solidFill>
                  <a:schemeClr val="tx2"/>
                </a:solidFill>
              </a:rPr>
              <a:t>.  &lt;</a:t>
            </a:r>
            <a:r>
              <a:rPr lang="ko-KR" altLang="en-US" sz="1200" dirty="0">
                <a:solidFill>
                  <a:schemeClr val="tx2"/>
                </a:solidFill>
              </a:rPr>
              <a:t>개정 </a:t>
            </a:r>
            <a:r>
              <a:rPr lang="en-US" altLang="ko-KR" sz="1200" dirty="0">
                <a:solidFill>
                  <a:schemeClr val="tx2"/>
                </a:solidFill>
              </a:rPr>
              <a:t>2016.2.29.&gt;</a:t>
            </a:r>
          </a:p>
          <a:p>
            <a:pPr fontAlgn="base"/>
            <a:r>
              <a:rPr lang="en-US" altLang="ko-KR" sz="1200" dirty="0">
                <a:solidFill>
                  <a:schemeClr val="tx2"/>
                </a:solidFill>
              </a:rPr>
              <a:t>④ 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>
                <a:solidFill>
                  <a:schemeClr val="tx2"/>
                </a:solidFill>
              </a:rPr>
              <a:t>항에 따른 우선권 주장을 수반하는 특허출원의 </a:t>
            </a:r>
            <a:r>
              <a:rPr lang="ko-KR" altLang="en-US" sz="1200" dirty="0" err="1">
                <a:solidFill>
                  <a:schemeClr val="tx2"/>
                </a:solidFill>
              </a:rPr>
              <a:t>출원서에</a:t>
            </a:r>
            <a:r>
              <a:rPr lang="ko-KR" altLang="en-US" sz="1200" dirty="0">
                <a:solidFill>
                  <a:schemeClr val="tx2"/>
                </a:solidFill>
              </a:rPr>
              <a:t> 최초로 첨부된 명세서 또는 도면에 기재된 발명 중 해당 우선권 주장의 기초가 된 </a:t>
            </a:r>
            <a:r>
              <a:rPr lang="ko-KR" altLang="en-US" sz="1200" dirty="0" err="1">
                <a:solidFill>
                  <a:srgbClr val="FF0000"/>
                </a:solidFill>
              </a:rPr>
              <a:t>선출원의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200" dirty="0">
                <a:solidFill>
                  <a:srgbClr val="FF0000"/>
                </a:solidFill>
              </a:rPr>
              <a:t> 최초로 첨부된 명세서 또는 도면</a:t>
            </a:r>
            <a:r>
              <a:rPr lang="ko-KR" altLang="en-US" sz="1200" dirty="0">
                <a:solidFill>
                  <a:schemeClr val="tx2"/>
                </a:solidFill>
              </a:rPr>
              <a:t>에 기재된 발명과 같은 발명은 그 특허출원이 </a:t>
            </a:r>
            <a:r>
              <a:rPr lang="ko-KR" altLang="en-US" sz="1200" dirty="0" err="1">
                <a:solidFill>
                  <a:schemeClr val="tx2"/>
                </a:solidFill>
              </a:rPr>
              <a:t>출원공개되거나</a:t>
            </a:r>
            <a:r>
              <a:rPr lang="ko-KR" altLang="en-US" sz="1200" dirty="0">
                <a:solidFill>
                  <a:schemeClr val="tx2"/>
                </a:solidFill>
              </a:rPr>
              <a:t> 특허가 </a:t>
            </a:r>
            <a:r>
              <a:rPr lang="ko-KR" altLang="en-US" sz="1200" dirty="0" err="1">
                <a:solidFill>
                  <a:schemeClr val="tx2"/>
                </a:solidFill>
              </a:rPr>
              <a:t>등록공고되었을</a:t>
            </a:r>
            <a:r>
              <a:rPr lang="ko-KR" altLang="en-US" sz="1200" dirty="0">
                <a:solidFill>
                  <a:schemeClr val="tx2"/>
                </a:solidFill>
              </a:rPr>
              <a:t> 때에 해당 우선권 주장의 기초가 된 </a:t>
            </a:r>
            <a:r>
              <a:rPr lang="ko-KR" altLang="en-US" sz="1200" dirty="0" err="1">
                <a:solidFill>
                  <a:srgbClr val="FF0000"/>
                </a:solidFill>
              </a:rPr>
              <a:t>선출원에</a:t>
            </a:r>
            <a:r>
              <a:rPr lang="ko-KR" altLang="en-US" sz="1200" dirty="0">
                <a:solidFill>
                  <a:srgbClr val="FF0000"/>
                </a:solidFill>
              </a:rPr>
              <a:t> 관하여 출원공개</a:t>
            </a:r>
            <a:r>
              <a:rPr lang="ko-KR" altLang="en-US" sz="1200" dirty="0">
                <a:solidFill>
                  <a:schemeClr val="tx2"/>
                </a:solidFill>
              </a:rPr>
              <a:t>가 된 것으로 보고 제</a:t>
            </a:r>
            <a:r>
              <a:rPr lang="en-US" altLang="ko-KR" sz="1200" dirty="0">
                <a:solidFill>
                  <a:schemeClr val="tx2"/>
                </a:solidFill>
              </a:rPr>
              <a:t>29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3</a:t>
            </a:r>
            <a:r>
              <a:rPr lang="ko-KR" altLang="en-US" sz="1200" dirty="0">
                <a:solidFill>
                  <a:schemeClr val="tx2"/>
                </a:solidFill>
              </a:rPr>
              <a:t>항 본문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같은 조 제</a:t>
            </a:r>
            <a:r>
              <a:rPr lang="en-US" altLang="ko-KR" sz="1200" dirty="0">
                <a:solidFill>
                  <a:schemeClr val="tx2"/>
                </a:solidFill>
              </a:rPr>
              <a:t>4</a:t>
            </a:r>
            <a:r>
              <a:rPr lang="ko-KR" altLang="en-US" sz="1200" dirty="0">
                <a:solidFill>
                  <a:schemeClr val="tx2"/>
                </a:solidFill>
              </a:rPr>
              <a:t>항 본문 또는 「</a:t>
            </a:r>
            <a:r>
              <a:rPr lang="ko-KR" altLang="en-US" sz="1200" dirty="0" err="1">
                <a:solidFill>
                  <a:schemeClr val="tx2"/>
                </a:solidFill>
              </a:rPr>
              <a:t>실용신안법</a:t>
            </a:r>
            <a:r>
              <a:rPr lang="ko-KR" altLang="en-US" sz="1200" dirty="0">
                <a:solidFill>
                  <a:schemeClr val="tx2"/>
                </a:solidFill>
              </a:rPr>
              <a:t>」 제</a:t>
            </a:r>
            <a:r>
              <a:rPr lang="en-US" altLang="ko-KR" sz="1200" dirty="0">
                <a:solidFill>
                  <a:schemeClr val="tx2"/>
                </a:solidFill>
              </a:rPr>
              <a:t>4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3</a:t>
            </a:r>
            <a:r>
              <a:rPr lang="ko-KR" altLang="en-US" sz="1200" dirty="0">
                <a:solidFill>
                  <a:schemeClr val="tx2"/>
                </a:solidFill>
              </a:rPr>
              <a:t>항 </a:t>
            </a:r>
            <a:r>
              <a:rPr lang="ko-KR" altLang="en-US" sz="1200" dirty="0" err="1">
                <a:solidFill>
                  <a:schemeClr val="tx2"/>
                </a:solidFill>
              </a:rPr>
              <a:t>본문ㆍ제</a:t>
            </a:r>
            <a:r>
              <a:rPr lang="en-US" altLang="ko-KR" sz="1200" dirty="0">
                <a:solidFill>
                  <a:schemeClr val="tx2"/>
                </a:solidFill>
              </a:rPr>
              <a:t>4</a:t>
            </a:r>
            <a:r>
              <a:rPr lang="ko-KR" altLang="en-US" sz="1200" dirty="0">
                <a:solidFill>
                  <a:schemeClr val="tx2"/>
                </a:solidFill>
              </a:rPr>
              <a:t>항 본문을 적용한다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200" dirty="0">
                <a:solidFill>
                  <a:schemeClr val="tx2"/>
                </a:solidFill>
              </a:rPr>
              <a:t>⑤ </a:t>
            </a:r>
            <a:r>
              <a:rPr lang="ko-KR" altLang="en-US" sz="12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200" dirty="0">
                <a:solidFill>
                  <a:schemeClr val="tx2"/>
                </a:solidFill>
              </a:rPr>
              <a:t> 다음 각 호의 어느 하나에 해당하면 그 </a:t>
            </a:r>
            <a:r>
              <a:rPr lang="ko-KR" altLang="en-US" sz="1200" dirty="0" err="1">
                <a:solidFill>
                  <a:srgbClr val="FF0000"/>
                </a:solidFill>
              </a:rPr>
              <a:t>선출원의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200" dirty="0">
                <a:solidFill>
                  <a:srgbClr val="FF0000"/>
                </a:solidFill>
              </a:rPr>
              <a:t> 최초로 첨부된 명세서 또는 도면</a:t>
            </a:r>
            <a:r>
              <a:rPr lang="ko-KR" altLang="en-US" sz="1200" dirty="0">
                <a:solidFill>
                  <a:schemeClr val="tx2"/>
                </a:solidFill>
              </a:rPr>
              <a:t>에 기재된 발명 중 그 </a:t>
            </a:r>
            <a:r>
              <a:rPr lang="ko-KR" altLang="en-US" sz="1200" dirty="0" err="1">
                <a:solidFill>
                  <a:schemeClr val="tx2"/>
                </a:solidFill>
              </a:rPr>
              <a:t>선출원에</a:t>
            </a:r>
            <a:r>
              <a:rPr lang="ko-KR" altLang="en-US" sz="1200" dirty="0">
                <a:solidFill>
                  <a:schemeClr val="tx2"/>
                </a:solidFill>
              </a:rPr>
              <a:t> 관하여 우선권 주장의 기초가 된 출원의 </a:t>
            </a:r>
            <a:r>
              <a:rPr lang="ko-KR" altLang="en-US" sz="1200" dirty="0" err="1">
                <a:solidFill>
                  <a:schemeClr val="tx2"/>
                </a:solidFill>
              </a:rPr>
              <a:t>출원서에</a:t>
            </a:r>
            <a:r>
              <a:rPr lang="ko-KR" altLang="en-US" sz="1200" dirty="0">
                <a:solidFill>
                  <a:schemeClr val="tx2"/>
                </a:solidFill>
              </a:rPr>
              <a:t> 최초로 첨부된 명세서 또는 도면에 기재된 발명에 대해서는 제</a:t>
            </a:r>
            <a:r>
              <a:rPr lang="en-US" altLang="ko-KR" sz="1200" dirty="0">
                <a:solidFill>
                  <a:schemeClr val="tx2"/>
                </a:solidFill>
              </a:rPr>
              <a:t>3</a:t>
            </a:r>
            <a:r>
              <a:rPr lang="ko-KR" altLang="en-US" sz="1200" dirty="0">
                <a:solidFill>
                  <a:schemeClr val="tx2"/>
                </a:solidFill>
              </a:rPr>
              <a:t>항과 제</a:t>
            </a:r>
            <a:r>
              <a:rPr lang="en-US" altLang="ko-KR" sz="1200" dirty="0">
                <a:solidFill>
                  <a:schemeClr val="tx2"/>
                </a:solidFill>
              </a:rPr>
              <a:t>4</a:t>
            </a:r>
            <a:r>
              <a:rPr lang="ko-KR" altLang="en-US" sz="1200" dirty="0">
                <a:solidFill>
                  <a:schemeClr val="tx2"/>
                </a:solidFill>
              </a:rPr>
              <a:t>항을 적용하지 아니한다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200" dirty="0">
                <a:solidFill>
                  <a:schemeClr val="tx2"/>
                </a:solidFill>
              </a:rPr>
              <a:t>1. </a:t>
            </a:r>
            <a:r>
              <a:rPr lang="ko-KR" altLang="en-US" sz="12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200" dirty="0">
                <a:solidFill>
                  <a:schemeClr val="tx2"/>
                </a:solidFill>
              </a:rPr>
              <a:t> 제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>
                <a:solidFill>
                  <a:schemeClr val="tx2"/>
                </a:solidFill>
              </a:rPr>
              <a:t>항에 따른 우선권 주장을 수반하는 출원인 경우</a:t>
            </a:r>
          </a:p>
          <a:p>
            <a:pPr fontAlgn="base"/>
            <a:r>
              <a:rPr lang="en-US" altLang="ko-KR" sz="1200" dirty="0">
                <a:solidFill>
                  <a:schemeClr val="tx2"/>
                </a:solidFill>
              </a:rPr>
              <a:t>2. </a:t>
            </a:r>
            <a:r>
              <a:rPr lang="ko-KR" altLang="en-US" sz="12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200" dirty="0">
                <a:solidFill>
                  <a:schemeClr val="tx2"/>
                </a:solidFill>
              </a:rPr>
              <a:t> 「공업소유권의 보호를 위한 파리 협약」 제</a:t>
            </a:r>
            <a:r>
              <a:rPr lang="en-US" altLang="ko-KR" sz="1200" dirty="0">
                <a:solidFill>
                  <a:schemeClr val="tx2"/>
                </a:solidFill>
              </a:rPr>
              <a:t>4</a:t>
            </a:r>
            <a:r>
              <a:rPr lang="ko-KR" altLang="en-US" sz="1200" dirty="0">
                <a:solidFill>
                  <a:schemeClr val="tx2"/>
                </a:solidFill>
              </a:rPr>
              <a:t>조</a:t>
            </a:r>
            <a:r>
              <a:rPr lang="en-US" altLang="ko-KR" sz="1200" dirty="0">
                <a:solidFill>
                  <a:schemeClr val="tx2"/>
                </a:solidFill>
              </a:rPr>
              <a:t>D(1)</a:t>
            </a:r>
            <a:r>
              <a:rPr lang="ko-KR" altLang="en-US" sz="1200" dirty="0">
                <a:solidFill>
                  <a:schemeClr val="tx2"/>
                </a:solidFill>
              </a:rPr>
              <a:t>에 따른 우선권 주장을 수반하는 출원인 경우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fontAlgn="base"/>
            <a:r>
              <a:rPr lang="ko-KR" altLang="en-US" sz="1200" b="1" dirty="0">
                <a:solidFill>
                  <a:schemeClr val="accent1"/>
                </a:solidFill>
              </a:rPr>
              <a:t>제</a:t>
            </a:r>
            <a:r>
              <a:rPr lang="en-US" altLang="ko-KR" sz="1200" b="1" dirty="0">
                <a:solidFill>
                  <a:schemeClr val="accent1"/>
                </a:solidFill>
              </a:rPr>
              <a:t>56</a:t>
            </a:r>
            <a:r>
              <a:rPr lang="ko-KR" altLang="en-US" sz="1200" b="1" dirty="0">
                <a:solidFill>
                  <a:schemeClr val="accent1"/>
                </a:solidFill>
              </a:rPr>
              <a:t>조</a:t>
            </a:r>
            <a:r>
              <a:rPr lang="en-US" altLang="ko-KR" sz="1200" b="1" dirty="0">
                <a:solidFill>
                  <a:schemeClr val="accent1"/>
                </a:solidFill>
              </a:rPr>
              <a:t>(</a:t>
            </a:r>
            <a:r>
              <a:rPr lang="ko-KR" altLang="en-US" sz="1200" b="1" dirty="0" err="1">
                <a:solidFill>
                  <a:schemeClr val="accent1"/>
                </a:solidFill>
              </a:rPr>
              <a:t>선출원의</a:t>
            </a:r>
            <a:r>
              <a:rPr lang="ko-KR" altLang="en-US" sz="1200" b="1" dirty="0">
                <a:solidFill>
                  <a:schemeClr val="accent1"/>
                </a:solidFill>
              </a:rPr>
              <a:t> 취하 등</a:t>
            </a:r>
            <a:r>
              <a:rPr lang="en-US" altLang="ko-KR" sz="1200" b="1" dirty="0">
                <a:solidFill>
                  <a:schemeClr val="accent1"/>
                </a:solidFill>
              </a:rPr>
              <a:t>) </a:t>
            </a:r>
            <a:r>
              <a:rPr lang="ko-KR" altLang="en-US" sz="1200" dirty="0">
                <a:solidFill>
                  <a:schemeClr val="tx2"/>
                </a:solidFill>
              </a:rPr>
              <a:t>① 제</a:t>
            </a:r>
            <a:r>
              <a:rPr lang="en-US" altLang="ko-KR" sz="1200" dirty="0">
                <a:solidFill>
                  <a:schemeClr val="tx2"/>
                </a:solidFill>
              </a:rPr>
              <a:t>55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>
                <a:solidFill>
                  <a:schemeClr val="tx2"/>
                </a:solidFill>
              </a:rPr>
              <a:t>항에 따른 우선권 주장의 기초가 된 </a:t>
            </a:r>
            <a:r>
              <a:rPr lang="ko-KR" altLang="en-US" sz="1200" dirty="0" err="1">
                <a:solidFill>
                  <a:schemeClr val="tx2"/>
                </a:solidFill>
              </a:rPr>
              <a:t>선출원은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그 </a:t>
            </a:r>
            <a:r>
              <a:rPr lang="ko-KR" altLang="en-US" sz="1200" dirty="0" err="1">
                <a:solidFill>
                  <a:srgbClr val="FF0000"/>
                </a:solidFill>
              </a:rPr>
              <a:t>출원일부터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년 </a:t>
            </a:r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r>
              <a:rPr lang="ko-KR" altLang="en-US" sz="1200" dirty="0">
                <a:solidFill>
                  <a:srgbClr val="FF0000"/>
                </a:solidFill>
              </a:rPr>
              <a:t>개월이 지난 때</a:t>
            </a:r>
            <a:r>
              <a:rPr lang="ko-KR" altLang="en-US" sz="1200" dirty="0">
                <a:solidFill>
                  <a:schemeClr val="tx2"/>
                </a:solidFill>
              </a:rPr>
              <a:t>에 취하된 것으로 본다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다만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그 </a:t>
            </a:r>
            <a:r>
              <a:rPr lang="ko-KR" altLang="en-US" sz="12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200" dirty="0">
                <a:solidFill>
                  <a:schemeClr val="tx2"/>
                </a:solidFill>
              </a:rPr>
              <a:t> 다음 각 호의 어느 하나에 해당하는 경우에는 그러하지 아니하다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581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97207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우선권주장의 </a:t>
            </a:r>
            <a:r>
              <a:rPr lang="ko-KR" altLang="en-US" dirty="0" err="1"/>
              <a:t>선출원이</a:t>
            </a:r>
            <a:r>
              <a:rPr lang="ko-KR" altLang="en-US" dirty="0"/>
              <a:t> 국제특허출원인 경우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790139" y="1769511"/>
            <a:ext cx="815820" cy="8213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202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3</a:t>
            </a:r>
            <a:r>
              <a:rPr lang="ko-KR" altLang="en-US" sz="1400" dirty="0">
                <a:solidFill>
                  <a:schemeClr val="bg1"/>
                </a:solidFill>
              </a:rPr>
              <a:t>항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1</a:t>
            </a:r>
            <a:r>
              <a:rPr lang="ko-KR" altLang="en-US" sz="1400" dirty="0">
                <a:solidFill>
                  <a:schemeClr val="bg1"/>
                </a:solidFill>
              </a:rPr>
              <a:t>호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5698067" y="2022735"/>
            <a:ext cx="6094239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400" dirty="0"/>
              <a:t>「</a:t>
            </a:r>
            <a:r>
              <a:rPr lang="ko-KR" altLang="en-US" sz="1400" dirty="0" err="1"/>
              <a:t>선출원의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최ㆍ명ㆍ도</a:t>
            </a:r>
            <a:r>
              <a:rPr lang="ko-KR" altLang="en-US" sz="1400" dirty="0"/>
              <a:t>」→ </a:t>
            </a:r>
            <a:r>
              <a:rPr lang="ko-KR" altLang="en-US" sz="1400" dirty="0" err="1"/>
              <a:t>선출원의</a:t>
            </a:r>
            <a:r>
              <a:rPr lang="ko-KR" altLang="en-US" sz="1400" dirty="0"/>
              <a:t> 발명의 설명</a:t>
            </a:r>
            <a:r>
              <a:rPr lang="en-US" altLang="ko-KR" sz="1400" dirty="0"/>
              <a:t>, </a:t>
            </a:r>
            <a:r>
              <a:rPr lang="ko-KR" altLang="en-US" sz="1400" dirty="0"/>
              <a:t>청구범위 또는 도면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2051668" y="1916850"/>
            <a:ext cx="2782799" cy="5266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400" dirty="0" err="1"/>
              <a:t>우선권주장할</a:t>
            </a:r>
            <a:r>
              <a:rPr lang="ko-KR" altLang="en-US" sz="1400" dirty="0"/>
              <a:t> 수 있는 범위</a:t>
            </a:r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55</a:t>
            </a:r>
            <a:r>
              <a:rPr lang="ko-KR" altLang="en-US" sz="1400" dirty="0"/>
              <a:t>①</a:t>
            </a:r>
            <a:r>
              <a:rPr lang="en-US" altLang="ko-KR" sz="1400" dirty="0"/>
              <a:t>) </a:t>
            </a:r>
            <a:r>
              <a:rPr lang="ko-KR" altLang="en-US" sz="1400" dirty="0"/>
              <a:t>및 판단시점 소급효 범위</a:t>
            </a:r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55</a:t>
            </a:r>
            <a:r>
              <a:rPr lang="ko-KR" altLang="en-US" sz="1400" dirty="0"/>
              <a:t>③⑤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34" name="직선 연결선 33"/>
          <p:cNvCxnSpPr>
            <a:stCxn id="17" idx="3"/>
            <a:endCxn id="33" idx="1"/>
          </p:cNvCxnSpPr>
          <p:nvPr/>
        </p:nvCxnSpPr>
        <p:spPr>
          <a:xfrm>
            <a:off x="1605959" y="2180161"/>
            <a:ext cx="44570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>
            <a:stCxn id="33" idx="3"/>
            <a:endCxn id="22" idx="1"/>
          </p:cNvCxnSpPr>
          <p:nvPr/>
        </p:nvCxnSpPr>
        <p:spPr>
          <a:xfrm flipV="1">
            <a:off x="4834467" y="2176624"/>
            <a:ext cx="863600" cy="353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790139" y="3090390"/>
            <a:ext cx="815820" cy="82122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202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3</a:t>
            </a:r>
            <a:r>
              <a:rPr lang="ko-KR" altLang="en-US" sz="1400" dirty="0">
                <a:solidFill>
                  <a:schemeClr val="bg1"/>
                </a:solidFill>
              </a:rPr>
              <a:t>항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2</a:t>
            </a:r>
            <a:r>
              <a:rPr lang="ko-KR" altLang="en-US" sz="1400" dirty="0">
                <a:solidFill>
                  <a:schemeClr val="bg1"/>
                </a:solidFill>
              </a:rPr>
              <a:t>호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3337525" y="2801689"/>
            <a:ext cx="8454781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400" dirty="0" err="1"/>
              <a:t>선출원의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최ㆍ명ㆍ도</a:t>
            </a:r>
            <a:r>
              <a:rPr lang="ko-KR" altLang="en-US" sz="1400" dirty="0"/>
              <a:t>」 → </a:t>
            </a:r>
            <a:r>
              <a:rPr lang="ko-KR" altLang="en-US" sz="1400" dirty="0" err="1"/>
              <a:t>선출원의</a:t>
            </a:r>
            <a:r>
              <a:rPr lang="ko-KR" altLang="en-US" sz="1400" dirty="0"/>
              <a:t> 발명의 설명</a:t>
            </a:r>
            <a:r>
              <a:rPr lang="en-US" altLang="ko-KR" sz="1400" dirty="0"/>
              <a:t>, </a:t>
            </a:r>
            <a:r>
              <a:rPr lang="ko-KR" altLang="en-US" sz="1400" dirty="0"/>
              <a:t>청구범위 또는 도면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3335866" y="3211220"/>
            <a:ext cx="8456441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400" dirty="0"/>
              <a:t>「</a:t>
            </a:r>
            <a:r>
              <a:rPr lang="ko-KR" altLang="en-US" sz="1400" dirty="0" err="1"/>
              <a:t>선출원에</a:t>
            </a:r>
            <a:r>
              <a:rPr lang="ko-KR" altLang="en-US" sz="1400" dirty="0"/>
              <a:t> 관하여 출원공개」→ </a:t>
            </a:r>
            <a:r>
              <a:rPr lang="ko-KR" altLang="en-US" sz="1400" dirty="0" err="1"/>
              <a:t>선출원에</a:t>
            </a:r>
            <a:r>
              <a:rPr lang="ko-KR" altLang="en-US" sz="1400" dirty="0"/>
              <a:t> 관하여 출원공개 또는 「특허협력조약」에 따라 국제공개</a:t>
            </a:r>
          </a:p>
        </p:txBody>
      </p:sp>
      <p:cxnSp>
        <p:nvCxnSpPr>
          <p:cNvPr id="53" name="꺾인 연결선 52"/>
          <p:cNvCxnSpPr>
            <a:stCxn id="55" idx="3"/>
            <a:endCxn id="51" idx="1"/>
          </p:cNvCxnSpPr>
          <p:nvPr/>
        </p:nvCxnSpPr>
        <p:spPr>
          <a:xfrm flipV="1">
            <a:off x="2867489" y="2955578"/>
            <a:ext cx="470036" cy="54542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55" idx="3"/>
            <a:endCxn id="52" idx="1"/>
          </p:cNvCxnSpPr>
          <p:nvPr/>
        </p:nvCxnSpPr>
        <p:spPr>
          <a:xfrm flipV="1">
            <a:off x="2867489" y="3365109"/>
            <a:ext cx="468377" cy="13589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2051669" y="3237692"/>
            <a:ext cx="815820" cy="5266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55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4</a:t>
            </a:r>
            <a:r>
              <a:rPr lang="ko-KR" altLang="en-US" sz="1400" dirty="0">
                <a:solidFill>
                  <a:schemeClr val="bg1"/>
                </a:solidFill>
              </a:rPr>
              <a:t>항 中</a:t>
            </a:r>
          </a:p>
        </p:txBody>
      </p:sp>
      <p:cxnSp>
        <p:nvCxnSpPr>
          <p:cNvPr id="57" name="직선 연결선 56"/>
          <p:cNvCxnSpPr>
            <a:stCxn id="50" idx="3"/>
            <a:endCxn id="55" idx="1"/>
          </p:cNvCxnSpPr>
          <p:nvPr/>
        </p:nvCxnSpPr>
        <p:spPr>
          <a:xfrm>
            <a:off x="1605959" y="3501003"/>
            <a:ext cx="44571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/>
          <p:cNvSpPr/>
          <p:nvPr/>
        </p:nvSpPr>
        <p:spPr>
          <a:xfrm>
            <a:off x="3335866" y="3628842"/>
            <a:ext cx="8456441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400" dirty="0"/>
              <a:t>선출원인 </a:t>
            </a:r>
            <a:r>
              <a:rPr lang="ko-KR" altLang="en-US" sz="1400" dirty="0" err="1"/>
              <a:t>국제특허출원이</a:t>
            </a:r>
            <a:r>
              <a:rPr lang="ko-KR" altLang="en-US" sz="1400" dirty="0"/>
              <a:t> 제</a:t>
            </a:r>
            <a:r>
              <a:rPr lang="en-US" altLang="ko-KR" sz="1400" dirty="0"/>
              <a:t>201</a:t>
            </a:r>
            <a:r>
              <a:rPr lang="ko-KR" altLang="en-US" sz="1400" dirty="0"/>
              <a:t>조</a:t>
            </a:r>
            <a:r>
              <a:rPr lang="en-US" altLang="ko-KR" sz="1400" dirty="0"/>
              <a:t>4</a:t>
            </a:r>
            <a:r>
              <a:rPr lang="ko-KR" altLang="en-US" sz="1400" dirty="0"/>
              <a:t>항에 따라 취하된 것으로 보는 경우에도 확대된 </a:t>
            </a:r>
            <a:r>
              <a:rPr lang="ko-KR" altLang="en-US" sz="1400" dirty="0" err="1"/>
              <a:t>선출원</a:t>
            </a:r>
            <a:r>
              <a:rPr lang="ko-KR" altLang="en-US" sz="1400" dirty="0"/>
              <a:t> 적용 시 다른 출원의 지위가 인정</a:t>
            </a:r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55</a:t>
            </a:r>
            <a:r>
              <a:rPr lang="ko-KR" altLang="en-US" sz="1400" dirty="0"/>
              <a:t>⑥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61" name="꺾인 연결선 60"/>
          <p:cNvCxnSpPr>
            <a:stCxn id="55" idx="3"/>
            <a:endCxn id="59" idx="1"/>
          </p:cNvCxnSpPr>
          <p:nvPr/>
        </p:nvCxnSpPr>
        <p:spPr>
          <a:xfrm>
            <a:off x="2867489" y="3501003"/>
            <a:ext cx="468377" cy="38944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/>
          <p:cNvSpPr/>
          <p:nvPr/>
        </p:nvSpPr>
        <p:spPr>
          <a:xfrm>
            <a:off x="790139" y="4453444"/>
            <a:ext cx="815820" cy="8213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202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3</a:t>
            </a:r>
            <a:r>
              <a:rPr lang="ko-KR" altLang="en-US" sz="1400" dirty="0">
                <a:solidFill>
                  <a:schemeClr val="bg1"/>
                </a:solidFill>
              </a:rPr>
              <a:t>항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3</a:t>
            </a:r>
            <a:r>
              <a:rPr lang="ko-KR" altLang="en-US" sz="1400" dirty="0">
                <a:solidFill>
                  <a:schemeClr val="bg1"/>
                </a:solidFill>
              </a:rPr>
              <a:t>호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4199467" y="4706668"/>
            <a:ext cx="759284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400" dirty="0"/>
              <a:t>「그 </a:t>
            </a:r>
            <a:r>
              <a:rPr lang="ko-KR" altLang="en-US" sz="1400" dirty="0" err="1"/>
              <a:t>출원일부터</a:t>
            </a:r>
            <a:r>
              <a:rPr lang="ko-KR" altLang="en-US" sz="1400" dirty="0"/>
              <a:t> </a:t>
            </a:r>
            <a:r>
              <a:rPr lang="en-US" altLang="ko-KR" sz="1400" dirty="0"/>
              <a:t>1</a:t>
            </a:r>
            <a:r>
              <a:rPr lang="ko-KR" altLang="en-US" sz="1400" dirty="0"/>
              <a:t>년 </a:t>
            </a:r>
            <a:r>
              <a:rPr lang="en-US" altLang="ko-KR" sz="1400" dirty="0"/>
              <a:t>3</a:t>
            </a:r>
            <a:r>
              <a:rPr lang="ko-KR" altLang="en-US" sz="1400" dirty="0"/>
              <a:t>개월이 지난 때」 → </a:t>
            </a:r>
            <a:r>
              <a:rPr lang="ko-KR" altLang="en-US" sz="1400" dirty="0" err="1"/>
              <a:t>국제출원일부터</a:t>
            </a:r>
            <a:r>
              <a:rPr lang="ko-KR" altLang="en-US" sz="1400" dirty="0"/>
              <a:t> </a:t>
            </a:r>
            <a:r>
              <a:rPr lang="en-US" altLang="ko-KR" sz="1400" dirty="0"/>
              <a:t>1</a:t>
            </a:r>
            <a:r>
              <a:rPr lang="ko-KR" altLang="en-US" sz="1400" dirty="0"/>
              <a:t>년 </a:t>
            </a:r>
            <a:r>
              <a:rPr lang="en-US" altLang="ko-KR" sz="1400" dirty="0"/>
              <a:t>3</a:t>
            </a:r>
            <a:r>
              <a:rPr lang="ko-KR" altLang="en-US" sz="1400" dirty="0"/>
              <a:t>개월이 지난 때와 기준일 중 늦은 때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2051669" y="4600783"/>
            <a:ext cx="1910732" cy="5266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400" dirty="0" err="1"/>
              <a:t>선출원의</a:t>
            </a:r>
            <a:r>
              <a:rPr lang="ko-KR" altLang="en-US" sz="1400" dirty="0"/>
              <a:t> 취하</a:t>
            </a:r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56</a:t>
            </a:r>
            <a:r>
              <a:rPr lang="ko-KR" altLang="en-US" sz="1400" dirty="0"/>
              <a:t>①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65" name="직선 연결선 64"/>
          <p:cNvCxnSpPr>
            <a:stCxn id="62" idx="3"/>
            <a:endCxn id="64" idx="1"/>
          </p:cNvCxnSpPr>
          <p:nvPr/>
        </p:nvCxnSpPr>
        <p:spPr>
          <a:xfrm>
            <a:off x="1605959" y="4864094"/>
            <a:ext cx="44571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>
            <a:stCxn id="64" idx="3"/>
            <a:endCxn id="63" idx="1"/>
          </p:cNvCxnSpPr>
          <p:nvPr/>
        </p:nvCxnSpPr>
        <p:spPr>
          <a:xfrm flipV="1">
            <a:off x="3962401" y="4860557"/>
            <a:ext cx="237066" cy="353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>
            <a:stCxn id="17" idx="1"/>
            <a:endCxn id="62" idx="1"/>
          </p:cNvCxnSpPr>
          <p:nvPr/>
        </p:nvCxnSpPr>
        <p:spPr>
          <a:xfrm rot="10800000" flipV="1">
            <a:off x="790139" y="2180160"/>
            <a:ext cx="12700" cy="2683933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73"/>
          <p:cNvCxnSpPr>
            <a:stCxn id="17" idx="1"/>
            <a:endCxn id="50" idx="1"/>
          </p:cNvCxnSpPr>
          <p:nvPr/>
        </p:nvCxnSpPr>
        <p:spPr>
          <a:xfrm rot="10800000" flipV="1">
            <a:off x="790139" y="2180161"/>
            <a:ext cx="12700" cy="1320842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582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82546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202</a:t>
            </a:r>
            <a:r>
              <a:rPr lang="ko-KR" altLang="en-US" dirty="0"/>
              <a:t>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국내우선권주장의 특례 정리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42391"/>
              </p:ext>
            </p:extLst>
          </p:nvPr>
        </p:nvGraphicFramePr>
        <p:xfrm>
          <a:off x="287867" y="1107687"/>
          <a:ext cx="11616266" cy="564391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52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3988">
                  <a:extLst>
                    <a:ext uri="{9D8B030D-6E8A-4147-A177-3AD203B41FA5}">
                      <a16:colId xmlns:a16="http://schemas.microsoft.com/office/drawing/2014/main" val="3243061442"/>
                    </a:ext>
                  </a:extLst>
                </a:gridCol>
                <a:gridCol w="12516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975">
                  <a:extLst>
                    <a:ext uri="{9D8B030D-6E8A-4147-A177-3AD203B41FA5}">
                      <a16:colId xmlns:a16="http://schemas.microsoft.com/office/drawing/2014/main" val="4284271094"/>
                    </a:ext>
                  </a:extLst>
                </a:gridCol>
                <a:gridCol w="14767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576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741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구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분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유 형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적용법률</a:t>
                      </a: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국내우선권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주장절차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 spc="-100" dirty="0" err="1">
                          <a:effectLst/>
                        </a:rPr>
                        <a:t>국내우선권주장의</a:t>
                      </a:r>
                      <a:r>
                        <a:rPr lang="ko-KR" altLang="en-US" sz="1200" kern="0" spc="-100" dirty="0">
                          <a:effectLst/>
                        </a:rPr>
                        <a:t> 취하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선출원의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취하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확대된 </a:t>
                      </a:r>
                      <a:r>
                        <a:rPr lang="ko-KR" altLang="en-US" sz="1200" kern="0" spc="-100" dirty="0" err="1">
                          <a:effectLst/>
                        </a:rPr>
                        <a:t>선출원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4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 err="1">
                          <a:effectLst/>
                        </a:rPr>
                        <a:t>선출원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 err="1">
                          <a:effectLst/>
                        </a:rPr>
                        <a:t>후출원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556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90" dirty="0">
                          <a:effectLst/>
                        </a:rPr>
                        <a:t>자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90" dirty="0">
                          <a:effectLst/>
                        </a:rPr>
                        <a:t>기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90" dirty="0">
                          <a:effectLst/>
                        </a:rPr>
                        <a:t>지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90" dirty="0">
                          <a:effectLst/>
                        </a:rPr>
                        <a:t>정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190" dirty="0">
                          <a:effectLst/>
                        </a:rPr>
                        <a:t>×</a:t>
                      </a:r>
                      <a:endParaRPr lang="ko-KR" altLang="en-US" sz="1200" b="1" kern="0" spc="-19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effectLst/>
                        </a:rPr>
                        <a:t>국내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effectLst/>
                        </a:rPr>
                        <a:t>국내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</a:t>
                      </a: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</a:t>
                      </a:r>
                      <a:endParaRPr lang="en-US" altLang="ko-KR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56 </a:t>
                      </a: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72000" marR="72000" marT="10963" marB="10963" anchor="ctr"/>
                </a:tc>
                <a:tc rowSpan="3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effectLst/>
                        </a:rPr>
                        <a:t>특허출원 시 </a:t>
                      </a:r>
                      <a:r>
                        <a:rPr lang="ko-KR" altLang="en-US" sz="1200" kern="0" spc="-50" dirty="0" err="1">
                          <a:effectLst/>
                        </a:rPr>
                        <a:t>특허출원서에</a:t>
                      </a:r>
                      <a:r>
                        <a:rPr lang="ko-KR" altLang="en-US" sz="1200" kern="0" spc="-50" dirty="0">
                          <a:effectLst/>
                        </a:rPr>
                        <a:t> 그 취지 및 선출원의 표시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effectLst/>
                        </a:rPr>
                        <a:t>法 </a:t>
                      </a:r>
                      <a:r>
                        <a:rPr lang="en-US" altLang="ko-KR" sz="1200" kern="0" spc="-50" dirty="0">
                          <a:effectLst/>
                        </a:rPr>
                        <a:t>55</a:t>
                      </a:r>
                      <a:r>
                        <a:rPr lang="ko-KR" altLang="en-US" sz="1200" kern="0" spc="-50" dirty="0">
                          <a:effectLst/>
                        </a:rPr>
                        <a:t>②</a:t>
                      </a:r>
                      <a:r>
                        <a:rPr lang="en-US" altLang="ko-KR" sz="1200" kern="0" spc="-50" dirty="0">
                          <a:effectLst/>
                        </a:rPr>
                        <a:t>)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 rowSpan="3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effectLst/>
                        </a:rPr>
                        <a:t>선출원의 출원일로부터 </a:t>
                      </a:r>
                      <a:r>
                        <a:rPr lang="en-US" altLang="ko-KR" sz="1200" kern="0" spc="-50" dirty="0">
                          <a:effectLst/>
                        </a:rPr>
                        <a:t>1</a:t>
                      </a:r>
                      <a:r>
                        <a:rPr lang="ko-KR" altLang="en-US" sz="1200" kern="0" spc="-50" dirty="0">
                          <a:effectLst/>
                        </a:rPr>
                        <a:t>년 </a:t>
                      </a:r>
                      <a:r>
                        <a:rPr lang="en-US" altLang="ko-KR" sz="1200" kern="0" spc="-50" dirty="0">
                          <a:effectLst/>
                        </a:rPr>
                        <a:t>3</a:t>
                      </a:r>
                      <a:r>
                        <a:rPr lang="ko-KR" altLang="en-US" sz="1200" kern="0" spc="-50" dirty="0">
                          <a:effectLst/>
                        </a:rPr>
                        <a:t>개월을 지나기 전까지 취하 가능</a:t>
                      </a:r>
                      <a:r>
                        <a:rPr lang="en-US" altLang="ko-KR" sz="1200" kern="0" spc="-50" dirty="0"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effectLst/>
                        </a:rPr>
                        <a:t>法 </a:t>
                      </a:r>
                      <a:r>
                        <a:rPr lang="en-US" altLang="ko-KR" sz="1200" kern="0" spc="-50" dirty="0">
                          <a:effectLst/>
                        </a:rPr>
                        <a:t>56</a:t>
                      </a:r>
                      <a:r>
                        <a:rPr lang="ko-KR" altLang="en-US" sz="1200" kern="0" spc="-50" dirty="0">
                          <a:effectLst/>
                        </a:rPr>
                        <a:t>②</a:t>
                      </a:r>
                      <a:r>
                        <a:rPr lang="en-US" altLang="ko-KR" sz="1200" kern="0" spc="-50" dirty="0">
                          <a:effectLst/>
                        </a:rPr>
                        <a:t>)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 rowSpan="2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10" dirty="0">
                          <a:effectLst/>
                        </a:rPr>
                        <a:t>선출원일로부터 </a:t>
                      </a:r>
                      <a:r>
                        <a:rPr lang="en-US" altLang="ko-KR" sz="1200" kern="0" spc="-110" dirty="0">
                          <a:effectLst/>
                        </a:rPr>
                        <a:t>1</a:t>
                      </a:r>
                      <a:r>
                        <a:rPr lang="ko-KR" altLang="en-US" sz="1200" kern="0" spc="-110" dirty="0">
                          <a:effectLst/>
                        </a:rPr>
                        <a:t>년 </a:t>
                      </a:r>
                      <a:r>
                        <a:rPr lang="en-US" altLang="ko-KR" sz="1200" kern="0" spc="-110" dirty="0">
                          <a:effectLst/>
                        </a:rPr>
                        <a:t>3</a:t>
                      </a:r>
                      <a:r>
                        <a:rPr lang="ko-KR" altLang="en-US" sz="1200" kern="0" spc="-110" dirty="0">
                          <a:effectLst/>
                        </a:rPr>
                        <a:t>개월이 지난 후 취하간주</a:t>
                      </a:r>
                      <a:r>
                        <a:rPr lang="en-US" altLang="ko-KR" sz="1200" kern="0" spc="-110" dirty="0">
                          <a:effectLst/>
                        </a:rPr>
                        <a:t>(</a:t>
                      </a:r>
                      <a:r>
                        <a:rPr lang="ko-KR" altLang="en-US" sz="1200" kern="0" spc="-110" dirty="0">
                          <a:effectLst/>
                        </a:rPr>
                        <a:t>法 </a:t>
                      </a:r>
                      <a:r>
                        <a:rPr lang="en-US" altLang="ko-KR" sz="1200" kern="0" spc="-110" dirty="0">
                          <a:effectLst/>
                        </a:rPr>
                        <a:t>56</a:t>
                      </a:r>
                      <a:r>
                        <a:rPr lang="ko-KR" altLang="en-US" sz="1200" kern="0" spc="-110" dirty="0">
                          <a:effectLst/>
                        </a:rPr>
                        <a:t>①</a:t>
                      </a:r>
                      <a:r>
                        <a:rPr lang="en-US" altLang="ko-KR" sz="1200" kern="0" spc="-110" dirty="0">
                          <a:effectLst/>
                        </a:rPr>
                        <a:t>)</a:t>
                      </a:r>
                      <a:endParaRPr lang="ko-KR" altLang="en-US" sz="1200" kern="0" spc="-11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 err="1">
                          <a:effectLst/>
                        </a:rPr>
                        <a:t>후출원의</a:t>
                      </a:r>
                      <a:r>
                        <a:rPr lang="ko-KR" altLang="en-US" sz="1200" kern="0" spc="-50" dirty="0">
                          <a:effectLst/>
                        </a:rPr>
                        <a:t> </a:t>
                      </a:r>
                      <a:r>
                        <a:rPr lang="ko-KR" altLang="en-US" sz="1200" kern="0" spc="-50" dirty="0" err="1">
                          <a:effectLst/>
                        </a:rPr>
                        <a:t>최ㆍ명ㆍ도에</a:t>
                      </a:r>
                      <a:r>
                        <a:rPr lang="ko-KR" altLang="en-US" sz="1200" kern="0" spc="-50" dirty="0">
                          <a:effectLst/>
                        </a:rPr>
                        <a:t> 기재된 발명 중 </a:t>
                      </a:r>
                      <a:r>
                        <a:rPr lang="ko-KR" altLang="en-US" sz="1200" kern="0" spc="-50" dirty="0" err="1">
                          <a:effectLst/>
                        </a:rPr>
                        <a:t>선출원의</a:t>
                      </a:r>
                      <a:r>
                        <a:rPr lang="ko-KR" altLang="en-US" sz="1200" kern="0" spc="-50" dirty="0">
                          <a:effectLst/>
                        </a:rPr>
                        <a:t> </a:t>
                      </a:r>
                      <a:r>
                        <a:rPr lang="ko-KR" altLang="en-US" sz="1200" kern="0" spc="-50" dirty="0" err="1">
                          <a:effectLst/>
                        </a:rPr>
                        <a:t>최ㆍ명ㆍ도에</a:t>
                      </a:r>
                      <a:r>
                        <a:rPr lang="ko-KR" altLang="en-US" sz="1200" kern="0" spc="-50" dirty="0">
                          <a:effectLst/>
                        </a:rPr>
                        <a:t> 기재된 발명과 같은 발명은 </a:t>
                      </a:r>
                      <a:r>
                        <a:rPr lang="ko-KR" altLang="en-US" sz="1200" kern="0" spc="-50" dirty="0" err="1">
                          <a:effectLst/>
                        </a:rPr>
                        <a:t>후출원이</a:t>
                      </a:r>
                      <a:r>
                        <a:rPr lang="ko-KR" altLang="en-US" sz="1200" kern="0" spc="-50" dirty="0">
                          <a:effectLst/>
                        </a:rPr>
                        <a:t> 출원공개 또는 </a:t>
                      </a:r>
                      <a:r>
                        <a:rPr lang="ko-KR" altLang="en-US" sz="1200" kern="0" spc="-50" dirty="0" err="1">
                          <a:effectLst/>
                        </a:rPr>
                        <a:t>등록공고되었을</a:t>
                      </a:r>
                      <a:r>
                        <a:rPr lang="ko-KR" altLang="en-US" sz="1200" kern="0" spc="-50" dirty="0">
                          <a:effectLst/>
                        </a:rPr>
                        <a:t> 때에 </a:t>
                      </a:r>
                      <a:r>
                        <a:rPr lang="ko-KR" altLang="en-US" sz="1200" kern="0" spc="-50" dirty="0" err="1">
                          <a:effectLst/>
                        </a:rPr>
                        <a:t>선출원에</a:t>
                      </a:r>
                      <a:r>
                        <a:rPr lang="ko-KR" altLang="en-US" sz="1200" kern="0" spc="-50" dirty="0">
                          <a:effectLst/>
                        </a:rPr>
                        <a:t> 관하여 </a:t>
                      </a:r>
                      <a:r>
                        <a:rPr lang="ko-KR" altLang="en-US" sz="1200" kern="0" spc="-50" dirty="0" err="1">
                          <a:effectLst/>
                        </a:rPr>
                        <a:t>출원공개된</a:t>
                      </a:r>
                      <a:r>
                        <a:rPr lang="ko-KR" altLang="en-US" sz="1200" kern="0" spc="-50" dirty="0">
                          <a:effectLst/>
                        </a:rPr>
                        <a:t> 것으로 간주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7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140" dirty="0">
                          <a:effectLst/>
                        </a:rPr>
                        <a:t>PCT</a:t>
                      </a:r>
                      <a:endParaRPr lang="ko-KR" altLang="en-US" sz="1200" b="1" kern="0" spc="-14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140" dirty="0">
                          <a:effectLst/>
                        </a:rPr>
                        <a:t>(</a:t>
                      </a:r>
                      <a:r>
                        <a:rPr lang="ko-KR" altLang="en-US" sz="1200" b="1" kern="0" spc="-140" dirty="0" err="1">
                          <a:effectLst/>
                        </a:rPr>
                        <a:t>지정국</a:t>
                      </a:r>
                      <a:r>
                        <a:rPr lang="ko-KR" altLang="en-US" sz="1200" b="1" kern="0" spc="-140" dirty="0">
                          <a:effectLst/>
                        </a:rPr>
                        <a:t> </a:t>
                      </a:r>
                      <a:r>
                        <a:rPr lang="en-US" altLang="ko-KR" sz="1200" b="1" kern="0" spc="-140" dirty="0">
                          <a:effectLst/>
                        </a:rPr>
                        <a:t>: </a:t>
                      </a:r>
                      <a:endParaRPr lang="ko-KR" altLang="en-US" sz="1200" b="1" kern="0" spc="-14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40" dirty="0">
                          <a:effectLst/>
                        </a:rPr>
                        <a:t>한국</a:t>
                      </a:r>
                      <a:r>
                        <a:rPr lang="en-US" altLang="ko-KR" sz="1200" b="1" kern="0" spc="-140" dirty="0">
                          <a:effectLst/>
                        </a:rPr>
                        <a:t>, </a:t>
                      </a:r>
                      <a:r>
                        <a:rPr lang="ko-KR" altLang="en-US" sz="1200" b="1" kern="0" spc="-140" dirty="0">
                          <a:effectLst/>
                        </a:rPr>
                        <a:t>일본 등</a:t>
                      </a:r>
                      <a:r>
                        <a:rPr lang="en-US" altLang="ko-KR" sz="1200" b="1" kern="0" spc="-140" dirty="0">
                          <a:effectLst/>
                        </a:rPr>
                        <a:t>)</a:t>
                      </a:r>
                      <a:endParaRPr lang="ko-KR" altLang="en-US" sz="1200" b="1" kern="0" spc="-14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effectLst/>
                        </a:rPr>
                        <a:t>국내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100">
                          <a:effectLst/>
                        </a:rPr>
                        <a:t>(</a:t>
                      </a:r>
                      <a:r>
                        <a:rPr lang="ko-KR" altLang="en-US" sz="1200" b="1" kern="0" spc="-100">
                          <a:effectLst/>
                        </a:rPr>
                        <a:t>국내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effectLst/>
                        </a:rPr>
                        <a:t>우선권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effectLst/>
                        </a:rPr>
                        <a:t>선택</a:t>
                      </a:r>
                      <a:r>
                        <a:rPr lang="en-US" altLang="ko-KR" sz="1200" b="1" kern="0" spc="-100">
                          <a:effectLst/>
                        </a:rPr>
                        <a:t>)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</a:t>
                      </a: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</a:t>
                      </a:r>
                      <a:endParaRPr lang="en-US" altLang="ko-KR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56</a:t>
                      </a: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</a:t>
                      </a:r>
                      <a:endParaRPr lang="en-US" altLang="ko-KR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</a:t>
                      </a: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</a:t>
                      </a:r>
                      <a:endParaRPr lang="en-US" altLang="ko-KR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effectLst/>
                        </a:rPr>
                        <a:t>국제출원일부터 </a:t>
                      </a:r>
                      <a:r>
                        <a:rPr lang="en-US" altLang="ko-KR" sz="1200" kern="0" spc="-50" dirty="0">
                          <a:effectLst/>
                        </a:rPr>
                        <a:t>1</a:t>
                      </a:r>
                      <a:r>
                        <a:rPr lang="ko-KR" altLang="en-US" sz="1200" kern="0" spc="-50" dirty="0">
                          <a:effectLst/>
                        </a:rPr>
                        <a:t>년 </a:t>
                      </a:r>
                      <a:r>
                        <a:rPr lang="en-US" altLang="ko-KR" sz="1200" kern="0" spc="-50" dirty="0">
                          <a:effectLst/>
                        </a:rPr>
                        <a:t>3</a:t>
                      </a:r>
                      <a:r>
                        <a:rPr lang="ko-KR" altLang="en-US" sz="1200" kern="0" spc="-50" dirty="0">
                          <a:effectLst/>
                        </a:rPr>
                        <a:t>개월이 지난 때와 기준일 중 늦은 때 취하간주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effectLst/>
                        </a:rPr>
                        <a:t>法 </a:t>
                      </a:r>
                      <a:r>
                        <a:rPr lang="en-US" altLang="ko-KR" sz="1200" kern="0" spc="-50" dirty="0">
                          <a:effectLst/>
                        </a:rPr>
                        <a:t>202</a:t>
                      </a:r>
                      <a:r>
                        <a:rPr lang="ko-KR" altLang="en-US" sz="1200" kern="0" spc="-50" dirty="0">
                          <a:effectLst/>
                        </a:rPr>
                        <a:t>③</a:t>
                      </a:r>
                      <a:r>
                        <a:rPr lang="en-US" altLang="ko-KR" sz="1200" kern="0" spc="-50" dirty="0">
                          <a:effectLst/>
                        </a:rPr>
                        <a:t>)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 rowSpan="2">
                  <a:txBody>
                    <a:bodyPr/>
                    <a:lstStyle/>
                    <a:p>
                      <a:pPr marL="128270" marR="17780" indent="-1282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1. </a:t>
                      </a:r>
                      <a:r>
                        <a:rPr lang="ko-KR" altLang="en-US" sz="1200" kern="0" spc="-50" dirty="0">
                          <a:effectLst/>
                        </a:rPr>
                        <a:t>후출원의 </a:t>
                      </a:r>
                      <a:r>
                        <a:rPr lang="ko-KR" altLang="en-US" sz="1200" kern="0" spc="-50" dirty="0" err="1">
                          <a:effectLst/>
                        </a:rPr>
                        <a:t>최ㆍ명ㆍ도에</a:t>
                      </a:r>
                      <a:r>
                        <a:rPr lang="ko-KR" altLang="en-US" sz="1200" kern="0" spc="-50" dirty="0">
                          <a:effectLst/>
                        </a:rPr>
                        <a:t> 기재된 발명 중 선출원의 「국제출원일까지 제출된 국제출원의 발명의 설명</a:t>
                      </a:r>
                      <a:r>
                        <a:rPr lang="en-US" altLang="ko-KR" sz="1200" kern="0" spc="-50" dirty="0">
                          <a:effectLst/>
                        </a:rPr>
                        <a:t>, </a:t>
                      </a:r>
                      <a:r>
                        <a:rPr lang="ko-KR" altLang="en-US" sz="1200" kern="0" spc="-50" dirty="0">
                          <a:effectLst/>
                        </a:rPr>
                        <a:t>청구범위 또는 도면에 기재된 </a:t>
                      </a:r>
                      <a:r>
                        <a:rPr lang="ko-KR" altLang="en-US" sz="1200" kern="0" spc="-50" dirty="0" err="1">
                          <a:effectLst/>
                        </a:rPr>
                        <a:t>발명」과</a:t>
                      </a:r>
                      <a:r>
                        <a:rPr lang="ko-KR" altLang="en-US" sz="1200" kern="0" spc="-50" dirty="0">
                          <a:effectLst/>
                        </a:rPr>
                        <a:t> 같은 발명은 후출원이 출원공개 또는 </a:t>
                      </a:r>
                      <a:r>
                        <a:rPr lang="ko-KR" altLang="en-US" sz="1200" kern="0" spc="-50" dirty="0" err="1">
                          <a:effectLst/>
                        </a:rPr>
                        <a:t>등록공고되었을</a:t>
                      </a:r>
                      <a:r>
                        <a:rPr lang="ko-KR" altLang="en-US" sz="1200" kern="0" spc="-50" dirty="0">
                          <a:effectLst/>
                        </a:rPr>
                        <a:t> 때에 「선출원에 관하여 출원공개 또는 「특허협력조약」 제</a:t>
                      </a:r>
                      <a:r>
                        <a:rPr lang="en-US" altLang="ko-KR" sz="1200" kern="0" spc="-50" dirty="0">
                          <a:effectLst/>
                        </a:rPr>
                        <a:t>21</a:t>
                      </a:r>
                      <a:r>
                        <a:rPr lang="ko-KR" altLang="en-US" sz="1200" kern="0" spc="-50" dirty="0">
                          <a:effectLst/>
                        </a:rPr>
                        <a:t>조에 따른 </a:t>
                      </a:r>
                      <a:r>
                        <a:rPr lang="ko-KR" altLang="en-US" sz="1200" kern="0" spc="-50" dirty="0" err="1">
                          <a:effectLst/>
                        </a:rPr>
                        <a:t>국제공개」된</a:t>
                      </a:r>
                      <a:r>
                        <a:rPr lang="ko-KR" altLang="en-US" sz="1200" kern="0" spc="-50" dirty="0">
                          <a:effectLst/>
                        </a:rPr>
                        <a:t> 것으로 간주</a:t>
                      </a:r>
                    </a:p>
                    <a:p>
                      <a:pPr marL="128270" marR="17780" indent="-1282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20" dirty="0">
                          <a:effectLst/>
                        </a:rPr>
                        <a:t>2. </a:t>
                      </a:r>
                      <a:r>
                        <a:rPr lang="ko-KR" altLang="en-US" sz="1200" kern="0" spc="-120" dirty="0">
                          <a:effectLst/>
                        </a:rPr>
                        <a:t>선출원인 </a:t>
                      </a:r>
                      <a:r>
                        <a:rPr lang="ko-KR" altLang="en-US" sz="1200" kern="0" spc="-120" dirty="0" err="1">
                          <a:effectLst/>
                        </a:rPr>
                        <a:t>국제특허출원이</a:t>
                      </a:r>
                      <a:r>
                        <a:rPr lang="ko-KR" altLang="en-US" sz="1200" kern="0" spc="-120" dirty="0">
                          <a:effectLst/>
                        </a:rPr>
                        <a:t> 제</a:t>
                      </a:r>
                      <a:r>
                        <a:rPr lang="en-US" altLang="ko-KR" sz="1200" kern="0" spc="-120" dirty="0">
                          <a:effectLst/>
                        </a:rPr>
                        <a:t>201</a:t>
                      </a:r>
                      <a:r>
                        <a:rPr lang="ko-KR" altLang="en-US" sz="1200" kern="0" spc="-120" dirty="0">
                          <a:effectLst/>
                        </a:rPr>
                        <a:t>조</a:t>
                      </a:r>
                      <a:r>
                        <a:rPr lang="en-US" altLang="ko-KR" sz="1200" kern="0" spc="-120" dirty="0">
                          <a:effectLst/>
                        </a:rPr>
                        <a:t>4</a:t>
                      </a:r>
                      <a:r>
                        <a:rPr lang="ko-KR" altLang="en-US" sz="1200" kern="0" spc="-120" dirty="0">
                          <a:effectLst/>
                        </a:rPr>
                        <a:t>항에 따라 취하된 것으로 보는 경우에도 확대된 </a:t>
                      </a:r>
                      <a:r>
                        <a:rPr lang="ko-KR" altLang="en-US" sz="1200" kern="0" spc="-120" dirty="0" err="1">
                          <a:effectLst/>
                        </a:rPr>
                        <a:t>선출원</a:t>
                      </a:r>
                      <a:r>
                        <a:rPr lang="ko-KR" altLang="en-US" sz="1200" kern="0" spc="-120" dirty="0">
                          <a:effectLst/>
                        </a:rPr>
                        <a:t> 적용 시 다른 출원의 지위가 인정된다</a:t>
                      </a:r>
                      <a:r>
                        <a:rPr lang="en-US" altLang="ko-KR" sz="1200" kern="0" spc="-120" dirty="0">
                          <a:effectLst/>
                        </a:rPr>
                        <a:t>(</a:t>
                      </a:r>
                      <a:r>
                        <a:rPr lang="ko-KR" altLang="en-US" sz="1200" kern="0" spc="-120" dirty="0">
                          <a:effectLst/>
                        </a:rPr>
                        <a:t>法 </a:t>
                      </a:r>
                      <a:r>
                        <a:rPr lang="en-US" altLang="ko-KR" sz="1200" kern="0" spc="-120" dirty="0">
                          <a:effectLst/>
                        </a:rPr>
                        <a:t>55</a:t>
                      </a:r>
                      <a:r>
                        <a:rPr lang="ko-KR" altLang="en-US" sz="1200" kern="0" spc="-120" dirty="0">
                          <a:effectLst/>
                        </a:rPr>
                        <a:t>⑥</a:t>
                      </a:r>
                      <a:r>
                        <a:rPr lang="en-US" altLang="ko-KR" sz="1200" kern="0" spc="-120" dirty="0">
                          <a:effectLst/>
                        </a:rPr>
                        <a:t>).</a:t>
                      </a:r>
                      <a:endParaRPr lang="ko-KR" altLang="en-US" sz="1200" kern="0" spc="-12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93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effectLst/>
                        </a:rPr>
                        <a:t>국제출원일부터 </a:t>
                      </a:r>
                      <a:r>
                        <a:rPr lang="en-US" altLang="ko-KR" sz="1200" kern="0" spc="-50" dirty="0">
                          <a:effectLst/>
                        </a:rPr>
                        <a:t>1</a:t>
                      </a:r>
                      <a:r>
                        <a:rPr lang="ko-KR" altLang="en-US" sz="1200" kern="0" spc="-50" dirty="0">
                          <a:effectLst/>
                        </a:rPr>
                        <a:t>년 </a:t>
                      </a:r>
                      <a:r>
                        <a:rPr lang="en-US" altLang="ko-KR" sz="1200" kern="0" spc="-50" dirty="0">
                          <a:effectLst/>
                        </a:rPr>
                        <a:t>3</a:t>
                      </a:r>
                      <a:r>
                        <a:rPr lang="ko-KR" altLang="en-US" sz="1200" kern="0" spc="-50" dirty="0">
                          <a:effectLst/>
                        </a:rPr>
                        <a:t>개월이 지난 때와 기준일 중 늦은 때 취하간주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effectLst/>
                        </a:rPr>
                        <a:t>法 </a:t>
                      </a:r>
                      <a:r>
                        <a:rPr lang="en-US" altLang="ko-KR" sz="1200" kern="0" spc="-50" dirty="0">
                          <a:effectLst/>
                        </a:rPr>
                        <a:t>202</a:t>
                      </a:r>
                      <a:r>
                        <a:rPr lang="ko-KR" altLang="en-US" sz="1200" kern="0" spc="-50" dirty="0">
                          <a:effectLst/>
                        </a:rPr>
                        <a:t>③</a:t>
                      </a:r>
                      <a:r>
                        <a:rPr lang="en-US" altLang="ko-KR" sz="1200" kern="0" spc="-50" dirty="0">
                          <a:effectLst/>
                        </a:rPr>
                        <a:t>)</a:t>
                      </a:r>
                      <a:endParaRPr lang="ko-KR" altLang="en-US" dirty="0"/>
                    </a:p>
                  </a:txBody>
                  <a:tcPr marL="72000" marR="72000" marT="10963" marB="10963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453812"/>
                  </a:ext>
                </a:extLst>
              </a:tr>
              <a:tr h="177053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90">
                          <a:effectLst/>
                        </a:rPr>
                        <a:t>자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90">
                          <a:effectLst/>
                        </a:rPr>
                        <a:t>기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90">
                          <a:effectLst/>
                        </a:rPr>
                        <a:t>지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90">
                          <a:effectLst/>
                        </a:rPr>
                        <a:t>정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90">
                          <a:effectLst/>
                        </a:rPr>
                        <a:t>○</a:t>
                      </a:r>
                      <a:endParaRPr lang="ko-KR" altLang="en-US" sz="1200" b="1" kern="0" spc="-19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effectLst/>
                        </a:rPr>
                        <a:t>PCT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90">
                          <a:effectLst/>
                        </a:rPr>
                        <a:t>(</a:t>
                      </a:r>
                      <a:r>
                        <a:rPr lang="ko-KR" altLang="en-US" sz="1200" b="1" kern="0" spc="-190">
                          <a:effectLst/>
                        </a:rPr>
                        <a:t>지정국 </a:t>
                      </a:r>
                      <a:r>
                        <a:rPr lang="en-US" altLang="ko-KR" sz="1200" b="1" kern="0" spc="-190">
                          <a:effectLst/>
                        </a:rPr>
                        <a:t>: </a:t>
                      </a:r>
                      <a:endParaRPr lang="ko-KR" altLang="en-US" sz="1200" b="1" kern="0" spc="-19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90">
                          <a:effectLst/>
                        </a:rPr>
                        <a:t>한국</a:t>
                      </a:r>
                      <a:r>
                        <a:rPr lang="en-US" altLang="ko-KR" sz="1200" b="1" kern="0" spc="-190">
                          <a:effectLst/>
                        </a:rPr>
                        <a:t>)</a:t>
                      </a:r>
                      <a:endParaRPr lang="ko-KR" altLang="en-US" sz="1200" b="1" kern="0" spc="-19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140">
                          <a:effectLst/>
                        </a:rPr>
                        <a:t>PCT</a:t>
                      </a:r>
                      <a:endParaRPr lang="ko-KR" altLang="en-US" sz="1200" b="1" kern="0" spc="-14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140">
                          <a:effectLst/>
                        </a:rPr>
                        <a:t>(</a:t>
                      </a:r>
                      <a:r>
                        <a:rPr lang="ko-KR" altLang="en-US" sz="1200" b="1" kern="0" spc="-140">
                          <a:effectLst/>
                        </a:rPr>
                        <a:t>지정국 </a:t>
                      </a:r>
                      <a:r>
                        <a:rPr lang="en-US" altLang="ko-KR" sz="1200" b="1" kern="0" spc="-140">
                          <a:effectLst/>
                        </a:rPr>
                        <a:t>: </a:t>
                      </a:r>
                      <a:endParaRPr lang="ko-KR" altLang="en-US" sz="1200" b="1" kern="0" spc="-14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40">
                          <a:effectLst/>
                        </a:rPr>
                        <a:t>한국</a:t>
                      </a:r>
                      <a:r>
                        <a:rPr lang="en-US" altLang="ko-KR" sz="1200" b="1" kern="0" spc="-140">
                          <a:effectLst/>
                        </a:rPr>
                        <a:t>, </a:t>
                      </a:r>
                      <a:r>
                        <a:rPr lang="ko-KR" altLang="en-US" sz="1200" b="1" kern="0" spc="-140">
                          <a:effectLst/>
                        </a:rPr>
                        <a:t>일본 등</a:t>
                      </a:r>
                      <a:r>
                        <a:rPr lang="en-US" altLang="ko-KR" sz="1200" b="1" kern="0" spc="-140">
                          <a:effectLst/>
                        </a:rPr>
                        <a:t>)</a:t>
                      </a:r>
                      <a:endParaRPr lang="ko-KR" altLang="en-US" sz="1200" b="1" kern="0" spc="-14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</a:t>
                      </a:r>
                      <a:r>
                        <a:rPr lang="ko-KR" altLang="en-US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</a:t>
                      </a:r>
                      <a:endParaRPr lang="en-US" altLang="ko-KR" sz="1200" b="1" kern="0" spc="-14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56</a:t>
                      </a:r>
                      <a:r>
                        <a:rPr lang="ko-KR" altLang="en-US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</a:t>
                      </a:r>
                      <a:endParaRPr lang="en-US" altLang="ko-KR" sz="1200" b="1" kern="0" spc="-14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</a:t>
                      </a:r>
                      <a:r>
                        <a:rPr lang="ko-KR" altLang="en-US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</a:t>
                      </a:r>
                      <a:r>
                        <a:rPr lang="en-US" altLang="ko-KR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</a:t>
                      </a:r>
                      <a:endParaRPr lang="en-US" altLang="ko-KR" sz="1200" b="1" kern="0" spc="-14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 rowSpan="2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PCT </a:t>
                      </a:r>
                      <a:r>
                        <a:rPr lang="ko-KR" altLang="en-US" sz="1200" kern="0" spc="-50" dirty="0">
                          <a:effectLst/>
                        </a:rPr>
                        <a:t>제</a:t>
                      </a:r>
                      <a:r>
                        <a:rPr lang="en-US" altLang="ko-KR" sz="1200" kern="0" spc="-50" dirty="0">
                          <a:effectLst/>
                        </a:rPr>
                        <a:t>8</a:t>
                      </a:r>
                      <a:r>
                        <a:rPr lang="ko-KR" altLang="en-US" sz="1200" kern="0" spc="-50" dirty="0">
                          <a:effectLst/>
                        </a:rPr>
                        <a:t>조에 의하여 국제출원서에 우선권주장의 취지 및 선출원의 표시</a:t>
                      </a:r>
                      <a:r>
                        <a:rPr lang="en-US" altLang="ko-KR" sz="1200" kern="0" spc="-50" dirty="0"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effectLst/>
                        </a:rPr>
                        <a:t>法 </a:t>
                      </a:r>
                      <a:r>
                        <a:rPr lang="en-US" altLang="ko-KR" sz="1200" kern="0" spc="-50" dirty="0">
                          <a:effectLst/>
                        </a:rPr>
                        <a:t>202</a:t>
                      </a:r>
                      <a:r>
                        <a:rPr lang="ko-KR" altLang="en-US" sz="1200" kern="0" spc="-50" dirty="0">
                          <a:effectLst/>
                        </a:rPr>
                        <a:t>①</a:t>
                      </a:r>
                      <a:r>
                        <a:rPr lang="en-US" altLang="ko-KR" sz="1200" kern="0" spc="-50" dirty="0">
                          <a:effectLst/>
                        </a:rPr>
                        <a:t>)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 rowSpan="2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10" dirty="0">
                          <a:effectLst/>
                        </a:rPr>
                        <a:t>우선일로부터 </a:t>
                      </a:r>
                      <a:r>
                        <a:rPr lang="en-US" altLang="ko-KR" sz="1200" kern="0" spc="-110" dirty="0">
                          <a:effectLst/>
                        </a:rPr>
                        <a:t>2</a:t>
                      </a:r>
                      <a:r>
                        <a:rPr lang="ko-KR" altLang="en-US" sz="1200" kern="0" spc="-110" dirty="0">
                          <a:effectLst/>
                        </a:rPr>
                        <a:t>년 </a:t>
                      </a:r>
                      <a:r>
                        <a:rPr lang="en-US" altLang="ko-KR" sz="1200" kern="0" spc="-110" dirty="0">
                          <a:effectLst/>
                        </a:rPr>
                        <a:t>6</a:t>
                      </a:r>
                      <a:r>
                        <a:rPr lang="ko-KR" altLang="en-US" sz="1200" kern="0" spc="-110" dirty="0">
                          <a:effectLst/>
                        </a:rPr>
                        <a:t>개월을 지나기 전과 </a:t>
                      </a:r>
                      <a:r>
                        <a:rPr lang="ko-KR" altLang="en-US" sz="1200" kern="0" spc="-110" dirty="0" err="1">
                          <a:effectLst/>
                        </a:rPr>
                        <a:t>출원인이</a:t>
                      </a:r>
                      <a:r>
                        <a:rPr lang="ko-KR" altLang="en-US" sz="1200" kern="0" spc="-110" dirty="0">
                          <a:effectLst/>
                        </a:rPr>
                        <a:t> 출원심사청구를 하기 전 중 빠른 때까지 우선권 주장의 일부 또는 전부 취하 가능</a:t>
                      </a:r>
                      <a:r>
                        <a:rPr lang="en-US" altLang="ko-KR" sz="1200" kern="0" spc="-110" dirty="0">
                          <a:effectLst/>
                        </a:rPr>
                        <a:t>(</a:t>
                      </a:r>
                      <a:r>
                        <a:rPr lang="ko-KR" altLang="en-US" sz="1200" kern="0" spc="-110" dirty="0" err="1">
                          <a:effectLst/>
                        </a:rPr>
                        <a:t>施規</a:t>
                      </a:r>
                      <a:r>
                        <a:rPr lang="ko-KR" altLang="en-US" sz="1200" kern="0" spc="-110" dirty="0">
                          <a:effectLst/>
                        </a:rPr>
                        <a:t> </a:t>
                      </a:r>
                      <a:r>
                        <a:rPr lang="en-US" altLang="ko-KR" sz="1200" kern="0" spc="-110" dirty="0">
                          <a:effectLst/>
                        </a:rPr>
                        <a:t>106</a:t>
                      </a:r>
                      <a:r>
                        <a:rPr lang="ko-KR" altLang="en-US" sz="1200" kern="0" spc="-110" dirty="0">
                          <a:effectLst/>
                        </a:rPr>
                        <a:t>의</a:t>
                      </a:r>
                      <a:r>
                        <a:rPr lang="en-US" altLang="ko-KR" sz="1200" kern="0" spc="-110" dirty="0">
                          <a:effectLst/>
                        </a:rPr>
                        <a:t>7)</a:t>
                      </a:r>
                      <a:endParaRPr lang="ko-KR" altLang="en-US" sz="1200" kern="0" spc="-11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970" marR="17780" indent="-1409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1. </a:t>
                      </a:r>
                      <a:r>
                        <a:rPr lang="ko-KR" altLang="en-US" sz="1200" kern="0" spc="-50" dirty="0">
                          <a:effectLst/>
                        </a:rPr>
                        <a:t>후출원의 「국제출원일까지 제출된 발명의 설명</a:t>
                      </a:r>
                      <a:r>
                        <a:rPr lang="en-US" altLang="ko-KR" sz="1200" kern="0" spc="-50" dirty="0">
                          <a:effectLst/>
                        </a:rPr>
                        <a:t>, </a:t>
                      </a:r>
                      <a:r>
                        <a:rPr lang="ko-KR" altLang="en-US" sz="1200" kern="0" spc="-50" dirty="0">
                          <a:effectLst/>
                        </a:rPr>
                        <a:t>청구범위 또는 </a:t>
                      </a:r>
                      <a:r>
                        <a:rPr lang="ko-KR" altLang="en-US" sz="1200" kern="0" spc="-50" dirty="0" err="1">
                          <a:effectLst/>
                        </a:rPr>
                        <a:t>도면」에</a:t>
                      </a:r>
                      <a:r>
                        <a:rPr lang="ko-KR" altLang="en-US" sz="1200" kern="0" spc="-50" dirty="0">
                          <a:effectLst/>
                        </a:rPr>
                        <a:t> 기재된 발명 중 선출원의 「국제출원일까지 제출된 국제출원의 발명의 설명</a:t>
                      </a:r>
                      <a:r>
                        <a:rPr lang="en-US" altLang="ko-KR" sz="1200" kern="0" spc="-50" dirty="0">
                          <a:effectLst/>
                        </a:rPr>
                        <a:t>, </a:t>
                      </a:r>
                      <a:r>
                        <a:rPr lang="ko-KR" altLang="en-US" sz="1200" kern="0" spc="-50" dirty="0">
                          <a:effectLst/>
                        </a:rPr>
                        <a:t>청구범위 또는 </a:t>
                      </a:r>
                      <a:r>
                        <a:rPr lang="ko-KR" altLang="en-US" sz="1200" kern="0" spc="-50" dirty="0" err="1">
                          <a:effectLst/>
                        </a:rPr>
                        <a:t>도면」에</a:t>
                      </a:r>
                      <a:r>
                        <a:rPr lang="ko-KR" altLang="en-US" sz="1200" kern="0" spc="-50" dirty="0">
                          <a:effectLst/>
                        </a:rPr>
                        <a:t> 기재된 발명과 같은 발명은 후출원이 「출원공개 또는 「특허협력조약」 제</a:t>
                      </a:r>
                      <a:r>
                        <a:rPr lang="en-US" altLang="ko-KR" sz="1200" kern="0" spc="-50" dirty="0">
                          <a:effectLst/>
                        </a:rPr>
                        <a:t>21</a:t>
                      </a:r>
                      <a:r>
                        <a:rPr lang="ko-KR" altLang="en-US" sz="1200" kern="0" spc="-50" dirty="0">
                          <a:effectLst/>
                        </a:rPr>
                        <a:t>조에 따라 </a:t>
                      </a:r>
                      <a:r>
                        <a:rPr lang="ko-KR" altLang="en-US" sz="1200" kern="0" spc="-50" dirty="0" err="1">
                          <a:effectLst/>
                        </a:rPr>
                        <a:t>국제공개되거나</a:t>
                      </a:r>
                      <a:r>
                        <a:rPr lang="ko-KR" altLang="en-US" sz="1200" kern="0" spc="-50" dirty="0">
                          <a:effectLst/>
                        </a:rPr>
                        <a:t>」 또는 </a:t>
                      </a:r>
                      <a:r>
                        <a:rPr lang="ko-KR" altLang="en-US" sz="1200" kern="0" spc="-50" dirty="0" err="1">
                          <a:effectLst/>
                        </a:rPr>
                        <a:t>등록공고되었을</a:t>
                      </a:r>
                      <a:r>
                        <a:rPr lang="ko-KR" altLang="en-US" sz="1200" kern="0" spc="-50" dirty="0">
                          <a:effectLst/>
                        </a:rPr>
                        <a:t> 때에 「선출원에 관하여 출원공개 또는 「특허협력조약」 제</a:t>
                      </a:r>
                      <a:r>
                        <a:rPr lang="en-US" altLang="ko-KR" sz="1200" kern="0" spc="-50" dirty="0">
                          <a:effectLst/>
                        </a:rPr>
                        <a:t>21</a:t>
                      </a:r>
                      <a:r>
                        <a:rPr lang="ko-KR" altLang="en-US" sz="1200" kern="0" spc="-50" dirty="0">
                          <a:effectLst/>
                        </a:rPr>
                        <a:t>조에 따른 </a:t>
                      </a:r>
                      <a:r>
                        <a:rPr lang="ko-KR" altLang="en-US" sz="1200" kern="0" spc="-50" dirty="0" err="1">
                          <a:effectLst/>
                        </a:rPr>
                        <a:t>국제공개」된</a:t>
                      </a:r>
                      <a:r>
                        <a:rPr lang="ko-KR" altLang="en-US" sz="1200" kern="0" spc="-50" dirty="0">
                          <a:effectLst/>
                        </a:rPr>
                        <a:t> 것으로 간주</a:t>
                      </a:r>
                    </a:p>
                    <a:p>
                      <a:pPr marL="128270" marR="17780" indent="-1282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20" dirty="0">
                          <a:effectLst/>
                        </a:rPr>
                        <a:t>2. </a:t>
                      </a:r>
                      <a:r>
                        <a:rPr lang="ko-KR" altLang="en-US" sz="1200" kern="0" spc="-120" dirty="0">
                          <a:effectLst/>
                        </a:rPr>
                        <a:t>선출원인 </a:t>
                      </a:r>
                      <a:r>
                        <a:rPr lang="ko-KR" altLang="en-US" sz="1200" kern="0" spc="-120" dirty="0" err="1">
                          <a:effectLst/>
                        </a:rPr>
                        <a:t>국제특허출원이</a:t>
                      </a:r>
                      <a:r>
                        <a:rPr lang="ko-KR" altLang="en-US" sz="1200" kern="0" spc="-120" dirty="0">
                          <a:effectLst/>
                        </a:rPr>
                        <a:t> 제</a:t>
                      </a:r>
                      <a:r>
                        <a:rPr lang="en-US" altLang="ko-KR" sz="1200" kern="0" spc="-120" dirty="0">
                          <a:effectLst/>
                        </a:rPr>
                        <a:t>201</a:t>
                      </a:r>
                      <a:r>
                        <a:rPr lang="ko-KR" altLang="en-US" sz="1200" kern="0" spc="-120" dirty="0">
                          <a:effectLst/>
                        </a:rPr>
                        <a:t>조</a:t>
                      </a:r>
                      <a:r>
                        <a:rPr lang="en-US" altLang="ko-KR" sz="1200" kern="0" spc="-120" dirty="0">
                          <a:effectLst/>
                        </a:rPr>
                        <a:t>4</a:t>
                      </a:r>
                      <a:r>
                        <a:rPr lang="ko-KR" altLang="en-US" sz="1200" kern="0" spc="-120" dirty="0">
                          <a:effectLst/>
                        </a:rPr>
                        <a:t>항에 따라 취하된 것으로 보는 경우에도 확대된 </a:t>
                      </a:r>
                      <a:r>
                        <a:rPr lang="ko-KR" altLang="en-US" sz="1200" kern="0" spc="-120" dirty="0" err="1">
                          <a:effectLst/>
                        </a:rPr>
                        <a:t>선출원</a:t>
                      </a:r>
                      <a:r>
                        <a:rPr lang="ko-KR" altLang="en-US" sz="1200" kern="0" spc="-120" dirty="0">
                          <a:effectLst/>
                        </a:rPr>
                        <a:t> 적용 시 다른 출원의 지위가 인정된다</a:t>
                      </a:r>
                      <a:r>
                        <a:rPr lang="en-US" altLang="ko-KR" sz="1200" kern="0" spc="-120" dirty="0">
                          <a:effectLst/>
                        </a:rPr>
                        <a:t>(</a:t>
                      </a:r>
                      <a:r>
                        <a:rPr lang="ko-KR" altLang="en-US" sz="1200" kern="0" spc="-120" dirty="0">
                          <a:effectLst/>
                        </a:rPr>
                        <a:t>法 </a:t>
                      </a:r>
                      <a:r>
                        <a:rPr lang="en-US" altLang="ko-KR" sz="1200" kern="0" spc="-120" dirty="0">
                          <a:effectLst/>
                        </a:rPr>
                        <a:t>55</a:t>
                      </a:r>
                      <a:r>
                        <a:rPr lang="ko-KR" altLang="en-US" sz="1200" kern="0" spc="-120" dirty="0">
                          <a:effectLst/>
                        </a:rPr>
                        <a:t>⑥</a:t>
                      </a:r>
                      <a:r>
                        <a:rPr lang="en-US" altLang="ko-KR" sz="1200" kern="0" spc="-120" dirty="0">
                          <a:effectLst/>
                        </a:rPr>
                        <a:t>).</a:t>
                      </a:r>
                      <a:endParaRPr lang="ko-KR" altLang="en-US" sz="1200" kern="0" spc="-120" dirty="0">
                        <a:effectLst/>
                      </a:endParaRPr>
                    </a:p>
                    <a:p>
                      <a:pPr marL="140970" marR="17780" indent="-1409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3. </a:t>
                      </a:r>
                      <a:r>
                        <a:rPr lang="ko-KR" altLang="en-US" sz="1200" kern="0" spc="-50" dirty="0" err="1">
                          <a:effectLst/>
                        </a:rPr>
                        <a:t>후출원인</a:t>
                      </a:r>
                      <a:r>
                        <a:rPr lang="ko-KR" altLang="en-US" sz="1200" kern="0" spc="-50" dirty="0">
                          <a:effectLst/>
                        </a:rPr>
                        <a:t> </a:t>
                      </a:r>
                      <a:r>
                        <a:rPr lang="ko-KR" altLang="en-US" sz="1200" kern="0" spc="-50" dirty="0" err="1">
                          <a:effectLst/>
                        </a:rPr>
                        <a:t>국제특허출원이</a:t>
                      </a:r>
                      <a:r>
                        <a:rPr lang="ko-KR" altLang="en-US" sz="1200" kern="0" spc="-50" dirty="0">
                          <a:effectLst/>
                        </a:rPr>
                        <a:t> 제</a:t>
                      </a:r>
                      <a:r>
                        <a:rPr lang="en-US" altLang="ko-KR" sz="1200" kern="0" spc="-50" dirty="0">
                          <a:effectLst/>
                        </a:rPr>
                        <a:t>201</a:t>
                      </a:r>
                      <a:r>
                        <a:rPr lang="ko-KR" altLang="en-US" sz="1200" kern="0" spc="-50" dirty="0">
                          <a:effectLst/>
                        </a:rPr>
                        <a:t>조제</a:t>
                      </a:r>
                      <a:r>
                        <a:rPr lang="en-US" altLang="ko-KR" sz="1200" kern="0" spc="-50" dirty="0">
                          <a:effectLst/>
                        </a:rPr>
                        <a:t>4</a:t>
                      </a:r>
                      <a:r>
                        <a:rPr lang="ko-KR" altLang="en-US" sz="1200" kern="0" spc="-50" dirty="0">
                          <a:effectLst/>
                        </a:rPr>
                        <a:t>항에 따라 취하한 것으로 보는 경우에는 확대된 </a:t>
                      </a:r>
                      <a:r>
                        <a:rPr lang="ko-KR" altLang="en-US" sz="1200" kern="0" spc="-50" dirty="0" err="1">
                          <a:effectLst/>
                        </a:rPr>
                        <a:t>선출원</a:t>
                      </a:r>
                      <a:r>
                        <a:rPr lang="en-US" altLang="ko-KR" sz="1200" kern="0" spc="-50" dirty="0"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effectLst/>
                        </a:rPr>
                        <a:t>法 </a:t>
                      </a:r>
                      <a:r>
                        <a:rPr lang="en-US" altLang="ko-KR" sz="1200" kern="0" spc="-50" dirty="0">
                          <a:effectLst/>
                        </a:rPr>
                        <a:t>55</a:t>
                      </a:r>
                      <a:r>
                        <a:rPr lang="ko-KR" altLang="en-US" sz="1200" kern="0" spc="-50" dirty="0">
                          <a:effectLst/>
                        </a:rPr>
                        <a:t>④</a:t>
                      </a:r>
                      <a:r>
                        <a:rPr lang="en-US" altLang="ko-KR" sz="1200" kern="0" spc="-50" dirty="0">
                          <a:effectLst/>
                        </a:rPr>
                        <a:t>) </a:t>
                      </a:r>
                      <a:r>
                        <a:rPr lang="ko-KR" altLang="en-US" sz="1200" kern="0" spc="-50" dirty="0" err="1">
                          <a:effectLst/>
                        </a:rPr>
                        <a:t>不적용</a:t>
                      </a:r>
                      <a:r>
                        <a:rPr lang="en-US" altLang="ko-KR" sz="1200" kern="0" spc="-50" dirty="0"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effectLst/>
                        </a:rPr>
                        <a:t>法 </a:t>
                      </a:r>
                      <a:r>
                        <a:rPr lang="en-US" altLang="ko-KR" sz="1200" kern="0" spc="-50" dirty="0">
                          <a:effectLst/>
                        </a:rPr>
                        <a:t>202</a:t>
                      </a:r>
                      <a:r>
                        <a:rPr lang="ko-KR" altLang="en-US" sz="1200" kern="0" spc="-50" dirty="0">
                          <a:effectLst/>
                        </a:rPr>
                        <a:t>②단서</a:t>
                      </a:r>
                      <a:r>
                        <a:rPr lang="en-US" altLang="ko-KR" sz="1200" kern="0" spc="-50" dirty="0">
                          <a:effectLst/>
                        </a:rPr>
                        <a:t>).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81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effectLst/>
                        </a:rPr>
                        <a:t>국내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100">
                          <a:effectLst/>
                        </a:rPr>
                        <a:t>PCT</a:t>
                      </a:r>
                      <a:endParaRPr lang="ko-KR" altLang="en-US" sz="1200" b="1" kern="0" spc="-10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150">
                          <a:effectLst/>
                        </a:rPr>
                        <a:t>(</a:t>
                      </a:r>
                      <a:r>
                        <a:rPr lang="ko-KR" altLang="en-US" sz="1200" b="1" kern="0" spc="-150">
                          <a:effectLst/>
                        </a:rPr>
                        <a:t>지정국 </a:t>
                      </a:r>
                      <a:r>
                        <a:rPr lang="en-US" altLang="ko-KR" sz="1200" b="1" kern="0" spc="-150">
                          <a:effectLst/>
                        </a:rPr>
                        <a:t>: </a:t>
                      </a:r>
                      <a:endParaRPr lang="ko-KR" altLang="en-US" sz="1200" b="1" kern="0" spc="-15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50">
                          <a:effectLst/>
                        </a:rPr>
                        <a:t>한국</a:t>
                      </a:r>
                      <a:r>
                        <a:rPr lang="en-US" altLang="ko-KR" sz="1200" b="1" kern="0" spc="-150">
                          <a:effectLst/>
                        </a:rPr>
                        <a:t>, </a:t>
                      </a:r>
                      <a:r>
                        <a:rPr lang="ko-KR" altLang="en-US" sz="1200" b="1" kern="0" spc="-150">
                          <a:effectLst/>
                        </a:rPr>
                        <a:t>일본 등</a:t>
                      </a:r>
                      <a:r>
                        <a:rPr lang="en-US" altLang="ko-KR" sz="1200" b="1" kern="0" spc="-150">
                          <a:effectLst/>
                        </a:rPr>
                        <a:t>)</a:t>
                      </a:r>
                      <a:endParaRPr lang="ko-KR" altLang="en-US" sz="1200" b="1" kern="0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</a:t>
                      </a: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</a:t>
                      </a:r>
                      <a:endParaRPr lang="en-US" altLang="ko-KR" sz="1200" b="1" kern="0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56</a:t>
                      </a: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</a:t>
                      </a:r>
                      <a:endParaRPr lang="en-US" altLang="ko-KR" sz="1200" b="1" kern="0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</a:t>
                      </a: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</a:t>
                      </a:r>
                      <a:r>
                        <a:rPr lang="en-US" altLang="ko-KR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</a:t>
                      </a:r>
                    </a:p>
                  </a:txBody>
                  <a:tcPr marL="72000" marR="72000" marT="10963" marB="10963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effectLst/>
                        </a:rPr>
                        <a:t>선출원일로부터 </a:t>
                      </a:r>
                      <a:r>
                        <a:rPr lang="en-US" altLang="ko-KR" sz="1200" kern="0" spc="-50" dirty="0">
                          <a:effectLst/>
                        </a:rPr>
                        <a:t>1</a:t>
                      </a:r>
                      <a:r>
                        <a:rPr lang="ko-KR" altLang="en-US" sz="1200" kern="0" spc="-50" dirty="0">
                          <a:effectLst/>
                        </a:rPr>
                        <a:t>년 </a:t>
                      </a:r>
                      <a:r>
                        <a:rPr lang="en-US" altLang="ko-KR" sz="1200" kern="0" spc="-50" dirty="0">
                          <a:effectLst/>
                        </a:rPr>
                        <a:t>3</a:t>
                      </a:r>
                      <a:r>
                        <a:rPr lang="ko-KR" altLang="en-US" sz="1200" kern="0" spc="-50" dirty="0">
                          <a:effectLst/>
                        </a:rPr>
                        <a:t>개월이 지난 후 취하간주</a:t>
                      </a:r>
                      <a:r>
                        <a:rPr lang="en-US" altLang="ko-KR" sz="1200" kern="0" spc="-50" dirty="0"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effectLst/>
                        </a:rPr>
                        <a:t>法 </a:t>
                      </a:r>
                      <a:r>
                        <a:rPr lang="en-US" altLang="ko-KR" sz="1200" kern="0" spc="-50" dirty="0">
                          <a:effectLst/>
                        </a:rPr>
                        <a:t>56</a:t>
                      </a:r>
                      <a:r>
                        <a:rPr lang="ko-KR" altLang="en-US" sz="1200" kern="0" spc="-50" dirty="0">
                          <a:effectLst/>
                        </a:rPr>
                        <a:t>①</a:t>
                      </a:r>
                      <a:r>
                        <a:rPr lang="en-US" altLang="ko-KR" sz="1200" kern="0" spc="-50" dirty="0">
                          <a:effectLst/>
                        </a:rPr>
                        <a:t>)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>
                  <a:txBody>
                    <a:bodyPr/>
                    <a:lstStyle/>
                    <a:p>
                      <a:pPr marL="140970" marR="17780" indent="-1409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10" dirty="0">
                          <a:effectLst/>
                        </a:rPr>
                        <a:t>1. </a:t>
                      </a:r>
                      <a:r>
                        <a:rPr lang="ko-KR" altLang="en-US" sz="1200" kern="0" spc="-110" dirty="0">
                          <a:effectLst/>
                        </a:rPr>
                        <a:t>후출원의 「국제출원일까지 제출된 발명의 설명</a:t>
                      </a:r>
                      <a:r>
                        <a:rPr lang="en-US" altLang="ko-KR" sz="1200" kern="0" spc="-110" dirty="0">
                          <a:effectLst/>
                        </a:rPr>
                        <a:t>, </a:t>
                      </a:r>
                      <a:r>
                        <a:rPr lang="ko-KR" altLang="en-US" sz="1200" kern="0" spc="-110" dirty="0">
                          <a:effectLst/>
                        </a:rPr>
                        <a:t>청구범위 또는 </a:t>
                      </a:r>
                      <a:r>
                        <a:rPr lang="ko-KR" altLang="en-US" sz="1200" kern="0" spc="-110" dirty="0" err="1">
                          <a:effectLst/>
                        </a:rPr>
                        <a:t>도면」에</a:t>
                      </a:r>
                      <a:r>
                        <a:rPr lang="ko-KR" altLang="en-US" sz="1200" kern="0" spc="-110" dirty="0">
                          <a:effectLst/>
                        </a:rPr>
                        <a:t> 기재된 발명 중 선출원의 </a:t>
                      </a:r>
                      <a:r>
                        <a:rPr lang="ko-KR" altLang="en-US" sz="1200" kern="0" spc="-110" dirty="0" err="1">
                          <a:effectLst/>
                        </a:rPr>
                        <a:t>최ㆍ명ㆍ도에</a:t>
                      </a:r>
                      <a:r>
                        <a:rPr lang="ko-KR" altLang="en-US" sz="1200" kern="0" spc="-110" dirty="0">
                          <a:effectLst/>
                        </a:rPr>
                        <a:t> 기재된 발명과 같은 발명은 후출원이 「출원공개 또는 「특허협력조약」 제</a:t>
                      </a:r>
                      <a:r>
                        <a:rPr lang="en-US" altLang="ko-KR" sz="1200" kern="0" spc="-110" dirty="0">
                          <a:effectLst/>
                        </a:rPr>
                        <a:t>21</a:t>
                      </a:r>
                      <a:r>
                        <a:rPr lang="ko-KR" altLang="en-US" sz="1200" kern="0" spc="-110" dirty="0">
                          <a:effectLst/>
                        </a:rPr>
                        <a:t>조에 따라 </a:t>
                      </a:r>
                      <a:r>
                        <a:rPr lang="ko-KR" altLang="en-US" sz="1200" kern="0" spc="-110" dirty="0" err="1">
                          <a:effectLst/>
                        </a:rPr>
                        <a:t>국제공개되거나</a:t>
                      </a:r>
                      <a:r>
                        <a:rPr lang="ko-KR" altLang="en-US" sz="1200" kern="0" spc="-110" dirty="0">
                          <a:effectLst/>
                        </a:rPr>
                        <a:t>」 또는 </a:t>
                      </a:r>
                      <a:r>
                        <a:rPr lang="ko-KR" altLang="en-US" sz="1200" kern="0" spc="-110" dirty="0" err="1">
                          <a:effectLst/>
                        </a:rPr>
                        <a:t>등록공고되었을</a:t>
                      </a:r>
                      <a:r>
                        <a:rPr lang="ko-KR" altLang="en-US" sz="1200" kern="0" spc="-110" dirty="0">
                          <a:effectLst/>
                        </a:rPr>
                        <a:t> 때에 선출원에 관하여 </a:t>
                      </a:r>
                      <a:r>
                        <a:rPr lang="ko-KR" altLang="en-US" sz="1200" kern="0" spc="-110" dirty="0" err="1">
                          <a:effectLst/>
                        </a:rPr>
                        <a:t>출원공개된</a:t>
                      </a:r>
                      <a:r>
                        <a:rPr lang="ko-KR" altLang="en-US" sz="1200" kern="0" spc="-110" dirty="0">
                          <a:effectLst/>
                        </a:rPr>
                        <a:t> 것으로 간주</a:t>
                      </a:r>
                    </a:p>
                    <a:p>
                      <a:pPr marL="140970" marR="17780" indent="-1409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2. </a:t>
                      </a:r>
                      <a:r>
                        <a:rPr lang="ko-KR" altLang="en-US" sz="1200" kern="0" spc="-50" dirty="0" err="1">
                          <a:effectLst/>
                        </a:rPr>
                        <a:t>후출원인</a:t>
                      </a:r>
                      <a:r>
                        <a:rPr lang="ko-KR" altLang="en-US" sz="1200" kern="0" spc="-50" dirty="0">
                          <a:effectLst/>
                        </a:rPr>
                        <a:t> </a:t>
                      </a:r>
                      <a:r>
                        <a:rPr lang="ko-KR" altLang="en-US" sz="1200" kern="0" spc="-50" dirty="0" err="1">
                          <a:effectLst/>
                        </a:rPr>
                        <a:t>국제특허출원이</a:t>
                      </a:r>
                      <a:r>
                        <a:rPr lang="ko-KR" altLang="en-US" sz="1200" kern="0" spc="-50" dirty="0">
                          <a:effectLst/>
                        </a:rPr>
                        <a:t> 제</a:t>
                      </a:r>
                      <a:r>
                        <a:rPr lang="en-US" altLang="ko-KR" sz="1200" kern="0" spc="-50" dirty="0">
                          <a:effectLst/>
                        </a:rPr>
                        <a:t>201</a:t>
                      </a:r>
                      <a:r>
                        <a:rPr lang="ko-KR" altLang="en-US" sz="1200" kern="0" spc="-50" dirty="0">
                          <a:effectLst/>
                        </a:rPr>
                        <a:t>조제</a:t>
                      </a:r>
                      <a:r>
                        <a:rPr lang="en-US" altLang="ko-KR" sz="1200" kern="0" spc="-50" dirty="0">
                          <a:effectLst/>
                        </a:rPr>
                        <a:t>4</a:t>
                      </a:r>
                      <a:r>
                        <a:rPr lang="ko-KR" altLang="en-US" sz="1200" kern="0" spc="-50" dirty="0">
                          <a:effectLst/>
                        </a:rPr>
                        <a:t>항에 따라 취하한 것으로 보는 경우에는 확대된 </a:t>
                      </a:r>
                      <a:r>
                        <a:rPr lang="ko-KR" altLang="en-US" sz="1200" kern="0" spc="-50" dirty="0" err="1">
                          <a:effectLst/>
                        </a:rPr>
                        <a:t>선출원</a:t>
                      </a:r>
                      <a:r>
                        <a:rPr lang="en-US" altLang="ko-KR" sz="1200" kern="0" spc="-50" dirty="0"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effectLst/>
                        </a:rPr>
                        <a:t>法 </a:t>
                      </a:r>
                      <a:r>
                        <a:rPr lang="en-US" altLang="ko-KR" sz="1200" kern="0" spc="-50" dirty="0">
                          <a:effectLst/>
                        </a:rPr>
                        <a:t>55</a:t>
                      </a:r>
                      <a:r>
                        <a:rPr lang="ko-KR" altLang="en-US" sz="1200" kern="0" spc="-50" dirty="0">
                          <a:effectLst/>
                        </a:rPr>
                        <a:t>④</a:t>
                      </a:r>
                      <a:r>
                        <a:rPr lang="en-US" altLang="ko-KR" sz="1200" kern="0" spc="-50" dirty="0">
                          <a:effectLst/>
                        </a:rPr>
                        <a:t>) </a:t>
                      </a:r>
                      <a:r>
                        <a:rPr lang="ko-KR" altLang="en-US" sz="1200" kern="0" spc="-50" dirty="0" err="1">
                          <a:effectLst/>
                        </a:rPr>
                        <a:t>不적용</a:t>
                      </a:r>
                      <a:r>
                        <a:rPr lang="en-US" altLang="ko-KR" sz="1200" kern="0" spc="-50" dirty="0"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effectLst/>
                        </a:rPr>
                        <a:t>法 </a:t>
                      </a:r>
                      <a:r>
                        <a:rPr lang="en-US" altLang="ko-KR" sz="1200" kern="0" spc="-50" dirty="0">
                          <a:effectLst/>
                        </a:rPr>
                        <a:t>202</a:t>
                      </a:r>
                      <a:r>
                        <a:rPr lang="ko-KR" altLang="en-US" sz="1200" kern="0" spc="-50" dirty="0">
                          <a:effectLst/>
                        </a:rPr>
                        <a:t>②단서</a:t>
                      </a:r>
                      <a:r>
                        <a:rPr lang="en-US" altLang="ko-KR" sz="1200" kern="0" spc="-50" dirty="0">
                          <a:effectLst/>
                        </a:rPr>
                        <a:t>).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556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effectLst/>
                        </a:rPr>
                        <a:t>비 고</a:t>
                      </a:r>
                      <a:r>
                        <a:rPr lang="en-US" altLang="ko-KR" sz="1200" b="1" kern="0" spc="-100" dirty="0">
                          <a:effectLst/>
                        </a:rPr>
                        <a:t>(</a:t>
                      </a:r>
                      <a:r>
                        <a:rPr lang="ko-KR" altLang="en-US" sz="1200" b="1" kern="0" spc="-100" dirty="0">
                          <a:effectLst/>
                        </a:rPr>
                        <a:t>판단방법</a:t>
                      </a:r>
                      <a:r>
                        <a:rPr lang="en-US" altLang="ko-KR" sz="1200" b="1" kern="0" spc="-100" dirty="0">
                          <a:effectLst/>
                        </a:rPr>
                        <a:t>)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1450" marR="17780" indent="-1714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※ </a:t>
                      </a:r>
                      <a:r>
                        <a:rPr lang="ko-KR" altLang="en-US" sz="1200" kern="0" spc="-50" dirty="0">
                          <a:effectLst/>
                        </a:rPr>
                        <a:t>국내우선권주장의 절차</a:t>
                      </a:r>
                      <a:r>
                        <a:rPr lang="en-US" altLang="ko-KR" sz="1200" kern="0" spc="-50" dirty="0">
                          <a:effectLst/>
                        </a:rPr>
                        <a:t>, </a:t>
                      </a:r>
                      <a:r>
                        <a:rPr lang="ko-KR" altLang="en-US" sz="1200" kern="0" spc="-50" dirty="0">
                          <a:effectLst/>
                        </a:rPr>
                        <a:t>국내우선권주장의 취하 → </a:t>
                      </a:r>
                      <a:r>
                        <a:rPr lang="ko-KR" altLang="en-US" sz="1200" kern="0" spc="-50" dirty="0" err="1">
                          <a:effectLst/>
                        </a:rPr>
                        <a:t>후출원을</a:t>
                      </a:r>
                      <a:r>
                        <a:rPr lang="ko-KR" altLang="en-US" sz="1200" kern="0" spc="-50" dirty="0">
                          <a:effectLst/>
                        </a:rPr>
                        <a:t> 기준으로 판단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※ </a:t>
                      </a:r>
                      <a:r>
                        <a:rPr lang="ko-KR" altLang="en-US" sz="1200" kern="0" spc="-50" dirty="0" err="1">
                          <a:effectLst/>
                        </a:rPr>
                        <a:t>선출원의</a:t>
                      </a:r>
                      <a:r>
                        <a:rPr lang="ko-KR" altLang="en-US" sz="1200" kern="0" spc="-50" dirty="0">
                          <a:effectLst/>
                        </a:rPr>
                        <a:t> 취하간주시기 → </a:t>
                      </a:r>
                      <a:r>
                        <a:rPr lang="ko-KR" altLang="en-US" sz="1200" kern="0" spc="-50" dirty="0" err="1">
                          <a:effectLst/>
                        </a:rPr>
                        <a:t>선출원을</a:t>
                      </a:r>
                      <a:r>
                        <a:rPr lang="ko-KR" altLang="en-US" sz="1200" kern="0" spc="-50" dirty="0">
                          <a:effectLst/>
                        </a:rPr>
                        <a:t> 기준으로 판단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573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36841A-3CDE-E5D0-6149-5BD473E047C9}"/>
              </a:ext>
            </a:extLst>
          </p:cNvPr>
          <p:cNvSpPr/>
          <p:nvPr/>
        </p:nvSpPr>
        <p:spPr>
          <a:xfrm>
            <a:off x="3076847" y="1110136"/>
            <a:ext cx="2570918" cy="4399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612E2C-851A-573C-1E91-F5A3FE9859DD}"/>
              </a:ext>
            </a:extLst>
          </p:cNvPr>
          <p:cNvSpPr/>
          <p:nvPr/>
        </p:nvSpPr>
        <p:spPr>
          <a:xfrm>
            <a:off x="1273527" y="1317812"/>
            <a:ext cx="564238" cy="50023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9353EE-955B-67ED-C04B-9693C1596C15}"/>
              </a:ext>
            </a:extLst>
          </p:cNvPr>
          <p:cNvSpPr/>
          <p:nvPr/>
        </p:nvSpPr>
        <p:spPr>
          <a:xfrm>
            <a:off x="5719482" y="1110136"/>
            <a:ext cx="1394936" cy="46141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764372A-04FD-A74D-36F7-2C49AC048F2F}"/>
              </a:ext>
            </a:extLst>
          </p:cNvPr>
          <p:cNvSpPr/>
          <p:nvPr/>
        </p:nvSpPr>
        <p:spPr>
          <a:xfrm>
            <a:off x="687207" y="1317812"/>
            <a:ext cx="564238" cy="500230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9423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양쪽 모서리가 둥근 사각형 85">
            <a:extLst>
              <a:ext uri="{FF2B5EF4-FFF2-40B4-BE49-F238E27FC236}">
                <a16:creationId xmlns:a16="http://schemas.microsoft.com/office/drawing/2014/main" id="{6B0964EA-641C-45E2-BF4D-78D044C3F4F9}"/>
              </a:ext>
            </a:extLst>
          </p:cNvPr>
          <p:cNvSpPr/>
          <p:nvPr/>
        </p:nvSpPr>
        <p:spPr>
          <a:xfrm>
            <a:off x="6107654" y="1357389"/>
            <a:ext cx="2136206" cy="243579"/>
          </a:xfrm>
          <a:prstGeom prst="round2SameRect">
            <a:avLst>
              <a:gd name="adj1" fmla="val 0"/>
              <a:gd name="adj2" fmla="val 50000"/>
            </a:avLst>
          </a:prstGeom>
          <a:pattFill prst="pct20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양쪽 모서리가 둥근 사각형 22">
            <a:extLst>
              <a:ext uri="{FF2B5EF4-FFF2-40B4-BE49-F238E27FC236}">
                <a16:creationId xmlns:a16="http://schemas.microsoft.com/office/drawing/2014/main" id="{85F5E0D3-931A-4A5A-9DA5-5D0FAF7ED32C}"/>
              </a:ext>
            </a:extLst>
          </p:cNvPr>
          <p:cNvSpPr/>
          <p:nvPr/>
        </p:nvSpPr>
        <p:spPr>
          <a:xfrm>
            <a:off x="5030117" y="1065267"/>
            <a:ext cx="3171850" cy="309718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202</a:t>
            </a:r>
            <a:r>
              <a:rPr lang="ko-KR" altLang="en-US" dirty="0"/>
              <a:t>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국내우선권주장의</a:t>
            </a:r>
            <a:r>
              <a:rPr lang="ko-KR" altLang="en-US" dirty="0"/>
              <a:t> 확대된 선출원에서 다른 출원의 지위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574</a:t>
            </a:r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75623A6-F2B2-44CB-85B5-771AAE0B9EE8}"/>
              </a:ext>
            </a:extLst>
          </p:cNvPr>
          <p:cNvCxnSpPr>
            <a:cxnSpLocks/>
          </p:cNvCxnSpPr>
          <p:nvPr/>
        </p:nvCxnSpPr>
        <p:spPr>
          <a:xfrm>
            <a:off x="327433" y="5416279"/>
            <a:ext cx="3551146" cy="14031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1063CA7-B074-4DE1-A030-C1EE4D9F89B4}"/>
              </a:ext>
            </a:extLst>
          </p:cNvPr>
          <p:cNvSpPr/>
          <p:nvPr/>
        </p:nvSpPr>
        <p:spPr>
          <a:xfrm>
            <a:off x="776663" y="5276761"/>
            <a:ext cx="955252" cy="3061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선출원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00DCAA9-2E9E-4D65-8425-231AFA1F2F12}"/>
              </a:ext>
            </a:extLst>
          </p:cNvPr>
          <p:cNvSpPr/>
          <p:nvPr/>
        </p:nvSpPr>
        <p:spPr>
          <a:xfrm>
            <a:off x="2107688" y="5276761"/>
            <a:ext cx="955252" cy="306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후출원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B35669CA-9F46-4F54-9D4F-1A41961DB906}"/>
              </a:ext>
            </a:extLst>
          </p:cNvPr>
          <p:cNvSpPr/>
          <p:nvPr/>
        </p:nvSpPr>
        <p:spPr>
          <a:xfrm>
            <a:off x="852166" y="1107841"/>
            <a:ext cx="1003220" cy="4951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150396DF-B139-4F27-A2A4-CB510BDECC2C}"/>
              </a:ext>
            </a:extLst>
          </p:cNvPr>
          <p:cNvSpPr/>
          <p:nvPr/>
        </p:nvSpPr>
        <p:spPr>
          <a:xfrm>
            <a:off x="2154140" y="1107841"/>
            <a:ext cx="1724439" cy="4951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55</a:t>
            </a:r>
            <a:r>
              <a:rPr lang="ko-KR" altLang="en-US" sz="1000" dirty="0">
                <a:solidFill>
                  <a:schemeClr val="tx1"/>
                </a:solidFill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</a:rPr>
              <a:t>4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346102AC-628B-4100-8C25-BB3A2143DC3F}"/>
              </a:ext>
            </a:extLst>
          </p:cNvPr>
          <p:cNvCxnSpPr>
            <a:cxnSpLocks/>
            <a:stCxn id="71" idx="3"/>
            <a:endCxn id="85" idx="1"/>
          </p:cNvCxnSpPr>
          <p:nvPr/>
        </p:nvCxnSpPr>
        <p:spPr>
          <a:xfrm>
            <a:off x="1855386" y="1355400"/>
            <a:ext cx="29875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DA93B96D-5843-4F75-81B6-DDD2D0C66319}"/>
              </a:ext>
            </a:extLst>
          </p:cNvPr>
          <p:cNvSpPr/>
          <p:nvPr/>
        </p:nvSpPr>
        <p:spPr>
          <a:xfrm>
            <a:off x="852166" y="2091518"/>
            <a:ext cx="1003220" cy="4951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D5EE3227-C0DD-4BE0-8DC7-0F16A8F509D2}"/>
              </a:ext>
            </a:extLst>
          </p:cNvPr>
          <p:cNvSpPr/>
          <p:nvPr/>
        </p:nvSpPr>
        <p:spPr>
          <a:xfrm>
            <a:off x="2154140" y="2091518"/>
            <a:ext cx="1724439" cy="4951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PCT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55</a:t>
            </a:r>
            <a:r>
              <a:rPr lang="ko-KR" altLang="en-US" sz="1000" dirty="0">
                <a:solidFill>
                  <a:schemeClr val="tx1"/>
                </a:solidFill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</a:rPr>
              <a:t>4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202</a:t>
            </a:r>
            <a:r>
              <a:rPr lang="ko-KR" altLang="en-US" sz="1000" dirty="0">
                <a:solidFill>
                  <a:schemeClr val="tx1"/>
                </a:solidFill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</a:rPr>
              <a:t>2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A162D748-8B16-4DEA-B942-D6A6CFBA4B58}"/>
              </a:ext>
            </a:extLst>
          </p:cNvPr>
          <p:cNvCxnSpPr>
            <a:cxnSpLocks/>
          </p:cNvCxnSpPr>
          <p:nvPr/>
        </p:nvCxnSpPr>
        <p:spPr>
          <a:xfrm>
            <a:off x="1855386" y="2400037"/>
            <a:ext cx="29875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1658C072-1AB1-4853-97F5-5806FF166938}"/>
              </a:ext>
            </a:extLst>
          </p:cNvPr>
          <p:cNvSpPr/>
          <p:nvPr/>
        </p:nvSpPr>
        <p:spPr>
          <a:xfrm>
            <a:off x="852166" y="3072748"/>
            <a:ext cx="1003220" cy="4951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PCT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7103AF0-E82C-4363-BE7C-EF195AC4A0AE}"/>
              </a:ext>
            </a:extLst>
          </p:cNvPr>
          <p:cNvSpPr/>
          <p:nvPr/>
        </p:nvSpPr>
        <p:spPr>
          <a:xfrm>
            <a:off x="2154140" y="3072748"/>
            <a:ext cx="1724439" cy="4951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55</a:t>
            </a:r>
            <a:r>
              <a:rPr lang="ko-KR" altLang="en-US" sz="1000" dirty="0">
                <a:solidFill>
                  <a:schemeClr val="tx1"/>
                </a:solidFill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</a:rPr>
              <a:t>4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및 제</a:t>
            </a:r>
            <a:r>
              <a:rPr lang="en-US" altLang="ko-KR" sz="1000" dirty="0">
                <a:solidFill>
                  <a:schemeClr val="tx1"/>
                </a:solidFill>
              </a:rPr>
              <a:t>6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202</a:t>
            </a:r>
            <a:r>
              <a:rPr lang="ko-KR" altLang="en-US" sz="1000" dirty="0">
                <a:solidFill>
                  <a:schemeClr val="tx1"/>
                </a:solidFill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</a:rPr>
              <a:t>3</a:t>
            </a:r>
            <a:r>
              <a:rPr lang="ko-KR" altLang="en-US" sz="1000" dirty="0" err="1">
                <a:solidFill>
                  <a:schemeClr val="tx1"/>
                </a:solidFill>
              </a:rPr>
              <a:t>항제</a:t>
            </a:r>
            <a:r>
              <a:rPr lang="en-US" altLang="ko-KR" sz="1000" dirty="0">
                <a:solidFill>
                  <a:schemeClr val="tx1"/>
                </a:solidFill>
              </a:rPr>
              <a:t>2</a:t>
            </a:r>
            <a:r>
              <a:rPr lang="ko-KR" altLang="en-US" sz="1000" dirty="0">
                <a:solidFill>
                  <a:schemeClr val="tx1"/>
                </a:solidFill>
              </a:rPr>
              <a:t>호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2D21B2CE-5144-4A7E-B171-17D2D082D261}"/>
              </a:ext>
            </a:extLst>
          </p:cNvPr>
          <p:cNvCxnSpPr>
            <a:cxnSpLocks/>
            <a:stCxn id="93" idx="3"/>
            <a:endCxn id="94" idx="1"/>
          </p:cNvCxnSpPr>
          <p:nvPr/>
        </p:nvCxnSpPr>
        <p:spPr>
          <a:xfrm>
            <a:off x="1855386" y="3320307"/>
            <a:ext cx="29875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4A669703-E784-4AB0-BDF3-0EF6B88D71AA}"/>
              </a:ext>
            </a:extLst>
          </p:cNvPr>
          <p:cNvSpPr/>
          <p:nvPr/>
        </p:nvSpPr>
        <p:spPr>
          <a:xfrm>
            <a:off x="852166" y="4033699"/>
            <a:ext cx="1003220" cy="4951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PCT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0C74FFD9-0BFB-4E2C-8FD7-438EEFF7F946}"/>
              </a:ext>
            </a:extLst>
          </p:cNvPr>
          <p:cNvSpPr/>
          <p:nvPr/>
        </p:nvSpPr>
        <p:spPr>
          <a:xfrm>
            <a:off x="2154140" y="4033699"/>
            <a:ext cx="1724439" cy="4951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PCT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55</a:t>
            </a:r>
            <a:r>
              <a:rPr lang="ko-KR" altLang="en-US" sz="1000" dirty="0">
                <a:solidFill>
                  <a:schemeClr val="tx1"/>
                </a:solidFill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</a:rPr>
              <a:t>4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및 제</a:t>
            </a:r>
            <a:r>
              <a:rPr lang="en-US" altLang="ko-KR" sz="1000" dirty="0">
                <a:solidFill>
                  <a:schemeClr val="tx1"/>
                </a:solidFill>
              </a:rPr>
              <a:t>6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202</a:t>
            </a:r>
            <a:r>
              <a:rPr lang="ko-KR" altLang="en-US" sz="1000" dirty="0">
                <a:solidFill>
                  <a:schemeClr val="tx1"/>
                </a:solidFill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</a:rPr>
              <a:t>2</a:t>
            </a:r>
            <a:r>
              <a:rPr lang="ko-KR" altLang="en-US" sz="1000" dirty="0">
                <a:solidFill>
                  <a:schemeClr val="tx1"/>
                </a:solidFill>
              </a:rPr>
              <a:t>항 및 제</a:t>
            </a:r>
            <a:r>
              <a:rPr lang="en-US" altLang="ko-KR" sz="1000" dirty="0">
                <a:solidFill>
                  <a:schemeClr val="tx1"/>
                </a:solidFill>
              </a:rPr>
              <a:t>3</a:t>
            </a:r>
            <a:r>
              <a:rPr lang="ko-KR" altLang="en-US" sz="1000" dirty="0" err="1">
                <a:solidFill>
                  <a:schemeClr val="tx1"/>
                </a:solidFill>
              </a:rPr>
              <a:t>항제</a:t>
            </a:r>
            <a:r>
              <a:rPr lang="en-US" altLang="ko-KR" sz="1000" dirty="0">
                <a:solidFill>
                  <a:schemeClr val="tx1"/>
                </a:solidFill>
              </a:rPr>
              <a:t>2</a:t>
            </a:r>
            <a:r>
              <a:rPr lang="ko-KR" altLang="en-US" sz="1000" dirty="0">
                <a:solidFill>
                  <a:schemeClr val="tx1"/>
                </a:solidFill>
              </a:rPr>
              <a:t>호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2EB074F8-0F38-40A0-A56C-A63B22BFD250}"/>
              </a:ext>
            </a:extLst>
          </p:cNvPr>
          <p:cNvCxnSpPr>
            <a:cxnSpLocks/>
            <a:stCxn id="99" idx="3"/>
            <a:endCxn id="100" idx="1"/>
          </p:cNvCxnSpPr>
          <p:nvPr/>
        </p:nvCxnSpPr>
        <p:spPr>
          <a:xfrm>
            <a:off x="1855386" y="4281258"/>
            <a:ext cx="29875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C41F4D64-20CF-403E-873F-CF162A93DE04}"/>
              </a:ext>
            </a:extLst>
          </p:cNvPr>
          <p:cNvCxnSpPr>
            <a:cxnSpLocks/>
          </p:cNvCxnSpPr>
          <p:nvPr/>
        </p:nvCxnSpPr>
        <p:spPr>
          <a:xfrm flipV="1">
            <a:off x="4020692" y="1357777"/>
            <a:ext cx="6365368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1F1AC9D2-3D1A-4FC2-8E8D-FB76071F7779}"/>
              </a:ext>
            </a:extLst>
          </p:cNvPr>
          <p:cNvSpPr/>
          <p:nvPr/>
        </p:nvSpPr>
        <p:spPr>
          <a:xfrm>
            <a:off x="4172649" y="1181037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069374EE-10FC-4AE8-8950-EAC4BE6FBE0F}"/>
              </a:ext>
            </a:extLst>
          </p:cNvPr>
          <p:cNvSpPr/>
          <p:nvPr/>
        </p:nvSpPr>
        <p:spPr>
          <a:xfrm>
            <a:off x="5262062" y="1181037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5CD45547-7D12-4961-806D-ACA1F6A5B0CE}"/>
              </a:ext>
            </a:extLst>
          </p:cNvPr>
          <p:cNvSpPr/>
          <p:nvPr/>
        </p:nvSpPr>
        <p:spPr>
          <a:xfrm>
            <a:off x="6426020" y="1181037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취하간주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AEB47616-A4FD-4EED-A9DE-84C66857E0A1}"/>
              </a:ext>
            </a:extLst>
          </p:cNvPr>
          <p:cNvSpPr/>
          <p:nvPr/>
        </p:nvSpPr>
        <p:spPr>
          <a:xfrm>
            <a:off x="7782885" y="1181037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출원공개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</p:txBody>
      </p:sp>
      <p:sp>
        <p:nvSpPr>
          <p:cNvPr id="55" name="양쪽 모서리가 둥근 사각형 22">
            <a:extLst>
              <a:ext uri="{FF2B5EF4-FFF2-40B4-BE49-F238E27FC236}">
                <a16:creationId xmlns:a16="http://schemas.microsoft.com/office/drawing/2014/main" id="{EA31C065-3113-411D-83A5-D8E3AA94DF79}"/>
              </a:ext>
            </a:extLst>
          </p:cNvPr>
          <p:cNvSpPr/>
          <p:nvPr/>
        </p:nvSpPr>
        <p:spPr>
          <a:xfrm>
            <a:off x="9072534" y="5535710"/>
            <a:ext cx="1136153" cy="278387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2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8D0EB3-9E91-4F92-8B9A-E8F2E1128995}"/>
              </a:ext>
            </a:extLst>
          </p:cNvPr>
          <p:cNvSpPr/>
          <p:nvPr/>
        </p:nvSpPr>
        <p:spPr>
          <a:xfrm>
            <a:off x="4897248" y="5041278"/>
            <a:ext cx="1003220" cy="3528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29</a:t>
            </a:r>
            <a:r>
              <a:rPr lang="ko-KR" altLang="en-US" sz="1000" dirty="0">
                <a:solidFill>
                  <a:schemeClr val="tx1"/>
                </a:solidFill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</a:rPr>
              <a:t>3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6956609-608A-48BD-9560-7D6CDDE5F130}"/>
              </a:ext>
            </a:extLst>
          </p:cNvPr>
          <p:cNvSpPr/>
          <p:nvPr/>
        </p:nvSpPr>
        <p:spPr>
          <a:xfrm>
            <a:off x="4897248" y="5652114"/>
            <a:ext cx="1003220" cy="3528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PCT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EECD8EE-D68D-46F2-948D-83C7C0557E3C}"/>
              </a:ext>
            </a:extLst>
          </p:cNvPr>
          <p:cNvSpPr/>
          <p:nvPr/>
        </p:nvSpPr>
        <p:spPr>
          <a:xfrm>
            <a:off x="6264320" y="5652114"/>
            <a:ext cx="1287075" cy="3528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29</a:t>
            </a:r>
            <a:r>
              <a:rPr lang="ko-KR" altLang="en-US" sz="1000" dirty="0">
                <a:solidFill>
                  <a:schemeClr val="tx1"/>
                </a:solidFill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</a:rPr>
              <a:t>5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B6EA989-151F-4EF0-9264-74F628893A53}"/>
              </a:ext>
            </a:extLst>
          </p:cNvPr>
          <p:cNvSpPr/>
          <p:nvPr/>
        </p:nvSpPr>
        <p:spPr>
          <a:xfrm>
            <a:off x="6264320" y="6342648"/>
            <a:ext cx="1287075" cy="3528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외국어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29</a:t>
            </a:r>
            <a:r>
              <a:rPr lang="ko-KR" altLang="en-US" sz="1000" dirty="0">
                <a:solidFill>
                  <a:schemeClr val="tx1"/>
                </a:solidFill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</a:rPr>
              <a:t>5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7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AEBD3BBB-4E3E-4F29-B887-B7C449ECA549}"/>
              </a:ext>
            </a:extLst>
          </p:cNvPr>
          <p:cNvCxnSpPr>
            <a:stCxn id="31" idx="1"/>
            <a:endCxn id="32" idx="1"/>
          </p:cNvCxnSpPr>
          <p:nvPr/>
        </p:nvCxnSpPr>
        <p:spPr>
          <a:xfrm rot="10800000" flipV="1">
            <a:off x="4897248" y="5217720"/>
            <a:ext cx="12700" cy="610836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74FCD58B-87A5-4281-8345-AD5887331DF9}"/>
              </a:ext>
            </a:extLst>
          </p:cNvPr>
          <p:cNvCxnSpPr>
            <a:stCxn id="32" idx="3"/>
            <a:endCxn id="34" idx="1"/>
          </p:cNvCxnSpPr>
          <p:nvPr/>
        </p:nvCxnSpPr>
        <p:spPr>
          <a:xfrm>
            <a:off x="5900468" y="5828556"/>
            <a:ext cx="363852" cy="69053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51A2D2DE-7F09-453A-AC58-DB0D0EC8C94D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5900468" y="5828556"/>
            <a:ext cx="363852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58664C1-D37C-4F8D-8DF2-B45503CB7D99}"/>
              </a:ext>
            </a:extLst>
          </p:cNvPr>
          <p:cNvCxnSpPr>
            <a:cxnSpLocks/>
          </p:cNvCxnSpPr>
          <p:nvPr/>
        </p:nvCxnSpPr>
        <p:spPr>
          <a:xfrm flipV="1">
            <a:off x="6135693" y="5218017"/>
            <a:ext cx="3326139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B99CA96-0630-4472-816D-C696A0EC1518}"/>
              </a:ext>
            </a:extLst>
          </p:cNvPr>
          <p:cNvSpPr/>
          <p:nvPr/>
        </p:nvSpPr>
        <p:spPr>
          <a:xfrm>
            <a:off x="6563875" y="5041278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48D521D-4BEC-4F8C-87EF-8658AFA1217F}"/>
              </a:ext>
            </a:extLst>
          </p:cNvPr>
          <p:cNvSpPr/>
          <p:nvPr/>
        </p:nvSpPr>
        <p:spPr>
          <a:xfrm>
            <a:off x="8062863" y="5041278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취하간주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07E622E9-E503-4067-A247-82654DDCABD7}"/>
              </a:ext>
            </a:extLst>
          </p:cNvPr>
          <p:cNvCxnSpPr>
            <a:cxnSpLocks/>
          </p:cNvCxnSpPr>
          <p:nvPr/>
        </p:nvCxnSpPr>
        <p:spPr>
          <a:xfrm flipV="1">
            <a:off x="7798762" y="5827833"/>
            <a:ext cx="4178382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4C96B5A-6856-43A9-AB2C-9476128A4759}"/>
              </a:ext>
            </a:extLst>
          </p:cNvPr>
          <p:cNvSpPr/>
          <p:nvPr/>
        </p:nvSpPr>
        <p:spPr>
          <a:xfrm>
            <a:off x="8226944" y="5651091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PCT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06442D2-F4FE-4B3A-A117-9B80F719CABF}"/>
              </a:ext>
            </a:extLst>
          </p:cNvPr>
          <p:cNvSpPr/>
          <p:nvPr/>
        </p:nvSpPr>
        <p:spPr>
          <a:xfrm>
            <a:off x="9725932" y="5651091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국제공개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5410F6F-9E38-441B-9243-E4BFC3EB3525}"/>
              </a:ext>
            </a:extLst>
          </p:cNvPr>
          <p:cNvSpPr/>
          <p:nvPr/>
        </p:nvSpPr>
        <p:spPr>
          <a:xfrm>
            <a:off x="10769663" y="5651091"/>
            <a:ext cx="950306" cy="352883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국내단계진입</a:t>
            </a:r>
            <a:endParaRPr lang="en-US" altLang="ko-KR" sz="900" dirty="0">
              <a:solidFill>
                <a:schemeClr val="bg1"/>
              </a:solidFill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여부와 무관</a:t>
            </a:r>
            <a:r>
              <a:rPr lang="en-US" altLang="ko-KR" sz="900" dirty="0">
                <a:solidFill>
                  <a:schemeClr val="bg1"/>
                </a:solidFill>
              </a:rPr>
              <a:t>(X)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8" name="양쪽 모서리가 둥근 사각형 22">
            <a:extLst>
              <a:ext uri="{FF2B5EF4-FFF2-40B4-BE49-F238E27FC236}">
                <a16:creationId xmlns:a16="http://schemas.microsoft.com/office/drawing/2014/main" id="{14A5C675-D905-4690-A3BD-97E9482D9C50}"/>
              </a:ext>
            </a:extLst>
          </p:cNvPr>
          <p:cNvSpPr/>
          <p:nvPr/>
        </p:nvSpPr>
        <p:spPr>
          <a:xfrm>
            <a:off x="9072534" y="6213902"/>
            <a:ext cx="1136153" cy="270770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2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05511A3-E6EF-49C5-8616-C1C1EEAE59FA}"/>
              </a:ext>
            </a:extLst>
          </p:cNvPr>
          <p:cNvCxnSpPr>
            <a:cxnSpLocks/>
          </p:cNvCxnSpPr>
          <p:nvPr/>
        </p:nvCxnSpPr>
        <p:spPr>
          <a:xfrm>
            <a:off x="7798762" y="6498409"/>
            <a:ext cx="417838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C85854B-675B-436C-889B-439E867A4386}"/>
              </a:ext>
            </a:extLst>
          </p:cNvPr>
          <p:cNvSpPr/>
          <p:nvPr/>
        </p:nvSpPr>
        <p:spPr>
          <a:xfrm>
            <a:off x="8226944" y="6321666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PCT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5971041-8D3E-4E47-B06F-27B00F81E240}"/>
              </a:ext>
            </a:extLst>
          </p:cNvPr>
          <p:cNvSpPr/>
          <p:nvPr/>
        </p:nvSpPr>
        <p:spPr>
          <a:xfrm>
            <a:off x="9725932" y="6321666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국제공개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D1A7F0E-84BC-491A-9ED4-A38A14DAE241}"/>
              </a:ext>
            </a:extLst>
          </p:cNvPr>
          <p:cNvSpPr/>
          <p:nvPr/>
        </p:nvSpPr>
        <p:spPr>
          <a:xfrm>
            <a:off x="10769663" y="6321666"/>
            <a:ext cx="950306" cy="352883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국내단계진입</a:t>
            </a:r>
            <a:r>
              <a:rPr lang="en-US" altLang="ko-KR" sz="900" dirty="0">
                <a:solidFill>
                  <a:schemeClr val="bg1"/>
                </a:solidFill>
              </a:rPr>
              <a:t>(X)</a:t>
            </a:r>
          </a:p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(</a:t>
            </a:r>
            <a:r>
              <a:rPr lang="ko-KR" altLang="en-US" sz="900" dirty="0" err="1">
                <a:solidFill>
                  <a:schemeClr val="bg1"/>
                </a:solidFill>
              </a:rPr>
              <a:t>최종번역문확정</a:t>
            </a:r>
            <a:r>
              <a:rPr lang="en-US" altLang="ko-KR" sz="900" dirty="0">
                <a:solidFill>
                  <a:schemeClr val="bg1"/>
                </a:solidFill>
              </a:rPr>
              <a:t>)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98FF27A6-5BB2-4627-BC80-58DE3751BB1C}"/>
              </a:ext>
            </a:extLst>
          </p:cNvPr>
          <p:cNvSpPr/>
          <p:nvPr/>
        </p:nvSpPr>
        <p:spPr>
          <a:xfrm>
            <a:off x="9214766" y="5257492"/>
            <a:ext cx="845591" cy="352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 </a:t>
            </a:r>
            <a:r>
              <a:rPr lang="ko-KR" altLang="en-US" sz="1000" dirty="0">
                <a:solidFill>
                  <a:schemeClr val="tx1"/>
                </a:solidFill>
              </a:rPr>
              <a:t>원문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CDDE869A-2256-4B8F-AE8A-A091C21B503E}"/>
              </a:ext>
            </a:extLst>
          </p:cNvPr>
          <p:cNvSpPr/>
          <p:nvPr/>
        </p:nvSpPr>
        <p:spPr>
          <a:xfrm>
            <a:off x="9214766" y="5938283"/>
            <a:ext cx="845591" cy="352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 </a:t>
            </a:r>
            <a:r>
              <a:rPr lang="ko-KR" altLang="en-US" sz="1000" dirty="0">
                <a:solidFill>
                  <a:schemeClr val="tx1"/>
                </a:solidFill>
              </a:rPr>
              <a:t>원문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577E3865-103E-487E-8B82-3B9A1B433714}"/>
              </a:ext>
            </a:extLst>
          </p:cNvPr>
          <p:cNvSpPr/>
          <p:nvPr/>
        </p:nvSpPr>
        <p:spPr>
          <a:xfrm>
            <a:off x="5048853" y="792301"/>
            <a:ext cx="3418872" cy="352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 </a:t>
            </a:r>
            <a:r>
              <a:rPr lang="ko-KR" altLang="en-US" sz="1000" dirty="0">
                <a:solidFill>
                  <a:schemeClr val="tx1"/>
                </a:solidFill>
              </a:rPr>
              <a:t>최명도에 기재된 발명 중 </a:t>
            </a:r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의 최명도에 기재된 발명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6BE14960-1CBE-4A44-BAF0-5DA6FFF7A812}"/>
              </a:ext>
            </a:extLst>
          </p:cNvPr>
          <p:cNvSpPr/>
          <p:nvPr/>
        </p:nvSpPr>
        <p:spPr>
          <a:xfrm>
            <a:off x="5533760" y="1536909"/>
            <a:ext cx="3418872" cy="352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 </a:t>
            </a:r>
            <a:r>
              <a:rPr lang="ko-KR" altLang="en-US" sz="1000" dirty="0">
                <a:solidFill>
                  <a:schemeClr val="tx1"/>
                </a:solidFill>
              </a:rPr>
              <a:t>최명도에 기재된 발명 중 </a:t>
            </a:r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의 최명도에 기재되지 않은 발명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32" name="양쪽 모서리가 둥근 사각형 85">
            <a:extLst>
              <a:ext uri="{FF2B5EF4-FFF2-40B4-BE49-F238E27FC236}">
                <a16:creationId xmlns:a16="http://schemas.microsoft.com/office/drawing/2014/main" id="{45A6189F-09FA-4B65-9956-6F664883646C}"/>
              </a:ext>
            </a:extLst>
          </p:cNvPr>
          <p:cNvSpPr/>
          <p:nvPr/>
        </p:nvSpPr>
        <p:spPr>
          <a:xfrm>
            <a:off x="6107654" y="2329063"/>
            <a:ext cx="2136206" cy="243579"/>
          </a:xfrm>
          <a:prstGeom prst="round2SameRect">
            <a:avLst>
              <a:gd name="adj1" fmla="val 0"/>
              <a:gd name="adj2" fmla="val 50000"/>
            </a:avLst>
          </a:prstGeom>
          <a:pattFill prst="pct20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양쪽 모서리가 둥근 사각형 22">
            <a:extLst>
              <a:ext uri="{FF2B5EF4-FFF2-40B4-BE49-F238E27FC236}">
                <a16:creationId xmlns:a16="http://schemas.microsoft.com/office/drawing/2014/main" id="{1BBED629-5C89-4936-81CF-73186DC36A9F}"/>
              </a:ext>
            </a:extLst>
          </p:cNvPr>
          <p:cNvSpPr/>
          <p:nvPr/>
        </p:nvSpPr>
        <p:spPr>
          <a:xfrm>
            <a:off x="5030117" y="2036941"/>
            <a:ext cx="3213743" cy="309718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C4DFD2FF-9E17-407D-A01D-5EA74A3C6226}"/>
              </a:ext>
            </a:extLst>
          </p:cNvPr>
          <p:cNvCxnSpPr>
            <a:cxnSpLocks/>
          </p:cNvCxnSpPr>
          <p:nvPr/>
        </p:nvCxnSpPr>
        <p:spPr>
          <a:xfrm flipV="1">
            <a:off x="4020692" y="2329452"/>
            <a:ext cx="7837933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E47796A7-268E-4F41-B935-7D87832AEFDC}"/>
              </a:ext>
            </a:extLst>
          </p:cNvPr>
          <p:cNvSpPr/>
          <p:nvPr/>
        </p:nvSpPr>
        <p:spPr>
          <a:xfrm>
            <a:off x="4172649" y="2152711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DBE00D8F-0F88-4B7E-936B-89B8BEF81511}"/>
              </a:ext>
            </a:extLst>
          </p:cNvPr>
          <p:cNvSpPr/>
          <p:nvPr/>
        </p:nvSpPr>
        <p:spPr>
          <a:xfrm>
            <a:off x="5262062" y="2152711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PCT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B5F30BBE-767F-4F91-B6E2-7B15B1CB5050}"/>
              </a:ext>
            </a:extLst>
          </p:cNvPr>
          <p:cNvSpPr/>
          <p:nvPr/>
        </p:nvSpPr>
        <p:spPr>
          <a:xfrm>
            <a:off x="6426020" y="2152711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취하간주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9F933E82-E62F-451E-9A50-7CD5F7D4C194}"/>
              </a:ext>
            </a:extLst>
          </p:cNvPr>
          <p:cNvSpPr/>
          <p:nvPr/>
        </p:nvSpPr>
        <p:spPr>
          <a:xfrm>
            <a:off x="7782885" y="2152711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국제공개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39B0CF67-5E44-4F50-AEA2-32A3A1A3E7D0}"/>
              </a:ext>
            </a:extLst>
          </p:cNvPr>
          <p:cNvSpPr/>
          <p:nvPr/>
        </p:nvSpPr>
        <p:spPr>
          <a:xfrm>
            <a:off x="5048853" y="1763975"/>
            <a:ext cx="3418872" cy="352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 </a:t>
            </a:r>
            <a:r>
              <a:rPr lang="ko-KR" altLang="en-US" sz="1000" dirty="0">
                <a:solidFill>
                  <a:schemeClr val="tx1"/>
                </a:solidFill>
              </a:rPr>
              <a:t>원문에 기재된 발명 중 </a:t>
            </a:r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의 최명도에 기재된 발명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394075A2-1AA7-411B-AE7D-0FF2217A11D1}"/>
              </a:ext>
            </a:extLst>
          </p:cNvPr>
          <p:cNvSpPr/>
          <p:nvPr/>
        </p:nvSpPr>
        <p:spPr>
          <a:xfrm>
            <a:off x="5533760" y="2508583"/>
            <a:ext cx="3418872" cy="352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 </a:t>
            </a:r>
            <a:r>
              <a:rPr lang="ko-KR" altLang="en-US" sz="1000" dirty="0">
                <a:solidFill>
                  <a:schemeClr val="tx1"/>
                </a:solidFill>
              </a:rPr>
              <a:t>원문에 기재된 발명 중 </a:t>
            </a:r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의 최명도에 기재되지 않은 발명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3BDD2710-94DB-4CE0-A143-028E81BFB8FB}"/>
              </a:ext>
            </a:extLst>
          </p:cNvPr>
          <p:cNvSpPr/>
          <p:nvPr/>
        </p:nvSpPr>
        <p:spPr>
          <a:xfrm>
            <a:off x="10739099" y="2151428"/>
            <a:ext cx="950306" cy="3528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국내단계진입</a:t>
            </a:r>
            <a:r>
              <a:rPr lang="en-US" altLang="ko-KR" sz="900" dirty="0">
                <a:solidFill>
                  <a:schemeClr val="bg1"/>
                </a:solidFill>
              </a:rPr>
              <a:t>(Y)</a:t>
            </a:r>
          </a:p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(</a:t>
            </a:r>
            <a:r>
              <a:rPr lang="ko-KR" altLang="en-US" sz="900" dirty="0" err="1">
                <a:solidFill>
                  <a:schemeClr val="bg1"/>
                </a:solidFill>
              </a:rPr>
              <a:t>최종번역문확정</a:t>
            </a:r>
            <a:r>
              <a:rPr lang="en-US" altLang="ko-KR" sz="900" dirty="0">
                <a:solidFill>
                  <a:schemeClr val="bg1"/>
                </a:solidFill>
              </a:rPr>
              <a:t>)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5" name="양쪽 모서리가 둥근 사각형 85">
            <a:extLst>
              <a:ext uri="{FF2B5EF4-FFF2-40B4-BE49-F238E27FC236}">
                <a16:creationId xmlns:a16="http://schemas.microsoft.com/office/drawing/2014/main" id="{5DA54B66-122B-4920-BE8C-8D4F88FB3606}"/>
              </a:ext>
            </a:extLst>
          </p:cNvPr>
          <p:cNvSpPr/>
          <p:nvPr/>
        </p:nvSpPr>
        <p:spPr>
          <a:xfrm>
            <a:off x="6107654" y="3300908"/>
            <a:ext cx="2136206" cy="243579"/>
          </a:xfrm>
          <a:prstGeom prst="round2SameRect">
            <a:avLst>
              <a:gd name="adj1" fmla="val 0"/>
              <a:gd name="adj2" fmla="val 50000"/>
            </a:avLst>
          </a:prstGeom>
          <a:pattFill prst="pct20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양쪽 모서리가 둥근 사각형 22">
            <a:extLst>
              <a:ext uri="{FF2B5EF4-FFF2-40B4-BE49-F238E27FC236}">
                <a16:creationId xmlns:a16="http://schemas.microsoft.com/office/drawing/2014/main" id="{E3D9F96D-FA45-4B5D-9CFB-C3B542C3A00B}"/>
              </a:ext>
            </a:extLst>
          </p:cNvPr>
          <p:cNvSpPr/>
          <p:nvPr/>
        </p:nvSpPr>
        <p:spPr>
          <a:xfrm>
            <a:off x="5030117" y="3008786"/>
            <a:ext cx="3213743" cy="309718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CEF4D1B3-A547-441F-BF7B-49B4B54B284A}"/>
              </a:ext>
            </a:extLst>
          </p:cNvPr>
          <p:cNvCxnSpPr>
            <a:cxnSpLocks/>
          </p:cNvCxnSpPr>
          <p:nvPr/>
        </p:nvCxnSpPr>
        <p:spPr>
          <a:xfrm flipV="1">
            <a:off x="4020692" y="3301297"/>
            <a:ext cx="7837933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08B2D1AE-4D44-46EC-BCDE-73398456B62B}"/>
              </a:ext>
            </a:extLst>
          </p:cNvPr>
          <p:cNvSpPr/>
          <p:nvPr/>
        </p:nvSpPr>
        <p:spPr>
          <a:xfrm>
            <a:off x="4172649" y="3124556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PCT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133719A3-BF75-4563-BD94-48E232FFBA7F}"/>
              </a:ext>
            </a:extLst>
          </p:cNvPr>
          <p:cNvSpPr/>
          <p:nvPr/>
        </p:nvSpPr>
        <p:spPr>
          <a:xfrm>
            <a:off x="5262062" y="3124556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ECCBA725-FCD9-4FA2-80F7-9CA8B70F602A}"/>
              </a:ext>
            </a:extLst>
          </p:cNvPr>
          <p:cNvSpPr/>
          <p:nvPr/>
        </p:nvSpPr>
        <p:spPr>
          <a:xfrm>
            <a:off x="7782885" y="3124556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국제공개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출원공개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96641309-39D2-4C8A-AE80-EB12B6414F10}"/>
              </a:ext>
            </a:extLst>
          </p:cNvPr>
          <p:cNvSpPr/>
          <p:nvPr/>
        </p:nvSpPr>
        <p:spPr>
          <a:xfrm>
            <a:off x="5048853" y="2735820"/>
            <a:ext cx="3418872" cy="352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 </a:t>
            </a:r>
            <a:r>
              <a:rPr lang="ko-KR" altLang="en-US" sz="1000" dirty="0">
                <a:solidFill>
                  <a:schemeClr val="tx1"/>
                </a:solidFill>
              </a:rPr>
              <a:t>원문에 기재된 발명 중 </a:t>
            </a:r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의 최명도에 기재된 발명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256BE850-4D8F-411D-96A9-34717D91B433}"/>
              </a:ext>
            </a:extLst>
          </p:cNvPr>
          <p:cNvSpPr/>
          <p:nvPr/>
        </p:nvSpPr>
        <p:spPr>
          <a:xfrm>
            <a:off x="5533760" y="3480428"/>
            <a:ext cx="3418872" cy="352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 </a:t>
            </a:r>
            <a:r>
              <a:rPr lang="ko-KR" altLang="en-US" sz="1000" dirty="0">
                <a:solidFill>
                  <a:schemeClr val="tx1"/>
                </a:solidFill>
              </a:rPr>
              <a:t>원문에 기재된 발명 중 </a:t>
            </a:r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의 최명도에 기재되지 않은 발명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8558FB8-1406-4FE7-A24B-BF90A24DBE0A}"/>
              </a:ext>
            </a:extLst>
          </p:cNvPr>
          <p:cNvSpPr/>
          <p:nvPr/>
        </p:nvSpPr>
        <p:spPr>
          <a:xfrm>
            <a:off x="8760887" y="3124556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취하간주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3E0723AC-6686-4199-ADF4-2C490B7771D6}"/>
              </a:ext>
            </a:extLst>
          </p:cNvPr>
          <p:cNvSpPr/>
          <p:nvPr/>
        </p:nvSpPr>
        <p:spPr>
          <a:xfrm>
            <a:off x="9683813" y="3124556"/>
            <a:ext cx="950306" cy="3528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국내단계진입</a:t>
            </a:r>
            <a:endParaRPr lang="en-US" altLang="ko-KR" sz="900" dirty="0">
              <a:solidFill>
                <a:schemeClr val="bg1"/>
              </a:solidFill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여부와 무관</a:t>
            </a:r>
            <a:r>
              <a:rPr lang="en-US" altLang="ko-KR" sz="900" dirty="0">
                <a:solidFill>
                  <a:schemeClr val="bg1"/>
                </a:solidFill>
              </a:rPr>
              <a:t>(X)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7" name="말풍선: 모서리가 둥근 사각형 156">
            <a:extLst>
              <a:ext uri="{FF2B5EF4-FFF2-40B4-BE49-F238E27FC236}">
                <a16:creationId xmlns:a16="http://schemas.microsoft.com/office/drawing/2014/main" id="{69CDD28D-F284-42EC-BAAF-5D6BC240089D}"/>
              </a:ext>
            </a:extLst>
          </p:cNvPr>
          <p:cNvSpPr/>
          <p:nvPr/>
        </p:nvSpPr>
        <p:spPr>
          <a:xfrm>
            <a:off x="8952633" y="1639872"/>
            <a:ext cx="3083044" cy="377406"/>
          </a:xfrm>
          <a:prstGeom prst="wedgeRoundRectCallout">
            <a:avLst>
              <a:gd name="adj1" fmla="val 36546"/>
              <a:gd name="adj2" fmla="val 81048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</a:t>
            </a:r>
            <a:r>
              <a:rPr lang="ko-KR" altLang="en-US" sz="1000" dirty="0">
                <a:solidFill>
                  <a:schemeClr val="tx1"/>
                </a:solidFill>
              </a:rPr>
              <a:t>가 외국어인 경우 국내단계진입해야 하나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국어인 경우 국내단계진입과 무관하게 </a:t>
            </a:r>
            <a:r>
              <a:rPr lang="en-US" altLang="ko-KR" sz="1000" dirty="0">
                <a:solidFill>
                  <a:schemeClr val="tx1"/>
                </a:solidFill>
              </a:rPr>
              <a:t>Y</a:t>
            </a:r>
            <a:r>
              <a:rPr lang="ko-KR" altLang="en-US" sz="1000" dirty="0">
                <a:solidFill>
                  <a:schemeClr val="tx1"/>
                </a:solidFill>
              </a:rPr>
              <a:t>의 확선지위 인정</a:t>
            </a:r>
          </a:p>
        </p:txBody>
      </p:sp>
      <p:sp>
        <p:nvSpPr>
          <p:cNvPr id="158" name="말풍선: 모서리가 둥근 사각형 157">
            <a:extLst>
              <a:ext uri="{FF2B5EF4-FFF2-40B4-BE49-F238E27FC236}">
                <a16:creationId xmlns:a16="http://schemas.microsoft.com/office/drawing/2014/main" id="{833F6544-CF3C-4964-928B-F43161674077}"/>
              </a:ext>
            </a:extLst>
          </p:cNvPr>
          <p:cNvSpPr/>
          <p:nvPr/>
        </p:nvSpPr>
        <p:spPr>
          <a:xfrm>
            <a:off x="9780686" y="2585565"/>
            <a:ext cx="1796408" cy="382296"/>
          </a:xfrm>
          <a:prstGeom prst="wedgeRoundRectCallout">
            <a:avLst>
              <a:gd name="adj1" fmla="val -40682"/>
              <a:gd name="adj2" fmla="val 87304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의 국내단계진입과 무관하게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</a:t>
            </a:r>
            <a:r>
              <a:rPr lang="ko-KR" altLang="en-US" sz="1000" dirty="0">
                <a:solidFill>
                  <a:schemeClr val="tx1"/>
                </a:solidFill>
              </a:rPr>
              <a:t>의 확선지위 인정</a:t>
            </a:r>
          </a:p>
        </p:txBody>
      </p:sp>
      <p:sp>
        <p:nvSpPr>
          <p:cNvPr id="159" name="양쪽 모서리가 둥근 사각형 85">
            <a:extLst>
              <a:ext uri="{FF2B5EF4-FFF2-40B4-BE49-F238E27FC236}">
                <a16:creationId xmlns:a16="http://schemas.microsoft.com/office/drawing/2014/main" id="{F5ACAFD9-0254-4F8E-9716-AE7E1A4EE9CA}"/>
              </a:ext>
            </a:extLst>
          </p:cNvPr>
          <p:cNvSpPr/>
          <p:nvPr/>
        </p:nvSpPr>
        <p:spPr>
          <a:xfrm>
            <a:off x="6107654" y="4253383"/>
            <a:ext cx="2136206" cy="243579"/>
          </a:xfrm>
          <a:prstGeom prst="round2SameRect">
            <a:avLst>
              <a:gd name="adj1" fmla="val 0"/>
              <a:gd name="adj2" fmla="val 50000"/>
            </a:avLst>
          </a:prstGeom>
          <a:pattFill prst="pct20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양쪽 모서리가 둥근 사각형 22">
            <a:extLst>
              <a:ext uri="{FF2B5EF4-FFF2-40B4-BE49-F238E27FC236}">
                <a16:creationId xmlns:a16="http://schemas.microsoft.com/office/drawing/2014/main" id="{0ECE4366-FE96-4C3C-BBC9-F90B383E5668}"/>
              </a:ext>
            </a:extLst>
          </p:cNvPr>
          <p:cNvSpPr/>
          <p:nvPr/>
        </p:nvSpPr>
        <p:spPr>
          <a:xfrm>
            <a:off x="5030117" y="3961261"/>
            <a:ext cx="3213743" cy="309718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68B3C8ED-36EC-4027-9D19-ED0ED5C202EE}"/>
              </a:ext>
            </a:extLst>
          </p:cNvPr>
          <p:cNvCxnSpPr>
            <a:cxnSpLocks/>
          </p:cNvCxnSpPr>
          <p:nvPr/>
        </p:nvCxnSpPr>
        <p:spPr>
          <a:xfrm flipV="1">
            <a:off x="4020692" y="4253772"/>
            <a:ext cx="7837933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F69926FF-FC7A-47EA-98F3-3E41B835E237}"/>
              </a:ext>
            </a:extLst>
          </p:cNvPr>
          <p:cNvSpPr/>
          <p:nvPr/>
        </p:nvSpPr>
        <p:spPr>
          <a:xfrm>
            <a:off x="4172649" y="4077031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PCT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A061726C-A40D-4E0E-BF26-1BE75323A308}"/>
              </a:ext>
            </a:extLst>
          </p:cNvPr>
          <p:cNvSpPr/>
          <p:nvPr/>
        </p:nvSpPr>
        <p:spPr>
          <a:xfrm>
            <a:off x="5262062" y="4077031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PCT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A77273EA-E55D-4E5F-BB24-36C51C4142D1}"/>
              </a:ext>
            </a:extLst>
          </p:cNvPr>
          <p:cNvSpPr/>
          <p:nvPr/>
        </p:nvSpPr>
        <p:spPr>
          <a:xfrm>
            <a:off x="7782885" y="4077031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국제공개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국제공개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6B19C865-2ED7-413A-9BA4-422CF2C64F34}"/>
              </a:ext>
            </a:extLst>
          </p:cNvPr>
          <p:cNvSpPr/>
          <p:nvPr/>
        </p:nvSpPr>
        <p:spPr>
          <a:xfrm>
            <a:off x="5048853" y="3688295"/>
            <a:ext cx="3418872" cy="352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 </a:t>
            </a:r>
            <a:r>
              <a:rPr lang="ko-KR" altLang="en-US" sz="1000" dirty="0">
                <a:solidFill>
                  <a:schemeClr val="tx1"/>
                </a:solidFill>
              </a:rPr>
              <a:t>원문에 기재된 발명 중 </a:t>
            </a:r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의 원문에 기재된 발명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10447D06-C11A-47A9-A979-3B9E633652F5}"/>
              </a:ext>
            </a:extLst>
          </p:cNvPr>
          <p:cNvSpPr/>
          <p:nvPr/>
        </p:nvSpPr>
        <p:spPr>
          <a:xfrm>
            <a:off x="5533760" y="4432903"/>
            <a:ext cx="3418872" cy="352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 </a:t>
            </a:r>
            <a:r>
              <a:rPr lang="ko-KR" altLang="en-US" sz="1000" dirty="0">
                <a:solidFill>
                  <a:schemeClr val="tx1"/>
                </a:solidFill>
              </a:rPr>
              <a:t>원문에 기재된 발명 중 </a:t>
            </a:r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의 원문에 기재되지 않은 발명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79498B98-479A-4784-AC9B-FF6A6336E7C3}"/>
              </a:ext>
            </a:extLst>
          </p:cNvPr>
          <p:cNvSpPr/>
          <p:nvPr/>
        </p:nvSpPr>
        <p:spPr>
          <a:xfrm>
            <a:off x="8732312" y="4077031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취하간주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CDA1B6EB-D09B-4BF8-B03E-484AF14EE827}"/>
              </a:ext>
            </a:extLst>
          </p:cNvPr>
          <p:cNvSpPr/>
          <p:nvPr/>
        </p:nvSpPr>
        <p:spPr>
          <a:xfrm>
            <a:off x="9683813" y="4077031"/>
            <a:ext cx="950306" cy="3528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국내단계진입</a:t>
            </a:r>
            <a:endParaRPr lang="en-US" altLang="ko-KR" sz="900" dirty="0">
              <a:solidFill>
                <a:schemeClr val="bg1"/>
              </a:solidFill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여부와 무관</a:t>
            </a:r>
            <a:r>
              <a:rPr lang="en-US" altLang="ko-KR" sz="900" dirty="0">
                <a:solidFill>
                  <a:schemeClr val="bg1"/>
                </a:solidFill>
              </a:rPr>
              <a:t>(X)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F90FE05D-7993-4DB8-8C8D-2E2CB73AE39A}"/>
              </a:ext>
            </a:extLst>
          </p:cNvPr>
          <p:cNvSpPr/>
          <p:nvPr/>
        </p:nvSpPr>
        <p:spPr>
          <a:xfrm>
            <a:off x="10739099" y="4086711"/>
            <a:ext cx="950306" cy="3528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국내단계진입</a:t>
            </a:r>
            <a:r>
              <a:rPr lang="en-US" altLang="ko-KR" sz="900" dirty="0">
                <a:solidFill>
                  <a:schemeClr val="bg1"/>
                </a:solidFill>
              </a:rPr>
              <a:t>(Y)</a:t>
            </a:r>
          </a:p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(</a:t>
            </a:r>
            <a:r>
              <a:rPr lang="ko-KR" altLang="en-US" sz="900" dirty="0" err="1">
                <a:solidFill>
                  <a:schemeClr val="bg1"/>
                </a:solidFill>
              </a:rPr>
              <a:t>최종번역문확정</a:t>
            </a:r>
            <a:r>
              <a:rPr lang="en-US" altLang="ko-KR" sz="900" dirty="0">
                <a:solidFill>
                  <a:schemeClr val="bg1"/>
                </a:solidFill>
              </a:rPr>
              <a:t>)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1" name="말풍선: 모서리가 둥근 사각형 170">
            <a:extLst>
              <a:ext uri="{FF2B5EF4-FFF2-40B4-BE49-F238E27FC236}">
                <a16:creationId xmlns:a16="http://schemas.microsoft.com/office/drawing/2014/main" id="{6A905468-773E-4E45-A5CA-091BEB2EA81A}"/>
              </a:ext>
            </a:extLst>
          </p:cNvPr>
          <p:cNvSpPr/>
          <p:nvPr/>
        </p:nvSpPr>
        <p:spPr>
          <a:xfrm>
            <a:off x="9780686" y="3613368"/>
            <a:ext cx="1796408" cy="382296"/>
          </a:xfrm>
          <a:prstGeom prst="wedgeRoundRectCallout">
            <a:avLst>
              <a:gd name="adj1" fmla="val -41742"/>
              <a:gd name="adj2" fmla="val -79628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의 경우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국어인 경우에 한해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 err="1">
                <a:solidFill>
                  <a:schemeClr val="tx1"/>
                </a:solidFill>
              </a:rPr>
              <a:t>확선의</a:t>
            </a:r>
            <a:r>
              <a:rPr lang="ko-KR" altLang="en-US" sz="1000" dirty="0">
                <a:solidFill>
                  <a:schemeClr val="tx1"/>
                </a:solidFill>
              </a:rPr>
              <a:t> 지위 인정</a:t>
            </a: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7CBC5441-43FC-4AA9-88A7-5632AD9CB074}"/>
              </a:ext>
            </a:extLst>
          </p:cNvPr>
          <p:cNvSpPr/>
          <p:nvPr/>
        </p:nvSpPr>
        <p:spPr>
          <a:xfrm>
            <a:off x="171450" y="4785786"/>
            <a:ext cx="3832332" cy="1294766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7" name="연결선: 꺾임 176">
            <a:extLst>
              <a:ext uri="{FF2B5EF4-FFF2-40B4-BE49-F238E27FC236}">
                <a16:creationId xmlns:a16="http://schemas.microsoft.com/office/drawing/2014/main" id="{6F287838-4FA0-4D45-A1CB-80F81373CD1E}"/>
              </a:ext>
            </a:extLst>
          </p:cNvPr>
          <p:cNvCxnSpPr>
            <a:stCxn id="29" idx="0"/>
            <a:endCxn id="90" idx="1"/>
          </p:cNvCxnSpPr>
          <p:nvPr/>
        </p:nvCxnSpPr>
        <p:spPr>
          <a:xfrm rot="16200000" flipV="1">
            <a:off x="249898" y="2941345"/>
            <a:ext cx="2937684" cy="1733148"/>
          </a:xfrm>
          <a:prstGeom prst="bentConnector4">
            <a:avLst>
              <a:gd name="adj1" fmla="val 8175"/>
              <a:gd name="adj2" fmla="val 11319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연결선: 꺾임 179">
            <a:extLst>
              <a:ext uri="{FF2B5EF4-FFF2-40B4-BE49-F238E27FC236}">
                <a16:creationId xmlns:a16="http://schemas.microsoft.com/office/drawing/2014/main" id="{75909C78-0500-4D30-B822-3CB6352EB959}"/>
              </a:ext>
            </a:extLst>
          </p:cNvPr>
          <p:cNvCxnSpPr>
            <a:stCxn id="29" idx="0"/>
            <a:endCxn id="71" idx="1"/>
          </p:cNvCxnSpPr>
          <p:nvPr/>
        </p:nvCxnSpPr>
        <p:spPr>
          <a:xfrm rot="16200000" flipV="1">
            <a:off x="-241940" y="2449507"/>
            <a:ext cx="3921361" cy="1733148"/>
          </a:xfrm>
          <a:prstGeom prst="bentConnector4">
            <a:avLst>
              <a:gd name="adj1" fmla="val 6036"/>
              <a:gd name="adj2" fmla="val 11319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연결선: 꺾임 182">
            <a:extLst>
              <a:ext uri="{FF2B5EF4-FFF2-40B4-BE49-F238E27FC236}">
                <a16:creationId xmlns:a16="http://schemas.microsoft.com/office/drawing/2014/main" id="{DD594EE4-1912-4F11-880B-FF2BEAC96903}"/>
              </a:ext>
            </a:extLst>
          </p:cNvPr>
          <p:cNvCxnSpPr>
            <a:stCxn id="99" idx="1"/>
            <a:endCxn id="93" idx="1"/>
          </p:cNvCxnSpPr>
          <p:nvPr/>
        </p:nvCxnSpPr>
        <p:spPr>
          <a:xfrm rot="10800000">
            <a:off x="852166" y="3320308"/>
            <a:ext cx="12700" cy="960951"/>
          </a:xfrm>
          <a:prstGeom prst="bentConnector3">
            <a:avLst>
              <a:gd name="adj1" fmla="val 19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자유형: 도형 188">
            <a:extLst>
              <a:ext uri="{FF2B5EF4-FFF2-40B4-BE49-F238E27FC236}">
                <a16:creationId xmlns:a16="http://schemas.microsoft.com/office/drawing/2014/main" id="{6A0F84BF-5361-4FED-BB24-053394F5AB19}"/>
              </a:ext>
            </a:extLst>
          </p:cNvPr>
          <p:cNvSpPr/>
          <p:nvPr/>
        </p:nvSpPr>
        <p:spPr>
          <a:xfrm>
            <a:off x="1238250" y="5514975"/>
            <a:ext cx="3448050" cy="923925"/>
          </a:xfrm>
          <a:custGeom>
            <a:avLst/>
            <a:gdLst>
              <a:gd name="connsiteX0" fmla="*/ 0 w 3448050"/>
              <a:gd name="connsiteY0" fmla="*/ 57150 h 923925"/>
              <a:gd name="connsiteX1" fmla="*/ 0 w 3448050"/>
              <a:gd name="connsiteY1" fmla="*/ 923925 h 923925"/>
              <a:gd name="connsiteX2" fmla="*/ 3095625 w 3448050"/>
              <a:gd name="connsiteY2" fmla="*/ 923925 h 923925"/>
              <a:gd name="connsiteX3" fmla="*/ 3095625 w 3448050"/>
              <a:gd name="connsiteY3" fmla="*/ 0 h 923925"/>
              <a:gd name="connsiteX4" fmla="*/ 3448050 w 3448050"/>
              <a:gd name="connsiteY4" fmla="*/ 0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8050" h="923925">
                <a:moveTo>
                  <a:pt x="0" y="57150"/>
                </a:moveTo>
                <a:lnTo>
                  <a:pt x="0" y="923925"/>
                </a:lnTo>
                <a:lnTo>
                  <a:pt x="3095625" y="923925"/>
                </a:lnTo>
                <a:lnTo>
                  <a:pt x="3095625" y="0"/>
                </a:lnTo>
                <a:lnTo>
                  <a:pt x="3448050" y="0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1" name="직선 화살표 연결선 190">
            <a:extLst>
              <a:ext uri="{FF2B5EF4-FFF2-40B4-BE49-F238E27FC236}">
                <a16:creationId xmlns:a16="http://schemas.microsoft.com/office/drawing/2014/main" id="{C837CEED-EA2B-4E30-89A4-BD961BECCD97}"/>
              </a:ext>
            </a:extLst>
          </p:cNvPr>
          <p:cNvCxnSpPr>
            <a:cxnSpLocks/>
            <a:stCxn id="33" idx="3"/>
            <a:endCxn id="171" idx="1"/>
          </p:cNvCxnSpPr>
          <p:nvPr/>
        </p:nvCxnSpPr>
        <p:spPr>
          <a:xfrm flipV="1">
            <a:off x="7551395" y="3804516"/>
            <a:ext cx="2229291" cy="202404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8472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재외자의 특허관리인의 특례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" y="976902"/>
            <a:ext cx="12192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206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재외자의 특허관리인의 특례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재외자인 국제특허출원의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출원인은</a:t>
            </a:r>
            <a:r>
              <a:rPr lang="ko-KR" altLang="en-US" sz="1400" dirty="0">
                <a:solidFill>
                  <a:schemeClr val="tx2"/>
                </a:solidFill>
              </a:rPr>
              <a:t> 기준일까지는 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항에도 불구하고 특허관리인에 의하지 아니하고 특허에 관한 절차를 밟을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201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국어번역문을 제출한 재외자는 총리령으로 정하는 기간에 특허관리인을 선임하여 지식재산처장에게 신고하여야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선임신고가 없으면 그 국제특허출원은 취하된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endParaRPr lang="en-US" altLang="ko-KR" sz="1400" b="1" dirty="0">
              <a:solidFill>
                <a:schemeClr val="accent1"/>
              </a:solidFill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193903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77874" y="2028041"/>
            <a:ext cx="12012525" cy="7386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5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재외자의 특허관리인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국내에 주소 또는 영업소가 없는 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재외자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는 재외자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법인의 경우에는 그 대표자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가 국내에 체류하는 경우를 제외하고는 그 재외자의 특허에 관한 대리인으로서 국내에 주소 또는 영업소가 있는 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특허관리인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이라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의해서만 특허에 관한 절차를 밟거나 이 법 또는 이 법에 따른 명령에 따라 행정청이 한 처분에 대하여 소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訴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를 제기할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585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49518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직사각형 101"/>
          <p:cNvSpPr/>
          <p:nvPr/>
        </p:nvSpPr>
        <p:spPr>
          <a:xfrm>
            <a:off x="4914112" y="5540945"/>
            <a:ext cx="6668288" cy="9643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ko-KR" altLang="en-US" sz="1400" dirty="0">
                <a:solidFill>
                  <a:schemeClr val="tx1"/>
                </a:solidFill>
              </a:rPr>
              <a:t>이후 보상금청구권 </a:t>
            </a:r>
            <a:r>
              <a:rPr lang="ko-KR" altLang="en-US" sz="1400" dirty="0" err="1">
                <a:solidFill>
                  <a:schemeClr val="tx1"/>
                </a:solidFill>
              </a:rPr>
              <a:t>발생가능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5" name="양쪽 모서리가 둥근 사각형 64"/>
          <p:cNvSpPr/>
          <p:nvPr/>
        </p:nvSpPr>
        <p:spPr>
          <a:xfrm>
            <a:off x="5501414" y="3806105"/>
            <a:ext cx="5471386" cy="404667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4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/>
          <p:cNvSpPr/>
          <p:nvPr/>
        </p:nvSpPr>
        <p:spPr>
          <a:xfrm>
            <a:off x="6415814" y="3603233"/>
            <a:ext cx="2886992" cy="1517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31</a:t>
            </a:r>
            <a:r>
              <a:rPr lang="ko-KR" altLang="en-US" sz="1200" dirty="0">
                <a:solidFill>
                  <a:schemeClr val="tx1"/>
                </a:solidFill>
              </a:rPr>
              <a:t>개월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국내서면제출기간의 만료일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출원공개시기 및 효과의 특례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77875" y="343911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875" y="976902"/>
            <a:ext cx="1193632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207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출원공개시기 및 효과의 특례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) 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출원공개에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관하여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64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항을 적용하는 경우에는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다음 각 호의 구분에 따른 날부터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년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6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개월이 지난 후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는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국내서면제출기간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201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항 각 호 외의 부분 단서에 따라 국어번역문의 제출기간을 연장해 달라는 취지를 적은 서면이 제출된 경우에는 연장된 </a:t>
            </a:r>
            <a:r>
              <a:rPr lang="ko-KR" altLang="en-US" sz="1400" dirty="0" err="1">
                <a:solidFill>
                  <a:schemeClr val="accent2"/>
                </a:solidFill>
                <a:latin typeface="+mn-ea"/>
              </a:rPr>
              <a:t>국어번역문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 제출 기간을 말한다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이하 이 항에서 같다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이 지난 후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국내서면제출기간에 </a:t>
            </a:r>
            <a:r>
              <a:rPr lang="ko-KR" altLang="en-US" sz="1400" dirty="0" err="1">
                <a:solidFill>
                  <a:schemeClr val="accent2"/>
                </a:solidFill>
                <a:latin typeface="+mn-ea"/>
              </a:rPr>
              <a:t>출원인이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accent2"/>
                </a:solidFill>
                <a:latin typeface="+mn-ea"/>
              </a:rPr>
              <a:t>출원심사의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 청구를 한 </a:t>
            </a:r>
            <a:r>
              <a:rPr lang="ko-KR" altLang="en-US" sz="1400" dirty="0" err="1">
                <a:solidFill>
                  <a:schemeClr val="accent2"/>
                </a:solidFill>
                <a:latin typeface="+mn-ea"/>
              </a:rPr>
              <a:t>국제특허출원으로서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 「특허협력조약」 제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21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조에 따라 </a:t>
            </a:r>
            <a:r>
              <a:rPr lang="ko-KR" altLang="en-US" sz="1400" dirty="0" err="1">
                <a:solidFill>
                  <a:schemeClr val="accent2"/>
                </a:solidFill>
                <a:latin typeface="+mn-ea"/>
              </a:rPr>
              <a:t>국제공개된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 경우에는 </a:t>
            </a:r>
            <a:r>
              <a:rPr lang="ko-KR" altLang="en-US" sz="1400" dirty="0" err="1">
                <a:solidFill>
                  <a:schemeClr val="accent2"/>
                </a:solidFill>
                <a:latin typeface="+mn-ea"/>
              </a:rPr>
              <a:t>우선일부터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년 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6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개월이 되는 날 또는 </a:t>
            </a:r>
            <a:r>
              <a:rPr lang="ko-KR" altLang="en-US" sz="1400" dirty="0" err="1">
                <a:solidFill>
                  <a:schemeClr val="accent2"/>
                </a:solidFill>
                <a:latin typeface="+mn-ea"/>
              </a:rPr>
              <a:t>출원심사의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 청구일 중 늦은 날이 지난 후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)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항에도 불구하고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국어로 출원한 국제특허출원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에 관하여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출원공개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전에 이미 「특허협력조약」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조에 따라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국제공개가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된 경우에는 그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국제공개가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된 때에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출원공개가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된 것으로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출원인은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국제특허출원에 관하여 </a:t>
            </a:r>
            <a:r>
              <a:rPr lang="ko-KR" altLang="en-US" sz="1400" dirty="0" err="1">
                <a:solidFill>
                  <a:srgbClr val="FF0000"/>
                </a:solidFill>
                <a:latin typeface="+mn-ea"/>
              </a:rPr>
              <a:t>출원공개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국어로 출원한 국제특허출원인 경우 「특허협력조약」 제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21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조에 따른 </a:t>
            </a:r>
            <a:r>
              <a:rPr lang="ko-KR" altLang="en-US" sz="1400" dirty="0" err="1">
                <a:solidFill>
                  <a:srgbClr val="FF0000"/>
                </a:solidFill>
                <a:latin typeface="+mn-ea"/>
              </a:rPr>
              <a:t>국제공개를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 말한다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이하 이 조에서 같다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가 있은 후 국제특허출원된 발명을 업으로 실시한 자에게 국제특허출원된 발명인 것을 서면으로 경고할 수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출원인은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따른 경고를 받거나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출원공개된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발명임을 알고도 그 국제특허출원된 발명을 업으로서 실시한 자에게 그 경고를 받거나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출원공개된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발명임을 안 때부터 특허권의 설정등록 시까지의 기간 동안 그 특허발명의 실시에 대하여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합리적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으로 받을 수 있는 금액에 상당하는 보상금의 지급을 청구할 수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그 청구권은 해당 특허출원이 특허권의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설정등록된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후에만 행사할 수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243350" y="4201807"/>
            <a:ext cx="427785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219464" y="4008440"/>
            <a:ext cx="1136764" cy="4013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국제특허출원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국어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0" name="직선 연결선 49"/>
          <p:cNvCxnSpPr/>
          <p:nvPr/>
        </p:nvCxnSpPr>
        <p:spPr>
          <a:xfrm flipV="1">
            <a:off x="4659458" y="3733800"/>
            <a:ext cx="0" cy="295202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1608359" y="4008440"/>
            <a:ext cx="1136764" cy="4013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국제공개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국어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3045434" y="4008440"/>
            <a:ext cx="1136764" cy="4013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국내공개</a:t>
            </a:r>
            <a:r>
              <a:rPr lang="en-US" altLang="ko-KR" sz="1200" dirty="0">
                <a:solidFill>
                  <a:schemeClr val="tx1"/>
                </a:solidFill>
              </a:rPr>
              <a:t>×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국어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408190" y="5224028"/>
            <a:ext cx="1549400" cy="4712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이후 보상금청구권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발생가능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7" name="직선 연결선 16"/>
          <p:cNvCxnSpPr>
            <a:stCxn id="3" idx="0"/>
            <a:endCxn id="47" idx="2"/>
          </p:cNvCxnSpPr>
          <p:nvPr/>
        </p:nvCxnSpPr>
        <p:spPr>
          <a:xfrm flipH="1" flipV="1">
            <a:off x="2176741" y="4409826"/>
            <a:ext cx="6149" cy="81420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5022346" y="4201807"/>
            <a:ext cx="656005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4998460" y="4008440"/>
            <a:ext cx="1136764" cy="4013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국제특허출원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외국어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7631955" y="4008440"/>
            <a:ext cx="1136764" cy="4013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국제공개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외국어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5775352" y="4728898"/>
            <a:ext cx="1057248" cy="47120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번역문제출</a:t>
            </a:r>
            <a:r>
              <a:rPr lang="ko-KR" altLang="en-US" sz="1200" dirty="0">
                <a:solidFill>
                  <a:schemeClr val="tx1"/>
                </a:solidFill>
              </a:rPr>
              <a:t> 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조기공개신청</a:t>
            </a:r>
          </a:p>
        </p:txBody>
      </p:sp>
      <p:cxnSp>
        <p:nvCxnSpPr>
          <p:cNvPr id="25" name="직선 화살표 연결선 24"/>
          <p:cNvCxnSpPr>
            <a:stCxn id="67" idx="0"/>
          </p:cNvCxnSpPr>
          <p:nvPr/>
        </p:nvCxnSpPr>
        <p:spPr>
          <a:xfrm flipV="1">
            <a:off x="6303976" y="4229100"/>
            <a:ext cx="7924" cy="4997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/>
          <p:cNvSpPr/>
          <p:nvPr/>
        </p:nvSpPr>
        <p:spPr>
          <a:xfrm>
            <a:off x="7077732" y="4728898"/>
            <a:ext cx="656568" cy="47120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청구</a:t>
            </a:r>
          </a:p>
        </p:txBody>
      </p:sp>
      <p:cxnSp>
        <p:nvCxnSpPr>
          <p:cNvPr id="72" name="직선 화살표 연결선 71"/>
          <p:cNvCxnSpPr>
            <a:stCxn id="70" idx="0"/>
          </p:cNvCxnSpPr>
          <p:nvPr/>
        </p:nvCxnSpPr>
        <p:spPr>
          <a:xfrm flipV="1">
            <a:off x="7406016" y="4229100"/>
            <a:ext cx="7924" cy="4997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8986734" y="4728898"/>
            <a:ext cx="656568" cy="47120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청구</a:t>
            </a:r>
          </a:p>
        </p:txBody>
      </p:sp>
      <p:cxnSp>
        <p:nvCxnSpPr>
          <p:cNvPr id="86" name="직선 화살표 연결선 85"/>
          <p:cNvCxnSpPr>
            <a:stCxn id="73" idx="0"/>
          </p:cNvCxnSpPr>
          <p:nvPr/>
        </p:nvCxnSpPr>
        <p:spPr>
          <a:xfrm flipV="1">
            <a:off x="9315018" y="4229100"/>
            <a:ext cx="7924" cy="4997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10644516" y="4728898"/>
            <a:ext cx="656568" cy="47120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청구</a:t>
            </a:r>
            <a:r>
              <a:rPr lang="en-US" altLang="ko-KR" sz="1200" dirty="0">
                <a:solidFill>
                  <a:schemeClr val="tx1"/>
                </a:solidFill>
              </a:rPr>
              <a:t> ×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89" name="직선 화살표 연결선 88"/>
          <p:cNvCxnSpPr>
            <a:stCxn id="88" idx="0"/>
          </p:cNvCxnSpPr>
          <p:nvPr/>
        </p:nvCxnSpPr>
        <p:spPr>
          <a:xfrm flipV="1">
            <a:off x="10972800" y="4229100"/>
            <a:ext cx="7924" cy="4997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/>
          <p:cNvSpPr/>
          <p:nvPr/>
        </p:nvSpPr>
        <p:spPr>
          <a:xfrm>
            <a:off x="6569618" y="5695232"/>
            <a:ext cx="745582" cy="4013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국내공개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국어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7827546" y="5695232"/>
            <a:ext cx="745582" cy="4013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국내공개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국어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8940724" y="5695232"/>
            <a:ext cx="745582" cy="4013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국내공개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국어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10600009" y="5695232"/>
            <a:ext cx="745582" cy="4013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국내공개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국어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6" name="직선 화살표 연결선 95"/>
          <p:cNvCxnSpPr>
            <a:stCxn id="90" idx="0"/>
          </p:cNvCxnSpPr>
          <p:nvPr/>
        </p:nvCxnSpPr>
        <p:spPr>
          <a:xfrm flipV="1">
            <a:off x="6942409" y="4243974"/>
            <a:ext cx="8187" cy="145125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/>
          <p:cNvCxnSpPr>
            <a:stCxn id="93" idx="0"/>
            <a:endCxn id="56" idx="2"/>
          </p:cNvCxnSpPr>
          <p:nvPr/>
        </p:nvCxnSpPr>
        <p:spPr>
          <a:xfrm flipV="1">
            <a:off x="8200337" y="4409826"/>
            <a:ext cx="0" cy="128540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>
            <a:stCxn id="94" idx="0"/>
            <a:endCxn id="73" idx="2"/>
          </p:cNvCxnSpPr>
          <p:nvPr/>
        </p:nvCxnSpPr>
        <p:spPr>
          <a:xfrm flipV="1">
            <a:off x="9313515" y="5200102"/>
            <a:ext cx="1503" cy="49513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/>
          <p:cNvCxnSpPr>
            <a:stCxn id="95" idx="0"/>
            <a:endCxn id="88" idx="2"/>
          </p:cNvCxnSpPr>
          <p:nvPr/>
        </p:nvCxnSpPr>
        <p:spPr>
          <a:xfrm flipV="1">
            <a:off x="10972800" y="5200102"/>
            <a:ext cx="0" cy="49513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꺾인 연결선 59"/>
          <p:cNvCxnSpPr>
            <a:stCxn id="67" idx="2"/>
            <a:endCxn id="90" idx="1"/>
          </p:cNvCxnSpPr>
          <p:nvPr/>
        </p:nvCxnSpPr>
        <p:spPr>
          <a:xfrm rot="16200000" flipH="1">
            <a:off x="6088886" y="5415192"/>
            <a:ext cx="695823" cy="265642"/>
          </a:xfrm>
          <a:prstGeom prst="bentConnector2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/>
          <p:cNvSpPr/>
          <p:nvPr/>
        </p:nvSpPr>
        <p:spPr>
          <a:xfrm>
            <a:off x="5214720" y="5219925"/>
            <a:ext cx="1059329" cy="310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200" dirty="0">
                <a:solidFill>
                  <a:schemeClr val="tx1"/>
                </a:solidFill>
              </a:rPr>
              <a:t>약</a:t>
            </a:r>
            <a:r>
              <a:rPr lang="en-US" altLang="ko-KR" sz="1200" dirty="0">
                <a:solidFill>
                  <a:schemeClr val="tx1"/>
                </a:solidFill>
              </a:rPr>
              <a:t>2~3</a:t>
            </a:r>
            <a:r>
              <a:rPr lang="ko-KR" altLang="en-US" sz="1200" dirty="0" err="1">
                <a:solidFill>
                  <a:schemeClr val="tx1"/>
                </a:solidFill>
              </a:rPr>
              <a:t>개월후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586</a:t>
            </a:r>
            <a:endParaRPr lang="ko-KR" altLang="en-US" dirty="0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5FFE0BA9-88F9-4DB1-B204-38AD6471221D}"/>
              </a:ext>
            </a:extLst>
          </p:cNvPr>
          <p:cNvCxnSpPr>
            <a:stCxn id="70" idx="2"/>
            <a:endCxn id="93" idx="1"/>
          </p:cNvCxnSpPr>
          <p:nvPr/>
        </p:nvCxnSpPr>
        <p:spPr>
          <a:xfrm rot="16200000" flipH="1">
            <a:off x="7268870" y="5337248"/>
            <a:ext cx="695823" cy="421530"/>
          </a:xfrm>
          <a:prstGeom prst="bentConnector2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15804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211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국제조사보고서 등에 기재된 문헌의 제출명령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" y="976902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211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국제조사보고서 등에 기재된 문헌의 제출명령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지식재산처장은 국제특허출원의 출원인에 대하여 기간을 정하여 「특허협력조약」 제</a:t>
            </a:r>
            <a:r>
              <a:rPr lang="en-US" altLang="ko-KR" sz="1400" dirty="0">
                <a:solidFill>
                  <a:schemeClr val="tx2"/>
                </a:solidFill>
              </a:rPr>
              <a:t>18</a:t>
            </a:r>
            <a:r>
              <a:rPr lang="ko-KR" altLang="en-US" sz="1400" dirty="0">
                <a:solidFill>
                  <a:schemeClr val="tx2"/>
                </a:solidFill>
              </a:rPr>
              <a:t>조의 국제조사보고서 또는 같은 조약 제</a:t>
            </a:r>
            <a:r>
              <a:rPr lang="en-US" altLang="ko-KR" sz="1400" dirty="0">
                <a:solidFill>
                  <a:schemeClr val="tx2"/>
                </a:solidFill>
              </a:rPr>
              <a:t>35</a:t>
            </a:r>
            <a:r>
              <a:rPr lang="ko-KR" altLang="en-US" sz="1400" dirty="0">
                <a:solidFill>
                  <a:schemeClr val="tx2"/>
                </a:solidFill>
              </a:rPr>
              <a:t>조의 국제예비심사보고서에 적혀 있는 문헌의 사본을 제출하게 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151722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77874" y="1587772"/>
            <a:ext cx="12012525" cy="9541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400" dirty="0"/>
              <a:t>PCT</a:t>
            </a:r>
            <a:r>
              <a:rPr lang="ko-KR" altLang="en-US" sz="1400" dirty="0"/>
              <a:t>에 의하면 지정관청 또는 </a:t>
            </a:r>
            <a:r>
              <a:rPr lang="ko-KR" altLang="en-US" sz="1400" dirty="0" err="1"/>
              <a:t>출원인은</a:t>
            </a:r>
            <a:r>
              <a:rPr lang="ko-KR" altLang="en-US" sz="1400" dirty="0"/>
              <a:t> 국제조사기관에 대하여 국제조사보고서에서 인용된 문헌의 사본을 제출토록 요구할 수 있으며</a:t>
            </a:r>
            <a:r>
              <a:rPr lang="en-US" altLang="ko-KR" sz="1400" dirty="0"/>
              <a:t>(PCT </a:t>
            </a:r>
            <a:r>
              <a:rPr lang="ko-KR" altLang="en-US" sz="1400" dirty="0"/>
              <a:t>제</a:t>
            </a:r>
            <a:r>
              <a:rPr lang="en-US" altLang="ko-KR" sz="1400" dirty="0"/>
              <a:t>20</a:t>
            </a:r>
            <a:r>
              <a:rPr lang="ko-KR" altLang="en-US" sz="1400" dirty="0"/>
              <a:t>조</a:t>
            </a:r>
            <a:r>
              <a:rPr lang="en-US" altLang="ko-KR" sz="1400" dirty="0"/>
              <a:t>(3)), </a:t>
            </a:r>
            <a:r>
              <a:rPr lang="ko-KR" altLang="en-US" sz="1400" dirty="0"/>
              <a:t>국제예비심사기관에 대하여 국제예비심사보고서에 인용되었으나 국제조사보고서에서는 인용되지 아니한 문헌의 사본을 제출토록 요구할 수 있다</a:t>
            </a:r>
            <a:r>
              <a:rPr lang="en-US" altLang="ko-KR" sz="1400" dirty="0"/>
              <a:t>(PC</a:t>
            </a:r>
            <a:r>
              <a:rPr lang="ko-KR" altLang="en-US" sz="1400" dirty="0"/>
              <a:t>지식재산처</a:t>
            </a:r>
            <a:r>
              <a:rPr lang="en-US" altLang="ko-KR" sz="1400" dirty="0"/>
              <a:t>36</a:t>
            </a:r>
            <a:r>
              <a:rPr lang="ko-KR" altLang="en-US" sz="1400" dirty="0"/>
              <a:t>조</a:t>
            </a:r>
            <a:r>
              <a:rPr lang="en-US" altLang="ko-KR" sz="1400" dirty="0"/>
              <a:t>(4)). </a:t>
            </a:r>
            <a:r>
              <a:rPr lang="ko-KR" altLang="en-US" sz="1400" dirty="0"/>
              <a:t>이에 따라</a:t>
            </a:r>
            <a:r>
              <a:rPr lang="en-US" altLang="ko-KR" sz="1400" dirty="0"/>
              <a:t>, </a:t>
            </a:r>
            <a:r>
              <a:rPr lang="ko-KR" altLang="en-US" sz="1400" dirty="0"/>
              <a:t>특허법은 </a:t>
            </a:r>
            <a:r>
              <a:rPr lang="ko-KR" altLang="en-US" sz="1400" dirty="0" err="1"/>
              <a:t>출원인을</a:t>
            </a:r>
            <a:r>
              <a:rPr lang="ko-KR" altLang="en-US" sz="1400" dirty="0"/>
              <a:t> 통하여 문헌의 사본을 </a:t>
            </a:r>
            <a:r>
              <a:rPr lang="ko-KR" altLang="en-US" sz="1400" dirty="0" err="1"/>
              <a:t>제출받도록</a:t>
            </a:r>
            <a:r>
              <a:rPr lang="ko-KR" altLang="en-US" sz="1400" dirty="0"/>
              <a:t> 규정하고 있는 것이다</a:t>
            </a:r>
            <a:r>
              <a:rPr lang="en-US" altLang="ko-KR" sz="1400" dirty="0"/>
              <a:t>. </a:t>
            </a:r>
            <a:r>
              <a:rPr lang="ko-KR" altLang="en-US" sz="1400" dirty="0">
                <a:solidFill>
                  <a:srgbClr val="FF0000"/>
                </a:solidFill>
              </a:rPr>
              <a:t>물론 지식재산처는 국제조사기관이나 국제예비심사기관에 대하여 직접 문헌 사본의 제출을 요구할 수도 있다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587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49191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양쪽 모서리가 둥근 사각형 8"/>
          <p:cNvSpPr/>
          <p:nvPr/>
        </p:nvSpPr>
        <p:spPr>
          <a:xfrm>
            <a:off x="8610545" y="5433414"/>
            <a:ext cx="1689901" cy="3335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214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결정에 의하여 특허출원으로 되는 국제출원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" y="976902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214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결정에 의하여 특허출원으로 되는 국제출원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국제출원의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출원인은</a:t>
            </a:r>
            <a:r>
              <a:rPr lang="ko-KR" altLang="en-US" sz="1400" dirty="0">
                <a:solidFill>
                  <a:schemeClr val="tx2"/>
                </a:solidFill>
              </a:rPr>
              <a:t> 「특허협력조약」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(1)(ii)</a:t>
            </a:r>
            <a:r>
              <a:rPr lang="ko-KR" altLang="en-US" sz="1400" dirty="0">
                <a:solidFill>
                  <a:schemeClr val="tx2"/>
                </a:solidFill>
              </a:rPr>
              <a:t>의 지정국에 대한민국을 포함하는 국제출원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특허출원만 해당한다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이 다음 각 호의 어느 하나에 해당하는 경우 총리령으로 정하는 기간에 총리령으로 정하는 바에 따라 지식재산처장에게 같은 조약 제</a:t>
            </a:r>
            <a:r>
              <a:rPr lang="en-US" altLang="ko-KR" sz="1400" dirty="0">
                <a:solidFill>
                  <a:schemeClr val="tx2"/>
                </a:solidFill>
              </a:rPr>
              <a:t>25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(2)(a)</a:t>
            </a:r>
            <a:r>
              <a:rPr lang="ko-KR" altLang="en-US" sz="1400" dirty="0">
                <a:solidFill>
                  <a:schemeClr val="tx2"/>
                </a:solidFill>
              </a:rPr>
              <a:t>에 따른 결정을 하여줄 것을 신청할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「특허협력조약」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(xv)</a:t>
            </a:r>
            <a:r>
              <a:rPr lang="ko-KR" altLang="en-US" sz="1400" dirty="0">
                <a:solidFill>
                  <a:schemeClr val="tx2"/>
                </a:solidFill>
              </a:rPr>
              <a:t>의 수리관청이 그 국제출원에 대하여 같은 조약 제</a:t>
            </a:r>
            <a:r>
              <a:rPr lang="en-US" altLang="ko-KR" sz="1400" dirty="0">
                <a:solidFill>
                  <a:schemeClr val="tx2"/>
                </a:solidFill>
              </a:rPr>
              <a:t>25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(1)(a)</a:t>
            </a:r>
            <a:r>
              <a:rPr lang="ko-KR" altLang="en-US" sz="1400" dirty="0">
                <a:solidFill>
                  <a:schemeClr val="tx2"/>
                </a:solidFill>
              </a:rPr>
              <a:t>에 따른 거부를 한 경우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「특허협력조약」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(xv)</a:t>
            </a:r>
            <a:r>
              <a:rPr lang="ko-KR" altLang="en-US" sz="1400" dirty="0">
                <a:solidFill>
                  <a:schemeClr val="tx2"/>
                </a:solidFill>
              </a:rPr>
              <a:t>의 수리관청이 그 국제출원에 대하여 같은 조약 제</a:t>
            </a:r>
            <a:r>
              <a:rPr lang="en-US" altLang="ko-KR" sz="1400" dirty="0">
                <a:solidFill>
                  <a:schemeClr val="tx2"/>
                </a:solidFill>
              </a:rPr>
              <a:t>25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(1)(a) </a:t>
            </a:r>
            <a:r>
              <a:rPr lang="ko-KR" altLang="en-US" sz="1400" dirty="0">
                <a:solidFill>
                  <a:schemeClr val="tx2"/>
                </a:solidFill>
              </a:rPr>
              <a:t>또는 </a:t>
            </a:r>
            <a:r>
              <a:rPr lang="en-US" altLang="ko-KR" sz="1400" dirty="0">
                <a:solidFill>
                  <a:schemeClr val="tx2"/>
                </a:solidFill>
              </a:rPr>
              <a:t>(b)</a:t>
            </a:r>
            <a:r>
              <a:rPr lang="ko-KR" altLang="en-US" sz="1400" dirty="0">
                <a:solidFill>
                  <a:schemeClr val="tx2"/>
                </a:solidFill>
              </a:rPr>
              <a:t>에 따른 선언을 한 경우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국제사무국이 그 국제출원에 대하여 같은 조약 제</a:t>
            </a:r>
            <a:r>
              <a:rPr lang="en-US" altLang="ko-KR" sz="1400" dirty="0">
                <a:solidFill>
                  <a:schemeClr val="tx2"/>
                </a:solidFill>
              </a:rPr>
              <a:t>25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(1)(a)</a:t>
            </a:r>
            <a:r>
              <a:rPr lang="ko-KR" altLang="en-US" sz="1400" dirty="0">
                <a:solidFill>
                  <a:schemeClr val="tx2"/>
                </a:solidFill>
              </a:rPr>
              <a:t>에 따른 인정을 한 경우</a:t>
            </a:r>
          </a:p>
          <a:p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항의 신청을 하려는 자는 그 신청 시 발명의 설명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청구범위 또는 도면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도면 중 설명부분에 한정한다</a:t>
            </a:r>
            <a:r>
              <a:rPr lang="en-US" altLang="ko-KR" sz="1400" dirty="0">
                <a:solidFill>
                  <a:schemeClr val="tx2"/>
                </a:solidFill>
              </a:rPr>
              <a:t>), </a:t>
            </a:r>
            <a:r>
              <a:rPr lang="ko-KR" altLang="en-US" sz="1400" dirty="0">
                <a:solidFill>
                  <a:schemeClr val="tx2"/>
                </a:solidFill>
              </a:rPr>
              <a:t>그 밖에 총리령으로 정하는 국제출원에 관한 서류의 국어번역문을 지식재산처장에게 제출하여야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지식재산처장은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항의 신청이 있으면 그 신청에 관한 </a:t>
            </a:r>
            <a:r>
              <a:rPr lang="ko-KR" altLang="en-US" sz="1400" dirty="0" err="1">
                <a:solidFill>
                  <a:schemeClr val="tx2"/>
                </a:solidFill>
              </a:rPr>
              <a:t>거부ㆍ선언</a:t>
            </a:r>
            <a:r>
              <a:rPr lang="ko-KR" altLang="en-US" sz="1400" dirty="0">
                <a:solidFill>
                  <a:schemeClr val="tx2"/>
                </a:solidFill>
              </a:rPr>
              <a:t> 또는 인정이 「특허협력조약」 및 같은 조약규칙에 따라 정당하게 된 것인지에 관하여 결정을 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</a:rPr>
              <a:t>지식재산처장은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따라 그 </a:t>
            </a:r>
            <a:r>
              <a:rPr lang="ko-KR" altLang="en-US" sz="1400" dirty="0" err="1">
                <a:solidFill>
                  <a:schemeClr val="tx2"/>
                </a:solidFill>
              </a:rPr>
              <a:t>거부ㆍ선언</a:t>
            </a:r>
            <a:r>
              <a:rPr lang="ko-KR" altLang="en-US" sz="1400" dirty="0">
                <a:solidFill>
                  <a:schemeClr val="tx2"/>
                </a:solidFill>
              </a:rPr>
              <a:t> 또는 인정이 「특허협력조약」 및 같은 조약규칙에 따라 정당하게 된 것이 아니라고 결정을 한 경우에는 그 결정에 관한 국제출원은 그 국제출원에 대하여 </a:t>
            </a:r>
            <a:r>
              <a:rPr lang="ko-KR" altLang="en-US" sz="1400" dirty="0" err="1">
                <a:solidFill>
                  <a:schemeClr val="tx2"/>
                </a:solidFill>
              </a:rPr>
              <a:t>거부ㆍ선언</a:t>
            </a:r>
            <a:r>
              <a:rPr lang="ko-KR" altLang="en-US" sz="1400" dirty="0">
                <a:solidFill>
                  <a:schemeClr val="tx2"/>
                </a:solidFill>
              </a:rPr>
              <a:t> 또는 인정이 없었다면 국제출원일로 인정할 수 있었던 날에 출원된 특허출원으로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⑤ </a:t>
            </a:r>
            <a:r>
              <a:rPr lang="ko-KR" altLang="en-US" sz="1400" dirty="0">
                <a:solidFill>
                  <a:schemeClr val="tx2"/>
                </a:solidFill>
              </a:rPr>
              <a:t>지식재산처장은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따른 정당성 여부의 결정을 하는 경우에는 그 결정의 등본을 국제출원의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출원인에게</a:t>
            </a:r>
            <a:r>
              <a:rPr lang="ko-KR" altLang="en-US" sz="1400" dirty="0">
                <a:solidFill>
                  <a:schemeClr val="tx2"/>
                </a:solidFill>
              </a:rPr>
              <a:t> 송달하여야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⑥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항에 따라 특허출원으로 보는 국제출원에 관하여는 제</a:t>
            </a:r>
            <a:r>
              <a:rPr lang="en-US" altLang="ko-KR" sz="1400" dirty="0">
                <a:solidFill>
                  <a:schemeClr val="tx2"/>
                </a:solidFill>
              </a:rPr>
              <a:t>199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200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200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201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항부터 제</a:t>
            </a:r>
            <a:r>
              <a:rPr lang="en-US" altLang="ko-KR" sz="1400" dirty="0">
                <a:solidFill>
                  <a:schemeClr val="tx2"/>
                </a:solidFill>
              </a:rPr>
              <a:t>8</a:t>
            </a:r>
            <a:r>
              <a:rPr lang="ko-KR" altLang="en-US" sz="1400" dirty="0">
                <a:solidFill>
                  <a:schemeClr val="tx2"/>
                </a:solidFill>
              </a:rPr>
              <a:t>항까지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202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항ㆍ제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208</a:t>
            </a:r>
            <a:r>
              <a:rPr lang="ko-KR" altLang="en-US" sz="1400" dirty="0">
                <a:solidFill>
                  <a:schemeClr val="tx2"/>
                </a:solidFill>
              </a:rPr>
              <a:t>조 및 제</a:t>
            </a:r>
            <a:r>
              <a:rPr lang="en-US" altLang="ko-KR" sz="1400" dirty="0">
                <a:solidFill>
                  <a:schemeClr val="tx2"/>
                </a:solidFill>
              </a:rPr>
              <a:t>210</a:t>
            </a:r>
            <a:r>
              <a:rPr lang="ko-KR" altLang="en-US" sz="1400" dirty="0">
                <a:solidFill>
                  <a:schemeClr val="tx2"/>
                </a:solidFill>
              </a:rPr>
              <a:t>조를 준용한다</a:t>
            </a:r>
            <a:r>
              <a:rPr lang="en-US" altLang="ko-KR" sz="1400" dirty="0">
                <a:solidFill>
                  <a:schemeClr val="tx2"/>
                </a:solidFill>
              </a:rPr>
              <a:t>.  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⑦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항에 따라 특허출원으로 보는 국제출원에 관한 출원공개에 관하여는 제</a:t>
            </a:r>
            <a:r>
              <a:rPr lang="en-US" altLang="ko-KR" sz="1400" dirty="0">
                <a:solidFill>
                  <a:schemeClr val="tx2"/>
                </a:solidFill>
              </a:rPr>
              <a:t>64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중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다음 각 호의 구분에 따른 날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을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201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항의 우선일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en-US" altLang="ko-KR" sz="1400" dirty="0">
              <a:solidFill>
                <a:schemeClr val="tx2"/>
              </a:solidFill>
              <a:effectLst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452300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497015"/>
              </p:ext>
            </p:extLst>
          </p:nvPr>
        </p:nvGraphicFramePr>
        <p:xfrm>
          <a:off x="250165" y="4681790"/>
          <a:ext cx="4149307" cy="194005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08957">
                  <a:extLst>
                    <a:ext uri="{9D8B030D-6E8A-4147-A177-3AD203B41FA5}">
                      <a16:colId xmlns:a16="http://schemas.microsoft.com/office/drawing/2014/main" val="3431753954"/>
                    </a:ext>
                  </a:extLst>
                </a:gridCol>
                <a:gridCol w="810884">
                  <a:extLst>
                    <a:ext uri="{9D8B030D-6E8A-4147-A177-3AD203B41FA5}">
                      <a16:colId xmlns:a16="http://schemas.microsoft.com/office/drawing/2014/main" val="4070935302"/>
                    </a:ext>
                  </a:extLst>
                </a:gridCol>
                <a:gridCol w="899943">
                  <a:extLst>
                    <a:ext uri="{9D8B030D-6E8A-4147-A177-3AD203B41FA5}">
                      <a16:colId xmlns:a16="http://schemas.microsoft.com/office/drawing/2014/main" val="738776013"/>
                    </a:ext>
                  </a:extLst>
                </a:gridCol>
                <a:gridCol w="1929523">
                  <a:extLst>
                    <a:ext uri="{9D8B030D-6E8A-4147-A177-3AD203B41FA5}">
                      <a16:colId xmlns:a16="http://schemas.microsoft.com/office/drawing/2014/main" val="4226477471"/>
                    </a:ext>
                  </a:extLst>
                </a:gridCol>
              </a:tblGrid>
              <a:tr h="1486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구 분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경미 </a:t>
                      </a:r>
                      <a:r>
                        <a:rPr lang="ko-KR" altLang="en-US" sz="1200" kern="1200" dirty="0" err="1"/>
                        <a:t>흠결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중대 </a:t>
                      </a:r>
                      <a:r>
                        <a:rPr lang="ko-KR" altLang="en-US" sz="1200" kern="1200" dirty="0" err="1"/>
                        <a:t>흠결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비고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938075"/>
                  </a:ext>
                </a:extLst>
              </a:tr>
              <a:tr h="29778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국내출원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무효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불수리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85725" marR="31750" indent="-85725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/>
                        <a:t>불복의 대상이 있기 때문에 독립하여 행정소송이나 행정심판으로 불복가능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94563081"/>
                  </a:ext>
                </a:extLst>
              </a:tr>
              <a:tr h="29778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국제출원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취하간주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국제출원일 불인정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85725" marR="31750" indent="-85725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200" kern="1200" dirty="0"/>
                        <a:t>불복의 대상이 없기 때문에 독립하여 불복 불가능</a:t>
                      </a:r>
                      <a:endParaRPr lang="en-US" altLang="ko-KR" sz="1200" kern="1200" dirty="0"/>
                    </a:p>
                    <a:p>
                      <a:pPr marL="85725" marR="31750" indent="-85725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</a:rPr>
                        <a:t>단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</a:rPr>
                        <a:t>지정국에서의 구제방법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</a:rPr>
                        <a:t>214)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</a:rPr>
                        <a:t>에 의한 구제 가능</a:t>
                      </a:r>
                      <a:endParaRPr lang="ko-KR" altLang="en-US" sz="12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751395225"/>
                  </a:ext>
                </a:extLst>
              </a:tr>
            </a:tbl>
          </a:graphicData>
        </a:graphic>
      </p:graphicFrame>
      <p:cxnSp>
        <p:nvCxnSpPr>
          <p:cNvPr id="8" name="직선 연결선 7"/>
          <p:cNvCxnSpPr/>
          <p:nvPr/>
        </p:nvCxnSpPr>
        <p:spPr>
          <a:xfrm flipV="1">
            <a:off x="4557858" y="4758267"/>
            <a:ext cx="0" cy="182595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4781483" y="5768149"/>
            <a:ext cx="722425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4724392" y="5642518"/>
            <a:ext cx="609601" cy="2505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선출원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503322" y="5642518"/>
            <a:ext cx="1371600" cy="2505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PCT </a:t>
            </a:r>
            <a:r>
              <a:rPr lang="ko-KR" altLang="en-US" sz="1200" dirty="0">
                <a:solidFill>
                  <a:schemeClr val="tx1"/>
                </a:solidFill>
              </a:rPr>
              <a:t>출원서류 제출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035781" y="5642518"/>
            <a:ext cx="1227667" cy="2505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수리관청의 처분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8432776" y="5642518"/>
            <a:ext cx="465675" cy="2505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통지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9050839" y="5642518"/>
            <a:ext cx="1126075" cy="2505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출원인의 신청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0397068" y="5642518"/>
            <a:ext cx="1363114" cy="2505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지식재산처장 결정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503322" y="5898402"/>
            <a:ext cx="1371600" cy="250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우선권주장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7035781" y="5898402"/>
            <a:ext cx="1227667" cy="250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출원일 인정거부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7035781" y="6148993"/>
            <a:ext cx="1227667" cy="250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취하간주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7035781" y="6399585"/>
            <a:ext cx="1227667" cy="250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원본 </a:t>
            </a:r>
            <a:r>
              <a:rPr lang="ko-KR" altLang="en-US" sz="1200" dirty="0" err="1">
                <a:solidFill>
                  <a:schemeClr val="tx1"/>
                </a:solidFill>
              </a:rPr>
              <a:t>미도달인정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9050839" y="5182823"/>
            <a:ext cx="609601" cy="2505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</a:t>
            </a:r>
            <a:r>
              <a:rPr lang="ko-KR" altLang="en-US" sz="1200" dirty="0">
                <a:solidFill>
                  <a:schemeClr val="tx1"/>
                </a:solidFill>
              </a:rPr>
              <a:t>개월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554110" y="5064571"/>
            <a:ext cx="2095503" cy="2505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지정국에서의 국내출원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23" name="직선 화살표 연결선 22"/>
          <p:cNvCxnSpPr>
            <a:endCxn id="13" idx="0"/>
          </p:cNvCxnSpPr>
          <p:nvPr/>
        </p:nvCxnSpPr>
        <p:spPr>
          <a:xfrm>
            <a:off x="6189122" y="5315162"/>
            <a:ext cx="0" cy="32735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4724392" y="4632971"/>
            <a:ext cx="2925221" cy="2505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출원공개시기의 기산일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29" name="직선 화살표 연결선 28"/>
          <p:cNvCxnSpPr>
            <a:endCxn id="11" idx="0"/>
          </p:cNvCxnSpPr>
          <p:nvPr/>
        </p:nvCxnSpPr>
        <p:spPr>
          <a:xfrm>
            <a:off x="5029193" y="4883562"/>
            <a:ext cx="0" cy="75895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588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02098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실용신안법</a:t>
            </a:r>
            <a:endParaRPr lang="ko-KR" altLang="en-US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307424"/>
              </p:ext>
            </p:extLst>
          </p:nvPr>
        </p:nvGraphicFramePr>
        <p:xfrm>
          <a:off x="279402" y="995885"/>
          <a:ext cx="11573934" cy="559571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45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6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269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120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 dirty="0"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105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 dirty="0">
                          <a:effectLst/>
                          <a:latin typeface="+mn-ea"/>
                          <a:ea typeface="+mn-ea"/>
                        </a:rPr>
                        <a:t>특허법</a:t>
                      </a:r>
                      <a:endParaRPr lang="ko-KR" altLang="en-US" sz="105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 dirty="0">
                          <a:effectLst/>
                          <a:latin typeface="+mn-ea"/>
                          <a:ea typeface="+mn-ea"/>
                        </a:rPr>
                        <a:t>실용신안법</a:t>
                      </a:r>
                      <a:endParaRPr lang="ko-KR" altLang="en-US" sz="105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보호대상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발명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방법발명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물질발명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용도발명도 특허 가능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30" dirty="0">
                          <a:effectLst/>
                          <a:latin typeface="+mn-ea"/>
                          <a:ea typeface="+mn-ea"/>
                        </a:rPr>
                        <a:t>물품의 </a:t>
                      </a:r>
                      <a:r>
                        <a:rPr lang="ko-KR" altLang="en-US" sz="1050" kern="0" spc="-130" dirty="0" err="1">
                          <a:effectLst/>
                          <a:latin typeface="+mn-ea"/>
                          <a:ea typeface="+mn-ea"/>
                        </a:rPr>
                        <a:t>형상ㆍ구조ㆍ조합에</a:t>
                      </a:r>
                      <a:r>
                        <a:rPr lang="ko-KR" altLang="en-US" sz="1050" kern="0" spc="-130" dirty="0">
                          <a:effectLst/>
                          <a:latin typeface="+mn-ea"/>
                          <a:ea typeface="+mn-ea"/>
                        </a:rPr>
                        <a:t> 관한 고안</a:t>
                      </a:r>
                      <a:r>
                        <a:rPr lang="en-US" altLang="ko-KR" sz="1050" kern="0" spc="-13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130" dirty="0">
                          <a:effectLst/>
                          <a:latin typeface="+mn-ea"/>
                          <a:ea typeface="+mn-ea"/>
                        </a:rPr>
                        <a:t>∴</a:t>
                      </a:r>
                      <a:r>
                        <a:rPr lang="ko-KR" altLang="en-US" sz="1050" kern="0" spc="-130" dirty="0" err="1">
                          <a:effectLst/>
                          <a:latin typeface="+mn-ea"/>
                          <a:ea typeface="+mn-ea"/>
                        </a:rPr>
                        <a:t>물품성要</a:t>
                      </a:r>
                      <a:r>
                        <a:rPr lang="en-US" altLang="ko-KR" sz="1050" kern="0" spc="-13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kern="0" spc="-130" dirty="0">
                          <a:effectLst/>
                          <a:latin typeface="+mn-ea"/>
                          <a:ea typeface="+mn-ea"/>
                        </a:rPr>
                        <a:t>방법 또는 물질에 관한 고안은 등록불가</a:t>
                      </a:r>
                      <a:r>
                        <a:rPr lang="en-US" altLang="ko-KR" sz="1050" kern="0" spc="-13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kern="0" spc="-1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성립요건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고도성 要</a:t>
                      </a:r>
                      <a:endParaRPr lang="ko-KR" altLang="en-US" sz="105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고도성 不要</a:t>
                      </a:r>
                      <a:endParaRPr lang="ko-KR" altLang="en-US" sz="105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7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등록요건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진보성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용이성</a:t>
                      </a:r>
                      <a:endParaRPr lang="ko-KR" altLang="en-US" sz="105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「극히 용이성」</a:t>
                      </a:r>
                      <a:r>
                        <a:rPr lang="en-US" altLang="ko-KR" sz="1050" kern="0" spc="-5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즉</a:t>
                      </a:r>
                      <a:r>
                        <a:rPr lang="en-US" altLang="ko-KR" sz="1050" kern="0" spc="-5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낮은 수준의 진보성</a:t>
                      </a:r>
                      <a:r>
                        <a:rPr lang="en-US" altLang="ko-KR" sz="1050" kern="0" spc="-5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7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부등록사유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공서양속에 어긋나거나 공중의 위생을 해칠 우려가 있는 발명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공서양속에 어긋나거나 공중의 위생을 해칠 우려가 있는 고안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국기 또는 훈장과 동일하거나 유사한 고안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429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출원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및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심사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 dirty="0">
                          <a:effectLst/>
                          <a:latin typeface="+mn-ea"/>
                          <a:ea typeface="+mn-ea"/>
                        </a:rPr>
                        <a:t>도면첨부</a:t>
                      </a:r>
                      <a:endParaRPr lang="ko-KR" altLang="en-US" sz="105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필요한 경우에만 첨부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필수적으로 첨부 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50" kern="0" spc="-50" dirty="0" err="1">
                          <a:effectLst/>
                          <a:latin typeface="+mn-ea"/>
                          <a:ea typeface="+mn-ea"/>
                        </a:rPr>
                        <a:t>미첨부시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50" kern="0" spc="-50" dirty="0" err="1">
                          <a:effectLst/>
                          <a:latin typeface="+mn-ea"/>
                          <a:ea typeface="+mn-ea"/>
                        </a:rPr>
                        <a:t>불수리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608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 dirty="0">
                          <a:effectLst/>
                          <a:latin typeface="+mn-ea"/>
                          <a:ea typeface="+mn-ea"/>
                        </a:rPr>
                        <a:t>우선심사대상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 dirty="0">
                          <a:effectLst/>
                          <a:latin typeface="+mn-ea"/>
                          <a:ea typeface="+mn-ea"/>
                        </a:rPr>
                        <a:t>의 상이</a:t>
                      </a:r>
                      <a:endParaRPr lang="ko-KR" altLang="en-US" sz="105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녹색기술과 직접 관련된 특허출원</a:t>
                      </a:r>
                      <a:endParaRPr lang="en-US" altLang="ko-KR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인공지능 또는 사물인터넷 등 </a:t>
                      </a:r>
                      <a:r>
                        <a:rPr lang="en-US" altLang="ko-KR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산업혁명과 관련된 기술을 활용한 특허출원</a:t>
                      </a:r>
                      <a:endParaRPr lang="en-US" altLang="ko-KR" sz="105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82563" marR="17780" indent="-1651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반도체 등 </a:t>
                      </a:r>
                      <a:r>
                        <a:rPr lang="ko-KR" altLang="en-US" sz="105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국민지식재산처및</a:t>
                      </a:r>
                      <a:r>
                        <a:rPr lang="ko-KR" altLang="en-US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국가경쟁력 강화에 중요한 첨단기술과 관련된 특허출원</a:t>
                      </a:r>
                      <a:r>
                        <a:rPr lang="en-US" altLang="ko-KR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지식재산처장이 우선심사의 구체적인 대상과 신청 기간을 정하여 공고하는 특허출원으로 한정한다</a:t>
                      </a:r>
                      <a:r>
                        <a:rPr lang="en-US" altLang="ko-KR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47638" marR="17780" indent="-13017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198</a:t>
                      </a:r>
                      <a:r>
                        <a:rPr lang="ko-KR" altLang="en-US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따라 지식재산처가 「</a:t>
                      </a:r>
                      <a:r>
                        <a:rPr lang="ko-KR" altLang="en-US" sz="105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특허협력조약」에</a:t>
                      </a:r>
                      <a:r>
                        <a:rPr lang="ko-KR" altLang="en-US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따른 국제조사기관으로서 국제조사를 수행한 </a:t>
                      </a:r>
                      <a:r>
                        <a:rPr lang="ko-KR" altLang="en-US" sz="105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국제특허출원</a:t>
                      </a:r>
                      <a:endParaRPr lang="ko-KR" altLang="en-US" sz="105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14300" marR="17780" indent="-114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5.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지식재산처장이 외국 특허담당 정부기관장과 우선심사 하기로 합의한 특허출원</a:t>
                      </a:r>
                    </a:p>
                    <a:p>
                      <a:pPr marL="114300" marR="17780" indent="-114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6.</a:t>
                      </a:r>
                      <a:r>
                        <a:rPr lang="ko-KR" altLang="en-US" sz="1050" kern="0" spc="-50" dirty="0" err="1">
                          <a:effectLst/>
                          <a:latin typeface="+mn-ea"/>
                          <a:ea typeface="+mn-ea"/>
                        </a:rPr>
                        <a:t>지역특화발전특구에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 대한 규제특례법 제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36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에 따라 규제특례가 적용된 특화사업과 직접 관련된 특허출원</a:t>
                      </a:r>
                    </a:p>
                    <a:p>
                      <a:pPr marL="114300" marR="17780" indent="-114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7.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첨단의료복합단지 지정 및 지원에 관한 특별법 제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26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조에 따라 규제 특례가 적용되는 입주의료연구개발기관이 제출한 첨단의료복합단지 안 의료연구개발과 관련한 특허출원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82563" marR="17780" indent="-1651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공해방지에 유용한 실용신안등록출원</a:t>
                      </a:r>
                      <a:endParaRPr lang="en-US" altLang="ko-KR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182563" marR="17780" indent="-1651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endParaRPr lang="en-US" altLang="ko-KR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246380" marR="17780" indent="-228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endParaRPr lang="en-US" altLang="ko-KR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246380" marR="17780" indent="-228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endParaRPr lang="en-US" altLang="ko-KR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246380" marR="17780" indent="-228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endParaRPr lang="en-US" altLang="ko-KR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246380" marR="17780" indent="-228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endParaRPr lang="en-US" altLang="ko-KR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246380" marR="17780" indent="-228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endParaRPr lang="en-US" altLang="ko-KR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246380" marR="17780" indent="-228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endParaRPr lang="en-US" altLang="ko-KR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246380" marR="17780" indent="-228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endParaRPr lang="en-US" altLang="ko-KR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246380" marR="17780" indent="-228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endParaRPr lang="en-US" altLang="ko-KR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246380" marR="17780" indent="-228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endParaRPr lang="ko-KR" altLang="en-US" sz="1050" kern="0" spc="-5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7">
                <a:tc row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 dirty="0">
                          <a:effectLst/>
                          <a:latin typeface="+mn-ea"/>
                          <a:ea typeface="+mn-ea"/>
                        </a:rPr>
                        <a:t>효력</a:t>
                      </a:r>
                      <a:endParaRPr lang="ko-KR" altLang="en-US" sz="105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존속기간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특허권 설정등록을 한 날부터 특허출원일 후 </a:t>
                      </a:r>
                      <a:r>
                        <a:rPr lang="en-US" altLang="ko-KR" sz="1050" kern="0" spc="-50">
                          <a:effectLst/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년이 되는 날까지</a:t>
                      </a:r>
                      <a:endParaRPr lang="ko-KR" altLang="en-US" sz="105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실용신안권 설정등록을 한 날부터 실용신안등록출원일 후 </a:t>
                      </a:r>
                      <a:r>
                        <a:rPr lang="en-US" altLang="ko-KR" sz="1050" kern="0" spc="-50"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년이 되는 날까지 </a:t>
                      </a:r>
                      <a:endParaRPr lang="ko-KR" altLang="en-US" sz="105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 dirty="0">
                          <a:effectLst/>
                          <a:latin typeface="+mn-ea"/>
                          <a:ea typeface="+mn-ea"/>
                        </a:rPr>
                        <a:t>존속기간연장</a:t>
                      </a:r>
                      <a:endParaRPr lang="ko-KR" altLang="en-US" sz="105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허가 등에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따른 연장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등록지연에 따른 연장 가능</a:t>
                      </a: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등록지연에 따른 연장만 가능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효력범위제한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의약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kern="0" spc="-50" dirty="0" err="1">
                          <a:effectLst/>
                          <a:latin typeface="+mn-ea"/>
                          <a:ea typeface="+mn-ea"/>
                        </a:rPr>
                        <a:t>의약제법방법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 적용 可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96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②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의약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kern="0" spc="-50" dirty="0" err="1">
                          <a:effectLst/>
                          <a:latin typeface="+mn-ea"/>
                          <a:ea typeface="+mn-ea"/>
                        </a:rPr>
                        <a:t>의약제법방법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 적용 不可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간접침해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물건발명</a:t>
                      </a:r>
                      <a:r>
                        <a:rPr lang="en-US" altLang="ko-KR" sz="1050" kern="0" spc="-5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방법발명 모두 적용 可能</a:t>
                      </a:r>
                      <a:endParaRPr lang="ko-KR" altLang="en-US" sz="105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방법발명 </a:t>
                      </a:r>
                      <a:r>
                        <a:rPr lang="en-US" altLang="ko-KR" sz="1050" kern="0" spc="-5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물질발명은 적용 不可</a:t>
                      </a:r>
                      <a:endParaRPr lang="ko-KR" altLang="en-US" sz="105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16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 dirty="0">
                          <a:effectLst/>
                          <a:latin typeface="+mn-ea"/>
                          <a:ea typeface="+mn-ea"/>
                        </a:rPr>
                        <a:t>생산방법추정</a:t>
                      </a:r>
                      <a:endParaRPr lang="ko-KR" altLang="en-US" sz="105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有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無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몰수규정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필요적 몰수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임의적 몰수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0791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100">
                          <a:effectLst/>
                          <a:latin typeface="+mn-ea"/>
                          <a:ea typeface="+mn-ea"/>
                        </a:rPr>
                        <a:t>PCT</a:t>
                      </a:r>
                      <a:endParaRPr 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 dirty="0">
                          <a:effectLst/>
                          <a:latin typeface="+mn-ea"/>
                          <a:ea typeface="+mn-ea"/>
                        </a:rPr>
                        <a:t>도면의 제출</a:t>
                      </a:r>
                      <a:endParaRPr lang="ko-KR" altLang="en-US" sz="105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80" dirty="0">
                          <a:effectLst/>
                          <a:latin typeface="+mn-ea"/>
                          <a:ea typeface="+mn-ea"/>
                        </a:rPr>
                        <a:t>도면의 설명부분에 대한 국어번역문을 제출하지 아니한 경우 도면의 설명부분에 대한 기재가 없었던 것으로 본다</a:t>
                      </a:r>
                      <a:r>
                        <a:rPr lang="en-US" altLang="ko-KR" sz="1050" kern="0" spc="-8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8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50" kern="0" spc="-80" dirty="0">
                          <a:effectLst/>
                          <a:latin typeface="+mn-ea"/>
                          <a:ea typeface="+mn-ea"/>
                        </a:rPr>
                        <a:t>201</a:t>
                      </a:r>
                      <a:r>
                        <a:rPr lang="ko-KR" altLang="en-US" sz="1050" kern="0" spc="-80" dirty="0">
                          <a:effectLst/>
                          <a:latin typeface="+mn-ea"/>
                          <a:ea typeface="+mn-ea"/>
                        </a:rPr>
                        <a:t>⑤</a:t>
                      </a:r>
                      <a:r>
                        <a:rPr lang="en-US" altLang="ko-KR" sz="1050" kern="0" spc="-8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kern="0" spc="-8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11760" marR="17780" indent="-1117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7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50" kern="0" spc="-70" dirty="0">
                          <a:effectLst/>
                          <a:latin typeface="+mn-ea"/>
                          <a:ea typeface="+mn-ea"/>
                        </a:rPr>
                        <a:t>국제실용신안등록출원이 도면</a:t>
                      </a:r>
                      <a:r>
                        <a:rPr lang="en-US" altLang="ko-KR" sz="1050" kern="0" spc="-7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70" dirty="0">
                          <a:effectLst/>
                          <a:latin typeface="+mn-ea"/>
                          <a:ea typeface="+mn-ea"/>
                        </a:rPr>
                        <a:t>도면에 간단한 설명을 포함</a:t>
                      </a:r>
                      <a:r>
                        <a:rPr lang="en-US" altLang="ko-KR" sz="1050" kern="0" spc="-7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50" kern="0" spc="-70" dirty="0">
                          <a:effectLst/>
                          <a:latin typeface="+mn-ea"/>
                          <a:ea typeface="+mn-ea"/>
                        </a:rPr>
                        <a:t>을 포함하지 아니한 경우 「기준일」까지 이를 제출</a:t>
                      </a:r>
                      <a:r>
                        <a:rPr lang="en-US" altLang="ko-KR" sz="1050" kern="0" spc="-7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70" dirty="0">
                          <a:effectLst/>
                          <a:latin typeface="+mn-ea"/>
                          <a:ea typeface="+mn-ea"/>
                        </a:rPr>
                        <a:t>實用 </a:t>
                      </a:r>
                      <a:r>
                        <a:rPr lang="en-US" altLang="ko-KR" sz="1050" kern="0" spc="-70" dirty="0">
                          <a:effectLst/>
                          <a:latin typeface="+mn-ea"/>
                          <a:ea typeface="+mn-ea"/>
                        </a:rPr>
                        <a:t>36</a:t>
                      </a:r>
                      <a:r>
                        <a:rPr lang="ko-KR" altLang="en-US" sz="1050" kern="0" spc="-70" dirty="0">
                          <a:effectLst/>
                          <a:latin typeface="+mn-ea"/>
                          <a:ea typeface="+mn-ea"/>
                        </a:rPr>
                        <a:t>①</a:t>
                      </a:r>
                      <a:r>
                        <a:rPr lang="en-US" altLang="ko-KR" sz="1050" kern="0" spc="-7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kern="0" spc="-7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125730" marR="17780" indent="-12573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미제출시 지식재산처장은 기간을 정하여 도면 및 도면의 설명부분의 국어번역문의 제출을 명령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實用 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36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②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114300" marR="17780" indent="-114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1050" kern="0" spc="-80" dirty="0">
                          <a:effectLst/>
                          <a:latin typeface="+mn-ea"/>
                          <a:ea typeface="+mn-ea"/>
                        </a:rPr>
                        <a:t>지식재산처장의 명령에도 불구하고 도면을 제출하지 아니한 경우 그 국제실용신안등록출원을 무효로 할 수 있다</a:t>
                      </a:r>
                      <a:r>
                        <a:rPr lang="en-US" altLang="ko-KR" sz="1050" kern="0" spc="-8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80" dirty="0">
                          <a:effectLst/>
                          <a:latin typeface="+mn-ea"/>
                          <a:ea typeface="+mn-ea"/>
                        </a:rPr>
                        <a:t>實用 </a:t>
                      </a:r>
                      <a:r>
                        <a:rPr lang="en-US" altLang="ko-KR" sz="1050" kern="0" spc="-80" dirty="0">
                          <a:effectLst/>
                          <a:latin typeface="+mn-ea"/>
                          <a:ea typeface="+mn-ea"/>
                        </a:rPr>
                        <a:t>36</a:t>
                      </a:r>
                      <a:r>
                        <a:rPr lang="ko-KR" altLang="en-US" sz="1050" kern="0" spc="-80" dirty="0">
                          <a:effectLst/>
                          <a:latin typeface="+mn-ea"/>
                          <a:ea typeface="+mn-ea"/>
                        </a:rPr>
                        <a:t>③</a:t>
                      </a:r>
                      <a:r>
                        <a:rPr lang="en-US" altLang="ko-KR" sz="1050" kern="0" spc="-80" dirty="0">
                          <a:effectLst/>
                          <a:latin typeface="+mn-ea"/>
                          <a:ea typeface="+mn-ea"/>
                        </a:rPr>
                        <a:t>).</a:t>
                      </a:r>
                      <a:endParaRPr lang="ko-KR" altLang="en-US" sz="1050" kern="0" spc="-8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116840" marR="17780" indent="-11684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50" kern="0" spc="-150" dirty="0">
                          <a:effectLst/>
                          <a:latin typeface="+mn-ea"/>
                          <a:ea typeface="+mn-ea"/>
                        </a:rPr>
                        <a:t>제출된 도면 및 도면의 설명부분의 국어번역문은 「특허법」 제</a:t>
                      </a:r>
                      <a:r>
                        <a:rPr lang="en-US" altLang="ko-KR" sz="1050" kern="0" spc="-150" dirty="0">
                          <a:effectLst/>
                          <a:latin typeface="+mn-ea"/>
                          <a:ea typeface="+mn-ea"/>
                        </a:rPr>
                        <a:t>47</a:t>
                      </a:r>
                      <a:r>
                        <a:rPr lang="ko-KR" altLang="en-US" sz="1050" kern="0" spc="-150" dirty="0">
                          <a:effectLst/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50" kern="0" spc="-150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50" kern="0" spc="-150" dirty="0">
                          <a:effectLst/>
                          <a:latin typeface="+mn-ea"/>
                          <a:ea typeface="+mn-ea"/>
                        </a:rPr>
                        <a:t>항에 따른 보정으로 간주</a:t>
                      </a:r>
                      <a:r>
                        <a:rPr lang="en-US" altLang="ko-KR" sz="1050" kern="0" spc="-15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150" dirty="0"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50" kern="0" spc="-15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kern="0" spc="-150" dirty="0">
                          <a:effectLst/>
                          <a:latin typeface="+mn-ea"/>
                          <a:ea typeface="+mn-ea"/>
                        </a:rPr>
                        <a:t>보정기간은  부적용</a:t>
                      </a:r>
                      <a:r>
                        <a:rPr lang="en-US" altLang="ko-KR" sz="1050" kern="0" spc="-150" dirty="0">
                          <a:effectLst/>
                          <a:latin typeface="+mn-ea"/>
                          <a:ea typeface="+mn-ea"/>
                        </a:rPr>
                        <a:t>)(</a:t>
                      </a:r>
                      <a:r>
                        <a:rPr lang="ko-KR" altLang="en-US" sz="1050" kern="0" spc="-150" dirty="0">
                          <a:effectLst/>
                          <a:latin typeface="+mn-ea"/>
                          <a:ea typeface="+mn-ea"/>
                        </a:rPr>
                        <a:t>實用 </a:t>
                      </a:r>
                      <a:r>
                        <a:rPr lang="en-US" altLang="ko-KR" sz="1050" kern="0" spc="-150" dirty="0">
                          <a:effectLst/>
                          <a:latin typeface="+mn-ea"/>
                          <a:ea typeface="+mn-ea"/>
                        </a:rPr>
                        <a:t>36</a:t>
                      </a:r>
                      <a:r>
                        <a:rPr lang="ko-KR" altLang="en-US" sz="1050" kern="0" spc="-150" dirty="0">
                          <a:effectLst/>
                          <a:latin typeface="+mn-ea"/>
                          <a:ea typeface="+mn-ea"/>
                        </a:rPr>
                        <a:t>④</a:t>
                      </a:r>
                      <a:r>
                        <a:rPr lang="en-US" altLang="ko-KR" sz="1050" kern="0" spc="-150" dirty="0">
                          <a:effectLst/>
                          <a:latin typeface="+mn-ea"/>
                          <a:ea typeface="+mn-ea"/>
                        </a:rPr>
                        <a:t>).</a:t>
                      </a:r>
                      <a:endParaRPr lang="ko-KR" altLang="en-US" sz="1050" kern="0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579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09800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303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Frutiger LT 75 Black"/>
        <a:ea typeface="Rix모던고딕 EB"/>
        <a:cs typeface=""/>
      </a:majorFont>
      <a:minorFont>
        <a:latin typeface="Frutiger LT 65 Bold"/>
        <a:ea typeface="Rix모던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bg1">
              <a:lumMod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76AF6DB-B38C-4A89-B14E-89598A33E3CF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81685ae-ca42-407b-aa64-25a7bd3d0f6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11495</TotalTime>
  <Words>13265</Words>
  <Application>Microsoft Office PowerPoint</Application>
  <PresentationFormat>와이드스크린</PresentationFormat>
  <Paragraphs>1897</Paragraphs>
  <Slides>54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70" baseType="lpstr">
      <vt:lpstr>Rix모던고딕 M</vt:lpstr>
      <vt:lpstr>Frutiger LT 75 Black</vt:lpstr>
      <vt:lpstr>Arial</vt:lpstr>
      <vt:lpstr>Rix모던고딕 B</vt:lpstr>
      <vt:lpstr>Wingdings</vt:lpstr>
      <vt:lpstr>굴림</vt:lpstr>
      <vt:lpstr>Rix모던명조 B</vt:lpstr>
      <vt:lpstr>산돌다솔 L</vt:lpstr>
      <vt:lpstr>HY각헤드라인M</vt:lpstr>
      <vt:lpstr>Rix커피향 M</vt:lpstr>
      <vt:lpstr>Frutiger LT 65 Bold</vt:lpstr>
      <vt:lpstr>Rix모던명조 L</vt:lpstr>
      <vt:lpstr>Rix모던고딕 EB</vt:lpstr>
      <vt:lpstr>산돌신문제비 L</vt:lpstr>
      <vt:lpstr>맑은 고딕</vt:lpstr>
      <vt:lpstr>Office 테마</vt:lpstr>
      <vt:lpstr>PowerPoint 프레젠테이션</vt:lpstr>
      <vt:lpstr>PowerPoint 프레젠테이션</vt:lpstr>
      <vt:lpstr>참고노트</vt:lpstr>
      <vt:lpstr>참고노트</vt:lpstr>
      <vt:lpstr>참고노트</vt:lpstr>
      <vt:lpstr>참고노트</vt:lpstr>
      <vt:lpstr>참고노트</vt:lpstr>
      <vt:lpstr>참고노트</vt:lpstr>
      <vt:lpstr>참고노트</vt:lpstr>
      <vt:lpstr>참고노트</vt:lpstr>
      <vt:lpstr>참고노트</vt:lpstr>
      <vt:lpstr>참고노트</vt:lpstr>
      <vt:lpstr>참고노트</vt:lpstr>
      <vt:lpstr>참고노트</vt:lpstr>
      <vt:lpstr>제192조~제214조</vt:lpstr>
      <vt:lpstr>참고노트</vt:lpstr>
      <vt:lpstr>제192조~제214조</vt:lpstr>
      <vt:lpstr>제192조~ 제198조의2</vt:lpstr>
      <vt:lpstr>제192조</vt:lpstr>
      <vt:lpstr>제193조</vt:lpstr>
      <vt:lpstr>제194조~제196조</vt:lpstr>
      <vt:lpstr>제198조의2</vt:lpstr>
      <vt:lpstr>제198조의2</vt:lpstr>
      <vt:lpstr>제198조의2</vt:lpstr>
      <vt:lpstr>제198조의2</vt:lpstr>
      <vt:lpstr>제199조</vt:lpstr>
      <vt:lpstr>제200조의2</vt:lpstr>
      <vt:lpstr>제201조</vt:lpstr>
      <vt:lpstr>제201조</vt:lpstr>
      <vt:lpstr>제201조</vt:lpstr>
      <vt:lpstr>제203조</vt:lpstr>
      <vt:lpstr>제209조, 제210조</vt:lpstr>
      <vt:lpstr>제209조, 제210조</vt:lpstr>
      <vt:lpstr>제204조, 제205조, 제208조</vt:lpstr>
      <vt:lpstr>제201조, 제204조</vt:lpstr>
      <vt:lpstr>제204조, 제205조</vt:lpstr>
      <vt:lpstr>제208조</vt:lpstr>
      <vt:lpstr>제201조</vt:lpstr>
      <vt:lpstr>제201조</vt:lpstr>
      <vt:lpstr>제29조제5항, 제7항</vt:lpstr>
      <vt:lpstr>제200조</vt:lpstr>
      <vt:lpstr>제202조</vt:lpstr>
      <vt:lpstr>제202조</vt:lpstr>
      <vt:lpstr>제202조</vt:lpstr>
      <vt:lpstr>제202조</vt:lpstr>
      <vt:lpstr>제202조</vt:lpstr>
      <vt:lpstr>제202조</vt:lpstr>
      <vt:lpstr>제202조</vt:lpstr>
      <vt:lpstr>제206조</vt:lpstr>
      <vt:lpstr>제207조</vt:lpstr>
      <vt:lpstr>제211조</vt:lpstr>
      <vt:lpstr>제214조</vt:lpstr>
      <vt:lpstr>참고노트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(주)INVENSTOR</dc:title>
  <dc:creator>Windows 사용자</dc:creator>
  <cp:lastModifiedBy>병웅 임</cp:lastModifiedBy>
  <cp:revision>910</cp:revision>
  <cp:lastPrinted>2025-02-11T00:32:30Z</cp:lastPrinted>
  <dcterms:created xsi:type="dcterms:W3CDTF">2016-02-25T00:12:49Z</dcterms:created>
  <dcterms:modified xsi:type="dcterms:W3CDTF">2026-06-13T13:18:57Z</dcterms:modified>
</cp:coreProperties>
</file>