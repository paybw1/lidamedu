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9" embedTrueTypeFonts="1" saveSubsetFonts="1">
  <p:sldMasterIdLst>
    <p:sldMasterId id="2147483648" r:id="rId1"/>
    <p:sldMasterId id="2147483661" r:id="rId2"/>
    <p:sldMasterId id="2147483665" r:id="rId3"/>
  </p:sldMasterIdLst>
  <p:notesMasterIdLst>
    <p:notesMasterId r:id="rId101"/>
  </p:notesMasterIdLst>
  <p:sldIdLst>
    <p:sldId id="256" r:id="rId4"/>
    <p:sldId id="2071" r:id="rId5"/>
    <p:sldId id="2072" r:id="rId6"/>
    <p:sldId id="2047" r:id="rId7"/>
    <p:sldId id="283" r:id="rId8"/>
    <p:sldId id="284" r:id="rId9"/>
    <p:sldId id="376" r:id="rId10"/>
    <p:sldId id="285" r:id="rId11"/>
    <p:sldId id="287" r:id="rId12"/>
    <p:sldId id="288" r:id="rId13"/>
    <p:sldId id="289" r:id="rId14"/>
    <p:sldId id="299" r:id="rId15"/>
    <p:sldId id="290" r:id="rId16"/>
    <p:sldId id="2142" r:id="rId17"/>
    <p:sldId id="2146" r:id="rId18"/>
    <p:sldId id="379" r:id="rId19"/>
    <p:sldId id="2069" r:id="rId20"/>
    <p:sldId id="292" r:id="rId21"/>
    <p:sldId id="293" r:id="rId22"/>
    <p:sldId id="291" r:id="rId23"/>
    <p:sldId id="295" r:id="rId24"/>
    <p:sldId id="296" r:id="rId25"/>
    <p:sldId id="298" r:id="rId26"/>
    <p:sldId id="300" r:id="rId27"/>
    <p:sldId id="303" r:id="rId28"/>
    <p:sldId id="357" r:id="rId29"/>
    <p:sldId id="301" r:id="rId30"/>
    <p:sldId id="387" r:id="rId31"/>
    <p:sldId id="388" r:id="rId32"/>
    <p:sldId id="2070" r:id="rId33"/>
    <p:sldId id="302" r:id="rId34"/>
    <p:sldId id="304" r:id="rId35"/>
    <p:sldId id="305" r:id="rId36"/>
    <p:sldId id="355" r:id="rId37"/>
    <p:sldId id="787" r:id="rId38"/>
    <p:sldId id="2139" r:id="rId39"/>
    <p:sldId id="788" r:id="rId40"/>
    <p:sldId id="306" r:id="rId41"/>
    <p:sldId id="307" r:id="rId42"/>
    <p:sldId id="308" r:id="rId43"/>
    <p:sldId id="309" r:id="rId44"/>
    <p:sldId id="312" r:id="rId45"/>
    <p:sldId id="311" r:id="rId46"/>
    <p:sldId id="313" r:id="rId47"/>
    <p:sldId id="315" r:id="rId48"/>
    <p:sldId id="314" r:id="rId49"/>
    <p:sldId id="316" r:id="rId50"/>
    <p:sldId id="317" r:id="rId51"/>
    <p:sldId id="2020" r:id="rId52"/>
    <p:sldId id="321" r:id="rId53"/>
    <p:sldId id="281" r:id="rId54"/>
    <p:sldId id="318" r:id="rId55"/>
    <p:sldId id="786" r:id="rId56"/>
    <p:sldId id="2138" r:id="rId57"/>
    <p:sldId id="319" r:id="rId58"/>
    <p:sldId id="2066" r:id="rId59"/>
    <p:sldId id="2140" r:id="rId60"/>
    <p:sldId id="320" r:id="rId61"/>
    <p:sldId id="322" r:id="rId62"/>
    <p:sldId id="383" r:id="rId63"/>
    <p:sldId id="2074" r:id="rId64"/>
    <p:sldId id="323" r:id="rId65"/>
    <p:sldId id="2023" r:id="rId66"/>
    <p:sldId id="2024" r:id="rId67"/>
    <p:sldId id="380" r:id="rId68"/>
    <p:sldId id="381" r:id="rId69"/>
    <p:sldId id="324" r:id="rId70"/>
    <p:sldId id="325" r:id="rId71"/>
    <p:sldId id="789" r:id="rId72"/>
    <p:sldId id="334" r:id="rId73"/>
    <p:sldId id="790" r:id="rId74"/>
    <p:sldId id="335" r:id="rId75"/>
    <p:sldId id="382" r:id="rId76"/>
    <p:sldId id="337" r:id="rId77"/>
    <p:sldId id="2021" r:id="rId78"/>
    <p:sldId id="354" r:id="rId79"/>
    <p:sldId id="339" r:id="rId80"/>
    <p:sldId id="2141" r:id="rId81"/>
    <p:sldId id="340" r:id="rId82"/>
    <p:sldId id="342" r:id="rId83"/>
    <p:sldId id="384" r:id="rId84"/>
    <p:sldId id="344" r:id="rId85"/>
    <p:sldId id="2067" r:id="rId86"/>
    <p:sldId id="345" r:id="rId87"/>
    <p:sldId id="346" r:id="rId88"/>
    <p:sldId id="385" r:id="rId89"/>
    <p:sldId id="386" r:id="rId90"/>
    <p:sldId id="347" r:id="rId91"/>
    <p:sldId id="348" r:id="rId92"/>
    <p:sldId id="349" r:id="rId93"/>
    <p:sldId id="2022" r:id="rId94"/>
    <p:sldId id="2045" r:id="rId95"/>
    <p:sldId id="351" r:id="rId96"/>
    <p:sldId id="2064" r:id="rId97"/>
    <p:sldId id="353" r:id="rId98"/>
    <p:sldId id="356" r:id="rId99"/>
    <p:sldId id="352" r:id="rId100"/>
  </p:sldIdLst>
  <p:sldSz cx="12192000" cy="6858000"/>
  <p:notesSz cx="7104063" cy="10234613"/>
  <p:embeddedFontLst>
    <p:embeddedFont>
      <p:font typeface="Frutiger LT 65 Bold" panose="020B0800000000000000" pitchFamily="34" charset="0"/>
      <p:regular r:id="rId102"/>
    </p:embeddedFont>
    <p:embeddedFont>
      <p:font typeface="Frutiger LT 75 Black" panose="02000A03050000020004" pitchFamily="2" charset="0"/>
      <p:regular r:id="rId103"/>
    </p:embeddedFont>
    <p:embeddedFont>
      <p:font typeface="Rix모던고딕 B" panose="02020603020101020101" pitchFamily="18" charset="-127"/>
      <p:regular r:id="rId104"/>
    </p:embeddedFont>
    <p:embeddedFont>
      <p:font typeface="Rix모던고딕 EB" panose="02020603020101020101" pitchFamily="18" charset="-127"/>
      <p:regular r:id="rId105"/>
    </p:embeddedFont>
    <p:embeddedFont>
      <p:font typeface="Rix모던고딕 L" panose="02020603020101020101" pitchFamily="18" charset="-127"/>
      <p:regular r:id="rId106"/>
    </p:embeddedFont>
    <p:embeddedFont>
      <p:font typeface="Rix모던고딕 M" panose="02020603020101020101" pitchFamily="18" charset="-127"/>
      <p:regular r:id="rId107"/>
    </p:embeddedFont>
    <p:embeddedFont>
      <p:font typeface="Rix모던명조 B" panose="02020603020101020101" pitchFamily="18" charset="-127"/>
      <p:regular r:id="rId108"/>
    </p:embeddedFont>
    <p:embeddedFont>
      <p:font typeface="Rix모던명조 L" panose="02020603020101020101" pitchFamily="18" charset="-127"/>
      <p:regular r:id="rId109"/>
    </p:embeddedFont>
    <p:embeddedFont>
      <p:font typeface="Rix모던명조 M" panose="02020603020101020101" pitchFamily="18" charset="-127"/>
      <p:regular r:id="rId110"/>
    </p:embeddedFont>
    <p:embeddedFont>
      <p:font typeface="Rix커피향 M" panose="02020603020101020101" pitchFamily="18" charset="-127"/>
      <p:regular r:id="rId111"/>
    </p:embeddedFont>
    <p:embeddedFont>
      <p:font typeface="맑은 고딕" panose="020B0503020000020004" pitchFamily="50" charset="-127"/>
      <p:regular r:id="rId112"/>
      <p:bold r:id="rId113"/>
    </p:embeddedFont>
    <p:embeddedFont>
      <p:font typeface="산돌신문제비 L" panose="02030504000101010101" pitchFamily="18" charset="-127"/>
      <p:regular r:id="rId1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5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1188" y="102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theme" Target="theme/theme1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font" Target="fonts/font11.fntdata"/><Relationship Id="rId16" Type="http://schemas.openxmlformats.org/officeDocument/2006/relationships/slide" Target="slides/slide13.xml"/><Relationship Id="rId107" Type="http://schemas.openxmlformats.org/officeDocument/2006/relationships/font" Target="fonts/font6.fntdata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font" Target="fonts/font1.fntdata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font" Target="fonts/font12.fntdata"/><Relationship Id="rId118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font" Target="fonts/font2.fntdata"/><Relationship Id="rId108" Type="http://schemas.openxmlformats.org/officeDocument/2006/relationships/font" Target="fonts/font7.fntdata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font" Target="fonts/font13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font" Target="fonts/font8.fntdata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font" Target="fonts/font3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font" Target="fonts/font9.fntdata"/><Relationship Id="rId115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font" Target="fonts/font4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font" Target="fonts/font10.fntdata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EEF6D8-356D-4BFE-8C3B-447B02F5EE0A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1B500376-06BF-4D62-984D-2BCAD5DE622D}">
      <dgm:prSet phldrT="[텍스트]"/>
      <dgm:spPr/>
      <dgm:t>
        <a:bodyPr/>
        <a:lstStyle/>
        <a:p>
          <a:pPr latinLnBrk="1"/>
          <a:r>
            <a:rPr lang="ko-KR" altLang="en-US" dirty="0"/>
            <a:t>보상규정의 작성 및 변경</a:t>
          </a:r>
        </a:p>
      </dgm:t>
    </dgm:pt>
    <dgm:pt modelId="{6D1E23D3-35A0-4E8E-BDE3-32266361E3C3}" type="parTrans" cxnId="{1AE85C69-FDB4-4629-BBDE-841F7A43BD6B}">
      <dgm:prSet/>
      <dgm:spPr/>
      <dgm:t>
        <a:bodyPr/>
        <a:lstStyle/>
        <a:p>
          <a:pPr latinLnBrk="1"/>
          <a:endParaRPr lang="ko-KR" altLang="en-US"/>
        </a:p>
      </dgm:t>
    </dgm:pt>
    <dgm:pt modelId="{B50784FC-D17E-4291-8DE3-0E425580823B}" type="sibTrans" cxnId="{1AE85C69-FDB4-4629-BBDE-841F7A43BD6B}">
      <dgm:prSet/>
      <dgm:spPr/>
      <dgm:t>
        <a:bodyPr/>
        <a:lstStyle/>
        <a:p>
          <a:pPr latinLnBrk="1"/>
          <a:endParaRPr lang="ko-KR" altLang="en-US"/>
        </a:p>
      </dgm:t>
    </dgm:pt>
    <dgm:pt modelId="{1EC80BE8-9193-41AA-AB71-6C3CCBDB6FAA}">
      <dgm:prSet phldrT="[텍스트]"/>
      <dgm:spPr/>
      <dgm:t>
        <a:bodyPr/>
        <a:lstStyle/>
        <a:p>
          <a:pPr latinLnBrk="1"/>
          <a:r>
            <a:rPr lang="ko-KR" altLang="en-US" dirty="0"/>
            <a:t>보상사항의 통지</a:t>
          </a:r>
        </a:p>
      </dgm:t>
    </dgm:pt>
    <dgm:pt modelId="{81B82FBA-2F57-4243-B27F-F24F2B6CAEDC}" type="parTrans" cxnId="{41D1A40C-F855-423B-83E2-B702C573518C}">
      <dgm:prSet/>
      <dgm:spPr/>
      <dgm:t>
        <a:bodyPr/>
        <a:lstStyle/>
        <a:p>
          <a:pPr latinLnBrk="1"/>
          <a:endParaRPr lang="ko-KR" altLang="en-US"/>
        </a:p>
      </dgm:t>
    </dgm:pt>
    <dgm:pt modelId="{E3B10E4F-51DC-481C-A613-68270D4F4911}" type="sibTrans" cxnId="{41D1A40C-F855-423B-83E2-B702C573518C}">
      <dgm:prSet/>
      <dgm:spPr/>
      <dgm:t>
        <a:bodyPr/>
        <a:lstStyle/>
        <a:p>
          <a:pPr latinLnBrk="1"/>
          <a:endParaRPr lang="ko-KR" altLang="en-US"/>
        </a:p>
      </dgm:t>
    </dgm:pt>
    <dgm:pt modelId="{B774D765-8596-4594-853F-06A98650FEE6}">
      <dgm:prSet phldrT="[텍스트]"/>
      <dgm:spPr/>
      <dgm:t>
        <a:bodyPr/>
        <a:lstStyle/>
        <a:p>
          <a:pPr latinLnBrk="1"/>
          <a:r>
            <a:rPr lang="ko-KR" altLang="en-US" dirty="0"/>
            <a:t>보상의 효력</a:t>
          </a:r>
        </a:p>
      </dgm:t>
    </dgm:pt>
    <dgm:pt modelId="{A4F59F25-8AAE-4024-9E96-31211FBF4024}" type="parTrans" cxnId="{509084A0-003F-4170-B92D-7F921FB9CF49}">
      <dgm:prSet/>
      <dgm:spPr/>
      <dgm:t>
        <a:bodyPr/>
        <a:lstStyle/>
        <a:p>
          <a:pPr latinLnBrk="1"/>
          <a:endParaRPr lang="ko-KR" altLang="en-US"/>
        </a:p>
      </dgm:t>
    </dgm:pt>
    <dgm:pt modelId="{96CE64F8-56C7-46B0-A405-7423E3049364}" type="sibTrans" cxnId="{509084A0-003F-4170-B92D-7F921FB9CF49}">
      <dgm:prSet/>
      <dgm:spPr/>
      <dgm:t>
        <a:bodyPr/>
        <a:lstStyle/>
        <a:p>
          <a:pPr latinLnBrk="1"/>
          <a:endParaRPr lang="ko-KR" altLang="en-US"/>
        </a:p>
      </dgm:t>
    </dgm:pt>
    <dgm:pt modelId="{D96D613F-BDCE-4A6F-9DF5-658C7B3A5673}" type="pres">
      <dgm:prSet presAssocID="{A7EEF6D8-356D-4BFE-8C3B-447B02F5EE0A}" presName="linearFlow" presStyleCnt="0">
        <dgm:presLayoutVars>
          <dgm:resizeHandles val="exact"/>
        </dgm:presLayoutVars>
      </dgm:prSet>
      <dgm:spPr/>
    </dgm:pt>
    <dgm:pt modelId="{32AE926B-FEEB-49E7-BBF0-B3D9B662FFD9}" type="pres">
      <dgm:prSet presAssocID="{1B500376-06BF-4D62-984D-2BCAD5DE622D}" presName="node" presStyleLbl="node1" presStyleIdx="0" presStyleCnt="3">
        <dgm:presLayoutVars>
          <dgm:bulletEnabled val="1"/>
        </dgm:presLayoutVars>
      </dgm:prSet>
      <dgm:spPr/>
    </dgm:pt>
    <dgm:pt modelId="{90C1BA4D-619E-4FFD-8C86-77999078976F}" type="pres">
      <dgm:prSet presAssocID="{B50784FC-D17E-4291-8DE3-0E425580823B}" presName="sibTrans" presStyleLbl="sibTrans2D1" presStyleIdx="0" presStyleCnt="2"/>
      <dgm:spPr/>
    </dgm:pt>
    <dgm:pt modelId="{7F0153A7-104C-4BF2-9758-9EBDCD49C276}" type="pres">
      <dgm:prSet presAssocID="{B50784FC-D17E-4291-8DE3-0E425580823B}" presName="connectorText" presStyleLbl="sibTrans2D1" presStyleIdx="0" presStyleCnt="2"/>
      <dgm:spPr/>
    </dgm:pt>
    <dgm:pt modelId="{BD0B095D-9854-41EE-8AA4-0941E55FB5C1}" type="pres">
      <dgm:prSet presAssocID="{1EC80BE8-9193-41AA-AB71-6C3CCBDB6FAA}" presName="node" presStyleLbl="node1" presStyleIdx="1" presStyleCnt="3">
        <dgm:presLayoutVars>
          <dgm:bulletEnabled val="1"/>
        </dgm:presLayoutVars>
      </dgm:prSet>
      <dgm:spPr/>
    </dgm:pt>
    <dgm:pt modelId="{9B3DDB7F-39CD-459C-8148-0D2C28BECB46}" type="pres">
      <dgm:prSet presAssocID="{E3B10E4F-51DC-481C-A613-68270D4F4911}" presName="sibTrans" presStyleLbl="sibTrans2D1" presStyleIdx="1" presStyleCnt="2"/>
      <dgm:spPr/>
    </dgm:pt>
    <dgm:pt modelId="{B449B651-68B9-4F30-BD60-DDAED9712888}" type="pres">
      <dgm:prSet presAssocID="{E3B10E4F-51DC-481C-A613-68270D4F4911}" presName="connectorText" presStyleLbl="sibTrans2D1" presStyleIdx="1" presStyleCnt="2"/>
      <dgm:spPr/>
    </dgm:pt>
    <dgm:pt modelId="{ED743B82-D8B1-46FB-A4D4-2E51FD026FD2}" type="pres">
      <dgm:prSet presAssocID="{B774D765-8596-4594-853F-06A98650FEE6}" presName="node" presStyleLbl="node1" presStyleIdx="2" presStyleCnt="3">
        <dgm:presLayoutVars>
          <dgm:bulletEnabled val="1"/>
        </dgm:presLayoutVars>
      </dgm:prSet>
      <dgm:spPr/>
    </dgm:pt>
  </dgm:ptLst>
  <dgm:cxnLst>
    <dgm:cxn modelId="{41D1A40C-F855-423B-83E2-B702C573518C}" srcId="{A7EEF6D8-356D-4BFE-8C3B-447B02F5EE0A}" destId="{1EC80BE8-9193-41AA-AB71-6C3CCBDB6FAA}" srcOrd="1" destOrd="0" parTransId="{81B82FBA-2F57-4243-B27F-F24F2B6CAEDC}" sibTransId="{E3B10E4F-51DC-481C-A613-68270D4F4911}"/>
    <dgm:cxn modelId="{0A11523F-7AC5-41A8-9F53-ED432DDCDA86}" type="presOf" srcId="{1B500376-06BF-4D62-984D-2BCAD5DE622D}" destId="{32AE926B-FEEB-49E7-BBF0-B3D9B662FFD9}" srcOrd="0" destOrd="0" presId="urn:microsoft.com/office/officeart/2005/8/layout/process2"/>
    <dgm:cxn modelId="{A6DA3146-2E33-43F9-9C1E-C7656531D3CB}" type="presOf" srcId="{B50784FC-D17E-4291-8DE3-0E425580823B}" destId="{90C1BA4D-619E-4FFD-8C86-77999078976F}" srcOrd="0" destOrd="0" presId="urn:microsoft.com/office/officeart/2005/8/layout/process2"/>
    <dgm:cxn modelId="{1AE85C69-FDB4-4629-BBDE-841F7A43BD6B}" srcId="{A7EEF6D8-356D-4BFE-8C3B-447B02F5EE0A}" destId="{1B500376-06BF-4D62-984D-2BCAD5DE622D}" srcOrd="0" destOrd="0" parTransId="{6D1E23D3-35A0-4E8E-BDE3-32266361E3C3}" sibTransId="{B50784FC-D17E-4291-8DE3-0E425580823B}"/>
    <dgm:cxn modelId="{10F03279-B13D-4A06-A28D-F07BBFDC0405}" type="presOf" srcId="{E3B10E4F-51DC-481C-A613-68270D4F4911}" destId="{B449B651-68B9-4F30-BD60-DDAED9712888}" srcOrd="1" destOrd="0" presId="urn:microsoft.com/office/officeart/2005/8/layout/process2"/>
    <dgm:cxn modelId="{C0766186-2093-435F-BB47-2B2132B467FE}" type="presOf" srcId="{1EC80BE8-9193-41AA-AB71-6C3CCBDB6FAA}" destId="{BD0B095D-9854-41EE-8AA4-0941E55FB5C1}" srcOrd="0" destOrd="0" presId="urn:microsoft.com/office/officeart/2005/8/layout/process2"/>
    <dgm:cxn modelId="{61576D91-2379-49BF-ABEC-D643881350F6}" type="presOf" srcId="{B774D765-8596-4594-853F-06A98650FEE6}" destId="{ED743B82-D8B1-46FB-A4D4-2E51FD026FD2}" srcOrd="0" destOrd="0" presId="urn:microsoft.com/office/officeart/2005/8/layout/process2"/>
    <dgm:cxn modelId="{FCF7DB9B-C978-4847-ACBE-75307E6852C1}" type="presOf" srcId="{B50784FC-D17E-4291-8DE3-0E425580823B}" destId="{7F0153A7-104C-4BF2-9758-9EBDCD49C276}" srcOrd="1" destOrd="0" presId="urn:microsoft.com/office/officeart/2005/8/layout/process2"/>
    <dgm:cxn modelId="{509084A0-003F-4170-B92D-7F921FB9CF49}" srcId="{A7EEF6D8-356D-4BFE-8C3B-447B02F5EE0A}" destId="{B774D765-8596-4594-853F-06A98650FEE6}" srcOrd="2" destOrd="0" parTransId="{A4F59F25-8AAE-4024-9E96-31211FBF4024}" sibTransId="{96CE64F8-56C7-46B0-A405-7423E3049364}"/>
    <dgm:cxn modelId="{319E84F9-1A68-4BEF-B24C-8C00C7F670CA}" type="presOf" srcId="{A7EEF6D8-356D-4BFE-8C3B-447B02F5EE0A}" destId="{D96D613F-BDCE-4A6F-9DF5-658C7B3A5673}" srcOrd="0" destOrd="0" presId="urn:microsoft.com/office/officeart/2005/8/layout/process2"/>
    <dgm:cxn modelId="{93280FFF-1769-4C74-B53F-A2021BACA78C}" type="presOf" srcId="{E3B10E4F-51DC-481C-A613-68270D4F4911}" destId="{9B3DDB7F-39CD-459C-8148-0D2C28BECB46}" srcOrd="0" destOrd="0" presId="urn:microsoft.com/office/officeart/2005/8/layout/process2"/>
    <dgm:cxn modelId="{C6F6F978-E750-4F7D-8A97-E9FCC0D6470A}" type="presParOf" srcId="{D96D613F-BDCE-4A6F-9DF5-658C7B3A5673}" destId="{32AE926B-FEEB-49E7-BBF0-B3D9B662FFD9}" srcOrd="0" destOrd="0" presId="urn:microsoft.com/office/officeart/2005/8/layout/process2"/>
    <dgm:cxn modelId="{124B2134-B39E-49F1-A344-95168017DC88}" type="presParOf" srcId="{D96D613F-BDCE-4A6F-9DF5-658C7B3A5673}" destId="{90C1BA4D-619E-4FFD-8C86-77999078976F}" srcOrd="1" destOrd="0" presId="urn:microsoft.com/office/officeart/2005/8/layout/process2"/>
    <dgm:cxn modelId="{A3C2D0D7-7278-4292-A7BC-BBAB71A7AF16}" type="presParOf" srcId="{90C1BA4D-619E-4FFD-8C86-77999078976F}" destId="{7F0153A7-104C-4BF2-9758-9EBDCD49C276}" srcOrd="0" destOrd="0" presId="urn:microsoft.com/office/officeart/2005/8/layout/process2"/>
    <dgm:cxn modelId="{58FB4FD2-046F-40C2-9363-D0450A37F6C4}" type="presParOf" srcId="{D96D613F-BDCE-4A6F-9DF5-658C7B3A5673}" destId="{BD0B095D-9854-41EE-8AA4-0941E55FB5C1}" srcOrd="2" destOrd="0" presId="urn:microsoft.com/office/officeart/2005/8/layout/process2"/>
    <dgm:cxn modelId="{898B85D0-BD0E-45D7-9F91-F267B9DEC305}" type="presParOf" srcId="{D96D613F-BDCE-4A6F-9DF5-658C7B3A5673}" destId="{9B3DDB7F-39CD-459C-8148-0D2C28BECB46}" srcOrd="3" destOrd="0" presId="urn:microsoft.com/office/officeart/2005/8/layout/process2"/>
    <dgm:cxn modelId="{F574C437-C710-47D8-B924-24597529EF7E}" type="presParOf" srcId="{9B3DDB7F-39CD-459C-8148-0D2C28BECB46}" destId="{B449B651-68B9-4F30-BD60-DDAED9712888}" srcOrd="0" destOrd="0" presId="urn:microsoft.com/office/officeart/2005/8/layout/process2"/>
    <dgm:cxn modelId="{D62990F9-96E8-4C41-AC28-775A276570B7}" type="presParOf" srcId="{D96D613F-BDCE-4A6F-9DF5-658C7B3A5673}" destId="{ED743B82-D8B1-46FB-A4D4-2E51FD026FD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E926B-FEEB-49E7-BBF0-B3D9B662FFD9}">
      <dsp:nvSpPr>
        <dsp:cNvPr id="0" name=""/>
        <dsp:cNvSpPr/>
      </dsp:nvSpPr>
      <dsp:spPr>
        <a:xfrm>
          <a:off x="280558" y="0"/>
          <a:ext cx="1148237" cy="6379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보상규정의 작성 및 변경</a:t>
          </a:r>
        </a:p>
      </dsp:txBody>
      <dsp:txXfrm>
        <a:off x="299242" y="18684"/>
        <a:ext cx="1110869" cy="600541"/>
      </dsp:txXfrm>
    </dsp:sp>
    <dsp:sp modelId="{90C1BA4D-619E-4FFD-8C86-77999078976F}">
      <dsp:nvSpPr>
        <dsp:cNvPr id="0" name=""/>
        <dsp:cNvSpPr/>
      </dsp:nvSpPr>
      <dsp:spPr>
        <a:xfrm rot="5400000">
          <a:off x="735069" y="653857"/>
          <a:ext cx="239216" cy="287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 rot="-5400000">
        <a:off x="768560" y="677779"/>
        <a:ext cx="172235" cy="167451"/>
      </dsp:txXfrm>
    </dsp:sp>
    <dsp:sp modelId="{BD0B095D-9854-41EE-8AA4-0941E55FB5C1}">
      <dsp:nvSpPr>
        <dsp:cNvPr id="0" name=""/>
        <dsp:cNvSpPr/>
      </dsp:nvSpPr>
      <dsp:spPr>
        <a:xfrm>
          <a:off x="280558" y="956864"/>
          <a:ext cx="1148237" cy="6379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보상사항의 통지</a:t>
          </a:r>
        </a:p>
      </dsp:txBody>
      <dsp:txXfrm>
        <a:off x="299242" y="975548"/>
        <a:ext cx="1110869" cy="600541"/>
      </dsp:txXfrm>
    </dsp:sp>
    <dsp:sp modelId="{9B3DDB7F-39CD-459C-8148-0D2C28BECB46}">
      <dsp:nvSpPr>
        <dsp:cNvPr id="0" name=""/>
        <dsp:cNvSpPr/>
      </dsp:nvSpPr>
      <dsp:spPr>
        <a:xfrm rot="5400000">
          <a:off x="735069" y="1610722"/>
          <a:ext cx="239216" cy="287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 rot="-5400000">
        <a:off x="768560" y="1634644"/>
        <a:ext cx="172235" cy="167451"/>
      </dsp:txXfrm>
    </dsp:sp>
    <dsp:sp modelId="{ED743B82-D8B1-46FB-A4D4-2E51FD026FD2}">
      <dsp:nvSpPr>
        <dsp:cNvPr id="0" name=""/>
        <dsp:cNvSpPr/>
      </dsp:nvSpPr>
      <dsp:spPr>
        <a:xfrm>
          <a:off x="280558" y="1913729"/>
          <a:ext cx="1148237" cy="63790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보상의 효력</a:t>
          </a:r>
        </a:p>
      </dsp:txBody>
      <dsp:txXfrm>
        <a:off x="299242" y="1932413"/>
        <a:ext cx="1110869" cy="600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2026-06-13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57" tIns="47329" rIns="94657" bIns="4732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57" tIns="47329" rIns="94657" bIns="47329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C005C8-BD53-41EA-B159-BC12A6DFFB7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L" panose="02020603020101020101" pitchFamily="18" charset="-127"/>
                <a:ea typeface="Rix모던고딕 L" panose="02020603020101020101" pitchFamily="18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L" panose="02020603020101020101" pitchFamily="18" charset="-127"/>
              <a:ea typeface="Rix모던고딕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39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81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657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63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53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151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88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629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207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936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894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7633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652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440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4476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0393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856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7139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3755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9447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425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8628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8806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897E-1F52-470C-BAEF-8EC700A71E38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" y="677164"/>
            <a:ext cx="2723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7522-D46F-4EA2-96CE-BF082140555B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723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DF58-DCC8-4D77-B255-9696E376AAF6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5196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664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433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26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56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9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7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신문제비 L" panose="02030504000101010101" charset="-127"/>
                <a:ea typeface="산돌신문제비 L" panose="02030504000101010101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70829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5E0D24-7585-4FA7-9EC5-459AC23046CD}"/>
              </a:ext>
            </a:extLst>
          </p:cNvPr>
          <p:cNvSpPr/>
          <p:nvPr userDrawn="1"/>
        </p:nvSpPr>
        <p:spPr>
          <a:xfrm>
            <a:off x="730881" y="544312"/>
            <a:ext cx="10826767" cy="578688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5" dirty="0">
              <a:latin typeface="Rix커피향 M" pitchFamily="18" charset="-127"/>
              <a:ea typeface="Rix커피향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690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31813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65144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E929-8EFF-45A1-94DE-CC72DB08EDB3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57058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3960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472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20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9A018-C336-4EBA-84EE-074C32CA2982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76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10015" y="275339"/>
            <a:ext cx="10971973" cy="1142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10015" y="1599511"/>
            <a:ext cx="10971973" cy="452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10014" y="6356660"/>
            <a:ext cx="2845351" cy="364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3">
                <a:solidFill>
                  <a:schemeClr val="tx1">
                    <a:tint val="7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DA871C45-21D4-4A4B-8C59-D313832DD3AA}" type="datetime1">
              <a:rPr lang="ko-KR" altLang="en-US" smtClean="0"/>
              <a:pPr/>
              <a:t>2026-06-13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635" y="6356660"/>
            <a:ext cx="3862730" cy="364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3">
                <a:solidFill>
                  <a:schemeClr val="tx1">
                    <a:tint val="7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636" y="6356660"/>
            <a:ext cx="2845351" cy="364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3">
                <a:solidFill>
                  <a:schemeClr val="tx1">
                    <a:tint val="7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990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hdr="0" ftr="0" dt="0"/>
  <p:txStyles>
    <p:titleStyle>
      <a:lvl1pPr algn="ctr" defTabSz="916777" rtl="0" eaLnBrk="1" latinLnBrk="1" hangingPunct="1">
        <a:spcBef>
          <a:spcPct val="0"/>
        </a:spcBef>
        <a:buNone/>
        <a:defRPr sz="4411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j-cs"/>
        </a:defRPr>
      </a:lvl1pPr>
    </p:titleStyle>
    <p:bodyStyle>
      <a:lvl1pPr marL="343792" indent="-343792" algn="l" defTabSz="916777" rtl="0" eaLnBrk="1" latinLnBrk="1" hangingPunct="1">
        <a:spcBef>
          <a:spcPct val="20000"/>
        </a:spcBef>
        <a:buFont typeface="Arial" pitchFamily="34" charset="0"/>
        <a:buChar char="•"/>
        <a:defRPr sz="3208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1pPr>
      <a:lvl2pPr marL="744882" indent="-286493" algn="l" defTabSz="916777" rtl="0" eaLnBrk="1" latinLnBrk="1" hangingPunct="1">
        <a:spcBef>
          <a:spcPct val="20000"/>
        </a:spcBef>
        <a:buFont typeface="Arial" pitchFamily="34" charset="0"/>
        <a:buChar char="–"/>
        <a:defRPr sz="2807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2pPr>
      <a:lvl3pPr marL="1145972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406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3pPr>
      <a:lvl4pPr marL="1604361" indent="-229194" algn="l" defTabSz="916777" rtl="0" eaLnBrk="1" latinLnBrk="1" hangingPunct="1">
        <a:spcBef>
          <a:spcPct val="20000"/>
        </a:spcBef>
        <a:buFont typeface="Arial" pitchFamily="34" charset="0"/>
        <a:buChar char="–"/>
        <a:defRPr sz="2005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4pPr>
      <a:lvl5pPr marL="2062749" indent="-229194" algn="l" defTabSz="916777" rtl="0" eaLnBrk="1" latinLnBrk="1" hangingPunct="1">
        <a:spcBef>
          <a:spcPct val="20000"/>
        </a:spcBef>
        <a:buFont typeface="Arial" pitchFamily="34" charset="0"/>
        <a:buChar char="»"/>
        <a:defRPr sz="2005" kern="1200">
          <a:solidFill>
            <a:schemeClr val="tx1"/>
          </a:solidFill>
          <a:latin typeface="Rix모던고딕 L" panose="02020603020101020101" pitchFamily="18" charset="-127"/>
          <a:ea typeface="Rix모던고딕 L" panose="02020603020101020101" pitchFamily="18" charset="-127"/>
          <a:cs typeface="+mn-cs"/>
        </a:defRPr>
      </a:lvl5pPr>
      <a:lvl6pPr marL="2521138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527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915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6304" indent="-229194" algn="l" defTabSz="916777" rtl="0" eaLnBrk="1" latinLnBrk="1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89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777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166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555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944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332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721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7110" algn="l" defTabSz="916777" rtl="0" eaLnBrk="1" latinLnBrk="1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AA719-D96A-4F3C-897B-F269EE83DF44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501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특허</a:t>
            </a:r>
            <a:endParaRPr lang="en-US" altLang="ko-KR" sz="2000" b="1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7D41E-3D89-E902-35BF-0973F893AB6D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51DE372-8E71-65CA-6DEA-73C4991909E2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1A1773F-08CE-8EC7-8A83-6F595A08D562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31BAE27-86B4-76FD-1C85-4834A32D5883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85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75FC6C-1516-4DC4-8C58-3090F7D4F003}" type="slidenum">
              <a:rPr kumimoji="0" lang="ko-KR" altLang="en-US" sz="3600" b="1" i="0" u="none" strike="noStrike" kern="1200" cap="none" spc="0" normalizeH="0" baseline="0" noProof="0" smtClean="0">
                <a:ln w="12700">
                  <a:solidFill>
                    <a:srgbClr val="44546A">
                      <a:satMod val="155000"/>
                    </a:srgbClr>
                  </a:solidFill>
                  <a:prstDash val="solid"/>
                </a:ln>
                <a:solidFill>
                  <a:srgbClr val="E7E6E6">
                    <a:tint val="85000"/>
                    <a:satMod val="155000"/>
                  </a:srgb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3600" b="1" i="0" u="none" strike="noStrike" kern="1200" cap="none" spc="0" normalizeH="0" baseline="0" noProof="0">
              <a:ln w="12700">
                <a:solidFill>
                  <a:srgbClr val="44546A">
                    <a:satMod val="155000"/>
                  </a:srgbClr>
                </a:solidFill>
                <a:prstDash val="solid"/>
              </a:ln>
              <a:solidFill>
                <a:srgbClr val="E7E6E6">
                  <a:tint val="85000"/>
                  <a:satMod val="155000"/>
                </a:srgbClr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총칙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보칙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목적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정의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행위능력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3~5①)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대리인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3②, 5②~10, 12)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복수당사자 대표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11)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재외자의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재판관할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13)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기일과 기간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14, 15)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특허에 관한 절차 일반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16, 28~28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추후보완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17, 67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절차의 효력의 승계 및 절차의 속행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18, 19)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절차의 정지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20~24, 78, 164)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특허를 받을 수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협의의 특허요건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29)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선출원주의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36)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불특허발명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국방상 필요한 발명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 41, 106)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출원인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25, 33, 44)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특허를 받을 수 있는 권리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37, 38)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직무발명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발진법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2, 10~19, 58)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특허출원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42~42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3, 43)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하나의 특허출원의 범위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45)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이익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정당한 권리자의 보호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34, 35, 99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46, 47, 51)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분리출원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변경출원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53)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조약우선권주장출원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54)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국내우선권주장출원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55, 56)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출원일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판단시점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소급제도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심사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(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제도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rPr>
                <a:t>)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심사관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57</a:t>
                </a:r>
                <a:r>
                  <a:rPr kumimoji="0" lang="en-US" altLang="ko-KR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, 68)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전문기관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58, 58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출원의 무효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,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취하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,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포기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특허여부결정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)(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62, 63, 66~67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심사청구제도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59, 60)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우선심사제도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61)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심사의 진행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62, 63, 63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3)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정보제공제도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63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의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출원공개제도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64, 65)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타절차와의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 관계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法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 LT 65 Bold"/>
                    <a:ea typeface="Rix모던고딕 B"/>
                    <a:cs typeface="+mn-cs"/>
                  </a:rPr>
                  <a:t>78)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65 Bold"/>
                  <a:ea typeface="Rix모던고딕 B"/>
                  <a:cs typeface="+mn-cs"/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215-224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21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거절이유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224116" y="2280232"/>
            <a:ext cx="452568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53503" y="2063783"/>
            <a:ext cx="1143434" cy="432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특허출원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818175" y="2063783"/>
            <a:ext cx="1143434" cy="4328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심사청구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262486" y="2063783"/>
            <a:ext cx="1143434" cy="43289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실체심사</a:t>
            </a:r>
            <a:endParaRPr lang="ko-KR" altLang="en-US" sz="1400" dirty="0"/>
          </a:p>
        </p:txBody>
      </p:sp>
      <p:cxnSp>
        <p:nvCxnSpPr>
          <p:cNvPr id="11" name="꺾인 연결선 10"/>
          <p:cNvCxnSpPr>
            <a:stCxn id="25" idx="0"/>
          </p:cNvCxnSpPr>
          <p:nvPr/>
        </p:nvCxnSpPr>
        <p:spPr>
          <a:xfrm rot="16200000" flipH="1">
            <a:off x="1969631" y="1019372"/>
            <a:ext cx="114642" cy="2203465"/>
          </a:xfrm>
          <a:prstGeom prst="bentConnector4">
            <a:avLst>
              <a:gd name="adj1" fmla="val -199403"/>
              <a:gd name="adj2" fmla="val 100057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56136" y="1562418"/>
            <a:ext cx="697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3</a:t>
            </a:r>
            <a:r>
              <a:rPr lang="ko-KR" altLang="en-US" sz="1200" dirty="0"/>
              <a:t>년</a:t>
            </a:r>
          </a:p>
        </p:txBody>
      </p:sp>
      <p:cxnSp>
        <p:nvCxnSpPr>
          <p:cNvPr id="54" name="꺾인 연결선 53"/>
          <p:cNvCxnSpPr>
            <a:stCxn id="27" idx="2"/>
            <a:endCxn id="28" idx="2"/>
          </p:cNvCxnSpPr>
          <p:nvPr/>
        </p:nvCxnSpPr>
        <p:spPr>
          <a:xfrm rot="16200000" flipH="1">
            <a:off x="3112047" y="1774525"/>
            <a:ext cx="12700" cy="1444311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539598" y="2726392"/>
            <a:ext cx="1157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심사청구순서</a:t>
            </a:r>
            <a:endParaRPr lang="ko-KR" altLang="en-US" sz="1200" dirty="0"/>
          </a:p>
        </p:txBody>
      </p:sp>
      <p:sp>
        <p:nvSpPr>
          <p:cNvPr id="57" name="직사각형 56"/>
          <p:cNvSpPr/>
          <p:nvPr/>
        </p:nvSpPr>
        <p:spPr>
          <a:xfrm>
            <a:off x="943336" y="4115549"/>
            <a:ext cx="633756" cy="330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주체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943336" y="4520453"/>
            <a:ext cx="633756" cy="5384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객체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943336" y="5133783"/>
            <a:ext cx="633756" cy="10777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방법</a:t>
            </a:r>
          </a:p>
        </p:txBody>
      </p:sp>
      <p:cxnSp>
        <p:nvCxnSpPr>
          <p:cNvPr id="61" name="꺾인 연결선 60"/>
          <p:cNvCxnSpPr>
            <a:stCxn id="57" idx="1"/>
            <a:endCxn id="59" idx="1"/>
          </p:cNvCxnSpPr>
          <p:nvPr/>
        </p:nvCxnSpPr>
        <p:spPr>
          <a:xfrm rot="10800000" flipV="1">
            <a:off x="943336" y="4280649"/>
            <a:ext cx="12700" cy="1392014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5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57" idx="1"/>
            <a:endCxn id="58" idx="1"/>
          </p:cNvCxnSpPr>
          <p:nvPr/>
        </p:nvCxnSpPr>
        <p:spPr>
          <a:xfrm rot="10800000" flipV="1">
            <a:off x="943336" y="4280648"/>
            <a:ext cx="12700" cy="509015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5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615192" y="4117704"/>
            <a:ext cx="3023844" cy="3280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심사관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1615192" y="4520454"/>
            <a:ext cx="3023844" cy="5384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 err="1"/>
              <a:t>청구범위</a:t>
            </a:r>
            <a:r>
              <a:rPr lang="ko-KR" altLang="en-US" sz="1200" dirty="0"/>
              <a:t> 중심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발명의 설명</a:t>
            </a:r>
            <a:r>
              <a:rPr lang="en-US" altLang="ko-KR" sz="1200" dirty="0"/>
              <a:t>/</a:t>
            </a:r>
            <a:r>
              <a:rPr lang="ko-KR" altLang="en-US" sz="1200" dirty="0"/>
              <a:t>도면 참작 </a:t>
            </a:r>
            <a:endParaRPr lang="ko-KR" altLang="en-US" sz="1100" dirty="0"/>
          </a:p>
        </p:txBody>
      </p:sp>
      <p:sp>
        <p:nvSpPr>
          <p:cNvPr id="67" name="TextBox 66"/>
          <p:cNvSpPr txBox="1"/>
          <p:nvPr/>
        </p:nvSpPr>
        <p:spPr>
          <a:xfrm>
            <a:off x="1627892" y="5135939"/>
            <a:ext cx="3011884" cy="107597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88900" indent="-88900"/>
            <a:r>
              <a:rPr lang="en-US" altLang="ko-KR" sz="1200" dirty="0"/>
              <a:t>- </a:t>
            </a:r>
            <a:r>
              <a:rPr lang="ko-KR" altLang="en-US" sz="1200" dirty="0"/>
              <a:t>청구항</a:t>
            </a:r>
            <a:r>
              <a:rPr lang="en-US" altLang="ko-KR" sz="1200" dirty="0"/>
              <a:t>(</a:t>
            </a:r>
            <a:r>
              <a:rPr lang="ko-KR" altLang="en-US" sz="1200" dirty="0"/>
              <a:t>발명</a:t>
            </a:r>
            <a:r>
              <a:rPr lang="en-US" altLang="ko-KR" sz="1200" dirty="0"/>
              <a:t>)</a:t>
            </a:r>
            <a:r>
              <a:rPr lang="ko-KR" altLang="en-US" sz="1200" dirty="0"/>
              <a:t>별로 </a:t>
            </a:r>
            <a:r>
              <a:rPr lang="ko-KR" altLang="en-US" sz="1200" dirty="0" err="1"/>
              <a:t>제한열거적인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88900" indent="-88900"/>
            <a:r>
              <a:rPr lang="ko-KR" altLang="en-US" sz="1200" dirty="0">
                <a:solidFill>
                  <a:srgbClr val="FF0000"/>
                </a:solidFill>
              </a:rPr>
              <a:t>  거절이유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62)*</a:t>
            </a:r>
            <a:r>
              <a:rPr lang="ko-KR" altLang="en-US" sz="1200" dirty="0"/>
              <a:t>에 해당 여부를 판단하나</a:t>
            </a:r>
            <a:r>
              <a:rPr lang="en-US" altLang="ko-KR" sz="1200" dirty="0"/>
              <a:t>, </a:t>
            </a:r>
          </a:p>
          <a:p>
            <a:pPr marL="88900" indent="-88900"/>
            <a:r>
              <a:rPr lang="ko-KR" altLang="en-US" sz="1200" dirty="0"/>
              <a:t>  하나의 청구항이라도 거절이유가 있으면 </a:t>
            </a:r>
            <a:endParaRPr lang="en-US" altLang="ko-KR" sz="1200" dirty="0"/>
          </a:p>
          <a:p>
            <a:pPr marL="88900" indent="-88900"/>
            <a:r>
              <a:rPr lang="en-US" altLang="ko-KR" sz="1200" dirty="0"/>
              <a:t>  </a:t>
            </a:r>
            <a:r>
              <a:rPr lang="ko-KR" altLang="en-US" sz="1200" dirty="0"/>
              <a:t>출원 전체를 거절결정</a:t>
            </a:r>
            <a:endParaRPr lang="en-US" altLang="ko-KR" sz="1200" dirty="0"/>
          </a:p>
          <a:p>
            <a:pPr marL="88900" indent="-88900"/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출원일체의</a:t>
            </a:r>
            <a:r>
              <a:rPr lang="ko-KR" altLang="en-US" sz="1100" dirty="0"/>
              <a:t> 원칙 </a:t>
            </a:r>
            <a:r>
              <a:rPr lang="en-US" altLang="ko-KR" sz="1100" dirty="0"/>
              <a:t>– All or Nothing Rule)</a:t>
            </a:r>
          </a:p>
        </p:txBody>
      </p:sp>
      <p:sp>
        <p:nvSpPr>
          <p:cNvPr id="72" name="자유형 71"/>
          <p:cNvSpPr/>
          <p:nvPr/>
        </p:nvSpPr>
        <p:spPr>
          <a:xfrm>
            <a:off x="355600" y="2526554"/>
            <a:ext cx="3695700" cy="2260600"/>
          </a:xfrm>
          <a:custGeom>
            <a:avLst/>
            <a:gdLst>
              <a:gd name="connsiteX0" fmla="*/ 355600 w 3695700"/>
              <a:gd name="connsiteY0" fmla="*/ 2260600 h 2260600"/>
              <a:gd name="connsiteX1" fmla="*/ 0 w 3695700"/>
              <a:gd name="connsiteY1" fmla="*/ 2260600 h 2260600"/>
              <a:gd name="connsiteX2" fmla="*/ 0 w 3695700"/>
              <a:gd name="connsiteY2" fmla="*/ 749300 h 2260600"/>
              <a:gd name="connsiteX3" fmla="*/ 3695700 w 3695700"/>
              <a:gd name="connsiteY3" fmla="*/ 749300 h 2260600"/>
              <a:gd name="connsiteX4" fmla="*/ 3695700 w 3695700"/>
              <a:gd name="connsiteY4" fmla="*/ 0 h 226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700" h="2260600">
                <a:moveTo>
                  <a:pt x="355600" y="2260600"/>
                </a:moveTo>
                <a:lnTo>
                  <a:pt x="0" y="2260600"/>
                </a:lnTo>
                <a:lnTo>
                  <a:pt x="0" y="749300"/>
                </a:lnTo>
                <a:lnTo>
                  <a:pt x="3695700" y="749300"/>
                </a:lnTo>
                <a:lnTo>
                  <a:pt x="3695700" y="0"/>
                </a:lnTo>
              </a:path>
            </a:pathLst>
          </a:custGeom>
          <a:noFill/>
          <a:ln w="28575"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4966243" y="2273304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주체적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요건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966243" y="3428469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실체적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요건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4966243" y="4606367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조약 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위반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4966243" y="5981489"/>
            <a:ext cx="735586" cy="678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절차적 </a:t>
            </a:r>
            <a:endParaRPr lang="en-US" altLang="ko-KR" sz="14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10000"/>
                  </a:schemeClr>
                </a:solidFill>
              </a:rPr>
              <a:t>요건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5986969" y="2076396"/>
            <a:ext cx="3112200" cy="1065736"/>
            <a:chOff x="7505746" y="1042464"/>
            <a:chExt cx="3746453" cy="3152758"/>
          </a:xfrm>
        </p:grpSpPr>
        <p:sp>
          <p:nvSpPr>
            <p:cNvPr id="80" name="직사각형 79"/>
            <p:cNvSpPr/>
            <p:nvPr/>
          </p:nvSpPr>
          <p:spPr>
            <a:xfrm>
              <a:off x="7505746" y="104246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외국인의 권리능력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25)</a:t>
              </a: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7505746" y="186727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특허를 받을 수 있는 권리를 가지는 자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33</a:t>
              </a:r>
              <a:r>
                <a:rPr lang="ko-KR" altLang="en-US" sz="1100" dirty="0">
                  <a:solidFill>
                    <a:schemeClr val="tx2"/>
                  </a:solidFill>
                </a:rPr>
                <a:t>①본문</a:t>
              </a:r>
              <a:r>
                <a:rPr lang="en-US" altLang="ko-KR" sz="1100" dirty="0">
                  <a:solidFill>
                    <a:schemeClr val="tx2"/>
                  </a:solidFill>
                </a:rPr>
                <a:t>)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505746" y="269208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특허를 받을 수 없는 자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33</a:t>
              </a:r>
              <a:r>
                <a:rPr lang="ko-KR" altLang="en-US" sz="1100" dirty="0">
                  <a:solidFill>
                    <a:schemeClr val="tx2"/>
                  </a:solidFill>
                </a:rPr>
                <a:t>①단서</a:t>
              </a:r>
              <a:r>
                <a:rPr lang="en-US" altLang="ko-KR" sz="1100" dirty="0">
                  <a:solidFill>
                    <a:schemeClr val="tx2"/>
                  </a:solidFill>
                </a:rPr>
                <a:t>)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7505746" y="351689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 err="1">
                  <a:solidFill>
                    <a:schemeClr val="tx2"/>
                  </a:solidFill>
                </a:rPr>
                <a:t>공동출원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44)</a:t>
              </a:r>
              <a:endParaRPr lang="ko-KR" altLang="en-US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5986969" y="3323235"/>
            <a:ext cx="3112200" cy="1065736"/>
            <a:chOff x="7505746" y="1042464"/>
            <a:chExt cx="3746453" cy="3152758"/>
          </a:xfrm>
        </p:grpSpPr>
        <p:sp>
          <p:nvSpPr>
            <p:cNvPr id="86" name="직사각형 85"/>
            <p:cNvSpPr/>
            <p:nvPr/>
          </p:nvSpPr>
          <p:spPr>
            <a:xfrm>
              <a:off x="7505746" y="104246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 err="1">
                  <a:solidFill>
                    <a:srgbClr val="FF0000"/>
                  </a:solidFill>
                </a:rPr>
                <a:t>특허요건</a:t>
              </a:r>
              <a:r>
                <a:rPr lang="en-US" altLang="ko-KR" sz="1100" dirty="0">
                  <a:solidFill>
                    <a:srgbClr val="FF0000"/>
                  </a:solidFill>
                </a:rPr>
                <a:t>(</a:t>
              </a:r>
              <a:r>
                <a:rPr lang="ko-KR" altLang="en-US" sz="1100" dirty="0">
                  <a:solidFill>
                    <a:srgbClr val="FF0000"/>
                  </a:solidFill>
                </a:rPr>
                <a:t>法 </a:t>
              </a:r>
              <a:r>
                <a:rPr lang="en-US" altLang="ko-KR" sz="1100" dirty="0">
                  <a:solidFill>
                    <a:srgbClr val="FF0000"/>
                  </a:solidFill>
                </a:rPr>
                <a:t>29)*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505746" y="186727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선출원주의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36)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505746" y="269208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특허를 받을 수 없는 발명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32)</a:t>
              </a: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505746" y="3516894"/>
              <a:ext cx="3746453" cy="6783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780" marR="17780" algn="just" fontAlgn="base">
                <a:lnSpc>
                  <a:spcPct val="130000"/>
                </a:lnSpc>
              </a:pPr>
              <a:r>
                <a:rPr lang="ko-KR" altLang="en-US" sz="1100" dirty="0">
                  <a:solidFill>
                    <a:schemeClr val="tx2"/>
                  </a:solidFill>
                </a:rPr>
                <a:t>일반적 발명의 설명 기재</a:t>
              </a:r>
              <a:r>
                <a:rPr lang="en-US" altLang="ko-KR" sz="1100" dirty="0">
                  <a:solidFill>
                    <a:schemeClr val="tx2"/>
                  </a:solidFill>
                </a:rPr>
                <a:t>(</a:t>
              </a:r>
              <a:r>
                <a:rPr lang="ko-KR" altLang="en-US" sz="1100" dirty="0">
                  <a:solidFill>
                    <a:schemeClr val="tx2"/>
                  </a:solidFill>
                </a:rPr>
                <a:t>法 </a:t>
              </a:r>
              <a:r>
                <a:rPr lang="en-US" altLang="ko-KR" sz="1100" dirty="0">
                  <a:solidFill>
                    <a:schemeClr val="tx2"/>
                  </a:solidFill>
                </a:rPr>
                <a:t>42③Ⅰ) </a:t>
              </a:r>
            </a:p>
          </p:txBody>
        </p:sp>
      </p:grpSp>
      <p:sp>
        <p:nvSpPr>
          <p:cNvPr id="92" name="직사각형 91"/>
          <p:cNvSpPr/>
          <p:nvPr/>
        </p:nvSpPr>
        <p:spPr>
          <a:xfrm>
            <a:off x="5986969" y="4440303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청구범위</a:t>
            </a:r>
            <a:r>
              <a:rPr lang="ko-KR" altLang="en-US" sz="1100" dirty="0">
                <a:solidFill>
                  <a:schemeClr val="tx2"/>
                </a:solidFill>
              </a:rPr>
              <a:t> 기재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42④)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5986969" y="4719116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신규사항추가금지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47</a:t>
            </a:r>
            <a:r>
              <a:rPr lang="ko-KR" altLang="en-US" sz="1100" dirty="0">
                <a:solidFill>
                  <a:schemeClr val="tx2"/>
                </a:solidFill>
              </a:rPr>
              <a:t>②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986969" y="4997929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100" dirty="0">
                <a:solidFill>
                  <a:schemeClr val="tx2"/>
                </a:solidFill>
              </a:rPr>
              <a:t> 범위를 벗어난 경우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52①)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5986969" y="5276742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분리출원의 범위를 벗어난 경우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52</a:t>
            </a:r>
            <a:r>
              <a:rPr lang="ko-KR" altLang="en-US" sz="1100" dirty="0">
                <a:solidFill>
                  <a:srgbClr val="FF0000"/>
                </a:solidFill>
              </a:rPr>
              <a:t>의</a:t>
            </a:r>
            <a:r>
              <a:rPr lang="en-US" altLang="ko-KR" sz="1100" dirty="0">
                <a:solidFill>
                  <a:srgbClr val="FF0000"/>
                </a:solidFill>
              </a:rPr>
              <a:t>2①)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5986969" y="5982622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발명의 설명 중 </a:t>
            </a:r>
            <a:r>
              <a:rPr lang="ko-KR" altLang="en-US" sz="1100" dirty="0" err="1">
                <a:solidFill>
                  <a:schemeClr val="tx2"/>
                </a:solidFill>
              </a:rPr>
              <a:t>배경기술</a:t>
            </a:r>
            <a:r>
              <a:rPr lang="ko-KR" altLang="en-US" sz="1100" dirty="0">
                <a:solidFill>
                  <a:schemeClr val="tx2"/>
                </a:solidFill>
              </a:rPr>
              <a:t> 기재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42③Ⅱ)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5986969" y="6261435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다항제</a:t>
            </a:r>
            <a:r>
              <a:rPr lang="ko-KR" altLang="en-US" sz="1100" dirty="0">
                <a:solidFill>
                  <a:schemeClr val="tx2"/>
                </a:solidFill>
              </a:rPr>
              <a:t> </a:t>
            </a:r>
            <a:r>
              <a:rPr lang="ko-KR" altLang="en-US" sz="1100" dirty="0" err="1">
                <a:solidFill>
                  <a:schemeClr val="tx2"/>
                </a:solidFill>
              </a:rPr>
              <a:t>기재방법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42⑧)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5986969" y="6540248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하나의 특허출원의 범위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45)</a:t>
            </a:r>
          </a:p>
        </p:txBody>
      </p:sp>
      <p:cxnSp>
        <p:nvCxnSpPr>
          <p:cNvPr id="102" name="꺾인 연결선 101"/>
          <p:cNvCxnSpPr>
            <a:stCxn id="75" idx="3"/>
            <a:endCxn id="80" idx="1"/>
          </p:cNvCxnSpPr>
          <p:nvPr/>
        </p:nvCxnSpPr>
        <p:spPr>
          <a:xfrm flipV="1">
            <a:off x="5701829" y="2191045"/>
            <a:ext cx="285140" cy="42142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75" idx="3"/>
            <a:endCxn id="83" idx="1"/>
          </p:cNvCxnSpPr>
          <p:nvPr/>
        </p:nvCxnSpPr>
        <p:spPr>
          <a:xfrm>
            <a:off x="5701829" y="2612468"/>
            <a:ext cx="285140" cy="4150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75" idx="3"/>
            <a:endCxn id="81" idx="1"/>
          </p:cNvCxnSpPr>
          <p:nvPr/>
        </p:nvCxnSpPr>
        <p:spPr>
          <a:xfrm flipV="1">
            <a:off x="5701829" y="2469858"/>
            <a:ext cx="285140" cy="14261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75" idx="3"/>
            <a:endCxn id="82" idx="1"/>
          </p:cNvCxnSpPr>
          <p:nvPr/>
        </p:nvCxnSpPr>
        <p:spPr>
          <a:xfrm>
            <a:off x="5701829" y="2612468"/>
            <a:ext cx="285140" cy="13620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cxnSpLocks/>
            <a:stCxn id="67" idx="3"/>
            <a:endCxn id="75" idx="1"/>
          </p:cNvCxnSpPr>
          <p:nvPr/>
        </p:nvCxnSpPr>
        <p:spPr>
          <a:xfrm flipV="1">
            <a:off x="4639776" y="2612468"/>
            <a:ext cx="326467" cy="30614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cxnSpLocks/>
            <a:stCxn id="67" idx="3"/>
            <a:endCxn id="79" idx="1"/>
          </p:cNvCxnSpPr>
          <p:nvPr/>
        </p:nvCxnSpPr>
        <p:spPr>
          <a:xfrm>
            <a:off x="4639776" y="5673928"/>
            <a:ext cx="326467" cy="64672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cxnSpLocks/>
            <a:stCxn id="67" idx="3"/>
            <a:endCxn id="77" idx="1"/>
          </p:cNvCxnSpPr>
          <p:nvPr/>
        </p:nvCxnSpPr>
        <p:spPr>
          <a:xfrm flipV="1">
            <a:off x="4639776" y="3767633"/>
            <a:ext cx="326467" cy="19062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67" idx="3"/>
            <a:endCxn id="78" idx="1"/>
          </p:cNvCxnSpPr>
          <p:nvPr/>
        </p:nvCxnSpPr>
        <p:spPr>
          <a:xfrm flipV="1">
            <a:off x="4639776" y="4945531"/>
            <a:ext cx="326467" cy="72839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79" idx="3"/>
            <a:endCxn id="97" idx="1"/>
          </p:cNvCxnSpPr>
          <p:nvPr/>
        </p:nvCxnSpPr>
        <p:spPr>
          <a:xfrm flipV="1">
            <a:off x="5701829" y="6097271"/>
            <a:ext cx="285140" cy="22338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79" idx="3"/>
            <a:endCxn id="99" idx="1"/>
          </p:cNvCxnSpPr>
          <p:nvPr/>
        </p:nvCxnSpPr>
        <p:spPr>
          <a:xfrm>
            <a:off x="5701829" y="6320653"/>
            <a:ext cx="285140" cy="33424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79" idx="3"/>
            <a:endCxn id="98" idx="1"/>
          </p:cNvCxnSpPr>
          <p:nvPr/>
        </p:nvCxnSpPr>
        <p:spPr>
          <a:xfrm>
            <a:off x="5701829" y="6320653"/>
            <a:ext cx="285140" cy="554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77" idx="3"/>
            <a:endCxn id="86" idx="1"/>
          </p:cNvCxnSpPr>
          <p:nvPr/>
        </p:nvCxnSpPr>
        <p:spPr>
          <a:xfrm flipV="1">
            <a:off x="5701829" y="3437884"/>
            <a:ext cx="285140" cy="32974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77" idx="3"/>
            <a:endCxn id="95" idx="1"/>
          </p:cNvCxnSpPr>
          <p:nvPr/>
        </p:nvCxnSpPr>
        <p:spPr>
          <a:xfrm>
            <a:off x="5701829" y="3767633"/>
            <a:ext cx="285140" cy="162375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77" idx="3"/>
            <a:endCxn id="87" idx="1"/>
          </p:cNvCxnSpPr>
          <p:nvPr/>
        </p:nvCxnSpPr>
        <p:spPr>
          <a:xfrm flipV="1">
            <a:off x="5701829" y="3716697"/>
            <a:ext cx="285140" cy="5093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77" idx="3"/>
            <a:endCxn id="94" idx="1"/>
          </p:cNvCxnSpPr>
          <p:nvPr/>
        </p:nvCxnSpPr>
        <p:spPr>
          <a:xfrm>
            <a:off x="5701829" y="3767633"/>
            <a:ext cx="285140" cy="134494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77" idx="3"/>
            <a:endCxn id="93" idx="1"/>
          </p:cNvCxnSpPr>
          <p:nvPr/>
        </p:nvCxnSpPr>
        <p:spPr>
          <a:xfrm>
            <a:off x="5701829" y="3767633"/>
            <a:ext cx="285140" cy="106613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꺾인 연결선 134"/>
          <p:cNvCxnSpPr>
            <a:stCxn id="77" idx="3"/>
            <a:endCxn id="88" idx="1"/>
          </p:cNvCxnSpPr>
          <p:nvPr/>
        </p:nvCxnSpPr>
        <p:spPr>
          <a:xfrm>
            <a:off x="5701829" y="3767633"/>
            <a:ext cx="285140" cy="22787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77" idx="3"/>
            <a:endCxn id="89" idx="1"/>
          </p:cNvCxnSpPr>
          <p:nvPr/>
        </p:nvCxnSpPr>
        <p:spPr>
          <a:xfrm>
            <a:off x="5701829" y="3767633"/>
            <a:ext cx="285140" cy="50669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77" idx="3"/>
            <a:endCxn id="92" idx="1"/>
          </p:cNvCxnSpPr>
          <p:nvPr/>
        </p:nvCxnSpPr>
        <p:spPr>
          <a:xfrm>
            <a:off x="5701829" y="3767633"/>
            <a:ext cx="285140" cy="7873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312882" y="2940875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산업상 이용가능성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①본문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9312882" y="3219688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신규성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①각호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9312882" y="3498501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진보성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②</a:t>
            </a:r>
            <a:r>
              <a:rPr lang="en-US" altLang="ko-KR" sz="1100" dirty="0">
                <a:solidFill>
                  <a:schemeClr val="tx2"/>
                </a:solidFill>
              </a:rPr>
              <a:t>) 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9312882" y="3777314"/>
            <a:ext cx="2493635" cy="2292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확대된 </a:t>
            </a:r>
            <a:r>
              <a:rPr lang="ko-KR" altLang="en-US" sz="1100" dirty="0" err="1">
                <a:solidFill>
                  <a:schemeClr val="tx2"/>
                </a:solidFill>
              </a:rPr>
              <a:t>선출원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29</a:t>
            </a:r>
            <a:r>
              <a:rPr lang="ko-KR" altLang="en-US" sz="1100" dirty="0">
                <a:solidFill>
                  <a:schemeClr val="tx2"/>
                </a:solidFill>
              </a:rPr>
              <a:t>③④⑤⑥⑦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10" name="꺾인 연결선 9"/>
          <p:cNvCxnSpPr>
            <a:stCxn id="86" idx="3"/>
            <a:endCxn id="69" idx="1"/>
          </p:cNvCxnSpPr>
          <p:nvPr/>
        </p:nvCxnSpPr>
        <p:spPr>
          <a:xfrm flipV="1">
            <a:off x="9099169" y="3055524"/>
            <a:ext cx="213713" cy="3823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86" idx="3"/>
            <a:endCxn id="70" idx="1"/>
          </p:cNvCxnSpPr>
          <p:nvPr/>
        </p:nvCxnSpPr>
        <p:spPr>
          <a:xfrm flipV="1">
            <a:off x="9099169" y="3334337"/>
            <a:ext cx="213713" cy="10354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86" idx="3"/>
            <a:endCxn id="71" idx="1"/>
          </p:cNvCxnSpPr>
          <p:nvPr/>
        </p:nvCxnSpPr>
        <p:spPr>
          <a:xfrm>
            <a:off x="9099169" y="3437884"/>
            <a:ext cx="213713" cy="17526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86" idx="3"/>
            <a:endCxn id="73" idx="1"/>
          </p:cNvCxnSpPr>
          <p:nvPr/>
        </p:nvCxnSpPr>
        <p:spPr>
          <a:xfrm>
            <a:off x="9099169" y="3437884"/>
            <a:ext cx="213713" cy="45407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특허법상 협의의 특허요건은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조에서 규정하고 있는 산업상 이용가능성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 및 확대된 선출원을 의미하고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광의의 특허요건은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조에서 규정하고 있는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해당하지 아니한 것을 의미하는데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일반적으로 </a:t>
            </a:r>
            <a:r>
              <a:rPr lang="ko-KR" altLang="en-US" sz="1400" dirty="0" err="1">
                <a:highlight>
                  <a:srgbClr val="FFFF00"/>
                </a:highlight>
              </a:rPr>
              <a:t>특허요건이라</a:t>
            </a:r>
            <a:r>
              <a:rPr lang="ko-KR" altLang="en-US" sz="1400" dirty="0">
                <a:highlight>
                  <a:srgbClr val="FFFF00"/>
                </a:highlight>
              </a:rPr>
              <a:t> 함은 후자를 지칭</a:t>
            </a:r>
            <a:r>
              <a:rPr lang="ko-KR" altLang="en-US" sz="1400" dirty="0">
                <a:solidFill>
                  <a:schemeClr val="tx2"/>
                </a:solidFill>
              </a:rPr>
              <a:t>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96" name="직선 연결선 95"/>
          <p:cNvCxnSpPr/>
          <p:nvPr/>
        </p:nvCxnSpPr>
        <p:spPr>
          <a:xfrm>
            <a:off x="0" y="15170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E71461-B905-09CE-6BED-7A1F5AD0CC99}"/>
              </a:ext>
            </a:extLst>
          </p:cNvPr>
          <p:cNvSpPr/>
          <p:nvPr/>
        </p:nvSpPr>
        <p:spPr>
          <a:xfrm>
            <a:off x="5986969" y="5565257"/>
            <a:ext cx="3112200" cy="2292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just" fontAlgn="base">
              <a:lnSpc>
                <a:spcPct val="130000"/>
              </a:lnSpc>
            </a:pPr>
            <a:r>
              <a:rPr lang="ko-KR" altLang="en-US" sz="1100" dirty="0" err="1">
                <a:solidFill>
                  <a:schemeClr val="tx2"/>
                </a:solidFill>
              </a:rPr>
              <a:t>변경출원의</a:t>
            </a:r>
            <a:r>
              <a:rPr lang="ko-KR" altLang="en-US" sz="1100" dirty="0">
                <a:solidFill>
                  <a:schemeClr val="tx2"/>
                </a:solidFill>
              </a:rPr>
              <a:t> 범위를 벗어난 경우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53①)</a:t>
            </a:r>
          </a:p>
        </p:txBody>
      </p:sp>
      <p:cxnSp>
        <p:nvCxnSpPr>
          <p:cNvPr id="7" name="꺾인 연결선 126">
            <a:extLst>
              <a:ext uri="{FF2B5EF4-FFF2-40B4-BE49-F238E27FC236}">
                <a16:creationId xmlns:a16="http://schemas.microsoft.com/office/drawing/2014/main" id="{8251359D-52BA-6A12-21AD-C2E0C41C527A}"/>
              </a:ext>
            </a:extLst>
          </p:cNvPr>
          <p:cNvCxnSpPr>
            <a:cxnSpLocks/>
            <a:stCxn id="77" idx="3"/>
            <a:endCxn id="6" idx="1"/>
          </p:cNvCxnSpPr>
          <p:nvPr/>
        </p:nvCxnSpPr>
        <p:spPr>
          <a:xfrm>
            <a:off x="5701829" y="3767633"/>
            <a:ext cx="285140" cy="191227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92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1657610" y="1031403"/>
            <a:ext cx="4707334" cy="206399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sz="28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96595" y="4038068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기술적 사상 </a:t>
            </a:r>
            <a:r>
              <a:rPr lang="en-US" altLang="ko-KR" dirty="0"/>
              <a:t>vs </a:t>
            </a:r>
            <a:r>
              <a:rPr lang="ko-KR" altLang="en-US" dirty="0"/>
              <a:t>이용가능성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54</a:t>
            </a:fld>
            <a:endParaRPr lang="ko-KR" altLang="en-US"/>
          </a:p>
        </p:txBody>
      </p:sp>
      <p:cxnSp>
        <p:nvCxnSpPr>
          <p:cNvPr id="46" name="직선 연결선 45"/>
          <p:cNvCxnSpPr/>
          <p:nvPr/>
        </p:nvCxnSpPr>
        <p:spPr>
          <a:xfrm>
            <a:off x="0" y="323826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2227129" y="3821619"/>
            <a:ext cx="1143434" cy="432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사상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착상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4471731" y="3821619"/>
            <a:ext cx="1143434" cy="4328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기술적 사상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624255" y="3821619"/>
            <a:ext cx="1143434" cy="43289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기술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구현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10116315" y="3821619"/>
            <a:ext cx="1563496" cy="432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</a:rPr>
              <a:t>발명의 </a:t>
            </a:r>
            <a:r>
              <a:rPr lang="ko-KR" altLang="en-US" sz="1600" dirty="0" err="1">
                <a:solidFill>
                  <a:schemeClr val="tx2">
                    <a:lumMod val="50000"/>
                  </a:schemeClr>
                </a:solidFill>
              </a:rPr>
              <a:t>완성과정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718840" y="3439283"/>
            <a:ext cx="848413" cy="4713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2">
                    <a:lumMod val="10000"/>
                  </a:schemeClr>
                </a:solidFill>
              </a:rPr>
              <a:t>추상적</a:t>
            </a:r>
          </a:p>
        </p:txBody>
      </p:sp>
      <p:sp>
        <p:nvSpPr>
          <p:cNvPr id="19" name="타원 18"/>
          <p:cNvSpPr/>
          <p:nvPr/>
        </p:nvSpPr>
        <p:spPr>
          <a:xfrm>
            <a:off x="8974738" y="3439283"/>
            <a:ext cx="848413" cy="4713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2">
                    <a:lumMod val="10000"/>
                  </a:schemeClr>
                </a:solidFill>
              </a:rPr>
              <a:t>구체적</a:t>
            </a:r>
          </a:p>
        </p:txBody>
      </p:sp>
      <p:cxnSp>
        <p:nvCxnSpPr>
          <p:cNvPr id="20" name="직선 연결선 19"/>
          <p:cNvCxnSpPr/>
          <p:nvPr/>
        </p:nvCxnSpPr>
        <p:spPr>
          <a:xfrm flipH="1">
            <a:off x="3956837" y="43895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633671" y="3714902"/>
            <a:ext cx="64633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3600" dirty="0">
                <a:solidFill>
                  <a:schemeClr val="tx2"/>
                </a:solidFill>
              </a:rPr>
              <a:t>❶</a:t>
            </a:r>
            <a:endParaRPr lang="ko-KR" altLang="en-US" sz="3600" dirty="0"/>
          </a:p>
        </p:txBody>
      </p:sp>
      <p:sp>
        <p:nvSpPr>
          <p:cNvPr id="26" name="TextBox 25"/>
          <p:cNvSpPr txBox="1"/>
          <p:nvPr/>
        </p:nvSpPr>
        <p:spPr>
          <a:xfrm>
            <a:off x="3352684" y="4766885"/>
            <a:ext cx="1241045" cy="53860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  <a:endParaRPr lang="en-US" altLang="ko-KR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수지상 세포 사건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cxnSp>
        <p:nvCxnSpPr>
          <p:cNvPr id="29" name="직선 연결선 28"/>
          <p:cNvCxnSpPr/>
          <p:nvPr/>
        </p:nvCxnSpPr>
        <p:spPr>
          <a:xfrm flipH="1">
            <a:off x="6151985" y="43895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828819" y="3714902"/>
            <a:ext cx="64633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3600" dirty="0">
                <a:solidFill>
                  <a:schemeClr val="tx2"/>
                </a:solidFill>
              </a:rPr>
              <a:t>❷</a:t>
            </a:r>
            <a:endParaRPr lang="ko-KR" altLang="en-US" sz="3600" dirty="0"/>
          </a:p>
        </p:txBody>
      </p:sp>
      <p:sp>
        <p:nvSpPr>
          <p:cNvPr id="31" name="TextBox 30"/>
          <p:cNvSpPr txBox="1"/>
          <p:nvPr/>
        </p:nvSpPr>
        <p:spPr>
          <a:xfrm>
            <a:off x="5648652" y="4766885"/>
            <a:ext cx="10182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cxnSp>
        <p:nvCxnSpPr>
          <p:cNvPr id="32" name="직선 연결선 31"/>
          <p:cNvCxnSpPr/>
          <p:nvPr/>
        </p:nvCxnSpPr>
        <p:spPr>
          <a:xfrm flipH="1">
            <a:off x="8328737" y="43895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8005571" y="3714902"/>
            <a:ext cx="64633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3600" dirty="0">
                <a:solidFill>
                  <a:schemeClr val="tx2"/>
                </a:solidFill>
              </a:rPr>
              <a:t>❸</a:t>
            </a:r>
            <a:endParaRPr lang="ko-KR" alt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7825404" y="4766885"/>
            <a:ext cx="10182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sp>
        <p:nvSpPr>
          <p:cNvPr id="35" name="직사각형 34"/>
          <p:cNvSpPr/>
          <p:nvPr/>
        </p:nvSpPr>
        <p:spPr bwMode="auto">
          <a:xfrm>
            <a:off x="348791" y="5760839"/>
            <a:ext cx="11519555" cy="975339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r>
              <a:rPr lang="ko-KR" altLang="en-US" sz="1200" dirty="0"/>
              <a:t>특허출원발명의 </a:t>
            </a:r>
            <a:r>
              <a:rPr lang="ko-KR" altLang="en-US" sz="1200" dirty="0">
                <a:solidFill>
                  <a:srgbClr val="FF0000"/>
                </a:solidFill>
              </a:rPr>
              <a:t>출원일 당시 </a:t>
            </a:r>
            <a:r>
              <a:rPr lang="ko-KR" altLang="en-US" sz="1200" dirty="0"/>
              <a:t>수지상 세포는 혈액 </a:t>
            </a:r>
            <a:r>
              <a:rPr lang="ko-KR" altLang="en-US" sz="1200" dirty="0" err="1"/>
              <a:t>단핵세포의</a:t>
            </a:r>
            <a:r>
              <a:rPr lang="ko-KR" altLang="en-US" sz="1200" dirty="0"/>
              <a:t> </a:t>
            </a:r>
            <a:r>
              <a:rPr lang="en-US" altLang="ko-KR" sz="1200" dirty="0"/>
              <a:t>0.5% </a:t>
            </a:r>
            <a:r>
              <a:rPr lang="ko-KR" altLang="en-US" sz="1200" dirty="0"/>
              <a:t>미만으로 존재하고 분리된 후에는 수일 내로 사멸하기 때문에 연구하기가 쉽지 아니하여 혈액으로부터 충분한 양의 수지상 세포를 분리해 내는 것은 기술적으로 쉽지 않고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출원일 이후 </a:t>
            </a:r>
            <a:r>
              <a:rPr lang="ko-KR" altLang="en-US" sz="1200" dirty="0"/>
              <a:t>기술의 발전에 따라 사람의 혈액으로부터 수지상 세포를 추출하고 이를 이용하여 면역반응을 유발시키는 기술이 임상적으로 실시되고 있다는 것이므로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결국 출원발명의 출원일 당시를 기준으로 수지상 세포를 사람의 혈액으로부터 분리하여 </a:t>
            </a:r>
            <a:r>
              <a:rPr lang="ko-KR" altLang="en-US" sz="1200" dirty="0" err="1"/>
              <a:t>출원발명에</a:t>
            </a:r>
            <a:r>
              <a:rPr lang="ko-KR" altLang="en-US" sz="1200" dirty="0"/>
              <a:t> 사용하는 기술이 장래에 산업상 이용가능성이 있다고 보기는 어렵다</a:t>
            </a:r>
            <a:r>
              <a:rPr lang="en-US" altLang="ko-KR" sz="1200" dirty="0"/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 bwMode="auto">
          <a:xfrm>
            <a:off x="348791" y="5470524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 </a:t>
            </a:r>
            <a:r>
              <a:rPr lang="en-US" altLang="ko-KR" sz="1200" dirty="0"/>
              <a:t>2003. 3. 14.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2001</a:t>
            </a:r>
            <a:r>
              <a:rPr lang="ko-KR" altLang="en-US" sz="1200" dirty="0"/>
              <a:t>후</a:t>
            </a:r>
            <a:r>
              <a:rPr lang="en-US" altLang="ko-KR" sz="1200" dirty="0"/>
              <a:t>2801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 err="1"/>
              <a:t>거절사정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247191" y="1031403"/>
            <a:ext cx="1360786" cy="207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800" dirty="0"/>
              <a:t>제</a:t>
            </a:r>
            <a:r>
              <a:rPr lang="en-US" altLang="ko-KR" sz="2800" dirty="0"/>
              <a:t>29</a:t>
            </a:r>
            <a:r>
              <a:rPr lang="ko-KR" altLang="en-US" sz="2800" dirty="0"/>
              <a:t>조</a:t>
            </a:r>
            <a:endParaRPr lang="en-US" altLang="ko-KR" sz="2800" dirty="0"/>
          </a:p>
          <a:p>
            <a:pPr algn="ctr"/>
            <a:r>
              <a:rPr lang="ko-KR" altLang="en-US" sz="2800" dirty="0"/>
              <a:t>제</a:t>
            </a:r>
            <a:r>
              <a:rPr lang="en-US" altLang="ko-KR" sz="2800" dirty="0"/>
              <a:t>1</a:t>
            </a:r>
            <a:r>
              <a:rPr lang="ko-KR" altLang="en-US" sz="2800" dirty="0"/>
              <a:t>항</a:t>
            </a:r>
            <a:endParaRPr lang="en-US" altLang="ko-KR" sz="2800" dirty="0"/>
          </a:p>
          <a:p>
            <a:pPr algn="ctr"/>
            <a:r>
              <a:rPr lang="ko-KR" altLang="en-US" sz="2800" dirty="0"/>
              <a:t>본문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9351" y="1124469"/>
            <a:ext cx="4233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산업상 이용할 수 있는 발명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2101299" y="1647689"/>
            <a:ext cx="309282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5334036" y="1647689"/>
            <a:ext cx="6621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38955" y="2001026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협의</a:t>
            </a:r>
            <a:r>
              <a:rPr lang="en-US" altLang="ko-KR" dirty="0"/>
              <a:t>) </a:t>
            </a:r>
            <a:r>
              <a:rPr lang="ko-KR" altLang="en-US" dirty="0"/>
              <a:t>산업상 이용가능성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2068" y="2001026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발명의 </a:t>
            </a:r>
            <a:r>
              <a:rPr lang="ko-KR" altLang="en-US" dirty="0" err="1"/>
              <a:t>성립성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69544" y="200102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982354" y="2672128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광의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산업상 이용가능성</a:t>
            </a:r>
          </a:p>
        </p:txBody>
      </p:sp>
      <p:cxnSp>
        <p:nvCxnSpPr>
          <p:cNvPr id="28" name="꺾인 연결선 27"/>
          <p:cNvCxnSpPr>
            <a:stCxn id="13" idx="2"/>
            <a:endCxn id="39" idx="0"/>
          </p:cNvCxnSpPr>
          <p:nvPr/>
        </p:nvCxnSpPr>
        <p:spPr>
          <a:xfrm rot="16200000" flipH="1">
            <a:off x="3535118" y="1949543"/>
            <a:ext cx="301770" cy="114339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8" idx="2"/>
            <a:endCxn id="39" idx="0"/>
          </p:cNvCxnSpPr>
          <p:nvPr/>
        </p:nvCxnSpPr>
        <p:spPr>
          <a:xfrm rot="5400000">
            <a:off x="4698783" y="1929279"/>
            <a:ext cx="301770" cy="11839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85219"/>
              </p:ext>
            </p:extLst>
          </p:nvPr>
        </p:nvGraphicFramePr>
        <p:xfrm>
          <a:off x="6476785" y="1031403"/>
          <a:ext cx="5491186" cy="2084716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2745593">
                  <a:extLst>
                    <a:ext uri="{9D8B030D-6E8A-4147-A177-3AD203B41FA5}">
                      <a16:colId xmlns:a16="http://schemas.microsoft.com/office/drawing/2014/main" val="734753533"/>
                    </a:ext>
                  </a:extLst>
                </a:gridCol>
                <a:gridCol w="2745593">
                  <a:extLst>
                    <a:ext uri="{9D8B030D-6E8A-4147-A177-3AD203B41FA5}">
                      <a16:colId xmlns:a16="http://schemas.microsoft.com/office/drawing/2014/main" val="3868350455"/>
                    </a:ext>
                  </a:extLst>
                </a:gridCol>
              </a:tblGrid>
              <a:tr h="383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발명의 </a:t>
                      </a:r>
                      <a:r>
                        <a:rPr lang="ko-KR" altLang="en-US" dirty="0" err="1"/>
                        <a:t>성립성의</a:t>
                      </a:r>
                      <a:r>
                        <a:rPr lang="ko-KR" altLang="en-US" dirty="0"/>
                        <a:t> 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산업상 이용가능성의 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754866"/>
                  </a:ext>
                </a:extLst>
              </a:tr>
              <a:tr h="6616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발명의 기술적 사상이면 되지 꼭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기술이어야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하는 것은 아니다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발명이 즉시 이용되어야 하는 것은 아니며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장래에 이용될 가능성만 있으면 된다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226398"/>
                  </a:ext>
                </a:extLst>
              </a:tr>
              <a:tr h="10397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발명의 기술적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사상이어야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하며 사상이어서는 안된다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발명의 산업적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실시화가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장래에 있어도 좋다는 의미일 뿐 장래 관련 기술의 발전에 따라 기술적으로 보완되어 장래에 비로소 산업상 이용가능성이 생겨나는 경우까지 포함하는 것은 아니다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28338"/>
                  </a:ext>
                </a:extLst>
              </a:tr>
            </a:tbl>
          </a:graphicData>
        </a:graphic>
      </p:graphicFrame>
      <p:cxnSp>
        <p:nvCxnSpPr>
          <p:cNvPr id="54" name="꺾인 연결선 53"/>
          <p:cNvCxnSpPr>
            <a:stCxn id="25" idx="2"/>
            <a:endCxn id="13" idx="0"/>
          </p:cNvCxnSpPr>
          <p:nvPr/>
        </p:nvCxnSpPr>
        <p:spPr>
          <a:xfrm rot="5400000">
            <a:off x="3418647" y="1343347"/>
            <a:ext cx="353337" cy="96202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endCxn id="38" idx="0"/>
          </p:cNvCxnSpPr>
          <p:nvPr/>
        </p:nvCxnSpPr>
        <p:spPr>
          <a:xfrm rot="5400000">
            <a:off x="5351731" y="1737591"/>
            <a:ext cx="353337" cy="17353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97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의료업의 판단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55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0C1CB4B-F913-4E0A-B584-60EEAF7AB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506326"/>
              </p:ext>
            </p:extLst>
          </p:nvPr>
        </p:nvGraphicFramePr>
        <p:xfrm>
          <a:off x="1336391" y="2822022"/>
          <a:ext cx="9609517" cy="2253135"/>
        </p:xfrm>
        <a:graphic>
          <a:graphicData uri="http://schemas.openxmlformats.org/drawingml/2006/table">
            <a:tbl>
              <a:tblPr/>
              <a:tblGrid>
                <a:gridCol w="3067438">
                  <a:extLst>
                    <a:ext uri="{9D8B030D-6E8A-4147-A177-3AD203B41FA5}">
                      <a16:colId xmlns:a16="http://schemas.microsoft.com/office/drawing/2014/main" val="3467885255"/>
                    </a:ext>
                  </a:extLst>
                </a:gridCol>
                <a:gridCol w="1321246">
                  <a:extLst>
                    <a:ext uri="{9D8B030D-6E8A-4147-A177-3AD203B41FA5}">
                      <a16:colId xmlns:a16="http://schemas.microsoft.com/office/drawing/2014/main" val="2176955321"/>
                    </a:ext>
                  </a:extLst>
                </a:gridCol>
                <a:gridCol w="1017561">
                  <a:extLst>
                    <a:ext uri="{9D8B030D-6E8A-4147-A177-3AD203B41FA5}">
                      <a16:colId xmlns:a16="http://schemas.microsoft.com/office/drawing/2014/main" val="3839028592"/>
                    </a:ext>
                  </a:extLst>
                </a:gridCol>
                <a:gridCol w="4203272">
                  <a:extLst>
                    <a:ext uri="{9D8B030D-6E8A-4147-A177-3AD203B41FA5}">
                      <a16:colId xmlns:a16="http://schemas.microsoft.com/office/drawing/2014/main" val="4260659783"/>
                    </a:ext>
                  </a:extLst>
                </a:gridCol>
              </a:tblGrid>
              <a:tr h="4595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산업상 이용가능성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의료업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비의료업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 여부는 별개</a:t>
                      </a:r>
                      <a:r>
                        <a:rPr lang="en-US" altLang="ko-KR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115365"/>
                  </a:ext>
                </a:extLst>
              </a:tr>
              <a:tr h="8967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인체를 직접적인 구성요소로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하는 경우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 발명을 실행할 때 필연적으로 신체를 손상하거나 신체의 자유를 비인도적으로 구속하는 경우 </a:t>
                      </a:r>
                      <a:r>
                        <a:rPr lang="ko-KR" altLang="en-US" sz="16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불특허발명에</a:t>
                      </a:r>
                      <a:r>
                        <a:rPr lang="ko-KR" altLang="en-US" sz="16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해당 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422285"/>
                  </a:ext>
                </a:extLst>
              </a:tr>
              <a:tr h="8967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인체를 직접적인 구성요소로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하지 아니하는 경우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393845"/>
                  </a:ext>
                </a:extLst>
              </a:tr>
            </a:tbl>
          </a:graphicData>
        </a:graphic>
      </p:graphicFrame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84C0FC24-0E75-4BB3-B807-D236B423746B}"/>
              </a:ext>
            </a:extLst>
          </p:cNvPr>
          <p:cNvSpPr/>
          <p:nvPr/>
        </p:nvSpPr>
        <p:spPr>
          <a:xfrm>
            <a:off x="232473" y="1596306"/>
            <a:ext cx="4819973" cy="1071256"/>
          </a:xfrm>
          <a:prstGeom prst="wedgeRoundRectCallout">
            <a:avLst>
              <a:gd name="adj1" fmla="val 40438"/>
              <a:gd name="adj2" fmla="val 143910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인간을 대상으로 하는 수술방법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치료방법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진단방법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혈액투석방법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온구기를 사용하여 사람의 등 부위의 경혈과 배 부위의 경혈을 자극하는 방법</a:t>
            </a:r>
          </a:p>
        </p:txBody>
      </p:sp>
      <p:sp>
        <p:nvSpPr>
          <p:cNvPr id="43" name="말풍선: 모서리가 둥근 사각형 42">
            <a:extLst>
              <a:ext uri="{FF2B5EF4-FFF2-40B4-BE49-F238E27FC236}">
                <a16:creationId xmlns:a16="http://schemas.microsoft.com/office/drawing/2014/main" id="{2AB76D06-146A-4336-9D4A-68A594A8950C}"/>
              </a:ext>
            </a:extLst>
          </p:cNvPr>
          <p:cNvSpPr/>
          <p:nvPr/>
        </p:nvSpPr>
        <p:spPr>
          <a:xfrm>
            <a:off x="495945" y="5218983"/>
            <a:ext cx="11353874" cy="1518205"/>
          </a:xfrm>
          <a:prstGeom prst="wedgeRoundRectCallout">
            <a:avLst>
              <a:gd name="adj1" fmla="val -9715"/>
              <a:gd name="adj2" fmla="val -75934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사람으로부터 자연적으로 배출된 것</a:t>
            </a:r>
            <a:r>
              <a:rPr lang="en-US" altLang="ko-KR" sz="1200" dirty="0">
                <a:solidFill>
                  <a:schemeClr val="tx2"/>
                </a:solidFill>
              </a:rPr>
              <a:t>/</a:t>
            </a:r>
            <a:r>
              <a:rPr lang="ko-KR" altLang="en-US" sz="1200" dirty="0">
                <a:solidFill>
                  <a:schemeClr val="tx2"/>
                </a:solidFill>
              </a:rPr>
              <a:t>채취된 것을 처리하는 방법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인체를 직접적인 구성요소로 하지 아니한 의료행위에 사용하는 </a:t>
            </a:r>
            <a:r>
              <a:rPr lang="ko-KR" altLang="en-US" sz="1200" dirty="0" err="1">
                <a:solidFill>
                  <a:schemeClr val="tx2"/>
                </a:solidFill>
              </a:rPr>
              <a:t>의료기기ㆍ장치</a:t>
            </a:r>
            <a:r>
              <a:rPr lang="ko-KR" altLang="en-US" sz="1200" dirty="0">
                <a:solidFill>
                  <a:schemeClr val="tx2"/>
                </a:solidFill>
              </a:rPr>
              <a:t> 및 의약품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혈액투석장치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사람의 등과 배 부위의 경혈을 자극하는 </a:t>
            </a:r>
            <a:r>
              <a:rPr lang="ko-KR" altLang="en-US" sz="1200" dirty="0" err="1">
                <a:solidFill>
                  <a:schemeClr val="tx2"/>
                </a:solidFill>
              </a:rPr>
              <a:t>온구기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인간 이외의 동물에 한정함을 청구범위에 명시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진단방법이라고 할지라도 의사의 임상적 판단을 포함하지 아니한 경우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의료기기의 작동방법 또는 의료기기를 이용한 측정방법 발명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그 구성에 인체와 의료기기 간의 상호작용이 인체에 직접적이면서 일시적이 아닌 영향을 주는 경우 또는 실질적인 의료행위를 포함하는 경우를 제외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6AE6840E-7749-4246-B581-34A55EE4B57F}"/>
              </a:ext>
            </a:extLst>
          </p:cNvPr>
          <p:cNvSpPr/>
          <p:nvPr/>
        </p:nvSpPr>
        <p:spPr>
          <a:xfrm>
            <a:off x="8704053" y="2218110"/>
            <a:ext cx="2125312" cy="449451"/>
          </a:xfrm>
          <a:prstGeom prst="wedgeRoundRectCallout">
            <a:avLst>
              <a:gd name="adj1" fmla="val -150509"/>
              <a:gd name="adj2" fmla="val 287955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2"/>
                </a:solidFill>
              </a:rPr>
              <a:t>모발의 웨이브방법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3CF8121-668C-446B-A262-730354446CF2}"/>
              </a:ext>
            </a:extLst>
          </p:cNvPr>
          <p:cNvSpPr/>
          <p:nvPr/>
        </p:nvSpPr>
        <p:spPr>
          <a:xfrm>
            <a:off x="4701397" y="2811388"/>
            <a:ext cx="2044460" cy="509782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329E31-DEC5-4EAF-9148-ADB98F099D6C}"/>
              </a:ext>
            </a:extLst>
          </p:cNvPr>
          <p:cNvSpPr/>
          <p:nvPr/>
        </p:nvSpPr>
        <p:spPr>
          <a:xfrm>
            <a:off x="5555411" y="1068035"/>
            <a:ext cx="1423361" cy="6037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치료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 err="1">
                <a:solidFill>
                  <a:srgbClr val="FF0000"/>
                </a:solidFill>
              </a:rPr>
              <a:t>비치료</a:t>
            </a:r>
            <a:r>
              <a:rPr lang="ko-KR" altLang="en-US" sz="1200" dirty="0">
                <a:solidFill>
                  <a:srgbClr val="FF0000"/>
                </a:solidFill>
              </a:rPr>
              <a:t> 효과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혼재된 경우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CA518BD-6F6C-4318-8A57-7E0AE9655D78}"/>
              </a:ext>
            </a:extLst>
          </p:cNvPr>
          <p:cNvCxnSpPr>
            <a:cxnSpLocks/>
            <a:stCxn id="2" idx="0"/>
            <a:endCxn id="6" idx="2"/>
          </p:cNvCxnSpPr>
          <p:nvPr/>
        </p:nvCxnSpPr>
        <p:spPr>
          <a:xfrm rot="5400000" flipH="1" flipV="1">
            <a:off x="5425578" y="1969875"/>
            <a:ext cx="1139562" cy="543465"/>
          </a:xfrm>
          <a:prstGeom prst="bentConnector3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D28216-58E4-456D-BEB2-D8982A631F48}"/>
              </a:ext>
            </a:extLst>
          </p:cNvPr>
          <p:cNvSpPr/>
          <p:nvPr/>
        </p:nvSpPr>
        <p:spPr>
          <a:xfrm>
            <a:off x="7146987" y="1596305"/>
            <a:ext cx="4826477" cy="35368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그렇지 아니하면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산업상 이용가능성 불인정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2B8B56-098C-4B24-AC23-5CF608CE818C}"/>
              </a:ext>
            </a:extLst>
          </p:cNvPr>
          <p:cNvSpPr/>
          <p:nvPr/>
        </p:nvSpPr>
        <p:spPr>
          <a:xfrm>
            <a:off x="7146987" y="915196"/>
            <a:ext cx="4826477" cy="60379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F0000"/>
                </a:solidFill>
              </a:rPr>
              <a:t>① 분리가능 </a:t>
            </a:r>
            <a:r>
              <a:rPr lang="en-US" altLang="ko-KR" sz="1200">
                <a:solidFill>
                  <a:srgbClr val="FF0000"/>
                </a:solidFill>
              </a:rPr>
              <a:t>&amp; </a:t>
            </a:r>
            <a:r>
              <a:rPr lang="en-US" altLang="ko-KR" sz="1200" dirty="0">
                <a:solidFill>
                  <a:srgbClr val="FF0000"/>
                </a:solidFill>
              </a:rPr>
              <a:t>② </a:t>
            </a:r>
            <a:r>
              <a:rPr lang="ko-KR" altLang="en-US" sz="1200" dirty="0">
                <a:solidFill>
                  <a:srgbClr val="FF0000"/>
                </a:solidFill>
              </a:rPr>
              <a:t>청구항이 비치료적 용도 한정 </a:t>
            </a:r>
            <a:r>
              <a:rPr lang="en-US" altLang="ko-KR" sz="1200" dirty="0">
                <a:solidFill>
                  <a:srgbClr val="FF0000"/>
                </a:solidFill>
              </a:rPr>
              <a:t>&amp; ③ </a:t>
            </a:r>
            <a:r>
              <a:rPr lang="ko-KR" altLang="en-US" sz="1200" dirty="0">
                <a:solidFill>
                  <a:srgbClr val="FF0000"/>
                </a:solidFill>
              </a:rPr>
              <a:t>치료 효과가 </a:t>
            </a:r>
            <a:r>
              <a:rPr lang="ko-KR" altLang="en-US" sz="1200" dirty="0" err="1">
                <a:solidFill>
                  <a:srgbClr val="FF0000"/>
                </a:solidFill>
              </a:rPr>
              <a:t>비치료</a:t>
            </a:r>
            <a:r>
              <a:rPr lang="ko-KR" altLang="en-US" sz="1200" dirty="0">
                <a:solidFill>
                  <a:srgbClr val="FF0000"/>
                </a:solidFill>
              </a:rPr>
              <a:t> 효과를 달성하기 위한 과정에서 부수적인 효과인 경우 산업상 이용가능성 인정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DB5241E-0AD9-45C3-B6DC-39CD4EB1D3B2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6978772" y="1369931"/>
            <a:ext cx="168215" cy="4032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C70ECFC-BE1A-4C5E-9414-10FCFB1AD7D9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6978772" y="1217092"/>
            <a:ext cx="168215" cy="1528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A7E2491E-BE75-BE8D-75BD-5E7328079DAD}"/>
              </a:ext>
            </a:extLst>
          </p:cNvPr>
          <p:cNvSpPr/>
          <p:nvPr/>
        </p:nvSpPr>
        <p:spPr>
          <a:xfrm>
            <a:off x="1303572" y="1005712"/>
            <a:ext cx="3895999" cy="364220"/>
          </a:xfrm>
          <a:prstGeom prst="wedgeRoundRectCallout">
            <a:avLst>
              <a:gd name="adj1" fmla="val 58117"/>
              <a:gd name="adj2" fmla="val 30536"/>
              <a:gd name="adj3" fmla="val 16667"/>
            </a:avLst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오케스트라 연주기법에 의한 피부미용법</a:t>
            </a:r>
          </a:p>
        </p:txBody>
      </p:sp>
    </p:spTree>
    <p:extLst>
      <p:ext uri="{BB962C8B-B14F-4D97-AF65-F5344CB8AC3E}">
        <p14:creationId xmlns:p14="http://schemas.microsoft.com/office/powerpoint/2010/main" val="305717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화살표 연결선 5"/>
          <p:cNvCxnSpPr>
            <a:stCxn id="72" idx="3"/>
            <a:endCxn id="67" idx="1"/>
          </p:cNvCxnSpPr>
          <p:nvPr/>
        </p:nvCxnSpPr>
        <p:spPr>
          <a:xfrm>
            <a:off x="4286900" y="4011751"/>
            <a:ext cx="4618004" cy="43180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1612900" y="2777122"/>
            <a:ext cx="7797800" cy="664577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신규성의 개념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1595095" y="3466568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8016544" y="3250119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/>
          <p:cNvCxnSpPr/>
          <p:nvPr/>
        </p:nvCxnSpPr>
        <p:spPr>
          <a:xfrm flipH="1">
            <a:off x="9408237" y="3818012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904904" y="4258885"/>
            <a:ext cx="10182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2802" y="3751758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39655" y="3751758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8237" y="3751758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14</a:t>
            </a:r>
            <a:r>
              <a:rPr lang="ko-KR" altLang="en-US" sz="1400" dirty="0"/>
              <a:t>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14225" y="2391196"/>
            <a:ext cx="12907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 전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3438314" y="3520063"/>
            <a:ext cx="1" cy="8102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579381" y="3827085"/>
            <a:ext cx="17075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국내외 </a:t>
            </a:r>
            <a:r>
              <a:rPr lang="ko-KR" altLang="en-US" dirty="0" err="1"/>
              <a:t>공지기술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428380" y="2476500"/>
            <a:ext cx="2032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712540" y="4565280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공지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12540" y="4994567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 err="1"/>
              <a:t>공연실시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3712540" y="5397087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반포된 간행물 게재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2540" y="5826374"/>
            <a:ext cx="28944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/>
              <a:t>전기통신회선을 통하여 공중 이용가능</a:t>
            </a:r>
            <a:endParaRPr lang="ko-KR" altLang="en-US" sz="1400" dirty="0"/>
          </a:p>
        </p:txBody>
      </p:sp>
      <p:cxnSp>
        <p:nvCxnSpPr>
          <p:cNvPr id="23" name="꺾인 연결선 22"/>
          <p:cNvCxnSpPr>
            <a:stCxn id="72" idx="2"/>
            <a:endCxn id="76" idx="1"/>
          </p:cNvCxnSpPr>
          <p:nvPr/>
        </p:nvCxnSpPr>
        <p:spPr>
          <a:xfrm rot="16200000" flipH="1">
            <a:off x="2665529" y="4964028"/>
            <a:ext cx="1814623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72" idx="2"/>
            <a:endCxn id="73" idx="1"/>
          </p:cNvCxnSpPr>
          <p:nvPr/>
        </p:nvCxnSpPr>
        <p:spPr>
          <a:xfrm rot="16200000" flipH="1">
            <a:off x="3296076" y="4333481"/>
            <a:ext cx="553529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72" idx="2"/>
            <a:endCxn id="74" idx="1"/>
          </p:cNvCxnSpPr>
          <p:nvPr/>
        </p:nvCxnSpPr>
        <p:spPr>
          <a:xfrm rot="16200000" flipH="1">
            <a:off x="3081432" y="4548125"/>
            <a:ext cx="98281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72" idx="2"/>
            <a:endCxn id="75" idx="1"/>
          </p:cNvCxnSpPr>
          <p:nvPr/>
        </p:nvCxnSpPr>
        <p:spPr>
          <a:xfrm rot="16200000" flipH="1">
            <a:off x="2880172" y="4749385"/>
            <a:ext cx="138533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산업상 이용할 수 있는 </a:t>
            </a:r>
            <a:r>
              <a:rPr lang="ko-KR" altLang="en-US" sz="1400" dirty="0" err="1">
                <a:solidFill>
                  <a:schemeClr val="tx2"/>
                </a:solidFill>
              </a:rPr>
              <a:t>발명으로서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어느 하나에 해당하는 것을 제외하고는 그 발명에 대하여 특허를 받을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특허출원 전에 국내 또는 국외에서 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公知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되었거나 공연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公然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히 실시된 발명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특허출원 전에 국내 또는 국외에서 반포된 간행물에 게재되었거나 전기통신회선을 통하여 공중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公衆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이용할 수 있는 발명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456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042295" y="3871770"/>
            <a:ext cx="132440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동일성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객관적 </a:t>
            </a:r>
            <a:r>
              <a:rPr lang="ko-KR" altLang="en-US" sz="1400" dirty="0" err="1"/>
              <a:t>창작성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84BD2-1575-8450-B9EA-225AA57E0B98}"/>
              </a:ext>
            </a:extLst>
          </p:cNvPr>
          <p:cNvSpPr txBox="1"/>
          <p:nvPr/>
        </p:nvSpPr>
        <p:spPr>
          <a:xfrm>
            <a:off x="8992097" y="4648900"/>
            <a:ext cx="83227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청구범위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청구항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심사실무상</a:t>
            </a:r>
            <a:r>
              <a:rPr lang="ko-KR" altLang="en-US" dirty="0"/>
              <a:t> 간행물 </a:t>
            </a:r>
            <a:r>
              <a:rPr lang="ko-KR" altLang="en-US" dirty="0" err="1"/>
              <a:t>반포시기의</a:t>
            </a:r>
            <a:r>
              <a:rPr lang="ko-KR" altLang="en-US" dirty="0"/>
              <a:t> 결정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간행물의 발행시기가 기재되어 있지 아니한 경우에는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외국간행물로서 국내에 입수된 시기가 분명한 때에는 그 입수된 시기로부터 </a:t>
            </a:r>
            <a:r>
              <a:rPr lang="ko-KR" altLang="en-US" sz="1400" dirty="0" err="1">
                <a:solidFill>
                  <a:schemeClr val="tx2"/>
                </a:solidFill>
              </a:rPr>
              <a:t>발행국에서</a:t>
            </a:r>
            <a:r>
              <a:rPr lang="ko-KR" altLang="en-US" sz="1400" dirty="0">
                <a:solidFill>
                  <a:schemeClr val="tx2"/>
                </a:solidFill>
              </a:rPr>
              <a:t> 국내에 입수되는데 소요되는 통상의 기간을 소급한 시기에 반포된 것으로 추정하고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해당 간행물에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서평ㆍ발췌</a:t>
            </a:r>
            <a:r>
              <a:rPr lang="ko-KR" altLang="en-US" sz="1400" dirty="0">
                <a:solidFill>
                  <a:schemeClr val="tx2"/>
                </a:solidFill>
              </a:rPr>
              <a:t> 카탈로그 등을 게재한 간행물이 있으면 그 발행시기로부터 해당 간행물의 </a:t>
            </a:r>
            <a:r>
              <a:rPr lang="ko-KR" altLang="en-US" sz="1400" dirty="0" err="1">
                <a:solidFill>
                  <a:schemeClr val="tx2"/>
                </a:solidFill>
              </a:rPr>
              <a:t>반포시기를</a:t>
            </a:r>
            <a:r>
              <a:rPr lang="ko-KR" altLang="en-US" sz="1400" dirty="0">
                <a:solidFill>
                  <a:schemeClr val="tx2"/>
                </a:solidFill>
              </a:rPr>
              <a:t> 추정하며</a:t>
            </a:r>
            <a:r>
              <a:rPr lang="en-US" altLang="ko-KR" sz="1400" dirty="0">
                <a:solidFill>
                  <a:schemeClr val="tx2"/>
                </a:solidFill>
              </a:rPr>
              <a:t>, ⅲ) </a:t>
            </a:r>
            <a:r>
              <a:rPr lang="ko-KR" altLang="en-US" sz="1400" dirty="0">
                <a:solidFill>
                  <a:schemeClr val="tx2"/>
                </a:solidFill>
              </a:rPr>
              <a:t>해당 간행물에 관하여 중판 또는 재판 등이 있고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여기에 초판의 발행시기가 기재되어 있을 때에는 그 초판의 발행일을 </a:t>
            </a:r>
            <a:r>
              <a:rPr lang="ko-KR" altLang="en-US" sz="1400" dirty="0" err="1">
                <a:solidFill>
                  <a:schemeClr val="tx2"/>
                </a:solidFill>
              </a:rPr>
              <a:t>반포시기로</a:t>
            </a:r>
            <a:r>
              <a:rPr lang="ko-KR" altLang="en-US" sz="1400" dirty="0">
                <a:solidFill>
                  <a:schemeClr val="tx2"/>
                </a:solidFill>
              </a:rPr>
              <a:t> 추정한다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재판의 경우에는 재판과 초판의 인용하는 부분의 내용이 상호 일치할 것을 전제로 한다</a:t>
            </a:r>
            <a:r>
              <a:rPr lang="en-US" altLang="ko-KR" sz="1400" dirty="0">
                <a:solidFill>
                  <a:schemeClr val="tx2"/>
                </a:solidFill>
              </a:rPr>
              <a:t>. ⅳ) </a:t>
            </a:r>
            <a:r>
              <a:rPr lang="ko-KR" altLang="en-US" sz="1400" dirty="0">
                <a:solidFill>
                  <a:schemeClr val="tx2"/>
                </a:solidFill>
              </a:rPr>
              <a:t>그 밖에 적당한 근거가 있으면 그것으로부터 </a:t>
            </a:r>
            <a:r>
              <a:rPr lang="ko-KR" altLang="en-US" sz="1400" dirty="0" err="1">
                <a:solidFill>
                  <a:schemeClr val="tx2"/>
                </a:solidFill>
              </a:rPr>
              <a:t>반포시기를</a:t>
            </a:r>
            <a:r>
              <a:rPr lang="ko-KR" altLang="en-US" sz="1400" dirty="0">
                <a:solidFill>
                  <a:schemeClr val="tx2"/>
                </a:solidFill>
              </a:rPr>
              <a:t> 추정 또는 인정한다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이와 같은 추정은 반증에 의하면 얼마든지 번복될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1647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90626" y="4359385"/>
            <a:ext cx="3575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3173068" y="4418729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80324" y="4796102"/>
            <a:ext cx="10182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국내입수</a:t>
            </a:r>
            <a:endParaRPr lang="ko-KR" altLang="en-US" sz="1050" dirty="0"/>
          </a:p>
        </p:txBody>
      </p:sp>
      <p:sp>
        <p:nvSpPr>
          <p:cNvPr id="9" name="자유형 8"/>
          <p:cNvSpPr/>
          <p:nvPr/>
        </p:nvSpPr>
        <p:spPr>
          <a:xfrm>
            <a:off x="1705431" y="3890779"/>
            <a:ext cx="1485900" cy="449720"/>
          </a:xfrm>
          <a:custGeom>
            <a:avLst/>
            <a:gdLst>
              <a:gd name="connsiteX0" fmla="*/ 1485900 w 1485900"/>
              <a:gd name="connsiteY0" fmla="*/ 437020 h 449720"/>
              <a:gd name="connsiteX1" fmla="*/ 1143000 w 1485900"/>
              <a:gd name="connsiteY1" fmla="*/ 56020 h 449720"/>
              <a:gd name="connsiteX2" fmla="*/ 393700 w 1485900"/>
              <a:gd name="connsiteY2" fmla="*/ 43320 h 449720"/>
              <a:gd name="connsiteX3" fmla="*/ 0 w 1485900"/>
              <a:gd name="connsiteY3" fmla="*/ 449720 h 44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0" h="449720">
                <a:moveTo>
                  <a:pt x="1485900" y="437020"/>
                </a:moveTo>
                <a:cubicBezTo>
                  <a:pt x="1405466" y="279328"/>
                  <a:pt x="1325033" y="121637"/>
                  <a:pt x="1143000" y="56020"/>
                </a:cubicBezTo>
                <a:cubicBezTo>
                  <a:pt x="960967" y="-9597"/>
                  <a:pt x="584200" y="-22297"/>
                  <a:pt x="393700" y="43320"/>
                </a:cubicBezTo>
                <a:cubicBezTo>
                  <a:pt x="203200" y="108937"/>
                  <a:pt x="101600" y="279328"/>
                  <a:pt x="0" y="449720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870338" y="3502561"/>
            <a:ext cx="115608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입수소요기간</a:t>
            </a:r>
            <a:endParaRPr lang="ko-KR" altLang="en-US" sz="900" dirty="0"/>
          </a:p>
        </p:txBody>
      </p:sp>
      <p:cxnSp>
        <p:nvCxnSpPr>
          <p:cNvPr id="11" name="직선 연결선 10"/>
          <p:cNvCxnSpPr>
            <a:endCxn id="9" idx="3"/>
          </p:cNvCxnSpPr>
          <p:nvPr/>
        </p:nvCxnSpPr>
        <p:spPr>
          <a:xfrm>
            <a:off x="290626" y="4340499"/>
            <a:ext cx="1414805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endCxn id="54" idx="0"/>
          </p:cNvCxnSpPr>
          <p:nvPr/>
        </p:nvCxnSpPr>
        <p:spPr>
          <a:xfrm>
            <a:off x="1663038" y="4389057"/>
            <a:ext cx="16995" cy="80629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90581" y="5195347"/>
            <a:ext cx="137890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반포 추정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4137933" y="2713404"/>
            <a:ext cx="0" cy="39469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4412681" y="4359385"/>
            <a:ext cx="306127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6061411" y="4418729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4412681" y="4340499"/>
            <a:ext cx="1665103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432364" y="3307444"/>
            <a:ext cx="256833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B </a:t>
            </a:r>
            <a:r>
              <a:rPr lang="ko-KR" altLang="en-US" sz="2400" dirty="0">
                <a:solidFill>
                  <a:srgbClr val="FF0000"/>
                </a:solidFill>
              </a:rPr>
              <a:t>간행물 반포 추정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82617" y="5558572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B </a:t>
            </a:r>
            <a:r>
              <a:rPr lang="ko-KR" altLang="en-US" sz="1600" dirty="0"/>
              <a:t>간행물은 쓰레기다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cxnSp>
        <p:nvCxnSpPr>
          <p:cNvPr id="85" name="직선 연결선 84"/>
          <p:cNvCxnSpPr>
            <a:endCxn id="83" idx="2"/>
          </p:cNvCxnSpPr>
          <p:nvPr/>
        </p:nvCxnSpPr>
        <p:spPr>
          <a:xfrm flipH="1" flipV="1">
            <a:off x="5716530" y="3769109"/>
            <a:ext cx="361254" cy="5375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7882619" y="2713404"/>
            <a:ext cx="0" cy="39469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아래쪽 화살표 설명선 44"/>
          <p:cNvSpPr/>
          <p:nvPr/>
        </p:nvSpPr>
        <p:spPr>
          <a:xfrm>
            <a:off x="5245232" y="4930985"/>
            <a:ext cx="1634541" cy="555017"/>
          </a:xfrm>
          <a:prstGeom prst="downArrowCallout">
            <a:avLst>
              <a:gd name="adj1" fmla="val 155756"/>
              <a:gd name="adj2" fmla="val 95608"/>
              <a:gd name="adj3" fmla="val 25000"/>
              <a:gd name="adj4" fmla="val 649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  <a:r>
              <a:rPr lang="ko-KR" altLang="en-US" dirty="0">
                <a:solidFill>
                  <a:schemeClr val="tx1"/>
                </a:solidFill>
              </a:rPr>
              <a:t>간행물 반포</a:t>
            </a:r>
          </a:p>
        </p:txBody>
      </p:sp>
      <p:cxnSp>
        <p:nvCxnSpPr>
          <p:cNvPr id="87" name="직선 연결선 86"/>
          <p:cNvCxnSpPr/>
          <p:nvPr/>
        </p:nvCxnSpPr>
        <p:spPr>
          <a:xfrm>
            <a:off x="7996466" y="4359385"/>
            <a:ext cx="3575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H="1">
            <a:off x="10878908" y="4418729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928693" y="4037905"/>
            <a:ext cx="88037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2017.5.1</a:t>
            </a:r>
            <a:endParaRPr lang="ko-KR" altLang="en-US" sz="900" dirty="0"/>
          </a:p>
        </p:txBody>
      </p:sp>
      <p:cxnSp>
        <p:nvCxnSpPr>
          <p:cNvPr id="95" name="직선 연결선 94"/>
          <p:cNvCxnSpPr>
            <a:stCxn id="93" idx="0"/>
          </p:cNvCxnSpPr>
          <p:nvPr/>
        </p:nvCxnSpPr>
        <p:spPr>
          <a:xfrm flipH="1" flipV="1">
            <a:off x="9364006" y="3627909"/>
            <a:ext cx="4872" cy="40999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21922" y="3133527"/>
            <a:ext cx="2656496" cy="67710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반포 추정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단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초판과 재판의 </a:t>
            </a:r>
            <a:r>
              <a:rPr lang="ko-KR" altLang="en-US" sz="1400" dirty="0" err="1">
                <a:solidFill>
                  <a:srgbClr val="FF0000"/>
                </a:solidFill>
              </a:rPr>
              <a:t>인용부분</a:t>
            </a:r>
            <a:r>
              <a:rPr lang="ko-KR" altLang="en-US" sz="1400" dirty="0">
                <a:solidFill>
                  <a:srgbClr val="FF0000"/>
                </a:solidFill>
              </a:rPr>
              <a:t> 일치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8" name="아래쪽 화살표 설명선 97"/>
          <p:cNvSpPr/>
          <p:nvPr/>
        </p:nvSpPr>
        <p:spPr>
          <a:xfrm>
            <a:off x="10079900" y="4930985"/>
            <a:ext cx="1634541" cy="555017"/>
          </a:xfrm>
          <a:prstGeom prst="downArrowCallout">
            <a:avLst>
              <a:gd name="adj1" fmla="val 155756"/>
              <a:gd name="adj2" fmla="val 95608"/>
              <a:gd name="adj3" fmla="val 25000"/>
              <a:gd name="adj4" fmla="val 649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재판 발행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96078" y="5644550"/>
            <a:ext cx="202010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초판발행일</a:t>
            </a:r>
            <a:r>
              <a:rPr lang="en-US" altLang="ko-KR" sz="1600" dirty="0"/>
              <a:t>: 2017.5.1</a:t>
            </a:r>
            <a:endParaRPr lang="ko-KR" altLang="en-US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4BC3-6C1E-27F0-2DF7-C69C1FEBF86A}"/>
              </a:ext>
            </a:extLst>
          </p:cNvPr>
          <p:cNvSpPr txBox="1"/>
          <p:nvPr/>
        </p:nvSpPr>
        <p:spPr>
          <a:xfrm>
            <a:off x="163267" y="2293598"/>
            <a:ext cx="411202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>
                <a:highlight>
                  <a:srgbClr val="FFFF00"/>
                </a:highlight>
              </a:rPr>
              <a:t>최대한 늦게 반포된 것으로 추정 또는 간주</a:t>
            </a:r>
          </a:p>
        </p:txBody>
      </p:sp>
    </p:spTree>
    <p:extLst>
      <p:ext uri="{BB962C8B-B14F-4D97-AF65-F5344CB8AC3E}">
        <p14:creationId xmlns:p14="http://schemas.microsoft.com/office/powerpoint/2010/main" val="374067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 및 </a:t>
            </a:r>
            <a:r>
              <a:rPr lang="ko-KR" altLang="en-US" dirty="0" err="1"/>
              <a:t>출원공개의</a:t>
            </a:r>
            <a:r>
              <a:rPr lang="ko-KR" altLang="en-US" dirty="0"/>
              <a:t> </a:t>
            </a:r>
            <a:r>
              <a:rPr lang="ko-KR" altLang="en-US" dirty="0" err="1"/>
              <a:t>공지기술</a:t>
            </a:r>
            <a:r>
              <a:rPr lang="ko-KR" altLang="en-US" dirty="0"/>
              <a:t> 지위 인정 여부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甲 출원</a:t>
            </a:r>
            <a:r>
              <a:rPr lang="en-US" altLang="ko-KR" sz="1400" dirty="0"/>
              <a:t>(X)</a:t>
            </a:r>
            <a:r>
              <a:rPr lang="ko-KR" altLang="en-US" sz="1400" dirty="0"/>
              <a:t>은</a:t>
            </a:r>
            <a:r>
              <a:rPr lang="en-US" altLang="ko-KR" sz="1400" dirty="0"/>
              <a:t> </a:t>
            </a:r>
            <a:r>
              <a:rPr lang="ko-KR" altLang="en-US" sz="1400" dirty="0"/>
              <a:t>발명의 내용을 포함하고 있어 정보성이 있으나 </a:t>
            </a:r>
            <a:r>
              <a:rPr lang="ko-KR" altLang="en-US" sz="1400" dirty="0">
                <a:highlight>
                  <a:srgbClr val="FFFF00"/>
                </a:highlight>
              </a:rPr>
              <a:t>지식재산처 직원이 비밀유지의무가 있는 특정인</a:t>
            </a:r>
            <a:r>
              <a:rPr lang="ko-KR" altLang="en-US" sz="1400" dirty="0"/>
              <a:t>이기 때문에 공개성이 없어 간행물이라 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한편 甲 출원</a:t>
            </a:r>
            <a:r>
              <a:rPr lang="en-US" altLang="ko-KR" sz="1400" dirty="0"/>
              <a:t>(X)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출원공개는</a:t>
            </a:r>
            <a:r>
              <a:rPr lang="ko-KR" altLang="en-US" sz="1400" dirty="0"/>
              <a:t> 출원된 내용을 </a:t>
            </a:r>
            <a:r>
              <a:rPr lang="ko-KR" altLang="en-US" sz="1400" dirty="0" err="1"/>
              <a:t>공개공보에</a:t>
            </a:r>
            <a:r>
              <a:rPr lang="ko-KR" altLang="en-US" sz="1400" dirty="0"/>
              <a:t> 게재하여 일반 공중에게 발명의 내용을 알리는 것이기 때문에 </a:t>
            </a:r>
            <a:r>
              <a:rPr lang="ko-KR" altLang="en-US" sz="1400" dirty="0" err="1">
                <a:highlight>
                  <a:srgbClr val="FFFF00"/>
                </a:highlight>
              </a:rPr>
              <a:t>정보성과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공개성이</a:t>
            </a:r>
            <a:r>
              <a:rPr lang="ko-KR" altLang="en-US" sz="1400" dirty="0">
                <a:highlight>
                  <a:srgbClr val="FFFF00"/>
                </a:highlight>
              </a:rPr>
              <a:t> 있어</a:t>
            </a:r>
            <a:r>
              <a:rPr lang="ko-KR" altLang="en-US" sz="1400" dirty="0"/>
              <a:t> 간행물이라 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乙의 출원</a:t>
            </a:r>
            <a:r>
              <a:rPr lang="en-US" altLang="ko-KR" sz="1400" dirty="0"/>
              <a:t>(Y)</a:t>
            </a:r>
            <a:r>
              <a:rPr lang="ko-KR" altLang="en-US" sz="1400" dirty="0"/>
              <a:t>은 특허출원</a:t>
            </a:r>
            <a:r>
              <a:rPr lang="en-US" altLang="ko-KR" sz="1400" dirty="0"/>
              <a:t>(Y) </a:t>
            </a:r>
            <a:r>
              <a:rPr lang="ko-KR" altLang="en-US" sz="1400" dirty="0"/>
              <a:t>전에 </a:t>
            </a:r>
            <a:r>
              <a:rPr lang="ko-KR" altLang="en-US" sz="1400" dirty="0" err="1"/>
              <a:t>공지기술이</a:t>
            </a:r>
            <a:r>
              <a:rPr lang="ko-KR" altLang="en-US" sz="1400" dirty="0"/>
              <a:t> 없어 신규성이 상실되지 아니하지만</a:t>
            </a:r>
            <a:r>
              <a:rPr lang="en-US" altLang="ko-KR" sz="1400" dirty="0"/>
              <a:t>, </a:t>
            </a:r>
            <a:r>
              <a:rPr lang="ko-KR" altLang="en-US" sz="1400" dirty="0"/>
              <a:t>丙의 출원</a:t>
            </a:r>
            <a:r>
              <a:rPr lang="en-US" altLang="ko-KR" sz="1400" dirty="0"/>
              <a:t>(Z)</a:t>
            </a:r>
            <a:r>
              <a:rPr lang="ko-KR" altLang="en-US" sz="1400" dirty="0"/>
              <a:t>은 특허출원</a:t>
            </a:r>
            <a:r>
              <a:rPr lang="en-US" altLang="ko-KR" sz="1400" dirty="0"/>
              <a:t>(Z) </a:t>
            </a:r>
            <a:r>
              <a:rPr lang="ko-KR" altLang="en-US" sz="1400" dirty="0"/>
              <a:t>전에 甲 출원의 공개</a:t>
            </a:r>
            <a:r>
              <a:rPr lang="en-US" altLang="ko-KR" sz="1400" dirty="0"/>
              <a:t>(X)</a:t>
            </a:r>
            <a:r>
              <a:rPr lang="ko-KR" altLang="en-US" sz="1400" dirty="0"/>
              <a:t>에 의한 </a:t>
            </a:r>
            <a:r>
              <a:rPr lang="ko-KR" altLang="en-US" sz="1400" dirty="0" err="1"/>
              <a:t>공지기술이</a:t>
            </a:r>
            <a:r>
              <a:rPr lang="ko-KR" altLang="en-US" sz="1400" dirty="0"/>
              <a:t> 있고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공지기술과</a:t>
            </a:r>
            <a:r>
              <a:rPr lang="ko-KR" altLang="en-US" sz="1400" dirty="0"/>
              <a:t> 丙의 출원</a:t>
            </a:r>
            <a:r>
              <a:rPr lang="en-US" altLang="ko-KR" sz="1400" dirty="0"/>
              <a:t>(Z)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청구범위에</a:t>
            </a:r>
            <a:r>
              <a:rPr lang="ko-KR" altLang="en-US" sz="1400" dirty="0"/>
              <a:t> 기재된 발명인 </a:t>
            </a:r>
            <a:r>
              <a:rPr lang="en-US" altLang="ko-KR" sz="1400" dirty="0"/>
              <a:t>C</a:t>
            </a:r>
            <a:r>
              <a:rPr lang="ko-KR" altLang="en-US" sz="1400" dirty="0"/>
              <a:t>가 동일성이 있어 신규성이 상실된다</a:t>
            </a:r>
            <a:r>
              <a:rPr lang="en-US" altLang="ko-KR" sz="1400" dirty="0"/>
              <a:t>. </a:t>
            </a:r>
            <a:r>
              <a:rPr lang="ko-KR" altLang="en-US" sz="1400" dirty="0"/>
              <a:t>물론</a:t>
            </a:r>
            <a:r>
              <a:rPr lang="en-US" altLang="ko-KR" sz="1400" dirty="0"/>
              <a:t>, </a:t>
            </a:r>
            <a:r>
              <a:rPr lang="ko-KR" altLang="en-US" sz="1400" dirty="0"/>
              <a:t>乙의 출원</a:t>
            </a:r>
            <a:r>
              <a:rPr lang="en-US" altLang="ko-KR" sz="1400" dirty="0"/>
              <a:t>(Y)</a:t>
            </a:r>
            <a:r>
              <a:rPr lang="ko-KR" altLang="en-US" sz="1400" dirty="0"/>
              <a:t>은 신규성이 상실되지는 아니하지만 확대된 </a:t>
            </a:r>
            <a:r>
              <a:rPr lang="ko-KR" altLang="en-US" sz="1400" dirty="0" err="1"/>
              <a:t>선출원</a:t>
            </a:r>
            <a:r>
              <a:rPr lang="ko-KR" altLang="en-US" sz="1400" dirty="0"/>
              <a:t> 위반으로 특허를 받을 수 없다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1647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4238171" y="4203442"/>
            <a:ext cx="754742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643091" y="4479065"/>
            <a:ext cx="1467422" cy="34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 특허출원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/>
          <p:cNvCxnSpPr>
            <a:stCxn id="31" idx="0"/>
          </p:cNvCxnSpPr>
          <p:nvPr/>
        </p:nvCxnSpPr>
        <p:spPr>
          <a:xfrm flipV="1">
            <a:off x="5376802" y="4203443"/>
            <a:ext cx="0" cy="2756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/>
          <p:cNvGrpSpPr/>
          <p:nvPr/>
        </p:nvGrpSpPr>
        <p:grpSpPr>
          <a:xfrm>
            <a:off x="4643091" y="4895929"/>
            <a:ext cx="1467422" cy="612001"/>
            <a:chOff x="2814293" y="4469336"/>
            <a:chExt cx="1177134" cy="696098"/>
          </a:xfrm>
        </p:grpSpPr>
        <p:sp>
          <p:nvSpPr>
            <p:cNvPr id="36" name="직사각형 3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A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A, B, C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477494" y="3351150"/>
            <a:ext cx="1177134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출원서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77494" y="3815607"/>
            <a:ext cx="1177134" cy="34804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명세서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77494" y="4308322"/>
            <a:ext cx="1177134" cy="34804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필요한 도면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77494" y="4772779"/>
            <a:ext cx="1177134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요약서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957951" y="3815607"/>
            <a:ext cx="1785259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발명의 설명</a:t>
            </a:r>
            <a:r>
              <a:rPr lang="en-US" altLang="ko-KR" sz="1400" dirty="0">
                <a:solidFill>
                  <a:schemeClr val="tx1"/>
                </a:solidFill>
              </a:rPr>
              <a:t>: A, B, C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957951" y="4308321"/>
            <a:ext cx="1785259" cy="37525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청구범위</a:t>
            </a:r>
            <a:r>
              <a:rPr lang="en-US" altLang="ko-KR" sz="1400" dirty="0">
                <a:solidFill>
                  <a:schemeClr val="bg1"/>
                </a:solidFill>
              </a:rPr>
              <a:t>: A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8" name="꺾인 연결선 7"/>
          <p:cNvCxnSpPr>
            <a:stCxn id="39" idx="1"/>
            <a:endCxn id="42" idx="1"/>
          </p:cNvCxnSpPr>
          <p:nvPr/>
        </p:nvCxnSpPr>
        <p:spPr>
          <a:xfrm rot="10800000" flipV="1">
            <a:off x="477494" y="3525174"/>
            <a:ext cx="12700" cy="1421629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39" idx="1"/>
            <a:endCxn id="40" idx="1"/>
          </p:cNvCxnSpPr>
          <p:nvPr/>
        </p:nvCxnSpPr>
        <p:spPr>
          <a:xfrm rot="10800000" flipV="1">
            <a:off x="477494" y="3525174"/>
            <a:ext cx="12700" cy="464457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9" idx="1"/>
            <a:endCxn id="41" idx="1"/>
          </p:cNvCxnSpPr>
          <p:nvPr/>
        </p:nvCxnSpPr>
        <p:spPr>
          <a:xfrm rot="10800000" flipV="1">
            <a:off x="477494" y="3525175"/>
            <a:ext cx="12700" cy="957172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40" idx="3"/>
            <a:endCxn id="44" idx="1"/>
          </p:cNvCxnSpPr>
          <p:nvPr/>
        </p:nvCxnSpPr>
        <p:spPr>
          <a:xfrm>
            <a:off x="1654628" y="3989632"/>
            <a:ext cx="303323" cy="50631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cxnSpLocks/>
            <a:stCxn id="40" idx="3"/>
            <a:endCxn id="38" idx="1"/>
          </p:cNvCxnSpPr>
          <p:nvPr/>
        </p:nvCxnSpPr>
        <p:spPr>
          <a:xfrm>
            <a:off x="1654628" y="3989632"/>
            <a:ext cx="2988463" cy="136529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cxnSpLocks/>
            <a:stCxn id="44" idx="3"/>
            <a:endCxn id="36" idx="1"/>
          </p:cNvCxnSpPr>
          <p:nvPr/>
        </p:nvCxnSpPr>
        <p:spPr>
          <a:xfrm>
            <a:off x="3743210" y="4495947"/>
            <a:ext cx="899881" cy="55298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7763662" y="4479065"/>
            <a:ext cx="1467424" cy="34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 </a:t>
            </a:r>
            <a:r>
              <a:rPr lang="ko-KR" altLang="en-US" sz="14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/>
          <p:cNvCxnSpPr>
            <a:stCxn id="63" idx="0"/>
          </p:cNvCxnSpPr>
          <p:nvPr/>
        </p:nvCxnSpPr>
        <p:spPr>
          <a:xfrm flipV="1">
            <a:off x="8497374" y="4203443"/>
            <a:ext cx="0" cy="2756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6283205" y="3593189"/>
            <a:ext cx="1467422" cy="3453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 특허출원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76" name="직선 화살표 연결선 75"/>
          <p:cNvCxnSpPr>
            <a:stCxn id="75" idx="2"/>
          </p:cNvCxnSpPr>
          <p:nvPr/>
        </p:nvCxnSpPr>
        <p:spPr>
          <a:xfrm>
            <a:off x="7016916" y="3938546"/>
            <a:ext cx="0" cy="2433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/>
          <p:cNvGrpSpPr/>
          <p:nvPr/>
        </p:nvGrpSpPr>
        <p:grpSpPr>
          <a:xfrm>
            <a:off x="6283205" y="2900880"/>
            <a:ext cx="1467422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79" name="직사각형 78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89" name="직사각형 88"/>
          <p:cNvSpPr/>
          <p:nvPr/>
        </p:nvSpPr>
        <p:spPr>
          <a:xfrm>
            <a:off x="9535886" y="3593189"/>
            <a:ext cx="1467422" cy="3453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 특허출원</a:t>
            </a:r>
            <a:r>
              <a:rPr lang="en-US" altLang="ko-KR" sz="1400" dirty="0">
                <a:solidFill>
                  <a:schemeClr val="tx1"/>
                </a:solidFill>
              </a:rPr>
              <a:t>(Z)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92" name="직선 화살표 연결선 91"/>
          <p:cNvCxnSpPr>
            <a:stCxn id="89" idx="2"/>
          </p:cNvCxnSpPr>
          <p:nvPr/>
        </p:nvCxnSpPr>
        <p:spPr>
          <a:xfrm>
            <a:off x="10269597" y="3938546"/>
            <a:ext cx="0" cy="2433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그룹 93"/>
          <p:cNvGrpSpPr/>
          <p:nvPr/>
        </p:nvGrpSpPr>
        <p:grpSpPr>
          <a:xfrm>
            <a:off x="9535886" y="2900880"/>
            <a:ext cx="1467422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96" name="직사각형 9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C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1" name="꺾인 연결선 70"/>
          <p:cNvCxnSpPr>
            <a:stCxn id="40" idx="3"/>
            <a:endCxn id="43" idx="1"/>
          </p:cNvCxnSpPr>
          <p:nvPr/>
        </p:nvCxnSpPr>
        <p:spPr>
          <a:xfrm flipV="1">
            <a:off x="1654628" y="3975190"/>
            <a:ext cx="303323" cy="144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4021821" y="2513105"/>
            <a:ext cx="0" cy="39469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016916" y="5481877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간행물인지 여부</a:t>
            </a:r>
            <a:endParaRPr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102" name="직선 화살표 연결선 101"/>
          <p:cNvCxnSpPr>
            <a:stCxn id="81" idx="0"/>
            <a:endCxn id="31" idx="3"/>
          </p:cNvCxnSpPr>
          <p:nvPr/>
        </p:nvCxnSpPr>
        <p:spPr>
          <a:xfrm flipH="1" flipV="1">
            <a:off x="6110513" y="4651744"/>
            <a:ext cx="1760163" cy="830133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81" idx="0"/>
            <a:endCxn id="63" idx="2"/>
          </p:cNvCxnSpPr>
          <p:nvPr/>
        </p:nvCxnSpPr>
        <p:spPr>
          <a:xfrm flipV="1">
            <a:off x="7870676" y="4824422"/>
            <a:ext cx="626698" cy="65745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328847" y="5099794"/>
            <a:ext cx="1362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No(</a:t>
            </a:r>
            <a:r>
              <a:rPr lang="ko-KR" altLang="en-US" sz="1200" dirty="0" err="1"/>
              <a:t>공개성이</a:t>
            </a:r>
            <a:r>
              <a:rPr lang="ko-KR" altLang="en-US" sz="1200" dirty="0"/>
              <a:t> 없음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07" name="TextBox 106"/>
          <p:cNvSpPr txBox="1"/>
          <p:nvPr/>
        </p:nvSpPr>
        <p:spPr>
          <a:xfrm>
            <a:off x="8070398" y="5101831"/>
            <a:ext cx="4269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108" name="자유형 107"/>
          <p:cNvSpPr/>
          <p:nvPr/>
        </p:nvSpPr>
        <p:spPr>
          <a:xfrm>
            <a:off x="4426857" y="2702295"/>
            <a:ext cx="2583543" cy="201935"/>
          </a:xfrm>
          <a:custGeom>
            <a:avLst/>
            <a:gdLst>
              <a:gd name="connsiteX0" fmla="*/ 2583543 w 2583543"/>
              <a:gd name="connsiteY0" fmla="*/ 406400 h 406400"/>
              <a:gd name="connsiteX1" fmla="*/ 2583543 w 2583543"/>
              <a:gd name="connsiteY1" fmla="*/ 0 h 406400"/>
              <a:gd name="connsiteX2" fmla="*/ 0 w 2583543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406400">
                <a:moveTo>
                  <a:pt x="2583543" y="406400"/>
                </a:moveTo>
                <a:lnTo>
                  <a:pt x="2583543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자유형 108"/>
          <p:cNvSpPr/>
          <p:nvPr/>
        </p:nvSpPr>
        <p:spPr>
          <a:xfrm>
            <a:off x="4426857" y="2569029"/>
            <a:ext cx="5849257" cy="345357"/>
          </a:xfrm>
          <a:custGeom>
            <a:avLst/>
            <a:gdLst>
              <a:gd name="connsiteX0" fmla="*/ 5849257 w 5849257"/>
              <a:gd name="connsiteY0" fmla="*/ 856342 h 856342"/>
              <a:gd name="connsiteX1" fmla="*/ 5849257 w 5849257"/>
              <a:gd name="connsiteY1" fmla="*/ 0 h 856342"/>
              <a:gd name="connsiteX2" fmla="*/ 0 w 5849257"/>
              <a:gd name="connsiteY2" fmla="*/ 0 h 856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49257" h="856342">
                <a:moveTo>
                  <a:pt x="5849257" y="856342"/>
                </a:moveTo>
                <a:lnTo>
                  <a:pt x="5849257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4826463" y="2735893"/>
            <a:ext cx="12362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乙의 특허출원 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84451" y="2624712"/>
            <a:ext cx="12362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丙의 특허출원 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58</a:t>
            </a:fld>
            <a:endParaRPr lang="ko-KR" altLang="en-US"/>
          </a:p>
        </p:txBody>
      </p:sp>
      <p:cxnSp>
        <p:nvCxnSpPr>
          <p:cNvPr id="48" name="직선 화살표 연결선 47"/>
          <p:cNvCxnSpPr>
            <a:cxnSpLocks/>
            <a:stCxn id="41" idx="3"/>
            <a:endCxn id="38" idx="1"/>
          </p:cNvCxnSpPr>
          <p:nvPr/>
        </p:nvCxnSpPr>
        <p:spPr>
          <a:xfrm>
            <a:off x="1654628" y="4482347"/>
            <a:ext cx="2988463" cy="87258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5088354-6D9E-4316-97EA-CB9C4E68BF81}"/>
              </a:ext>
            </a:extLst>
          </p:cNvPr>
          <p:cNvSpPr txBox="1"/>
          <p:nvPr/>
        </p:nvSpPr>
        <p:spPr>
          <a:xfrm>
            <a:off x="4193151" y="6009368"/>
            <a:ext cx="770640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丙 출원 기준</a:t>
            </a:r>
            <a:r>
              <a:rPr lang="en-US" altLang="ko-KR" dirty="0"/>
              <a:t>: </a:t>
            </a:r>
            <a:r>
              <a:rPr lang="ko-KR" altLang="en-US" dirty="0"/>
              <a:t>일반적으로 丙 출원일로부터 </a:t>
            </a:r>
            <a:r>
              <a:rPr lang="en-US" altLang="ko-KR" dirty="0"/>
              <a:t>1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개월전에 출원된 것</a:t>
            </a:r>
            <a:r>
              <a:rPr lang="en-US" altLang="ko-KR" dirty="0"/>
              <a:t>(</a:t>
            </a:r>
            <a:r>
              <a:rPr lang="ko-KR" altLang="en-US" dirty="0"/>
              <a:t>甲 출원</a:t>
            </a:r>
            <a:r>
              <a:rPr lang="en-US" altLang="ko-KR" dirty="0"/>
              <a:t>)</a:t>
            </a:r>
            <a:r>
              <a:rPr lang="ko-KR" altLang="en-US" dirty="0"/>
              <a:t>만 검색을 할 수 있으며</a:t>
            </a:r>
            <a:r>
              <a:rPr lang="en-US" altLang="ko-KR" dirty="0"/>
              <a:t>, </a:t>
            </a:r>
            <a:r>
              <a:rPr lang="ko-KR" altLang="en-US" dirty="0"/>
              <a:t>그 사이에 있는 출원된 것</a:t>
            </a:r>
            <a:r>
              <a:rPr lang="en-US" altLang="ko-KR" dirty="0"/>
              <a:t>(</a:t>
            </a:r>
            <a:r>
              <a:rPr lang="ko-KR" altLang="en-US" dirty="0"/>
              <a:t>乙 출원</a:t>
            </a:r>
            <a:r>
              <a:rPr lang="en-US" altLang="ko-KR" dirty="0"/>
              <a:t>)</a:t>
            </a:r>
            <a:r>
              <a:rPr lang="ko-KR" altLang="en-US" dirty="0"/>
              <a:t>은 비밀상태를 유지함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2019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 전 </a:t>
            </a:r>
            <a:r>
              <a:rPr lang="en-US" altLang="ko-KR" dirty="0"/>
              <a:t>vs </a:t>
            </a:r>
            <a:r>
              <a:rPr lang="ko-KR" altLang="en-US" dirty="0"/>
              <a:t>특허출원일 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특허출원을 </a:t>
            </a:r>
            <a:r>
              <a:rPr lang="en-US" altLang="ko-KR" sz="1400" dirty="0">
                <a:solidFill>
                  <a:schemeClr val="tx2"/>
                </a:solidFill>
              </a:rPr>
              <a:t>2014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일 오전 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시에 한 경우 특허출원 전이란 </a:t>
            </a:r>
            <a:r>
              <a:rPr lang="en-US" altLang="ko-KR" sz="1400" dirty="0">
                <a:solidFill>
                  <a:schemeClr val="tx2"/>
                </a:solidFill>
              </a:rPr>
              <a:t>2014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일 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시 전을 의미하고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특허출원일 전이란 </a:t>
            </a:r>
            <a:r>
              <a:rPr lang="en-US" altLang="ko-KR" sz="1400" dirty="0">
                <a:solidFill>
                  <a:schemeClr val="tx2"/>
                </a:solidFill>
              </a:rPr>
              <a:t>2014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일 전을 의미한다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특허출원 전은 </a:t>
            </a:r>
            <a:r>
              <a:rPr lang="en-US" altLang="ko-KR" sz="1400" dirty="0">
                <a:highlight>
                  <a:srgbClr val="FFFF00"/>
                </a:highlight>
              </a:rPr>
              <a:t>2014</a:t>
            </a:r>
            <a:r>
              <a:rPr lang="ko-KR" altLang="en-US" sz="1400" dirty="0">
                <a:highlight>
                  <a:srgbClr val="FFFF00"/>
                </a:highlight>
              </a:rPr>
              <a:t>년 </a:t>
            </a:r>
            <a:r>
              <a:rPr lang="en-US" altLang="ko-KR" sz="1400" dirty="0">
                <a:highlight>
                  <a:srgbClr val="FFFF00"/>
                </a:highlight>
              </a:rPr>
              <a:t>6</a:t>
            </a:r>
            <a:r>
              <a:rPr lang="ko-KR" altLang="en-US" sz="1400" dirty="0">
                <a:highlight>
                  <a:srgbClr val="FFFF00"/>
                </a:highlight>
              </a:rPr>
              <a:t>월 </a:t>
            </a:r>
            <a:r>
              <a:rPr lang="en-US" altLang="ko-KR" sz="1400" dirty="0">
                <a:highlight>
                  <a:srgbClr val="FFFF00"/>
                </a:highlight>
              </a:rPr>
              <a:t>11</a:t>
            </a:r>
            <a:r>
              <a:rPr lang="ko-KR" altLang="en-US" sz="1400" dirty="0">
                <a:highlight>
                  <a:srgbClr val="FFFF00"/>
                </a:highlight>
              </a:rPr>
              <a:t>일 오전 </a:t>
            </a:r>
            <a:r>
              <a:rPr lang="en-US" altLang="ko-KR" sz="1400" dirty="0">
                <a:highlight>
                  <a:srgbClr val="FFFF00"/>
                </a:highlight>
              </a:rPr>
              <a:t>0</a:t>
            </a:r>
            <a:r>
              <a:rPr lang="ko-KR" altLang="en-US" sz="1400" dirty="0">
                <a:highlight>
                  <a:srgbClr val="FFFF00"/>
                </a:highlight>
              </a:rPr>
              <a:t>시부터 오전 </a:t>
            </a:r>
            <a:r>
              <a:rPr lang="en-US" altLang="ko-KR" sz="1400" dirty="0">
                <a:highlight>
                  <a:srgbClr val="FFFF00"/>
                </a:highlight>
              </a:rPr>
              <a:t>10</a:t>
            </a:r>
            <a:r>
              <a:rPr lang="ko-KR" altLang="en-US" sz="1400" dirty="0">
                <a:highlight>
                  <a:srgbClr val="FFFF00"/>
                </a:highlight>
              </a:rPr>
              <a:t>시 전까지를 포함하는 의미</a:t>
            </a:r>
            <a:r>
              <a:rPr lang="ko-KR" altLang="en-US" sz="1400" dirty="0">
                <a:solidFill>
                  <a:schemeClr val="tx2"/>
                </a:solidFill>
              </a:rPr>
              <a:t>라는 점에서 특허출원일 전과 구별된다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51160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188686" y="3608614"/>
            <a:ext cx="2032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1553317" y="2269919"/>
            <a:ext cx="8911485" cy="3568665"/>
            <a:chOff x="1553317" y="2269919"/>
            <a:chExt cx="8911485" cy="3568665"/>
          </a:xfrm>
        </p:grpSpPr>
        <p:sp>
          <p:nvSpPr>
            <p:cNvPr id="15" name="자유형 14"/>
            <p:cNvSpPr/>
            <p:nvPr/>
          </p:nvSpPr>
          <p:spPr>
            <a:xfrm>
              <a:off x="1582060" y="2656111"/>
              <a:ext cx="4934857" cy="914400"/>
            </a:xfrm>
            <a:custGeom>
              <a:avLst/>
              <a:gdLst>
                <a:gd name="connsiteX0" fmla="*/ 4934857 w 4934857"/>
                <a:gd name="connsiteY0" fmla="*/ 914400 h 914400"/>
                <a:gd name="connsiteX1" fmla="*/ 4238171 w 4934857"/>
                <a:gd name="connsiteY1" fmla="*/ 0 h 914400"/>
                <a:gd name="connsiteX2" fmla="*/ 0 w 4934857"/>
                <a:gd name="connsiteY2" fmla="*/ 0 h 914400"/>
                <a:gd name="connsiteX3" fmla="*/ 0 w 4934857"/>
                <a:gd name="connsiteY3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4857" h="914400">
                  <a:moveTo>
                    <a:pt x="4934857" y="914400"/>
                  </a:moveTo>
                  <a:lnTo>
                    <a:pt x="4238171" y="0"/>
                  </a:lnTo>
                  <a:lnTo>
                    <a:pt x="0" y="0"/>
                  </a:lnTo>
                  <a:lnTo>
                    <a:pt x="0" y="914400"/>
                  </a:lnTo>
                </a:path>
              </a:pathLst>
            </a:custGeom>
            <a:pattFill prst="ltUpDiag">
              <a:fgClr>
                <a:schemeClr val="accent2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10"/>
            <p:cNvSpPr/>
            <p:nvPr/>
          </p:nvSpPr>
          <p:spPr>
            <a:xfrm>
              <a:off x="6226629" y="2641596"/>
              <a:ext cx="3991429" cy="943429"/>
            </a:xfrm>
            <a:custGeom>
              <a:avLst/>
              <a:gdLst>
                <a:gd name="connsiteX0" fmla="*/ 0 w 4180115"/>
                <a:gd name="connsiteY0" fmla="*/ 914400 h 943429"/>
                <a:gd name="connsiteX1" fmla="*/ 711200 w 4180115"/>
                <a:gd name="connsiteY1" fmla="*/ 0 h 943429"/>
                <a:gd name="connsiteX2" fmla="*/ 4180115 w 4180115"/>
                <a:gd name="connsiteY2" fmla="*/ 0 h 943429"/>
                <a:gd name="connsiteX3" fmla="*/ 4180115 w 4180115"/>
                <a:gd name="connsiteY3" fmla="*/ 943429 h 94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0115" h="943429">
                  <a:moveTo>
                    <a:pt x="0" y="914400"/>
                  </a:moveTo>
                  <a:lnTo>
                    <a:pt x="711200" y="0"/>
                  </a:lnTo>
                  <a:lnTo>
                    <a:pt x="4180115" y="0"/>
                  </a:lnTo>
                  <a:lnTo>
                    <a:pt x="4180115" y="943429"/>
                  </a:lnTo>
                </a:path>
              </a:pathLst>
            </a:custGeom>
            <a:pattFill prst="narHorz">
              <a:fgClr>
                <a:schemeClr val="accent4"/>
              </a:fgClr>
              <a:bgClr>
                <a:schemeClr val="bg1"/>
              </a:bgClr>
            </a:patt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79316" y="4056552"/>
              <a:ext cx="445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0</a:t>
              </a:r>
              <a:r>
                <a:rPr lang="ko-KR" altLang="en-US" sz="1400" dirty="0"/>
                <a:t>시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06169" y="4056552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24</a:t>
              </a:r>
              <a:r>
                <a:rPr lang="ko-KR" altLang="en-US" sz="1400" dirty="0"/>
                <a:t>시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74751" y="4056552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10</a:t>
              </a:r>
              <a:r>
                <a:rPr lang="ko-KR" altLang="en-US" sz="1400" dirty="0"/>
                <a:t>시</a:t>
              </a:r>
            </a:p>
          </p:txBody>
        </p:sp>
        <p:cxnSp>
          <p:nvCxnSpPr>
            <p:cNvPr id="56" name="직선 연결선 55"/>
            <p:cNvCxnSpPr>
              <a:stCxn id="49" idx="2"/>
              <a:endCxn id="57" idx="0"/>
            </p:cNvCxnSpPr>
            <p:nvPr/>
          </p:nvCxnSpPr>
          <p:spPr>
            <a:xfrm>
              <a:off x="6325113" y="4034971"/>
              <a:ext cx="6096" cy="143428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822095" y="5469252"/>
              <a:ext cx="1018227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</a:t>
              </a:r>
            </a:p>
          </p:txBody>
        </p:sp>
        <p:sp>
          <p:nvSpPr>
            <p:cNvPr id="16" name="자유형 15"/>
            <p:cNvSpPr/>
            <p:nvPr/>
          </p:nvSpPr>
          <p:spPr>
            <a:xfrm>
              <a:off x="7634516" y="3585028"/>
              <a:ext cx="2569028" cy="957943"/>
            </a:xfrm>
            <a:custGeom>
              <a:avLst/>
              <a:gdLst>
                <a:gd name="connsiteX0" fmla="*/ 0 w 2569028"/>
                <a:gd name="connsiteY0" fmla="*/ 0 h 957943"/>
                <a:gd name="connsiteX1" fmla="*/ 711200 w 2569028"/>
                <a:gd name="connsiteY1" fmla="*/ 957943 h 957943"/>
                <a:gd name="connsiteX2" fmla="*/ 2569028 w 2569028"/>
                <a:gd name="connsiteY2" fmla="*/ 957943 h 957943"/>
                <a:gd name="connsiteX3" fmla="*/ 2569028 w 2569028"/>
                <a:gd name="connsiteY3" fmla="*/ 14514 h 95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9028" h="957943">
                  <a:moveTo>
                    <a:pt x="0" y="0"/>
                  </a:moveTo>
                  <a:lnTo>
                    <a:pt x="711200" y="957943"/>
                  </a:lnTo>
                  <a:lnTo>
                    <a:pt x="2569028" y="957943"/>
                  </a:lnTo>
                  <a:lnTo>
                    <a:pt x="2569028" y="14514"/>
                  </a:lnTo>
                </a:path>
              </a:pathLst>
            </a:custGeom>
            <a:pattFill prst="pct40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 16"/>
            <p:cNvSpPr/>
            <p:nvPr/>
          </p:nvSpPr>
          <p:spPr>
            <a:xfrm>
              <a:off x="1596571" y="3570513"/>
              <a:ext cx="3396343" cy="1016000"/>
            </a:xfrm>
            <a:custGeom>
              <a:avLst/>
              <a:gdLst>
                <a:gd name="connsiteX0" fmla="*/ 3396343 w 3396343"/>
                <a:gd name="connsiteY0" fmla="*/ 0 h 1016000"/>
                <a:gd name="connsiteX1" fmla="*/ 2699657 w 3396343"/>
                <a:gd name="connsiteY1" fmla="*/ 1016000 h 1016000"/>
                <a:gd name="connsiteX2" fmla="*/ 0 w 3396343"/>
                <a:gd name="connsiteY2" fmla="*/ 1016000 h 1016000"/>
                <a:gd name="connsiteX3" fmla="*/ 0 w 3396343"/>
                <a:gd name="connsiteY3" fmla="*/ 43543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6343" h="1016000">
                  <a:moveTo>
                    <a:pt x="3396343" y="0"/>
                  </a:moveTo>
                  <a:lnTo>
                    <a:pt x="2699657" y="1016000"/>
                  </a:lnTo>
                  <a:lnTo>
                    <a:pt x="0" y="1016000"/>
                  </a:lnTo>
                  <a:lnTo>
                    <a:pt x="0" y="43543"/>
                  </a:lnTo>
                </a:path>
              </a:pathLst>
            </a:custGeom>
            <a:pattFill prst="narHorz">
              <a:fgClr>
                <a:schemeClr val="accent3"/>
              </a:fgClr>
              <a:bgClr>
                <a:schemeClr val="bg1"/>
              </a:bgClr>
            </a:patt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0203545" y="2466137"/>
              <a:ext cx="57028" cy="2076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1580580" y="3568165"/>
              <a:ext cx="8884222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/>
            <p:cNvSpPr/>
            <p:nvPr/>
          </p:nvSpPr>
          <p:spPr>
            <a:xfrm>
              <a:off x="1553317" y="2466137"/>
              <a:ext cx="57028" cy="2076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012085" y="3351715"/>
              <a:ext cx="2626056" cy="683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</a:rPr>
                <a:t>특허출원일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(2014.6.11)</a:t>
              </a:r>
              <a:endParaRPr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51511" y="2269919"/>
              <a:ext cx="1290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 후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681433" y="2269919"/>
              <a:ext cx="1290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 전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362119" y="4639215"/>
              <a:ext cx="14991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특허출원일 전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460625" y="4639215"/>
              <a:ext cx="14991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특허출원일 후</a:t>
              </a:r>
            </a:p>
          </p:txBody>
        </p:sp>
      </p:grp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7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특허출원 전 공지와 증거 자료의 작성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60</a:t>
            </a:fld>
            <a:endParaRPr lang="ko-KR" altLang="en-US"/>
          </a:p>
        </p:txBody>
      </p:sp>
      <p:cxnSp>
        <p:nvCxnSpPr>
          <p:cNvPr id="56" name="직선 연결선 55"/>
          <p:cNvCxnSpPr>
            <a:cxnSpLocks/>
          </p:cNvCxnSpPr>
          <p:nvPr/>
        </p:nvCxnSpPr>
        <p:spPr>
          <a:xfrm flipH="1" flipV="1">
            <a:off x="3444174" y="5476601"/>
            <a:ext cx="1" cy="2568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935061" y="5096739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1303176" y="5818679"/>
            <a:ext cx="888422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cxnSpLocks/>
          </p:cNvCxnSpPr>
          <p:nvPr/>
        </p:nvCxnSpPr>
        <p:spPr>
          <a:xfrm>
            <a:off x="2222842" y="5863398"/>
            <a:ext cx="0" cy="3772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22118" y="6195608"/>
            <a:ext cx="6014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공지</a:t>
            </a:r>
            <a:endParaRPr lang="en-US" altLang="ko-KR" dirty="0"/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4432782" y="5863398"/>
            <a:ext cx="3" cy="37723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10710" y="6247368"/>
            <a:ext cx="20441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공지 증거 자료 작성</a:t>
            </a:r>
          </a:p>
        </p:txBody>
      </p:sp>
      <p:cxnSp>
        <p:nvCxnSpPr>
          <p:cNvPr id="43" name="직선 연결선 42"/>
          <p:cNvCxnSpPr>
            <a:cxnSpLocks/>
          </p:cNvCxnSpPr>
          <p:nvPr/>
        </p:nvCxnSpPr>
        <p:spPr>
          <a:xfrm flipH="1" flipV="1">
            <a:off x="5961034" y="5543172"/>
            <a:ext cx="2942" cy="1902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54860" y="5131243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심사청구</a:t>
            </a:r>
          </a:p>
        </p:txBody>
      </p:sp>
      <p:cxnSp>
        <p:nvCxnSpPr>
          <p:cNvPr id="45" name="직선 연결선 44"/>
          <p:cNvCxnSpPr>
            <a:cxnSpLocks/>
          </p:cNvCxnSpPr>
          <p:nvPr/>
        </p:nvCxnSpPr>
        <p:spPr>
          <a:xfrm flipV="1">
            <a:off x="8199616" y="5543172"/>
            <a:ext cx="0" cy="1902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59670" y="5031017"/>
            <a:ext cx="147989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err="1">
                <a:solidFill>
                  <a:schemeClr val="accent2"/>
                </a:solidFill>
              </a:rPr>
              <a:t>실체심사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07440" y="4015774"/>
            <a:ext cx="575782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특허출원 후에 작성된 증거 자료에 의하여 </a:t>
            </a:r>
            <a:r>
              <a:rPr lang="ko-KR" altLang="en-US" dirty="0" err="1">
                <a:solidFill>
                  <a:schemeClr val="accent5">
                    <a:lumMod val="50000"/>
                  </a:schemeClr>
                </a:solidFill>
              </a:rPr>
              <a:t>특허출원된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 발명의 신규성 판단 가능</a:t>
            </a:r>
          </a:p>
        </p:txBody>
      </p:sp>
      <p:sp>
        <p:nvSpPr>
          <p:cNvPr id="18" name="아래쪽 화살표 17"/>
          <p:cNvSpPr/>
          <p:nvPr/>
        </p:nvSpPr>
        <p:spPr>
          <a:xfrm>
            <a:off x="7828905" y="4701892"/>
            <a:ext cx="719191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583C3-A449-4097-A0F8-7A671F4CEDDD}"/>
              </a:ext>
            </a:extLst>
          </p:cNvPr>
          <p:cNvGrpSpPr/>
          <p:nvPr/>
        </p:nvGrpSpPr>
        <p:grpSpPr>
          <a:xfrm>
            <a:off x="0" y="985031"/>
            <a:ext cx="12191999" cy="2852980"/>
            <a:chOff x="0" y="964867"/>
            <a:chExt cx="12191999" cy="285298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CF2E2A-225A-44AD-8E5F-2006B5EC99DD}"/>
                </a:ext>
              </a:extLst>
            </p:cNvPr>
            <p:cNvSpPr txBox="1"/>
            <p:nvPr/>
          </p:nvSpPr>
          <p:spPr>
            <a:xfrm>
              <a:off x="77875" y="1341693"/>
              <a:ext cx="11936323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/>
              <a:r>
                <a:rPr lang="en-US" altLang="ko-KR" sz="1400" dirty="0"/>
                <a:t>[1] </a:t>
              </a:r>
              <a:r>
                <a:rPr lang="ko-KR" altLang="en-US" sz="1400" dirty="0"/>
                <a:t>구 특허법</a:t>
              </a:r>
              <a:r>
                <a:rPr lang="en-US" altLang="ko-KR" sz="1400" dirty="0"/>
                <a:t>(2001. 2. 3. </a:t>
              </a:r>
              <a:r>
                <a:rPr lang="ko-KR" altLang="en-US" sz="1400" dirty="0"/>
                <a:t>법률 제</a:t>
              </a:r>
              <a:r>
                <a:rPr lang="en-US" altLang="ko-KR" sz="1400" dirty="0"/>
                <a:t>6411</a:t>
              </a:r>
              <a:r>
                <a:rPr lang="ko-KR" altLang="en-US" sz="1400" dirty="0"/>
                <a:t>호로 개정되기 전의 것</a:t>
              </a:r>
              <a:r>
                <a:rPr lang="en-US" altLang="ko-KR" sz="1400" dirty="0"/>
                <a:t>) </a:t>
              </a:r>
              <a:r>
                <a:rPr lang="ko-KR" altLang="en-US" sz="1400" dirty="0"/>
                <a:t>제</a:t>
              </a:r>
              <a:r>
                <a:rPr lang="en-US" altLang="ko-KR" sz="1400" dirty="0"/>
                <a:t>29</a:t>
              </a:r>
              <a:r>
                <a:rPr lang="ko-KR" altLang="en-US" sz="1400" dirty="0"/>
                <a:t>조 제</a:t>
              </a:r>
              <a:r>
                <a:rPr lang="en-US" altLang="ko-KR" sz="1400" dirty="0"/>
                <a:t>1</a:t>
              </a:r>
              <a:r>
                <a:rPr lang="ko-KR" altLang="en-US" sz="1400" dirty="0"/>
                <a:t>항 제</a:t>
              </a:r>
              <a:r>
                <a:rPr lang="en-US" altLang="ko-KR" sz="1400" dirty="0"/>
                <a:t>1</a:t>
              </a:r>
              <a:r>
                <a:rPr lang="ko-KR" altLang="en-US" sz="1400" dirty="0"/>
                <a:t>호 소정의 ‘특허출원 전에 국내에서 공지되었거나 공연히 실시된 </a:t>
              </a:r>
              <a:r>
                <a:rPr lang="ko-KR" altLang="en-US" sz="1400" dirty="0" err="1"/>
                <a:t>발명’에서</a:t>
              </a:r>
              <a:r>
                <a:rPr lang="ko-KR" altLang="en-US" sz="1400" dirty="0"/>
                <a:t> </a:t>
              </a:r>
              <a:r>
                <a:rPr lang="ko-KR" altLang="en-US" sz="1400" dirty="0">
                  <a:highlight>
                    <a:srgbClr val="FFFF00"/>
                  </a:highlight>
                </a:rPr>
                <a:t>‘특허출원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전’의</a:t>
              </a:r>
              <a:r>
                <a:rPr lang="ko-KR" altLang="en-US" sz="1400" dirty="0">
                  <a:highlight>
                    <a:srgbClr val="FFFF00"/>
                  </a:highlight>
                </a:rPr>
                <a:t> 의미는 발명의 공지 또는 공연 실시된 시점이 특허출원 전이라는 의미이지 그 공지 또는 공연 실시된 사실을 인정하기 위한 증거가 특허출원 전에 작성된 것을 의미하는 것은 아니므로</a:t>
              </a:r>
              <a:r>
                <a:rPr lang="en-US" altLang="ko-KR" sz="1400" dirty="0">
                  <a:highlight>
                    <a:srgbClr val="FFFF00"/>
                  </a:highlight>
                </a:rPr>
                <a:t>,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법원은 특허출원 후에 작성된 문건들에 기초하여 어떤 발명 또는 기술이 특허출원 전에 공지 또는 공연 실시된 것인지 여부를 인정할 수 있다</a:t>
              </a:r>
              <a:r>
                <a:rPr lang="en-US" altLang="ko-KR" sz="1400" dirty="0"/>
                <a:t>.</a:t>
              </a:r>
            </a:p>
            <a:p>
              <a:pPr fontAlgn="base"/>
              <a:r>
                <a:rPr lang="en-US" altLang="ko-KR" sz="1400" dirty="0"/>
                <a:t>[2]</a:t>
              </a:r>
              <a:r>
                <a:rPr lang="ko-KR" altLang="en-US" sz="1400" dirty="0"/>
                <a:t> 의견서 제출기회를 부여하는 구 특허법</a:t>
              </a:r>
              <a:r>
                <a:rPr lang="en-US" altLang="ko-KR" sz="1400" dirty="0"/>
                <a:t>(2001. 2. 3. </a:t>
              </a:r>
              <a:r>
                <a:rPr lang="ko-KR" altLang="en-US" sz="1400" dirty="0"/>
                <a:t>법률 제</a:t>
              </a:r>
              <a:r>
                <a:rPr lang="en-US" altLang="ko-KR" sz="1400" dirty="0"/>
                <a:t>6411</a:t>
              </a:r>
              <a:r>
                <a:rPr lang="ko-KR" altLang="en-US" sz="1400" dirty="0"/>
                <a:t>호로 개정되기 전의 것</a:t>
              </a:r>
              <a:r>
                <a:rPr lang="en-US" altLang="ko-KR" sz="1400" dirty="0"/>
                <a:t>) </a:t>
              </a:r>
              <a:r>
                <a:rPr lang="ko-KR" altLang="en-US" sz="1400" dirty="0"/>
                <a:t>제</a:t>
              </a:r>
              <a:r>
                <a:rPr lang="en-US" altLang="ko-KR" sz="1400" dirty="0"/>
                <a:t>136</a:t>
              </a:r>
              <a:r>
                <a:rPr lang="ko-KR" altLang="en-US" sz="1400" dirty="0"/>
                <a:t>조 제</a:t>
              </a:r>
              <a:r>
                <a:rPr lang="en-US" altLang="ko-KR" sz="1400" dirty="0"/>
                <a:t>4</a:t>
              </a:r>
              <a:r>
                <a:rPr lang="ko-KR" altLang="en-US" sz="1400" dirty="0"/>
                <a:t>항은 정정청구에 대한 심사의 적정을 기하고 심사제도의 신용을 유지하기 위한 공익상의 요구에 기인하는 이른바 </a:t>
              </a:r>
              <a:r>
                <a:rPr lang="ko-KR" altLang="en-US" sz="1400" dirty="0" err="1"/>
                <a:t>강행규정이므로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정정심판이나 그 </a:t>
              </a:r>
              <a:r>
                <a:rPr lang="ko-KR" altLang="en-US" sz="1400" dirty="0" err="1"/>
                <a:t>심결취소소송에서</a:t>
              </a:r>
              <a:r>
                <a:rPr lang="ko-KR" altLang="en-US" sz="1400" dirty="0"/>
                <a:t> 정정의견제출통지서를 통하여 심판청구인에게 의견서 제출 기회를 부여한 바 없는 사유를 들어 정정심판청구를 기각하는 </a:t>
              </a:r>
              <a:r>
                <a:rPr lang="ko-KR" altLang="en-US" sz="1400" dirty="0" err="1"/>
                <a:t>심결을</a:t>
              </a:r>
              <a:r>
                <a:rPr lang="ko-KR" altLang="en-US" sz="1400" dirty="0"/>
                <a:t> 하거나 </a:t>
              </a:r>
              <a:r>
                <a:rPr lang="ko-KR" altLang="en-US" sz="1400" dirty="0" err="1"/>
                <a:t>심결취소청구를</a:t>
              </a:r>
              <a:r>
                <a:rPr lang="ko-KR" altLang="en-US" sz="1400" dirty="0"/>
                <a:t> 기각하는 것은 위법하나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정정의견제출통지서에 기재된 사유와 다른 별개의 새로운 사유가 아니고 </a:t>
              </a:r>
              <a:r>
                <a:rPr lang="ko-KR" altLang="en-US" sz="1400" dirty="0">
                  <a:highlight>
                    <a:srgbClr val="FFFF00"/>
                  </a:highlight>
                </a:rPr>
                <a:t>주된 취지에 있어서 정정의견제출통지서에 기재된 사유와 실질적으로 동일한 사유로 정정심판을 기각하는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심결을</a:t>
              </a:r>
              <a:r>
                <a:rPr lang="ko-KR" altLang="en-US" sz="1400" dirty="0">
                  <a:highlight>
                    <a:srgbClr val="FFFF00"/>
                  </a:highlight>
                </a:rPr>
                <a:t> 하거나 그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심결에</a:t>
              </a:r>
              <a:r>
                <a:rPr lang="ko-KR" altLang="en-US" sz="1400" dirty="0">
                  <a:highlight>
                    <a:srgbClr val="FFFF00"/>
                  </a:highlight>
                </a:rPr>
                <a:t> 대한 취소청구를 기각하는 것은 허용</a:t>
              </a:r>
              <a:r>
                <a:rPr lang="ko-KR" altLang="en-US" sz="1400" dirty="0"/>
                <a:t>된다</a:t>
              </a:r>
              <a:r>
                <a:rPr lang="en-US" altLang="ko-KR" sz="1400" dirty="0"/>
                <a:t>.</a:t>
              </a:r>
            </a:p>
            <a:p>
              <a:pPr fontAlgn="base"/>
              <a:r>
                <a:rPr lang="en-US" altLang="ko-KR" sz="1400" dirty="0"/>
                <a:t>[3] </a:t>
              </a:r>
              <a:r>
                <a:rPr lang="ko-KR" altLang="en-US" sz="1400" dirty="0"/>
                <a:t>정정의견제출통지서에 기재된 증거가 </a:t>
              </a:r>
              <a:r>
                <a:rPr lang="ko-KR" altLang="en-US" sz="1400" dirty="0" err="1"/>
                <a:t>아니라도</a:t>
              </a:r>
              <a:r>
                <a:rPr lang="ko-KR" altLang="en-US" sz="1400" dirty="0"/>
                <a:t> </a:t>
              </a:r>
              <a:r>
                <a:rPr lang="ko-KR" altLang="en-US" sz="1400" dirty="0" err="1">
                  <a:highlight>
                    <a:srgbClr val="FFFF00"/>
                  </a:highlight>
                </a:rPr>
                <a:t>정정거절이유를</a:t>
              </a:r>
              <a:r>
                <a:rPr lang="ko-KR" altLang="en-US" sz="1400" dirty="0">
                  <a:highlight>
                    <a:srgbClr val="FFFF00"/>
                  </a:highlight>
                </a:rPr>
                <a:t> 보충</a:t>
              </a:r>
              <a:r>
                <a:rPr lang="ko-KR" altLang="en-US" sz="1400" dirty="0"/>
                <a:t>하는 것이라면 새로운 </a:t>
              </a:r>
              <a:r>
                <a:rPr lang="ko-KR" altLang="en-US" sz="1400" dirty="0" err="1"/>
                <a:t>정정거절이유라고</a:t>
              </a:r>
              <a:r>
                <a:rPr lang="ko-KR" altLang="en-US" sz="1400" dirty="0"/>
                <a:t> 할 수 없으므로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특허법원이 그 증거를 채용하여 정정청구를 기각한 </a:t>
              </a:r>
              <a:r>
                <a:rPr lang="ko-KR" altLang="en-US" sz="1400" dirty="0" err="1"/>
                <a:t>심결이</a:t>
              </a:r>
              <a:r>
                <a:rPr lang="ko-KR" altLang="en-US" sz="1400" dirty="0"/>
                <a:t> 정당하다는 사유의 하나로 삼았다고 하여 심리범위를 일탈하였다고 할 수 없다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8FE81B0-4EAC-43BC-A432-3F1ED8B60173}"/>
                </a:ext>
              </a:extLst>
            </p:cNvPr>
            <p:cNvSpPr/>
            <p:nvPr/>
          </p:nvSpPr>
          <p:spPr>
            <a:xfrm>
              <a:off x="113937" y="964867"/>
              <a:ext cx="5100068" cy="34623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tIns="0" bIns="0">
              <a:spAutoFit/>
            </a:bodyPr>
            <a:lstStyle/>
            <a:p>
              <a:r>
                <a:rPr lang="ko-KR" altLang="en-US" sz="1600" dirty="0"/>
                <a:t>대법원 </a:t>
              </a:r>
              <a:r>
                <a:rPr lang="en-US" altLang="ko-KR" sz="1600" dirty="0"/>
                <a:t>2007. 4. 27. </a:t>
              </a:r>
              <a:r>
                <a:rPr lang="ko-KR" altLang="en-US" sz="1600" dirty="0"/>
                <a:t>선고 </a:t>
              </a:r>
              <a:r>
                <a:rPr lang="en-US" altLang="ko-KR" sz="1600" dirty="0"/>
                <a:t>2006</a:t>
              </a:r>
              <a:r>
                <a:rPr lang="ko-KR" altLang="en-US" sz="1600" dirty="0"/>
                <a:t>후</a:t>
              </a:r>
              <a:r>
                <a:rPr lang="en-US" altLang="ko-KR" sz="1600" dirty="0"/>
                <a:t>2660 </a:t>
              </a:r>
              <a:r>
                <a:rPr lang="ko-KR" altLang="en-US" sz="1600" dirty="0"/>
                <a:t>판결 </a:t>
              </a:r>
              <a:r>
                <a:rPr lang="en-US" altLang="ko-KR" sz="1600" dirty="0"/>
                <a:t>【</a:t>
              </a:r>
              <a:r>
                <a:rPr lang="ko-KR" altLang="en-US" sz="1600" dirty="0"/>
                <a:t>정정</a:t>
              </a:r>
              <a:r>
                <a:rPr lang="en-US" altLang="ko-KR" sz="1600" dirty="0"/>
                <a:t>(</a:t>
              </a:r>
              <a:r>
                <a:rPr lang="ko-KR" altLang="en-US" sz="1600" dirty="0" err="1"/>
                <a:t>특</a:t>
              </a:r>
              <a:r>
                <a:rPr lang="en-US" altLang="ko-KR" sz="1600" dirty="0"/>
                <a:t>)】</a:t>
              </a:r>
              <a:endParaRPr lang="ko-KR" altLang="en-US" sz="1600" dirty="0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9A069B6-FEAB-4319-9DED-B2FB8A167478}"/>
                </a:ext>
              </a:extLst>
            </p:cNvPr>
            <p:cNvCxnSpPr/>
            <p:nvPr/>
          </p:nvCxnSpPr>
          <p:spPr>
            <a:xfrm>
              <a:off x="0" y="3817847"/>
              <a:ext cx="12191999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828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동일성의 유형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A977EE-34D8-4F4D-9639-E06A8258554B}"/>
              </a:ext>
            </a:extLst>
          </p:cNvPr>
          <p:cNvSpPr/>
          <p:nvPr/>
        </p:nvSpPr>
        <p:spPr>
          <a:xfrm>
            <a:off x="5310399" y="1710752"/>
            <a:ext cx="354792" cy="444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7ADE674-B031-4A66-AF15-FCCDEB979558}"/>
              </a:ext>
            </a:extLst>
          </p:cNvPr>
          <p:cNvCxnSpPr>
            <a:cxnSpLocks/>
          </p:cNvCxnSpPr>
          <p:nvPr/>
        </p:nvCxnSpPr>
        <p:spPr>
          <a:xfrm flipV="1">
            <a:off x="1315672" y="1832948"/>
            <a:ext cx="0" cy="3709114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F6E71B-7D59-4817-8E88-733FE04D38C6}"/>
              </a:ext>
            </a:extLst>
          </p:cNvPr>
          <p:cNvSpPr/>
          <p:nvPr/>
        </p:nvSpPr>
        <p:spPr>
          <a:xfrm>
            <a:off x="774498" y="1191593"/>
            <a:ext cx="1082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/>
              <a:t>발명창작 </a:t>
            </a:r>
            <a:endParaRPr lang="en-US" altLang="ko-KR" dirty="0"/>
          </a:p>
          <a:p>
            <a:pPr algn="ctr"/>
            <a:r>
              <a:rPr lang="ko-KR" altLang="en-US" dirty="0"/>
              <a:t>수준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7DF9243-1995-4590-997D-0863D5DCCB57}"/>
              </a:ext>
            </a:extLst>
          </p:cNvPr>
          <p:cNvSpPr/>
          <p:nvPr/>
        </p:nvSpPr>
        <p:spPr>
          <a:xfrm>
            <a:off x="1106122" y="4931908"/>
            <a:ext cx="393700" cy="393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1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5839D75-B55F-49CE-8A91-39809EA7A513}"/>
              </a:ext>
            </a:extLst>
          </p:cNvPr>
          <p:cNvSpPr/>
          <p:nvPr/>
        </p:nvSpPr>
        <p:spPr>
          <a:xfrm>
            <a:off x="1118822" y="4395957"/>
            <a:ext cx="393700" cy="3937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2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0EB0E8E-659F-4DC3-A994-476E3FF30CB6}"/>
              </a:ext>
            </a:extLst>
          </p:cNvPr>
          <p:cNvSpPr/>
          <p:nvPr/>
        </p:nvSpPr>
        <p:spPr>
          <a:xfrm>
            <a:off x="1118822" y="3852624"/>
            <a:ext cx="393700" cy="3937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3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8475122-F576-49CF-A719-FA9A5E5DB001}"/>
              </a:ext>
            </a:extLst>
          </p:cNvPr>
          <p:cNvSpPr/>
          <p:nvPr/>
        </p:nvSpPr>
        <p:spPr>
          <a:xfrm>
            <a:off x="1106122" y="3308030"/>
            <a:ext cx="393700" cy="3937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438C1D5F-B0DD-4505-932B-FE7BCC944C86}"/>
              </a:ext>
            </a:extLst>
          </p:cNvPr>
          <p:cNvSpPr/>
          <p:nvPr/>
        </p:nvSpPr>
        <p:spPr>
          <a:xfrm>
            <a:off x="1118822" y="2724041"/>
            <a:ext cx="393700" cy="3937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5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D213575-549D-4B89-B17D-2C3971D872D5}"/>
              </a:ext>
            </a:extLst>
          </p:cNvPr>
          <p:cNvSpPr/>
          <p:nvPr/>
        </p:nvSpPr>
        <p:spPr>
          <a:xfrm>
            <a:off x="1106122" y="2148902"/>
            <a:ext cx="393700" cy="393700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6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02CD782-A44F-4DB6-B225-B1D3908465CB}"/>
              </a:ext>
            </a:extLst>
          </p:cNvPr>
          <p:cNvSpPr/>
          <p:nvPr/>
        </p:nvSpPr>
        <p:spPr>
          <a:xfrm>
            <a:off x="1607772" y="5853040"/>
            <a:ext cx="4323128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우선권주장출원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정정심판 등 소급효 인정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E0F7ADD-F1A9-469D-B19E-CBE9130CA40B}"/>
              </a:ext>
            </a:extLst>
          </p:cNvPr>
          <p:cNvSpPr/>
          <p:nvPr/>
        </p:nvSpPr>
        <p:spPr>
          <a:xfrm>
            <a:off x="7830295" y="5853040"/>
            <a:ext cx="4328745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신규성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확대된 </a:t>
            </a:r>
            <a:r>
              <a:rPr lang="ko-KR" altLang="en-US" sz="1400" dirty="0" err="1">
                <a:solidFill>
                  <a:schemeClr val="tx1"/>
                </a:solidFill>
              </a:rPr>
              <a:t>선출원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43C140E-AEA5-4C3C-9AE1-44A5A52263A5}"/>
              </a:ext>
            </a:extLst>
          </p:cNvPr>
          <p:cNvSpPr/>
          <p:nvPr/>
        </p:nvSpPr>
        <p:spPr>
          <a:xfrm>
            <a:off x="1630017" y="4943693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문언적으로 완전히 일치하는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  <a:latin typeface="Rix모던명조 M" panose="02020603020101020101" pitchFamily="18" charset="-127"/>
              </a:rPr>
              <a:t>문언적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 동일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 </a:t>
            </a:r>
            <a:endParaRPr lang="ko-KR" altLang="en-US" sz="12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3030A7E-A67F-4B38-9DE5-FB182A493CAA}"/>
              </a:ext>
            </a:extLst>
          </p:cNvPr>
          <p:cNvSpPr/>
          <p:nvPr/>
        </p:nvSpPr>
        <p:spPr>
          <a:xfrm>
            <a:off x="1630017" y="4395957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pPr algn="just"/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문언적으로 일치하지는 않으나 그 기술구성 및 내용은 일치하는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내재적 동일성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762741-6AD9-4F22-B5A3-642CDD558CB1}"/>
              </a:ext>
            </a:extLst>
          </p:cNvPr>
          <p:cNvSpPr/>
          <p:nvPr/>
        </p:nvSpPr>
        <p:spPr>
          <a:xfrm>
            <a:off x="1630017" y="3845359"/>
            <a:ext cx="4143323" cy="4009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r>
              <a:rPr lang="ko-KR" altLang="en-US" sz="1200" spc="-50" dirty="0">
                <a:solidFill>
                  <a:srgbClr val="000000"/>
                </a:solidFill>
                <a:latin typeface="Rix모던명조 M" panose="02020603020101020101" pitchFamily="18" charset="-127"/>
              </a:rPr>
              <a:t>기술구성 및 내용에 일부 차이가 있으나 그 차이에도 불구하고 양 발명을 실질적으로 동일하다고 볼 수 있는 단계</a:t>
            </a:r>
            <a:r>
              <a:rPr lang="en-US" altLang="ko-KR" sz="1200" b="1" spc="-50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spc="-50" dirty="0">
                <a:solidFill>
                  <a:srgbClr val="FF0000"/>
                </a:solidFill>
                <a:latin typeface="Rix모던명조 M" panose="02020603020101020101" pitchFamily="18" charset="-127"/>
              </a:rPr>
              <a:t>실질적 동일성</a:t>
            </a:r>
            <a:r>
              <a:rPr lang="en-US" altLang="ko-KR" sz="1200" b="1" spc="-50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ko-KR" altLang="en-US" sz="1200" b="1" spc="-50" dirty="0">
              <a:solidFill>
                <a:srgbClr val="FF00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7C98224-098E-42E2-841C-03845B8BC7F3}"/>
              </a:ext>
            </a:extLst>
          </p:cNvPr>
          <p:cNvSpPr/>
          <p:nvPr/>
        </p:nvSpPr>
        <p:spPr>
          <a:xfrm>
            <a:off x="1630017" y="3272648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pPr algn="just"/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실질적으로 동일하다고 볼 수는 없으나 당해 발명이 선행발명으로부터 극히 용이하게 발명할 수 있는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극히 용이성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en-US" altLang="ko-KR" sz="1200" b="1" dirty="0">
              <a:solidFill>
                <a:srgbClr val="FF0000"/>
              </a:solidFill>
              <a:latin typeface="Rix모던고딕 M" panose="02020603020101020101" pitchFamily="18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A0A7A7C-9BB7-43DE-92CF-192DDD555527}"/>
              </a:ext>
            </a:extLst>
          </p:cNvPr>
          <p:cNvSpPr/>
          <p:nvPr/>
        </p:nvSpPr>
        <p:spPr>
          <a:xfrm>
            <a:off x="1630017" y="2724041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pPr algn="just"/>
            <a:r>
              <a:rPr lang="ko-KR" altLang="en-US" sz="1200" spc="-40" dirty="0">
                <a:solidFill>
                  <a:srgbClr val="000000"/>
                </a:solidFill>
                <a:latin typeface="Rix모던명조 M" panose="02020603020101020101" pitchFamily="18" charset="-127"/>
              </a:rPr>
              <a:t>극히 용이하게 발명할 수는 없으나 용이하게 발명할 수 있는 단계</a:t>
            </a:r>
            <a:endParaRPr lang="en-US" altLang="ko-KR" sz="1200" spc="-4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  <a:p>
            <a:pPr algn="just"/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용이성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en-US" altLang="ko-KR" sz="1200" b="1" dirty="0">
              <a:solidFill>
                <a:srgbClr val="FF0000"/>
              </a:solidFill>
              <a:latin typeface="Rix모던고딕 M" panose="020206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0D05E2F-18C1-4AB9-A153-9BDA46198C7F}"/>
              </a:ext>
            </a:extLst>
          </p:cNvPr>
          <p:cNvSpPr/>
          <p:nvPr/>
        </p:nvSpPr>
        <p:spPr>
          <a:xfrm>
            <a:off x="1630017" y="2161086"/>
            <a:ext cx="4143323" cy="400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anchor="ctr">
            <a:no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Rix모던명조 M" panose="02020603020101020101" pitchFamily="18" charset="-127"/>
              </a:rPr>
              <a:t>용이하게 발명할 수 없는 단계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비용이성</a:t>
            </a:r>
            <a:r>
              <a:rPr lang="en-US" altLang="ko-KR" sz="1200" b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5138CF3-779D-4747-A728-F663018ECC5D}"/>
              </a:ext>
            </a:extLst>
          </p:cNvPr>
          <p:cNvSpPr/>
          <p:nvPr/>
        </p:nvSpPr>
        <p:spPr>
          <a:xfrm>
            <a:off x="6061673" y="3315858"/>
            <a:ext cx="1285104" cy="388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범주가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다른 경우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B3D06153-2E09-4882-BA51-2971DAC5B982}"/>
              </a:ext>
            </a:extLst>
          </p:cNvPr>
          <p:cNvCxnSpPr>
            <a:cxnSpLocks/>
            <a:stCxn id="58" idx="3"/>
            <a:endCxn id="75" idx="1"/>
          </p:cNvCxnSpPr>
          <p:nvPr/>
        </p:nvCxnSpPr>
        <p:spPr>
          <a:xfrm>
            <a:off x="5773340" y="4045842"/>
            <a:ext cx="288333" cy="42272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6C2FD3A1-ED28-4058-98EA-46A932F4D23C}"/>
              </a:ext>
            </a:extLst>
          </p:cNvPr>
          <p:cNvCxnSpPr>
            <a:stCxn id="58" idx="3"/>
            <a:endCxn id="62" idx="1"/>
          </p:cNvCxnSpPr>
          <p:nvPr/>
        </p:nvCxnSpPr>
        <p:spPr>
          <a:xfrm flipV="1">
            <a:off x="5773340" y="3509964"/>
            <a:ext cx="288333" cy="5358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9BCB3616-3EBE-4BF5-99C7-256A8608FBF8}"/>
              </a:ext>
            </a:extLst>
          </p:cNvPr>
          <p:cNvCxnSpPr>
            <a:stCxn id="58" idx="3"/>
            <a:endCxn id="76" idx="1"/>
          </p:cNvCxnSpPr>
          <p:nvPr/>
        </p:nvCxnSpPr>
        <p:spPr>
          <a:xfrm flipV="1">
            <a:off x="5773340" y="3955083"/>
            <a:ext cx="288333" cy="907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0738DE1-5686-4556-B209-7FB5250D6263}"/>
              </a:ext>
            </a:extLst>
          </p:cNvPr>
          <p:cNvCxnSpPr>
            <a:cxnSpLocks/>
          </p:cNvCxnSpPr>
          <p:nvPr/>
        </p:nvCxnSpPr>
        <p:spPr>
          <a:xfrm>
            <a:off x="5778406" y="2164520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ECEA560-FC2E-4825-B473-EFCF3361F276}"/>
              </a:ext>
            </a:extLst>
          </p:cNvPr>
          <p:cNvCxnSpPr>
            <a:cxnSpLocks/>
          </p:cNvCxnSpPr>
          <p:nvPr/>
        </p:nvCxnSpPr>
        <p:spPr>
          <a:xfrm>
            <a:off x="5778406" y="2722390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42755BD-1815-472B-81B8-1CA8EFF7EECF}"/>
              </a:ext>
            </a:extLst>
          </p:cNvPr>
          <p:cNvCxnSpPr>
            <a:cxnSpLocks/>
          </p:cNvCxnSpPr>
          <p:nvPr/>
        </p:nvCxnSpPr>
        <p:spPr>
          <a:xfrm>
            <a:off x="5751237" y="3852624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28D56CB-67D6-4CB2-AD05-09DE68A2EFEC}"/>
              </a:ext>
            </a:extLst>
          </p:cNvPr>
          <p:cNvCxnSpPr>
            <a:cxnSpLocks/>
          </p:cNvCxnSpPr>
          <p:nvPr/>
        </p:nvCxnSpPr>
        <p:spPr>
          <a:xfrm>
            <a:off x="5773340" y="4404333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0FE500E-1F47-4EF6-A3DD-3860E0B622FC}"/>
              </a:ext>
            </a:extLst>
          </p:cNvPr>
          <p:cNvCxnSpPr>
            <a:cxnSpLocks/>
          </p:cNvCxnSpPr>
          <p:nvPr/>
        </p:nvCxnSpPr>
        <p:spPr>
          <a:xfrm>
            <a:off x="5778406" y="5344658"/>
            <a:ext cx="53876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5FA1FE-0D27-4DA2-8202-FE2090626299}"/>
              </a:ext>
            </a:extLst>
          </p:cNvPr>
          <p:cNvCxnSpPr>
            <a:cxnSpLocks/>
          </p:cNvCxnSpPr>
          <p:nvPr/>
        </p:nvCxnSpPr>
        <p:spPr>
          <a:xfrm flipV="1">
            <a:off x="7927546" y="4395957"/>
            <a:ext cx="0" cy="92965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2062616-518E-4801-81BD-A9BC447267D1}"/>
              </a:ext>
            </a:extLst>
          </p:cNvPr>
          <p:cNvCxnSpPr>
            <a:cxnSpLocks/>
          </p:cNvCxnSpPr>
          <p:nvPr/>
        </p:nvCxnSpPr>
        <p:spPr>
          <a:xfrm flipV="1">
            <a:off x="8668952" y="3845360"/>
            <a:ext cx="0" cy="149929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9C367FC-1A64-42A3-82B1-DE77689C393B}"/>
              </a:ext>
            </a:extLst>
          </p:cNvPr>
          <p:cNvCxnSpPr>
            <a:cxnSpLocks/>
          </p:cNvCxnSpPr>
          <p:nvPr/>
        </p:nvCxnSpPr>
        <p:spPr>
          <a:xfrm flipV="1">
            <a:off x="9435071" y="2721982"/>
            <a:ext cx="0" cy="260362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C36A4F1-E43A-4225-BA4A-9738CD96FDB8}"/>
              </a:ext>
            </a:extLst>
          </p:cNvPr>
          <p:cNvCxnSpPr>
            <a:cxnSpLocks/>
          </p:cNvCxnSpPr>
          <p:nvPr/>
        </p:nvCxnSpPr>
        <p:spPr>
          <a:xfrm flipV="1">
            <a:off x="10225904" y="2148902"/>
            <a:ext cx="0" cy="317670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52DA801-EE96-478A-861B-21DAF1B795B4}"/>
              </a:ext>
            </a:extLst>
          </p:cNvPr>
          <p:cNvSpPr/>
          <p:nvPr/>
        </p:nvSpPr>
        <p:spPr>
          <a:xfrm>
            <a:off x="6061673" y="4212001"/>
            <a:ext cx="1285104" cy="51312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발명의 구성 일부가 변경된 경우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63FA6E6-E715-4B58-B830-E07837345ED6}"/>
              </a:ext>
            </a:extLst>
          </p:cNvPr>
          <p:cNvSpPr/>
          <p:nvPr/>
        </p:nvSpPr>
        <p:spPr>
          <a:xfrm>
            <a:off x="6061673" y="3760977"/>
            <a:ext cx="1285104" cy="388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범위가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다른 경우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9DFAD8F-B2EF-430B-85ED-C81CBE890D41}"/>
              </a:ext>
            </a:extLst>
          </p:cNvPr>
          <p:cNvSpPr/>
          <p:nvPr/>
        </p:nvSpPr>
        <p:spPr>
          <a:xfrm>
            <a:off x="7591161" y="4710423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유형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030B629-6F80-4553-9932-F186809C22C0}"/>
              </a:ext>
            </a:extLst>
          </p:cNvPr>
          <p:cNvSpPr/>
          <p:nvPr/>
        </p:nvSpPr>
        <p:spPr>
          <a:xfrm>
            <a:off x="8312716" y="4230315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B</a:t>
            </a:r>
            <a:r>
              <a:rPr lang="ko-KR" altLang="en-US" sz="1400" dirty="0"/>
              <a:t>유형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49F4C5-27B8-484E-A2D6-218E837D1278}"/>
              </a:ext>
            </a:extLst>
          </p:cNvPr>
          <p:cNvSpPr/>
          <p:nvPr/>
        </p:nvSpPr>
        <p:spPr>
          <a:xfrm>
            <a:off x="9082719" y="3315858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</a:t>
            </a:r>
            <a:r>
              <a:rPr lang="ko-KR" altLang="en-US" sz="1400" dirty="0"/>
              <a:t>유형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E80DB301-43C2-4C3E-B667-5D37B4BE640A}"/>
              </a:ext>
            </a:extLst>
          </p:cNvPr>
          <p:cNvSpPr/>
          <p:nvPr/>
        </p:nvSpPr>
        <p:spPr>
          <a:xfrm>
            <a:off x="9873552" y="2450719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</a:t>
            </a:r>
            <a:r>
              <a:rPr lang="ko-KR" altLang="en-US" sz="1400" dirty="0"/>
              <a:t>유형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54876DF7-BFA3-4E13-94C6-EC2230FE1696}"/>
              </a:ext>
            </a:extLst>
          </p:cNvPr>
          <p:cNvSpPr/>
          <p:nvPr/>
        </p:nvSpPr>
        <p:spPr>
          <a:xfrm>
            <a:off x="854512" y="5879411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유형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3681720-4689-4654-9644-1A5CBDFB5854}"/>
              </a:ext>
            </a:extLst>
          </p:cNvPr>
          <p:cNvSpPr/>
          <p:nvPr/>
        </p:nvSpPr>
        <p:spPr>
          <a:xfrm>
            <a:off x="549712" y="1073345"/>
            <a:ext cx="11044166" cy="46737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B6F5ECE-3C61-4C36-9B76-C9BF03EDCBC2}"/>
              </a:ext>
            </a:extLst>
          </p:cNvPr>
          <p:cNvSpPr/>
          <p:nvPr/>
        </p:nvSpPr>
        <p:spPr>
          <a:xfrm>
            <a:off x="7035137" y="5879411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B</a:t>
            </a:r>
            <a:r>
              <a:rPr lang="ko-KR" altLang="en-US" sz="1400" dirty="0"/>
              <a:t>유형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B9F256-3F04-4B55-9727-D61607BA73C1}"/>
              </a:ext>
            </a:extLst>
          </p:cNvPr>
          <p:cNvSpPr/>
          <p:nvPr/>
        </p:nvSpPr>
        <p:spPr>
          <a:xfrm>
            <a:off x="1607772" y="6335544"/>
            <a:ext cx="4323128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선출원주의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E54CE7C-8C1A-40F6-87C9-3B061930E4B6}"/>
              </a:ext>
            </a:extLst>
          </p:cNvPr>
          <p:cNvSpPr/>
          <p:nvPr/>
        </p:nvSpPr>
        <p:spPr>
          <a:xfrm>
            <a:off x="7830295" y="6335544"/>
            <a:ext cx="4328745" cy="38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무권리자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허위표시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EF5F959-C0D2-4999-B6A8-FF693E4C11A7}"/>
              </a:ext>
            </a:extLst>
          </p:cNvPr>
          <p:cNvSpPr/>
          <p:nvPr/>
        </p:nvSpPr>
        <p:spPr>
          <a:xfrm>
            <a:off x="854512" y="6361915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</a:t>
            </a:r>
            <a:r>
              <a:rPr lang="ko-KR" altLang="en-US" sz="1400" dirty="0"/>
              <a:t>유형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50FAEF3C-F999-4776-B9B4-AD158F2F5FDC}"/>
              </a:ext>
            </a:extLst>
          </p:cNvPr>
          <p:cNvSpPr/>
          <p:nvPr/>
        </p:nvSpPr>
        <p:spPr>
          <a:xfrm>
            <a:off x="7035137" y="6361915"/>
            <a:ext cx="704704" cy="3480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</a:t>
            </a:r>
            <a:r>
              <a:rPr lang="ko-KR" altLang="en-US" sz="1400" dirty="0"/>
              <a:t>유형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A3712B5-25A6-25EE-47B4-60B1945DA7EA}"/>
              </a:ext>
            </a:extLst>
          </p:cNvPr>
          <p:cNvCxnSpPr>
            <a:stCxn id="75" idx="3"/>
          </p:cNvCxnSpPr>
          <p:nvPr/>
        </p:nvCxnSpPr>
        <p:spPr>
          <a:xfrm flipV="1">
            <a:off x="7346777" y="4320988"/>
            <a:ext cx="949088" cy="147577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69875D2-E3AA-90B0-960D-DF86D14B00BE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7346777" y="3489877"/>
            <a:ext cx="1735942" cy="978688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34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B63A-50F1-B76D-2BF8-125E15A6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D7A54D-66D3-F5B7-711B-5FA5CF21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CE7C8A-821D-62DA-97BD-2CB6A79D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동일성의 유형</a:t>
            </a:r>
            <a:r>
              <a:rPr lang="en-US" altLang="ko-KR" dirty="0">
                <a:solidFill>
                  <a:srgbClr val="525252"/>
                </a:solidFill>
              </a:rPr>
              <a:t>(A, B </a:t>
            </a:r>
            <a:r>
              <a:rPr lang="ko-KR" altLang="en-US" dirty="0">
                <a:solidFill>
                  <a:srgbClr val="525252"/>
                </a:solidFill>
              </a:rPr>
              <a:t>유형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054A69-E7C4-3322-2398-EE0A9EA091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76856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75873C-DAFF-8681-E59B-BF11F98AB0F3}"/>
              </a:ext>
            </a:extLst>
          </p:cNvPr>
          <p:cNvSpPr/>
          <p:nvPr/>
        </p:nvSpPr>
        <p:spPr>
          <a:xfrm>
            <a:off x="634504" y="1074882"/>
            <a:ext cx="347025" cy="13889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981472-F4E2-92B1-AF06-13967CDEDA51}"/>
              </a:ext>
            </a:extLst>
          </p:cNvPr>
          <p:cNvSpPr txBox="1"/>
          <p:nvPr/>
        </p:nvSpPr>
        <p:spPr>
          <a:xfrm>
            <a:off x="55628" y="1083453"/>
            <a:ext cx="440005" cy="41478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  <a:endParaRPr lang="ko-KR" alt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B94CF-DF44-5C49-F8E4-093CC9DDA25E}"/>
              </a:ext>
            </a:extLst>
          </p:cNvPr>
          <p:cNvSpPr/>
          <p:nvPr/>
        </p:nvSpPr>
        <p:spPr>
          <a:xfrm>
            <a:off x="1011010" y="1074883"/>
            <a:ext cx="5186590" cy="13889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</a:rPr>
              <a:t>47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항에서 최초로 첨부된 명세서 또는 도면에 기재된 </a:t>
            </a:r>
            <a:r>
              <a:rPr lang="ko-KR" altLang="en-US" sz="1100" dirty="0">
                <a:solidFill>
                  <a:srgbClr val="FF0000"/>
                </a:solidFill>
              </a:rPr>
              <a:t>사항이란 최초 명세서 등에 명시적으로 기재되어 있는 사항이거나 또는 명시적인 기재가 없더라도 그 발명이 속하는 기술분야에서 통상의 지식을 가진 사람이라면 출원시의 </a:t>
            </a:r>
            <a:r>
              <a:rPr lang="ko-KR" altLang="en-US" sz="1100" dirty="0" err="1">
                <a:solidFill>
                  <a:srgbClr val="FF0000"/>
                </a:solidFill>
              </a:rPr>
              <a:t>기술상식에</a:t>
            </a:r>
            <a:r>
              <a:rPr lang="ko-KR" altLang="en-US" sz="1100" dirty="0">
                <a:solidFill>
                  <a:srgbClr val="FF0000"/>
                </a:solidFill>
              </a:rPr>
              <a:t> 비추어 보아 보정된 사항이 최초 명세서 등에 기재되어 있는 것과 마찬가지라고 이해할 수 있는 </a:t>
            </a:r>
            <a:r>
              <a:rPr lang="ko-KR" altLang="en-US" sz="1100" dirty="0" err="1">
                <a:solidFill>
                  <a:srgbClr val="FF0000"/>
                </a:solidFill>
              </a:rPr>
              <a:t>사항</a:t>
            </a:r>
            <a:r>
              <a:rPr lang="ko-KR" altLang="en-US" sz="1100" dirty="0" err="1">
                <a:solidFill>
                  <a:schemeClr val="tx1"/>
                </a:solidFill>
              </a:rPr>
              <a:t>이어야</a:t>
            </a:r>
            <a:r>
              <a:rPr lang="ko-KR" altLang="en-US" sz="1100" dirty="0">
                <a:solidFill>
                  <a:schemeClr val="tx1"/>
                </a:solidFill>
              </a:rPr>
              <a:t> 한다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또한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</a:rPr>
              <a:t>보정된 사항이 </a:t>
            </a:r>
            <a:r>
              <a:rPr lang="ko-KR" altLang="en-US" sz="1100" dirty="0" err="1">
                <a:solidFill>
                  <a:schemeClr val="tx1"/>
                </a:solidFill>
                <a:highlight>
                  <a:srgbClr val="00FFFF"/>
                </a:highlight>
              </a:rPr>
              <a:t>주지관용기술이더라도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</a:rPr>
              <a:t> 그것이 통상의 기술자가 최초 명세서 및 도면에 기재되어 있는 것과 마찬가지라고 이해할 수 있는 사항이 아니라면</a:t>
            </a:r>
            <a:r>
              <a:rPr lang="en-US" altLang="ko-KR" sz="1100" dirty="0">
                <a:solidFill>
                  <a:schemeClr val="tx1"/>
                </a:solidFill>
                <a:highlight>
                  <a:srgbClr val="00FFFF"/>
                </a:highlight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</a:rPr>
              <a:t>이를 추가하는 보정은 최초 명세서 및 도면에 기재된 사항의 범위를 벗어난 것이어서 허용될 수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2007. 2. 8.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2005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3130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85F50F-08CF-00C2-A563-9E578F3EF957}"/>
              </a:ext>
            </a:extLst>
          </p:cNvPr>
          <p:cNvSpPr/>
          <p:nvPr/>
        </p:nvSpPr>
        <p:spPr>
          <a:xfrm>
            <a:off x="1011010" y="2529609"/>
            <a:ext cx="5186590" cy="2766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그런데 이와 같은 국내 우선권 제도에 의하여 실제 특허출원일보다 앞서 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주장일에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</a:rPr>
              <a:t> 것으로 보아 그 </a:t>
            </a:r>
            <a:r>
              <a:rPr lang="ko-KR" altLang="en-US" sz="1100" dirty="0" err="1">
                <a:solidFill>
                  <a:schemeClr val="tx1"/>
                </a:solidFill>
              </a:rPr>
              <a:t>특허요건을</a:t>
            </a:r>
            <a:r>
              <a:rPr lang="ko-KR" altLang="en-US" sz="1100" dirty="0">
                <a:solidFill>
                  <a:schemeClr val="tx1"/>
                </a:solidFill>
              </a:rPr>
              <a:t> 심사함으로써 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주장일과</a:t>
            </a:r>
            <a:r>
              <a:rPr lang="ko-KR" altLang="en-US" sz="1100" dirty="0">
                <a:solidFill>
                  <a:schemeClr val="tx1"/>
                </a:solidFill>
              </a:rPr>
              <a:t> 우선권 주장을 수반하는 특허출원일 사이에 특허출원을 한 사람 등 제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자의 이익을 부당하게 침해하는 결과가 일어날 수 있음은 특허법 제</a:t>
            </a:r>
            <a:r>
              <a:rPr lang="en-US" altLang="ko-KR" sz="1100" dirty="0">
                <a:solidFill>
                  <a:schemeClr val="tx1"/>
                </a:solidFill>
              </a:rPr>
              <a:t>47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항의 규정에 의한 명세서 또는 도면의 보정이 받아들여져 그 효과가 출원 시로 소급하는 경우와 별다른 차이가 없으므로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이러한 보정의 경우와 같은 관점에서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주장일에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</a:rPr>
              <a:t> 것으로 보아 </a:t>
            </a:r>
            <a:r>
              <a:rPr lang="ko-KR" altLang="en-US" sz="1100" dirty="0" err="1">
                <a:solidFill>
                  <a:schemeClr val="tx1"/>
                </a:solidFill>
              </a:rPr>
              <a:t>특허요건을</a:t>
            </a:r>
            <a:r>
              <a:rPr lang="ko-KR" altLang="en-US" sz="1100" dirty="0">
                <a:solidFill>
                  <a:schemeClr val="tx1"/>
                </a:solidFill>
              </a:rPr>
              <a:t> 심사하는 발명의 범위를 제한할 필요가 있다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따라서 특허법 제</a:t>
            </a:r>
            <a:r>
              <a:rPr lang="en-US" altLang="ko-KR" sz="1100" dirty="0">
                <a:solidFill>
                  <a:schemeClr val="tx1"/>
                </a:solidFill>
              </a:rPr>
              <a:t>55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항에 따라 </a:t>
            </a:r>
            <a:r>
              <a:rPr lang="ko-KR" altLang="en-US" sz="1100" dirty="0" err="1">
                <a:solidFill>
                  <a:schemeClr val="tx1"/>
                </a:solidFill>
              </a:rPr>
              <a:t>특허요건</a:t>
            </a:r>
            <a:r>
              <a:rPr lang="ko-KR" altLang="en-US" sz="1100" dirty="0">
                <a:solidFill>
                  <a:schemeClr val="tx1"/>
                </a:solidFill>
              </a:rPr>
              <a:t> 적용의 기준일이 우선권 </a:t>
            </a:r>
            <a:r>
              <a:rPr lang="ko-KR" altLang="en-US" sz="1100" dirty="0" err="1">
                <a:solidFill>
                  <a:schemeClr val="tx1"/>
                </a:solidFill>
              </a:rPr>
              <a:t>주장일로</a:t>
            </a:r>
            <a:r>
              <a:rPr lang="ko-KR" altLang="en-US" sz="1100" dirty="0">
                <a:solidFill>
                  <a:schemeClr val="tx1"/>
                </a:solidFill>
              </a:rPr>
              <a:t> 소급하는 발명은 특허법 제</a:t>
            </a:r>
            <a:r>
              <a:rPr lang="en-US" altLang="ko-KR" sz="1100" dirty="0">
                <a:solidFill>
                  <a:schemeClr val="tx1"/>
                </a:solidFill>
              </a:rPr>
              <a:t>47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항과 마찬가지로 우선권 주장을 수반하는 </a:t>
            </a:r>
            <a:r>
              <a:rPr lang="ko-KR" altLang="en-US" sz="1100" dirty="0" err="1">
                <a:solidFill>
                  <a:schemeClr val="tx1"/>
                </a:solidFill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</a:rPr>
              <a:t> 발명 가운데 우선권 주장의 기초가 된 </a:t>
            </a:r>
            <a:r>
              <a:rPr lang="ko-KR" altLang="en-US" sz="11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100" dirty="0">
                <a:solidFill>
                  <a:schemeClr val="tx1"/>
                </a:solidFill>
              </a:rPr>
              <a:t> 최초 명세서 등에 기재된 사항의 범위 안에 있는 것으로 한정된다고 봄이 타당하다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그리고 여기서 ‘우선권 주장의 기초가 된 </a:t>
            </a:r>
            <a:r>
              <a:rPr lang="ko-KR" altLang="en-US" sz="11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100" dirty="0">
                <a:solidFill>
                  <a:schemeClr val="tx1"/>
                </a:solidFill>
              </a:rPr>
              <a:t> 최초 명세서 등에 기재된 </a:t>
            </a:r>
            <a:r>
              <a:rPr lang="ko-KR" altLang="en-US" sz="1100" dirty="0" err="1">
                <a:solidFill>
                  <a:schemeClr val="tx1"/>
                </a:solidFill>
              </a:rPr>
              <a:t>사항’이란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우선권 주장의 기초가 된 </a:t>
            </a:r>
            <a:r>
              <a:rPr lang="ko-KR" altLang="en-US" sz="11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100" dirty="0">
                <a:solidFill>
                  <a:srgbClr val="FF0000"/>
                </a:solidFill>
              </a:rPr>
              <a:t> 최초 명세서 등에 명시적으로 기재되어 있는 사항이거나 또는 명시적인 기재가 없더라도 그 발명이 속하는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</a:rPr>
              <a:t>기술자’라</a:t>
            </a:r>
            <a:r>
              <a:rPr lang="ko-KR" altLang="en-US" sz="1100" dirty="0">
                <a:solidFill>
                  <a:srgbClr val="FF0000"/>
                </a:solidFill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>
                <a:solidFill>
                  <a:srgbClr val="FF0000"/>
                </a:solidFill>
              </a:rPr>
              <a:t>이라면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우선권 주장일 당시</a:t>
            </a:r>
            <a:r>
              <a:rPr lang="ko-KR" altLang="en-US" sz="1100" dirty="0">
                <a:solidFill>
                  <a:srgbClr val="FF0000"/>
                </a:solidFill>
              </a:rPr>
              <a:t>의 </a:t>
            </a:r>
            <a:r>
              <a:rPr lang="ko-KR" altLang="en-US" sz="1100" dirty="0" err="1">
                <a:solidFill>
                  <a:srgbClr val="FF0000"/>
                </a:solidFill>
              </a:rPr>
              <a:t>기술상식에</a:t>
            </a:r>
            <a:r>
              <a:rPr lang="ko-KR" altLang="en-US" sz="1100" dirty="0">
                <a:solidFill>
                  <a:srgbClr val="FF0000"/>
                </a:solidFill>
              </a:rPr>
              <a:t> 비추어 보아 우선권 주장을 수반하는 </a:t>
            </a:r>
            <a:r>
              <a:rPr lang="ko-KR" altLang="en-US" sz="1100" dirty="0" err="1">
                <a:solidFill>
                  <a:srgbClr val="FF0000"/>
                </a:solidFill>
              </a:rPr>
              <a:t>특허출원된</a:t>
            </a:r>
            <a:r>
              <a:rPr lang="ko-KR" altLang="en-US" sz="1100" dirty="0">
                <a:solidFill>
                  <a:srgbClr val="FF0000"/>
                </a:solidFill>
              </a:rPr>
              <a:t> 발명이 </a:t>
            </a:r>
            <a:r>
              <a:rPr lang="ko-KR" altLang="en-US" sz="11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100" dirty="0">
                <a:solidFill>
                  <a:srgbClr val="FF0000"/>
                </a:solidFill>
              </a:rPr>
              <a:t> 최초 명세서 등에 기재되어 있는 것과 마찬가지라고 이해할 수 있는 </a:t>
            </a:r>
            <a:r>
              <a:rPr lang="ko-KR" altLang="en-US" sz="1100" dirty="0" err="1">
                <a:solidFill>
                  <a:srgbClr val="FF0000"/>
                </a:solidFill>
              </a:rPr>
              <a:t>사항</a:t>
            </a:r>
            <a:r>
              <a:rPr lang="ko-KR" altLang="en-US" sz="1100" dirty="0" err="1">
                <a:solidFill>
                  <a:schemeClr val="tx1"/>
                </a:solidFill>
              </a:rPr>
              <a:t>이어야</a:t>
            </a:r>
            <a:r>
              <a:rPr lang="ko-KR" altLang="en-US" sz="1100" dirty="0">
                <a:solidFill>
                  <a:schemeClr val="tx1"/>
                </a:solidFill>
              </a:rPr>
              <a:t> 한다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2015. 1. 15.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2012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2999).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326ABD-A50D-7305-E5BD-D27CEE5B2125}"/>
              </a:ext>
            </a:extLst>
          </p:cNvPr>
          <p:cNvSpPr/>
          <p:nvPr/>
        </p:nvSpPr>
        <p:spPr>
          <a:xfrm>
            <a:off x="634504" y="2529609"/>
            <a:ext cx="347025" cy="27662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B84D5E-118C-69A6-7679-F46C7C68A32D}"/>
              </a:ext>
            </a:extLst>
          </p:cNvPr>
          <p:cNvSpPr/>
          <p:nvPr/>
        </p:nvSpPr>
        <p:spPr>
          <a:xfrm>
            <a:off x="1011010" y="5353627"/>
            <a:ext cx="5186590" cy="1390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특허발명의 명세서 또는 도면의 정정은 그 명세서 또는 도면에 기재된 사항의 범위 이내에서 할 수 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여기서 ‘명세서 또는 도면에 기재된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사항’이라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함은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거기에 명시적으로 기재되어 있는 것뿐만 아니라 기재되어 있지는 않지만 출원시의 기술상식으로 볼 때 그 발명이 속하는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기술자’라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이면 명시적으로 기재되어 있는 내용 자체로부터 그와 같은 기재가 있는 것과 마찬가지라고 명확하게 이해할 수 있는 사항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을 포함하지만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상위개념을 하위개념으로 정정하였다고 하더라도 그러한 사항의 범위를 넘는 </a:t>
            </a:r>
            <a:r>
              <a:rPr lang="ko-KR" altLang="en-US" sz="1100" dirty="0" err="1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신규사항을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 추가하여 특허발명의 명세서 또는 도면을 정정하는 것은 허용될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2014. 2. 27. 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2012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후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3404 </a:t>
            </a:r>
            <a:r>
              <a:rPr lang="ko-KR" altLang="en-US" sz="1100" kern="100" spc="-100" dirty="0">
                <a:solidFill>
                  <a:srgbClr val="000000"/>
                </a:solidFill>
                <a:latin typeface="+mn-ea"/>
              </a:rPr>
              <a:t>판결 </a:t>
            </a:r>
            <a:r>
              <a:rPr lang="en-US" altLang="ko-KR" sz="1100" kern="100" spc="-100" dirty="0">
                <a:solidFill>
                  <a:srgbClr val="000000"/>
                </a:solidFill>
                <a:latin typeface="+mn-ea"/>
              </a:rPr>
              <a:t>)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A4CF28-1FAB-190C-F06F-47CE22FCE23F}"/>
              </a:ext>
            </a:extLst>
          </p:cNvPr>
          <p:cNvSpPr/>
          <p:nvPr/>
        </p:nvSpPr>
        <p:spPr>
          <a:xfrm>
            <a:off x="634504" y="5350514"/>
            <a:ext cx="347025" cy="13931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정정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심판</a:t>
            </a:r>
          </a:p>
        </p:txBody>
      </p:sp>
      <p:cxnSp>
        <p:nvCxnSpPr>
          <p:cNvPr id="19" name="꺾인 연결선 9">
            <a:extLst>
              <a:ext uri="{FF2B5EF4-FFF2-40B4-BE49-F238E27FC236}">
                <a16:creationId xmlns:a16="http://schemas.microsoft.com/office/drawing/2014/main" id="{4E1D4F53-3343-0A6C-DE6F-0AACA37C2ED7}"/>
              </a:ext>
            </a:extLst>
          </p:cNvPr>
          <p:cNvCxnSpPr>
            <a:cxnSpLocks/>
            <a:stCxn id="13" idx="6"/>
            <a:endCxn id="12" idx="1"/>
          </p:cNvCxnSpPr>
          <p:nvPr/>
        </p:nvCxnSpPr>
        <p:spPr>
          <a:xfrm>
            <a:off x="495633" y="1290843"/>
            <a:ext cx="138871" cy="47849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1">
            <a:extLst>
              <a:ext uri="{FF2B5EF4-FFF2-40B4-BE49-F238E27FC236}">
                <a16:creationId xmlns:a16="http://schemas.microsoft.com/office/drawing/2014/main" id="{9E5F2201-5683-DC68-0956-FAD494D7330F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>
          <a:xfrm>
            <a:off x="495633" y="1290843"/>
            <a:ext cx="138871" cy="262191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2">
            <a:extLst>
              <a:ext uri="{FF2B5EF4-FFF2-40B4-BE49-F238E27FC236}">
                <a16:creationId xmlns:a16="http://schemas.microsoft.com/office/drawing/2014/main" id="{20CE3F7A-F48F-3D9C-B464-5F9A4E63A4F3}"/>
              </a:ext>
            </a:extLst>
          </p:cNvPr>
          <p:cNvCxnSpPr>
            <a:cxnSpLocks/>
            <a:stCxn id="13" idx="6"/>
            <a:endCxn id="18" idx="1"/>
          </p:cNvCxnSpPr>
          <p:nvPr/>
        </p:nvCxnSpPr>
        <p:spPr>
          <a:xfrm>
            <a:off x="495633" y="1290843"/>
            <a:ext cx="138871" cy="475626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054490-684F-4472-5383-7F37D7F3087D}"/>
              </a:ext>
            </a:extLst>
          </p:cNvPr>
          <p:cNvSpPr/>
          <p:nvPr/>
        </p:nvSpPr>
        <p:spPr>
          <a:xfrm>
            <a:off x="6904381" y="1090246"/>
            <a:ext cx="347025" cy="2198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신규성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01302F-86A4-5236-4420-60BBC9400DCC}"/>
              </a:ext>
            </a:extLst>
          </p:cNvPr>
          <p:cNvSpPr txBox="1"/>
          <p:nvPr/>
        </p:nvSpPr>
        <p:spPr>
          <a:xfrm>
            <a:off x="6267449" y="1116772"/>
            <a:ext cx="440005" cy="41478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en-US" altLang="ko-KR" sz="1400" dirty="0">
                <a:solidFill>
                  <a:srgbClr val="FFFF00"/>
                </a:solidFill>
              </a:rPr>
              <a:t>B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2E0739-1BFF-D031-0F66-F5B66C9FEF2C}"/>
              </a:ext>
            </a:extLst>
          </p:cNvPr>
          <p:cNvSpPr/>
          <p:nvPr/>
        </p:nvSpPr>
        <p:spPr>
          <a:xfrm>
            <a:off x="7312558" y="1090245"/>
            <a:ext cx="4784191" cy="2204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</a:rPr>
              <a:t>29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항의 발명의 동일성 여부의 판단은 특허청구범위에 기재된 양 </a:t>
            </a:r>
            <a:r>
              <a:rPr lang="ko-KR" altLang="en-US" sz="1100" dirty="0">
                <a:solidFill>
                  <a:srgbClr val="FF0000"/>
                </a:solidFill>
              </a:rPr>
              <a:t>발명의 기술적 구성이 동일한가 여부에 의하여 판단하되 그 효과도 참작하여야 할 것인바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기술적 구성에 차이가 있더라도 그 차이가 과제 해결을 위한 구체적 수단에서 주지 </a:t>
            </a:r>
            <a:r>
              <a:rPr lang="ko-KR" altLang="en-US" sz="1100" dirty="0" err="1">
                <a:solidFill>
                  <a:srgbClr val="FF0000"/>
                </a:solidFill>
              </a:rPr>
              <a:t>관용기술의</a:t>
            </a:r>
            <a:r>
              <a:rPr lang="ko-KR" altLang="en-US" sz="1100" dirty="0">
                <a:solidFill>
                  <a:srgbClr val="FF0000"/>
                </a:solidFill>
              </a:rPr>
              <a:t> 부가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삭제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변경 등으로 새로운 효과의 발생이 없는 정도의 미세한 차이에 불과하다면 양 발명은 서로 동일하다는 </a:t>
            </a:r>
            <a:r>
              <a:rPr lang="ko-KR" altLang="en-US" sz="1100" dirty="0">
                <a:solidFill>
                  <a:schemeClr val="tx1"/>
                </a:solidFill>
              </a:rPr>
              <a:t>법리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2001. 6. 1.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98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1013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, 2004. 3. 12.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2002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2778 </a:t>
            </a:r>
            <a:r>
              <a:rPr lang="ko-KR" altLang="en-US" sz="1100" dirty="0">
                <a:solidFill>
                  <a:schemeClr val="tx1"/>
                </a:solidFill>
              </a:rPr>
              <a:t>판결 등 참조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r>
              <a:rPr lang="ko-KR" altLang="en-US" sz="1100" dirty="0">
                <a:solidFill>
                  <a:schemeClr val="tx1"/>
                </a:solidFill>
              </a:rPr>
              <a:t>와 기록에 나타난 이 사건 </a:t>
            </a:r>
            <a:r>
              <a:rPr lang="ko-KR" altLang="en-US" sz="1100" dirty="0" err="1">
                <a:solidFill>
                  <a:schemeClr val="tx1"/>
                </a:solidFill>
              </a:rPr>
              <a:t>특허발명이</a:t>
            </a:r>
            <a:r>
              <a:rPr lang="ko-KR" altLang="en-US" sz="1100" dirty="0">
                <a:solidFill>
                  <a:schemeClr val="tx1"/>
                </a:solidFill>
              </a:rPr>
              <a:t> 해결하고자 하는 과제 및 효과 등을 종합하면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이 사건 특허발명과 선행발명에서 차이가 나는 부분은 그 기술적 사상에 영향을 미치지 않는 단순한 설계변경에 해당하거나 그 </a:t>
            </a:r>
            <a:r>
              <a:rPr lang="ko-KR" altLang="en-US" sz="1100" dirty="0" err="1">
                <a:solidFill>
                  <a:schemeClr val="tx1"/>
                </a:solidFill>
              </a:rPr>
              <a:t>과제해결을</a:t>
            </a:r>
            <a:r>
              <a:rPr lang="ko-KR" altLang="en-US" sz="1100" dirty="0">
                <a:solidFill>
                  <a:schemeClr val="tx1"/>
                </a:solidFill>
              </a:rPr>
              <a:t> 위한 미세한 차이에 지나지 아니하므로 양 발명은 실질적으로 동일하다고 본 원심의 인정과 판단은 정당하고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거기에 상고이유에서 주장하는 바와 같은 발명의 </a:t>
            </a:r>
            <a:r>
              <a:rPr lang="ko-KR" altLang="en-US" sz="1100" dirty="0" err="1">
                <a:solidFill>
                  <a:schemeClr val="tx1"/>
                </a:solidFill>
              </a:rPr>
              <a:t>신규성에</a:t>
            </a:r>
            <a:r>
              <a:rPr lang="ko-KR" altLang="en-US" sz="1100" dirty="0">
                <a:solidFill>
                  <a:schemeClr val="tx1"/>
                </a:solidFill>
              </a:rPr>
              <a:t> 관한 법리오해나 진보성에 관한 법리오해 등의 위법이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2004. 10. 15.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2003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472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EDA0597-7949-E3D0-C6BD-4C00E92FD96A}"/>
              </a:ext>
            </a:extLst>
          </p:cNvPr>
          <p:cNvSpPr/>
          <p:nvPr/>
        </p:nvSpPr>
        <p:spPr>
          <a:xfrm>
            <a:off x="7312558" y="3349936"/>
            <a:ext cx="4784191" cy="1536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r>
              <a:rPr lang="ko-KR" altLang="en-US" sz="1100" dirty="0">
                <a:solidFill>
                  <a:srgbClr val="FF0000"/>
                </a:solidFill>
              </a:rPr>
              <a:t>발명의 동일성은 발명의 진보성과는 구별되는 것으로서 두 발명의 기술적 구성이 동일한지 여부에 따르되 발명의 효과도 참작해서 판단해야 한다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</a:rPr>
              <a:t>두 발명의 기술적 구성에 차이가 있더라도 그 차이가 과제해결을 위한 구체적 수단에서 </a:t>
            </a:r>
            <a:r>
              <a:rPr lang="ko-KR" altLang="en-US" sz="1100" dirty="0" err="1">
                <a:solidFill>
                  <a:srgbClr val="FF0000"/>
                </a:solidFill>
              </a:rPr>
              <a:t>주지관용기술의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 err="1">
                <a:solidFill>
                  <a:srgbClr val="FF0000"/>
                </a:solidFill>
              </a:rPr>
              <a:t>부가ㆍ삭제ㆍ변경</a:t>
            </a:r>
            <a:r>
              <a:rPr lang="ko-KR" altLang="en-US" sz="1100" dirty="0">
                <a:solidFill>
                  <a:srgbClr val="FF0000"/>
                </a:solidFill>
              </a:rPr>
              <a:t> 등에 지나지 않아 새로운 효과가 발생하지 않는 정도의 미세한 차이가 있을 뿐이라면 두 발명은 서로 실질적으로 동일하다고 할 수 있다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그러나 두 발명의 기술적 구성의 차이가 위와 같은 정도를 벗어난다면 설령 그 차이가 그 발명이 속하는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00FFFF"/>
                </a:highlight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  <a:highlight>
                  <a:srgbClr val="00FFFF"/>
                </a:highlight>
              </a:rPr>
              <a:t>기술자’라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00FFFF"/>
                </a:highlight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00FFFF"/>
                </a:highlight>
              </a:rPr>
              <a:t>이 용이하게 도출할 수 있는 범위 내라고 하더라도 두 발명이 동일하다고 할 수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2011. 4. 28.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2010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2179 </a:t>
            </a:r>
            <a:r>
              <a:rPr lang="ko-KR" altLang="en-US" sz="1100" dirty="0">
                <a:solidFill>
                  <a:schemeClr val="tx1"/>
                </a:solidFill>
              </a:rPr>
              <a:t>판결 등 참조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80F385F-DFD8-40E4-0C9E-DAC16AB35A1E}"/>
              </a:ext>
            </a:extLst>
          </p:cNvPr>
          <p:cNvSpPr/>
          <p:nvPr/>
        </p:nvSpPr>
        <p:spPr>
          <a:xfrm>
            <a:off x="6904381" y="3349936"/>
            <a:ext cx="347025" cy="32957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확대된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선출원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3C13905-A10B-9B3F-C912-CEF5150D8312}"/>
              </a:ext>
            </a:extLst>
          </p:cNvPr>
          <p:cNvSpPr/>
          <p:nvPr/>
        </p:nvSpPr>
        <p:spPr>
          <a:xfrm>
            <a:off x="7312558" y="4936481"/>
            <a:ext cx="4784191" cy="1709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>
              <a:tabLst>
                <a:tab pos="408940" algn="l"/>
                <a:tab pos="624840" algn="l"/>
                <a:tab pos="4561840" algn="r"/>
                <a:tab pos="408940" algn="l"/>
                <a:tab pos="624840" algn="l"/>
                <a:tab pos="4561840" algn="r"/>
              </a:tabLst>
            </a:pPr>
            <a:r>
              <a:rPr lang="ko-KR" altLang="en-US" sz="1100" kern="0" dirty="0" err="1">
                <a:solidFill>
                  <a:schemeClr val="tx1"/>
                </a:solidFill>
                <a:latin typeface="+mn-ea"/>
              </a:rPr>
              <a:t>특허출원한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 발명이 그보다 먼저 출원된 다른 발명의 특허출원서에 최초로 첨부된 명세서에 기재된 특허청구범위나 발명의 상세한 설명 또는 도면의 내용과 동일성이 인정될 경우에는 </a:t>
            </a:r>
            <a:r>
              <a:rPr lang="ko-KR" altLang="en-US" sz="1100" kern="0" dirty="0" err="1">
                <a:solidFill>
                  <a:schemeClr val="tx1"/>
                </a:solidFill>
                <a:latin typeface="+mn-ea"/>
              </a:rPr>
              <a:t>선출원된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 발명이 나중에 공개된 경우에도 특허를 받을 수 없다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이 경우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전후로 출원된 양 발명의 </a:t>
            </a:r>
            <a:r>
              <a:rPr lang="ko-KR" altLang="en-US" sz="1100" kern="0" dirty="0">
                <a:solidFill>
                  <a:srgbClr val="FF0000"/>
                </a:solidFill>
                <a:highlight>
                  <a:srgbClr val="00FFFF"/>
                </a:highlight>
                <a:latin typeface="+mn-ea"/>
              </a:rPr>
              <a:t>기술적 구성이 전면적으로 일치하는 경우는 물론 부분적으로만 일치하더라도 그 차이가 발명의 포섭 범위를 달리한 데 지나지 아니하는 때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에는 양 발명은 특별한 사정이 없는 한 실질적 동일성이 있다 할 것이다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또한 양 발명의 구성의 차이가 그 기술분야에서 통상의 지식을 가진 사람에게는 이미 널리 알려져 활용되고 있는 기술을 부가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변경한 것에 지나지 아니하여 새로운 </a:t>
            </a:r>
            <a:r>
              <a:rPr lang="ko-KR" altLang="en-US" sz="1100" kern="0" dirty="0" err="1">
                <a:solidFill>
                  <a:srgbClr val="FF0000"/>
                </a:solidFill>
                <a:latin typeface="+mn-ea"/>
              </a:rPr>
              <a:t>작용효과가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 발생한다고 보기 어려운 경우에도 마찬가지라 할 것이다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2013. 2. 28.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2012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726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kern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6" name="꺾인 연결선 5">
            <a:extLst>
              <a:ext uri="{FF2B5EF4-FFF2-40B4-BE49-F238E27FC236}">
                <a16:creationId xmlns:a16="http://schemas.microsoft.com/office/drawing/2014/main" id="{DFDCE16D-33DE-7F0E-5EAB-5D02F2D11881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6707454" y="1324162"/>
            <a:ext cx="196927" cy="86509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7">
            <a:extLst>
              <a:ext uri="{FF2B5EF4-FFF2-40B4-BE49-F238E27FC236}">
                <a16:creationId xmlns:a16="http://schemas.microsoft.com/office/drawing/2014/main" id="{B0011AB3-8DAD-92B6-C5A4-C3EDFA583590}"/>
              </a:ext>
            </a:extLst>
          </p:cNvPr>
          <p:cNvCxnSpPr>
            <a:cxnSpLocks/>
            <a:stCxn id="30" idx="6"/>
            <a:endCxn id="33" idx="1"/>
          </p:cNvCxnSpPr>
          <p:nvPr/>
        </p:nvCxnSpPr>
        <p:spPr>
          <a:xfrm>
            <a:off x="6707454" y="1324162"/>
            <a:ext cx="196927" cy="367367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말풍선: 모서리가 둥근 사각형 90">
            <a:extLst>
              <a:ext uri="{FF2B5EF4-FFF2-40B4-BE49-F238E27FC236}">
                <a16:creationId xmlns:a16="http://schemas.microsoft.com/office/drawing/2014/main" id="{D71C52A0-8BC8-4187-F32E-BD4F8F942DE9}"/>
              </a:ext>
            </a:extLst>
          </p:cNvPr>
          <p:cNvSpPr/>
          <p:nvPr/>
        </p:nvSpPr>
        <p:spPr>
          <a:xfrm>
            <a:off x="6904381" y="746666"/>
            <a:ext cx="4392269" cy="288386"/>
          </a:xfrm>
          <a:prstGeom prst="wedgeRoundRectCallout">
            <a:avLst>
              <a:gd name="adj1" fmla="val -19370"/>
              <a:gd name="adj2" fmla="val 15182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실질적 동일성 중 구성이 변경된 경우</a:t>
            </a:r>
            <a:r>
              <a:rPr lang="en-US" altLang="ko-KR" sz="1400" dirty="0">
                <a:solidFill>
                  <a:schemeClr val="accent2"/>
                </a:solidFill>
              </a:rPr>
              <a:t>: </a:t>
            </a:r>
            <a:r>
              <a:rPr lang="ko-KR" altLang="en-US" sz="1400" dirty="0">
                <a:solidFill>
                  <a:schemeClr val="accent2"/>
                </a:solidFill>
              </a:rPr>
              <a:t>진보성 판단과 차이</a:t>
            </a:r>
          </a:p>
        </p:txBody>
      </p:sp>
      <p:sp>
        <p:nvSpPr>
          <p:cNvPr id="92" name="말풍선: 모서리가 둥근 사각형 91">
            <a:extLst>
              <a:ext uri="{FF2B5EF4-FFF2-40B4-BE49-F238E27FC236}">
                <a16:creationId xmlns:a16="http://schemas.microsoft.com/office/drawing/2014/main" id="{1B353247-E9F1-C665-5DA1-50A3DAF7EFA9}"/>
              </a:ext>
            </a:extLst>
          </p:cNvPr>
          <p:cNvSpPr/>
          <p:nvPr/>
        </p:nvSpPr>
        <p:spPr>
          <a:xfrm>
            <a:off x="9209430" y="6501536"/>
            <a:ext cx="2887319" cy="288386"/>
          </a:xfrm>
          <a:prstGeom prst="wedgeRoundRectCallout">
            <a:avLst>
              <a:gd name="adj1" fmla="val -25968"/>
              <a:gd name="adj2" fmla="val -30066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실질적 동일성 중 범위가 다른 경우</a:t>
            </a:r>
          </a:p>
        </p:txBody>
      </p:sp>
    </p:spTree>
    <p:extLst>
      <p:ext uri="{BB962C8B-B14F-4D97-AF65-F5344CB8AC3E}">
        <p14:creationId xmlns:p14="http://schemas.microsoft.com/office/powerpoint/2010/main" val="3495440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0FD4-B29E-34BA-8AAE-77FFAE72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8C515BA-234C-06DB-FF9F-586E68C0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D3DA03-FFF0-19E1-B9BC-68BE58ED5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동일성의 유형</a:t>
            </a:r>
            <a:r>
              <a:rPr lang="en-US" altLang="ko-KR" dirty="0">
                <a:solidFill>
                  <a:srgbClr val="525252"/>
                </a:solidFill>
              </a:rPr>
              <a:t>(C, D </a:t>
            </a:r>
            <a:r>
              <a:rPr lang="ko-KR" altLang="en-US" dirty="0">
                <a:solidFill>
                  <a:srgbClr val="525252"/>
                </a:solidFill>
              </a:rPr>
              <a:t>유형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9158BD-A2F2-9892-5D23-C029B07878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76856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A2B38E-FCDE-5C35-0B08-292E6E91D1B6}"/>
              </a:ext>
            </a:extLst>
          </p:cNvPr>
          <p:cNvSpPr/>
          <p:nvPr/>
        </p:nvSpPr>
        <p:spPr>
          <a:xfrm>
            <a:off x="634504" y="1074882"/>
            <a:ext cx="347025" cy="2804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선출원주의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4743D-99D2-82F1-8289-66A0CBBDAF33}"/>
              </a:ext>
            </a:extLst>
          </p:cNvPr>
          <p:cNvSpPr txBox="1"/>
          <p:nvPr/>
        </p:nvSpPr>
        <p:spPr>
          <a:xfrm>
            <a:off x="55628" y="1064403"/>
            <a:ext cx="440005" cy="41478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  <a:endParaRPr lang="ko-KR" alt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022171-6157-FABF-84BF-86C17FA765E7}"/>
              </a:ext>
            </a:extLst>
          </p:cNvPr>
          <p:cNvSpPr/>
          <p:nvPr/>
        </p:nvSpPr>
        <p:spPr>
          <a:xfrm>
            <a:off x="1011010" y="1074883"/>
            <a:ext cx="5004664" cy="1114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구 특허법</a:t>
            </a:r>
            <a:r>
              <a:rPr lang="en-US" altLang="ko-KR" sz="1100" dirty="0">
                <a:solidFill>
                  <a:schemeClr val="tx1"/>
                </a:solidFill>
              </a:rPr>
              <a:t>(2001. 2. 3. </a:t>
            </a:r>
            <a:r>
              <a:rPr lang="ko-KR" altLang="en-US" sz="1100" dirty="0">
                <a:solidFill>
                  <a:schemeClr val="tx1"/>
                </a:solidFill>
              </a:rPr>
              <a:t>법률 제</a:t>
            </a:r>
            <a:r>
              <a:rPr lang="en-US" altLang="ko-KR" sz="1100" dirty="0">
                <a:solidFill>
                  <a:schemeClr val="tx1"/>
                </a:solidFill>
              </a:rPr>
              <a:t>6411</a:t>
            </a:r>
            <a:r>
              <a:rPr lang="ko-KR" altLang="en-US" sz="1100" dirty="0">
                <a:solidFill>
                  <a:schemeClr val="tx1"/>
                </a:solidFill>
              </a:rPr>
              <a:t>호로 개정되기 전의 것</a:t>
            </a:r>
            <a:r>
              <a:rPr lang="en-US" altLang="ko-KR" sz="1100" dirty="0">
                <a:solidFill>
                  <a:schemeClr val="tx1"/>
                </a:solidFill>
              </a:rPr>
              <a:t>) </a:t>
            </a:r>
            <a:r>
              <a:rPr lang="ko-KR" altLang="en-US" sz="1100" dirty="0">
                <a:solidFill>
                  <a:schemeClr val="tx1"/>
                </a:solidFill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</a:rPr>
              <a:t>36</a:t>
            </a:r>
            <a:r>
              <a:rPr lang="ko-KR" altLang="en-US" sz="1100" dirty="0">
                <a:solidFill>
                  <a:schemeClr val="tx1"/>
                </a:solidFill>
              </a:rPr>
              <a:t>조를 적용하기 위한 전제로서 두 발명이 서로 동일한 발명인지 여부는 </a:t>
            </a:r>
            <a:r>
              <a:rPr lang="ko-KR" altLang="en-US" sz="1100" dirty="0">
                <a:solidFill>
                  <a:srgbClr val="FF0000"/>
                </a:solidFill>
              </a:rPr>
              <a:t>대비되는 두 발명의 실체를 파악하여 따져 보아야 할 것이지 표현양식에 따른 차이에 따라 판단할 것은 아니므로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대비되는 두 발명이 각각 물건의 발명과 방법의 발명으로 서로 발명의 범주가 다르다고 하여 곧바로 동일한 발명이 아니라고 단정할 수 없다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2007. 1. 12.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2005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3017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38FDA0-8D6C-33E9-95CC-48F475B3C4A0}"/>
              </a:ext>
            </a:extLst>
          </p:cNvPr>
          <p:cNvSpPr/>
          <p:nvPr/>
        </p:nvSpPr>
        <p:spPr>
          <a:xfrm>
            <a:off x="1011010" y="2234334"/>
            <a:ext cx="5004664" cy="16451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구 특허법</a:t>
            </a:r>
            <a:r>
              <a:rPr lang="en-US" altLang="ko-KR" sz="1100" dirty="0">
                <a:solidFill>
                  <a:schemeClr val="tx1"/>
                </a:solidFill>
              </a:rPr>
              <a:t>(1990. 1. 13. </a:t>
            </a:r>
            <a:r>
              <a:rPr lang="ko-KR" altLang="en-US" sz="1100" dirty="0">
                <a:solidFill>
                  <a:schemeClr val="tx1"/>
                </a:solidFill>
              </a:rPr>
              <a:t>법률 제</a:t>
            </a:r>
            <a:r>
              <a:rPr lang="en-US" altLang="ko-KR" sz="1100" dirty="0">
                <a:solidFill>
                  <a:schemeClr val="tx1"/>
                </a:solidFill>
              </a:rPr>
              <a:t>42307</a:t>
            </a:r>
            <a:r>
              <a:rPr lang="ko-KR" altLang="en-US" sz="1100" dirty="0">
                <a:solidFill>
                  <a:schemeClr val="tx1"/>
                </a:solidFill>
              </a:rPr>
              <a:t>호로 전문 개정되기 전의 것</a:t>
            </a:r>
            <a:r>
              <a:rPr lang="en-US" altLang="ko-KR" sz="1100" dirty="0">
                <a:solidFill>
                  <a:schemeClr val="tx1"/>
                </a:solidFill>
              </a:rPr>
              <a:t>) </a:t>
            </a:r>
            <a:r>
              <a:rPr lang="ko-KR" altLang="en-US" sz="1100" dirty="0">
                <a:solidFill>
                  <a:schemeClr val="tx1"/>
                </a:solidFill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</a:rPr>
              <a:t>11</a:t>
            </a:r>
            <a:r>
              <a:rPr lang="ko-KR" altLang="en-US" sz="1100" dirty="0">
                <a:solidFill>
                  <a:schemeClr val="tx1"/>
                </a:solidFill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항은 동일한 발명에 대하여는 최선출원에 한하여 특허를 받을 수 있다고 규정하여 동일한 발명에 대한 중복등록을 방지하기 위하여 선원주의를 채택하고 있는바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전후로 출원된 양 발명이 동일하다고 함은 그 기술적 구성이 전면적으로 일치하는 경우는 물론 그 범위에 차이가 있을 뿐 부분적으로 일치하는 경우라도 특별한 사정이 없는 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양 발명은 동일하고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비록 양 발명의 구성에 상이점이 있어도 그 기술분야에 통상의 지식을 가진 자가 보통으로 채용하는 정도의 변경에 지나지 아니하고 발명의 목적과 작용효과에 특별한 차이를 일으키지 아니하는 경우</a:t>
            </a:r>
            <a:r>
              <a:rPr lang="ko-KR" altLang="en-US" sz="1100" dirty="0">
                <a:solidFill>
                  <a:schemeClr val="tx1"/>
                </a:solidFill>
              </a:rPr>
              <a:t>에는 양 발명은 역시 동일한 발명이다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대법원 </a:t>
            </a:r>
            <a:r>
              <a:rPr lang="en-US" altLang="ko-KR" sz="1100" dirty="0">
                <a:solidFill>
                  <a:schemeClr val="tx1"/>
                </a:solidFill>
              </a:rPr>
              <a:t>2009. 9. 24. </a:t>
            </a:r>
            <a:r>
              <a:rPr lang="ko-KR" altLang="en-US" sz="1100" dirty="0">
                <a:solidFill>
                  <a:schemeClr val="tx1"/>
                </a:solidFill>
              </a:rPr>
              <a:t>선고 </a:t>
            </a:r>
            <a:r>
              <a:rPr lang="en-US" altLang="ko-KR" sz="1100" dirty="0">
                <a:solidFill>
                  <a:schemeClr val="tx1"/>
                </a:solidFill>
              </a:rPr>
              <a:t>2007</a:t>
            </a:r>
            <a:r>
              <a:rPr lang="ko-KR" altLang="en-US" sz="1100" dirty="0">
                <a:solidFill>
                  <a:schemeClr val="tx1"/>
                </a:solidFill>
              </a:rPr>
              <a:t>후</a:t>
            </a:r>
            <a:r>
              <a:rPr lang="en-US" altLang="ko-KR" sz="1100" dirty="0">
                <a:solidFill>
                  <a:schemeClr val="tx1"/>
                </a:solidFill>
              </a:rPr>
              <a:t>2827 </a:t>
            </a:r>
            <a:r>
              <a:rPr lang="ko-KR" altLang="en-US" sz="1100" dirty="0">
                <a:solidFill>
                  <a:schemeClr val="tx1"/>
                </a:solidFill>
              </a:rPr>
              <a:t>판결</a:t>
            </a:r>
            <a:r>
              <a:rPr lang="en-US" altLang="ko-KR" sz="1100" dirty="0">
                <a:solidFill>
                  <a:schemeClr val="tx1"/>
                </a:solidFill>
              </a:rPr>
              <a:t>).</a:t>
            </a:r>
          </a:p>
        </p:txBody>
      </p:sp>
      <p:cxnSp>
        <p:nvCxnSpPr>
          <p:cNvPr id="19" name="꺾인 연결선 9">
            <a:extLst>
              <a:ext uri="{FF2B5EF4-FFF2-40B4-BE49-F238E27FC236}">
                <a16:creationId xmlns:a16="http://schemas.microsoft.com/office/drawing/2014/main" id="{90154E4F-736B-F86C-D771-4884F1073D14}"/>
              </a:ext>
            </a:extLst>
          </p:cNvPr>
          <p:cNvCxnSpPr>
            <a:cxnSpLocks/>
            <a:stCxn id="13" idx="6"/>
            <a:endCxn id="12" idx="1"/>
          </p:cNvCxnSpPr>
          <p:nvPr/>
        </p:nvCxnSpPr>
        <p:spPr>
          <a:xfrm>
            <a:off x="495633" y="1271793"/>
            <a:ext cx="138871" cy="120539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CBF175C-77A5-3277-DD97-20893EF9F18D}"/>
              </a:ext>
            </a:extLst>
          </p:cNvPr>
          <p:cNvSpPr/>
          <p:nvPr/>
        </p:nvSpPr>
        <p:spPr>
          <a:xfrm>
            <a:off x="6799606" y="1090245"/>
            <a:ext cx="347025" cy="25733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허위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표시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1CF478-181B-82EE-BB2A-6543625565CE}"/>
              </a:ext>
            </a:extLst>
          </p:cNvPr>
          <p:cNvSpPr txBox="1"/>
          <p:nvPr/>
        </p:nvSpPr>
        <p:spPr>
          <a:xfrm>
            <a:off x="6213528" y="1087215"/>
            <a:ext cx="440005" cy="4147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en-US" altLang="ko-KR" sz="1400" dirty="0">
                <a:solidFill>
                  <a:srgbClr val="FFFF00"/>
                </a:solidFill>
              </a:rPr>
              <a:t>D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9D15D28-58F8-0ED6-4CE3-B8F7E5C21724}"/>
              </a:ext>
            </a:extLst>
          </p:cNvPr>
          <p:cNvSpPr/>
          <p:nvPr/>
        </p:nvSpPr>
        <p:spPr>
          <a:xfrm>
            <a:off x="7239610" y="1090244"/>
            <a:ext cx="4790465" cy="25733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224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호는 같은 조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호의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것이 아닌 물건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특허출원 중이 아닌 물건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것이 아닌 방법이나 특허출원 중이 아닌 방법에 의하여 생산한 물건을 생산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사용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양도하기 위하여 광고 등에 그 물건이 특허나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특허출원된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 또는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방법이나 특허출원 중인 방법에 따라 생산한 것으로 표시하거나 이와 혼동하기 쉬운 표시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이하 ‘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 등으로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표시’라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를 하는 행위를 금지하고 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위 규정의 취지는 특허로 인한 거래상의 유리함과 특허에 관한 공중의 신뢰를 악용하여 공중을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오인시키는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행위를 처벌함으로써 거래의 안전을 보호하는 데에 있다고 할 것이다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이러한 취지에 비추어 볼 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것 등으로 표시한 물건의 기술적 구성이 청구범위에 기재된 발명의 구성을 일부 변경한 것이라고 하더라도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그러한 변경이 해당 기술분야에서 통상의 지식을 가진 사람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이하 ‘통상의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기술자’라고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보통 채용하는 정도로 기술적 구성을 부가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․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변경한 것에 지나지 아니하고 그로 인하여 발명의 효과에 특별한 차이가 생기지도 아니하는 등 공중을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오인시킬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정도에 이르지 아니한 경우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에는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위 물건에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특허된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것 등으로 표시를 하는 행위가 위 규정에서 금지하는 표시행위에 해당한다고 볼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2015. 8. 13.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2013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도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10265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판결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2B48AF-F502-25D7-F3D8-C0BB890D9A92}"/>
              </a:ext>
            </a:extLst>
          </p:cNvPr>
          <p:cNvSpPr/>
          <p:nvPr/>
        </p:nvSpPr>
        <p:spPr>
          <a:xfrm>
            <a:off x="7239610" y="3724133"/>
            <a:ext cx="4790465" cy="1228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>
              <a:tabLst>
                <a:tab pos="408940" algn="l"/>
                <a:tab pos="624840" algn="l"/>
                <a:tab pos="4561840" algn="r"/>
                <a:tab pos="408940" algn="l"/>
                <a:tab pos="624840" algn="l"/>
                <a:tab pos="4561840" algn="r"/>
              </a:tabLst>
            </a:pP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발명자가 아닌 사람으로서 특허를 받을 수 있는 권리의 승계인이 아닌 사람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이하 ‘</a:t>
            </a:r>
            <a:r>
              <a:rPr lang="ko-KR" altLang="en-US" sz="1100" kern="0" dirty="0" err="1">
                <a:solidFill>
                  <a:schemeClr val="tx1"/>
                </a:solidFill>
                <a:latin typeface="+mn-ea"/>
              </a:rPr>
              <a:t>무권리자’라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이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발명자가 한 발명의 구성을 일부 변경함으로써 그 기술적 구성이 발명자의 발명과 상이하게 되었더라도</a:t>
            </a:r>
            <a:r>
              <a:rPr lang="en-US" altLang="ko-KR" sz="1100" kern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변경이 그 기술분야에서 통상의 지식을 가진 사람이 보통으로 채용하는 정도의 기술적 구성의 </a:t>
            </a:r>
            <a:r>
              <a:rPr lang="ko-KR" altLang="en-US" sz="1100" kern="0" dirty="0" err="1">
                <a:solidFill>
                  <a:srgbClr val="FF0000"/>
                </a:solidFill>
                <a:latin typeface="+mn-ea"/>
              </a:rPr>
              <a:t>부가⋅삭제⋅변경에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 지나지 않고 그로 인하여 발명의 작용효과에 특별한 차이를 일으키지 않는 등 기술적 사상의 창작에 실질적으로 기여하지 않은 경우</a:t>
            </a:r>
            <a:r>
              <a:rPr lang="ko-KR" altLang="en-US" sz="1100" kern="0" dirty="0">
                <a:solidFill>
                  <a:schemeClr val="tx1"/>
                </a:solidFill>
                <a:latin typeface="+mn-ea"/>
              </a:rPr>
              <a:t>에 그 특허발명은 무권리자의 특허출원에 해당하여 등록이 무효이다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2011. 9. 29.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2009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2463 </a:t>
            </a:r>
            <a:r>
              <a:rPr lang="ko-KR" altLang="en-US" sz="1100" kern="100" spc="-100" dirty="0">
                <a:solidFill>
                  <a:schemeClr val="tx1"/>
                </a:solidFill>
                <a:latin typeface="+mn-ea"/>
              </a:rPr>
              <a:t>판결 </a:t>
            </a:r>
            <a:r>
              <a:rPr lang="en-US" altLang="ko-KR" sz="1100" kern="100" spc="-10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1100" kern="0" dirty="0">
                <a:solidFill>
                  <a:schemeClr val="tx1"/>
                </a:solidFill>
                <a:latin typeface="+mn-ea"/>
              </a:rPr>
              <a:t>. </a:t>
            </a:r>
            <a:endParaRPr lang="ko-KR" altLang="en-US" sz="11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605478-99C2-D9EC-5EED-7547C494350E}"/>
              </a:ext>
            </a:extLst>
          </p:cNvPr>
          <p:cNvSpPr/>
          <p:nvPr/>
        </p:nvSpPr>
        <p:spPr>
          <a:xfrm>
            <a:off x="6799606" y="3724133"/>
            <a:ext cx="347025" cy="1228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무권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리자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6" name="꺾인 연결선 5">
            <a:extLst>
              <a:ext uri="{FF2B5EF4-FFF2-40B4-BE49-F238E27FC236}">
                <a16:creationId xmlns:a16="http://schemas.microsoft.com/office/drawing/2014/main" id="{4F022FEA-4FB2-47B9-4552-C743B98A2AD8}"/>
              </a:ext>
            </a:extLst>
          </p:cNvPr>
          <p:cNvCxnSpPr>
            <a:cxnSpLocks/>
            <a:stCxn id="30" idx="6"/>
            <a:endCxn id="29" idx="1"/>
          </p:cNvCxnSpPr>
          <p:nvPr/>
        </p:nvCxnSpPr>
        <p:spPr>
          <a:xfrm>
            <a:off x="6653533" y="1294605"/>
            <a:ext cx="146073" cy="10822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7">
            <a:extLst>
              <a:ext uri="{FF2B5EF4-FFF2-40B4-BE49-F238E27FC236}">
                <a16:creationId xmlns:a16="http://schemas.microsoft.com/office/drawing/2014/main" id="{251A3920-7310-1E41-C7D8-548BBDDD2028}"/>
              </a:ext>
            </a:extLst>
          </p:cNvPr>
          <p:cNvCxnSpPr>
            <a:cxnSpLocks/>
            <a:stCxn id="30" idx="6"/>
            <a:endCxn id="33" idx="1"/>
          </p:cNvCxnSpPr>
          <p:nvPr/>
        </p:nvCxnSpPr>
        <p:spPr>
          <a:xfrm>
            <a:off x="6653533" y="1294605"/>
            <a:ext cx="146073" cy="304396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말풍선: 모서리가 둥근 사각형 23">
            <a:extLst>
              <a:ext uri="{FF2B5EF4-FFF2-40B4-BE49-F238E27FC236}">
                <a16:creationId xmlns:a16="http://schemas.microsoft.com/office/drawing/2014/main" id="{366246DA-29C6-B68B-50DB-2787FAB0B31B}"/>
              </a:ext>
            </a:extLst>
          </p:cNvPr>
          <p:cNvSpPr/>
          <p:nvPr/>
        </p:nvSpPr>
        <p:spPr>
          <a:xfrm>
            <a:off x="6015674" y="5167740"/>
            <a:ext cx="3601694" cy="294667"/>
          </a:xfrm>
          <a:prstGeom prst="wedgeRoundRectCallout">
            <a:avLst>
              <a:gd name="adj1" fmla="val -15100"/>
              <a:gd name="adj2" fmla="val -18176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진보성 </a:t>
            </a:r>
            <a:r>
              <a:rPr lang="en-US" altLang="ko-KR" sz="1400" dirty="0">
                <a:solidFill>
                  <a:schemeClr val="accent2"/>
                </a:solidFill>
              </a:rPr>
              <a:t>× + </a:t>
            </a:r>
            <a:r>
              <a:rPr lang="ko-KR" altLang="en-US" sz="1400" dirty="0">
                <a:solidFill>
                  <a:schemeClr val="accent2"/>
                </a:solidFill>
              </a:rPr>
              <a:t>등 </a:t>
            </a:r>
            <a:r>
              <a:rPr lang="en-US" altLang="ko-KR" sz="1400" dirty="0">
                <a:solidFill>
                  <a:schemeClr val="accent2"/>
                </a:solidFill>
              </a:rPr>
              <a:t>+ </a:t>
            </a:r>
            <a:r>
              <a:rPr lang="ko-KR" altLang="en-US" sz="1400" dirty="0">
                <a:solidFill>
                  <a:schemeClr val="accent2"/>
                </a:solidFill>
              </a:rPr>
              <a:t>기술적 사상의 창작 기여 </a:t>
            </a:r>
            <a:r>
              <a:rPr lang="en-US" altLang="ko-KR" sz="1400" dirty="0">
                <a:solidFill>
                  <a:schemeClr val="accent2"/>
                </a:solidFill>
              </a:rPr>
              <a:t>×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말풍선: 모서리가 둥근 사각형 24">
            <a:extLst>
              <a:ext uri="{FF2B5EF4-FFF2-40B4-BE49-F238E27FC236}">
                <a16:creationId xmlns:a16="http://schemas.microsoft.com/office/drawing/2014/main" id="{B5228C61-D6B7-8738-A1DE-7C2173948017}"/>
              </a:ext>
            </a:extLst>
          </p:cNvPr>
          <p:cNvSpPr/>
          <p:nvPr/>
        </p:nvSpPr>
        <p:spPr>
          <a:xfrm>
            <a:off x="7432053" y="659593"/>
            <a:ext cx="3601694" cy="294667"/>
          </a:xfrm>
          <a:prstGeom prst="wedgeRoundRectCallout">
            <a:avLst>
              <a:gd name="adj1" fmla="val 10211"/>
              <a:gd name="adj2" fmla="val 50299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진보성 </a:t>
            </a:r>
            <a:r>
              <a:rPr lang="en-US" altLang="ko-KR" sz="1400" dirty="0">
                <a:solidFill>
                  <a:schemeClr val="accent2"/>
                </a:solidFill>
              </a:rPr>
              <a:t>× + </a:t>
            </a:r>
            <a:r>
              <a:rPr lang="ko-KR" altLang="en-US" sz="1400" dirty="0">
                <a:solidFill>
                  <a:schemeClr val="accent2"/>
                </a:solidFill>
              </a:rPr>
              <a:t>등 </a:t>
            </a:r>
            <a:r>
              <a:rPr lang="en-US" altLang="ko-KR" sz="1400" dirty="0">
                <a:solidFill>
                  <a:schemeClr val="accent2"/>
                </a:solidFill>
              </a:rPr>
              <a:t>+ </a:t>
            </a:r>
            <a:r>
              <a:rPr lang="ko-KR" altLang="en-US" sz="1400" dirty="0">
                <a:solidFill>
                  <a:schemeClr val="accent2"/>
                </a:solidFill>
              </a:rPr>
              <a:t>공중 오인 </a:t>
            </a:r>
            <a:r>
              <a:rPr lang="en-US" altLang="ko-KR" sz="1400" dirty="0">
                <a:solidFill>
                  <a:schemeClr val="accent2"/>
                </a:solidFill>
              </a:rPr>
              <a:t>×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405A4B8A-738D-D385-F192-1EE73E25BC1E}"/>
              </a:ext>
            </a:extLst>
          </p:cNvPr>
          <p:cNvSpPr/>
          <p:nvPr/>
        </p:nvSpPr>
        <p:spPr>
          <a:xfrm>
            <a:off x="981529" y="4014138"/>
            <a:ext cx="4907558" cy="288386"/>
          </a:xfrm>
          <a:prstGeom prst="wedgeRoundRectCallout">
            <a:avLst>
              <a:gd name="adj1" fmla="val -15100"/>
              <a:gd name="adj2" fmla="val -18176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</a:rPr>
              <a:t>실질적 동일성 중 구성이 변경된 경우</a:t>
            </a:r>
            <a:r>
              <a:rPr lang="en-US" altLang="ko-KR" sz="1400" dirty="0">
                <a:solidFill>
                  <a:schemeClr val="accent2"/>
                </a:solidFill>
              </a:rPr>
              <a:t>: </a:t>
            </a:r>
            <a:r>
              <a:rPr lang="ko-KR" altLang="en-US" sz="1400" dirty="0">
                <a:solidFill>
                  <a:schemeClr val="accent2"/>
                </a:solidFill>
              </a:rPr>
              <a:t>진보성 판단에 준하여 판단</a:t>
            </a:r>
          </a:p>
        </p:txBody>
      </p: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0DDB1A28-8AA8-3B53-4067-AB1C048A887D}"/>
              </a:ext>
            </a:extLst>
          </p:cNvPr>
          <p:cNvSpPr/>
          <p:nvPr/>
        </p:nvSpPr>
        <p:spPr>
          <a:xfrm>
            <a:off x="3917409" y="672846"/>
            <a:ext cx="2736124" cy="294667"/>
          </a:xfrm>
          <a:prstGeom prst="wedgeRoundRectCallout">
            <a:avLst>
              <a:gd name="adj1" fmla="val -42921"/>
              <a:gd name="adj2" fmla="val 148051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/>
                </a:solidFill>
              </a:rPr>
              <a:t>실질적 동일성 중 범주가 다른 경우</a:t>
            </a:r>
            <a:endParaRPr lang="ko-KR" altLang="en-US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41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동일성의</a:t>
            </a:r>
            <a:r>
              <a:rPr lang="en-US" altLang="ko-KR" dirty="0"/>
              <a:t> </a:t>
            </a:r>
            <a:r>
              <a:rPr lang="ko-KR" altLang="en-US" dirty="0"/>
              <a:t>유형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64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3C3125-9274-4CEB-BCF6-72027120C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012595"/>
              </p:ext>
            </p:extLst>
          </p:nvPr>
        </p:nvGraphicFramePr>
        <p:xfrm>
          <a:off x="311276" y="1020240"/>
          <a:ext cx="11588624" cy="4805790"/>
        </p:xfrm>
        <a:graphic>
          <a:graphicData uri="http://schemas.openxmlformats.org/drawingml/2006/table">
            <a:tbl>
              <a:tblPr/>
              <a:tblGrid>
                <a:gridCol w="704724">
                  <a:extLst>
                    <a:ext uri="{9D8B030D-6E8A-4147-A177-3AD203B41FA5}">
                      <a16:colId xmlns:a16="http://schemas.microsoft.com/office/drawing/2014/main" val="31557353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5318533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116165727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49033440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726362088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162968218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63305122"/>
                    </a:ext>
                  </a:extLst>
                </a:gridCol>
              </a:tblGrid>
              <a:tr h="4805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인용대상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본원발명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동일성 인정여부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02035"/>
                  </a:ext>
                </a:extLst>
              </a:tr>
              <a:tr h="4805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문언적 동일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a+b(</a:t>
                      </a: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 기재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425306"/>
                  </a:ext>
                </a:extLst>
              </a:tr>
              <a:tr h="4805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내재적 동일성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직접 기재와 마찬가지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95561"/>
                  </a:ext>
                </a:extLst>
              </a:tr>
              <a:tr h="48057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실질적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물건발명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제법발명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945453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제법발명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물건발명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098350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a+b+c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결합발명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215270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a+b+c</a:t>
                      </a:r>
                      <a:endParaRPr 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506727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</a:t>
                      </a: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상위개념</a:t>
                      </a:r>
                      <a:r>
                        <a:rPr lang="en-US" altLang="ko-KR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선택발명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595802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</a:t>
                      </a: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상위개념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28130"/>
                  </a:ext>
                </a:extLst>
              </a:tr>
              <a:tr h="480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 불인정</a:t>
                      </a:r>
                      <a:r>
                        <a:rPr lang="en-US" altLang="ko-KR" sz="12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38818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347DFBA-8777-43FA-A37A-98C1EE5E7655}"/>
              </a:ext>
            </a:extLst>
          </p:cNvPr>
          <p:cNvSpPr/>
          <p:nvPr/>
        </p:nvSpPr>
        <p:spPr>
          <a:xfrm>
            <a:off x="225488" y="5842651"/>
            <a:ext cx="1176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fontAlgn="base">
              <a:buFont typeface="Arial" panose="020B0604020202020204" pitchFamily="34" charset="0"/>
              <a:buChar char="•"/>
            </a:pPr>
            <a:r>
              <a:rPr lang="ko-KR" altLang="en-US" sz="1200" kern="0" spc="-60" dirty="0">
                <a:latin typeface="+mn-ea"/>
              </a:rPr>
              <a:t>협의의 동일성</a:t>
            </a:r>
            <a:r>
              <a:rPr lang="en-US" altLang="ko-KR" sz="1200" kern="0" spc="-60" dirty="0">
                <a:latin typeface="+mn-ea"/>
              </a:rPr>
              <a:t>(</a:t>
            </a:r>
            <a:r>
              <a:rPr lang="ko-KR" altLang="en-US" sz="1200" kern="0" spc="-60" dirty="0">
                <a:latin typeface="+mn-ea"/>
              </a:rPr>
              <a:t>신규성</a:t>
            </a:r>
            <a:r>
              <a:rPr lang="en-US" altLang="ko-KR" sz="1200" kern="0" spc="-60" dirty="0">
                <a:latin typeface="+mn-ea"/>
              </a:rPr>
              <a:t>, </a:t>
            </a:r>
            <a:r>
              <a:rPr lang="ko-KR" altLang="en-US" sz="1200" kern="0" spc="-60" dirty="0">
                <a:latin typeface="+mn-ea"/>
              </a:rPr>
              <a:t>확대된 선출원의 지위</a:t>
            </a:r>
            <a:r>
              <a:rPr lang="en-US" altLang="ko-KR" sz="1200" kern="0" spc="-60" dirty="0">
                <a:latin typeface="+mn-ea"/>
              </a:rPr>
              <a:t>): </a:t>
            </a:r>
            <a:r>
              <a:rPr lang="ko-KR" altLang="en-US" sz="1200" kern="0" dirty="0">
                <a:latin typeface="+mn-ea"/>
              </a:rPr>
              <a:t>과제해결을 위한 구체적 수단에서 </a:t>
            </a:r>
            <a:r>
              <a:rPr lang="ko-KR" altLang="en-US" sz="1200" kern="0" dirty="0" err="1">
                <a:solidFill>
                  <a:srgbClr val="FF0000"/>
                </a:solidFill>
                <a:latin typeface="+mn-ea"/>
              </a:rPr>
              <a:t>주지관용기술의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 단순한 부가</a:t>
            </a:r>
            <a:r>
              <a:rPr lang="en-US" altLang="ko-KR" sz="1200" kern="0" spc="-6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전환</a:t>
            </a:r>
            <a:r>
              <a:rPr lang="en-US" altLang="ko-KR" sz="1200" kern="0" spc="-6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삭제</a:t>
            </a:r>
            <a:r>
              <a:rPr lang="ko-KR" altLang="en-US" sz="1200" kern="0" dirty="0">
                <a:latin typeface="+mn-ea"/>
              </a:rPr>
              <a:t> 등에 불과하여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새로운 효과</a:t>
            </a:r>
            <a:r>
              <a:rPr lang="ko-KR" altLang="en-US" sz="1200" kern="0" dirty="0">
                <a:latin typeface="+mn-ea"/>
              </a:rPr>
              <a:t> 발생이 없고</a:t>
            </a:r>
            <a:r>
              <a:rPr lang="en-US" altLang="ko-KR" sz="1200" kern="0" spc="-60" dirty="0">
                <a:latin typeface="+mn-ea"/>
              </a:rPr>
              <a:t>, </a:t>
            </a:r>
            <a:r>
              <a:rPr lang="ko-KR" altLang="en-US" sz="1200" kern="0" dirty="0">
                <a:latin typeface="+mn-ea"/>
              </a:rPr>
              <a:t>발명 간의 차이가 발명의 사상에 실질적인 영향을 미치지 않는 비본질적 사항에 불과한 경우를 말한다</a:t>
            </a:r>
            <a:r>
              <a:rPr lang="en-US" altLang="ko-KR" sz="1200" kern="0" dirty="0">
                <a:latin typeface="+mn-ea"/>
              </a:rPr>
              <a:t>.</a:t>
            </a:r>
          </a:p>
          <a:p>
            <a:pPr marL="171450" indent="-171450" algn="just" fontAlgn="base">
              <a:buFont typeface="Arial" panose="020B0604020202020204" pitchFamily="34" charset="0"/>
              <a:buChar char="•"/>
            </a:pPr>
            <a:r>
              <a:rPr lang="ko-KR" altLang="en-US" sz="1200" kern="0" spc="-60" dirty="0">
                <a:latin typeface="+mn-ea"/>
              </a:rPr>
              <a:t>광의의 동일성</a:t>
            </a:r>
            <a:r>
              <a:rPr lang="en-US" altLang="ko-KR" sz="1200" kern="0" spc="-60" dirty="0">
                <a:latin typeface="+mn-ea"/>
              </a:rPr>
              <a:t>(</a:t>
            </a:r>
            <a:r>
              <a:rPr lang="ko-KR" altLang="en-US" sz="1200" kern="0" spc="-60" dirty="0">
                <a:latin typeface="+mn-ea"/>
              </a:rPr>
              <a:t>선출원주의</a:t>
            </a:r>
            <a:r>
              <a:rPr lang="en-US" altLang="ko-KR" sz="1200" kern="0" spc="-60" dirty="0">
                <a:latin typeface="+mn-ea"/>
              </a:rPr>
              <a:t>): </a:t>
            </a:r>
            <a:r>
              <a:rPr lang="ko-KR" altLang="en-US" sz="1200" kern="0" dirty="0">
                <a:latin typeface="+mn-ea"/>
              </a:rPr>
              <a:t>그 변경이 목적달성을 위한 구체화 수단으로서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통상의 기술자에 의하여 일반적으로 채용될 수 있는 정도의 기술수단의 단순한 치환</a:t>
            </a:r>
            <a:r>
              <a:rPr lang="en-US" altLang="ko-KR" sz="1200" kern="0" spc="-6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부가 또는 삭제 등</a:t>
            </a:r>
            <a:r>
              <a:rPr lang="ko-KR" altLang="en-US" sz="1200" kern="0" dirty="0">
                <a:latin typeface="+mn-ea"/>
              </a:rPr>
              <a:t>에 해당하는 것이고 그 변경에 의하여 발명의 목적 및 </a:t>
            </a:r>
            <a:r>
              <a:rPr lang="ko-KR" altLang="en-US" sz="1200" kern="0" dirty="0">
                <a:solidFill>
                  <a:srgbClr val="FF0000"/>
                </a:solidFill>
                <a:latin typeface="+mn-ea"/>
              </a:rPr>
              <a:t>효과에 각별한 차이</a:t>
            </a:r>
            <a:r>
              <a:rPr lang="ko-KR" altLang="en-US" sz="1200" kern="0" dirty="0">
                <a:latin typeface="+mn-ea"/>
              </a:rPr>
              <a:t>가 생기지 않는 경우를 말한다</a:t>
            </a:r>
            <a:r>
              <a:rPr lang="en-US" altLang="ko-KR" sz="1200" kern="0" spc="-60" dirty="0">
                <a:latin typeface="+mn-ea"/>
              </a:rPr>
              <a:t>.</a:t>
            </a:r>
            <a:endParaRPr lang="ko-KR" altLang="en-US" sz="12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25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발명의 범주가 다른 경우 동일성의 판단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CF2E2A-225A-44AD-8E5F-2006B5EC99DD}"/>
              </a:ext>
            </a:extLst>
          </p:cNvPr>
          <p:cNvSpPr txBox="1"/>
          <p:nvPr/>
        </p:nvSpPr>
        <p:spPr>
          <a:xfrm>
            <a:off x="77875" y="1361857"/>
            <a:ext cx="11936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/>
              <a:t>물건의 발명에서 이와 동일한 발명이 그 출원 전에 공지되었거나 공연히 실시되었음이 인정되면 그 발명의 신규성은 부정된다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FFFF00"/>
                </a:highlight>
              </a:rPr>
              <a:t>특허발명에서 구성요소로 특정된 물건의 구성이나 속성이 선행발명에 명시적으로 개시되어 있지 않은 경우라도 선행발명에 개시된 물건이 특허발명과 동일한 구성이나 속성을 갖는다는 점이 인정된다면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이는 선행발명에 내재된 구성 또는 속성으로 볼 수 있다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/>
              <a:t>이와 같은 경우 특허발명이 해당 구성 또는 속성으로 인한 물질의 새로운 용도를 특허의 대상으로 한다는 등의 특별한 사정이 없는 한 공지된 물건에 원래부터 존재하였던 내재된 구성 또는 속성을 발견한 것에 불과하므로 신규성이 부정된다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FFFF00"/>
                </a:highlight>
              </a:rPr>
              <a:t>이는 그 발명이 속하는 기술분야에서 통상의 지식을 가진 사람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이하 ‘통상의 </a:t>
            </a:r>
            <a:r>
              <a:rPr lang="ko-KR" altLang="en-US" sz="1200" dirty="0" err="1">
                <a:highlight>
                  <a:srgbClr val="FFFF00"/>
                </a:highlight>
              </a:rPr>
              <a:t>기술자’라고</a:t>
            </a:r>
            <a:r>
              <a:rPr lang="ko-KR" altLang="en-US" sz="1200" dirty="0">
                <a:highlight>
                  <a:srgbClr val="FFFF00"/>
                </a:highlight>
              </a:rPr>
              <a:t> 한다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  <a:r>
              <a:rPr lang="ko-KR" altLang="en-US" sz="1200" dirty="0">
                <a:highlight>
                  <a:srgbClr val="FFFF00"/>
                </a:highlight>
              </a:rPr>
              <a:t>이 출원 당시에 그 구성이나 속성을 인식할 수 없었던 경우에도 마찬가지이다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또한 공지된 물건의 내재된 구성 또는 속성을 파악하기 위하여 출원일 이후 공지된 자료를 증거로 사용할 수 있다</a:t>
            </a:r>
            <a:r>
              <a:rPr lang="en-US" altLang="ko-KR" sz="1200" dirty="0"/>
              <a:t>.</a:t>
            </a:r>
          </a:p>
          <a:p>
            <a:pPr fontAlgn="base"/>
            <a:r>
              <a:rPr lang="ko-KR" altLang="en-US" sz="1200" dirty="0"/>
              <a:t>한편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선행발명에 개시된 물건이 특허발명과 동일한 구성 또는 속성을 가질 수도 있다는 가능성 또는 개연성만으로는 두 발명을 동일하다고 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필연적으로 그와 같은 구성 또는 속성을 가진다는 점이 증명되어야 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선행발명이 공지된 물건 그 자체일 경우에는 그 물건과 특허발명의 구성을 대비하여 양 발명이 동일한지 판단할 수 있으나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선행발명이 특정 제조방법에 의해 제작된 물건에 관한 공지된 문헌인 경우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선행발명에 개시된 물건은 선행발명에 개시된 제조방법에 따라 제조된 물건이므로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선행발명에 개시된 제조방법에 따랐을 경우 우연한 결과일 수도 있는 한 </a:t>
            </a:r>
            <a:r>
              <a:rPr lang="ko-KR" altLang="en-US" sz="1200" dirty="0" err="1">
                <a:highlight>
                  <a:srgbClr val="FFFF00"/>
                </a:highlight>
              </a:rPr>
              <a:t>실시례가</a:t>
            </a:r>
            <a:r>
              <a:rPr lang="ko-KR" altLang="en-US" sz="1200" dirty="0">
                <a:highlight>
                  <a:srgbClr val="FFFF00"/>
                </a:highlight>
              </a:rPr>
              <a:t> 위와 같은 구성 또는 속성을 가진다는 점을 넘어 그 결과물이 필연적으로 해당 구성 또는 속성을 가진다는 점이 증명되어야 선행발명과 특허발명이 동일하다고 할 수 있다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8FE81B0-4EAC-43BC-A432-3F1ED8B60173}"/>
              </a:ext>
            </a:extLst>
          </p:cNvPr>
          <p:cNvSpPr/>
          <p:nvPr/>
        </p:nvSpPr>
        <p:spPr>
          <a:xfrm>
            <a:off x="113937" y="985031"/>
            <a:ext cx="5780008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2021. 12. 30.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2017</a:t>
            </a:r>
            <a:r>
              <a:rPr lang="ko-KR" altLang="en-US" sz="1600" dirty="0"/>
              <a:t>후</a:t>
            </a:r>
            <a:r>
              <a:rPr lang="en-US" altLang="ko-KR" sz="1600" dirty="0"/>
              <a:t>1304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	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9A069B6-FEAB-4319-9DED-B2FB8A167478}"/>
              </a:ext>
            </a:extLst>
          </p:cNvPr>
          <p:cNvCxnSpPr/>
          <p:nvPr/>
        </p:nvCxnSpPr>
        <p:spPr>
          <a:xfrm>
            <a:off x="0" y="3116183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2F79AA-4C45-4075-8E67-8E46444B0693}"/>
              </a:ext>
            </a:extLst>
          </p:cNvPr>
          <p:cNvSpPr txBox="1"/>
          <p:nvPr/>
        </p:nvSpPr>
        <p:spPr>
          <a:xfrm>
            <a:off x="1675" y="3146775"/>
            <a:ext cx="6133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200" dirty="0"/>
              <a:t>(1)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은 “</a:t>
            </a:r>
            <a:r>
              <a:rPr lang="ko-KR" altLang="en-US" sz="1200" dirty="0">
                <a:solidFill>
                  <a:srgbClr val="FF0000"/>
                </a:solidFill>
              </a:rPr>
              <a:t>에어로졸 </a:t>
            </a:r>
            <a:r>
              <a:rPr lang="ko-KR" altLang="en-US" sz="1200" dirty="0" err="1">
                <a:solidFill>
                  <a:srgbClr val="FF0000"/>
                </a:solidFill>
              </a:rPr>
              <a:t>디포지션</a:t>
            </a:r>
            <a:r>
              <a:rPr lang="ko-KR" altLang="en-US" sz="1200" dirty="0">
                <a:solidFill>
                  <a:srgbClr val="FF0000"/>
                </a:solidFill>
              </a:rPr>
              <a:t> 방법</a:t>
            </a:r>
            <a:r>
              <a:rPr lang="ko-KR" altLang="en-US" sz="1200" dirty="0"/>
              <a:t>에 의해 형성된 </a:t>
            </a:r>
            <a:r>
              <a:rPr lang="en-US" altLang="ko-KR" sz="1200" dirty="0"/>
              <a:t>PZT </a:t>
            </a:r>
            <a:r>
              <a:rPr lang="ko-KR" altLang="en-US" sz="1200" dirty="0"/>
              <a:t>후막의 미세구조 및 전기적 </a:t>
            </a:r>
            <a:r>
              <a:rPr lang="ko-KR" altLang="en-US" sz="1200" dirty="0" err="1"/>
              <a:t>특성”이라는</a:t>
            </a:r>
            <a:r>
              <a:rPr lang="ko-KR" altLang="en-US" sz="1200" dirty="0"/>
              <a:t> 제목의 논문으로</a:t>
            </a:r>
            <a:r>
              <a:rPr lang="en-US" altLang="ko-KR" sz="1200" dirty="0"/>
              <a:t>, </a:t>
            </a:r>
            <a:r>
              <a:rPr lang="ko-KR" altLang="en-US" sz="1200" dirty="0"/>
              <a:t>공지된 물건 그 자체가 아니라 공지된 문헌이어서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에서 대비대상이 되는 것은 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 제시된 제조방법에 의하여 제조된 막 형상 구조물이다</a:t>
            </a:r>
            <a:r>
              <a:rPr lang="en-US" altLang="ko-KR" sz="1200" dirty="0"/>
              <a:t>.</a:t>
            </a:r>
          </a:p>
          <a:p>
            <a:pPr algn="just"/>
            <a:r>
              <a:rPr lang="en-US" altLang="ko-KR" sz="1200" dirty="0"/>
              <a:t>(2)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발명과 선행발명 </a:t>
            </a:r>
            <a:r>
              <a:rPr lang="en-US" altLang="ko-KR" sz="1200" dirty="0"/>
              <a:t>1</a:t>
            </a:r>
            <a:r>
              <a:rPr lang="ko-KR" altLang="en-US" sz="1200" dirty="0"/>
              <a:t>은 모두 </a:t>
            </a:r>
            <a:r>
              <a:rPr lang="ko-KR" altLang="en-US" sz="1200" dirty="0" err="1"/>
              <a:t>취성</a:t>
            </a:r>
            <a:r>
              <a:rPr lang="ko-KR" altLang="en-US" sz="1200" dirty="0"/>
              <a:t> 재료 미립자를 상온에서 </a:t>
            </a:r>
            <a:r>
              <a:rPr lang="ko-KR" altLang="en-US" sz="1200" dirty="0" err="1"/>
              <a:t>고속분사하여</a:t>
            </a:r>
            <a:r>
              <a:rPr lang="ko-KR" altLang="en-US" sz="1200" dirty="0"/>
              <a:t> 기재 표면에 충돌시킴으로써 미립자를 변형 또는 </a:t>
            </a:r>
            <a:r>
              <a:rPr lang="ko-KR" altLang="en-US" sz="1200" dirty="0" err="1"/>
              <a:t>파쇄하여</a:t>
            </a:r>
            <a:r>
              <a:rPr lang="ko-KR" altLang="en-US" sz="1200" dirty="0"/>
              <a:t> 제작된 막 형상구조물에 관한 것이라는 점에서 공통되고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결과 입자간 결합력이 더 높은 복합 구</a:t>
            </a:r>
            <a:r>
              <a:rPr lang="ko-KR" altLang="en-US" sz="1200" b="0" i="0" u="none" strike="noStrike" baseline="0" dirty="0">
                <a:latin typeface="CourtBT"/>
              </a:rPr>
              <a:t>조물이 형성된다</a:t>
            </a:r>
            <a:r>
              <a:rPr lang="en-US" altLang="ko-KR" sz="1200" b="0" i="0" u="none" strike="noStrike" baseline="0" dirty="0"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(3) </a:t>
            </a:r>
            <a:r>
              <a:rPr lang="ko-KR" altLang="en-US" sz="1200" b="0" i="0" u="none" strike="noStrike" baseline="0" dirty="0">
                <a:latin typeface="CourtBT"/>
              </a:rPr>
              <a:t>다만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발명은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‘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결정끼리의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계면에 유리층으로 된 입계층이 존재하지 않는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것</a:t>
            </a:r>
            <a:r>
              <a:rPr lang="ko-KR" altLang="en-US" sz="1200" b="0" i="0" u="none" strike="noStrike" baseline="0" dirty="0" err="1">
                <a:latin typeface="CourtBT"/>
              </a:rPr>
              <a:t>’을</a:t>
            </a:r>
            <a:r>
              <a:rPr lang="ko-KR" altLang="en-US" sz="1200" b="0" i="0" u="none" strike="noStrike" baseline="0" dirty="0">
                <a:latin typeface="CourtBT"/>
              </a:rPr>
              <a:t> 구성요소로 하는 반면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에는 이에 대응하는 기재가 없고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차이점 </a:t>
            </a:r>
            <a:r>
              <a:rPr lang="en-US" altLang="ko-KR" sz="1200" b="0" i="0" u="none" strike="noStrike" baseline="0" dirty="0">
                <a:latin typeface="CourtBT"/>
              </a:rPr>
              <a:t>1),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발명은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‘구조물의 일부가 기재 표면으로 먹어 들어간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앵커부</a:t>
            </a:r>
            <a:r>
              <a:rPr lang="ko-KR" altLang="en-US" sz="1200" b="0" i="0" u="none" strike="noStrike" baseline="0" dirty="0" err="1">
                <a:latin typeface="CourtBT"/>
              </a:rPr>
              <a:t>’를</a:t>
            </a:r>
            <a:r>
              <a:rPr lang="ko-KR" altLang="en-US" sz="1200" b="0" i="0" u="none" strike="noStrike" baseline="0" dirty="0">
                <a:latin typeface="CourtBT"/>
              </a:rPr>
              <a:t> 구성요소로 하는데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에는 ‘</a:t>
            </a:r>
            <a:r>
              <a:rPr lang="en-US" altLang="ko-KR" sz="1200" b="0" i="0" u="none" strike="noStrike" baseline="0" dirty="0">
                <a:latin typeface="CourtBT"/>
              </a:rPr>
              <a:t>100-150nm </a:t>
            </a:r>
            <a:r>
              <a:rPr lang="ko-KR" altLang="en-US" sz="1200" b="0" i="0" u="none" strike="noStrike" baseline="0" dirty="0">
                <a:latin typeface="CourtBT"/>
              </a:rPr>
              <a:t>두께의 손상층은 </a:t>
            </a:r>
            <a:r>
              <a:rPr lang="ko-KR" altLang="en-US" sz="1200" b="0" i="0" u="none" strike="noStrike" baseline="0" dirty="0" err="1">
                <a:latin typeface="CourtBT"/>
              </a:rPr>
              <a:t>증착되는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latin typeface="CourtBT"/>
              </a:rPr>
              <a:t>동안초미세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en-US" altLang="ko-KR" sz="1200" b="0" i="0" u="none" strike="noStrike" baseline="0" dirty="0">
                <a:latin typeface="CourtBT"/>
              </a:rPr>
              <a:t>PZT </a:t>
            </a:r>
            <a:r>
              <a:rPr lang="ko-KR" altLang="en-US" sz="1200" b="0" i="0" u="none" strike="noStrike" baseline="0" dirty="0">
                <a:latin typeface="CourtBT"/>
              </a:rPr>
              <a:t>입자들의 기계적 충격</a:t>
            </a:r>
            <a:r>
              <a:rPr lang="en-US" altLang="ko-KR" sz="1200" b="0" i="0" u="none" strike="noStrike" baseline="0" dirty="0">
                <a:latin typeface="CourtBT"/>
              </a:rPr>
              <a:t>(anchor)</a:t>
            </a:r>
            <a:r>
              <a:rPr lang="ko-KR" altLang="en-US" sz="1200" b="0" i="0" u="none" strike="noStrike" baseline="0" dirty="0">
                <a:latin typeface="CourtBT"/>
              </a:rPr>
              <a:t>부로 되어 있다’고 기재되어 있다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차이점 </a:t>
            </a:r>
            <a:r>
              <a:rPr lang="en-US" altLang="ko-KR" sz="1200" b="0" i="0" u="none" strike="noStrike" baseline="0" dirty="0">
                <a:latin typeface="CourtBT"/>
              </a:rPr>
              <a:t>2).</a:t>
            </a:r>
          </a:p>
          <a:p>
            <a:pPr algn="just"/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(4)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차이점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대하여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가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발명의 명세서에는 사전처리를 통하여 </a:t>
            </a:r>
            <a:r>
              <a:rPr lang="ko-KR" altLang="en-US" sz="1200" b="0" i="0" u="none" strike="noStrike" baseline="0" dirty="0" err="1">
                <a:latin typeface="CourtBT"/>
              </a:rPr>
              <a:t>취성</a:t>
            </a:r>
            <a:r>
              <a:rPr lang="ko-KR" altLang="en-US" sz="1200" b="0" i="0" u="none" strike="noStrike" baseline="0" dirty="0">
                <a:latin typeface="CourtBT"/>
              </a:rPr>
              <a:t> 재료 미립자에 내부 변형을 부여하는 것이 바람직하다는 내용이 기재되어 있으나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에는 이에 관한 언급이 없고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발명은 ‘원료 미립자의 파쇄로부터 </a:t>
            </a:r>
            <a:r>
              <a:rPr lang="ko-KR" altLang="en-US" sz="1200" b="0" i="0" u="none" strike="noStrike" baseline="0" dirty="0" err="1">
                <a:latin typeface="CourtBT"/>
              </a:rPr>
              <a:t>재결합까지가</a:t>
            </a:r>
            <a:r>
              <a:rPr lang="ko-KR" altLang="en-US" sz="1200" b="0" i="0" u="none" strike="noStrike" baseline="0" dirty="0">
                <a:latin typeface="CourtBT"/>
              </a:rPr>
              <a:t> 순간적으로 행해지기 때문에 결합 시에 미세 단편 입자들의 표면 부근에서 원자의 확산이 거의 일어나지 않고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따라서 </a:t>
            </a:r>
            <a:r>
              <a:rPr lang="ko-KR" altLang="en-US" sz="1200" b="0" i="0" u="none" strike="noStrike" baseline="0" dirty="0" err="1">
                <a:latin typeface="CourtBT"/>
              </a:rPr>
              <a:t>결정자끼리의</a:t>
            </a:r>
            <a:r>
              <a:rPr lang="ko-KR" altLang="en-US" sz="1200" b="0" i="0" u="none" strike="noStrike" baseline="0" dirty="0">
                <a:latin typeface="CourtBT"/>
              </a:rPr>
              <a:t> 계면의 원자 배열에 흐트러짐이 없으며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 err="1">
                <a:latin typeface="CourtBT"/>
              </a:rPr>
              <a:t>용해층인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latin typeface="CourtBT"/>
              </a:rPr>
              <a:t>입계층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 err="1">
                <a:latin typeface="CourtBT"/>
              </a:rPr>
              <a:t>유리층</a:t>
            </a:r>
            <a:r>
              <a:rPr lang="en-US" altLang="ko-KR" sz="1200" b="0" i="0" u="none" strike="noStrike" baseline="0" dirty="0">
                <a:latin typeface="CourtBT"/>
              </a:rPr>
              <a:t>)</a:t>
            </a:r>
            <a:r>
              <a:rPr lang="ko-KR" altLang="en-US" sz="1200" b="0" i="0" u="none" strike="noStrike" baseline="0" dirty="0">
                <a:latin typeface="CourtBT"/>
              </a:rPr>
              <a:t>은 거의 형성되지 </a:t>
            </a:r>
            <a:r>
              <a:rPr lang="ko-KR" altLang="en-US" sz="1200" b="0" i="0" u="none" strike="noStrike" baseline="0" dirty="0" err="1">
                <a:latin typeface="CourtBT"/>
              </a:rPr>
              <a:t>않는다’고</a:t>
            </a:r>
            <a:r>
              <a:rPr lang="ko-KR" altLang="en-US" sz="1200" b="0" i="0" u="none" strike="noStrike" baseline="0" dirty="0">
                <a:latin typeface="CourtBT"/>
              </a:rPr>
              <a:t> 그 결합 원리를 설명하는 반면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은 위와 같은 우수한 효과를 내는 실제 결합 메커니즘은 규명되지 않았다고 하고 있다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나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한편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특허발명의 공동발명자 중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인인 소외인이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이 사건 특허발명의 우선일인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1999.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2071B-5AAB-44E2-AB08-E3089C232D78}"/>
              </a:ext>
            </a:extLst>
          </p:cNvPr>
          <p:cNvSpPr txBox="1"/>
          <p:nvPr/>
        </p:nvSpPr>
        <p:spPr>
          <a:xfrm>
            <a:off x="6095999" y="3146775"/>
            <a:ext cx="6133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10. 12.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이후인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2002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년경 공동저자</a:t>
            </a:r>
            <a:r>
              <a:rPr lang="ko-KR" altLang="en-US" sz="1200" b="0" i="0" u="none" strike="noStrike" baseline="0" dirty="0">
                <a:latin typeface="CourtBT"/>
              </a:rPr>
              <a:t>로 발표한 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과 동일한 제막 방식의 막 형상 구조물에 관한 논문 “미립자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초미립자의 충돌 고화 현상을 이용한 세라믹 박막 형성 기술”</a:t>
            </a:r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갑 제</a:t>
            </a:r>
            <a:r>
              <a:rPr lang="en-US" altLang="ko-KR" sz="1200" b="0" i="0" u="none" strike="noStrike" baseline="0" dirty="0">
                <a:latin typeface="CourtBT"/>
              </a:rPr>
              <a:t>12</a:t>
            </a:r>
            <a:r>
              <a:rPr lang="ko-KR" altLang="en-US" sz="1200" b="0" i="0" u="none" strike="noStrike" baseline="0" dirty="0" err="1">
                <a:latin typeface="CourtBT"/>
              </a:rPr>
              <a:t>호증</a:t>
            </a:r>
            <a:r>
              <a:rPr lang="en-US" altLang="ko-KR" sz="1200" b="0" i="0" u="none" strike="noStrike" baseline="0" dirty="0">
                <a:latin typeface="CourtBT"/>
              </a:rPr>
              <a:t>)</a:t>
            </a:r>
            <a:r>
              <a:rPr lang="ko-KR" altLang="en-US" sz="1200" b="0" i="0" u="none" strike="noStrike" baseline="0" dirty="0">
                <a:latin typeface="CourtBT"/>
              </a:rPr>
              <a:t>에서는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의 막 형상 구조물에 대한 </a:t>
            </a:r>
            <a:r>
              <a:rPr lang="en-US" altLang="ko-KR" sz="1200" b="0" i="0" u="none" strike="noStrike" baseline="0" dirty="0">
                <a:latin typeface="CourtBT"/>
              </a:rPr>
              <a:t>TEM(</a:t>
            </a:r>
            <a:r>
              <a:rPr lang="ko-KR" altLang="en-US" sz="1200" b="0" i="0" u="none" strike="noStrike" baseline="0" dirty="0">
                <a:latin typeface="CourtBT"/>
              </a:rPr>
              <a:t>투과전자현미경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촬영 사진과 이보다 더 개선된 방식인 </a:t>
            </a:r>
            <a:r>
              <a:rPr lang="en-US" altLang="ko-KR" sz="1200" b="0" i="0" u="none" strike="noStrike" baseline="0" dirty="0">
                <a:latin typeface="CourtBT"/>
              </a:rPr>
              <a:t>HR TEM(</a:t>
            </a:r>
            <a:r>
              <a:rPr lang="ko-KR" altLang="en-US" sz="1200" b="0" i="0" u="none" strike="noStrike" baseline="0" dirty="0">
                <a:latin typeface="CourtBT"/>
              </a:rPr>
              <a:t>고분해능 투과전자현미경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촬영 사진을 개시하고</a:t>
            </a:r>
            <a:r>
              <a:rPr lang="en-US" altLang="ko-KR" sz="1200" b="0" i="0" u="none" strike="noStrike" baseline="0" dirty="0">
                <a:latin typeface="CourtBT"/>
              </a:rPr>
              <a:t>[</a:t>
            </a:r>
            <a:r>
              <a:rPr lang="ko-KR" altLang="en-US" sz="1200" b="0" i="0" u="none" strike="noStrike" baseline="0" dirty="0">
                <a:latin typeface="CourtBT"/>
              </a:rPr>
              <a:t>도</a:t>
            </a:r>
            <a:r>
              <a:rPr lang="en-US" altLang="ko-KR" sz="1200" b="0" i="0" u="none" strike="noStrike" baseline="0" dirty="0">
                <a:latin typeface="CourtBT"/>
              </a:rPr>
              <a:t>6(a),(b)] ‘</a:t>
            </a:r>
            <a:r>
              <a:rPr lang="ko-KR" altLang="en-US" sz="1200" b="0" i="0" u="none" strike="noStrike" baseline="0" dirty="0">
                <a:latin typeface="CourtBT"/>
              </a:rPr>
              <a:t>이들은 가열 없이 </a:t>
            </a:r>
            <a:r>
              <a:rPr lang="en-US" altLang="ko-KR" sz="1200" b="0" i="0" u="none" strike="noStrike" baseline="0" dirty="0">
                <a:latin typeface="CourtBT"/>
              </a:rPr>
              <a:t>Si </a:t>
            </a:r>
            <a:r>
              <a:rPr lang="ko-KR" altLang="en-US" sz="1200" b="0" i="0" u="none" strike="noStrike" baseline="0" dirty="0">
                <a:latin typeface="CourtBT"/>
              </a:rPr>
              <a:t>기판 상에 실온 </a:t>
            </a:r>
            <a:r>
              <a:rPr lang="ko-KR" altLang="en-US" sz="1200" b="0" i="0" u="none" strike="noStrike" baseline="0" dirty="0" err="1">
                <a:latin typeface="CourtBT"/>
              </a:rPr>
              <a:t>성막된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en-US" altLang="ko-KR" sz="1200" b="0" i="0" u="none" strike="noStrike" baseline="0" dirty="0">
                <a:latin typeface="CourtBT"/>
              </a:rPr>
              <a:t>PZT </a:t>
            </a:r>
            <a:r>
              <a:rPr lang="ko-KR" altLang="en-US" sz="1200" b="0" i="0" u="none" strike="noStrike" baseline="0" dirty="0">
                <a:latin typeface="CourtBT"/>
              </a:rPr>
              <a:t>후막의 열처리 전후의 </a:t>
            </a:r>
            <a:r>
              <a:rPr lang="en-US" altLang="ko-KR" sz="1200" b="0" i="0" u="none" strike="noStrike" baseline="0" dirty="0">
                <a:latin typeface="CourtBT"/>
              </a:rPr>
              <a:t>TEM </a:t>
            </a:r>
            <a:r>
              <a:rPr lang="ko-KR" altLang="en-US" sz="1200" b="0" i="0" u="none" strike="noStrike" baseline="0" dirty="0">
                <a:latin typeface="CourtBT"/>
              </a:rPr>
              <a:t>이미지이다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막 안에 원료분말의 형태는 관찰되지 않고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각각의 결정은 서로 결합되어 치밀한 막을 형성하고 있다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또한 막 안에는 원료분말에 가까운 크기의 결정자가 부분적으로 보이지만</a:t>
            </a:r>
            <a:r>
              <a:rPr lang="en-US" altLang="ko-KR" sz="1200" b="0" i="0" u="none" strike="noStrike" baseline="0" dirty="0">
                <a:latin typeface="CourtBT"/>
              </a:rPr>
              <a:t>, HR TEM </a:t>
            </a:r>
            <a:r>
              <a:rPr lang="ko-KR" altLang="en-US" sz="1200" b="0" i="0" u="none" strike="noStrike" baseline="0" dirty="0">
                <a:latin typeface="CourtBT"/>
              </a:rPr>
              <a:t>이미지 또는 </a:t>
            </a:r>
            <a:r>
              <a:rPr lang="ko-KR" altLang="en-US" sz="1200" b="0" i="0" u="none" strike="noStrike" baseline="0" dirty="0" err="1">
                <a:latin typeface="CourtBT"/>
              </a:rPr>
              <a:t>전자선회절</a:t>
            </a:r>
            <a:r>
              <a:rPr lang="ko-KR" altLang="en-US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latin typeface="CourtBT"/>
              </a:rPr>
              <a:t>이미지로부터도</a:t>
            </a:r>
            <a:r>
              <a:rPr lang="ko-KR" altLang="en-US" sz="1200" b="0" i="0" u="none" strike="noStrike" baseline="0" dirty="0">
                <a:latin typeface="CourtBT"/>
              </a:rPr>
              <a:t> 결정자 간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입자 간에 </a:t>
            </a:r>
            <a:r>
              <a:rPr lang="ko-KR" altLang="en-US" sz="1200" b="0" i="0" u="none" strike="noStrike" baseline="0" dirty="0" err="1">
                <a:latin typeface="CourtBT"/>
              </a:rPr>
              <a:t>비정질층이나</a:t>
            </a:r>
            <a:r>
              <a:rPr lang="ko-KR" altLang="en-US" sz="1200" b="0" i="0" u="none" strike="noStrike" baseline="0" dirty="0">
                <a:latin typeface="CourtBT"/>
              </a:rPr>
              <a:t> 상이한 모양은 거의 볼 수 없었고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전체적으로 </a:t>
            </a:r>
            <a:r>
              <a:rPr lang="en-US" altLang="ko-KR" sz="1200" b="0" i="0" u="none" strike="noStrike" baseline="0" dirty="0">
                <a:latin typeface="CourtBT"/>
              </a:rPr>
              <a:t>20nm </a:t>
            </a:r>
            <a:r>
              <a:rPr lang="ko-KR" altLang="en-US" sz="1200" b="0" i="0" u="none" strike="noStrike" baseline="0" dirty="0">
                <a:latin typeface="CourtBT"/>
              </a:rPr>
              <a:t>이하의 미세결정으로 구성되어 있다’고 설명하고 있다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즉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위 논문에 의하면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개시된 사진의 막 형상 구조물 역시 결정자 사이의 계면에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비정질층인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입계층이 존재하지 않는다는 것이다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다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그런데 위 논문에 의하면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기재된 제조방법을 따른 하나의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실시례가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유리층으로 된 입계층이 존재하지 않는 구성을 가진다는 점은 알 수 있지만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더 나아가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기재된 제조방법을 따랐을 때 필연적으로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비정질층이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존재하지 않는 결과물에 도달할 것인지를 알 수 있는 자료는 없다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</a:t>
            </a:r>
            <a:r>
              <a:rPr lang="en-US" altLang="ko-KR" sz="1200" b="0" i="0" u="none" strike="noStrike" baseline="0" dirty="0">
                <a:latin typeface="CourtBT"/>
              </a:rPr>
              <a:t> </a:t>
            </a:r>
            <a:r>
              <a:rPr lang="ko-KR" altLang="en-US" sz="1200" b="0" i="0" u="none" strike="noStrike" baseline="0" dirty="0">
                <a:latin typeface="CourtBT"/>
              </a:rPr>
              <a:t>오히려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은 원료 미립자의 사전처리 공정을 언급하고 있지 않은 반면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>
                <a:latin typeface="CourtBT"/>
              </a:rPr>
              <a:t>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발명의 명세서에서는 사전처리를 통한 내부 변형의 중요성을 강조하고 있을 뿐만 아니라 적절한 내부 변형의 정도</a:t>
            </a:r>
            <a:r>
              <a:rPr lang="en-US" altLang="ko-KR" sz="1200" b="0" i="0" u="none" strike="noStrike" baseline="0" dirty="0">
                <a:latin typeface="CourtBT"/>
              </a:rPr>
              <a:t>(0.25~2.0%)</a:t>
            </a:r>
            <a:r>
              <a:rPr lang="ko-KR" altLang="en-US" sz="1200" b="0" i="0" u="none" strike="noStrike" baseline="0" dirty="0">
                <a:latin typeface="CourtBT"/>
              </a:rPr>
              <a:t>와 방법 등까지 기재하는 등으로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비정질층이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부존재하는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복합 구조물을 성공적으로 제조하기 위한 제조방법을 더 구체적으로 공개</a:t>
            </a:r>
            <a:r>
              <a:rPr lang="ko-KR" altLang="en-US" sz="1200" b="0" i="0" u="none" strike="noStrike" baseline="0" dirty="0">
                <a:latin typeface="CourtBT"/>
              </a:rPr>
              <a:t>하고 있다</a:t>
            </a:r>
            <a:r>
              <a:rPr lang="en-US" altLang="ko-KR" sz="1200" b="0" i="0" u="none" strike="noStrike" baseline="0" dirty="0">
                <a:latin typeface="CourtBT"/>
              </a:rPr>
              <a:t>.</a:t>
            </a:r>
          </a:p>
          <a:p>
            <a:pPr algn="just"/>
            <a:r>
              <a:rPr lang="en-US" altLang="ko-KR" sz="1200" b="0" i="0" u="none" strike="noStrike" baseline="0" dirty="0">
                <a:latin typeface="CourtBT"/>
              </a:rPr>
              <a:t>(</a:t>
            </a:r>
            <a:r>
              <a:rPr lang="ko-KR" altLang="en-US" sz="1200" b="0" i="0" u="none" strike="noStrike" baseline="0" dirty="0">
                <a:latin typeface="CourtBT"/>
              </a:rPr>
              <a:t>라</a:t>
            </a:r>
            <a:r>
              <a:rPr lang="en-US" altLang="ko-KR" sz="1200" b="0" i="0" u="none" strike="noStrike" baseline="0" dirty="0">
                <a:latin typeface="CourtBT"/>
              </a:rPr>
              <a:t>) </a:t>
            </a:r>
            <a:r>
              <a:rPr lang="ko-KR" altLang="en-US" sz="1200" b="0" i="0" u="none" strike="noStrike" baseline="0" dirty="0">
                <a:latin typeface="CourtBT"/>
              </a:rPr>
              <a:t>이러한 점에 비추어 보면</a:t>
            </a:r>
            <a:r>
              <a:rPr lang="en-US" altLang="ko-KR" sz="1200" b="0" i="0" u="none" strike="noStrike" baseline="0" dirty="0">
                <a:latin typeface="CourtBT"/>
              </a:rPr>
              <a:t>, </a:t>
            </a:r>
            <a:r>
              <a:rPr lang="ko-KR" altLang="en-US" sz="1200" b="0" i="0" u="none" strike="noStrike" baseline="0" dirty="0" err="1">
                <a:solidFill>
                  <a:srgbClr val="FF0000"/>
                </a:solidFill>
                <a:latin typeface="CourtBT"/>
              </a:rPr>
              <a:t>비정질층의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 부존재가 선행발명 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1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에 개시된 막 형상 구조물의 내재된 구성이라는 점이 증명되었다고 보기 어려우므로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, </a:t>
            </a:r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CourtBT"/>
              </a:rPr>
              <a:t>두 발명이 동일하다고 할 수 없다</a:t>
            </a:r>
            <a:r>
              <a:rPr lang="en-US" altLang="ko-KR" sz="1200" b="0" i="0" u="none" strike="noStrike" baseline="0" dirty="0">
                <a:solidFill>
                  <a:srgbClr val="FF0000"/>
                </a:solidFill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따라서 차이점 </a:t>
            </a:r>
            <a:r>
              <a:rPr lang="en-US" altLang="ko-KR" sz="1200" b="0" i="0" u="none" strike="noStrike" baseline="0" dirty="0">
                <a:latin typeface="CourtBT"/>
              </a:rPr>
              <a:t>2</a:t>
            </a:r>
            <a:r>
              <a:rPr lang="ko-KR" altLang="en-US" sz="1200" b="0" i="0" u="none" strike="noStrike" baseline="0" dirty="0">
                <a:latin typeface="CourtBT"/>
              </a:rPr>
              <a:t>에 관하여 나아가 살필 필요 없이 이 사건 제</a:t>
            </a:r>
            <a:r>
              <a:rPr lang="en-US" altLang="ko-KR" sz="1200" b="0" i="0" u="none" strike="noStrike" baseline="0" dirty="0">
                <a:latin typeface="CourtBT"/>
              </a:rPr>
              <a:t>1</a:t>
            </a:r>
            <a:r>
              <a:rPr lang="ko-KR" altLang="en-US" sz="1200" b="0" i="0" u="none" strike="noStrike" baseline="0" dirty="0">
                <a:latin typeface="CourtBT"/>
              </a:rPr>
              <a:t>항 발명의 신규성이 부정되지 않는다</a:t>
            </a:r>
            <a:r>
              <a:rPr lang="en-US" altLang="ko-KR" sz="1200" b="0" i="0" u="none" strike="noStrike" baseline="0" dirty="0">
                <a:latin typeface="CourtBT"/>
              </a:rPr>
              <a:t>.</a:t>
            </a:r>
            <a:endParaRPr lang="ko-KR" altLang="en-US" sz="12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3993A9D-1453-4E1C-B42F-561CCEFEB5F5}"/>
              </a:ext>
            </a:extLst>
          </p:cNvPr>
          <p:cNvCxnSpPr/>
          <p:nvPr/>
        </p:nvCxnSpPr>
        <p:spPr>
          <a:xfrm>
            <a:off x="6105524" y="3146775"/>
            <a:ext cx="0" cy="371122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235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806167" y="2503605"/>
            <a:ext cx="2867432" cy="35633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발명의 범위가 다른 경우</a:t>
            </a:r>
            <a:r>
              <a:rPr lang="en-US" altLang="ko-KR" dirty="0"/>
              <a:t>(</a:t>
            </a:r>
            <a:r>
              <a:rPr lang="ko-KR" altLang="en-US" dirty="0"/>
              <a:t>상하위개념발명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선행기술이</a:t>
            </a:r>
            <a:r>
              <a:rPr lang="ko-KR" altLang="en-US" sz="1400" dirty="0">
                <a:solidFill>
                  <a:schemeClr val="tx2"/>
                </a:solidFill>
              </a:rPr>
              <a:t> 출원발명과의 관계에서 하위개념이 되는 유형은 </a:t>
            </a:r>
            <a:r>
              <a:rPr lang="ko-KR" altLang="en-US" sz="1400" dirty="0">
                <a:highlight>
                  <a:srgbClr val="FFFF00"/>
                </a:highlight>
              </a:rPr>
              <a:t>구성요소를 한정하거나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내적 부가</a:t>
            </a:r>
            <a:r>
              <a:rPr lang="en-US" altLang="ko-KR" sz="1400" dirty="0">
                <a:highlight>
                  <a:srgbClr val="FFFF00"/>
                </a:highlight>
              </a:rPr>
              <a:t>), </a:t>
            </a:r>
            <a:r>
              <a:rPr lang="ko-KR" altLang="en-US" sz="1400" dirty="0">
                <a:highlight>
                  <a:srgbClr val="FFFF00"/>
                </a:highlight>
              </a:rPr>
              <a:t>구성요소를 부가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외적 부가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한 발명</a:t>
            </a:r>
            <a:r>
              <a:rPr lang="ko-KR" altLang="en-US" sz="1400" dirty="0">
                <a:solidFill>
                  <a:schemeClr val="tx2"/>
                </a:solidFill>
              </a:rPr>
              <a:t>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구체적인 예로는 구성요소를 한정한 </a:t>
            </a:r>
            <a:r>
              <a:rPr lang="ko-KR" altLang="en-US" sz="1400" dirty="0" err="1">
                <a:solidFill>
                  <a:schemeClr val="tx2"/>
                </a:solidFill>
              </a:rPr>
              <a:t>선택발명과</a:t>
            </a:r>
            <a:r>
              <a:rPr lang="ko-KR" altLang="en-US" sz="1400" dirty="0">
                <a:solidFill>
                  <a:schemeClr val="tx2"/>
                </a:solidFill>
              </a:rPr>
              <a:t> 구성요소를 부가한 </a:t>
            </a:r>
            <a:r>
              <a:rPr lang="ko-KR" altLang="en-US" sz="1400" dirty="0" err="1">
                <a:solidFill>
                  <a:schemeClr val="tx2"/>
                </a:solidFill>
              </a:rPr>
              <a:t>결합발명을</a:t>
            </a:r>
            <a:r>
              <a:rPr lang="ko-KR" altLang="en-US" sz="1400" dirty="0">
                <a:solidFill>
                  <a:schemeClr val="tx2"/>
                </a:solidFill>
              </a:rPr>
              <a:t> 들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특히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구성요소를 더 많이 부가하면 할수록 </a:t>
            </a:r>
            <a:r>
              <a:rPr lang="ko-KR" altLang="en-US" sz="1400" dirty="0" err="1">
                <a:solidFill>
                  <a:schemeClr val="tx2"/>
                </a:solidFill>
              </a:rPr>
              <a:t>권리범위가</a:t>
            </a:r>
            <a:r>
              <a:rPr lang="ko-KR" altLang="en-US" sz="1400" dirty="0">
                <a:solidFill>
                  <a:schemeClr val="tx2"/>
                </a:solidFill>
              </a:rPr>
              <a:t> 좁아지게 되는 것을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다기재협범위의 원칙이라고 </a:t>
            </a:r>
            <a:r>
              <a:rPr lang="ko-KR" altLang="en-US" sz="1400" dirty="0">
                <a:solidFill>
                  <a:schemeClr val="tx2"/>
                </a:solidFill>
              </a:rPr>
              <a:t>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등록 후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구성요소완비의 원칙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(All Element Rule)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에 의하여 침해 여부를 판단</a:t>
            </a:r>
            <a:r>
              <a:rPr lang="ko-KR" altLang="en-US" sz="1400" dirty="0">
                <a:solidFill>
                  <a:schemeClr val="tx2"/>
                </a:solidFill>
              </a:rPr>
              <a:t>할 때 하나의 구성요소라도 삭제하면 비침해가 되기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932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/>
          <p:cNvSpPr/>
          <p:nvPr/>
        </p:nvSpPr>
        <p:spPr>
          <a:xfrm>
            <a:off x="2090056" y="3178627"/>
            <a:ext cx="2334986" cy="23349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2625271" y="3742870"/>
            <a:ext cx="1264556" cy="12065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3257549" y="2631522"/>
            <a:ext cx="0" cy="112586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497397" y="2586077"/>
            <a:ext cx="80983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동일성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19998" y="4679774"/>
            <a:ext cx="129073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하위개념발명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19998" y="5344336"/>
            <a:ext cx="129073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상위개념발명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7582808" y="2503605"/>
            <a:ext cx="2867432" cy="17635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7582808" y="4377397"/>
            <a:ext cx="2867432" cy="16895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8468130" y="2856830"/>
            <a:ext cx="1070210" cy="10967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4" name="타원 53"/>
          <p:cNvSpPr/>
          <p:nvPr/>
        </p:nvSpPr>
        <p:spPr>
          <a:xfrm>
            <a:off x="8713439" y="3121866"/>
            <a:ext cx="579592" cy="56671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55" name="직선 화살표 연결선 54"/>
          <p:cNvCxnSpPr/>
          <p:nvPr/>
        </p:nvCxnSpPr>
        <p:spPr>
          <a:xfrm flipV="1">
            <a:off x="9003235" y="2599845"/>
            <a:ext cx="0" cy="528838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03152" y="2512518"/>
            <a:ext cx="67037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동일성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11022" y="3561947"/>
            <a:ext cx="1191352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라이트 </a:t>
            </a:r>
            <a:r>
              <a:rPr lang="en-US" altLang="ko-KR" sz="1200" dirty="0"/>
              <a:t>+ </a:t>
            </a:r>
            <a:r>
              <a:rPr lang="ko-KR" altLang="en-US" sz="1200" dirty="0"/>
              <a:t>자전거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11021" y="3874104"/>
            <a:ext cx="598241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자전거</a:t>
            </a:r>
          </a:p>
        </p:txBody>
      </p:sp>
      <p:sp>
        <p:nvSpPr>
          <p:cNvPr id="60" name="타원 59"/>
          <p:cNvSpPr/>
          <p:nvPr/>
        </p:nvSpPr>
        <p:spPr>
          <a:xfrm>
            <a:off x="8468130" y="4672763"/>
            <a:ext cx="1070210" cy="10967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1" name="타원 60"/>
          <p:cNvSpPr/>
          <p:nvPr/>
        </p:nvSpPr>
        <p:spPr>
          <a:xfrm>
            <a:off x="8713439" y="4937799"/>
            <a:ext cx="579593" cy="56671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62" name="직선 화살표 연결선 61"/>
          <p:cNvCxnSpPr/>
          <p:nvPr/>
        </p:nvCxnSpPr>
        <p:spPr>
          <a:xfrm flipV="1">
            <a:off x="9003235" y="4415778"/>
            <a:ext cx="0" cy="528838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157760" y="4412400"/>
            <a:ext cx="67037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동일성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11022" y="5377880"/>
            <a:ext cx="829073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구리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리벳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8711021" y="5690037"/>
            <a:ext cx="966931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금속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체결구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직사각형 13"/>
          <p:cNvSpPr/>
          <p:nvPr/>
        </p:nvSpPr>
        <p:spPr>
          <a:xfrm>
            <a:off x="3364685" y="4084069"/>
            <a:ext cx="792750" cy="31358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선행기술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147169" y="3274540"/>
            <a:ext cx="792750" cy="31358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출원발명</a:t>
            </a:r>
            <a:endParaRPr lang="ko-KR" altLang="en-US" sz="1200" dirty="0"/>
          </a:p>
        </p:txBody>
      </p:sp>
      <p:sp>
        <p:nvSpPr>
          <p:cNvPr id="15" name="오각형 14"/>
          <p:cNvSpPr/>
          <p:nvPr/>
        </p:nvSpPr>
        <p:spPr>
          <a:xfrm>
            <a:off x="5457370" y="3009404"/>
            <a:ext cx="1378857" cy="824317"/>
          </a:xfrm>
          <a:prstGeom prst="homePlate">
            <a:avLst>
              <a:gd name="adj" fmla="val 2534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외적 부가</a:t>
            </a:r>
          </a:p>
        </p:txBody>
      </p:sp>
      <p:sp>
        <p:nvSpPr>
          <p:cNvPr id="67" name="오각형 66"/>
          <p:cNvSpPr/>
          <p:nvPr/>
        </p:nvSpPr>
        <p:spPr>
          <a:xfrm>
            <a:off x="5457370" y="4865720"/>
            <a:ext cx="1378857" cy="824317"/>
          </a:xfrm>
          <a:prstGeom prst="homePlate">
            <a:avLst>
              <a:gd name="adj" fmla="val 2534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내적 부가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513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신규성 판단의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과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발명은 </a:t>
            </a:r>
            <a:r>
              <a:rPr lang="ko-KR" altLang="en-US" sz="1400" dirty="0" err="1">
                <a:solidFill>
                  <a:schemeClr val="tx2"/>
                </a:solidFill>
              </a:rPr>
              <a:t>다기재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협범위의</a:t>
            </a:r>
            <a:r>
              <a:rPr lang="ko-KR" altLang="en-US" sz="1400" dirty="0">
                <a:solidFill>
                  <a:schemeClr val="tx2"/>
                </a:solidFill>
              </a:rPr>
              <a:t> 원칙에 따라 공지기술보다 상위개념이기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공지기술과</a:t>
            </a:r>
            <a:r>
              <a:rPr lang="ko-KR" altLang="en-US" sz="1400" dirty="0">
                <a:solidFill>
                  <a:schemeClr val="tx2"/>
                </a:solidFill>
              </a:rPr>
              <a:t> 동일성이 있어 신규성이 상실되나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발명은 공지기술보다 하위개념이기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공지기술과</a:t>
            </a:r>
            <a:r>
              <a:rPr lang="ko-KR" altLang="en-US" sz="1400" dirty="0">
                <a:solidFill>
                  <a:schemeClr val="tx2"/>
                </a:solidFill>
              </a:rPr>
              <a:t> 동일성이 없어 신규성이 상실되지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출원일체의</a:t>
            </a:r>
            <a:r>
              <a:rPr lang="ko-KR" altLang="en-US" sz="1400" dirty="0">
                <a:solidFill>
                  <a:schemeClr val="tx2"/>
                </a:solidFill>
              </a:rPr>
              <a:t> 원칙</a:t>
            </a:r>
            <a:r>
              <a:rPr lang="en-US" altLang="ko-KR" sz="1400" dirty="0">
                <a:solidFill>
                  <a:schemeClr val="tx2"/>
                </a:solidFill>
              </a:rPr>
              <a:t>(All or Nothing Rule)</a:t>
            </a:r>
            <a:r>
              <a:rPr lang="ko-KR" altLang="en-US" sz="1400" dirty="0">
                <a:solidFill>
                  <a:schemeClr val="tx2"/>
                </a:solidFill>
              </a:rPr>
              <a:t>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과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를 삭제보정하지 아니한 경우 출원 전체가 특허를 받을 수 없게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932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16404" y="4742543"/>
            <a:ext cx="478446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7718" y="5024724"/>
            <a:ext cx="8322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공지기술</a:t>
            </a:r>
            <a:endParaRPr lang="ko-KR" alt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3240260" y="5625357"/>
            <a:ext cx="8322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출원발명</a:t>
            </a:r>
            <a:endParaRPr lang="ko-KR" altLang="en-US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AA9AEF-0A50-4E82-3AB3-FEC9E424FD8A}"/>
              </a:ext>
            </a:extLst>
          </p:cNvPr>
          <p:cNvGrpSpPr/>
          <p:nvPr/>
        </p:nvGrpSpPr>
        <p:grpSpPr>
          <a:xfrm>
            <a:off x="602126" y="2230499"/>
            <a:ext cx="3754056" cy="1936377"/>
            <a:chOff x="602126" y="2230499"/>
            <a:chExt cx="3754056" cy="1936377"/>
          </a:xfrm>
        </p:grpSpPr>
        <p:sp>
          <p:nvSpPr>
            <p:cNvPr id="44" name="직사각형 43"/>
            <p:cNvSpPr/>
            <p:nvPr/>
          </p:nvSpPr>
          <p:spPr>
            <a:xfrm>
              <a:off x="602126" y="2230499"/>
              <a:ext cx="3651538" cy="1936377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1428958" y="3126548"/>
              <a:ext cx="688525" cy="69123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2752637" y="3126548"/>
              <a:ext cx="688525" cy="69123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769333" y="2868364"/>
              <a:ext cx="1338808" cy="622678"/>
            </a:xfrm>
            <a:custGeom>
              <a:avLst/>
              <a:gdLst>
                <a:gd name="connsiteX0" fmla="*/ 0 w 1586753"/>
                <a:gd name="connsiteY0" fmla="*/ 735106 h 735106"/>
                <a:gd name="connsiteX1" fmla="*/ 1586753 w 1586753"/>
                <a:gd name="connsiteY1" fmla="*/ 735106 h 735106"/>
                <a:gd name="connsiteX2" fmla="*/ 1326777 w 1586753"/>
                <a:gd name="connsiteY2" fmla="*/ 0 h 735106"/>
                <a:gd name="connsiteX3" fmla="*/ 26894 w 1586753"/>
                <a:gd name="connsiteY3" fmla="*/ 0 h 735106"/>
                <a:gd name="connsiteX4" fmla="*/ 0 w 1586753"/>
                <a:gd name="connsiteY4" fmla="*/ 735106 h 73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753" h="735106">
                  <a:moveTo>
                    <a:pt x="0" y="735106"/>
                  </a:moveTo>
                  <a:lnTo>
                    <a:pt x="1586753" y="735106"/>
                  </a:lnTo>
                  <a:lnTo>
                    <a:pt x="1326777" y="0"/>
                  </a:lnTo>
                  <a:lnTo>
                    <a:pt x="26894" y="0"/>
                  </a:lnTo>
                  <a:lnTo>
                    <a:pt x="0" y="735106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연결선 16"/>
            <p:cNvCxnSpPr>
              <a:stCxn id="13" idx="3"/>
            </p:cNvCxnSpPr>
            <p:nvPr/>
          </p:nvCxnSpPr>
          <p:spPr>
            <a:xfrm flipH="1" flipV="1">
              <a:off x="1625619" y="2534244"/>
              <a:ext cx="166405" cy="33412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>
              <a:stCxn id="13" idx="3"/>
            </p:cNvCxnSpPr>
            <p:nvPr/>
          </p:nvCxnSpPr>
          <p:spPr>
            <a:xfrm flipV="1">
              <a:off x="1792024" y="2541747"/>
              <a:ext cx="219353" cy="326617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모서리가 둥근 직사각형 19"/>
            <p:cNvSpPr/>
            <p:nvPr/>
          </p:nvSpPr>
          <p:spPr>
            <a:xfrm>
              <a:off x="1625619" y="2929114"/>
              <a:ext cx="158630" cy="1460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자유형 20"/>
            <p:cNvSpPr/>
            <p:nvPr/>
          </p:nvSpPr>
          <p:spPr>
            <a:xfrm>
              <a:off x="2245858" y="3248046"/>
              <a:ext cx="378194" cy="470805"/>
            </a:xfrm>
            <a:custGeom>
              <a:avLst/>
              <a:gdLst>
                <a:gd name="connsiteX0" fmla="*/ 0 w 448235"/>
                <a:gd name="connsiteY0" fmla="*/ 555811 h 555811"/>
                <a:gd name="connsiteX1" fmla="*/ 233082 w 448235"/>
                <a:gd name="connsiteY1" fmla="*/ 555811 h 555811"/>
                <a:gd name="connsiteX2" fmla="*/ 233082 w 448235"/>
                <a:gd name="connsiteY2" fmla="*/ 0 h 555811"/>
                <a:gd name="connsiteX3" fmla="*/ 448235 w 448235"/>
                <a:gd name="connsiteY3" fmla="*/ 0 h 555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235" h="555811">
                  <a:moveTo>
                    <a:pt x="0" y="555811"/>
                  </a:moveTo>
                  <a:lnTo>
                    <a:pt x="233082" y="555811"/>
                  </a:lnTo>
                  <a:lnTo>
                    <a:pt x="233082" y="0"/>
                  </a:lnTo>
                  <a:lnTo>
                    <a:pt x="448235" y="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2351752" y="2750001"/>
              <a:ext cx="272300" cy="12116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844972" y="3437887"/>
              <a:ext cx="1188160" cy="10450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17378" y="2362093"/>
              <a:ext cx="635154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핸들</a:t>
              </a:r>
              <a:r>
                <a:rPr lang="en-US" altLang="ko-KR" sz="1100" dirty="0"/>
                <a:t>(a)</a:t>
              </a:r>
              <a:endParaRPr lang="ko-KR" altLang="en-US" sz="11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821805" y="2383990"/>
              <a:ext cx="799678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안장</a:t>
              </a:r>
              <a:r>
                <a:rPr lang="en-US" altLang="ko-KR" sz="1100" dirty="0"/>
                <a:t>(e)</a:t>
              </a:r>
              <a:endParaRPr lang="ko-KR" altLang="en-US" sz="11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304924" y="2761377"/>
              <a:ext cx="610457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바디</a:t>
              </a:r>
              <a:r>
                <a:rPr lang="en-US" altLang="ko-KR" sz="1100" dirty="0"/>
                <a:t>(b)</a:t>
              </a:r>
              <a:endParaRPr lang="ko-KR" altLang="en-US" sz="11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582783" y="3273346"/>
              <a:ext cx="773399" cy="221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바퀴</a:t>
              </a:r>
              <a:r>
                <a:rPr lang="en-US" altLang="ko-KR" sz="1100" dirty="0"/>
                <a:t>(c)</a:t>
              </a:r>
              <a:endParaRPr lang="ko-KR" altLang="en-US" sz="11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450294" y="3836962"/>
              <a:ext cx="582208" cy="22159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/>
                <a:t>폐달</a:t>
              </a:r>
              <a:r>
                <a:rPr lang="en-US" altLang="ko-KR" sz="1100" dirty="0"/>
                <a:t>(d)</a:t>
              </a:r>
              <a:endParaRPr lang="ko-KR" altLang="en-US" sz="11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23809" y="2639202"/>
              <a:ext cx="7106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라이트</a:t>
              </a:r>
              <a:r>
                <a:rPr lang="en-US" altLang="ko-KR" sz="1100" dirty="0"/>
                <a:t>(f)</a:t>
              </a:r>
              <a:endParaRPr lang="ko-KR" altLang="en-US" sz="11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769438" y="3876015"/>
              <a:ext cx="680856" cy="26161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기어</a:t>
              </a:r>
              <a:r>
                <a:rPr lang="en-US" altLang="ko-KR" sz="1100" dirty="0"/>
                <a:t>(g)</a:t>
              </a:r>
              <a:endParaRPr lang="ko-KR" altLang="en-US" sz="1100" dirty="0"/>
            </a:p>
          </p:txBody>
        </p:sp>
        <p:sp>
          <p:nvSpPr>
            <p:cNvPr id="26" name="자유형 25"/>
            <p:cNvSpPr/>
            <p:nvPr/>
          </p:nvSpPr>
          <p:spPr>
            <a:xfrm>
              <a:off x="1701258" y="2288179"/>
              <a:ext cx="486368" cy="359970"/>
            </a:xfrm>
            <a:custGeom>
              <a:avLst/>
              <a:gdLst>
                <a:gd name="connsiteX0" fmla="*/ 0 w 576443"/>
                <a:gd name="connsiteY0" fmla="*/ 424965 h 424965"/>
                <a:gd name="connsiteX1" fmla="*/ 304800 w 576443"/>
                <a:gd name="connsiteY1" fmla="*/ 3624 h 424965"/>
                <a:gd name="connsiteX2" fmla="*/ 537882 w 576443"/>
                <a:gd name="connsiteY2" fmla="*/ 209812 h 424965"/>
                <a:gd name="connsiteX3" fmla="*/ 573741 w 576443"/>
                <a:gd name="connsiteY3" fmla="*/ 191882 h 424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443" h="424965">
                  <a:moveTo>
                    <a:pt x="0" y="424965"/>
                  </a:moveTo>
                  <a:cubicBezTo>
                    <a:pt x="107576" y="232224"/>
                    <a:pt x="215153" y="39483"/>
                    <a:pt x="304800" y="3624"/>
                  </a:cubicBezTo>
                  <a:cubicBezTo>
                    <a:pt x="394447" y="-32235"/>
                    <a:pt x="537882" y="209812"/>
                    <a:pt x="537882" y="209812"/>
                  </a:cubicBezTo>
                  <a:cubicBezTo>
                    <a:pt x="582706" y="241188"/>
                    <a:pt x="578223" y="216535"/>
                    <a:pt x="573741" y="191882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2934171" y="2811309"/>
              <a:ext cx="416014" cy="211636"/>
            </a:xfrm>
            <a:custGeom>
              <a:avLst/>
              <a:gdLst>
                <a:gd name="connsiteX0" fmla="*/ 0 w 493059"/>
                <a:gd name="connsiteY0" fmla="*/ 174934 h 249848"/>
                <a:gd name="connsiteX1" fmla="*/ 17929 w 493059"/>
                <a:gd name="connsiteY1" fmla="*/ 94251 h 249848"/>
                <a:gd name="connsiteX2" fmla="*/ 107576 w 493059"/>
                <a:gd name="connsiteY2" fmla="*/ 4604 h 249848"/>
                <a:gd name="connsiteX3" fmla="*/ 358588 w 493059"/>
                <a:gd name="connsiteY3" fmla="*/ 246651 h 249848"/>
                <a:gd name="connsiteX4" fmla="*/ 493059 w 493059"/>
                <a:gd name="connsiteY4" fmla="*/ 121146 h 249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059" h="249848">
                  <a:moveTo>
                    <a:pt x="0" y="174934"/>
                  </a:moveTo>
                  <a:cubicBezTo>
                    <a:pt x="0" y="148786"/>
                    <a:pt x="0" y="122639"/>
                    <a:pt x="17929" y="94251"/>
                  </a:cubicBezTo>
                  <a:cubicBezTo>
                    <a:pt x="35858" y="65863"/>
                    <a:pt x="50800" y="-20796"/>
                    <a:pt x="107576" y="4604"/>
                  </a:cubicBezTo>
                  <a:cubicBezTo>
                    <a:pt x="164352" y="30004"/>
                    <a:pt x="294341" y="227227"/>
                    <a:pt x="358588" y="246651"/>
                  </a:cubicBezTo>
                  <a:cubicBezTo>
                    <a:pt x="422835" y="266075"/>
                    <a:pt x="457947" y="193610"/>
                    <a:pt x="493059" y="121146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 27"/>
            <p:cNvSpPr/>
            <p:nvPr/>
          </p:nvSpPr>
          <p:spPr>
            <a:xfrm>
              <a:off x="3418260" y="3121108"/>
              <a:ext cx="529472" cy="286404"/>
            </a:xfrm>
            <a:custGeom>
              <a:avLst/>
              <a:gdLst>
                <a:gd name="connsiteX0" fmla="*/ 0 w 627529"/>
                <a:gd name="connsiteY0" fmla="*/ 338116 h 338116"/>
                <a:gd name="connsiteX1" fmla="*/ 143435 w 627529"/>
                <a:gd name="connsiteY1" fmla="*/ 6422 h 338116"/>
                <a:gd name="connsiteX2" fmla="*/ 304800 w 627529"/>
                <a:gd name="connsiteY2" fmla="*/ 113999 h 338116"/>
                <a:gd name="connsiteX3" fmla="*/ 528918 w 627529"/>
                <a:gd name="connsiteY3" fmla="*/ 51246 h 338116"/>
                <a:gd name="connsiteX4" fmla="*/ 627529 w 627529"/>
                <a:gd name="connsiteY4" fmla="*/ 167787 h 33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529" h="338116">
                  <a:moveTo>
                    <a:pt x="0" y="338116"/>
                  </a:moveTo>
                  <a:cubicBezTo>
                    <a:pt x="46317" y="190945"/>
                    <a:pt x="92635" y="43775"/>
                    <a:pt x="143435" y="6422"/>
                  </a:cubicBezTo>
                  <a:cubicBezTo>
                    <a:pt x="194235" y="-30931"/>
                    <a:pt x="240553" y="106528"/>
                    <a:pt x="304800" y="113999"/>
                  </a:cubicBezTo>
                  <a:cubicBezTo>
                    <a:pt x="369047" y="121470"/>
                    <a:pt x="475130" y="42281"/>
                    <a:pt x="528918" y="51246"/>
                  </a:cubicBezTo>
                  <a:cubicBezTo>
                    <a:pt x="582706" y="60211"/>
                    <a:pt x="605117" y="113999"/>
                    <a:pt x="627529" y="167787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2457647" y="3627728"/>
              <a:ext cx="153370" cy="205028"/>
            </a:xfrm>
            <a:custGeom>
              <a:avLst/>
              <a:gdLst>
                <a:gd name="connsiteX0" fmla="*/ 0 w 191051"/>
                <a:gd name="connsiteY0" fmla="*/ 0 h 242047"/>
                <a:gd name="connsiteX1" fmla="*/ 188259 w 191051"/>
                <a:gd name="connsiteY1" fmla="*/ 53788 h 242047"/>
                <a:gd name="connsiteX2" fmla="*/ 116541 w 191051"/>
                <a:gd name="connsiteY2" fmla="*/ 188259 h 242047"/>
                <a:gd name="connsiteX3" fmla="*/ 170330 w 191051"/>
                <a:gd name="connsiteY3" fmla="*/ 242047 h 24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051" h="242047">
                  <a:moveTo>
                    <a:pt x="0" y="0"/>
                  </a:moveTo>
                  <a:cubicBezTo>
                    <a:pt x="84417" y="11205"/>
                    <a:pt x="168835" y="22411"/>
                    <a:pt x="188259" y="53788"/>
                  </a:cubicBezTo>
                  <a:cubicBezTo>
                    <a:pt x="207683" y="85165"/>
                    <a:pt x="119529" y="156883"/>
                    <a:pt x="116541" y="188259"/>
                  </a:cubicBezTo>
                  <a:cubicBezTo>
                    <a:pt x="113553" y="219635"/>
                    <a:pt x="141941" y="230841"/>
                    <a:pt x="170330" y="242047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자유형 29"/>
            <p:cNvSpPr/>
            <p:nvPr/>
          </p:nvSpPr>
          <p:spPr>
            <a:xfrm>
              <a:off x="2487902" y="2587400"/>
              <a:ext cx="597547" cy="144280"/>
            </a:xfrm>
            <a:custGeom>
              <a:avLst/>
              <a:gdLst>
                <a:gd name="connsiteX0" fmla="*/ 0 w 708212"/>
                <a:gd name="connsiteY0" fmla="*/ 170330 h 170330"/>
                <a:gd name="connsiteX1" fmla="*/ 268941 w 708212"/>
                <a:gd name="connsiteY1" fmla="*/ 26894 h 170330"/>
                <a:gd name="connsiteX2" fmla="*/ 475130 w 708212"/>
                <a:gd name="connsiteY2" fmla="*/ 161365 h 170330"/>
                <a:gd name="connsiteX3" fmla="*/ 708212 w 708212"/>
                <a:gd name="connsiteY3" fmla="*/ 0 h 170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8212" h="170330">
                  <a:moveTo>
                    <a:pt x="0" y="170330"/>
                  </a:moveTo>
                  <a:cubicBezTo>
                    <a:pt x="94876" y="99359"/>
                    <a:pt x="189753" y="28388"/>
                    <a:pt x="268941" y="26894"/>
                  </a:cubicBezTo>
                  <a:cubicBezTo>
                    <a:pt x="348129" y="25400"/>
                    <a:pt x="401918" y="165847"/>
                    <a:pt x="475130" y="161365"/>
                  </a:cubicBezTo>
                  <a:cubicBezTo>
                    <a:pt x="548342" y="156883"/>
                    <a:pt x="628277" y="78441"/>
                    <a:pt x="708212" y="0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자유형 31"/>
            <p:cNvSpPr/>
            <p:nvPr/>
          </p:nvSpPr>
          <p:spPr>
            <a:xfrm>
              <a:off x="1050764" y="2836513"/>
              <a:ext cx="567291" cy="206710"/>
            </a:xfrm>
            <a:custGeom>
              <a:avLst/>
              <a:gdLst>
                <a:gd name="connsiteX0" fmla="*/ 672353 w 672353"/>
                <a:gd name="connsiteY0" fmla="*/ 154143 h 244032"/>
                <a:gd name="connsiteX1" fmla="*/ 519953 w 672353"/>
                <a:gd name="connsiteY1" fmla="*/ 1743 h 244032"/>
                <a:gd name="connsiteX2" fmla="*/ 179294 w 672353"/>
                <a:gd name="connsiteY2" fmla="*/ 243791 h 244032"/>
                <a:gd name="connsiteX3" fmla="*/ 0 w 672353"/>
                <a:gd name="connsiteY3" fmla="*/ 37602 h 244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353" h="244032">
                  <a:moveTo>
                    <a:pt x="672353" y="154143"/>
                  </a:moveTo>
                  <a:cubicBezTo>
                    <a:pt x="637241" y="70472"/>
                    <a:pt x="602129" y="-13198"/>
                    <a:pt x="519953" y="1743"/>
                  </a:cubicBezTo>
                  <a:cubicBezTo>
                    <a:pt x="437777" y="16684"/>
                    <a:pt x="265953" y="237815"/>
                    <a:pt x="179294" y="243791"/>
                  </a:cubicBezTo>
                  <a:cubicBezTo>
                    <a:pt x="92635" y="249767"/>
                    <a:pt x="46317" y="143684"/>
                    <a:pt x="0" y="37602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자유형 33"/>
            <p:cNvSpPr/>
            <p:nvPr/>
          </p:nvSpPr>
          <p:spPr>
            <a:xfrm>
              <a:off x="2109650" y="3551792"/>
              <a:ext cx="98389" cy="341714"/>
            </a:xfrm>
            <a:custGeom>
              <a:avLst/>
              <a:gdLst>
                <a:gd name="connsiteX0" fmla="*/ 116610 w 116610"/>
                <a:gd name="connsiteY0" fmla="*/ 0 h 403412"/>
                <a:gd name="connsiteX1" fmla="*/ 69 w 116610"/>
                <a:gd name="connsiteY1" fmla="*/ 161365 h 403412"/>
                <a:gd name="connsiteX2" fmla="*/ 98681 w 116610"/>
                <a:gd name="connsiteY2" fmla="*/ 268941 h 403412"/>
                <a:gd name="connsiteX3" fmla="*/ 44892 w 116610"/>
                <a:gd name="connsiteY3" fmla="*/ 403412 h 403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610" h="403412">
                  <a:moveTo>
                    <a:pt x="116610" y="0"/>
                  </a:moveTo>
                  <a:cubicBezTo>
                    <a:pt x="59833" y="58271"/>
                    <a:pt x="3057" y="116542"/>
                    <a:pt x="69" y="161365"/>
                  </a:cubicBezTo>
                  <a:cubicBezTo>
                    <a:pt x="-2919" y="206188"/>
                    <a:pt x="91210" y="228600"/>
                    <a:pt x="98681" y="268941"/>
                  </a:cubicBezTo>
                  <a:cubicBezTo>
                    <a:pt x="106151" y="309282"/>
                    <a:pt x="75521" y="356347"/>
                    <a:pt x="44892" y="403412"/>
                  </a:cubicBezTo>
                </a:path>
              </a:pathLst>
            </a:custGeom>
            <a:noFill/>
            <a:ln>
              <a:solidFill>
                <a:schemeClr val="accent2">
                  <a:lumMod val="5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602126" y="1954305"/>
            <a:ext cx="1507524" cy="27619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자전거 구성요소</a:t>
            </a:r>
          </a:p>
        </p:txBody>
      </p:sp>
      <p:cxnSp>
        <p:nvCxnSpPr>
          <p:cNvPr id="73" name="직선 화살표 연결선 72"/>
          <p:cNvCxnSpPr>
            <a:stCxn id="39" idx="0"/>
          </p:cNvCxnSpPr>
          <p:nvPr/>
        </p:nvCxnSpPr>
        <p:spPr>
          <a:xfrm flipH="1" flipV="1">
            <a:off x="1253857" y="4742543"/>
            <a:ext cx="1" cy="2821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41" idx="0"/>
          </p:cNvCxnSpPr>
          <p:nvPr/>
        </p:nvCxnSpPr>
        <p:spPr>
          <a:xfrm flipV="1">
            <a:off x="3656400" y="4782627"/>
            <a:ext cx="0" cy="8427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315965" y="5352934"/>
            <a:ext cx="2156360" cy="27699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dirty="0"/>
              <a:t>a, b, c, d, e, f</a:t>
            </a:r>
            <a:r>
              <a:rPr lang="ko-KR" altLang="en-US" sz="1200" dirty="0"/>
              <a:t>로 구성된 자전거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917227" y="5973217"/>
            <a:ext cx="4336444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dirty="0"/>
              <a:t>1. a, b, c </a:t>
            </a:r>
            <a:r>
              <a:rPr lang="ko-KR" altLang="en-US" sz="1200" dirty="0"/>
              <a:t>및 </a:t>
            </a:r>
            <a:r>
              <a:rPr lang="en-US" altLang="ko-KR" sz="1200" dirty="0"/>
              <a:t>d</a:t>
            </a:r>
            <a:r>
              <a:rPr lang="ko-KR" altLang="en-US" sz="1200" dirty="0"/>
              <a:t>를 포함하는 것을 특징으로 하는 자전거</a:t>
            </a: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있어서</a:t>
            </a:r>
            <a:r>
              <a:rPr lang="en-US" altLang="ko-KR" sz="1200" dirty="0"/>
              <a:t>, e</a:t>
            </a:r>
            <a:r>
              <a:rPr lang="ko-KR" altLang="en-US" sz="1200" dirty="0"/>
              <a:t>를 더 포함하는 것을 특징으로 하는 자전거</a:t>
            </a:r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있어서</a:t>
            </a:r>
            <a:r>
              <a:rPr lang="en-US" altLang="ko-KR" sz="1200" dirty="0"/>
              <a:t>, f</a:t>
            </a:r>
            <a:r>
              <a:rPr lang="ko-KR" altLang="en-US" sz="1200" dirty="0"/>
              <a:t>와 </a:t>
            </a:r>
            <a:r>
              <a:rPr lang="en-US" altLang="ko-KR" sz="1200" dirty="0"/>
              <a:t>g</a:t>
            </a:r>
            <a:r>
              <a:rPr lang="ko-KR" altLang="en-US" sz="1200" dirty="0"/>
              <a:t>를 더 포함하는 것을 특징으로 하는 자전거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5787868" y="1891562"/>
            <a:ext cx="0" cy="485886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그룹 96"/>
          <p:cNvGrpSpPr/>
          <p:nvPr/>
        </p:nvGrpSpPr>
        <p:grpSpPr>
          <a:xfrm>
            <a:off x="7477521" y="1950561"/>
            <a:ext cx="3343153" cy="4528011"/>
            <a:chOff x="391885" y="2626850"/>
            <a:chExt cx="2334986" cy="3162536"/>
          </a:xfrm>
        </p:grpSpPr>
        <p:sp>
          <p:nvSpPr>
            <p:cNvPr id="98" name="타원 97"/>
            <p:cNvSpPr/>
            <p:nvPr/>
          </p:nvSpPr>
          <p:spPr>
            <a:xfrm>
              <a:off x="391885" y="3454400"/>
              <a:ext cx="2334986" cy="2334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927100" y="4018643"/>
              <a:ext cx="1264556" cy="12065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0" name="직선 화살표 연결선 99"/>
            <p:cNvCxnSpPr/>
            <p:nvPr/>
          </p:nvCxnSpPr>
          <p:spPr>
            <a:xfrm flipV="1">
              <a:off x="1559378" y="2907295"/>
              <a:ext cx="0" cy="1125862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직사각형 100"/>
            <p:cNvSpPr/>
            <p:nvPr/>
          </p:nvSpPr>
          <p:spPr>
            <a:xfrm>
              <a:off x="1666514" y="4359842"/>
              <a:ext cx="792750" cy="31358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공지기술</a:t>
              </a:r>
              <a:endParaRPr lang="ko-KR" altLang="en-US" sz="1200" dirty="0"/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450489" y="3319158"/>
              <a:ext cx="792750" cy="31358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청구항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</a:t>
              </a:r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 err="1"/>
                <a:t>독립항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594756" y="2626850"/>
              <a:ext cx="8098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동일성</a:t>
              </a:r>
            </a:p>
          </p:txBody>
        </p:sp>
        <p:sp>
          <p:nvSpPr>
            <p:cNvPr id="104" name="타원 103"/>
            <p:cNvSpPr/>
            <p:nvPr/>
          </p:nvSpPr>
          <p:spPr>
            <a:xfrm>
              <a:off x="668189" y="3734939"/>
              <a:ext cx="1809518" cy="180951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/>
            <p:cNvSpPr/>
            <p:nvPr/>
          </p:nvSpPr>
          <p:spPr>
            <a:xfrm>
              <a:off x="1249899" y="4322359"/>
              <a:ext cx="618958" cy="61895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622168" y="3696324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청구항</a:t>
              </a:r>
              <a:r>
                <a:rPr lang="en-US" altLang="ko-KR" sz="1200" dirty="0"/>
                <a:t>2</a:t>
              </a:r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 err="1"/>
                <a:t>종속항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1176573" y="4750198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청구항</a:t>
              </a:r>
              <a:r>
                <a:rPr lang="en-US" altLang="ko-KR" sz="1200" dirty="0"/>
                <a:t>3</a:t>
              </a:r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 err="1"/>
                <a:t>종속항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04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항각호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독립항과</a:t>
            </a:r>
            <a:r>
              <a:rPr lang="ko-KR" altLang="en-US" dirty="0"/>
              <a:t> </a:t>
            </a:r>
            <a:r>
              <a:rPr lang="ko-KR" altLang="en-US" dirty="0" err="1"/>
              <a:t>종속항의</a:t>
            </a:r>
            <a:r>
              <a:rPr lang="ko-KR" altLang="en-US" dirty="0"/>
              <a:t> 관계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종속항이란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독립항을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한정하거나 부가하여 구체화한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청구항</a:t>
            </a:r>
            <a:r>
              <a:rPr lang="ko-KR" altLang="en-US" sz="1400" dirty="0" err="1">
                <a:solidFill>
                  <a:schemeClr val="tx2"/>
                </a:solidFill>
              </a:rPr>
              <a:t>을</a:t>
            </a:r>
            <a:r>
              <a:rPr lang="ko-KR" altLang="en-US" sz="1400" dirty="0">
                <a:solidFill>
                  <a:schemeClr val="tx2"/>
                </a:solidFill>
              </a:rPr>
              <a:t> 말하기 때문에</a:t>
            </a:r>
            <a:r>
              <a:rPr lang="en-US" altLang="ko-KR" sz="1400" dirty="0">
                <a:solidFill>
                  <a:schemeClr val="tx2"/>
                </a:solidFill>
              </a:rPr>
              <a:t>,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종속항은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독립항과의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관계에서 하위개념발명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독립항의</a:t>
            </a:r>
            <a:r>
              <a:rPr lang="ko-KR" altLang="en-US" sz="1400" dirty="0">
                <a:solidFill>
                  <a:schemeClr val="tx2"/>
                </a:solidFill>
              </a:rPr>
              <a:t> 신규성이 있는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종속항은</a:t>
            </a:r>
            <a:r>
              <a:rPr lang="ko-KR" altLang="en-US" sz="1400" dirty="0">
                <a:solidFill>
                  <a:schemeClr val="tx2"/>
                </a:solidFill>
              </a:rPr>
              <a:t> 당연히 신규성이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반대로 </a:t>
            </a:r>
            <a:r>
              <a:rPr lang="ko-KR" altLang="en-US" sz="1400" dirty="0" err="1">
                <a:solidFill>
                  <a:schemeClr val="tx2"/>
                </a:solidFill>
              </a:rPr>
              <a:t>독립항의</a:t>
            </a:r>
            <a:r>
              <a:rPr lang="ko-KR" altLang="en-US" sz="1400" dirty="0">
                <a:solidFill>
                  <a:schemeClr val="tx2"/>
                </a:solidFill>
              </a:rPr>
              <a:t> 신규성이 없는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종속항은</a:t>
            </a:r>
            <a:r>
              <a:rPr lang="ko-KR" altLang="en-US" sz="1400" dirty="0">
                <a:solidFill>
                  <a:schemeClr val="tx2"/>
                </a:solidFill>
              </a:rPr>
              <a:t> 개별적으로 신규성 여부를 판단하여야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-27160" y="149709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6126386" y="2023637"/>
            <a:ext cx="0" cy="453636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7658073" y="1950561"/>
            <a:ext cx="3343153" cy="4528011"/>
            <a:chOff x="391885" y="2626850"/>
            <a:chExt cx="2334986" cy="3162536"/>
          </a:xfrm>
        </p:grpSpPr>
        <p:sp>
          <p:nvSpPr>
            <p:cNvPr id="80" name="타원 79"/>
            <p:cNvSpPr/>
            <p:nvPr/>
          </p:nvSpPr>
          <p:spPr>
            <a:xfrm>
              <a:off x="391885" y="3454400"/>
              <a:ext cx="2334986" cy="2334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/>
            <p:cNvSpPr/>
            <p:nvPr/>
          </p:nvSpPr>
          <p:spPr>
            <a:xfrm>
              <a:off x="927100" y="4018643"/>
              <a:ext cx="1264556" cy="12065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화살표 연결선 81"/>
            <p:cNvCxnSpPr/>
            <p:nvPr/>
          </p:nvCxnSpPr>
          <p:spPr>
            <a:xfrm flipV="1">
              <a:off x="1559378" y="2907295"/>
              <a:ext cx="0" cy="1125862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85"/>
            <p:cNvSpPr/>
            <p:nvPr/>
          </p:nvSpPr>
          <p:spPr>
            <a:xfrm>
              <a:off x="1666514" y="4359842"/>
              <a:ext cx="792750" cy="31358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선행기술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50489" y="3319158"/>
              <a:ext cx="792750" cy="31358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독립항</a:t>
              </a:r>
              <a:endParaRPr lang="ko-KR" altLang="en-US" sz="1200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594756" y="2626850"/>
              <a:ext cx="8098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동일성</a:t>
              </a:r>
            </a:p>
          </p:txBody>
        </p:sp>
        <p:sp>
          <p:nvSpPr>
            <p:cNvPr id="89" name="타원 88"/>
            <p:cNvSpPr/>
            <p:nvPr/>
          </p:nvSpPr>
          <p:spPr>
            <a:xfrm>
              <a:off x="668189" y="3734939"/>
              <a:ext cx="1809518" cy="180951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/>
            <p:cNvSpPr/>
            <p:nvPr/>
          </p:nvSpPr>
          <p:spPr>
            <a:xfrm>
              <a:off x="1249899" y="4322359"/>
              <a:ext cx="618958" cy="61895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622168" y="3696324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176573" y="4750198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469416" y="1914953"/>
            <a:ext cx="3258705" cy="4413633"/>
            <a:chOff x="3048978" y="2626850"/>
            <a:chExt cx="2334986" cy="3162536"/>
          </a:xfrm>
        </p:grpSpPr>
        <p:sp>
          <p:nvSpPr>
            <p:cNvPr id="95" name="타원 94"/>
            <p:cNvSpPr/>
            <p:nvPr/>
          </p:nvSpPr>
          <p:spPr>
            <a:xfrm>
              <a:off x="3048978" y="3454400"/>
              <a:ext cx="2334986" cy="2334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3584193" y="4018643"/>
              <a:ext cx="1264556" cy="12065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7" name="직선 화살표 연결선 96"/>
            <p:cNvCxnSpPr>
              <a:stCxn id="95" idx="0"/>
            </p:cNvCxnSpPr>
            <p:nvPr/>
          </p:nvCxnSpPr>
          <p:spPr>
            <a:xfrm flipV="1">
              <a:off x="4216471" y="2907295"/>
              <a:ext cx="0" cy="547105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/>
            <p:cNvSpPr/>
            <p:nvPr/>
          </p:nvSpPr>
          <p:spPr>
            <a:xfrm>
              <a:off x="4323607" y="4359842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3107582" y="3319158"/>
              <a:ext cx="792750" cy="31358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선행기술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251849" y="2626850"/>
              <a:ext cx="8098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동일성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325282" y="3734939"/>
              <a:ext cx="1809518" cy="1809518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906992" y="4322359"/>
              <a:ext cx="618958" cy="618958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4308289" y="3623754"/>
              <a:ext cx="792750" cy="31358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독립항</a:t>
              </a:r>
              <a:endParaRPr lang="ko-KR" altLang="en-US" sz="1200" dirty="0"/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833666" y="4750198"/>
              <a:ext cx="792750" cy="31358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종속항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298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화살표 연결선 8"/>
          <p:cNvCxnSpPr>
            <a:stCxn id="72" idx="3"/>
            <a:endCxn id="67" idx="1"/>
          </p:cNvCxnSpPr>
          <p:nvPr/>
        </p:nvCxnSpPr>
        <p:spPr>
          <a:xfrm>
            <a:off x="3955205" y="3599373"/>
            <a:ext cx="4618004" cy="43180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1281205" y="2364744"/>
            <a:ext cx="7797800" cy="664577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진보성의 개념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1263400" y="3054190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7684849" y="2837741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/>
          <p:cNvCxnSpPr/>
          <p:nvPr/>
        </p:nvCxnSpPr>
        <p:spPr>
          <a:xfrm flipH="1">
            <a:off x="9076542" y="3405634"/>
            <a:ext cx="1" cy="512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73209" y="3846507"/>
            <a:ext cx="10182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1107" y="3339380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7960" y="3339380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6542" y="3339380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14</a:t>
            </a:r>
            <a:r>
              <a:rPr lang="ko-KR" altLang="en-US" sz="1400" dirty="0"/>
              <a:t>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2530" y="1978818"/>
            <a:ext cx="12907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특허출원 전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3106619" y="3107685"/>
            <a:ext cx="1" cy="8102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247686" y="3414707"/>
            <a:ext cx="17075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국내외 </a:t>
            </a:r>
            <a:r>
              <a:rPr lang="ko-KR" altLang="en-US" dirty="0" err="1"/>
              <a:t>공지기술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087720" y="2064122"/>
            <a:ext cx="2032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380845" y="4152902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공지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0845" y="4582189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 err="1"/>
              <a:t>공연실시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3380845" y="4984709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반포된 간행물 게재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0845" y="5413996"/>
            <a:ext cx="28854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/>
              <a:t>전기통신회선을 통하여 공중 이용가능</a:t>
            </a:r>
            <a:endParaRPr lang="ko-KR" altLang="en-US" sz="1400" dirty="0"/>
          </a:p>
        </p:txBody>
      </p:sp>
      <p:cxnSp>
        <p:nvCxnSpPr>
          <p:cNvPr id="23" name="꺾인 연결선 22"/>
          <p:cNvCxnSpPr>
            <a:stCxn id="72" idx="2"/>
            <a:endCxn id="76" idx="1"/>
          </p:cNvCxnSpPr>
          <p:nvPr/>
        </p:nvCxnSpPr>
        <p:spPr>
          <a:xfrm rot="16200000" flipH="1">
            <a:off x="2333834" y="4551650"/>
            <a:ext cx="1814623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72" idx="2"/>
            <a:endCxn id="73" idx="1"/>
          </p:cNvCxnSpPr>
          <p:nvPr/>
        </p:nvCxnSpPr>
        <p:spPr>
          <a:xfrm rot="16200000" flipH="1">
            <a:off x="2964381" y="3921103"/>
            <a:ext cx="553529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72" idx="2"/>
            <a:endCxn id="74" idx="1"/>
          </p:cNvCxnSpPr>
          <p:nvPr/>
        </p:nvCxnSpPr>
        <p:spPr>
          <a:xfrm rot="16200000" flipH="1">
            <a:off x="2749737" y="4135747"/>
            <a:ext cx="98281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72" idx="2"/>
            <a:endCxn id="75" idx="1"/>
          </p:cNvCxnSpPr>
          <p:nvPr/>
        </p:nvCxnSpPr>
        <p:spPr>
          <a:xfrm rot="16200000" flipH="1">
            <a:off x="2548477" y="4337007"/>
            <a:ext cx="1385336" cy="27939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② 특허출원 전에 그 발명이 속하는 기술분야에서 통상의 지식을 가진 사람이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해당하는 발명에 의하여 쉽게 발명할 수 있으면 그 발명에 대해서는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50359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100246" y="4766855"/>
            <a:ext cx="421301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통상의 기술자의 입장에서 판단</a:t>
            </a:r>
            <a:endParaRPr lang="en-US" altLang="ko-KR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그 발명이 속하는 기술분야에서 통상의 지식을 가진 자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7" name="자유형 6"/>
          <p:cNvSpPr/>
          <p:nvPr/>
        </p:nvSpPr>
        <p:spPr>
          <a:xfrm>
            <a:off x="6364940" y="3962400"/>
            <a:ext cx="1488141" cy="770965"/>
          </a:xfrm>
          <a:custGeom>
            <a:avLst/>
            <a:gdLst>
              <a:gd name="connsiteX0" fmla="*/ 0 w 1524000"/>
              <a:gd name="connsiteY0" fmla="*/ 0 h 717177"/>
              <a:gd name="connsiteX1" fmla="*/ 340659 w 1524000"/>
              <a:gd name="connsiteY1" fmla="*/ 331694 h 717177"/>
              <a:gd name="connsiteX2" fmla="*/ 1102659 w 1524000"/>
              <a:gd name="connsiteY2" fmla="*/ 215153 h 717177"/>
              <a:gd name="connsiteX3" fmla="*/ 1524000 w 1524000"/>
              <a:gd name="connsiteY3" fmla="*/ 717177 h 71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717177">
                <a:moveTo>
                  <a:pt x="0" y="0"/>
                </a:moveTo>
                <a:cubicBezTo>
                  <a:pt x="78441" y="147917"/>
                  <a:pt x="156883" y="295835"/>
                  <a:pt x="340659" y="331694"/>
                </a:cubicBezTo>
                <a:cubicBezTo>
                  <a:pt x="524436" y="367553"/>
                  <a:pt x="905436" y="150906"/>
                  <a:pt x="1102659" y="215153"/>
                </a:cubicBezTo>
                <a:cubicBezTo>
                  <a:pt x="1299882" y="279400"/>
                  <a:pt x="1411941" y="498288"/>
                  <a:pt x="1524000" y="717177"/>
                </a:cubicBezTo>
              </a:path>
            </a:pathLst>
          </a:custGeom>
          <a:noFill/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313290" y="4328769"/>
            <a:ext cx="13740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심사의 객관성 부여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3081" y="5595241"/>
            <a:ext cx="598241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자연인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3081" y="5930492"/>
            <a:ext cx="35464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국내의 기술수준만을 고려하여 결정하는 것이 바람직함</a:t>
            </a:r>
          </a:p>
        </p:txBody>
      </p:sp>
      <p:cxnSp>
        <p:nvCxnSpPr>
          <p:cNvPr id="10" name="꺾인 연결선 9"/>
          <p:cNvCxnSpPr>
            <a:endCxn id="32" idx="1"/>
          </p:cNvCxnSpPr>
          <p:nvPr/>
        </p:nvCxnSpPr>
        <p:spPr>
          <a:xfrm rot="16200000" flipH="1">
            <a:off x="7523260" y="5403919"/>
            <a:ext cx="382111" cy="277532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cxnSpLocks/>
            <a:endCxn id="33" idx="1"/>
          </p:cNvCxnSpPr>
          <p:nvPr/>
        </p:nvCxnSpPr>
        <p:spPr>
          <a:xfrm rot="16200000" flipH="1">
            <a:off x="7308412" y="5524323"/>
            <a:ext cx="717364" cy="37197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833888" y="3490214"/>
            <a:ext cx="132440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용이성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주관적 </a:t>
            </a:r>
            <a:r>
              <a:rPr lang="ko-KR" altLang="en-US" sz="1400" dirty="0" err="1"/>
              <a:t>창작성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AD2BD-706A-4BCE-4954-5C48FAE80EA5}"/>
              </a:ext>
            </a:extLst>
          </p:cNvPr>
          <p:cNvSpPr txBox="1"/>
          <p:nvPr/>
        </p:nvSpPr>
        <p:spPr>
          <a:xfrm>
            <a:off x="8660402" y="4243660"/>
            <a:ext cx="83227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청구범위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청구항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284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통상의 기술자의 개념과 사후적 고찰 금지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통상의 </a:t>
            </a:r>
            <a:r>
              <a:rPr lang="ko-KR" altLang="en-US" sz="1400" dirty="0" err="1">
                <a:solidFill>
                  <a:schemeClr val="tx2"/>
                </a:solidFill>
              </a:rPr>
              <a:t>기술자란</a:t>
            </a:r>
            <a:r>
              <a:rPr lang="ko-KR" altLang="en-US" sz="1400" dirty="0">
                <a:solidFill>
                  <a:schemeClr val="tx2"/>
                </a:solidFill>
              </a:rPr>
              <a:t> 심사관이 진보성 판단에 객관성을 부여하기 위해 가정한 상상의 인물로서 자연인이다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심사관은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해당 발명의 출원 전의 상태</a:t>
            </a:r>
            <a:r>
              <a:rPr lang="ko-KR" altLang="en-US" sz="1400" dirty="0">
                <a:solidFill>
                  <a:schemeClr val="tx2"/>
                </a:solidFill>
              </a:rPr>
              <a:t>로 돌아가서 해당 발명의 지식을 알지 못한다는 상태에서 발명의 진보성 여부를 따져보아야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 이유는 통상의 기술자로서 해당 발명의 이론을 알고 난 후에는 공지기술로부터 해당 특허의 </a:t>
            </a:r>
            <a:r>
              <a:rPr lang="ko-KR" altLang="en-US" sz="1400" dirty="0" err="1">
                <a:solidFill>
                  <a:schemeClr val="tx2"/>
                </a:solidFill>
              </a:rPr>
              <a:t>발명적</a:t>
            </a:r>
            <a:r>
              <a:rPr lang="ko-KR" altLang="en-US" sz="1400" dirty="0">
                <a:solidFill>
                  <a:schemeClr val="tx2"/>
                </a:solidFill>
              </a:rPr>
              <a:t> 해결을 손쉽게 이끌어 낼 수 있는 경우가 극히 많기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77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753036" y="2639674"/>
            <a:ext cx="0" cy="30756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753036" y="5715319"/>
            <a:ext cx="47154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323626" y="2598981"/>
            <a:ext cx="429410" cy="58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수준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452283" y="3769832"/>
            <a:ext cx="358588" cy="194548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2394872" y="4052371"/>
            <a:ext cx="358588" cy="166294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337461" y="3382349"/>
            <a:ext cx="358588" cy="2332970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627085" y="4464072"/>
            <a:ext cx="358588" cy="12512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 flipH="1">
            <a:off x="1237577" y="5771497"/>
            <a:ext cx="752587" cy="27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47" name="TextBox 46"/>
          <p:cNvSpPr txBox="1"/>
          <p:nvPr/>
        </p:nvSpPr>
        <p:spPr>
          <a:xfrm flipH="1">
            <a:off x="2169908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심사관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甲</a:t>
            </a:r>
          </a:p>
        </p:txBody>
      </p:sp>
      <p:sp>
        <p:nvSpPr>
          <p:cNvPr id="48" name="TextBox 47"/>
          <p:cNvSpPr txBox="1"/>
          <p:nvPr/>
        </p:nvSpPr>
        <p:spPr>
          <a:xfrm flipH="1">
            <a:off x="3140461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심사관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乙</a:t>
            </a:r>
          </a:p>
        </p:txBody>
      </p:sp>
      <p:sp>
        <p:nvSpPr>
          <p:cNvPr id="49" name="TextBox 48"/>
          <p:cNvSpPr txBox="1"/>
          <p:nvPr/>
        </p:nvSpPr>
        <p:spPr>
          <a:xfrm flipH="1">
            <a:off x="4430085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통상의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기술자</a:t>
            </a:r>
          </a:p>
        </p:txBody>
      </p:sp>
      <p:sp>
        <p:nvSpPr>
          <p:cNvPr id="20" name="타원 19"/>
          <p:cNvSpPr/>
          <p:nvPr/>
        </p:nvSpPr>
        <p:spPr>
          <a:xfrm>
            <a:off x="1586753" y="3737529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2529342" y="4009313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3471930" y="3339291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4761554" y="4432114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stCxn id="51" idx="1"/>
          </p:cNvCxnSpPr>
          <p:nvPr/>
        </p:nvCxnSpPr>
        <p:spPr>
          <a:xfrm flipH="1" flipV="1">
            <a:off x="1739154" y="3818255"/>
            <a:ext cx="803317" cy="2028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53" idx="2"/>
            <a:endCxn id="20" idx="7"/>
          </p:cNvCxnSpPr>
          <p:nvPr/>
        </p:nvCxnSpPr>
        <p:spPr>
          <a:xfrm flipH="1">
            <a:off x="1663272" y="3379654"/>
            <a:ext cx="1808658" cy="3696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53037" y="3786309"/>
            <a:ext cx="670376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비용이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49146" y="3464130"/>
            <a:ext cx="508473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용이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55250" y="4181989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비용이</a:t>
            </a:r>
          </a:p>
        </p:txBody>
      </p:sp>
      <p:sp>
        <p:nvSpPr>
          <p:cNvPr id="37" name="자유형 36"/>
          <p:cNvSpPr/>
          <p:nvPr/>
        </p:nvSpPr>
        <p:spPr>
          <a:xfrm>
            <a:off x="1703295" y="3907065"/>
            <a:ext cx="3056965" cy="573152"/>
          </a:xfrm>
          <a:custGeom>
            <a:avLst/>
            <a:gdLst>
              <a:gd name="connsiteX0" fmla="*/ 3056965 w 3056965"/>
              <a:gd name="connsiteY0" fmla="*/ 636494 h 636494"/>
              <a:gd name="connsiteX1" fmla="*/ 502023 w 3056965"/>
              <a:gd name="connsiteY1" fmla="*/ 636494 h 636494"/>
              <a:gd name="connsiteX2" fmla="*/ 0 w 3056965"/>
              <a:gd name="connsiteY2" fmla="*/ 0 h 63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6965" h="636494">
                <a:moveTo>
                  <a:pt x="3056965" y="636494"/>
                </a:moveTo>
                <a:lnTo>
                  <a:pt x="502023" y="63649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2097742" y="2513143"/>
            <a:ext cx="1911225" cy="38802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2067673" y="2525817"/>
            <a:ext cx="1980029" cy="332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심사의 객관성 저해</a:t>
            </a:r>
          </a:p>
        </p:txBody>
      </p:sp>
      <p:cxnSp>
        <p:nvCxnSpPr>
          <p:cNvPr id="41" name="꺾인 연결선 40"/>
          <p:cNvCxnSpPr/>
          <p:nvPr/>
        </p:nvCxnSpPr>
        <p:spPr>
          <a:xfrm rot="16200000" flipH="1">
            <a:off x="3706285" y="3321764"/>
            <a:ext cx="1413032" cy="807671"/>
          </a:xfrm>
          <a:prstGeom prst="bentConnector3">
            <a:avLst>
              <a:gd name="adj1" fmla="val 869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126511" y="2738107"/>
            <a:ext cx="553357" cy="304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가정</a:t>
            </a:r>
          </a:p>
        </p:txBody>
      </p:sp>
      <p:cxnSp>
        <p:nvCxnSpPr>
          <p:cNvPr id="83" name="직선 연결선 82"/>
          <p:cNvCxnSpPr/>
          <p:nvPr/>
        </p:nvCxnSpPr>
        <p:spPr>
          <a:xfrm>
            <a:off x="6126386" y="1921267"/>
            <a:ext cx="0" cy="47215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 flipV="1">
            <a:off x="7058600" y="2639674"/>
            <a:ext cx="0" cy="30756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7058600" y="5715319"/>
            <a:ext cx="47154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 flipH="1">
            <a:off x="6629190" y="2598981"/>
            <a:ext cx="429410" cy="58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수준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9263918" y="3769832"/>
            <a:ext cx="358588" cy="194548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 flipH="1">
            <a:off x="9067142" y="5771497"/>
            <a:ext cx="752587" cy="27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98" name="타원 97"/>
          <p:cNvSpPr/>
          <p:nvPr/>
        </p:nvSpPr>
        <p:spPr>
          <a:xfrm>
            <a:off x="9398388" y="3737529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/>
          <p:cNvCxnSpPr>
            <a:stCxn id="114" idx="7"/>
          </p:cNvCxnSpPr>
          <p:nvPr/>
        </p:nvCxnSpPr>
        <p:spPr>
          <a:xfrm flipV="1">
            <a:off x="8094626" y="3812649"/>
            <a:ext cx="1241009" cy="47756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973823" y="4219441"/>
            <a:ext cx="508473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용이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7883637" y="4310696"/>
            <a:ext cx="358588" cy="13996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8018107" y="4278392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10778669" y="3764225"/>
            <a:ext cx="358588" cy="1945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/>
          <p:cNvSpPr/>
          <p:nvPr/>
        </p:nvSpPr>
        <p:spPr>
          <a:xfrm>
            <a:off x="10913139" y="3731922"/>
            <a:ext cx="89648" cy="8072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자유형 59"/>
          <p:cNvSpPr/>
          <p:nvPr/>
        </p:nvSpPr>
        <p:spPr>
          <a:xfrm>
            <a:off x="9520518" y="3826340"/>
            <a:ext cx="1425388" cy="379410"/>
          </a:xfrm>
          <a:custGeom>
            <a:avLst/>
            <a:gdLst>
              <a:gd name="connsiteX0" fmla="*/ 1425388 w 1425388"/>
              <a:gd name="connsiteY0" fmla="*/ 0 h 421341"/>
              <a:gd name="connsiteX1" fmla="*/ 1183341 w 1425388"/>
              <a:gd name="connsiteY1" fmla="*/ 421341 h 421341"/>
              <a:gd name="connsiteX2" fmla="*/ 268941 w 1425388"/>
              <a:gd name="connsiteY2" fmla="*/ 421341 h 421341"/>
              <a:gd name="connsiteX3" fmla="*/ 0 w 1425388"/>
              <a:gd name="connsiteY3" fmla="*/ 26894 h 42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5388" h="421341">
                <a:moveTo>
                  <a:pt x="1425388" y="0"/>
                </a:moveTo>
                <a:lnTo>
                  <a:pt x="1183341" y="421341"/>
                </a:lnTo>
                <a:lnTo>
                  <a:pt x="268941" y="421341"/>
                </a:lnTo>
                <a:lnTo>
                  <a:pt x="0" y="26894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/>
          <p:cNvSpPr txBox="1"/>
          <p:nvPr/>
        </p:nvSpPr>
        <p:spPr>
          <a:xfrm>
            <a:off x="8318720" y="3784870"/>
            <a:ext cx="670376" cy="277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비용이</a:t>
            </a:r>
          </a:p>
        </p:txBody>
      </p:sp>
      <p:sp>
        <p:nvSpPr>
          <p:cNvPr id="118" name="TextBox 117"/>
          <p:cNvSpPr txBox="1"/>
          <p:nvPr/>
        </p:nvSpPr>
        <p:spPr>
          <a:xfrm flipH="1">
            <a:off x="7686637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통상의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기술자</a:t>
            </a:r>
            <a:endParaRPr lang="en-US" altLang="ko-KR" sz="1400" dirty="0"/>
          </a:p>
        </p:txBody>
      </p:sp>
      <p:sp>
        <p:nvSpPr>
          <p:cNvPr id="119" name="TextBox 118"/>
          <p:cNvSpPr txBox="1"/>
          <p:nvPr/>
        </p:nvSpPr>
        <p:spPr>
          <a:xfrm flipH="1">
            <a:off x="10581669" y="5771497"/>
            <a:ext cx="752587" cy="4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통상의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기술자</a:t>
            </a:r>
          </a:p>
        </p:txBody>
      </p:sp>
      <p:sp>
        <p:nvSpPr>
          <p:cNvPr id="120" name="TextBox 119"/>
          <p:cNvSpPr txBox="1"/>
          <p:nvPr/>
        </p:nvSpPr>
        <p:spPr>
          <a:xfrm flipH="1">
            <a:off x="7223907" y="6393415"/>
            <a:ext cx="1678046" cy="2494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발명의 지식을 알기 전</a:t>
            </a:r>
            <a:endParaRPr lang="en-US" altLang="ko-KR" sz="1200" dirty="0"/>
          </a:p>
        </p:txBody>
      </p:sp>
      <p:sp>
        <p:nvSpPr>
          <p:cNvPr id="121" name="TextBox 120"/>
          <p:cNvSpPr txBox="1"/>
          <p:nvPr/>
        </p:nvSpPr>
        <p:spPr>
          <a:xfrm flipH="1">
            <a:off x="10066338" y="6393415"/>
            <a:ext cx="1793968" cy="2494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발명의 지식을 알고 난 후</a:t>
            </a:r>
            <a:endParaRPr lang="en-US" altLang="ko-KR" sz="1200" dirty="0"/>
          </a:p>
        </p:txBody>
      </p:sp>
      <p:cxnSp>
        <p:nvCxnSpPr>
          <p:cNvPr id="62" name="직선 화살표 연결선 61"/>
          <p:cNvCxnSpPr>
            <a:stCxn id="120" idx="0"/>
            <a:endCxn id="118" idx="2"/>
          </p:cNvCxnSpPr>
          <p:nvPr/>
        </p:nvCxnSpPr>
        <p:spPr>
          <a:xfrm flipV="1">
            <a:off x="8062930" y="6242647"/>
            <a:ext cx="0" cy="1507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121" idx="0"/>
            <a:endCxn id="119" idx="2"/>
          </p:cNvCxnSpPr>
          <p:nvPr/>
        </p:nvCxnSpPr>
        <p:spPr>
          <a:xfrm flipH="1" flipV="1">
            <a:off x="10957962" y="6242647"/>
            <a:ext cx="5360" cy="1507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5"/>
          <p:cNvSpPr>
            <a:spLocks noChangeArrowheads="1"/>
          </p:cNvSpPr>
          <p:nvPr/>
        </p:nvSpPr>
        <p:spPr bwMode="auto">
          <a:xfrm>
            <a:off x="195260" y="1938584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통상의 기술자의 개념</a:t>
            </a:r>
          </a:p>
        </p:txBody>
      </p:sp>
      <p:sp>
        <p:nvSpPr>
          <p:cNvPr id="126" name="Rectangle 5"/>
          <p:cNvSpPr>
            <a:spLocks noChangeArrowheads="1"/>
          </p:cNvSpPr>
          <p:nvPr/>
        </p:nvSpPr>
        <p:spPr bwMode="auto">
          <a:xfrm>
            <a:off x="6359193" y="1938584"/>
            <a:ext cx="208003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>
                <a:solidFill>
                  <a:schemeClr val="bg1"/>
                </a:solidFill>
                <a:latin typeface="+mj-ea"/>
                <a:ea typeface="+mj-ea"/>
              </a:rPr>
              <a:t>사후적 고찰의 금지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80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용이성의 판단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진보성 유무를 가늠하는 창작의 난이도는 그 구성의 차이와 </a:t>
            </a:r>
            <a:r>
              <a:rPr lang="ko-KR" altLang="en-US" sz="1400" dirty="0" err="1">
                <a:solidFill>
                  <a:schemeClr val="tx2"/>
                </a:solidFill>
              </a:rPr>
              <a:t>작용효과를</a:t>
            </a:r>
            <a:r>
              <a:rPr lang="ko-KR" altLang="en-US" sz="1400" dirty="0">
                <a:solidFill>
                  <a:schemeClr val="tx2"/>
                </a:solidFill>
              </a:rPr>
              <a:t> 고려하여 판단하여야 하는 것이므로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기술의 구성이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선행기술과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차이가 있을 뿐 아니라 그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작용효과에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있어서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선행기술과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비교하여 현저하게 향상 진보된 것</a:t>
            </a:r>
            <a:r>
              <a:rPr lang="ko-KR" altLang="en-US" sz="1400" dirty="0">
                <a:solidFill>
                  <a:schemeClr val="tx2"/>
                </a:solidFill>
              </a:rPr>
              <a:t>인 때에는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기술의 </a:t>
            </a:r>
            <a:r>
              <a:rPr lang="ko-KR" altLang="en-US" sz="1400" dirty="0" err="1">
                <a:solidFill>
                  <a:schemeClr val="tx2"/>
                </a:solidFill>
              </a:rPr>
              <a:t>진보발전을</a:t>
            </a:r>
            <a:r>
              <a:rPr lang="ko-KR" altLang="en-US" sz="1400" dirty="0">
                <a:solidFill>
                  <a:schemeClr val="tx2"/>
                </a:solidFill>
              </a:rPr>
              <a:t> 도모하는 특허제도의 목적에 비추어 특허발명의 진보성을 인정하여야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구성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요소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곤란성과 효과의 </a:t>
            </a:r>
            <a:r>
              <a:rPr lang="ko-KR" altLang="en-US" sz="1400" dirty="0" err="1">
                <a:solidFill>
                  <a:schemeClr val="tx2"/>
                </a:solidFill>
              </a:rPr>
              <a:t>현저성에</a:t>
            </a:r>
            <a:r>
              <a:rPr lang="ko-KR" altLang="en-US" sz="1400" dirty="0">
                <a:solidFill>
                  <a:schemeClr val="tx2"/>
                </a:solidFill>
              </a:rPr>
              <a:t> 따라 용이성을 판단하고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7277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/>
        </p:nvGrpSpPr>
        <p:grpSpPr>
          <a:xfrm>
            <a:off x="6778063" y="2169495"/>
            <a:ext cx="4965298" cy="4225066"/>
            <a:chOff x="5979556" y="2169495"/>
            <a:chExt cx="5763805" cy="4225066"/>
          </a:xfrm>
        </p:grpSpPr>
        <p:sp>
          <p:nvSpPr>
            <p:cNvPr id="2" name="순서도: 판단 1"/>
            <p:cNvSpPr/>
            <p:nvPr/>
          </p:nvSpPr>
          <p:spPr>
            <a:xfrm>
              <a:off x="7939340" y="3133622"/>
              <a:ext cx="1741383" cy="934948"/>
            </a:xfrm>
            <a:prstGeom prst="flowChartDecision">
              <a:avLst/>
            </a:prstGeom>
            <a:solidFill>
              <a:schemeClr val="accent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chemeClr val="bg1"/>
                  </a:solidFill>
                </a:rPr>
                <a:t>구성의 곤란성</a:t>
              </a:r>
            </a:p>
          </p:txBody>
        </p:sp>
        <p:sp>
          <p:nvSpPr>
            <p:cNvPr id="55" name="순서도: 판단 54"/>
            <p:cNvSpPr/>
            <p:nvPr/>
          </p:nvSpPr>
          <p:spPr>
            <a:xfrm>
              <a:off x="7939340" y="4570356"/>
              <a:ext cx="1741383" cy="934948"/>
            </a:xfrm>
            <a:prstGeom prst="flowChartDecision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효과의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현저성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6" name="직선 화살표 연결선 5"/>
            <p:cNvCxnSpPr>
              <a:stCxn id="2" idx="2"/>
              <a:endCxn id="55" idx="0"/>
            </p:cNvCxnSpPr>
            <p:nvPr/>
          </p:nvCxnSpPr>
          <p:spPr>
            <a:xfrm>
              <a:off x="8810031" y="4068570"/>
              <a:ext cx="0" cy="50178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/>
            <p:cNvSpPr/>
            <p:nvPr/>
          </p:nvSpPr>
          <p:spPr>
            <a:xfrm>
              <a:off x="10397077" y="3349376"/>
              <a:ext cx="1089093" cy="5137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진보성 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인정</a:t>
              </a:r>
            </a:p>
          </p:txBody>
        </p:sp>
        <p:cxnSp>
          <p:nvCxnSpPr>
            <p:cNvPr id="9" name="직선 화살표 연결선 8"/>
            <p:cNvCxnSpPr>
              <a:stCxn id="2" idx="3"/>
              <a:endCxn id="7" idx="1"/>
            </p:cNvCxnSpPr>
            <p:nvPr/>
          </p:nvCxnSpPr>
          <p:spPr>
            <a:xfrm>
              <a:off x="9680723" y="3601096"/>
              <a:ext cx="716355" cy="513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9686547" y="3283134"/>
              <a:ext cx="2420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979556" y="3349376"/>
              <a:ext cx="1089093" cy="5137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진보성 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부정</a:t>
              </a:r>
            </a:p>
          </p:txBody>
        </p:sp>
        <p:cxnSp>
          <p:nvCxnSpPr>
            <p:cNvPr id="65" name="직선 화살표 연결선 64"/>
            <p:cNvCxnSpPr>
              <a:stCxn id="2" idx="1"/>
              <a:endCxn id="63" idx="3"/>
            </p:cNvCxnSpPr>
            <p:nvPr/>
          </p:nvCxnSpPr>
          <p:spPr>
            <a:xfrm flipH="1">
              <a:off x="7068649" y="3601096"/>
              <a:ext cx="870691" cy="513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7634431" y="3283134"/>
              <a:ext cx="220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825181" y="4119940"/>
              <a:ext cx="5344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모호</a:t>
              </a:r>
            </a:p>
          </p:txBody>
        </p:sp>
        <p:cxnSp>
          <p:nvCxnSpPr>
            <p:cNvPr id="18" name="꺾인 연결선 17"/>
            <p:cNvCxnSpPr>
              <a:stCxn id="55" idx="3"/>
              <a:endCxn id="7" idx="2"/>
            </p:cNvCxnSpPr>
            <p:nvPr/>
          </p:nvCxnSpPr>
          <p:spPr>
            <a:xfrm flipV="1">
              <a:off x="9680723" y="3863084"/>
              <a:ext cx="1260901" cy="1174746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꺾인 연결선 25"/>
            <p:cNvCxnSpPr>
              <a:stCxn id="55" idx="1"/>
              <a:endCxn id="63" idx="2"/>
            </p:cNvCxnSpPr>
            <p:nvPr/>
          </p:nvCxnSpPr>
          <p:spPr>
            <a:xfrm rot="10800000">
              <a:off x="6524102" y="3863084"/>
              <a:ext cx="1415237" cy="1174746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9686547" y="4740417"/>
              <a:ext cx="2420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634431" y="4730685"/>
              <a:ext cx="220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29" name="모서리가 둥근 사각형 설명선 28"/>
            <p:cNvSpPr/>
            <p:nvPr/>
          </p:nvSpPr>
          <p:spPr>
            <a:xfrm>
              <a:off x="6078313" y="2169495"/>
              <a:ext cx="5665048" cy="610069"/>
            </a:xfrm>
            <a:prstGeom prst="wedgeRoundRectCallout">
              <a:avLst>
                <a:gd name="adj1" fmla="val -4827"/>
                <a:gd name="adj2" fmla="val 115794"/>
                <a:gd name="adj3" fmla="val 16667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</a:pP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TSM Test: Teaching(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교시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), Suggesting(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암시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), Motivation(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동기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  <a:p>
              <a:pPr marL="342900" indent="-342900">
                <a:buAutoNum type="arabicPeriod"/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통상의 창작능력발휘 고려</a:t>
              </a:r>
            </a:p>
          </p:txBody>
        </p:sp>
        <p:sp>
          <p:nvSpPr>
            <p:cNvPr id="81" name="모서리가 둥근 사각형 설명선 80"/>
            <p:cNvSpPr/>
            <p:nvPr/>
          </p:nvSpPr>
          <p:spPr>
            <a:xfrm>
              <a:off x="8911951" y="5813674"/>
              <a:ext cx="2214957" cy="580887"/>
            </a:xfrm>
            <a:prstGeom prst="wedgeRoundRectCallout">
              <a:avLst>
                <a:gd name="adj1" fmla="val -38104"/>
                <a:gd name="adj2" fmla="val -123652"/>
                <a:gd name="adj3" fmla="val 16667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이질적인 효과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342900" indent="-342900">
                <a:buAutoNum type="arabicPeriod"/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동질의 우수한 효과</a:t>
              </a:r>
            </a:p>
          </p:txBody>
        </p:sp>
      </p:grpSp>
      <p:cxnSp>
        <p:nvCxnSpPr>
          <p:cNvPr id="82" name="직선 연결선 81"/>
          <p:cNvCxnSpPr/>
          <p:nvPr/>
        </p:nvCxnSpPr>
        <p:spPr>
          <a:xfrm>
            <a:off x="6598995" y="1921267"/>
            <a:ext cx="0" cy="47215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991194" y="2580592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991194" y="3045049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명세서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991194" y="3537764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필요한 도면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991194" y="4002221"/>
            <a:ext cx="919791" cy="3480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요약서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142884" y="2007361"/>
            <a:ext cx="631136" cy="46716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설명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142884" y="4935090"/>
            <a:ext cx="631136" cy="4736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범위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97" name="꺾인 연결선 96"/>
          <p:cNvCxnSpPr>
            <a:stCxn id="103" idx="3"/>
            <a:endCxn id="94" idx="1"/>
          </p:cNvCxnSpPr>
          <p:nvPr/>
        </p:nvCxnSpPr>
        <p:spPr>
          <a:xfrm>
            <a:off x="719190" y="3158885"/>
            <a:ext cx="272004" cy="101736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103" idx="3"/>
            <a:endCxn id="89" idx="1"/>
          </p:cNvCxnSpPr>
          <p:nvPr/>
        </p:nvCxnSpPr>
        <p:spPr>
          <a:xfrm>
            <a:off x="719190" y="3158885"/>
            <a:ext cx="272004" cy="6018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103" idx="3"/>
            <a:endCxn id="92" idx="1"/>
          </p:cNvCxnSpPr>
          <p:nvPr/>
        </p:nvCxnSpPr>
        <p:spPr>
          <a:xfrm>
            <a:off x="719190" y="3158885"/>
            <a:ext cx="272004" cy="55290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89" idx="3"/>
          </p:cNvCxnSpPr>
          <p:nvPr/>
        </p:nvCxnSpPr>
        <p:spPr>
          <a:xfrm>
            <a:off x="1910985" y="3219074"/>
            <a:ext cx="231899" cy="187559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stCxn id="89" idx="3"/>
            <a:endCxn id="95" idx="1"/>
          </p:cNvCxnSpPr>
          <p:nvPr/>
        </p:nvCxnSpPr>
        <p:spPr>
          <a:xfrm flipV="1">
            <a:off x="1910985" y="2240945"/>
            <a:ext cx="231899" cy="97812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2950152" y="200736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발명의 명칭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2950152" y="243545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기술분야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950152" y="286468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배경기술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2950152" y="329391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내용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950152" y="3725429"/>
            <a:ext cx="1236668" cy="45081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도면의 간단한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950409" y="4289259"/>
            <a:ext cx="1236668" cy="4614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실시를 위한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구체적인 내용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812011" y="329505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해결과제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812011" y="3724281"/>
            <a:ext cx="1236668" cy="319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해결수단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812011" y="4153511"/>
            <a:ext cx="1236668" cy="31916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950152" y="4935091"/>
            <a:ext cx="1236668" cy="4280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(A</a:t>
            </a:r>
            <a:r>
              <a:rPr lang="ko-KR" altLang="en-US" sz="1200" dirty="0">
                <a:solidFill>
                  <a:schemeClr val="tx1"/>
                </a:solidFill>
              </a:rPr>
              <a:t>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950152" y="5496742"/>
            <a:ext cx="1236668" cy="451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(B</a:t>
            </a:r>
            <a:r>
              <a:rPr lang="ko-KR" altLang="en-US" sz="1200" dirty="0">
                <a:solidFill>
                  <a:schemeClr val="tx1"/>
                </a:solidFill>
              </a:rPr>
              <a:t>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950152" y="6069811"/>
            <a:ext cx="1236668" cy="4702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(C</a:t>
            </a:r>
            <a:r>
              <a:rPr lang="ko-KR" altLang="en-US" sz="1200" dirty="0">
                <a:solidFill>
                  <a:schemeClr val="tx1"/>
                </a:solidFill>
              </a:rPr>
              <a:t>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4146595" y="4935091"/>
            <a:ext cx="2376073" cy="4280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a, b, c  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146595" y="5508695"/>
            <a:ext cx="2376073" cy="4280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a, b, c, d  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4146595" y="6069810"/>
            <a:ext cx="2376073" cy="4702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a, b, c, d, e  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꺾인 연결선 71"/>
          <p:cNvCxnSpPr>
            <a:stCxn id="95" idx="3"/>
            <a:endCxn id="105" idx="1"/>
          </p:cNvCxnSpPr>
          <p:nvPr/>
        </p:nvCxnSpPr>
        <p:spPr>
          <a:xfrm flipV="1">
            <a:off x="2774020" y="2166944"/>
            <a:ext cx="176132" cy="7400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95" idx="3"/>
            <a:endCxn id="110" idx="1"/>
          </p:cNvCxnSpPr>
          <p:nvPr/>
        </p:nvCxnSpPr>
        <p:spPr>
          <a:xfrm>
            <a:off x="2774020" y="2240945"/>
            <a:ext cx="176389" cy="227903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95" idx="3"/>
            <a:endCxn id="106" idx="1"/>
          </p:cNvCxnSpPr>
          <p:nvPr/>
        </p:nvCxnSpPr>
        <p:spPr>
          <a:xfrm>
            <a:off x="2774020" y="2240945"/>
            <a:ext cx="176132" cy="35408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95" idx="3"/>
            <a:endCxn id="109" idx="1"/>
          </p:cNvCxnSpPr>
          <p:nvPr/>
        </p:nvCxnSpPr>
        <p:spPr>
          <a:xfrm>
            <a:off x="2774020" y="2240945"/>
            <a:ext cx="176132" cy="170989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95" idx="3"/>
            <a:endCxn id="107" idx="1"/>
          </p:cNvCxnSpPr>
          <p:nvPr/>
        </p:nvCxnSpPr>
        <p:spPr>
          <a:xfrm>
            <a:off x="2774020" y="2240945"/>
            <a:ext cx="176132" cy="7833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>
            <a:stCxn id="95" idx="3"/>
            <a:endCxn id="108" idx="1"/>
          </p:cNvCxnSpPr>
          <p:nvPr/>
        </p:nvCxnSpPr>
        <p:spPr>
          <a:xfrm>
            <a:off x="2774020" y="2240945"/>
            <a:ext cx="176132" cy="121254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11" idx="1"/>
            <a:endCxn id="108" idx="3"/>
          </p:cNvCxnSpPr>
          <p:nvPr/>
        </p:nvCxnSpPr>
        <p:spPr>
          <a:xfrm rot="10800000">
            <a:off x="4186821" y="3453494"/>
            <a:ext cx="625191" cy="114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108" idx="3"/>
            <a:endCxn id="122" idx="1"/>
          </p:cNvCxnSpPr>
          <p:nvPr/>
        </p:nvCxnSpPr>
        <p:spPr>
          <a:xfrm>
            <a:off x="4186820" y="3453494"/>
            <a:ext cx="625191" cy="8596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 141"/>
          <p:cNvCxnSpPr>
            <a:stCxn id="108" idx="3"/>
            <a:endCxn id="112" idx="1"/>
          </p:cNvCxnSpPr>
          <p:nvPr/>
        </p:nvCxnSpPr>
        <p:spPr>
          <a:xfrm>
            <a:off x="4186820" y="3453494"/>
            <a:ext cx="625191" cy="43037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96" idx="3"/>
            <a:endCxn id="127" idx="1"/>
          </p:cNvCxnSpPr>
          <p:nvPr/>
        </p:nvCxnSpPr>
        <p:spPr>
          <a:xfrm>
            <a:off x="2774020" y="5171899"/>
            <a:ext cx="176132" cy="113306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96" idx="3"/>
            <a:endCxn id="123" idx="1"/>
          </p:cNvCxnSpPr>
          <p:nvPr/>
        </p:nvCxnSpPr>
        <p:spPr>
          <a:xfrm flipV="1">
            <a:off x="2774020" y="5149136"/>
            <a:ext cx="176132" cy="2276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96" idx="3"/>
            <a:endCxn id="124" idx="1"/>
          </p:cNvCxnSpPr>
          <p:nvPr/>
        </p:nvCxnSpPr>
        <p:spPr>
          <a:xfrm>
            <a:off x="2774020" y="5171899"/>
            <a:ext cx="176132" cy="5508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직사각형 148"/>
          <p:cNvSpPr/>
          <p:nvPr/>
        </p:nvSpPr>
        <p:spPr>
          <a:xfrm>
            <a:off x="4263881" y="4621726"/>
            <a:ext cx="1037579" cy="2072492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4258920" y="4647007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구성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요소</a:t>
            </a:r>
            <a:r>
              <a:rPr lang="en-US" altLang="ko-KR" sz="1600" dirty="0">
                <a:solidFill>
                  <a:srgbClr val="FF0000"/>
                </a:solidFill>
              </a:rPr>
              <a:t>) - </a:t>
            </a:r>
            <a:r>
              <a:rPr lang="ko-KR" altLang="en-US" sz="1600" dirty="0">
                <a:solidFill>
                  <a:srgbClr val="FF0000"/>
                </a:solidFill>
              </a:rPr>
              <a:t>해결수단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170341" y="2922076"/>
            <a:ext cx="548849" cy="47361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서류</a:t>
            </a:r>
          </a:p>
        </p:txBody>
      </p:sp>
      <p:cxnSp>
        <p:nvCxnSpPr>
          <p:cNvPr id="56" name="꺾인 연결선 55"/>
          <p:cNvCxnSpPr>
            <a:stCxn id="88" idx="1"/>
            <a:endCxn id="103" idx="3"/>
          </p:cNvCxnSpPr>
          <p:nvPr/>
        </p:nvCxnSpPr>
        <p:spPr>
          <a:xfrm rot="10800000" flipV="1">
            <a:off x="719190" y="2754617"/>
            <a:ext cx="272004" cy="40426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59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의견서에 개진된 효과의 참작 여부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72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효과의 현저성은 특허발명의 명세서에 기재되어 통상의 기술자가 인식하거나 추론할 수 있는 효과를 중심으로 판단하여야 한다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2021. 4. 8.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2019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10609).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특허발명의 유리한 효과가 발명의 설명에 기재되어 있지 아니하더라도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통상의 기술자가 발명의 설명의 기재로부터 유리한 효과를 추론</a:t>
            </a:r>
            <a:r>
              <a:rPr lang="ko-KR" altLang="en-US" sz="1400" dirty="0">
                <a:solidFill>
                  <a:schemeClr val="tx2"/>
                </a:solidFill>
              </a:rPr>
              <a:t>할 수 있을 때에는 출원일 이후에 의견서 등에서 </a:t>
            </a:r>
            <a:r>
              <a:rPr lang="ko-KR" altLang="en-US" sz="1400" dirty="0" err="1">
                <a:solidFill>
                  <a:schemeClr val="tx2"/>
                </a:solidFill>
              </a:rPr>
              <a:t>주장ㆍ증명하는</a:t>
            </a:r>
            <a:r>
              <a:rPr lang="ko-KR" altLang="en-US" sz="1400" dirty="0">
                <a:solidFill>
                  <a:schemeClr val="tx2"/>
                </a:solidFill>
              </a:rPr>
              <a:t> 그 효과도 참작하여 진보성을 판단한다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2002. 8. 23.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2000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3234)</a:t>
            </a:r>
            <a:r>
              <a:rPr lang="en-US" altLang="ko-KR" sz="1400" b="1" dirty="0">
                <a:solidFill>
                  <a:schemeClr val="tx2"/>
                </a:solidFill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그러나 발명의 설명에 기재되어 있지 않고 발명의 설명 또는 도면의 기재로부터 통상의 기술자가 미루어 짐작할 수 없는 경우에는 의견서 등에서 </a:t>
            </a:r>
            <a:r>
              <a:rPr lang="ko-KR" altLang="en-US" sz="1400" dirty="0" err="1">
                <a:solidFill>
                  <a:schemeClr val="tx2"/>
                </a:solidFill>
              </a:rPr>
              <a:t>주장ㆍ증명하는</a:t>
            </a:r>
            <a:r>
              <a:rPr lang="ko-KR" altLang="en-US" sz="1400" dirty="0">
                <a:solidFill>
                  <a:schemeClr val="tx2"/>
                </a:solidFill>
              </a:rPr>
              <a:t> 효과는 참작해서는 아니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  <a:endCxn id="23" idx="2"/>
          </p:cNvCxnSpPr>
          <p:nvPr/>
        </p:nvCxnSpPr>
        <p:spPr>
          <a:xfrm flipV="1">
            <a:off x="2570882" y="2970691"/>
            <a:ext cx="0" cy="232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61768" y="2601359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820298" y="3231999"/>
            <a:ext cx="888422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cxnSpLocks/>
            <a:endCxn id="27" idx="0"/>
          </p:cNvCxnSpPr>
          <p:nvPr/>
        </p:nvCxnSpPr>
        <p:spPr>
          <a:xfrm>
            <a:off x="1739964" y="3276718"/>
            <a:ext cx="0" cy="234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30850" y="3510823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공지기술</a:t>
            </a:r>
            <a:endParaRPr lang="en-US" altLang="ko-KR" dirty="0"/>
          </a:p>
        </p:txBody>
      </p:sp>
      <p:cxnSp>
        <p:nvCxnSpPr>
          <p:cNvPr id="31" name="직선 연결선 30"/>
          <p:cNvCxnSpPr>
            <a:cxnSpLocks/>
            <a:endCxn id="32" idx="2"/>
          </p:cNvCxnSpPr>
          <p:nvPr/>
        </p:nvCxnSpPr>
        <p:spPr>
          <a:xfrm flipV="1">
            <a:off x="3683127" y="2970691"/>
            <a:ext cx="0" cy="232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174013" y="2601359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심사청구</a:t>
            </a:r>
          </a:p>
        </p:txBody>
      </p:sp>
      <p:cxnSp>
        <p:nvCxnSpPr>
          <p:cNvPr id="33" name="직선 연결선 32"/>
          <p:cNvCxnSpPr>
            <a:cxnSpLocks/>
            <a:endCxn id="34" idx="0"/>
          </p:cNvCxnSpPr>
          <p:nvPr/>
        </p:nvCxnSpPr>
        <p:spPr>
          <a:xfrm>
            <a:off x="7778387" y="3276718"/>
            <a:ext cx="0" cy="3370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38441" y="3613740"/>
            <a:ext cx="147989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err="1">
                <a:solidFill>
                  <a:schemeClr val="accent2"/>
                </a:solidFill>
              </a:rPr>
              <a:t>실체심사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38308" y="4312818"/>
            <a:ext cx="6074475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통상의 기술자가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효과를 발명의 설명의 </a:t>
            </a:r>
            <a:r>
              <a:rPr lang="ko-KR" altLang="en-US" dirty="0" err="1">
                <a:solidFill>
                  <a:schemeClr val="accent5">
                    <a:lumMod val="50000"/>
                  </a:schemeClr>
                </a:solidFill>
              </a:rPr>
              <a:t>기재로부터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 추론할 수 있을 때에 한해서만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효과의 </a:t>
            </a:r>
            <a:r>
              <a:rPr lang="ko-KR" altLang="en-US" dirty="0" err="1">
                <a:solidFill>
                  <a:schemeClr val="accent5">
                    <a:lumMod val="50000"/>
                  </a:schemeClr>
                </a:solidFill>
              </a:rPr>
              <a:t>현저성을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 진보성 판단에서 고려 </a:t>
            </a:r>
          </a:p>
        </p:txBody>
      </p:sp>
      <p:sp>
        <p:nvSpPr>
          <p:cNvPr id="36" name="아래쪽 화살표 35"/>
          <p:cNvSpPr/>
          <p:nvPr/>
        </p:nvSpPr>
        <p:spPr>
          <a:xfrm rot="10800000">
            <a:off x="7410531" y="4071077"/>
            <a:ext cx="719191" cy="21606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/>
          <p:cNvCxnSpPr>
            <a:cxnSpLocks/>
            <a:endCxn id="40" idx="0"/>
          </p:cNvCxnSpPr>
          <p:nvPr/>
        </p:nvCxnSpPr>
        <p:spPr>
          <a:xfrm>
            <a:off x="4226317" y="3276718"/>
            <a:ext cx="1" cy="234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17204" y="3510823"/>
            <a:ext cx="10182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실체심사</a:t>
            </a:r>
            <a:endParaRPr lang="en-US" altLang="ko-KR" dirty="0"/>
          </a:p>
        </p:txBody>
      </p:sp>
      <p:cxnSp>
        <p:nvCxnSpPr>
          <p:cNvPr id="41" name="직선 연결선 40"/>
          <p:cNvCxnSpPr>
            <a:cxnSpLocks/>
            <a:endCxn id="42" idx="0"/>
          </p:cNvCxnSpPr>
          <p:nvPr/>
        </p:nvCxnSpPr>
        <p:spPr>
          <a:xfrm>
            <a:off x="5467121" y="3276718"/>
            <a:ext cx="0" cy="234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49616" y="3510823"/>
            <a:ext cx="143500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거절이유통지</a:t>
            </a:r>
            <a:endParaRPr lang="en-US" altLang="ko-KR" dirty="0"/>
          </a:p>
        </p:txBody>
      </p:sp>
      <p:cxnSp>
        <p:nvCxnSpPr>
          <p:cNvPr id="43" name="직선 연결선 42"/>
          <p:cNvCxnSpPr>
            <a:cxnSpLocks/>
            <a:endCxn id="44" idx="2"/>
          </p:cNvCxnSpPr>
          <p:nvPr/>
        </p:nvCxnSpPr>
        <p:spPr>
          <a:xfrm flipV="1">
            <a:off x="6349009" y="2970691"/>
            <a:ext cx="0" cy="232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4090" y="2601359"/>
            <a:ext cx="80983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의견서</a:t>
            </a: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2236427" y="1993501"/>
            <a:ext cx="2017080" cy="446388"/>
          </a:xfrm>
          <a:prstGeom prst="wedgeRoundRectCallout">
            <a:avLst>
              <a:gd name="adj1" fmla="val -35778"/>
              <a:gd name="adj2" fmla="val 80357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발명은 </a:t>
            </a:r>
            <a:r>
              <a:rPr lang="en-US" altLang="ko-KR" sz="1400" dirty="0">
                <a:solidFill>
                  <a:schemeClr val="tx1"/>
                </a:solidFill>
              </a:rPr>
              <a:t>A </a:t>
            </a:r>
            <a:r>
              <a:rPr lang="ko-KR" altLang="en-US" sz="1400" dirty="0">
                <a:solidFill>
                  <a:schemeClr val="tx1"/>
                </a:solidFill>
              </a:rPr>
              <a:t>효과가 있다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모서리가 둥근 사각형 설명선 47"/>
          <p:cNvSpPr/>
          <p:nvPr/>
        </p:nvSpPr>
        <p:spPr>
          <a:xfrm>
            <a:off x="5672679" y="1993501"/>
            <a:ext cx="4693955" cy="446388"/>
          </a:xfrm>
          <a:prstGeom prst="wedgeRoundRectCallout">
            <a:avLst>
              <a:gd name="adj1" fmla="val -36216"/>
              <a:gd name="adj2" fmla="val 89563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발명은 </a:t>
            </a:r>
            <a:r>
              <a:rPr lang="en-US" altLang="ko-KR" sz="1400" dirty="0">
                <a:solidFill>
                  <a:schemeClr val="tx1"/>
                </a:solidFill>
              </a:rPr>
              <a:t>B </a:t>
            </a:r>
            <a:r>
              <a:rPr lang="ko-KR" altLang="en-US" sz="1400" dirty="0">
                <a:solidFill>
                  <a:schemeClr val="tx1"/>
                </a:solidFill>
              </a:rPr>
              <a:t>효과도 있기 때문에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효과의 </a:t>
            </a:r>
            <a:r>
              <a:rPr lang="ko-KR" altLang="en-US" sz="1400" dirty="0" err="1">
                <a:solidFill>
                  <a:schemeClr val="tx1"/>
                </a:solidFill>
              </a:rPr>
              <a:t>현저성이</a:t>
            </a:r>
            <a:r>
              <a:rPr lang="ko-KR" altLang="en-US" sz="1400" dirty="0">
                <a:solidFill>
                  <a:schemeClr val="tx1"/>
                </a:solidFill>
              </a:rPr>
              <a:t> 인정된다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모서리가 둥근 사각형 설명선 48"/>
          <p:cNvSpPr/>
          <p:nvPr/>
        </p:nvSpPr>
        <p:spPr>
          <a:xfrm>
            <a:off x="2570882" y="4199808"/>
            <a:ext cx="2896237" cy="446388"/>
          </a:xfrm>
          <a:prstGeom prst="wedgeRoundRectCallout">
            <a:avLst>
              <a:gd name="adj1" fmla="val 42812"/>
              <a:gd name="adj2" fmla="val -110678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공지기술에 의하여 진보성 위반이다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00EB62-E45B-4AAA-8245-72294726EAC1}"/>
              </a:ext>
            </a:extLst>
          </p:cNvPr>
          <p:cNvSpPr/>
          <p:nvPr/>
        </p:nvSpPr>
        <p:spPr>
          <a:xfrm>
            <a:off x="341014" y="5234840"/>
            <a:ext cx="5331665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endParaRPr lang="en-US" altLang="ko-KR" sz="1400" dirty="0"/>
          </a:p>
          <a:p>
            <a:pPr algn="just"/>
            <a:r>
              <a:rPr lang="ko-KR" altLang="en-US" sz="1400" dirty="0"/>
              <a:t>만일</a:t>
            </a:r>
            <a:r>
              <a:rPr lang="en-US" altLang="ko-KR" sz="1400" dirty="0"/>
              <a:t>, </a:t>
            </a:r>
            <a:r>
              <a:rPr lang="ko-KR" altLang="en-US" sz="1400" dirty="0"/>
              <a:t>선택발명의 효과가 </a:t>
            </a:r>
            <a:r>
              <a:rPr lang="ko-KR" altLang="en-US" sz="1400" dirty="0" err="1"/>
              <a:t>효과가</a:t>
            </a:r>
            <a:r>
              <a:rPr lang="ko-KR" altLang="en-US" sz="1400" dirty="0"/>
              <a:t> 의심스러울 때에는 그 기재내용의 범위를 넘지 않는 한도에서 출원일 이후에 추가적인 실험 자료를 제출하는 등의 방법으로 그 효과를 구체적으로 주장</a:t>
            </a:r>
            <a:r>
              <a:rPr lang="en-US" altLang="ko-KR" sz="1400" dirty="0"/>
              <a:t>·</a:t>
            </a:r>
            <a:r>
              <a:rPr lang="ko-KR" altLang="en-US" sz="1400" dirty="0"/>
              <a:t>증명하는 것이 허용된다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대법원 </a:t>
            </a:r>
            <a:r>
              <a:rPr lang="en-US" altLang="ko-KR" sz="1400" dirty="0">
                <a:solidFill>
                  <a:srgbClr val="FF0000"/>
                </a:solidFill>
              </a:rPr>
              <a:t>2021. 4. 8. </a:t>
            </a:r>
            <a:r>
              <a:rPr lang="ko-KR" altLang="en-US" sz="1400" dirty="0">
                <a:solidFill>
                  <a:srgbClr val="FF0000"/>
                </a:solidFill>
              </a:rPr>
              <a:t>선고 </a:t>
            </a:r>
            <a:r>
              <a:rPr lang="en-US" altLang="ko-KR" sz="1400" dirty="0">
                <a:solidFill>
                  <a:srgbClr val="FF0000"/>
                </a:solidFill>
              </a:rPr>
              <a:t>2019</a:t>
            </a:r>
            <a:r>
              <a:rPr lang="ko-KR" altLang="en-US" sz="1400" dirty="0">
                <a:solidFill>
                  <a:srgbClr val="FF0000"/>
                </a:solidFill>
              </a:rPr>
              <a:t>후</a:t>
            </a:r>
            <a:r>
              <a:rPr lang="en-US" altLang="ko-KR" sz="1400" dirty="0">
                <a:solidFill>
                  <a:srgbClr val="FF0000"/>
                </a:solidFill>
              </a:rPr>
              <a:t>10609)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B84452-ABB7-4EEE-929A-4DFAD5818468}"/>
              </a:ext>
            </a:extLst>
          </p:cNvPr>
          <p:cNvSpPr/>
          <p:nvPr/>
        </p:nvSpPr>
        <p:spPr>
          <a:xfrm>
            <a:off x="6162393" y="5216910"/>
            <a:ext cx="5750389" cy="16004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400" dirty="0"/>
          </a:p>
          <a:p>
            <a:r>
              <a:rPr lang="ko-KR" altLang="en-US" sz="1400" dirty="0"/>
              <a:t>수치한정한 범위 전체에서 이질적이거나 양적으로 현저한 효과가 있어야 한다는 점이</a:t>
            </a:r>
            <a:r>
              <a:rPr lang="en-US" altLang="ko-KR" sz="1400" dirty="0"/>
              <a:t>, </a:t>
            </a:r>
            <a:r>
              <a:rPr lang="ko-KR" altLang="en-US" sz="1400" dirty="0"/>
              <a:t>출원 명세서에 당해 기술 분야에서 통상의 지식을 가진 자가 명세서 기재 자체를 통하여 인식할 수 있을 정도로 기재되어 있지 않은 이상 추후 </a:t>
            </a:r>
            <a:r>
              <a:rPr lang="ko-KR" altLang="en-US" sz="1400" dirty="0">
                <a:solidFill>
                  <a:srgbClr val="FF0000"/>
                </a:solidFill>
              </a:rPr>
              <a:t>실험자료</a:t>
            </a:r>
            <a:r>
              <a:rPr lang="ko-KR" altLang="en-US" sz="1400" dirty="0"/>
              <a:t>에 의하여 인정되거나 확인되는 수치한정의 기술적 의의를 가지고서 당해 수치한정 발명의 진보성 여부를 판단할 수는 없다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2009. 5. 22.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2008</a:t>
            </a:r>
            <a:r>
              <a:rPr lang="ko-KR" altLang="en-US" sz="1400" dirty="0"/>
              <a:t>허</a:t>
            </a:r>
            <a:r>
              <a:rPr lang="en-US" altLang="ko-KR" sz="1400" dirty="0"/>
              <a:t>1722).</a:t>
            </a:r>
            <a:endParaRPr lang="ko-KR" altLang="en-US" sz="14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318E90-13A5-B3EC-E5EC-32FECB33763F}"/>
              </a:ext>
            </a:extLst>
          </p:cNvPr>
          <p:cNvSpPr/>
          <p:nvPr/>
        </p:nvSpPr>
        <p:spPr>
          <a:xfrm>
            <a:off x="457199" y="5045745"/>
            <a:ext cx="1282765" cy="34232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긍정</a:t>
            </a:r>
            <a:r>
              <a:rPr lang="en-US" altLang="ko-KR" sz="1400" dirty="0"/>
              <a:t> CASE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56226B-4D4C-132E-A00B-318135382923}"/>
              </a:ext>
            </a:extLst>
          </p:cNvPr>
          <p:cNvSpPr/>
          <p:nvPr/>
        </p:nvSpPr>
        <p:spPr>
          <a:xfrm>
            <a:off x="6247791" y="5045745"/>
            <a:ext cx="1282765" cy="342329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부정 </a:t>
            </a:r>
            <a:r>
              <a:rPr lang="en-US" altLang="ko-KR" sz="1400" dirty="0"/>
              <a:t>CASE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8564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신규성과</a:t>
            </a:r>
            <a:r>
              <a:rPr lang="en-US" altLang="ko-KR" dirty="0"/>
              <a:t> </a:t>
            </a:r>
            <a:r>
              <a:rPr lang="ko-KR" altLang="en-US" dirty="0"/>
              <a:t>진보성 판단의 비교</a:t>
            </a:r>
          </a:p>
        </p:txBody>
      </p:sp>
      <p:sp>
        <p:nvSpPr>
          <p:cNvPr id="22" name="자유형 21"/>
          <p:cNvSpPr/>
          <p:nvPr/>
        </p:nvSpPr>
        <p:spPr>
          <a:xfrm>
            <a:off x="1400256" y="1722880"/>
            <a:ext cx="5086168" cy="503258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23" name="직선 연결선 22"/>
          <p:cNvCxnSpPr/>
          <p:nvPr/>
        </p:nvCxnSpPr>
        <p:spPr>
          <a:xfrm>
            <a:off x="1388642" y="2244971"/>
            <a:ext cx="591436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577076" y="2081062"/>
            <a:ext cx="1712863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특허출원일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/>
          <p:nvPr/>
        </p:nvCxnSpPr>
        <p:spPr>
          <a:xfrm flipH="1">
            <a:off x="6484818" y="2511106"/>
            <a:ext cx="1" cy="3879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29467" y="2844962"/>
            <a:ext cx="1117152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특허출원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4184" y="2460934"/>
            <a:ext cx="265784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7567" y="2460934"/>
            <a:ext cx="321199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24</a:t>
            </a:r>
            <a:r>
              <a:rPr lang="ko-KR" altLang="en-US" sz="1200" dirty="0"/>
              <a:t>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4818" y="2460934"/>
            <a:ext cx="321199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14</a:t>
            </a:r>
            <a:r>
              <a:rPr lang="ko-KR" altLang="en-US" sz="1200" dirty="0"/>
              <a:t>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8342" y="1389537"/>
            <a:ext cx="759293" cy="2563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특허출원 전</a:t>
            </a:r>
          </a:p>
        </p:txBody>
      </p:sp>
      <p:cxnSp>
        <p:nvCxnSpPr>
          <p:cNvPr id="32" name="직선 연결선 31"/>
          <p:cNvCxnSpPr/>
          <p:nvPr/>
        </p:nvCxnSpPr>
        <p:spPr>
          <a:xfrm>
            <a:off x="1974455" y="2285480"/>
            <a:ext cx="1" cy="6135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97952" y="2517976"/>
            <a:ext cx="1555578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국내외 </a:t>
            </a:r>
            <a:r>
              <a:rPr lang="ko-KR" altLang="en-US" sz="1600" dirty="0" err="1"/>
              <a:t>공지기술</a:t>
            </a:r>
            <a:endParaRPr lang="ko-KR" altLang="en-US" sz="1600" dirty="0"/>
          </a:p>
        </p:txBody>
      </p:sp>
      <p:sp>
        <p:nvSpPr>
          <p:cNvPr id="34" name="직사각형 33"/>
          <p:cNvSpPr/>
          <p:nvPr/>
        </p:nvSpPr>
        <p:spPr>
          <a:xfrm>
            <a:off x="1274054" y="1495230"/>
            <a:ext cx="132539" cy="836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5" name="TextBox 34"/>
          <p:cNvSpPr txBox="1"/>
          <p:nvPr/>
        </p:nvSpPr>
        <p:spPr>
          <a:xfrm>
            <a:off x="262874" y="3395477"/>
            <a:ext cx="1611927" cy="2796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dirty="0"/>
              <a:t>공지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74" y="3720559"/>
            <a:ext cx="1611927" cy="2796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dirty="0" err="1"/>
              <a:t>공연실시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262874" y="4045920"/>
            <a:ext cx="1611927" cy="2796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dirty="0"/>
              <a:t>반포된 간행물 게재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874" y="4350454"/>
            <a:ext cx="1611927" cy="4439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/>
              <a:t>전기통신회선을 통하여 공중 이용가능</a:t>
            </a:r>
            <a:endParaRPr lang="ko-KR" altLang="en-US" sz="1200" dirty="0"/>
          </a:p>
        </p:txBody>
      </p:sp>
      <p:cxnSp>
        <p:nvCxnSpPr>
          <p:cNvPr id="39" name="꺾인 연결선 38"/>
          <p:cNvCxnSpPr>
            <a:stCxn id="33" idx="2"/>
            <a:endCxn id="38" idx="3"/>
          </p:cNvCxnSpPr>
          <p:nvPr/>
        </p:nvCxnSpPr>
        <p:spPr>
          <a:xfrm rot="5400000">
            <a:off x="1067324" y="3664007"/>
            <a:ext cx="1715895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33" idx="2"/>
            <a:endCxn id="35" idx="3"/>
          </p:cNvCxnSpPr>
          <p:nvPr/>
        </p:nvCxnSpPr>
        <p:spPr>
          <a:xfrm rot="5400000">
            <a:off x="1585877" y="3145454"/>
            <a:ext cx="678788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3" idx="2"/>
            <a:endCxn id="36" idx="3"/>
          </p:cNvCxnSpPr>
          <p:nvPr/>
        </p:nvCxnSpPr>
        <p:spPr>
          <a:xfrm rot="5400000">
            <a:off x="1423336" y="3307995"/>
            <a:ext cx="1003870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3" idx="2"/>
            <a:endCxn id="37" idx="3"/>
          </p:cNvCxnSpPr>
          <p:nvPr/>
        </p:nvCxnSpPr>
        <p:spPr>
          <a:xfrm rot="5400000">
            <a:off x="1260656" y="3470675"/>
            <a:ext cx="1329231" cy="1009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369773" y="5237116"/>
            <a:ext cx="3592697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통상의 기술자의 입장에서 판단</a:t>
            </a:r>
            <a:endParaRPr lang="en-US" altLang="ko-KR" sz="16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그 발명이 속하는 기술분야에서 통상의 지식을 가진 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5" name="자유형 44"/>
          <p:cNvSpPr/>
          <p:nvPr/>
        </p:nvSpPr>
        <p:spPr>
          <a:xfrm>
            <a:off x="4739318" y="4616245"/>
            <a:ext cx="970650" cy="583822"/>
          </a:xfrm>
          <a:custGeom>
            <a:avLst/>
            <a:gdLst>
              <a:gd name="connsiteX0" fmla="*/ 0 w 1524000"/>
              <a:gd name="connsiteY0" fmla="*/ 0 h 717177"/>
              <a:gd name="connsiteX1" fmla="*/ 340659 w 1524000"/>
              <a:gd name="connsiteY1" fmla="*/ 331694 h 717177"/>
              <a:gd name="connsiteX2" fmla="*/ 1102659 w 1524000"/>
              <a:gd name="connsiteY2" fmla="*/ 215153 h 717177"/>
              <a:gd name="connsiteX3" fmla="*/ 1524000 w 1524000"/>
              <a:gd name="connsiteY3" fmla="*/ 717177 h 71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717177">
                <a:moveTo>
                  <a:pt x="0" y="0"/>
                </a:moveTo>
                <a:cubicBezTo>
                  <a:pt x="78441" y="147917"/>
                  <a:pt x="156883" y="295835"/>
                  <a:pt x="340659" y="331694"/>
                </a:cubicBezTo>
                <a:cubicBezTo>
                  <a:pt x="524436" y="367553"/>
                  <a:pt x="905436" y="150906"/>
                  <a:pt x="1102659" y="215153"/>
                </a:cubicBezTo>
                <a:cubicBezTo>
                  <a:pt x="1299882" y="279400"/>
                  <a:pt x="1411941" y="498288"/>
                  <a:pt x="1524000" y="717177"/>
                </a:cubicBezTo>
              </a:path>
            </a:pathLst>
          </a:custGeom>
          <a:noFill/>
          <a:ln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6" name="TextBox 45"/>
          <p:cNvSpPr txBox="1"/>
          <p:nvPr/>
        </p:nvSpPr>
        <p:spPr>
          <a:xfrm>
            <a:off x="5599251" y="4754046"/>
            <a:ext cx="831437" cy="198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심사의 객관성 부여</a:t>
            </a:r>
          </a:p>
        </p:txBody>
      </p:sp>
      <p:sp>
        <p:nvSpPr>
          <p:cNvPr id="87" name="자유형 86"/>
          <p:cNvSpPr/>
          <p:nvPr/>
        </p:nvSpPr>
        <p:spPr>
          <a:xfrm>
            <a:off x="2609636" y="2852565"/>
            <a:ext cx="3729519" cy="801384"/>
          </a:xfrm>
          <a:custGeom>
            <a:avLst/>
            <a:gdLst>
              <a:gd name="connsiteX0" fmla="*/ 0 w 3595955"/>
              <a:gd name="connsiteY0" fmla="*/ 0 h 801384"/>
              <a:gd name="connsiteX1" fmla="*/ 0 w 3595955"/>
              <a:gd name="connsiteY1" fmla="*/ 801384 h 801384"/>
              <a:gd name="connsiteX2" fmla="*/ 3595955 w 3595955"/>
              <a:gd name="connsiteY2" fmla="*/ 801384 h 801384"/>
              <a:gd name="connsiteX3" fmla="*/ 3595955 w 3595955"/>
              <a:gd name="connsiteY3" fmla="*/ 349321 h 80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5955" h="801384">
                <a:moveTo>
                  <a:pt x="0" y="0"/>
                </a:moveTo>
                <a:lnTo>
                  <a:pt x="0" y="801384"/>
                </a:lnTo>
                <a:lnTo>
                  <a:pt x="3595955" y="801384"/>
                </a:lnTo>
                <a:lnTo>
                  <a:pt x="3595955" y="349321"/>
                </a:lnTo>
              </a:path>
            </a:pathLst>
          </a:custGeom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자유형 87"/>
          <p:cNvSpPr/>
          <p:nvPr/>
        </p:nvSpPr>
        <p:spPr>
          <a:xfrm>
            <a:off x="2400640" y="2844962"/>
            <a:ext cx="4244777" cy="1559001"/>
          </a:xfrm>
          <a:custGeom>
            <a:avLst/>
            <a:gdLst>
              <a:gd name="connsiteX0" fmla="*/ 0 w 4458985"/>
              <a:gd name="connsiteY0" fmla="*/ 0 h 1551398"/>
              <a:gd name="connsiteX1" fmla="*/ 0 w 4458985"/>
              <a:gd name="connsiteY1" fmla="*/ 1551398 h 1551398"/>
              <a:gd name="connsiteX2" fmla="*/ 4458985 w 4458985"/>
              <a:gd name="connsiteY2" fmla="*/ 1551398 h 1551398"/>
              <a:gd name="connsiteX3" fmla="*/ 4458985 w 4458985"/>
              <a:gd name="connsiteY3" fmla="*/ 369870 h 1551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8985" h="1551398">
                <a:moveTo>
                  <a:pt x="0" y="0"/>
                </a:moveTo>
                <a:lnTo>
                  <a:pt x="0" y="1551398"/>
                </a:lnTo>
                <a:lnTo>
                  <a:pt x="4458985" y="1551398"/>
                </a:lnTo>
                <a:lnTo>
                  <a:pt x="4458985" y="369870"/>
                </a:lnTo>
              </a:path>
            </a:pathLst>
          </a:custGeom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3496068" y="3337081"/>
            <a:ext cx="15199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동일성</a:t>
            </a:r>
            <a:endParaRPr lang="en-US" altLang="ko-KR" sz="16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객관적 </a:t>
            </a:r>
            <a:r>
              <a:rPr lang="ko-KR" altLang="en-US" sz="1200" dirty="0" err="1"/>
              <a:t>창작성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2" name="TextBox 91"/>
          <p:cNvSpPr txBox="1"/>
          <p:nvPr/>
        </p:nvSpPr>
        <p:spPr>
          <a:xfrm>
            <a:off x="3496068" y="4230826"/>
            <a:ext cx="15199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용이성</a:t>
            </a:r>
            <a:endParaRPr lang="en-US" altLang="ko-KR" sz="16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주관적 </a:t>
            </a:r>
            <a:r>
              <a:rPr lang="ko-KR" altLang="en-US" sz="1200" dirty="0" err="1"/>
              <a:t>창작성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2455359" y="2950226"/>
            <a:ext cx="38985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79078" y="3792966"/>
            <a:ext cx="681597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개 이상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8150393" y="965675"/>
            <a:ext cx="0" cy="571252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322564" y="1312813"/>
            <a:ext cx="16330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출원발명의 특정</a:t>
            </a:r>
            <a:endParaRPr lang="ko-KR" altLang="en-US" sz="1400" dirty="0"/>
          </a:p>
        </p:txBody>
      </p:sp>
      <p:sp>
        <p:nvSpPr>
          <p:cNvPr id="99" name="TextBox 98"/>
          <p:cNvSpPr txBox="1"/>
          <p:nvPr/>
        </p:nvSpPr>
        <p:spPr>
          <a:xfrm>
            <a:off x="8322564" y="1823327"/>
            <a:ext cx="16330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공지기술의 특정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2564" y="2294168"/>
            <a:ext cx="1633095" cy="4924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구성</a:t>
            </a:r>
            <a:r>
              <a:rPr lang="en-US" altLang="ko-KR" sz="1400" dirty="0"/>
              <a:t>/</a:t>
            </a:r>
            <a:r>
              <a:rPr lang="ko-KR" altLang="en-US" sz="1400" dirty="0"/>
              <a:t>효과의 비교</a:t>
            </a:r>
            <a:endParaRPr lang="en-US" altLang="ko-KR" sz="14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차이 구성 추출</a:t>
            </a:r>
            <a:r>
              <a:rPr lang="en-US" altLang="ko-KR" sz="1200" dirty="0"/>
              <a:t>)</a:t>
            </a:r>
            <a:endParaRPr lang="ko-KR" altLang="en-US" sz="1400" dirty="0"/>
          </a:p>
        </p:txBody>
      </p:sp>
      <p:sp>
        <p:nvSpPr>
          <p:cNvPr id="101" name="TextBox 100"/>
          <p:cNvSpPr txBox="1"/>
          <p:nvPr/>
        </p:nvSpPr>
        <p:spPr>
          <a:xfrm>
            <a:off x="8322564" y="2962156"/>
            <a:ext cx="163309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동일성</a:t>
            </a:r>
            <a:r>
              <a:rPr lang="en-US" altLang="ko-KR" sz="1400" dirty="0"/>
              <a:t>/</a:t>
            </a:r>
            <a:r>
              <a:rPr lang="ko-KR" altLang="en-US" sz="1400" dirty="0"/>
              <a:t>용이성 판단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67619" y="2763667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동일성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67619" y="3216772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용이성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97651" y="2602387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문언적</a:t>
            </a:r>
            <a:endParaRPr lang="ko-KR" altLang="en-US" sz="1400" dirty="0"/>
          </a:p>
        </p:txBody>
      </p:sp>
      <p:sp>
        <p:nvSpPr>
          <p:cNvPr id="105" name="TextBox 104"/>
          <p:cNvSpPr txBox="1"/>
          <p:nvPr/>
        </p:nvSpPr>
        <p:spPr>
          <a:xfrm>
            <a:off x="11197651" y="3001952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내재적</a:t>
            </a:r>
          </a:p>
        </p:txBody>
      </p:sp>
      <p:cxnSp>
        <p:nvCxnSpPr>
          <p:cNvPr id="108" name="직선 연결선 107"/>
          <p:cNvCxnSpPr>
            <a:stCxn id="98" idx="2"/>
            <a:endCxn id="99" idx="0"/>
          </p:cNvCxnSpPr>
          <p:nvPr/>
        </p:nvCxnSpPr>
        <p:spPr>
          <a:xfrm>
            <a:off x="9139112" y="1620590"/>
            <a:ext cx="0" cy="2027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>
            <a:stCxn id="99" idx="2"/>
            <a:endCxn id="100" idx="0"/>
          </p:cNvCxnSpPr>
          <p:nvPr/>
        </p:nvCxnSpPr>
        <p:spPr>
          <a:xfrm>
            <a:off x="9139112" y="2131104"/>
            <a:ext cx="0" cy="1630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endCxn id="101" idx="0"/>
          </p:cNvCxnSpPr>
          <p:nvPr/>
        </p:nvCxnSpPr>
        <p:spPr>
          <a:xfrm>
            <a:off x="9139112" y="2797151"/>
            <a:ext cx="0" cy="165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101" idx="3"/>
            <a:endCxn id="102" idx="1"/>
          </p:cNvCxnSpPr>
          <p:nvPr/>
        </p:nvCxnSpPr>
        <p:spPr>
          <a:xfrm flipV="1">
            <a:off x="9955659" y="2917556"/>
            <a:ext cx="211960" cy="19848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1" idx="3"/>
            <a:endCxn id="103" idx="1"/>
          </p:cNvCxnSpPr>
          <p:nvPr/>
        </p:nvCxnSpPr>
        <p:spPr>
          <a:xfrm>
            <a:off x="9955659" y="3116045"/>
            <a:ext cx="211960" cy="2546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02" idx="3"/>
            <a:endCxn id="104" idx="1"/>
          </p:cNvCxnSpPr>
          <p:nvPr/>
        </p:nvCxnSpPr>
        <p:spPr>
          <a:xfrm flipV="1">
            <a:off x="10984166" y="2756276"/>
            <a:ext cx="213485" cy="16128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02" idx="3"/>
            <a:endCxn id="105" idx="1"/>
          </p:cNvCxnSpPr>
          <p:nvPr/>
        </p:nvCxnSpPr>
        <p:spPr>
          <a:xfrm>
            <a:off x="10984166" y="2917556"/>
            <a:ext cx="213485" cy="23828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74288"/>
              </p:ext>
            </p:extLst>
          </p:nvPr>
        </p:nvGraphicFramePr>
        <p:xfrm>
          <a:off x="8424905" y="4181396"/>
          <a:ext cx="3589293" cy="1325368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196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효과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실질적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동일성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주지관용기술의 부가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새로운 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용이성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곤란성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현저한 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73</a:t>
            </a:fld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894584-DE0E-48F1-92A6-75B7C2B320B1}"/>
              </a:ext>
            </a:extLst>
          </p:cNvPr>
          <p:cNvSpPr txBox="1"/>
          <p:nvPr/>
        </p:nvSpPr>
        <p:spPr>
          <a:xfrm>
            <a:off x="11197651" y="3412970"/>
            <a:ext cx="81654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실질적</a:t>
            </a:r>
          </a:p>
        </p:txBody>
      </p:sp>
      <p:cxnSp>
        <p:nvCxnSpPr>
          <p:cNvPr id="55" name="꺾인 연결선 137">
            <a:extLst>
              <a:ext uri="{FF2B5EF4-FFF2-40B4-BE49-F238E27FC236}">
                <a16:creationId xmlns:a16="http://schemas.microsoft.com/office/drawing/2014/main" id="{BEBDD66C-B91C-4C20-B43C-58CBCD2619FE}"/>
              </a:ext>
            </a:extLst>
          </p:cNvPr>
          <p:cNvCxnSpPr>
            <a:cxnSpLocks/>
            <a:stCxn id="102" idx="3"/>
            <a:endCxn id="54" idx="1"/>
          </p:cNvCxnSpPr>
          <p:nvPr/>
        </p:nvCxnSpPr>
        <p:spPr>
          <a:xfrm>
            <a:off x="10984166" y="2917556"/>
            <a:ext cx="213485" cy="6493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D66D1E81-4984-46A7-AEBD-58B98FF7364F}"/>
              </a:ext>
            </a:extLst>
          </p:cNvPr>
          <p:cNvSpPr/>
          <p:nvPr/>
        </p:nvSpPr>
        <p:spPr>
          <a:xfrm>
            <a:off x="8784174" y="5864847"/>
            <a:ext cx="2199992" cy="597528"/>
          </a:xfrm>
          <a:prstGeom prst="wedgeRoundRectCallout">
            <a:avLst>
              <a:gd name="adj1" fmla="val 7322"/>
              <a:gd name="adj2" fmla="val -12103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통상의 기술자가 채용하는 정도의 구성의 변경</a:t>
            </a:r>
          </a:p>
        </p:txBody>
      </p:sp>
    </p:spTree>
    <p:extLst>
      <p:ext uri="{BB962C8B-B14F-4D97-AF65-F5344CB8AC3E}">
        <p14:creationId xmlns:p14="http://schemas.microsoft.com/office/powerpoint/2010/main" val="858186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동일성과 용이성 판단 실무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062860"/>
              </p:ext>
            </p:extLst>
          </p:nvPr>
        </p:nvGraphicFramePr>
        <p:xfrm>
          <a:off x="316950" y="1252778"/>
          <a:ext cx="3197775" cy="258579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3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A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×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D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9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설명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</a:t>
                      </a:r>
                      <a:r>
                        <a:rPr lang="en-US" altLang="ko-KR" sz="1200" kern="0" spc="-50" baseline="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>
                          <a:effectLst/>
                        </a:rPr>
                        <a:t>인용대상</a:t>
                      </a:r>
                      <a:r>
                        <a:rPr lang="en-US" altLang="ko-KR" sz="1200" kern="0" spc="-50" dirty="0">
                          <a:effectLst/>
                        </a:rPr>
                        <a:t>2</a:t>
                      </a:r>
                      <a:r>
                        <a:rPr lang="ko-KR" altLang="en-US" sz="1200" kern="0" spc="-50" dirty="0">
                          <a:effectLst/>
                        </a:rPr>
                        <a:t>에 출원발명의 구성요소가 모두 포함되어 있기 때문에 동일성이 있음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20373"/>
              </p:ext>
            </p:extLst>
          </p:nvPr>
        </p:nvGraphicFramePr>
        <p:xfrm>
          <a:off x="3660563" y="1253651"/>
          <a:ext cx="4320540" cy="259232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6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3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A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×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D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1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설명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</a:t>
                      </a:r>
                      <a:r>
                        <a:rPr lang="ko-KR" altLang="en-US" sz="120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kern="0" spc="-50" dirty="0">
                          <a:effectLst/>
                        </a:rPr>
                        <a:t>1 </a:t>
                      </a:r>
                      <a:r>
                        <a:rPr lang="ko-KR" altLang="en-US" sz="1200" kern="0" spc="-50" dirty="0">
                          <a:effectLst/>
                        </a:rPr>
                        <a:t>내지 </a:t>
                      </a:r>
                      <a:r>
                        <a:rPr lang="en-US" altLang="ko-KR" sz="1200" kern="0" spc="-50" dirty="0">
                          <a:effectLst/>
                        </a:rPr>
                        <a:t>3 </a:t>
                      </a:r>
                      <a:r>
                        <a:rPr lang="ko-KR" altLang="en-US" sz="1200" kern="0" spc="-50" dirty="0">
                          <a:effectLst/>
                        </a:rPr>
                        <a:t>각각에 출원발명의 구성요소가 모두 포함되어 있지 않기 때문에 동일성이 없음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</a:t>
                      </a:r>
                      <a:r>
                        <a:rPr lang="ko-KR" altLang="en-US" sz="120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kern="0" spc="-50" dirty="0">
                          <a:effectLst/>
                        </a:rPr>
                        <a:t>1 </a:t>
                      </a:r>
                      <a:r>
                        <a:rPr lang="ko-KR" altLang="en-US" sz="1200" kern="0" spc="-50" dirty="0">
                          <a:effectLst/>
                        </a:rPr>
                        <a:t>내지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을 조합하면 출원발명의 구성요소가 모두 포함되어 있기 때문에 용이성이 있음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</a:t>
                      </a:r>
                      <a:r>
                        <a:rPr lang="ko-KR" altLang="en-US" sz="1200" kern="0" spc="-50" dirty="0">
                          <a:effectLst/>
                        </a:rPr>
                        <a:t>단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출원발명의 구성의 결합에 특유의 과제해결원리에 기초한 결합관계가 있다면 그 결합관계 역시 구성으로 파악해야 함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507976"/>
              </p:ext>
            </p:extLst>
          </p:nvPr>
        </p:nvGraphicFramePr>
        <p:xfrm>
          <a:off x="8133080" y="1259747"/>
          <a:ext cx="3754120" cy="258835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5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출원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발명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인용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대상</a:t>
                      </a:r>
                      <a:r>
                        <a:rPr lang="en-US" altLang="ko-KR" sz="1200" b="0" kern="0" spc="-100" dirty="0">
                          <a:effectLst/>
                        </a:rPr>
                        <a:t>1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인용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대상</a:t>
                      </a:r>
                      <a:r>
                        <a:rPr lang="en-US" altLang="ko-KR" sz="1200" b="0" kern="0" spc="-100" dirty="0">
                          <a:effectLst/>
                        </a:rPr>
                        <a:t>2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인용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대상</a:t>
                      </a:r>
                      <a:r>
                        <a:rPr lang="en-US" altLang="ko-KR" sz="1200" b="0" kern="0" spc="-100" dirty="0">
                          <a:effectLst/>
                        </a:rPr>
                        <a:t>3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조합</a:t>
                      </a:r>
                      <a:endParaRPr lang="en-US" altLang="ko-KR" sz="1200" b="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-100" dirty="0">
                          <a:effectLst/>
                        </a:rPr>
                        <a:t>(</a:t>
                      </a:r>
                      <a:r>
                        <a:rPr lang="en-US" sz="1200" b="0" kern="0" spc="-100" dirty="0">
                          <a:effectLst/>
                        </a:rPr>
                        <a:t>OR)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A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×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B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×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effectLst/>
                        </a:rPr>
                        <a:t>○</a:t>
                      </a:r>
                      <a:endParaRPr lang="ko-KR" alt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C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>
                          <a:effectLst/>
                        </a:rPr>
                        <a:t>D</a:t>
                      </a:r>
                      <a:endParaRPr lang="en-US" sz="1200" b="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○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-100" dirty="0">
                          <a:effectLst/>
                        </a:rPr>
                        <a:t>×</a:t>
                      </a:r>
                      <a:endParaRPr 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○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20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effectLst/>
                        </a:rPr>
                        <a:t>설명</a:t>
                      </a:r>
                      <a:endParaRPr lang="ko-KR" altLang="en-US" sz="1200" b="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b="0" kern="0" spc="-50" dirty="0">
                          <a:effectLst/>
                        </a:rPr>
                        <a:t>- </a:t>
                      </a:r>
                      <a:r>
                        <a:rPr lang="ko-KR" altLang="en-US" sz="1200" b="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b="0" kern="0" spc="-50" dirty="0">
                          <a:effectLst/>
                        </a:rPr>
                        <a:t>1 </a:t>
                      </a:r>
                      <a:r>
                        <a:rPr lang="ko-KR" altLang="en-US" sz="1200" b="0" kern="0" spc="-50" dirty="0">
                          <a:effectLst/>
                        </a:rPr>
                        <a:t>내지 </a:t>
                      </a:r>
                      <a:r>
                        <a:rPr lang="en-US" altLang="ko-KR" sz="1200" b="0" kern="0" spc="-50" dirty="0">
                          <a:effectLst/>
                        </a:rPr>
                        <a:t>3 </a:t>
                      </a:r>
                      <a:r>
                        <a:rPr lang="ko-KR" altLang="en-US" sz="1200" b="0" kern="0" spc="-50" dirty="0">
                          <a:effectLst/>
                        </a:rPr>
                        <a:t>각각에 출원발명의 구성요소가 모두 포함되어 있지 않기 때문에 동일성이 없음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b="0" kern="0" spc="-50" dirty="0">
                          <a:effectLst/>
                        </a:rPr>
                        <a:t>- </a:t>
                      </a:r>
                      <a:r>
                        <a:rPr lang="ko-KR" altLang="en-US" sz="1200" b="0" kern="0" spc="-50" dirty="0">
                          <a:effectLst/>
                        </a:rPr>
                        <a:t>인용대상 </a:t>
                      </a:r>
                      <a:r>
                        <a:rPr lang="en-US" altLang="ko-KR" sz="1200" b="0" kern="0" spc="-50" dirty="0">
                          <a:effectLst/>
                        </a:rPr>
                        <a:t>1 </a:t>
                      </a:r>
                      <a:r>
                        <a:rPr lang="ko-KR" altLang="en-US" sz="1200" b="0" kern="0" spc="-50" dirty="0">
                          <a:effectLst/>
                        </a:rPr>
                        <a:t>내지 </a:t>
                      </a:r>
                      <a:r>
                        <a:rPr lang="en-US" altLang="ko-KR" sz="1200" b="0" kern="0" spc="-50" dirty="0">
                          <a:effectLst/>
                        </a:rPr>
                        <a:t>3</a:t>
                      </a:r>
                      <a:r>
                        <a:rPr lang="ko-KR" altLang="en-US" sz="1200" b="0" kern="0" spc="-50" dirty="0">
                          <a:effectLst/>
                        </a:rPr>
                        <a:t>을 조합하더라도 출원발명의 구성요소가 모두 포함되어 있지 않기 때문에 용이성이 없음</a:t>
                      </a:r>
                      <a:endParaRPr lang="ko-KR" altLang="en-US" sz="12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916645"/>
              </p:ext>
            </p:extLst>
          </p:nvPr>
        </p:nvGraphicFramePr>
        <p:xfrm>
          <a:off x="332405" y="4143375"/>
          <a:ext cx="4320540" cy="240982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6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6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A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△(C1)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△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D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설명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C1</a:t>
                      </a:r>
                      <a:r>
                        <a:rPr lang="ko-KR" altLang="en-US" sz="1200" kern="0" spc="-50" dirty="0">
                          <a:effectLst/>
                        </a:rPr>
                        <a:t>에서 </a:t>
                      </a:r>
                      <a:r>
                        <a:rPr lang="en-US" altLang="ko-KR" sz="1200" kern="0" spc="-50" dirty="0">
                          <a:effectLst/>
                        </a:rPr>
                        <a:t>C</a:t>
                      </a:r>
                      <a:r>
                        <a:rPr lang="ko-KR" altLang="en-US" sz="1200" kern="0" spc="-50" dirty="0">
                          <a:effectLst/>
                        </a:rPr>
                        <a:t>를 도출하는 것에 대한 곤란성이 없고 효과의 </a:t>
                      </a:r>
                      <a:r>
                        <a:rPr lang="ko-KR" altLang="en-US" sz="1200" kern="0" spc="-50" dirty="0" err="1">
                          <a:effectLst/>
                        </a:rPr>
                        <a:t>현저성이</a:t>
                      </a:r>
                      <a:r>
                        <a:rPr lang="ko-KR" altLang="en-US" sz="1200" kern="0" spc="-50" dirty="0">
                          <a:effectLst/>
                        </a:rPr>
                        <a:t> 없다면 용이함</a:t>
                      </a:r>
                    </a:p>
                    <a:p>
                      <a:pPr marL="0" marR="17780" lvl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</a:t>
                      </a:r>
                      <a:r>
                        <a:rPr lang="en-US" altLang="ko-KR" sz="1200" kern="0" spc="-50" baseline="0" dirty="0">
                          <a:effectLst/>
                        </a:rPr>
                        <a:t>   </a:t>
                      </a:r>
                      <a:r>
                        <a:rPr lang="ko-KR" altLang="en-US" sz="1200" kern="0" spc="-50" baseline="0" dirty="0">
                          <a:effectLst/>
                        </a:rPr>
                        <a:t>그</a:t>
                      </a:r>
                      <a:r>
                        <a:rPr lang="ko-KR" altLang="en-US" sz="1200" kern="0" spc="-50" dirty="0">
                          <a:effectLst/>
                        </a:rPr>
                        <a:t>렇지 아니하면 용이성이 없어서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등록가능함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80116"/>
              </p:ext>
            </p:extLst>
          </p:nvPr>
        </p:nvGraphicFramePr>
        <p:xfrm>
          <a:off x="4775364" y="4142285"/>
          <a:ext cx="5096425" cy="240944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19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출원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1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2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인용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대상</a:t>
                      </a:r>
                      <a:r>
                        <a:rPr lang="en-US" altLang="ko-KR" sz="1200" kern="0" spc="-100" dirty="0">
                          <a:effectLst/>
                        </a:rPr>
                        <a:t>3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조합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en-US" sz="1200" kern="0" spc="-100" dirty="0">
                          <a:effectLst/>
                        </a:rPr>
                        <a:t>OR)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A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B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C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 dirty="0">
                          <a:effectLst/>
                        </a:rPr>
                        <a:t>△(C1)</a:t>
                      </a:r>
                      <a:endParaRPr 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△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D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○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100">
                          <a:effectLst/>
                        </a:rPr>
                        <a:t>×</a:t>
                      </a:r>
                      <a:endParaRPr 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○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8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설명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 C1</a:t>
                      </a:r>
                      <a:r>
                        <a:rPr lang="ko-KR" altLang="en-US" sz="1200" kern="0" spc="-50" dirty="0">
                          <a:effectLst/>
                        </a:rPr>
                        <a:t>과 </a:t>
                      </a:r>
                      <a:r>
                        <a:rPr lang="en-US" altLang="ko-KR" sz="1200" kern="0" spc="-50" dirty="0">
                          <a:effectLst/>
                        </a:rPr>
                        <a:t>C</a:t>
                      </a:r>
                      <a:r>
                        <a:rPr lang="ko-KR" altLang="en-US" sz="1200" kern="0" spc="-50" dirty="0">
                          <a:effectLst/>
                        </a:rPr>
                        <a:t>의 차이가 주지관용기술의 부가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삭제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변경 등에 불과하여 그 차이로 인하여 새로운 효과가 발생하지 않는다면 동일성이 있음</a:t>
                      </a:r>
                    </a:p>
                    <a:p>
                      <a:pPr marL="85725" marR="17780" lvl="0" indent="-8572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110" dirty="0">
                          <a:effectLst/>
                        </a:rPr>
                        <a:t>-  C1</a:t>
                      </a:r>
                      <a:r>
                        <a:rPr lang="ko-KR" altLang="en-US" sz="1200" kern="0" spc="-110" dirty="0">
                          <a:effectLst/>
                        </a:rPr>
                        <a:t>에서 </a:t>
                      </a:r>
                      <a:r>
                        <a:rPr lang="en-US" altLang="ko-KR" sz="1200" kern="0" spc="-110" dirty="0">
                          <a:effectLst/>
                        </a:rPr>
                        <a:t>C</a:t>
                      </a:r>
                      <a:r>
                        <a:rPr lang="ko-KR" altLang="en-US" sz="1200" kern="0" spc="-110" dirty="0">
                          <a:effectLst/>
                        </a:rPr>
                        <a:t>를 도출하는 것에 대한 곤란성이 없고 효과의 </a:t>
                      </a:r>
                      <a:r>
                        <a:rPr lang="ko-KR" altLang="en-US" sz="1200" kern="0" spc="-110" dirty="0" err="1">
                          <a:effectLst/>
                        </a:rPr>
                        <a:t>현저성이</a:t>
                      </a:r>
                      <a:r>
                        <a:rPr lang="ko-KR" altLang="en-US" sz="1200" kern="0" spc="-110" dirty="0">
                          <a:effectLst/>
                        </a:rPr>
                        <a:t> 없다면 용이함</a:t>
                      </a:r>
                    </a:p>
                    <a:p>
                      <a:pPr marL="0" marR="17780" lvl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en-US" altLang="ko-KR" sz="1200" kern="0" spc="-50" dirty="0">
                          <a:effectLst/>
                        </a:rPr>
                        <a:t>-  </a:t>
                      </a:r>
                      <a:r>
                        <a:rPr lang="ko-KR" altLang="en-US" sz="1200" kern="0" spc="-50" dirty="0">
                          <a:effectLst/>
                        </a:rPr>
                        <a:t>그렇지 아니하면 용이성이 없어서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등록가능함</a:t>
                      </a:r>
                      <a:endParaRPr lang="en-US" altLang="ko-KR" sz="1200" kern="0" spc="-50" dirty="0">
                        <a:effectLst/>
                      </a:endParaRPr>
                    </a:p>
                    <a:p>
                      <a:pPr marL="0" marR="17780" lvl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25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결합발명의 진보성 판단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75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청구항에 기재된 발명은 전체로서 고려되어야 하며 구성요소 각각이 공지 또는 자명하다고 하여 청구항에 기재된 발명의 진보성을 부정할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 판단의 기초가 되는 기술적 구성의 곤란성을 평가할 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과제해결원리를 배제한 채 청구항에 기재된 구성을 하나하나 분해한 후 선행기술의 대응 구성요소로부터 도출이 곤란한지만을 따져서는 아니 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특유의 과제해결원리에 기초하여 그 발명에 채용된 특유한 구성요소들과 나머지 구성요소들 사이의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결합관계를 포함하여 유기적으로 결합된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전체</a:t>
            </a:r>
            <a:r>
              <a:rPr lang="ko-KR" altLang="en-US" sz="1400" dirty="0" err="1">
                <a:solidFill>
                  <a:schemeClr val="tx2"/>
                </a:solidFill>
              </a:rPr>
              <a:t>로서의</a:t>
            </a:r>
            <a:r>
              <a:rPr lang="ko-KR" altLang="en-US" sz="1400" dirty="0">
                <a:solidFill>
                  <a:schemeClr val="tx2"/>
                </a:solidFill>
              </a:rPr>
              <a:t> 구성의 곤란성을 살펴보아야 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 때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결합된 전체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구성으로서의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발명이 갖는 특유한 효과도 함께 고려</a:t>
            </a:r>
            <a:r>
              <a:rPr lang="ko-KR" altLang="en-US" sz="1400" dirty="0">
                <a:solidFill>
                  <a:schemeClr val="tx2"/>
                </a:solidFill>
              </a:rPr>
              <a:t>하여야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2021. 4. 8.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10609). </a:t>
            </a:r>
            <a:r>
              <a:rPr lang="ko-KR" altLang="en-US" sz="1400" dirty="0"/>
              <a:t>구체적으로</a:t>
            </a:r>
            <a:r>
              <a:rPr lang="en-US" altLang="ko-KR" sz="1400" dirty="0"/>
              <a:t>, </a:t>
            </a:r>
            <a:r>
              <a:rPr lang="ko-KR" altLang="en-US" sz="1400" dirty="0"/>
              <a:t>여러 공지기술을 인용하여 특허의 진보성을 판단할 때 그 인용되는 공지기술을 조합 또는 결합하면 해당 특허발명에 이를 수 있다는 교시</a:t>
            </a:r>
            <a:r>
              <a:rPr lang="en-US" altLang="ko-KR" sz="1400" dirty="0"/>
              <a:t>(teaching), </a:t>
            </a:r>
            <a:r>
              <a:rPr lang="ko-KR" altLang="en-US" sz="1400" dirty="0"/>
              <a:t>암시</a:t>
            </a:r>
            <a:r>
              <a:rPr lang="en-US" altLang="ko-KR" sz="1400" dirty="0"/>
              <a:t>(suggesting), </a:t>
            </a:r>
            <a:r>
              <a:rPr lang="ko-KR" altLang="en-US" sz="1400" dirty="0"/>
              <a:t>동기</a:t>
            </a:r>
            <a:r>
              <a:rPr lang="en-US" altLang="ko-KR" sz="1400" dirty="0"/>
              <a:t>(motivation) </a:t>
            </a:r>
            <a:r>
              <a:rPr lang="ko-KR" altLang="en-US" sz="1400" dirty="0"/>
              <a:t>등이 공지기술에 제시되어 있거나 그렇지 않더라도 해당 특허 출원 당시의 기술수준</a:t>
            </a:r>
            <a:r>
              <a:rPr lang="en-US" altLang="ko-KR" sz="1400" dirty="0"/>
              <a:t>, </a:t>
            </a:r>
            <a:r>
              <a:rPr lang="ko-KR" altLang="en-US" sz="1400" dirty="0"/>
              <a:t>기술상식</a:t>
            </a:r>
            <a:r>
              <a:rPr lang="en-US" altLang="ko-KR" sz="1400" dirty="0"/>
              <a:t>, </a:t>
            </a:r>
            <a:r>
              <a:rPr lang="ko-KR" altLang="en-US" sz="1400" dirty="0"/>
              <a:t>해당 기술분야의 기본적인 과제</a:t>
            </a:r>
            <a:r>
              <a:rPr lang="en-US" altLang="ko-KR" sz="1400" dirty="0"/>
              <a:t>, </a:t>
            </a:r>
            <a:r>
              <a:rPr lang="ko-KR" altLang="en-US" sz="1400" dirty="0"/>
              <a:t>발전경향</a:t>
            </a:r>
            <a:r>
              <a:rPr lang="en-US" altLang="ko-KR" sz="1400" dirty="0"/>
              <a:t>, </a:t>
            </a:r>
            <a:r>
              <a:rPr lang="ko-KR" altLang="en-US" sz="1400" dirty="0"/>
              <a:t>해당 업계의 요구 등에 비추어 통상의 기술자가 쉽게 그와 같은 조합 또는 결합에 이를 수 있다고 인정할 수 있는 경우에는 </a:t>
            </a:r>
            <a:r>
              <a:rPr lang="ko-KR" altLang="en-US" sz="1400" dirty="0" err="1"/>
              <a:t>주합발명으로서</a:t>
            </a:r>
            <a:r>
              <a:rPr lang="ko-KR" altLang="en-US" sz="1400" dirty="0"/>
              <a:t> 진보성이 부정된다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2007. 9. 6.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2005</a:t>
            </a:r>
            <a:r>
              <a:rPr lang="ko-KR" altLang="en-US" sz="1400" dirty="0"/>
              <a:t>후</a:t>
            </a:r>
            <a:r>
              <a:rPr lang="en-US" altLang="ko-KR" sz="1400" dirty="0"/>
              <a:t>3277 </a:t>
            </a:r>
            <a:r>
              <a:rPr lang="ko-KR" altLang="en-US" sz="1400" dirty="0"/>
              <a:t>참고</a:t>
            </a:r>
            <a:r>
              <a:rPr lang="en-US" altLang="ko-KR" sz="1400" dirty="0"/>
              <a:t>).</a:t>
            </a:r>
            <a:endParaRPr lang="ko-KR" altLang="en-US" sz="1400" dirty="0"/>
          </a:p>
          <a:p>
            <a:pPr fontAlgn="base"/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81393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90430" y="4798042"/>
            <a:ext cx="565560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781611" y="4560369"/>
            <a:ext cx="987897" cy="4550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라이트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509346" y="4560369"/>
            <a:ext cx="987897" cy="4550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자전거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4195392" y="4560369"/>
            <a:ext cx="1167718" cy="4550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라이트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자전거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753762" y="3715012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동일성 </a:t>
            </a:r>
            <a:r>
              <a:rPr lang="en-US" altLang="ko-KR" sz="1200" dirty="0"/>
              <a:t>×</a:t>
            </a:r>
            <a:endParaRPr lang="ko-KR" altLang="en-US" sz="1200" dirty="0"/>
          </a:p>
        </p:txBody>
      </p:sp>
      <p:sp>
        <p:nvSpPr>
          <p:cNvPr id="14" name="자유형 13"/>
          <p:cNvSpPr/>
          <p:nvPr/>
        </p:nvSpPr>
        <p:spPr>
          <a:xfrm>
            <a:off x="1284270" y="3987974"/>
            <a:ext cx="3626777" cy="575353"/>
          </a:xfrm>
          <a:custGeom>
            <a:avLst/>
            <a:gdLst>
              <a:gd name="connsiteX0" fmla="*/ 0 w 3626777"/>
              <a:gd name="connsiteY0" fmla="*/ 575353 h 575353"/>
              <a:gd name="connsiteX1" fmla="*/ 0 w 3626777"/>
              <a:gd name="connsiteY1" fmla="*/ 0 h 575353"/>
              <a:gd name="connsiteX2" fmla="*/ 3626777 w 3626777"/>
              <a:gd name="connsiteY2" fmla="*/ 0 h 575353"/>
              <a:gd name="connsiteX3" fmla="*/ 3626777 w 3626777"/>
              <a:gd name="connsiteY3" fmla="*/ 534256 h 575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6777" h="575353">
                <a:moveTo>
                  <a:pt x="0" y="575353"/>
                </a:moveTo>
                <a:lnTo>
                  <a:pt x="0" y="0"/>
                </a:lnTo>
                <a:lnTo>
                  <a:pt x="3626777" y="0"/>
                </a:lnTo>
                <a:lnTo>
                  <a:pt x="3626777" y="534256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/>
        </p:nvSpPr>
        <p:spPr>
          <a:xfrm>
            <a:off x="2989780" y="4306473"/>
            <a:ext cx="1633591" cy="267128"/>
          </a:xfrm>
          <a:custGeom>
            <a:avLst/>
            <a:gdLst>
              <a:gd name="connsiteX0" fmla="*/ 0 w 1633591"/>
              <a:gd name="connsiteY0" fmla="*/ 267128 h 267128"/>
              <a:gd name="connsiteX1" fmla="*/ 0 w 1633591"/>
              <a:gd name="connsiteY1" fmla="*/ 0 h 267128"/>
              <a:gd name="connsiteX2" fmla="*/ 1633591 w 1633591"/>
              <a:gd name="connsiteY2" fmla="*/ 0 h 267128"/>
              <a:gd name="connsiteX3" fmla="*/ 1633591 w 1633591"/>
              <a:gd name="connsiteY3" fmla="*/ 184935 h 26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3591" h="267128">
                <a:moveTo>
                  <a:pt x="0" y="267128"/>
                </a:moveTo>
                <a:lnTo>
                  <a:pt x="0" y="0"/>
                </a:lnTo>
                <a:lnTo>
                  <a:pt x="1633591" y="0"/>
                </a:lnTo>
                <a:lnTo>
                  <a:pt x="1633591" y="184935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3508618" y="4033915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동일성 </a:t>
            </a:r>
            <a:r>
              <a:rPr lang="en-US" altLang="ko-KR" sz="1200" dirty="0"/>
              <a:t>×</a:t>
            </a:r>
            <a:endParaRPr lang="ko-KR" altLang="en-US" sz="1200" dirty="0"/>
          </a:p>
        </p:txBody>
      </p:sp>
      <p:cxnSp>
        <p:nvCxnSpPr>
          <p:cNvPr id="17" name="꺾인 연결선 16"/>
          <p:cNvCxnSpPr>
            <a:stCxn id="47" idx="2"/>
            <a:endCxn id="68" idx="2"/>
          </p:cNvCxnSpPr>
          <p:nvPr/>
        </p:nvCxnSpPr>
        <p:spPr>
          <a:xfrm rot="16200000" flipH="1">
            <a:off x="2139427" y="4151523"/>
            <a:ext cx="12700" cy="1727735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자유형 17"/>
          <p:cNvSpPr/>
          <p:nvPr/>
        </p:nvSpPr>
        <p:spPr>
          <a:xfrm>
            <a:off x="2126751" y="5178057"/>
            <a:ext cx="2671280" cy="161694"/>
          </a:xfrm>
          <a:custGeom>
            <a:avLst/>
            <a:gdLst>
              <a:gd name="connsiteX0" fmla="*/ 0 w 2671280"/>
              <a:gd name="connsiteY0" fmla="*/ 195209 h 493160"/>
              <a:gd name="connsiteX1" fmla="*/ 0 w 2671280"/>
              <a:gd name="connsiteY1" fmla="*/ 493160 h 493160"/>
              <a:gd name="connsiteX2" fmla="*/ 2671280 w 2671280"/>
              <a:gd name="connsiteY2" fmla="*/ 493160 h 493160"/>
              <a:gd name="connsiteX3" fmla="*/ 2671280 w 2671280"/>
              <a:gd name="connsiteY3" fmla="*/ 0 h 493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1280" h="493160">
                <a:moveTo>
                  <a:pt x="0" y="195209"/>
                </a:moveTo>
                <a:lnTo>
                  <a:pt x="0" y="493160"/>
                </a:lnTo>
                <a:lnTo>
                  <a:pt x="2671280" y="493160"/>
                </a:lnTo>
                <a:lnTo>
                  <a:pt x="2671280" y="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3181446" y="5099428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용이성 △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73976" y="2889998"/>
            <a:ext cx="3455543" cy="83099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◆ </a:t>
            </a:r>
            <a:r>
              <a:rPr lang="ko-KR" altLang="en-US" sz="1200" dirty="0" err="1">
                <a:solidFill>
                  <a:schemeClr val="tx2"/>
                </a:solidFill>
              </a:rPr>
              <a:t>신규성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29①</a:t>
            </a:r>
            <a:r>
              <a:rPr lang="ko-KR" altLang="en-US" sz="1200" dirty="0">
                <a:solidFill>
                  <a:schemeClr val="tx2"/>
                </a:solidFill>
              </a:rPr>
              <a:t>각호</a:t>
            </a:r>
            <a:r>
              <a:rPr lang="en-US" altLang="ko-KR" sz="1200" dirty="0">
                <a:solidFill>
                  <a:schemeClr val="tx2"/>
                </a:solidFill>
              </a:rPr>
              <a:t>) </a:t>
            </a:r>
            <a:r>
              <a:rPr lang="ko-KR" altLang="en-US" sz="1200" dirty="0">
                <a:solidFill>
                  <a:schemeClr val="tx2"/>
                </a:solidFill>
              </a:rPr>
              <a:t>판단</a:t>
            </a:r>
          </a:p>
          <a:p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 </a:t>
            </a:r>
            <a:r>
              <a:rPr lang="ko-KR" altLang="en-US" sz="1200" dirty="0">
                <a:solidFill>
                  <a:schemeClr val="tx2"/>
                </a:solidFill>
              </a:rPr>
              <a:t>공지기술과 일대일 </a:t>
            </a:r>
            <a:r>
              <a:rPr lang="ko-KR" altLang="en-US" sz="1200" dirty="0" err="1">
                <a:solidFill>
                  <a:schemeClr val="tx2"/>
                </a:solidFill>
              </a:rPr>
              <a:t>매칭</a:t>
            </a:r>
            <a:endParaRPr lang="ko-KR" altLang="en-US" sz="1200" dirty="0">
              <a:solidFill>
                <a:schemeClr val="tx2"/>
              </a:solidFill>
            </a:endParaRPr>
          </a:p>
          <a:p>
            <a:pPr marL="174625" indent="-174625"/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 </a:t>
            </a:r>
            <a:r>
              <a:rPr lang="ko-KR" altLang="en-US" sz="1200" dirty="0">
                <a:solidFill>
                  <a:schemeClr val="tx2"/>
                </a:solidFill>
              </a:rPr>
              <a:t>상위개념이 공지기술이고 하위개념이 출원발명인 경우 일반적으로 동일성이 없어 </a:t>
            </a:r>
            <a:r>
              <a:rPr lang="ko-KR" altLang="en-US" sz="1200" dirty="0" err="1">
                <a:solidFill>
                  <a:schemeClr val="tx2"/>
                </a:solidFill>
              </a:rPr>
              <a:t>신규성</a:t>
            </a:r>
            <a:r>
              <a:rPr lang="ko-KR" altLang="en-US" sz="1200" dirty="0">
                <a:solidFill>
                  <a:schemeClr val="tx2"/>
                </a:solidFill>
              </a:rPr>
              <a:t> 상실</a:t>
            </a:r>
            <a:r>
              <a:rPr lang="en-US" altLang="ko-KR" sz="1200" dirty="0">
                <a:solidFill>
                  <a:schemeClr val="tx2"/>
                </a:solidFill>
              </a:rPr>
              <a:t>×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769509" y="5436917"/>
            <a:ext cx="4246262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◆ 진보성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29②) </a:t>
            </a:r>
            <a:r>
              <a:rPr lang="ko-KR" altLang="en-US" sz="1200" dirty="0">
                <a:solidFill>
                  <a:schemeClr val="tx2"/>
                </a:solidFill>
              </a:rPr>
              <a:t>판단</a:t>
            </a:r>
          </a:p>
          <a:p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</a:t>
            </a:r>
            <a:r>
              <a:rPr lang="ko-KR" altLang="en-US" sz="1200" dirty="0">
                <a:solidFill>
                  <a:schemeClr val="tx2"/>
                </a:solidFill>
              </a:rPr>
              <a:t> 둘 이상의 공지기술을 조합가능</a:t>
            </a:r>
          </a:p>
          <a:p>
            <a:pPr marL="174625" indent="-174625"/>
            <a:r>
              <a:rPr lang="ko-KR" altLang="en-US" sz="1200" dirty="0">
                <a:solidFill>
                  <a:schemeClr val="tx2"/>
                </a:solidFill>
              </a:rPr>
              <a:t>  </a:t>
            </a:r>
            <a:r>
              <a:rPr lang="en-US" altLang="ko-KR" sz="1200" dirty="0">
                <a:solidFill>
                  <a:schemeClr val="tx2"/>
                </a:solidFill>
              </a:rPr>
              <a:t>-</a:t>
            </a:r>
            <a:r>
              <a:rPr lang="ko-KR" altLang="en-US" sz="1200" dirty="0">
                <a:solidFill>
                  <a:schemeClr val="tx2"/>
                </a:solidFill>
              </a:rPr>
              <a:t> 공지기술 </a:t>
            </a:r>
            <a:r>
              <a:rPr lang="en-US" altLang="ko-KR" sz="1200" dirty="0">
                <a:solidFill>
                  <a:schemeClr val="tx2"/>
                </a:solidFill>
              </a:rPr>
              <a:t>A</a:t>
            </a:r>
            <a:r>
              <a:rPr lang="ko-KR" altLang="en-US" sz="1200" dirty="0">
                <a:solidFill>
                  <a:schemeClr val="tx2"/>
                </a:solidFill>
              </a:rPr>
              <a:t>와 공지기술 </a:t>
            </a:r>
            <a:r>
              <a:rPr lang="en-US" altLang="ko-KR" sz="1200" dirty="0">
                <a:solidFill>
                  <a:schemeClr val="tx2"/>
                </a:solidFill>
              </a:rPr>
              <a:t>B</a:t>
            </a:r>
            <a:r>
              <a:rPr lang="ko-KR" altLang="en-US" sz="1200" dirty="0">
                <a:solidFill>
                  <a:schemeClr val="tx2"/>
                </a:solidFill>
              </a:rPr>
              <a:t>의 결합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채택의 곤란성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효과의 </a:t>
            </a:r>
            <a:r>
              <a:rPr lang="ko-KR" altLang="en-US" sz="1200" dirty="0" err="1">
                <a:solidFill>
                  <a:schemeClr val="tx2"/>
                </a:solidFill>
              </a:rPr>
              <a:t>현저성</a:t>
            </a:r>
            <a:r>
              <a:rPr lang="ko-KR" altLang="en-US" sz="1200" dirty="0">
                <a:solidFill>
                  <a:schemeClr val="tx2"/>
                </a:solidFill>
              </a:rPr>
              <a:t> ○ → 진보성 인정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조합발명 </a:t>
            </a:r>
            <a:r>
              <a:rPr lang="en-US" altLang="ko-KR" sz="1200" dirty="0">
                <a:solidFill>
                  <a:schemeClr val="tx2"/>
                </a:solidFill>
              </a:rPr>
              <a:t>- Combination)</a:t>
            </a:r>
          </a:p>
          <a:p>
            <a:pPr marL="174625" indent="-174625"/>
            <a:r>
              <a:rPr lang="en-US" altLang="ko-KR" sz="1200" dirty="0">
                <a:solidFill>
                  <a:schemeClr val="tx2"/>
                </a:solidFill>
              </a:rPr>
              <a:t>  - </a:t>
            </a:r>
            <a:r>
              <a:rPr lang="ko-KR" altLang="en-US" sz="1200" dirty="0">
                <a:solidFill>
                  <a:schemeClr val="tx2"/>
                </a:solidFill>
              </a:rPr>
              <a:t>공지기술 </a:t>
            </a:r>
            <a:r>
              <a:rPr lang="en-US" altLang="ko-KR" sz="1200" dirty="0">
                <a:solidFill>
                  <a:schemeClr val="tx2"/>
                </a:solidFill>
              </a:rPr>
              <a:t>A</a:t>
            </a:r>
            <a:r>
              <a:rPr lang="ko-KR" altLang="en-US" sz="1200" dirty="0">
                <a:solidFill>
                  <a:schemeClr val="tx2"/>
                </a:solidFill>
              </a:rPr>
              <a:t>와 공지기술 </a:t>
            </a:r>
            <a:r>
              <a:rPr lang="en-US" altLang="ko-KR" sz="1200" dirty="0">
                <a:solidFill>
                  <a:schemeClr val="tx2"/>
                </a:solidFill>
              </a:rPr>
              <a:t>B</a:t>
            </a:r>
            <a:r>
              <a:rPr lang="ko-KR" altLang="en-US" sz="1200" dirty="0">
                <a:solidFill>
                  <a:schemeClr val="tx2"/>
                </a:solidFill>
              </a:rPr>
              <a:t>의 결합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채택의 곤란성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효과의 </a:t>
            </a:r>
            <a:r>
              <a:rPr lang="ko-KR" altLang="en-US" sz="1200" dirty="0" err="1">
                <a:solidFill>
                  <a:schemeClr val="tx2"/>
                </a:solidFill>
              </a:rPr>
              <a:t>현저성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× → </a:t>
            </a:r>
            <a:r>
              <a:rPr lang="ko-KR" altLang="en-US" sz="1200" dirty="0">
                <a:solidFill>
                  <a:schemeClr val="tx2"/>
                </a:solidFill>
              </a:rPr>
              <a:t>진보성 부정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 err="1">
                <a:solidFill>
                  <a:schemeClr val="tx2"/>
                </a:solidFill>
              </a:rPr>
              <a:t>주합발명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- Aggregation)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cxnSp>
        <p:nvCxnSpPr>
          <p:cNvPr id="75" name="직선 연결선 74"/>
          <p:cNvCxnSpPr>
            <a:cxnSpLocks/>
          </p:cNvCxnSpPr>
          <p:nvPr/>
        </p:nvCxnSpPr>
        <p:spPr>
          <a:xfrm>
            <a:off x="6598995" y="2889998"/>
            <a:ext cx="0" cy="375285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Group 180"/>
          <p:cNvGraphicFramePr>
            <a:graphicFrameLocks/>
          </p:cNvGraphicFramePr>
          <p:nvPr/>
        </p:nvGraphicFramePr>
        <p:xfrm>
          <a:off x="6893959" y="2889998"/>
          <a:ext cx="4952145" cy="360355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15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공지기술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공지기술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분석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(OR)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라이트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(A)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결합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(B)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△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</a:rPr>
                        <a:t>△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자전거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(C)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소결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신규성은 인정되나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진보성 인정 여부는 불명확함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95329" marR="95329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5329" marR="95329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39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선택발명의 신규성</a:t>
            </a:r>
            <a:r>
              <a:rPr lang="en-US" altLang="ko-KR" dirty="0"/>
              <a:t>, </a:t>
            </a:r>
            <a:r>
              <a:rPr lang="ko-KR" altLang="en-US" dirty="0"/>
              <a:t>진보성 판단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76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339913" y="2060127"/>
            <a:ext cx="10578707" cy="7848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선행 또는 공지의 발명에 구성요건이 상위개념으로 기재되어 있고 위 상위개념에 포함되는 하위개념만을 구성요건 중의 전부 또는 일부로 하는 이른바 선택발명의 신규성을 부정하기 위해서는 선행발명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(@)</a:t>
            </a:r>
            <a:r>
              <a:rPr lang="ko-KR" altLang="en-US" sz="1100" dirty="0">
                <a:solidFill>
                  <a:schemeClr val="tx2"/>
                </a:solidFill>
              </a:rPr>
              <a:t>이 선택발명을 구성하는 하위개념을 </a:t>
            </a:r>
            <a:r>
              <a:rPr lang="ko-KR" altLang="en-US" sz="1100" dirty="0">
                <a:solidFill>
                  <a:srgbClr val="FF0000"/>
                </a:solidFill>
              </a:rPr>
              <a:t>구체적으로 개시</a:t>
            </a:r>
            <a:r>
              <a:rPr lang="ko-KR" altLang="en-US" sz="1100" dirty="0">
                <a:solidFill>
                  <a:schemeClr val="tx2"/>
                </a:solidFill>
              </a:rPr>
              <a:t>하고 있어야 하고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이에는 선행발명을 기재한 선행문헌에 </a:t>
            </a:r>
            <a:r>
              <a:rPr lang="ko-KR" altLang="en-US" sz="1100" dirty="0">
                <a:solidFill>
                  <a:srgbClr val="FF0000"/>
                </a:solidFill>
              </a:rPr>
              <a:t>선택발명에 대한 </a:t>
            </a:r>
            <a:r>
              <a:rPr lang="ko-KR" altLang="en-US" sz="1100" dirty="0" err="1">
                <a:solidFill>
                  <a:srgbClr val="FF0000"/>
                </a:solidFill>
              </a:rPr>
              <a:t>문언적인</a:t>
            </a:r>
            <a:r>
              <a:rPr lang="ko-KR" altLang="en-US" sz="1100" dirty="0">
                <a:solidFill>
                  <a:srgbClr val="FF0000"/>
                </a:solidFill>
              </a:rPr>
              <a:t> 기재가 존재</a:t>
            </a:r>
            <a:r>
              <a:rPr lang="ko-KR" altLang="en-US" sz="1100" dirty="0">
                <a:solidFill>
                  <a:schemeClr val="tx2"/>
                </a:solidFill>
              </a:rPr>
              <a:t>하는 경우 외에도 </a:t>
            </a:r>
            <a:r>
              <a:rPr lang="ko-KR" altLang="en-US" sz="1100" dirty="0">
                <a:solidFill>
                  <a:srgbClr val="FF0000"/>
                </a:solidFill>
              </a:rPr>
              <a:t>그 발명이 속하는 기술분야에서 통상의 지식을 가진 자가 선행문헌의 기재 내용과 출원시의 기술 상식에 기초하여 선행문헌으로부터 직접적으로 선택발명의 존재를 인식할 수 있는 경우</a:t>
            </a:r>
            <a:r>
              <a:rPr lang="ko-KR" altLang="en-US" sz="1100" dirty="0">
                <a:solidFill>
                  <a:schemeClr val="tx2"/>
                </a:solidFill>
              </a:rPr>
              <a:t>도 포함된다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2009. 10. 15.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2008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736, 743 </a:t>
            </a:r>
            <a:r>
              <a:rPr lang="ko-KR" altLang="en-US" sz="1100" dirty="0">
                <a:solidFill>
                  <a:schemeClr val="tx2"/>
                </a:solidFill>
              </a:rPr>
              <a:t>판결 참조</a:t>
            </a:r>
            <a:r>
              <a:rPr lang="en-US" altLang="ko-KR" sz="1100" dirty="0">
                <a:solidFill>
                  <a:schemeClr val="tx2"/>
                </a:solidFill>
              </a:rPr>
              <a:t>).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E5BD75-FE62-410E-BBE2-0BD79FB081E7}"/>
              </a:ext>
            </a:extLst>
          </p:cNvPr>
          <p:cNvSpPr/>
          <p:nvPr/>
        </p:nvSpPr>
        <p:spPr>
          <a:xfrm>
            <a:off x="273381" y="2083092"/>
            <a:ext cx="892552" cy="8925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신규성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ECC240-A040-4630-9423-C918FB652AAA}"/>
              </a:ext>
            </a:extLst>
          </p:cNvPr>
          <p:cNvSpPr/>
          <p:nvPr/>
        </p:nvSpPr>
        <p:spPr>
          <a:xfrm>
            <a:off x="273380" y="3837494"/>
            <a:ext cx="892552" cy="89255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진보성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997D670-A28A-4943-A0B4-CEFB3EC541E0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 flipV="1">
            <a:off x="1165933" y="2452542"/>
            <a:ext cx="173980" cy="768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81B8823-AF4B-4925-8C48-75770D6AD6AD}"/>
              </a:ext>
            </a:extLst>
          </p:cNvPr>
          <p:cNvSpPr txBox="1"/>
          <p:nvPr/>
        </p:nvSpPr>
        <p:spPr>
          <a:xfrm>
            <a:off x="1339913" y="2856026"/>
            <a:ext cx="10578707" cy="1446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선택발명에 포함되는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하위개념들 모두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a1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a2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a3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가 공지된 상위개념인 선행발명과 비교하여 구성의 곤란성이 인정되어야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구성의 곤란성이 인정되는지 여부와 관련해서는 </a:t>
            </a:r>
            <a:r>
              <a:rPr lang="en-US" altLang="ko-KR" sz="1100" dirty="0">
                <a:solidFill>
                  <a:schemeClr val="tx2"/>
                </a:solidFill>
              </a:rPr>
              <a:t>ⅰ) </a:t>
            </a:r>
            <a:r>
              <a:rPr lang="ko-KR" altLang="en-US" sz="1100" dirty="0">
                <a:solidFill>
                  <a:schemeClr val="tx2"/>
                </a:solidFill>
              </a:rPr>
              <a:t>상위개념의 크기</a:t>
            </a:r>
            <a:r>
              <a:rPr lang="en-US" altLang="ko-KR" sz="1100" dirty="0">
                <a:solidFill>
                  <a:schemeClr val="tx2"/>
                </a:solidFill>
              </a:rPr>
              <a:t>, ⅱ) </a:t>
            </a:r>
            <a:r>
              <a:rPr lang="ko-KR" altLang="en-US" sz="1100" dirty="0">
                <a:solidFill>
                  <a:schemeClr val="tx2"/>
                </a:solidFill>
              </a:rPr>
              <a:t>선행발명이 선택발명을 선택할 동기를 제공하거나 선행발명에 암시가 있는지 여부</a:t>
            </a:r>
            <a:r>
              <a:rPr lang="en-US" altLang="ko-KR" sz="1100" dirty="0">
                <a:solidFill>
                  <a:schemeClr val="tx2"/>
                </a:solidFill>
              </a:rPr>
              <a:t>, ⅲ) </a:t>
            </a:r>
            <a:r>
              <a:rPr lang="ko-KR" altLang="en-US" sz="1100" dirty="0">
                <a:solidFill>
                  <a:schemeClr val="tx2"/>
                </a:solidFill>
              </a:rPr>
              <a:t>선행발명에 기재된 하위개념발명과 선택발명이 구조적으로 유사한지 여부 등이 고려되어야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예를 들어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선행발명에 발명을 이루는 구성요소 중 일부를 두 개 이상의 치환기로 하나 이상 선택할 수 있도록 기재하는 이른바 </a:t>
            </a:r>
            <a:r>
              <a:rPr lang="ko-KR" altLang="en-US" sz="1100" dirty="0" err="1">
                <a:solidFill>
                  <a:schemeClr val="tx2"/>
                </a:solidFill>
              </a:rPr>
              <a:t>마쿠쉬</a:t>
            </a:r>
            <a:r>
              <a:rPr lang="en-US" altLang="ko-KR" sz="1100" dirty="0">
                <a:solidFill>
                  <a:schemeClr val="tx2"/>
                </a:solidFill>
              </a:rPr>
              <a:t>(Markush) </a:t>
            </a:r>
            <a:r>
              <a:rPr lang="ko-KR" altLang="en-US" sz="1100" dirty="0">
                <a:solidFill>
                  <a:schemeClr val="tx2"/>
                </a:solidFill>
              </a:rPr>
              <a:t>형식으로 기재된 화학식과 그 치환기의 범위 내에 이론상 포함되기만 할 뿐 구체적으로 개시되지 않은 화합물을 청구범위로 하는 특허발명의 경우에도 진보성 판단을 위하여 구성의 곤란성을 따져보아야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위와 같은 특허발명의 구성의 곤란성을 판단할 때에는 </a:t>
            </a:r>
            <a:r>
              <a:rPr lang="ko-KR" altLang="en-US" sz="1100" dirty="0">
                <a:solidFill>
                  <a:srgbClr val="FF0000"/>
                </a:solidFill>
              </a:rPr>
              <a:t>선행발명에 </a:t>
            </a:r>
            <a:r>
              <a:rPr lang="ko-KR" altLang="en-US" sz="1100" dirty="0" err="1">
                <a:solidFill>
                  <a:srgbClr val="FF0000"/>
                </a:solidFill>
              </a:rPr>
              <a:t>마쿠쉬</a:t>
            </a:r>
            <a:r>
              <a:rPr lang="ko-KR" altLang="en-US" sz="1100" dirty="0">
                <a:solidFill>
                  <a:srgbClr val="FF0000"/>
                </a:solidFill>
              </a:rPr>
              <a:t> 형식 등으로 기재된 화학식과 그 치환기의 범위 내에 이론상 포함될 수 있는 화합물의 개수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통상의 기술자가 선행발명에 </a:t>
            </a:r>
            <a:r>
              <a:rPr lang="ko-KR" altLang="en-US" sz="1100" dirty="0" err="1">
                <a:solidFill>
                  <a:srgbClr val="FF0000"/>
                </a:solidFill>
              </a:rPr>
              <a:t>마쿠쉬</a:t>
            </a:r>
            <a:r>
              <a:rPr lang="ko-KR" altLang="en-US" sz="1100" dirty="0">
                <a:solidFill>
                  <a:srgbClr val="FF0000"/>
                </a:solidFill>
              </a:rPr>
              <a:t> 형식 등으로 기재된 화합물 중에서 특정한 화합물이나 특정 치환기를 우선적으로 또는 쉽게 선택할 사정이나 동기 또는 암시의 유무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선행발명에 구체적으로 기재된 화합물과 특허발명의 구조적 유사성 등을 종합적으로 고려</a:t>
            </a:r>
            <a:r>
              <a:rPr lang="ko-KR" altLang="en-US" sz="1100" dirty="0">
                <a:solidFill>
                  <a:schemeClr val="tx2"/>
                </a:solidFill>
              </a:rPr>
              <a:t>하여야 한다</a:t>
            </a:r>
            <a:r>
              <a:rPr lang="en-US" altLang="ko-KR" sz="1100" dirty="0">
                <a:solidFill>
                  <a:schemeClr val="tx2"/>
                </a:solidFill>
              </a:rPr>
              <a:t>.  </a:t>
            </a:r>
            <a:r>
              <a:rPr lang="ko-KR" altLang="en-US" sz="1100" dirty="0">
                <a:solidFill>
                  <a:srgbClr val="FF0000"/>
                </a:solidFill>
              </a:rPr>
              <a:t>다만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구성의 곤란성을 따져 보지 않고 효과의 </a:t>
            </a:r>
            <a:r>
              <a:rPr lang="ko-KR" altLang="en-US" sz="1100" dirty="0" err="1">
                <a:solidFill>
                  <a:srgbClr val="FF0000"/>
                </a:solidFill>
              </a:rPr>
              <a:t>현저성</a:t>
            </a:r>
            <a:r>
              <a:rPr lang="ko-KR" altLang="en-US" sz="1100" dirty="0">
                <a:solidFill>
                  <a:srgbClr val="FF0000"/>
                </a:solidFill>
              </a:rPr>
              <a:t> 유무만으로 진보성을 판단해서는 안 된다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2021. 4. 8.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2019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10609).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C208C6-C8B4-4480-9979-D91AB9BFDED1}"/>
              </a:ext>
            </a:extLst>
          </p:cNvPr>
          <p:cNvSpPr txBox="1"/>
          <p:nvPr/>
        </p:nvSpPr>
        <p:spPr>
          <a:xfrm>
            <a:off x="1339913" y="5824568"/>
            <a:ext cx="10578707" cy="9387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효과의 현저성에 의해 진보성을 판단할 때</a:t>
            </a:r>
            <a:r>
              <a:rPr lang="en-US" altLang="ko-KR" sz="1100" dirty="0">
                <a:solidFill>
                  <a:schemeClr val="tx2"/>
                </a:solidFill>
              </a:rPr>
              <a:t> </a:t>
            </a:r>
            <a:r>
              <a:rPr lang="ko-KR" altLang="en-US" sz="1100" dirty="0">
                <a:solidFill>
                  <a:schemeClr val="tx2"/>
                </a:solidFill>
              </a:rPr>
              <a:t>선택발명에 여러 효과가 있는 경우에 선행발명과 비교하여 이질적이거나 양적으로 현저한 효과를 갖는다고 하기 위해서는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선택발명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a1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의 모든 종류의 효과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e1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e2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en-US" altLang="ko-KR" sz="1100" dirty="0" err="1">
                <a:solidFill>
                  <a:schemeClr val="tx2"/>
                </a:solidFill>
                <a:highlight>
                  <a:srgbClr val="FFFF00"/>
                </a:highlight>
              </a:rPr>
              <a:t>e3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가 아니라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</a:rPr>
              <a:t>그 중 일부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  <a:highlight>
                  <a:srgbClr val="FFFF00"/>
                </a:highlight>
              </a:rPr>
              <a:t>e3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</a:rPr>
              <a:t>라도</a:t>
            </a:r>
            <a:r>
              <a:rPr lang="ko-KR" altLang="en-US" sz="1100" dirty="0">
                <a:solidFill>
                  <a:srgbClr val="FF0000"/>
                </a:solidFill>
              </a:rPr>
              <a:t> 선행발명과 비교하여 그러한 효과를 갖는다고 인정</a:t>
            </a:r>
            <a:r>
              <a:rPr lang="ko-KR" altLang="en-US" sz="1100" dirty="0">
                <a:solidFill>
                  <a:schemeClr val="tx2"/>
                </a:solidFill>
              </a:rPr>
              <a:t>되면 충분하다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2012. 8. 23.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2010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3424 </a:t>
            </a:r>
            <a:r>
              <a:rPr lang="ko-KR" altLang="en-US" sz="1100" dirty="0">
                <a:solidFill>
                  <a:schemeClr val="tx2"/>
                </a:solidFill>
              </a:rPr>
              <a:t>참조</a:t>
            </a:r>
            <a:r>
              <a:rPr lang="en-US" altLang="ko-KR" sz="1100" dirty="0">
                <a:solidFill>
                  <a:schemeClr val="tx2"/>
                </a:solidFill>
              </a:rPr>
              <a:t>). </a:t>
            </a:r>
            <a:r>
              <a:rPr lang="ko-KR" altLang="en-US" sz="1100" dirty="0">
                <a:solidFill>
                  <a:schemeClr val="tx2"/>
                </a:solidFill>
              </a:rPr>
              <a:t>한편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선택발명에 포함되는 </a:t>
            </a:r>
            <a:r>
              <a:rPr lang="ko-KR" altLang="en-US" sz="1100" dirty="0">
                <a:solidFill>
                  <a:srgbClr val="FF0000"/>
                </a:solidFill>
              </a:rPr>
              <a:t>하위개념의 실시형태 중 가장 열등한 것의 효과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</a:rPr>
              <a:t>a1</a:t>
            </a:r>
            <a:r>
              <a:rPr lang="en-US" altLang="ko-KR" sz="1100" dirty="0">
                <a:solidFill>
                  <a:srgbClr val="FF0000"/>
                </a:solidFill>
              </a:rPr>
              <a:t> &gt; </a:t>
            </a:r>
            <a:r>
              <a:rPr lang="en-US" altLang="ko-KR" sz="1100" dirty="0" err="1">
                <a:solidFill>
                  <a:srgbClr val="FF0000"/>
                </a:solidFill>
              </a:rPr>
              <a:t>a2</a:t>
            </a:r>
            <a:r>
              <a:rPr lang="en-US" altLang="ko-KR" sz="1100" dirty="0">
                <a:solidFill>
                  <a:srgbClr val="FF0000"/>
                </a:solidFill>
              </a:rPr>
              <a:t> &gt;</a:t>
            </a:r>
            <a:r>
              <a:rPr lang="ko-KR" altLang="en-US" sz="1100" dirty="0">
                <a:solidFill>
                  <a:srgbClr val="FF0000"/>
                </a:solidFill>
              </a:rPr>
              <a:t>가 선행발명에 개시된 실시형태 중 가장 우수한 것의 효과와 비교</a:t>
            </a:r>
            <a:r>
              <a:rPr lang="ko-KR" altLang="en-US" sz="1100" dirty="0">
                <a:solidFill>
                  <a:schemeClr val="tx2"/>
                </a:solidFill>
              </a:rPr>
              <a:t>하여 현저하다는 관계가 인정되지 않는다면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선택발명에 포함되는 하위개념의 실시형태 중 일부의 효과가 선행발명에 개시된 실시형태 중 일부의 효과보다 뛰어나 보인다고 하여 선택발명의 진보성이 부정되지 아니한다고 볼 수는 없다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대법원 </a:t>
            </a:r>
            <a:r>
              <a:rPr lang="en-US" altLang="ko-KR" sz="1100" dirty="0">
                <a:solidFill>
                  <a:schemeClr val="tx2"/>
                </a:solidFill>
              </a:rPr>
              <a:t>2016. 1. 28. </a:t>
            </a:r>
            <a:r>
              <a:rPr lang="ko-KR" altLang="en-US" sz="1100" dirty="0">
                <a:solidFill>
                  <a:schemeClr val="tx2"/>
                </a:solidFill>
              </a:rPr>
              <a:t>선고 </a:t>
            </a:r>
            <a:r>
              <a:rPr lang="en-US" altLang="ko-KR" sz="1100" dirty="0">
                <a:solidFill>
                  <a:schemeClr val="tx2"/>
                </a:solidFill>
              </a:rPr>
              <a:t>2013</a:t>
            </a:r>
            <a:r>
              <a:rPr lang="ko-KR" altLang="en-US" sz="1100" dirty="0">
                <a:solidFill>
                  <a:schemeClr val="tx2"/>
                </a:solidFill>
              </a:rPr>
              <a:t>후</a:t>
            </a:r>
            <a:r>
              <a:rPr lang="en-US" altLang="ko-KR" sz="1100" dirty="0">
                <a:solidFill>
                  <a:schemeClr val="tx2"/>
                </a:solidFill>
              </a:rPr>
              <a:t>1887).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C033831-69A1-41CB-B59A-CD0D4C493B0A}"/>
              </a:ext>
            </a:extLst>
          </p:cNvPr>
          <p:cNvCxnSpPr>
            <a:stCxn id="67" idx="3"/>
            <a:endCxn id="70" idx="1"/>
          </p:cNvCxnSpPr>
          <p:nvPr/>
        </p:nvCxnSpPr>
        <p:spPr>
          <a:xfrm>
            <a:off x="1165932" y="4283770"/>
            <a:ext cx="173981" cy="20101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EF758D0-2E0F-43CF-B43C-8461B9736372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 flipV="1">
            <a:off x="1165932" y="3579301"/>
            <a:ext cx="173981" cy="7044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DB60878-6ABA-4DEA-9778-F57B55800A62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1165932" y="4283770"/>
            <a:ext cx="173981" cy="502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ine 5">
            <a:extLst>
              <a:ext uri="{FF2B5EF4-FFF2-40B4-BE49-F238E27FC236}">
                <a16:creationId xmlns:a16="http://schemas.microsoft.com/office/drawing/2014/main" id="{04250376-DFCC-4474-A196-26E2687E5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337" y="1689547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030FBF3-5972-4B17-B130-B131F5CE9CD4}"/>
              </a:ext>
            </a:extLst>
          </p:cNvPr>
          <p:cNvSpPr/>
          <p:nvPr/>
        </p:nvSpPr>
        <p:spPr>
          <a:xfrm>
            <a:off x="1958674" y="15984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8DAD14A-ADE9-4DEE-9E9A-7B74C38B6F91}"/>
              </a:ext>
            </a:extLst>
          </p:cNvPr>
          <p:cNvCxnSpPr>
            <a:cxnSpLocks/>
            <a:stCxn id="45" idx="2"/>
            <a:endCxn id="37" idx="0"/>
          </p:cNvCxnSpPr>
          <p:nvPr/>
        </p:nvCxnSpPr>
        <p:spPr>
          <a:xfrm flipH="1">
            <a:off x="2036043" y="1475550"/>
            <a:ext cx="1" cy="1229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FFDE3FA-9E38-4358-994E-06A931F2ACDE}"/>
              </a:ext>
            </a:extLst>
          </p:cNvPr>
          <p:cNvSpPr txBox="1"/>
          <p:nvPr/>
        </p:nvSpPr>
        <p:spPr>
          <a:xfrm>
            <a:off x="1112988" y="1009041"/>
            <a:ext cx="1846112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 +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다른 기재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(@)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DA6E673-3817-45B3-8494-D28F35A84460}"/>
              </a:ext>
            </a:extLst>
          </p:cNvPr>
          <p:cNvSpPr/>
          <p:nvPr/>
        </p:nvSpPr>
        <p:spPr>
          <a:xfrm>
            <a:off x="7039382" y="159845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A410B7-1993-4C31-A33E-90D83D9D6160}"/>
              </a:ext>
            </a:extLst>
          </p:cNvPr>
          <p:cNvCxnSpPr>
            <a:cxnSpLocks/>
            <a:stCxn id="57" idx="2"/>
            <a:endCxn id="55" idx="0"/>
          </p:cNvCxnSpPr>
          <p:nvPr/>
        </p:nvCxnSpPr>
        <p:spPr>
          <a:xfrm>
            <a:off x="7116751" y="1475550"/>
            <a:ext cx="0" cy="1229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B92700F-36BD-4CDC-B22E-F409E956A946}"/>
              </a:ext>
            </a:extLst>
          </p:cNvPr>
          <p:cNvSpPr txBox="1"/>
          <p:nvPr/>
        </p:nvSpPr>
        <p:spPr>
          <a:xfrm>
            <a:off x="6086475" y="1009041"/>
            <a:ext cx="2060552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(a1, a2, a3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중 어느 하나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83B48F-FB83-42BC-A0F8-B4728BFFFD1A}"/>
              </a:ext>
            </a:extLst>
          </p:cNvPr>
          <p:cNvSpPr txBox="1"/>
          <p:nvPr/>
        </p:nvSpPr>
        <p:spPr>
          <a:xfrm>
            <a:off x="395337" y="1786646"/>
            <a:ext cx="4600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 A</a:t>
            </a:r>
            <a:r>
              <a:rPr lang="ko-KR" altLang="en-US" sz="1400" dirty="0"/>
              <a:t>가 상위개념이고</a:t>
            </a:r>
            <a:r>
              <a:rPr lang="en-US" altLang="ko-KR" sz="1400" dirty="0"/>
              <a:t>, a1, a2, a3</a:t>
            </a:r>
            <a:r>
              <a:rPr lang="ko-KR" altLang="en-US" sz="1400" dirty="0"/>
              <a:t>가 </a:t>
            </a:r>
            <a:r>
              <a:rPr lang="en-US" altLang="ko-KR" sz="1400" dirty="0"/>
              <a:t>A</a:t>
            </a:r>
            <a:r>
              <a:rPr lang="ko-KR" altLang="en-US" sz="1400" dirty="0"/>
              <a:t>를 한정한 하위개념발명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43C338-EC88-4375-83D8-EA16C3B2832E}"/>
              </a:ext>
            </a:extLst>
          </p:cNvPr>
          <p:cNvSpPr txBox="1"/>
          <p:nvPr/>
        </p:nvSpPr>
        <p:spPr>
          <a:xfrm>
            <a:off x="8903269" y="700242"/>
            <a:ext cx="162416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a1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en-US" sz="1200" dirty="0"/>
              <a:t>효과</a:t>
            </a:r>
            <a:r>
              <a:rPr lang="en-US" altLang="ko-KR" sz="1200" dirty="0"/>
              <a:t>: e1, e2, </a:t>
            </a:r>
            <a:r>
              <a:rPr lang="en-US" altLang="ko-KR" sz="1200" dirty="0">
                <a:solidFill>
                  <a:srgbClr val="FF0000"/>
                </a:solidFill>
              </a:rPr>
              <a:t>e3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52EBF2-73BD-448C-83D8-33BBADFB0ABF}"/>
              </a:ext>
            </a:extLst>
          </p:cNvPr>
          <p:cNvSpPr txBox="1"/>
          <p:nvPr/>
        </p:nvSpPr>
        <p:spPr>
          <a:xfrm>
            <a:off x="8903268" y="1000929"/>
            <a:ext cx="162416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a2</a:t>
            </a:r>
            <a:r>
              <a:rPr lang="ko-KR" altLang="en-US" sz="1200" dirty="0"/>
              <a:t>의 효과</a:t>
            </a:r>
            <a:r>
              <a:rPr lang="en-US" altLang="ko-KR" sz="1200" dirty="0"/>
              <a:t>: </a:t>
            </a:r>
            <a:r>
              <a:rPr lang="en-US" altLang="ko-KR" sz="1200" dirty="0">
                <a:solidFill>
                  <a:srgbClr val="FF0000"/>
                </a:solidFill>
              </a:rPr>
              <a:t>e4</a:t>
            </a:r>
            <a:r>
              <a:rPr lang="en-US" altLang="ko-KR" sz="1200" dirty="0"/>
              <a:t>, e5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EF3563-B7C3-4AD3-9FD3-646D35A7B853}"/>
              </a:ext>
            </a:extLst>
          </p:cNvPr>
          <p:cNvSpPr txBox="1"/>
          <p:nvPr/>
        </p:nvSpPr>
        <p:spPr>
          <a:xfrm>
            <a:off x="8903268" y="1294516"/>
            <a:ext cx="162416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a3</a:t>
            </a:r>
            <a:r>
              <a:rPr lang="ko-KR" altLang="en-US" sz="1200" dirty="0"/>
              <a:t>의 효과</a:t>
            </a:r>
            <a:r>
              <a:rPr lang="en-US" altLang="ko-KR" sz="1200" dirty="0"/>
              <a:t>: e6, </a:t>
            </a:r>
            <a:r>
              <a:rPr lang="en-US" altLang="ko-KR" sz="1200" dirty="0">
                <a:solidFill>
                  <a:srgbClr val="FF0000"/>
                </a:solidFill>
              </a:rPr>
              <a:t>e7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E208696B-BEC9-4E8B-8C2B-C6F71C3B24C3}"/>
              </a:ext>
            </a:extLst>
          </p:cNvPr>
          <p:cNvCxnSpPr>
            <a:stCxn id="57" idx="3"/>
            <a:endCxn id="74" idx="1"/>
          </p:cNvCxnSpPr>
          <p:nvPr/>
        </p:nvCxnSpPr>
        <p:spPr>
          <a:xfrm flipV="1">
            <a:off x="8147027" y="838742"/>
            <a:ext cx="756242" cy="4035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CA0AEB06-1117-4F0F-86E2-C4440CE3296A}"/>
              </a:ext>
            </a:extLst>
          </p:cNvPr>
          <p:cNvCxnSpPr>
            <a:stCxn id="57" idx="3"/>
            <a:endCxn id="76" idx="1"/>
          </p:cNvCxnSpPr>
          <p:nvPr/>
        </p:nvCxnSpPr>
        <p:spPr>
          <a:xfrm>
            <a:off x="8147027" y="1242296"/>
            <a:ext cx="756241" cy="1907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80C08688-0A4E-4061-93DA-FB96196C025A}"/>
              </a:ext>
            </a:extLst>
          </p:cNvPr>
          <p:cNvCxnSpPr>
            <a:stCxn id="57" idx="3"/>
            <a:endCxn id="75" idx="1"/>
          </p:cNvCxnSpPr>
          <p:nvPr/>
        </p:nvCxnSpPr>
        <p:spPr>
          <a:xfrm flipV="1">
            <a:off x="8147027" y="1139429"/>
            <a:ext cx="756241" cy="1028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352F02-1A69-42B6-ACC7-5F1F6D138B22}"/>
              </a:ext>
            </a:extLst>
          </p:cNvPr>
          <p:cNvSpPr txBox="1"/>
          <p:nvPr/>
        </p:nvSpPr>
        <p:spPr>
          <a:xfrm>
            <a:off x="1339913" y="4342313"/>
            <a:ext cx="10578707" cy="1446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</a:rPr>
              <a:t>선택발명의 진보성을 판단할 때에는 그 발명이 갖는 특유한 효과도 함께 고려하여야 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선행발명에 이론적으로 포함되는 수많은 화합물 중 특정한 화합물을 선택할 동기나 암시 등이 선행발명에 개시되어 있지 않은 경우에도 그것이 아무런 기술적 의의가 없는 임의의 선택에 불과한 경우라면 그와 같은 선택에 어려움이 있다고 볼 수 없는데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발명의 효과는 선택의 동기가 없어 구성이 곤란한 경우인지 임의의 선택에 불과한 경우인지를 구별할 수 있는 중요한 표지가 될 수 있기 때문이다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또한 화학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의약 등의 기술분야에 속하는 발명은 구성만으로 효과의 예측이 쉽지 않으므로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 err="1">
                <a:solidFill>
                  <a:schemeClr val="tx2"/>
                </a:solidFill>
              </a:rPr>
              <a:t>선행발명으로부터</a:t>
            </a:r>
            <a:r>
              <a:rPr lang="ko-KR" altLang="en-US" sz="1100" dirty="0">
                <a:solidFill>
                  <a:schemeClr val="tx2"/>
                </a:solidFill>
              </a:rPr>
              <a:t> 특허발명의 구성요소들이 쉽게 도출되는지를 판단할 때 발명의 효과를 참작할 필요가 있고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발명의 효과가 선행발명에 비하여 현저하다면 구성의 곤란성을 추론하는 유력한 자료가 될 것이다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</a:rPr>
              <a:t>나아가 구성의 곤란성 여부의 판단이 불분명한 경우라고 하더라도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특허발명이 선행발명에 비하여 이질적이거나 양적으로 현저한 효과를 가지고 있다면 진보성이 부정되지 않는다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</a:rPr>
              <a:t>효과의 현저성은 특허발명의 명세서에 기재되어 통상의 기술자가 인식하거나 추론할 수 있는 효과를 중심으로 판단하여야 하고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만일 그 효과가 의심스러울 때에는 그 기재내용의 범위를 넘지 않는 한도에서 출원일 이후에 추가적인 실험 자료를 제출하는 등의 방법으로 그 효과를 구체적으로 주장</a:t>
            </a:r>
            <a:r>
              <a:rPr lang="en-US" altLang="ko-KR" sz="1100" dirty="0">
                <a:solidFill>
                  <a:srgbClr val="FF0000"/>
                </a:solidFill>
              </a:rPr>
              <a:t>·</a:t>
            </a:r>
            <a:r>
              <a:rPr lang="ko-KR" altLang="en-US" sz="1100" dirty="0">
                <a:solidFill>
                  <a:srgbClr val="FF0000"/>
                </a:solidFill>
              </a:rPr>
              <a:t>증명하는 것이 허용된다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대법원 </a:t>
            </a:r>
            <a:r>
              <a:rPr lang="en-US" altLang="ko-KR" sz="1100" dirty="0">
                <a:solidFill>
                  <a:srgbClr val="FF0000"/>
                </a:solidFill>
              </a:rPr>
              <a:t>2021. 4. 8. </a:t>
            </a:r>
            <a:r>
              <a:rPr lang="ko-KR" altLang="en-US" sz="1100" dirty="0">
                <a:solidFill>
                  <a:srgbClr val="FF0000"/>
                </a:solidFill>
              </a:rPr>
              <a:t>선고 </a:t>
            </a:r>
            <a:r>
              <a:rPr lang="en-US" altLang="ko-KR" sz="1100" dirty="0">
                <a:solidFill>
                  <a:srgbClr val="FF0000"/>
                </a:solidFill>
              </a:rPr>
              <a:t>2019</a:t>
            </a:r>
            <a:r>
              <a:rPr lang="ko-KR" altLang="en-US" sz="1100" dirty="0">
                <a:solidFill>
                  <a:srgbClr val="FF0000"/>
                </a:solidFill>
              </a:rPr>
              <a:t>후</a:t>
            </a:r>
            <a:r>
              <a:rPr lang="en-US" altLang="ko-KR" sz="1100" dirty="0">
                <a:solidFill>
                  <a:srgbClr val="FF0000"/>
                </a:solidFill>
              </a:rPr>
              <a:t>10609).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848FE7E5-A0D9-4086-A81B-466D392B5409}"/>
              </a:ext>
            </a:extLst>
          </p:cNvPr>
          <p:cNvCxnSpPr>
            <a:stCxn id="67" idx="3"/>
            <a:endCxn id="32" idx="1"/>
          </p:cNvCxnSpPr>
          <p:nvPr/>
        </p:nvCxnSpPr>
        <p:spPr>
          <a:xfrm>
            <a:off x="1165932" y="4283770"/>
            <a:ext cx="173981" cy="7818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50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수치한정발명의 신규성</a:t>
            </a:r>
            <a:r>
              <a:rPr lang="en-US" altLang="ko-KR" dirty="0"/>
              <a:t>, </a:t>
            </a:r>
            <a:r>
              <a:rPr lang="ko-KR" altLang="en-US" dirty="0"/>
              <a:t>진보성 판단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77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339913" y="2844233"/>
            <a:ext cx="10578707" cy="18928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구성요소의 범위를 수치로써 한정하여 표현한 발명이 그 출원 전에 공지된 발명과 사이에 수치한정의 유무 또는 범위에서만 차이</a:t>
            </a:r>
            <a:r>
              <a:rPr lang="en-US" altLang="ko-KR" sz="1300" dirty="0">
                <a:solidFill>
                  <a:schemeClr val="tx2"/>
                </a:solidFill>
                <a:highlight>
                  <a:srgbClr val="FFFF00"/>
                </a:highlight>
              </a:rPr>
              <a:t>(D1, D2)</a:t>
            </a:r>
            <a:r>
              <a:rPr lang="ko-KR" altLang="en-US" sz="1300" dirty="0">
                <a:solidFill>
                  <a:schemeClr val="tx2"/>
                </a:solidFill>
              </a:rPr>
              <a:t>가 있는 경우에는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 한정된 수치범위가 공지된 발명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(@)</a:t>
            </a:r>
            <a:r>
              <a:rPr lang="ko-KR" altLang="en-US" sz="1300" dirty="0">
                <a:solidFill>
                  <a:srgbClr val="FF0000"/>
                </a:solidFill>
              </a:rPr>
              <a:t>에 구체적으로 개시되어 있거나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그렇지 않더라도 그러한 수치한정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rgbClr val="FF0000"/>
                </a:solidFill>
              </a:rPr>
              <a:t>이 그 발명이 속하는 기술분야에서 통상의 지식을 가진 자</a:t>
            </a:r>
            <a:r>
              <a:rPr lang="en-US" altLang="ko-KR" sz="1300" dirty="0">
                <a:solidFill>
                  <a:srgbClr val="FF0000"/>
                </a:solidFill>
              </a:rPr>
              <a:t>(</a:t>
            </a:r>
            <a:r>
              <a:rPr lang="ko-KR" altLang="en-US" sz="1300" dirty="0">
                <a:solidFill>
                  <a:srgbClr val="FF0000"/>
                </a:solidFill>
              </a:rPr>
              <a:t>이하 ‘통상의 </a:t>
            </a:r>
            <a:r>
              <a:rPr lang="ko-KR" altLang="en-US" sz="1300" dirty="0" err="1">
                <a:solidFill>
                  <a:srgbClr val="FF0000"/>
                </a:solidFill>
              </a:rPr>
              <a:t>기술자’라고</a:t>
            </a:r>
            <a:r>
              <a:rPr lang="ko-KR" altLang="en-US" sz="1300" dirty="0">
                <a:solidFill>
                  <a:srgbClr val="FF0000"/>
                </a:solidFill>
              </a:rPr>
              <a:t> 한다</a:t>
            </a:r>
            <a:r>
              <a:rPr lang="en-US" altLang="ko-KR" sz="1300" dirty="0">
                <a:solidFill>
                  <a:srgbClr val="FF0000"/>
                </a:solidFill>
              </a:rPr>
              <a:t>)</a:t>
            </a:r>
            <a:r>
              <a:rPr lang="ko-KR" altLang="en-US" sz="1300" dirty="0">
                <a:solidFill>
                  <a:srgbClr val="FF0000"/>
                </a:solidFill>
              </a:rPr>
              <a:t>가 적절히 선택할 수 있는 주지</a:t>
            </a:r>
            <a:r>
              <a:rPr lang="en-US" altLang="ko-KR" sz="1300" dirty="0">
                <a:solidFill>
                  <a:srgbClr val="FF0000"/>
                </a:solidFill>
              </a:rPr>
              <a:t>·</a:t>
            </a:r>
            <a:r>
              <a:rPr lang="ko-KR" altLang="en-US" sz="1300" dirty="0">
                <a:solidFill>
                  <a:srgbClr val="FF0000"/>
                </a:solidFill>
              </a:rPr>
              <a:t>관용의 수단에 불과하고 이에 따른 새로운 효과도 발생하지 않는다면 그 신규성이 부정된다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그리고 한정된 수치범위가 공지된 발명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(@)</a:t>
            </a:r>
            <a:r>
              <a:rPr lang="ko-KR" altLang="en-US" sz="1300" dirty="0">
                <a:solidFill>
                  <a:srgbClr val="FF0000"/>
                </a:solidFill>
              </a:rPr>
              <a:t>에 구체적으로 개시되어 있다는 것에는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 수치범위 내의 수치가 공지된 발명을 기재한 선행문헌의 실시 예 등에 나타나 있는 경우 등과 같이 </a:t>
            </a:r>
            <a:r>
              <a:rPr lang="ko-KR" altLang="en-US" sz="1300" dirty="0" err="1">
                <a:solidFill>
                  <a:srgbClr val="FF0000"/>
                </a:solidFill>
              </a:rPr>
              <a:t>문언적인</a:t>
            </a:r>
            <a:r>
              <a:rPr lang="ko-KR" altLang="en-US" sz="1300" dirty="0">
                <a:solidFill>
                  <a:srgbClr val="FF0000"/>
                </a:solidFill>
              </a:rPr>
              <a:t> 기재가 존재하는 경우 외에도 통상의 기술자가 선행문헌의 기재 내용과 출원시의 기술상식에 기초하여 선행문헌으로부터 직접적으로 그 수치범위를 인식할 수 있는 경우도 포함된다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chemeClr val="tx2"/>
                </a:solidFill>
              </a:rPr>
              <a:t>한편 수치한정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chemeClr val="tx2"/>
                </a:solidFill>
              </a:rPr>
              <a:t>이 공지된 발명과는 상이한 과제를 달성하기 위한 </a:t>
            </a:r>
            <a:r>
              <a:rPr lang="ko-KR" altLang="en-US" sz="1300" dirty="0" err="1">
                <a:solidFill>
                  <a:schemeClr val="tx2"/>
                </a:solidFill>
              </a:rPr>
              <a:t>기술수단으로서의</a:t>
            </a:r>
            <a:r>
              <a:rPr lang="ko-KR" altLang="en-US" sz="1300" dirty="0">
                <a:solidFill>
                  <a:schemeClr val="tx2"/>
                </a:solidFill>
              </a:rPr>
              <a:t> 의의를 가지고 그 효과도 이질적인 경우나 공지된 발명과 비교하여 한정된 수치범위 내외에서 현저한 효과의 차이가 생기는 경우 등에는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그 수치범위가 공지된 발명에 구체적으로 개시되어 있다고 할 수 없음은 물론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그 수치한정이 통상의 기술자가 적절히 선택할 수 있는 주지</a:t>
            </a:r>
            <a:r>
              <a:rPr lang="en-US" altLang="ko-KR" sz="1300" dirty="0">
                <a:solidFill>
                  <a:schemeClr val="tx2"/>
                </a:solidFill>
              </a:rPr>
              <a:t>·</a:t>
            </a:r>
            <a:r>
              <a:rPr lang="ko-KR" altLang="en-US" sz="1300" dirty="0">
                <a:solidFill>
                  <a:schemeClr val="tx2"/>
                </a:solidFill>
              </a:rPr>
              <a:t>관용의 수단에 불과하다고 볼 수도 없다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2013. 5. 24.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2011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2015).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E5BD75-FE62-410E-BBE2-0BD79FB081E7}"/>
              </a:ext>
            </a:extLst>
          </p:cNvPr>
          <p:cNvSpPr/>
          <p:nvPr/>
        </p:nvSpPr>
        <p:spPr>
          <a:xfrm>
            <a:off x="273381" y="2848148"/>
            <a:ext cx="892552" cy="8925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신규성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ECC240-A040-4630-9423-C918FB652AAA}"/>
              </a:ext>
            </a:extLst>
          </p:cNvPr>
          <p:cNvSpPr/>
          <p:nvPr/>
        </p:nvSpPr>
        <p:spPr>
          <a:xfrm>
            <a:off x="273380" y="4840115"/>
            <a:ext cx="892552" cy="89255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진보성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997D670-A28A-4943-A0B4-CEFB3EC541E0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>
            <a:off x="1165933" y="3294424"/>
            <a:ext cx="173980" cy="4962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5C208C6-C8B4-4480-9979-D91AB9BFDED1}"/>
              </a:ext>
            </a:extLst>
          </p:cNvPr>
          <p:cNvSpPr txBox="1"/>
          <p:nvPr/>
        </p:nvSpPr>
        <p:spPr>
          <a:xfrm>
            <a:off x="1339913" y="4837558"/>
            <a:ext cx="10578707" cy="8925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그 출원 전에 공지된 발명이 가지는 구성요소의 범위를 수치로써 한정하여 표현한 경우에는 그 특허발명에 진보성을 인정할 수 있는 </a:t>
            </a:r>
            <a:r>
              <a:rPr lang="ko-KR" altLang="en-US" sz="1300" dirty="0">
                <a:solidFill>
                  <a:srgbClr val="FF0000"/>
                </a:solidFill>
              </a:rPr>
              <a:t>다른 구성요소가 부가</a:t>
            </a:r>
            <a:r>
              <a:rPr lang="en-US" altLang="ko-KR" sz="1300" dirty="0">
                <a:solidFill>
                  <a:srgbClr val="FF0000"/>
                </a:solidFill>
              </a:rPr>
              <a:t>(E)</a:t>
            </a:r>
            <a:r>
              <a:rPr lang="ko-KR" altLang="en-US" sz="1300" dirty="0">
                <a:solidFill>
                  <a:schemeClr val="tx2"/>
                </a:solidFill>
              </a:rPr>
              <a:t>되어 있어서 그 특허발명에서의 </a:t>
            </a:r>
            <a:r>
              <a:rPr lang="ko-KR" altLang="en-US" sz="1300" dirty="0">
                <a:solidFill>
                  <a:srgbClr val="FF0000"/>
                </a:solidFill>
              </a:rPr>
              <a:t>수치한정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chemeClr val="tx2"/>
                </a:solidFill>
              </a:rPr>
              <a:t>이 보충적인 사항에 불과한 것이 아닌 이상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그 특허발명이 그 기술분야에서 통상의 지식을 가진 사람이 통상적이고 반복적인 실험을 통하여 적절히 선택할 수 있는 정도의 단순한 수치한정으로서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공지된 발명과 비교하여 이질적인 효과나 한정된 수치범위 내외에서 현저한 효과 차이</a:t>
            </a:r>
            <a:r>
              <a:rPr lang="ko-KR" altLang="en-US" sz="1300" dirty="0">
                <a:solidFill>
                  <a:schemeClr val="tx2"/>
                </a:solidFill>
              </a:rPr>
              <a:t>가 생기지 않는 것이라면 진보성이 부정된다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2023. 7. 13.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2022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10180).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DB60878-6ABA-4DEA-9778-F57B55800A62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 flipV="1">
            <a:off x="1165932" y="5283834"/>
            <a:ext cx="173981" cy="25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ine 5">
            <a:extLst>
              <a:ext uri="{FF2B5EF4-FFF2-40B4-BE49-F238E27FC236}">
                <a16:creationId xmlns:a16="http://schemas.microsoft.com/office/drawing/2014/main" id="{04250376-DFCC-4474-A196-26E2687E5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337" y="2386061"/>
            <a:ext cx="1152328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030FBF3-5972-4B17-B130-B131F5CE9CD4}"/>
              </a:ext>
            </a:extLst>
          </p:cNvPr>
          <p:cNvSpPr/>
          <p:nvPr/>
        </p:nvSpPr>
        <p:spPr>
          <a:xfrm>
            <a:off x="2549554" y="230367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FDE3FA-9E38-4358-994E-06A931F2ACDE}"/>
              </a:ext>
            </a:extLst>
          </p:cNvPr>
          <p:cNvSpPr txBox="1"/>
          <p:nvPr/>
        </p:nvSpPr>
        <p:spPr>
          <a:xfrm>
            <a:off x="1121113" y="1085813"/>
            <a:ext cx="3011618" cy="3689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A+B+C+D1 +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다른 기재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(@)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DA6E673-3817-45B3-8494-D28F35A84460}"/>
              </a:ext>
            </a:extLst>
          </p:cNvPr>
          <p:cNvSpPr/>
          <p:nvPr/>
        </p:nvSpPr>
        <p:spPr>
          <a:xfrm>
            <a:off x="8097219" y="2303673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A410B7-1993-4C31-A33E-90D83D9D6160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8174588" y="2080757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B92700F-36BD-4CDC-B22E-F409E956A946}"/>
              </a:ext>
            </a:extLst>
          </p:cNvPr>
          <p:cNvSpPr txBox="1"/>
          <p:nvPr/>
        </p:nvSpPr>
        <p:spPr>
          <a:xfrm>
            <a:off x="7144312" y="1614248"/>
            <a:ext cx="2060552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출원발명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A+B+C+D2+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(E)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FA6267-EE0F-45B6-9EEE-9BB4F88A27F6}"/>
              </a:ext>
            </a:extLst>
          </p:cNvPr>
          <p:cNvSpPr txBox="1"/>
          <p:nvPr/>
        </p:nvSpPr>
        <p:spPr>
          <a:xfrm>
            <a:off x="1121113" y="1584012"/>
            <a:ext cx="3011618" cy="455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A+B+D1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2: B+C+D1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8BCC56A-221B-428F-B1D8-BD2CADDEF934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4151184" y="1270264"/>
            <a:ext cx="2993128" cy="577239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71B1C68-7150-42E6-85EC-7B951E696EE2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4151184" y="1811912"/>
            <a:ext cx="2993128" cy="35591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ABBC43-232C-40F7-AAB8-722C324A9507}"/>
              </a:ext>
            </a:extLst>
          </p:cNvPr>
          <p:cNvSpPr txBox="1"/>
          <p:nvPr/>
        </p:nvSpPr>
        <p:spPr>
          <a:xfrm>
            <a:off x="4515066" y="1306471"/>
            <a:ext cx="2265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CASE1: </a:t>
            </a:r>
            <a:r>
              <a:rPr lang="ko-KR" altLang="en-US" sz="1400" dirty="0"/>
              <a:t>신규성</a:t>
            </a:r>
            <a:r>
              <a:rPr lang="en-US" altLang="ko-KR" sz="1400" dirty="0"/>
              <a:t>, </a:t>
            </a:r>
            <a:r>
              <a:rPr lang="ko-KR" altLang="en-US" sz="1400" dirty="0"/>
              <a:t>진보성 판단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A4C187-B560-4186-84B9-9B5FA9F0E774}"/>
              </a:ext>
            </a:extLst>
          </p:cNvPr>
          <p:cNvSpPr txBox="1"/>
          <p:nvPr/>
        </p:nvSpPr>
        <p:spPr>
          <a:xfrm>
            <a:off x="4515066" y="1705787"/>
            <a:ext cx="168026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CASE2: </a:t>
            </a:r>
            <a:r>
              <a:rPr lang="ko-KR" altLang="en-US" sz="1400" dirty="0"/>
              <a:t>진보성 판단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4900DA3-4CEB-42BD-9AE2-28A55B9F3F3A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2626922" y="2039811"/>
            <a:ext cx="1" cy="2638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ED2A9BA-DF12-48CE-A89D-16001C1FCB9C}"/>
              </a:ext>
            </a:extLst>
          </p:cNvPr>
          <p:cNvSpPr txBox="1"/>
          <p:nvPr/>
        </p:nvSpPr>
        <p:spPr>
          <a:xfrm>
            <a:off x="1339912" y="5774580"/>
            <a:ext cx="10578707" cy="6924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수치한정한 범위 전체</a:t>
            </a:r>
            <a:r>
              <a:rPr lang="en-US" altLang="ko-KR" sz="1300" dirty="0">
                <a:solidFill>
                  <a:srgbClr val="FF0000"/>
                </a:solidFill>
                <a:highlight>
                  <a:srgbClr val="FFFF00"/>
                </a:highlight>
              </a:rPr>
              <a:t>(D2)</a:t>
            </a:r>
            <a:r>
              <a:rPr lang="ko-KR" altLang="en-US" sz="1300" dirty="0">
                <a:solidFill>
                  <a:schemeClr val="tx2"/>
                </a:solidFill>
              </a:rPr>
              <a:t>에서 이질적이거나 양적으로 현저한 효과가 있어야 한다는 점이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출원 명세서에 당해 기술 분야에서 </a:t>
            </a:r>
            <a:r>
              <a:rPr lang="ko-KR" altLang="en-US" sz="1300" dirty="0">
                <a:solidFill>
                  <a:srgbClr val="FF0000"/>
                </a:solidFill>
              </a:rPr>
              <a:t>통상의 지식을 가진 자가 명세서 기재 자체를 통하여 인식할 수 있을 정도로 기재되어 있지 않은 이상 추후 실험자료에 의하여 인정되거나 확인되는 수치한정의 기술적 의의를 가지고서 당해 수치한정 발명의 진보성 여부를 판단할 수는 없다</a:t>
            </a:r>
            <a:r>
              <a:rPr lang="en-US" altLang="ko-KR" sz="1300" dirty="0">
                <a:solidFill>
                  <a:srgbClr val="FF0000"/>
                </a:solidFill>
              </a:rPr>
              <a:t>(</a:t>
            </a:r>
            <a:r>
              <a:rPr lang="ko-KR" altLang="en-US" sz="1300" dirty="0">
                <a:solidFill>
                  <a:srgbClr val="FF0000"/>
                </a:solidFill>
              </a:rPr>
              <a:t>특허법원 </a:t>
            </a:r>
            <a:r>
              <a:rPr lang="en-US" altLang="ko-KR" sz="1300" dirty="0">
                <a:solidFill>
                  <a:srgbClr val="FF0000"/>
                </a:solidFill>
              </a:rPr>
              <a:t>2009. 5. 22. </a:t>
            </a:r>
            <a:r>
              <a:rPr lang="ko-KR" altLang="en-US" sz="1300" dirty="0">
                <a:solidFill>
                  <a:srgbClr val="FF0000"/>
                </a:solidFill>
              </a:rPr>
              <a:t>선고 </a:t>
            </a:r>
            <a:r>
              <a:rPr lang="en-US" altLang="ko-KR" sz="1300" dirty="0">
                <a:solidFill>
                  <a:srgbClr val="FF0000"/>
                </a:solidFill>
              </a:rPr>
              <a:t>2008</a:t>
            </a:r>
            <a:r>
              <a:rPr lang="ko-KR" altLang="en-US" sz="1300" dirty="0">
                <a:solidFill>
                  <a:srgbClr val="FF0000"/>
                </a:solidFill>
              </a:rPr>
              <a:t>허</a:t>
            </a:r>
            <a:r>
              <a:rPr lang="en-US" altLang="ko-KR" sz="1300" dirty="0">
                <a:solidFill>
                  <a:srgbClr val="FF0000"/>
                </a:solidFill>
              </a:rPr>
              <a:t>1722).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4EBC7EAF-15EE-25F6-2849-508D11871332}"/>
              </a:ext>
            </a:extLst>
          </p:cNvPr>
          <p:cNvCxnSpPr>
            <a:cxnSpLocks/>
            <a:stCxn id="67" idx="3"/>
            <a:endCxn id="47" idx="1"/>
          </p:cNvCxnSpPr>
          <p:nvPr/>
        </p:nvCxnSpPr>
        <p:spPr>
          <a:xfrm>
            <a:off x="1165932" y="5286391"/>
            <a:ext cx="173980" cy="83443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70F6DF0-62DD-4470-3B01-2756C6735E45}"/>
              </a:ext>
            </a:extLst>
          </p:cNvPr>
          <p:cNvSpPr/>
          <p:nvPr/>
        </p:nvSpPr>
        <p:spPr>
          <a:xfrm>
            <a:off x="8467109" y="1328247"/>
            <a:ext cx="1670331" cy="317582"/>
          </a:xfrm>
          <a:prstGeom prst="wedgeRoundRectCallout">
            <a:avLst>
              <a:gd name="adj1" fmla="val -36931"/>
              <a:gd name="adj2" fmla="val 1048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진보성이 있는 구성요소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09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파라미터발명의</a:t>
            </a:r>
            <a:r>
              <a:rPr lang="ko-KR" altLang="en-US" dirty="0"/>
              <a:t> 신규성</a:t>
            </a:r>
            <a:r>
              <a:rPr lang="en-US" altLang="ko-KR" dirty="0"/>
              <a:t>, </a:t>
            </a:r>
            <a:r>
              <a:rPr lang="ko-KR" altLang="en-US" dirty="0"/>
              <a:t>진보성 판단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78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339913" y="2666897"/>
            <a:ext cx="10578707" cy="12926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rgbClr val="FF0000"/>
                </a:solidFill>
              </a:rPr>
              <a:t>새롭게 창출한 물리적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화학적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생물학적 특성 값을 이용하거나 복수의 변수 사이의 상관관계를 이용하여 발명의 구성요소를 특정한 이른바 ‘파라미터 </a:t>
            </a:r>
            <a:r>
              <a:rPr lang="ko-KR" altLang="en-US" sz="1300" dirty="0" err="1">
                <a:solidFill>
                  <a:srgbClr val="FF0000"/>
                </a:solidFill>
              </a:rPr>
              <a:t>발명’</a:t>
            </a:r>
            <a:r>
              <a:rPr lang="ko-KR" altLang="en-US" sz="1300" dirty="0" err="1">
                <a:solidFill>
                  <a:schemeClr val="tx2"/>
                </a:solidFill>
              </a:rPr>
              <a:t>과</a:t>
            </a:r>
            <a:r>
              <a:rPr lang="ko-KR" altLang="en-US" sz="1300" dirty="0">
                <a:solidFill>
                  <a:schemeClr val="tx2"/>
                </a:solidFill>
              </a:rPr>
              <a:t> 이와 다른 성질 또는 특성 등에 의해 물건 또는 방법을 특정하고 있는 선행발명을 대비할 때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특허발명의 청구범위에 기재된 성질 또는 특성이 다른 정의 또는 시험</a:t>
            </a:r>
            <a:r>
              <a:rPr lang="en-US" altLang="ko-KR" sz="1300" dirty="0">
                <a:solidFill>
                  <a:srgbClr val="FF0000"/>
                </a:solidFill>
              </a:rPr>
              <a:t>·</a:t>
            </a:r>
            <a:r>
              <a:rPr lang="ko-KR" altLang="en-US" sz="1300" dirty="0">
                <a:solidFill>
                  <a:srgbClr val="FF0000"/>
                </a:solidFill>
              </a:rPr>
              <a:t>측정방법에 의한 것으로 환산이 가능하여 환산해 본 결과 선행발명의 대응되는 것과 동일하거나 또는 특허발명의 명세서의 상세한 설명에 기재된 실시형태와 선행발명의 구체적 실시형태가 동일한 경우에는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달리 특별한 사정이 없는 한 </a:t>
            </a:r>
            <a:r>
              <a:rPr lang="ko-KR" altLang="en-US" sz="1300" dirty="0">
                <a:solidFill>
                  <a:schemeClr val="tx2"/>
                </a:solidFill>
              </a:rPr>
              <a:t>양 발명은 발명에 대한 기술적인 표현만 달리할 뿐 실질적으로는 동일한 것으로 보아야 할 것이므로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이러한 특허발명은 신규성이 부정된다</a:t>
            </a:r>
            <a:r>
              <a:rPr lang="en-US" altLang="ko-KR" sz="1300" dirty="0">
                <a:solidFill>
                  <a:schemeClr val="tx2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반면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위와 같은 방법 등을 통하여 양 발명이 실질적으로 동일하다는 점이 증명되지 않으면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신규성이 부정된다고 할 수 없다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2021. 12. 30.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2017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1298 </a:t>
            </a:r>
            <a:r>
              <a:rPr lang="ko-KR" altLang="en-US" sz="1300" dirty="0">
                <a:solidFill>
                  <a:schemeClr val="tx2"/>
                </a:solidFill>
              </a:rPr>
              <a:t>판결</a:t>
            </a:r>
            <a:r>
              <a:rPr lang="en-US" altLang="ko-KR" sz="1300" dirty="0">
                <a:solidFill>
                  <a:schemeClr val="tx2"/>
                </a:solidFill>
              </a:rPr>
              <a:t>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E5BD75-FE62-410E-BBE2-0BD79FB081E7}"/>
              </a:ext>
            </a:extLst>
          </p:cNvPr>
          <p:cNvSpPr/>
          <p:nvPr/>
        </p:nvSpPr>
        <p:spPr>
          <a:xfrm>
            <a:off x="273381" y="2670812"/>
            <a:ext cx="892552" cy="8925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신규성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DECC240-A040-4630-9423-C918FB652AAA}"/>
              </a:ext>
            </a:extLst>
          </p:cNvPr>
          <p:cNvSpPr/>
          <p:nvPr/>
        </p:nvSpPr>
        <p:spPr>
          <a:xfrm>
            <a:off x="273380" y="3961119"/>
            <a:ext cx="892552" cy="89255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진보성</a:t>
            </a:r>
            <a:endParaRPr lang="en-US" altLang="ko-KR" dirty="0"/>
          </a:p>
          <a:p>
            <a:pPr algn="ctr"/>
            <a:r>
              <a:rPr lang="ko-KR" altLang="en-US" dirty="0"/>
              <a:t>요건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997D670-A28A-4943-A0B4-CEFB3EC541E0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>
            <a:off x="1165933" y="3117088"/>
            <a:ext cx="173980" cy="1961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5C208C6-C8B4-4480-9979-D91AB9BFDED1}"/>
              </a:ext>
            </a:extLst>
          </p:cNvPr>
          <p:cNvSpPr txBox="1"/>
          <p:nvPr/>
        </p:nvSpPr>
        <p:spPr>
          <a:xfrm>
            <a:off x="1339913" y="4101998"/>
            <a:ext cx="10578707" cy="10926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300" dirty="0">
                <a:solidFill>
                  <a:schemeClr val="tx2"/>
                </a:solidFill>
              </a:rPr>
              <a:t>파라미터 발명이 공지된 발명과 파라미터에 의해 한정된 구성에서만 차이가 있는 경우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발명의 명세서 기재 및 출원 당시 통상의 기술자의 기술 수준을 종합하여 보았을 때 파라미터가 공지된 발명과는 </a:t>
            </a:r>
            <a:r>
              <a:rPr lang="ko-KR" altLang="en-US" sz="1300" dirty="0">
                <a:solidFill>
                  <a:srgbClr val="FF0000"/>
                </a:solidFill>
              </a:rPr>
              <a:t>상이한 과제를 해결하기 위한 </a:t>
            </a:r>
            <a:r>
              <a:rPr lang="ko-KR" altLang="en-US" sz="1300" dirty="0" err="1">
                <a:solidFill>
                  <a:srgbClr val="FF0000"/>
                </a:solidFill>
              </a:rPr>
              <a:t>기술수단으로서의</a:t>
            </a:r>
            <a:r>
              <a:rPr lang="ko-KR" altLang="en-US" sz="1300" dirty="0">
                <a:solidFill>
                  <a:srgbClr val="FF0000"/>
                </a:solidFill>
              </a:rPr>
              <a:t> 의의를 가지고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그로 인해 특유한 효과를 갖는다고 인정되는 경우</a:t>
            </a:r>
            <a:r>
              <a:rPr lang="ko-KR" altLang="en-US" sz="1300" dirty="0">
                <a:solidFill>
                  <a:schemeClr val="tx2"/>
                </a:solidFill>
              </a:rPr>
              <a:t>에는 진보성이 부정되지 않는다</a:t>
            </a:r>
            <a:r>
              <a:rPr lang="en-US" altLang="ko-KR" sz="1300" dirty="0">
                <a:solidFill>
                  <a:schemeClr val="tx2"/>
                </a:solidFill>
              </a:rPr>
              <a:t>. </a:t>
            </a:r>
            <a:r>
              <a:rPr lang="ko-KR" altLang="en-US" sz="1300" dirty="0">
                <a:solidFill>
                  <a:schemeClr val="tx2"/>
                </a:solidFill>
              </a:rPr>
              <a:t>한편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파라미터의 도입 자체에 대하여는 위와 같은 기술적 의의를 인정할 수 없더라도 </a:t>
            </a:r>
            <a:r>
              <a:rPr lang="ko-KR" altLang="en-US" sz="1300" dirty="0">
                <a:solidFill>
                  <a:srgbClr val="FF0000"/>
                </a:solidFill>
              </a:rPr>
              <a:t>발명이 새롭게 도입한 파라미터를 수치로 한정하는 형태를 취하고 있는 경우에는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한정된 수치범위 내외에서 현저한 효과의 차이가 생기거나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그 수치한정이 공지된 발명과는 상이한 과제를 달성하기 위한 </a:t>
            </a:r>
            <a:r>
              <a:rPr lang="ko-KR" altLang="en-US" sz="1300" dirty="0" err="1">
                <a:solidFill>
                  <a:srgbClr val="FF0000"/>
                </a:solidFill>
              </a:rPr>
              <a:t>기술수단으로서의</a:t>
            </a:r>
            <a:r>
              <a:rPr lang="ko-KR" altLang="en-US" sz="1300" dirty="0">
                <a:solidFill>
                  <a:srgbClr val="FF0000"/>
                </a:solidFill>
              </a:rPr>
              <a:t> 의의를 가지고 그 효과도 이질적인 경우라면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진보성이 부정되지 않는다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대법원 </a:t>
            </a:r>
            <a:r>
              <a:rPr lang="en-US" altLang="ko-KR" sz="1300" dirty="0">
                <a:solidFill>
                  <a:schemeClr val="tx2"/>
                </a:solidFill>
              </a:rPr>
              <a:t>2021. 12. 30. </a:t>
            </a:r>
            <a:r>
              <a:rPr lang="ko-KR" altLang="en-US" sz="1300" dirty="0">
                <a:solidFill>
                  <a:schemeClr val="tx2"/>
                </a:solidFill>
              </a:rPr>
              <a:t>선고 </a:t>
            </a:r>
            <a:r>
              <a:rPr lang="en-US" altLang="ko-KR" sz="1300" dirty="0">
                <a:solidFill>
                  <a:schemeClr val="tx2"/>
                </a:solidFill>
              </a:rPr>
              <a:t>2017</a:t>
            </a:r>
            <a:r>
              <a:rPr lang="ko-KR" altLang="en-US" sz="1300" dirty="0">
                <a:solidFill>
                  <a:schemeClr val="tx2"/>
                </a:solidFill>
              </a:rPr>
              <a:t>후</a:t>
            </a:r>
            <a:r>
              <a:rPr lang="en-US" altLang="ko-KR" sz="1300" dirty="0">
                <a:solidFill>
                  <a:schemeClr val="tx2"/>
                </a:solidFill>
              </a:rPr>
              <a:t>1298 </a:t>
            </a:r>
            <a:r>
              <a:rPr lang="ko-KR" altLang="en-US" sz="1300" dirty="0">
                <a:solidFill>
                  <a:schemeClr val="tx2"/>
                </a:solidFill>
              </a:rPr>
              <a:t>판결</a:t>
            </a:r>
            <a:r>
              <a:rPr lang="en-US" altLang="ko-KR" sz="1300" dirty="0">
                <a:solidFill>
                  <a:schemeClr val="tx2"/>
                </a:solidFill>
              </a:rPr>
              <a:t>).</a:t>
            </a:r>
            <a:endParaRPr lang="ko-KR" altLang="en-US" sz="1300" dirty="0">
              <a:solidFill>
                <a:schemeClr val="tx2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DB60878-6ABA-4DEA-9778-F57B55800A62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>
            <a:off x="1165932" y="4407395"/>
            <a:ext cx="173981" cy="240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ine 5">
            <a:extLst>
              <a:ext uri="{FF2B5EF4-FFF2-40B4-BE49-F238E27FC236}">
                <a16:creationId xmlns:a16="http://schemas.microsoft.com/office/drawing/2014/main" id="{79818389-E90F-472B-8D0A-77A41819F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337" y="2287446"/>
            <a:ext cx="1152328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F48D8BA-8C9A-4814-A7D5-381B1B18ED5C}"/>
              </a:ext>
            </a:extLst>
          </p:cNvPr>
          <p:cNvSpPr/>
          <p:nvPr/>
        </p:nvSpPr>
        <p:spPr>
          <a:xfrm>
            <a:off x="1958674" y="220505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165F994-8C67-420E-A6D8-006A081122E9}"/>
              </a:ext>
            </a:extLst>
          </p:cNvPr>
          <p:cNvSpPr/>
          <p:nvPr/>
        </p:nvSpPr>
        <p:spPr>
          <a:xfrm>
            <a:off x="7039382" y="2205058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B6D2C57-74E3-4442-AE1B-EC2DFACB6056}"/>
              </a:ext>
            </a:extLst>
          </p:cNvPr>
          <p:cNvCxnSpPr>
            <a:cxnSpLocks/>
            <a:stCxn id="34" idx="2"/>
            <a:endCxn id="31" idx="0"/>
          </p:cNvCxnSpPr>
          <p:nvPr/>
        </p:nvCxnSpPr>
        <p:spPr>
          <a:xfrm>
            <a:off x="7116751" y="1939012"/>
            <a:ext cx="0" cy="2660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8002E2F-4C9B-4400-8E46-60F6AB8A23BE}"/>
              </a:ext>
            </a:extLst>
          </p:cNvPr>
          <p:cNvSpPr txBox="1"/>
          <p:nvPr/>
        </p:nvSpPr>
        <p:spPr>
          <a:xfrm>
            <a:off x="3659448" y="1472503"/>
            <a:ext cx="6914606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단부와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최외부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사이의 거리는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평균 막 두께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배 이상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10,000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배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이하인 것을 특징으로 하는 복합구조물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B12C08-BAB3-47A7-AC67-67BE1CE236C6}"/>
              </a:ext>
            </a:extLst>
          </p:cNvPr>
          <p:cNvSpPr txBox="1"/>
          <p:nvPr/>
        </p:nvSpPr>
        <p:spPr>
          <a:xfrm>
            <a:off x="978739" y="1485397"/>
            <a:ext cx="2114608" cy="455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복합구조물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DC0D733-FF9B-495C-B246-C3EFB589230F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036043" y="1941196"/>
            <a:ext cx="10557" cy="2638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8B7F0C7-2622-4D42-8801-7194CC3AC437}"/>
              </a:ext>
            </a:extLst>
          </p:cNvPr>
          <p:cNvSpPr txBox="1"/>
          <p:nvPr/>
        </p:nvSpPr>
        <p:spPr>
          <a:xfrm>
            <a:off x="1339911" y="5194605"/>
            <a:ext cx="10578707" cy="1034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85725" algn="l"/>
                <a:tab pos="320675" algn="l"/>
                <a:tab pos="320675" algn="l"/>
              </a:tabLst>
            </a:pP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*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분석기기 등의 발달로 인해 특정 파라미터를 발견해 내기 용이하게 되어 파라미터 발명의 출원이 증가함</a:t>
            </a:r>
            <a:endParaRPr lang="en-US" altLang="ko-KR" sz="1200" kern="0" spc="-30" dirty="0">
              <a:solidFill>
                <a:schemeClr val="tx2"/>
              </a:solidFill>
              <a:effectLst/>
              <a:latin typeface="+mn-ea"/>
            </a:endParaRPr>
          </a:p>
          <a:p>
            <a:pPr marL="85725" marR="0" indent="-85725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85725" algn="l"/>
                <a:tab pos="320675" algn="l"/>
                <a:tab pos="320675" algn="l"/>
              </a:tabLst>
            </a:pP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*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파라미터 발명은 물질의 구조를 특정하여 청구범위를 기재하는 것이 아니라</a:t>
            </a: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,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그 물질이 갖는 물성이나 특성에 대한 파라미터를 사용하여 청구범위가 특정되므로 권리범위를 넓게 설정할 수 있고</a:t>
            </a: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,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권리침해의 주장 및 증명이 쉬움</a:t>
            </a:r>
            <a:endParaRPr lang="en-US" altLang="ko-KR" sz="1200" kern="0" spc="-30" dirty="0">
              <a:solidFill>
                <a:schemeClr val="tx2"/>
              </a:solidFill>
              <a:effectLst/>
              <a:latin typeface="+mn-ea"/>
            </a:endParaRPr>
          </a:p>
          <a:p>
            <a:pPr marR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85725" algn="l"/>
                <a:tab pos="320675" algn="l"/>
                <a:tab pos="320675" algn="l"/>
              </a:tabLst>
            </a:pP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*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또한</a:t>
            </a:r>
            <a:r>
              <a:rPr lang="en-US" altLang="ko-KR" sz="1200" kern="0" spc="-30" dirty="0">
                <a:solidFill>
                  <a:schemeClr val="tx2"/>
                </a:solidFill>
                <a:effectLst/>
                <a:latin typeface="+mn-ea"/>
              </a:rPr>
              <a:t>, </a:t>
            </a:r>
            <a:r>
              <a:rPr lang="ko-KR" altLang="en-US" sz="1200" kern="0" spc="-30" dirty="0">
                <a:solidFill>
                  <a:schemeClr val="tx2"/>
                </a:solidFill>
                <a:effectLst/>
                <a:latin typeface="+mn-ea"/>
              </a:rPr>
              <a:t>새로이 창작된 파라미터를 이용하는 경우 그 파라미터에 대응되는 선행기술을 찾고 확인하기 어렵기 때문에 현실적으로 등록가능성이 높음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8C2DDAD-3305-23C2-DCD4-31F4CC19AA03}"/>
              </a:ext>
            </a:extLst>
          </p:cNvPr>
          <p:cNvSpPr/>
          <p:nvPr/>
        </p:nvSpPr>
        <p:spPr>
          <a:xfrm>
            <a:off x="7463061" y="1057835"/>
            <a:ext cx="909974" cy="317582"/>
          </a:xfrm>
          <a:prstGeom prst="wedgeRoundRectCallout">
            <a:avLst>
              <a:gd name="adj1" fmla="val -36931"/>
              <a:gd name="adj2" fmla="val 1048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수치한정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825BE50C-4C88-7CFE-7B8A-DAE08C986910}"/>
              </a:ext>
            </a:extLst>
          </p:cNvPr>
          <p:cNvSpPr/>
          <p:nvPr/>
        </p:nvSpPr>
        <p:spPr>
          <a:xfrm>
            <a:off x="4441955" y="1057835"/>
            <a:ext cx="909974" cy="317582"/>
          </a:xfrm>
          <a:prstGeom prst="wedgeRoundRectCallout">
            <a:avLst>
              <a:gd name="adj1" fmla="val -36931"/>
              <a:gd name="adj2" fmla="val 10484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파라미터</a:t>
            </a:r>
          </a:p>
        </p:txBody>
      </p:sp>
    </p:spTree>
    <p:extLst>
      <p:ext uri="{BB962C8B-B14F-4D97-AF65-F5344CB8AC3E}">
        <p14:creationId xmlns:p14="http://schemas.microsoft.com/office/powerpoint/2010/main" val="1752457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자유형 163"/>
          <p:cNvSpPr/>
          <p:nvPr/>
        </p:nvSpPr>
        <p:spPr>
          <a:xfrm>
            <a:off x="7387119" y="3164440"/>
            <a:ext cx="4130211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공지기술의 지위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국내외에서 공지된 후부터 공지기술의 지위가 인정</a:t>
            </a:r>
            <a:r>
              <a:rPr lang="ko-KR" altLang="en-US" sz="1400" dirty="0"/>
              <a:t>되어 이와 동일한 발명은 </a:t>
            </a:r>
            <a:r>
              <a:rPr lang="ko-KR" altLang="en-US" sz="1400" dirty="0" err="1"/>
              <a:t>신규성</a:t>
            </a:r>
            <a:r>
              <a:rPr lang="en-US" altLang="ko-KR" sz="1400" dirty="0"/>
              <a:t> </a:t>
            </a:r>
            <a:r>
              <a:rPr lang="ko-KR" altLang="en-US" sz="1400" dirty="0"/>
              <a:t>위반으로</a:t>
            </a:r>
            <a:r>
              <a:rPr lang="en-US" altLang="ko-KR" sz="1400" dirty="0"/>
              <a:t>, </a:t>
            </a:r>
            <a:r>
              <a:rPr lang="ko-KR" altLang="en-US" sz="1400" dirty="0"/>
              <a:t>이로부터 용이한 발명은 진보성 위반으로 특허를 받을 수 없게 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129619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 21"/>
          <p:cNvSpPr/>
          <p:nvPr/>
        </p:nvSpPr>
        <p:spPr>
          <a:xfrm>
            <a:off x="922113" y="3205999"/>
            <a:ext cx="3913707" cy="503258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smGrid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23" name="직선 연결선 22"/>
          <p:cNvCxnSpPr/>
          <p:nvPr/>
        </p:nvCxnSpPr>
        <p:spPr>
          <a:xfrm>
            <a:off x="913176" y="3728090"/>
            <a:ext cx="455098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136095" y="3564181"/>
            <a:ext cx="1318015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특허출원일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>
            <a:stCxn id="24" idx="2"/>
            <a:endCxn id="27" idx="0"/>
          </p:cNvCxnSpPr>
          <p:nvPr/>
        </p:nvCxnSpPr>
        <p:spPr>
          <a:xfrm>
            <a:off x="4795103" y="3891998"/>
            <a:ext cx="11142" cy="4360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51429" y="4328081"/>
            <a:ext cx="17096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특허출원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8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4033837" y="3944053"/>
            <a:ext cx="20451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2252" y="3944053"/>
            <a:ext cx="24715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24</a:t>
            </a:r>
            <a:r>
              <a:rPr lang="ko-KR" altLang="en-US" sz="1200" dirty="0"/>
              <a:t>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4584" y="3944053"/>
            <a:ext cx="24715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14</a:t>
            </a:r>
            <a:r>
              <a:rPr lang="ko-KR" altLang="en-US" sz="1200" dirty="0"/>
              <a:t>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8854" y="2872656"/>
            <a:ext cx="584261" cy="2563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특허출원 전</a:t>
            </a:r>
          </a:p>
        </p:txBody>
      </p:sp>
      <p:cxnSp>
        <p:nvCxnSpPr>
          <p:cNvPr id="32" name="직선 연결선 31"/>
          <p:cNvCxnSpPr/>
          <p:nvPr/>
        </p:nvCxnSpPr>
        <p:spPr>
          <a:xfrm>
            <a:off x="1363948" y="3768599"/>
            <a:ext cx="1" cy="6135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9017" y="4001095"/>
            <a:ext cx="183184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국내외 공지기술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5</a:t>
            </a:r>
            <a:r>
              <a:rPr lang="ko-KR" altLang="en-US" sz="1200" dirty="0"/>
              <a:t>일 </a:t>
            </a:r>
            <a:r>
              <a:rPr lang="en-US" altLang="ko-KR" sz="1200" dirty="0"/>
              <a:t>10</a:t>
            </a:r>
            <a:r>
              <a:rPr lang="ko-KR" altLang="en-US" sz="1200" dirty="0"/>
              <a:t>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825003" y="2978349"/>
            <a:ext cx="101986" cy="836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41" name="직선 연결선 140"/>
          <p:cNvCxnSpPr/>
          <p:nvPr/>
        </p:nvCxnSpPr>
        <p:spPr>
          <a:xfrm>
            <a:off x="6046036" y="1556911"/>
            <a:ext cx="0" cy="51062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>
            <a:off x="7067396" y="3728090"/>
            <a:ext cx="455098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10988804" y="3768599"/>
            <a:ext cx="1" cy="6135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136471" y="4173971"/>
            <a:ext cx="17096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특허출원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8</a:t>
            </a:r>
            <a:r>
              <a:rPr lang="ko-KR" altLang="en-US" sz="1200" dirty="0"/>
              <a:t>일 </a:t>
            </a:r>
            <a:r>
              <a:rPr lang="en-US" altLang="ko-KR" sz="1200" dirty="0"/>
              <a:t>14</a:t>
            </a:r>
            <a:r>
              <a:rPr lang="ko-KR" altLang="en-US" sz="1200" dirty="0"/>
              <a:t>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51" name="TextBox 150"/>
          <p:cNvSpPr txBox="1"/>
          <p:nvPr/>
        </p:nvSpPr>
        <p:spPr>
          <a:xfrm>
            <a:off x="8683074" y="2821286"/>
            <a:ext cx="79541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공지 후</a:t>
            </a:r>
          </a:p>
        </p:txBody>
      </p:sp>
      <p:cxnSp>
        <p:nvCxnSpPr>
          <p:cNvPr id="152" name="직선 연결선 151"/>
          <p:cNvCxnSpPr>
            <a:stCxn id="155" idx="2"/>
            <a:endCxn id="153" idx="0"/>
          </p:cNvCxnSpPr>
          <p:nvPr/>
        </p:nvCxnSpPr>
        <p:spPr>
          <a:xfrm>
            <a:off x="7497212" y="3891998"/>
            <a:ext cx="1398" cy="6638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582689" y="4555891"/>
            <a:ext cx="183184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국내외 공지기술</a:t>
            </a:r>
            <a:endParaRPr lang="en-US" altLang="ko-KR" sz="1600" dirty="0"/>
          </a:p>
          <a:p>
            <a:pPr algn="ctr"/>
            <a:r>
              <a:rPr lang="en-US" altLang="ko-KR" sz="1200" dirty="0"/>
              <a:t>(2017</a:t>
            </a:r>
            <a:r>
              <a:rPr lang="ko-KR" altLang="en-US" sz="1200" dirty="0"/>
              <a:t>년 </a:t>
            </a:r>
            <a:r>
              <a:rPr lang="en-US" altLang="ko-KR" sz="1200" dirty="0"/>
              <a:t>4</a:t>
            </a:r>
            <a:r>
              <a:rPr lang="ko-KR" altLang="en-US" sz="1200" dirty="0"/>
              <a:t>월 </a:t>
            </a:r>
            <a:r>
              <a:rPr lang="en-US" altLang="ko-KR" sz="1200" dirty="0"/>
              <a:t>5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55" name="직사각형 154"/>
          <p:cNvSpPr/>
          <p:nvPr/>
        </p:nvSpPr>
        <p:spPr>
          <a:xfrm>
            <a:off x="6838204" y="3564181"/>
            <a:ext cx="1318015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공지일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35946" y="3944053"/>
            <a:ext cx="20451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시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054361" y="3944053"/>
            <a:ext cx="247156" cy="209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24</a:t>
            </a:r>
            <a:r>
              <a:rPr lang="ko-KR" altLang="en-US" sz="1200" dirty="0"/>
              <a:t>시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536693" y="394405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</a:t>
            </a:r>
            <a:r>
              <a:rPr lang="ko-KR" altLang="en-US" sz="1200" dirty="0"/>
              <a:t>시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11517330" y="3195262"/>
            <a:ext cx="101054" cy="472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221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자유형 163"/>
          <p:cNvSpPr/>
          <p:nvPr/>
        </p:nvSpPr>
        <p:spPr>
          <a:xfrm>
            <a:off x="316446" y="3552836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4" name="도넛 43"/>
          <p:cNvSpPr/>
          <p:nvPr/>
        </p:nvSpPr>
        <p:spPr>
          <a:xfrm>
            <a:off x="1722159" y="2989780"/>
            <a:ext cx="856654" cy="825047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선출원의</a:t>
            </a:r>
            <a:r>
              <a:rPr lang="ko-KR" altLang="en-US" dirty="0"/>
              <a:t> 지위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선출원주의에서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선후출원의 판단은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선출원의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지위가 있음을 전제</a:t>
            </a:r>
            <a:r>
              <a:rPr lang="ko-KR" altLang="en-US" sz="1400" dirty="0">
                <a:solidFill>
                  <a:schemeClr val="tx2"/>
                </a:solidFill>
              </a:rPr>
              <a:t>로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甲이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발명을 먼저 출원하고 乙이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발명을 나중에 출원했다고 하더라도 甲의 출원이 무효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 등으로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없어졌다면 乙의 출원은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선출원주의에</a:t>
            </a:r>
            <a:r>
              <a:rPr lang="ko-KR" altLang="en-US" sz="1400" dirty="0">
                <a:solidFill>
                  <a:schemeClr val="tx2"/>
                </a:solidFill>
              </a:rPr>
              <a:t> 위반되지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특허출원 또는 실용신안등록출원이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무효ㆍ취하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또는 포기되거나 특허거절결정이나 거절한다는 취지의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심결이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확정된 경우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ⅱ)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발명자 또는 고안자가 아닌 자로서 특허를 받을 수 있는 권리 또는 실용신안등록을 받을 수 있는 권리의 승계인이 아닌 자가 한 특허출원 또는 실용신안등록출원</a:t>
            </a:r>
            <a:r>
              <a:rPr lang="ko-KR" altLang="en-US" sz="1400" dirty="0">
                <a:solidFill>
                  <a:schemeClr val="tx2"/>
                </a:solidFill>
              </a:rPr>
              <a:t>의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36④⑤). </a:t>
            </a:r>
            <a:r>
              <a:rPr lang="ko-KR" altLang="en-US" sz="1400" dirty="0">
                <a:solidFill>
                  <a:schemeClr val="tx2"/>
                </a:solidFill>
              </a:rPr>
              <a:t>그러나 </a:t>
            </a:r>
            <a:r>
              <a:rPr lang="ko-KR" altLang="en-US" sz="1400" dirty="0" err="1">
                <a:solidFill>
                  <a:schemeClr val="tx2"/>
                </a:solidFill>
              </a:rPr>
              <a:t>동일자</a:t>
            </a:r>
            <a:r>
              <a:rPr lang="ko-KR" altLang="en-US" sz="1400" dirty="0">
                <a:solidFill>
                  <a:schemeClr val="tx2"/>
                </a:solidFill>
              </a:rPr>
              <a:t> 출원에 대하여 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 err="1">
                <a:solidFill>
                  <a:schemeClr val="tx2"/>
                </a:solidFill>
              </a:rPr>
              <a:t>항단서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따른 협의 </a:t>
            </a:r>
            <a:r>
              <a:rPr lang="ko-KR" altLang="en-US" sz="1400" dirty="0" err="1">
                <a:solidFill>
                  <a:schemeClr val="tx2"/>
                </a:solidFill>
              </a:rPr>
              <a:t>불성립</a:t>
            </a:r>
            <a:r>
              <a:rPr lang="ko-KR" altLang="en-US" sz="1400" dirty="0">
                <a:solidFill>
                  <a:schemeClr val="tx2"/>
                </a:solidFill>
              </a:rPr>
              <a:t> 등으로 특허거절결정이나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인정된다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36④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3535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3569970" y="2640458"/>
            <a:ext cx="0" cy="40227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>
            <a:stCxn id="164" idx="0"/>
          </p:cNvCxnSpPr>
          <p:nvPr/>
        </p:nvCxnSpPr>
        <p:spPr>
          <a:xfrm>
            <a:off x="316446" y="4117915"/>
            <a:ext cx="30518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479171" y="3244654"/>
            <a:ext cx="14141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 </a:t>
            </a:r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cxnSp>
        <p:nvCxnSpPr>
          <p:cNvPr id="152" name="직선 연결선 151"/>
          <p:cNvCxnSpPr>
            <a:stCxn id="155" idx="2"/>
            <a:endCxn id="153" idx="0"/>
          </p:cNvCxnSpPr>
          <p:nvPr/>
        </p:nvCxnSpPr>
        <p:spPr>
          <a:xfrm>
            <a:off x="1229440" y="4259846"/>
            <a:ext cx="9427" cy="6638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758849" y="4923739"/>
            <a:ext cx="96003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sp>
        <p:nvSpPr>
          <p:cNvPr id="155" name="직사각형 154"/>
          <p:cNvSpPr/>
          <p:nvPr/>
        </p:nvSpPr>
        <p:spPr>
          <a:xfrm>
            <a:off x="403729" y="3932029"/>
            <a:ext cx="1651422" cy="327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특허출원일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96231" y="4311901"/>
            <a:ext cx="3898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0</a:t>
            </a:r>
            <a:r>
              <a:rPr lang="ko-KR" altLang="en-US" sz="1100" dirty="0"/>
              <a:t>시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897413" y="4311901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24</a:t>
            </a:r>
            <a:r>
              <a:rPr lang="ko-KR" altLang="en-US" sz="1100" dirty="0"/>
              <a:t>시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09491" y="4311901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12</a:t>
            </a:r>
            <a:r>
              <a:rPr lang="ko-KR" altLang="en-US" sz="1100" dirty="0"/>
              <a:t>시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3043948" y="3552836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6" name="그룹 35"/>
          <p:cNvGrpSpPr/>
          <p:nvPr/>
        </p:nvGrpSpPr>
        <p:grpSpPr>
          <a:xfrm>
            <a:off x="759363" y="5306205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37" name="직사각형 36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297950" y="3819964"/>
            <a:ext cx="98281" cy="46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5" name="자유형 44"/>
          <p:cNvSpPr/>
          <p:nvPr/>
        </p:nvSpPr>
        <p:spPr>
          <a:xfrm>
            <a:off x="4324965" y="356803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46" name="직선 연결선 45"/>
          <p:cNvCxnSpPr>
            <a:stCxn id="45" idx="0"/>
          </p:cNvCxnSpPr>
          <p:nvPr/>
        </p:nvCxnSpPr>
        <p:spPr>
          <a:xfrm>
            <a:off x="4324965" y="4133111"/>
            <a:ext cx="30518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>
            <a:endCxn id="49" idx="0"/>
          </p:cNvCxnSpPr>
          <p:nvPr/>
        </p:nvCxnSpPr>
        <p:spPr>
          <a:xfrm>
            <a:off x="4331836" y="4133111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67044" y="4435509"/>
            <a:ext cx="92958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sp>
        <p:nvSpPr>
          <p:cNvPr id="54" name="직사각형 53"/>
          <p:cNvSpPr/>
          <p:nvPr/>
        </p:nvSpPr>
        <p:spPr>
          <a:xfrm>
            <a:off x="7093563" y="356803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grpSp>
        <p:nvGrpSpPr>
          <p:cNvPr id="55" name="그룹 54"/>
          <p:cNvGrpSpPr/>
          <p:nvPr/>
        </p:nvGrpSpPr>
        <p:grpSpPr>
          <a:xfrm>
            <a:off x="3867602" y="4817975"/>
            <a:ext cx="932256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56" name="직사각형 5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직선 연결선 64"/>
          <p:cNvCxnSpPr>
            <a:endCxn id="66" idx="0"/>
          </p:cNvCxnSpPr>
          <p:nvPr/>
        </p:nvCxnSpPr>
        <p:spPr>
          <a:xfrm>
            <a:off x="5492183" y="4133111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05681" y="4435509"/>
            <a:ext cx="77300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취하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cxnSp>
        <p:nvCxnSpPr>
          <p:cNvPr id="71" name="직선 연결선 70"/>
          <p:cNvCxnSpPr>
            <a:endCxn id="72" idx="0"/>
          </p:cNvCxnSpPr>
          <p:nvPr/>
        </p:nvCxnSpPr>
        <p:spPr>
          <a:xfrm>
            <a:off x="2792552" y="4180987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312534" y="4625793"/>
            <a:ext cx="960036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(Y)</a:t>
            </a:r>
            <a:endParaRPr lang="ko-KR" altLang="en-US" sz="1050" dirty="0"/>
          </a:p>
        </p:txBody>
      </p:sp>
      <p:grpSp>
        <p:nvGrpSpPr>
          <p:cNvPr id="74" name="그룹 73"/>
          <p:cNvGrpSpPr/>
          <p:nvPr/>
        </p:nvGrpSpPr>
        <p:grpSpPr>
          <a:xfrm>
            <a:off x="2313048" y="5008259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75" name="직사각형 74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9" name="아래쪽 화살표 78"/>
          <p:cNvSpPr/>
          <p:nvPr/>
        </p:nvSpPr>
        <p:spPr>
          <a:xfrm>
            <a:off x="2472021" y="5520688"/>
            <a:ext cx="647368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1" name="TextBox 40"/>
          <p:cNvSpPr txBox="1"/>
          <p:nvPr/>
        </p:nvSpPr>
        <p:spPr>
          <a:xfrm>
            <a:off x="2376359" y="5954344"/>
            <a:ext cx="838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위반○</a:t>
            </a:r>
          </a:p>
        </p:txBody>
      </p:sp>
      <p:cxnSp>
        <p:nvCxnSpPr>
          <p:cNvPr id="81" name="직선 연결선 80"/>
          <p:cNvCxnSpPr>
            <a:endCxn id="82" idx="0"/>
          </p:cNvCxnSpPr>
          <p:nvPr/>
        </p:nvCxnSpPr>
        <p:spPr>
          <a:xfrm>
            <a:off x="6606170" y="4144591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126152" y="4589397"/>
            <a:ext cx="960036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(Y)</a:t>
            </a:r>
            <a:endParaRPr lang="ko-KR" altLang="en-US" sz="105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6126666" y="4971863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84" name="직사각형 83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86" name="아래쪽 화살표 85"/>
          <p:cNvSpPr/>
          <p:nvPr/>
        </p:nvSpPr>
        <p:spPr>
          <a:xfrm>
            <a:off x="6285638" y="5484292"/>
            <a:ext cx="647368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7" name="TextBox 86"/>
          <p:cNvSpPr txBox="1"/>
          <p:nvPr/>
        </p:nvSpPr>
        <p:spPr>
          <a:xfrm>
            <a:off x="6189977" y="5917948"/>
            <a:ext cx="838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위반</a:t>
            </a:r>
            <a:r>
              <a:rPr lang="en-US" altLang="ko-KR" sz="1600" dirty="0">
                <a:solidFill>
                  <a:srgbClr val="FF0000"/>
                </a:solidFill>
              </a:rPr>
              <a:t>×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cxnSp>
        <p:nvCxnSpPr>
          <p:cNvPr id="88" name="직선 연결선 87"/>
          <p:cNvCxnSpPr/>
          <p:nvPr/>
        </p:nvCxnSpPr>
        <p:spPr>
          <a:xfrm>
            <a:off x="7689911" y="2640458"/>
            <a:ext cx="0" cy="40227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곱셈 기호 58"/>
          <p:cNvSpPr/>
          <p:nvPr/>
        </p:nvSpPr>
        <p:spPr>
          <a:xfrm>
            <a:off x="5229546" y="2856218"/>
            <a:ext cx="1125671" cy="1154811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5043787" y="3290672"/>
            <a:ext cx="14141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 </a:t>
            </a:r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110" name="자유형 109"/>
          <p:cNvSpPr/>
          <p:nvPr/>
        </p:nvSpPr>
        <p:spPr>
          <a:xfrm>
            <a:off x="8569066" y="356803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11" name="직선 연결선 110"/>
          <p:cNvCxnSpPr>
            <a:stCxn id="110" idx="0"/>
          </p:cNvCxnSpPr>
          <p:nvPr/>
        </p:nvCxnSpPr>
        <p:spPr>
          <a:xfrm>
            <a:off x="8569066" y="4133111"/>
            <a:ext cx="30518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endCxn id="113" idx="0"/>
          </p:cNvCxnSpPr>
          <p:nvPr/>
        </p:nvCxnSpPr>
        <p:spPr>
          <a:xfrm>
            <a:off x="8575937" y="4133111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111145" y="4435509"/>
            <a:ext cx="92958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(X)</a:t>
            </a:r>
            <a:endParaRPr lang="ko-KR" altLang="en-US" sz="1050" dirty="0"/>
          </a:p>
        </p:txBody>
      </p:sp>
      <p:sp>
        <p:nvSpPr>
          <p:cNvPr id="114" name="직사각형 113"/>
          <p:cNvSpPr/>
          <p:nvPr/>
        </p:nvSpPr>
        <p:spPr>
          <a:xfrm>
            <a:off x="11337664" y="356803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grpSp>
        <p:nvGrpSpPr>
          <p:cNvPr id="115" name="그룹 114"/>
          <p:cNvGrpSpPr/>
          <p:nvPr/>
        </p:nvGrpSpPr>
        <p:grpSpPr>
          <a:xfrm>
            <a:off x="8111703" y="4817975"/>
            <a:ext cx="932256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16" name="직사각형 11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8" name="직선 연결선 117"/>
          <p:cNvCxnSpPr>
            <a:endCxn id="119" idx="0"/>
          </p:cNvCxnSpPr>
          <p:nvPr/>
        </p:nvCxnSpPr>
        <p:spPr>
          <a:xfrm>
            <a:off x="9856399" y="4180987"/>
            <a:ext cx="0" cy="2545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192061" y="4435509"/>
            <a:ext cx="1328676" cy="4385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거절결정확정</a:t>
            </a:r>
            <a:r>
              <a:rPr lang="en-US" altLang="ko-KR" sz="1200" dirty="0"/>
              <a:t>(X,Z)</a:t>
            </a:r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 err="1"/>
              <a:t>협의불성립</a:t>
            </a:r>
            <a:r>
              <a:rPr lang="en-US" altLang="ko-KR" sz="1050" dirty="0"/>
              <a:t>)</a:t>
            </a:r>
            <a:endParaRPr lang="ko-KR" altLang="en-US" sz="900" dirty="0"/>
          </a:p>
        </p:txBody>
      </p:sp>
      <p:cxnSp>
        <p:nvCxnSpPr>
          <p:cNvPr id="120" name="직선 연결선 119"/>
          <p:cNvCxnSpPr>
            <a:endCxn id="121" idx="0"/>
          </p:cNvCxnSpPr>
          <p:nvPr/>
        </p:nvCxnSpPr>
        <p:spPr>
          <a:xfrm>
            <a:off x="11107121" y="4144591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627103" y="4589397"/>
            <a:ext cx="960036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(Y)</a:t>
            </a:r>
            <a:endParaRPr lang="ko-KR" altLang="en-US" sz="1050" dirty="0"/>
          </a:p>
        </p:txBody>
      </p:sp>
      <p:grpSp>
        <p:nvGrpSpPr>
          <p:cNvPr id="122" name="그룹 121"/>
          <p:cNvGrpSpPr/>
          <p:nvPr/>
        </p:nvGrpSpPr>
        <p:grpSpPr>
          <a:xfrm>
            <a:off x="10627617" y="4971863"/>
            <a:ext cx="962796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23" name="직사각형 122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5" name="아래쪽 화살표 124"/>
          <p:cNvSpPr/>
          <p:nvPr/>
        </p:nvSpPr>
        <p:spPr>
          <a:xfrm>
            <a:off x="10786589" y="5484292"/>
            <a:ext cx="647368" cy="34932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26" name="TextBox 125"/>
          <p:cNvSpPr txBox="1"/>
          <p:nvPr/>
        </p:nvSpPr>
        <p:spPr>
          <a:xfrm>
            <a:off x="10690928" y="5917948"/>
            <a:ext cx="8386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위반 ○</a:t>
            </a:r>
          </a:p>
        </p:txBody>
      </p:sp>
      <p:cxnSp>
        <p:nvCxnSpPr>
          <p:cNvPr id="129" name="직선 연결선 128"/>
          <p:cNvCxnSpPr>
            <a:stCxn id="110" idx="0"/>
            <a:endCxn id="130" idx="0"/>
          </p:cNvCxnSpPr>
          <p:nvPr/>
        </p:nvCxnSpPr>
        <p:spPr>
          <a:xfrm flipV="1">
            <a:off x="8569066" y="3201759"/>
            <a:ext cx="6872" cy="9313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111145" y="3201759"/>
            <a:ext cx="929585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특허출원</a:t>
            </a:r>
            <a:r>
              <a:rPr lang="en-US" altLang="ko-KR" sz="1200" dirty="0"/>
              <a:t>(Z)</a:t>
            </a:r>
            <a:endParaRPr lang="ko-KR" altLang="en-US" sz="1050" dirty="0"/>
          </a:p>
        </p:txBody>
      </p:sp>
      <p:grpSp>
        <p:nvGrpSpPr>
          <p:cNvPr id="131" name="그룹 130"/>
          <p:cNvGrpSpPr/>
          <p:nvPr/>
        </p:nvGrpSpPr>
        <p:grpSpPr>
          <a:xfrm>
            <a:off x="8111703" y="2526003"/>
            <a:ext cx="932256" cy="612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32" name="직사각형 131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9" name="도넛 138"/>
          <p:cNvSpPr/>
          <p:nvPr/>
        </p:nvSpPr>
        <p:spPr>
          <a:xfrm>
            <a:off x="9546452" y="2989780"/>
            <a:ext cx="856654" cy="825047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287888" y="3290672"/>
            <a:ext cx="1585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 </a:t>
            </a:r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(X,Z)</a:t>
            </a:r>
            <a:endParaRPr lang="ko-KR" altLang="en-US" sz="12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574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선출원주의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r>
              <a:rPr lang="ko-KR" altLang="en-US"/>
              <a:t>의 법조문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634521" y="4829547"/>
            <a:ext cx="1429725" cy="65617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선출원주의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法 </a:t>
            </a:r>
            <a:r>
              <a:rPr lang="en-US" altLang="ko-KR" sz="1600" dirty="0">
                <a:solidFill>
                  <a:schemeClr val="bg1"/>
                </a:solidFill>
              </a:rPr>
              <a:t>36)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848603" y="4324360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>
              <a:lnSpc>
                <a:spcPct val="130000"/>
              </a:lnSpc>
            </a:pPr>
            <a:r>
              <a:rPr lang="ko-KR" altLang="en-US" sz="1200" dirty="0" err="1">
                <a:solidFill>
                  <a:schemeClr val="tx1"/>
                </a:solidFill>
              </a:rPr>
              <a:t>이일출원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2848603" y="4959626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동일출원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848603" y="5565443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/>
            <a:r>
              <a:rPr lang="ko-KR" altLang="en-US" sz="12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200" dirty="0">
                <a:solidFill>
                  <a:schemeClr val="tx1"/>
                </a:solidFill>
              </a:rPr>
              <a:t> 지위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780" marR="17780" algn="ctr" fontAlgn="base"/>
            <a:r>
              <a:rPr lang="ko-KR" altLang="en-US" sz="1200" dirty="0">
                <a:solidFill>
                  <a:schemeClr val="tx1"/>
                </a:solidFill>
              </a:rPr>
              <a:t>인정 여부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7" name="꺾인 연결선 6"/>
          <p:cNvCxnSpPr>
            <a:cxnSpLocks/>
            <a:stCxn id="77" idx="3"/>
            <a:endCxn id="80" idx="1"/>
          </p:cNvCxnSpPr>
          <p:nvPr/>
        </p:nvCxnSpPr>
        <p:spPr>
          <a:xfrm flipV="1">
            <a:off x="2064246" y="4521646"/>
            <a:ext cx="784357" cy="6359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cxnSpLocks/>
            <a:stCxn id="77" idx="3"/>
            <a:endCxn id="89" idx="1"/>
          </p:cNvCxnSpPr>
          <p:nvPr/>
        </p:nvCxnSpPr>
        <p:spPr>
          <a:xfrm flipV="1">
            <a:off x="2064246" y="5156912"/>
            <a:ext cx="784357" cy="72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cxnSpLocks/>
            <a:stCxn id="77" idx="3"/>
            <a:endCxn id="92" idx="1"/>
          </p:cNvCxnSpPr>
          <p:nvPr/>
        </p:nvCxnSpPr>
        <p:spPr>
          <a:xfrm>
            <a:off x="2064246" y="5157632"/>
            <a:ext cx="784357" cy="60509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4995905" y="5565442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/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지위가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780" marR="17780" algn="ctr" fontAlgn="base"/>
            <a:r>
              <a:rPr lang="ko-KR" altLang="en-US" sz="1200" dirty="0">
                <a:solidFill>
                  <a:schemeClr val="tx1"/>
                </a:solidFill>
              </a:rPr>
              <a:t>없는 경우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995905" y="6171258"/>
            <a:ext cx="1833936" cy="394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" marR="17780" algn="ctr" fontAlgn="base"/>
            <a:r>
              <a:rPr lang="ko-KR" altLang="en-US" sz="12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200" dirty="0">
                <a:solidFill>
                  <a:schemeClr val="tx1"/>
                </a:solidFill>
              </a:rPr>
              <a:t> 지위가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780" marR="17780" algn="ctr" fontAlgn="base"/>
            <a:r>
              <a:rPr lang="ko-KR" altLang="en-US" sz="1200" dirty="0">
                <a:solidFill>
                  <a:schemeClr val="tx1"/>
                </a:solidFill>
              </a:rPr>
              <a:t>있는 경우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2" name="꺾인 연결선 21"/>
          <p:cNvCxnSpPr>
            <a:stCxn id="92" idx="3"/>
            <a:endCxn id="100" idx="1"/>
          </p:cNvCxnSpPr>
          <p:nvPr/>
        </p:nvCxnSpPr>
        <p:spPr>
          <a:xfrm>
            <a:off x="4682539" y="5762728"/>
            <a:ext cx="313366" cy="6058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92" idx="3"/>
            <a:endCxn id="99" idx="1"/>
          </p:cNvCxnSpPr>
          <p:nvPr/>
        </p:nvCxnSpPr>
        <p:spPr>
          <a:xfrm flipV="1">
            <a:off x="4682539" y="5762728"/>
            <a:ext cx="313366" cy="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4810967" y="4324360"/>
            <a:ext cx="3786030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lnSpc>
                <a:spcPct val="130000"/>
              </a:lnSpc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최선의 출원인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36①③)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4810967" y="4959625"/>
            <a:ext cx="3786030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협의제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36②③)</a:t>
            </a:r>
          </a:p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협의명령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36⑥)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6958269" y="5565441"/>
            <a:ext cx="4649055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출원의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무효ㆍ취하ㆍ포기ㆍ거절결정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 확정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36④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본문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무권리자출원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36⑤)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6958269" y="6171257"/>
            <a:ext cx="4649055" cy="39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3530" marR="17780" indent="-285750" fontAlgn="base">
              <a:buFont typeface="Wingdings" pitchFamily="2" charset="2"/>
              <a:buChar char="§"/>
            </a:pP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</a:rPr>
              <a:t>협의불성립으로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 거절결정 확정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36④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단서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75" y="986046"/>
            <a:ext cx="119363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선출원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동일한 발명에 대하여 다른 날에 둘 이상의 특허출원이 있는 경우에는 먼저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자만이 그 발명에 대하여 특허를 받을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동일한 발명에 대하여 같은 날에 둘 이상의 특허출원이 있는 경우에는 특허출원인 간에 협의하여 정한 하나의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특허출원인만이</a:t>
            </a:r>
            <a:r>
              <a:rPr lang="ko-KR" altLang="en-US" sz="1400" dirty="0">
                <a:solidFill>
                  <a:schemeClr val="tx2"/>
                </a:solidFill>
              </a:rPr>
              <a:t> 그 발명에 대하여 특허를 받을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협의가 성립하지 아니하거나 협의를 할 수 없는 경우에는 어느 특허출원인도 그 발명에 대하여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발명과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실용신안등록출원된</a:t>
            </a:r>
            <a:r>
              <a:rPr lang="ko-KR" altLang="en-US" sz="1400" dirty="0">
                <a:solidFill>
                  <a:schemeClr val="tx2"/>
                </a:solidFill>
              </a:rPr>
              <a:t> 고안이 동일한 경우 그 특허출원과 실용신안등록출원이 다른 날에 출원된 것이면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항을 준용하고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특허출원과 실용신안등록출원이 같은 날에 출원된 것이면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항을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특허출원 또는 실용신안등록출원이 다음 각 호의 어느 하나에 해당하는 경우 그 특허출원 또는 실용신안등록출원은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항까지의 규정을 적용할 때에는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단서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해당하여 그 특허출원 또는 실용신안등록출원에 대하여 거절결정이나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무효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거절결정이나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⑤ 발명자 또는 고안자가 아닌 자로서 특허를 받을 수 있는 권리 또는 실용신안등록을 받을 수 있는 권리의 승계인이 아닌 자가 한 특허출원 또는 실용신안등록출원은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항까지의 규정을 적용할 때에는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항의 경우에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특허출원인에게</a:t>
            </a:r>
            <a:r>
              <a:rPr lang="ko-KR" altLang="en-US" sz="1400" dirty="0">
                <a:solidFill>
                  <a:schemeClr val="tx2"/>
                </a:solidFill>
              </a:rPr>
              <a:t> 기간을 정하여 협의의 결과를 신고할 것을 명하고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기간에 신고가 없으면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협의는 성립되지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0" y="409555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50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자유형 153"/>
          <p:cNvSpPr/>
          <p:nvPr/>
        </p:nvSpPr>
        <p:spPr>
          <a:xfrm>
            <a:off x="8490864" y="373737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85" name="도넛 184"/>
          <p:cNvSpPr/>
          <p:nvPr/>
        </p:nvSpPr>
        <p:spPr>
          <a:xfrm>
            <a:off x="9461782" y="3243790"/>
            <a:ext cx="856654" cy="825047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8" name="자유형 107"/>
          <p:cNvSpPr/>
          <p:nvPr/>
        </p:nvSpPr>
        <p:spPr>
          <a:xfrm>
            <a:off x="4367597" y="373737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94" name="직선 연결선 93"/>
          <p:cNvCxnSpPr>
            <a:stCxn id="105" idx="2"/>
          </p:cNvCxnSpPr>
          <p:nvPr/>
        </p:nvCxnSpPr>
        <p:spPr>
          <a:xfrm>
            <a:off x="4309001" y="4301931"/>
            <a:ext cx="2909391" cy="52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>
            <a:endCxn id="106" idx="6"/>
          </p:cNvCxnSpPr>
          <p:nvPr/>
        </p:nvCxnSpPr>
        <p:spPr>
          <a:xfrm>
            <a:off x="4355717" y="4301931"/>
            <a:ext cx="94324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자유형 44"/>
          <p:cNvSpPr/>
          <p:nvPr/>
        </p:nvSpPr>
        <p:spPr>
          <a:xfrm>
            <a:off x="625032" y="3737372"/>
            <a:ext cx="2811427" cy="565079"/>
          </a:xfrm>
          <a:custGeom>
            <a:avLst/>
            <a:gdLst>
              <a:gd name="connsiteX0" fmla="*/ 0 w 4130211"/>
              <a:gd name="connsiteY0" fmla="*/ 565079 h 565079"/>
              <a:gd name="connsiteX1" fmla="*/ 318499 w 4130211"/>
              <a:gd name="connsiteY1" fmla="*/ 0 h 565079"/>
              <a:gd name="connsiteX2" fmla="*/ 4130211 w 4130211"/>
              <a:gd name="connsiteY2" fmla="*/ 0 h 565079"/>
              <a:gd name="connsiteX3" fmla="*/ 4130211 w 4130211"/>
              <a:gd name="connsiteY3" fmla="*/ 554805 h 56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0211" h="565079">
                <a:moveTo>
                  <a:pt x="0" y="565079"/>
                </a:moveTo>
                <a:lnTo>
                  <a:pt x="318499" y="0"/>
                </a:lnTo>
                <a:lnTo>
                  <a:pt x="4130211" y="0"/>
                </a:lnTo>
                <a:lnTo>
                  <a:pt x="4130211" y="554805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46" name="직선 연결선 45"/>
          <p:cNvCxnSpPr>
            <a:stCxn id="89" idx="6"/>
          </p:cNvCxnSpPr>
          <p:nvPr/>
        </p:nvCxnSpPr>
        <p:spPr>
          <a:xfrm>
            <a:off x="691797" y="4301931"/>
            <a:ext cx="2792795" cy="52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특허의 무효와 포기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82</a:t>
            </a:fld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1990. 8. 14.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89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1103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동일인이 동일고안에 대하여 같은 날에 경합출원을 하여 모두 등록된 경우에 그 후 어느 한쪽의 등록이 무효로 확정되었다면 나머지 등록을 유지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존속시켜 주는 것이 타당하고 당초에 경합출원이었다는 사실만으로 나머지 등록까지 모두 무효로 볼 것이 아니다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라고 판시하였고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 </a:t>
            </a:r>
            <a:r>
              <a:rPr lang="en-US" altLang="ko-KR" sz="1400" dirty="0">
                <a:solidFill>
                  <a:schemeClr val="tx2"/>
                </a:solidFill>
              </a:rPr>
              <a:t>2007. 1. 12. </a:t>
            </a:r>
            <a:r>
              <a:rPr lang="ko-KR" altLang="en-US" sz="1400" dirty="0">
                <a:solidFill>
                  <a:schemeClr val="tx2"/>
                </a:solidFill>
              </a:rPr>
              <a:t>선고 </a:t>
            </a:r>
            <a:r>
              <a:rPr lang="en-US" altLang="ko-KR" sz="1400" dirty="0">
                <a:solidFill>
                  <a:schemeClr val="tx2"/>
                </a:solidFill>
              </a:rPr>
              <a:t>2005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3017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“특허권이나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실용신안권의</a:t>
            </a:r>
            <a:r>
              <a:rPr lang="ko-KR" altLang="en-US" sz="1400" dirty="0">
                <a:solidFill>
                  <a:schemeClr val="tx2"/>
                </a:solidFill>
              </a:rPr>
              <a:t> 포기에 의하여 경합출원의 하자가 치유되어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 대한 관계에서 특허권의 효력을 주장할 수 있다고 보는 것은 명문의 근거가 없을 뿐만 아니라 권리자가 포기의 대상과 시기를 임의로 선택할 수 있어 권리관계가 불확정한 상태에 놓이게 되는 등 법적 안정성을 해칠 우려가 있는 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특허권이나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실용신안권의</a:t>
            </a:r>
            <a:r>
              <a:rPr lang="ko-KR" altLang="en-US" sz="1400" dirty="0">
                <a:solidFill>
                  <a:schemeClr val="tx2"/>
                </a:solidFill>
              </a:rPr>
              <a:t> 포기는 그 출원의 포기와는 달리 소급효가 없음에도 결과적으로 그 포기에 소급효를 인정하는 셈이 되어 부당하며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나아가 특허권 등의 포기는 등록만으로 이루어져 대외적인 공시방법으로는 충분하지 아니한 점 등을 종합하여 보면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출원이 경합된 상태에서 등록된 특허권이나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실용신안권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중 어느 하나에 대하여 사후 권리자가 그 권리를 포기하였다고 하더라도 경합출원으로 인한 하자가 치유된다고 보기는 어렵다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고 판시하여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특허권의 무효와 포기에 대하여 달리 취급하고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80626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3705442" y="2984740"/>
            <a:ext cx="0" cy="367842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>
            <a:endCxn id="49" idx="0"/>
          </p:cNvCxnSpPr>
          <p:nvPr/>
        </p:nvCxnSpPr>
        <p:spPr>
          <a:xfrm>
            <a:off x="631903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7807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393630" y="373737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grpSp>
        <p:nvGrpSpPr>
          <p:cNvPr id="55" name="그룹 54"/>
          <p:cNvGrpSpPr/>
          <p:nvPr/>
        </p:nvGrpSpPr>
        <p:grpSpPr>
          <a:xfrm>
            <a:off x="248597" y="5038117"/>
            <a:ext cx="770400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56" name="직사각형 55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직선 연결선 64"/>
          <p:cNvCxnSpPr>
            <a:endCxn id="66" idx="0"/>
          </p:cNvCxnSpPr>
          <p:nvPr/>
        </p:nvCxnSpPr>
        <p:spPr>
          <a:xfrm>
            <a:off x="2235029" y="4357005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76060" y="4659403"/>
            <a:ext cx="1117940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출원 무효</a:t>
            </a:r>
            <a:r>
              <a:rPr lang="en-US" altLang="ko-KR" sz="1000" dirty="0"/>
              <a:t>, </a:t>
            </a:r>
            <a:r>
              <a:rPr lang="ko-KR" altLang="en-US" sz="1000" dirty="0"/>
              <a:t>포기</a:t>
            </a:r>
          </a:p>
        </p:txBody>
      </p:sp>
      <p:cxnSp>
        <p:nvCxnSpPr>
          <p:cNvPr id="88" name="직선 연결선 87"/>
          <p:cNvCxnSpPr/>
          <p:nvPr/>
        </p:nvCxnSpPr>
        <p:spPr>
          <a:xfrm>
            <a:off x="7689911" y="2984740"/>
            <a:ext cx="0" cy="367842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곱셈 기호 58"/>
          <p:cNvSpPr/>
          <p:nvPr/>
        </p:nvSpPr>
        <p:spPr>
          <a:xfrm>
            <a:off x="1529613" y="3118695"/>
            <a:ext cx="1125671" cy="1154811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7" name="TextBox 46"/>
          <p:cNvSpPr txBox="1"/>
          <p:nvPr/>
        </p:nvSpPr>
        <p:spPr>
          <a:xfrm>
            <a:off x="1343854" y="3460012"/>
            <a:ext cx="11240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 </a:t>
            </a:r>
            <a:r>
              <a:rPr lang="ko-KR" altLang="en-US" sz="1100" dirty="0" err="1"/>
              <a:t>선출원의</a:t>
            </a:r>
            <a:r>
              <a:rPr lang="ko-KR" altLang="en-US" sz="1100" dirty="0"/>
              <a:t> 지위</a:t>
            </a:r>
          </a:p>
        </p:txBody>
      </p:sp>
      <p:sp>
        <p:nvSpPr>
          <p:cNvPr id="89" name="Rectangle 14"/>
          <p:cNvSpPr>
            <a:spLocks noChangeArrowheads="1"/>
          </p:cNvSpPr>
          <p:nvPr/>
        </p:nvSpPr>
        <p:spPr bwMode="auto">
          <a:xfrm flipV="1">
            <a:off x="575201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Rectangle 14"/>
          <p:cNvSpPr>
            <a:spLocks noChangeArrowheads="1"/>
          </p:cNvSpPr>
          <p:nvPr/>
        </p:nvSpPr>
        <p:spPr bwMode="auto">
          <a:xfrm flipV="1">
            <a:off x="2176731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7127430" y="373737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03" name="곱셈 기호 102"/>
          <p:cNvSpPr/>
          <p:nvPr/>
        </p:nvSpPr>
        <p:spPr>
          <a:xfrm>
            <a:off x="5263413" y="3118695"/>
            <a:ext cx="1125671" cy="1154811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04" name="TextBox 103"/>
          <p:cNvSpPr txBox="1"/>
          <p:nvPr/>
        </p:nvSpPr>
        <p:spPr>
          <a:xfrm>
            <a:off x="5277350" y="3460012"/>
            <a:ext cx="11240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A </a:t>
            </a:r>
            <a:r>
              <a:rPr lang="ko-KR" altLang="en-US" sz="1100" dirty="0" err="1"/>
              <a:t>선출원의</a:t>
            </a:r>
            <a:r>
              <a:rPr lang="ko-KR" altLang="en-US" sz="1100" dirty="0"/>
              <a:t> 지위</a:t>
            </a:r>
          </a:p>
        </p:txBody>
      </p:sp>
      <p:cxnSp>
        <p:nvCxnSpPr>
          <p:cNvPr id="109" name="직선 연결선 108"/>
          <p:cNvCxnSpPr>
            <a:endCxn id="127" idx="0"/>
          </p:cNvCxnSpPr>
          <p:nvPr/>
        </p:nvCxnSpPr>
        <p:spPr>
          <a:xfrm>
            <a:off x="4367596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3983500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</a:p>
        </p:txBody>
      </p:sp>
      <p:grpSp>
        <p:nvGrpSpPr>
          <p:cNvPr id="134" name="그룹 133"/>
          <p:cNvGrpSpPr/>
          <p:nvPr/>
        </p:nvGrpSpPr>
        <p:grpSpPr>
          <a:xfrm>
            <a:off x="3984290" y="5038117"/>
            <a:ext cx="770400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35" name="직사각형 134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37" name="직선 연결선 136"/>
          <p:cNvCxnSpPr>
            <a:endCxn id="138" idx="0"/>
          </p:cNvCxnSpPr>
          <p:nvPr/>
        </p:nvCxnSpPr>
        <p:spPr>
          <a:xfrm>
            <a:off x="5233810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4849714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5892609" y="424044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14"/>
          <p:cNvSpPr>
            <a:spLocks noChangeArrowheads="1"/>
          </p:cNvSpPr>
          <p:nvPr/>
        </p:nvSpPr>
        <p:spPr bwMode="auto">
          <a:xfrm flipV="1">
            <a:off x="6765977" y="424044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46" name="직선 연결선 145"/>
          <p:cNvCxnSpPr>
            <a:endCxn id="147" idx="0"/>
          </p:cNvCxnSpPr>
          <p:nvPr/>
        </p:nvCxnSpPr>
        <p:spPr>
          <a:xfrm>
            <a:off x="5951205" y="4365351"/>
            <a:ext cx="0" cy="7315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567108" y="5096901"/>
            <a:ext cx="76819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무효심판</a:t>
            </a:r>
            <a:endParaRPr lang="en-US" altLang="ko-KR" sz="1000" dirty="0"/>
          </a:p>
          <a:p>
            <a:pPr algn="ctr"/>
            <a:r>
              <a:rPr lang="ko-KR" altLang="en-US" sz="1000" dirty="0"/>
              <a:t>청구</a:t>
            </a:r>
          </a:p>
        </p:txBody>
      </p:sp>
      <p:cxnSp>
        <p:nvCxnSpPr>
          <p:cNvPr id="148" name="직선 연결선 147"/>
          <p:cNvCxnSpPr>
            <a:stCxn id="145" idx="0"/>
          </p:cNvCxnSpPr>
          <p:nvPr/>
        </p:nvCxnSpPr>
        <p:spPr>
          <a:xfrm flipH="1">
            <a:off x="6817419" y="4365351"/>
            <a:ext cx="6856" cy="7315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6440178" y="5096901"/>
            <a:ext cx="76819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무효심결</a:t>
            </a:r>
            <a:endParaRPr lang="en-US" altLang="ko-KR" sz="1000" dirty="0"/>
          </a:p>
          <a:p>
            <a:pPr algn="ctr"/>
            <a:r>
              <a:rPr lang="ko-KR" altLang="en-US" sz="1000" dirty="0"/>
              <a:t>확정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711188" y="5984495"/>
            <a:ext cx="2725310" cy="6001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특허를 무효로 한다는 </a:t>
            </a:r>
            <a:r>
              <a:rPr lang="ko-KR" altLang="en-US" sz="1100" dirty="0" err="1"/>
              <a:t>심결이</a:t>
            </a:r>
            <a:r>
              <a:rPr lang="ko-KR" altLang="en-US" sz="1100" dirty="0"/>
              <a:t> 확정된 경우에는 그 특허권은 처음부터 없었던 것으로 본다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133</a:t>
            </a:r>
            <a:r>
              <a:rPr lang="ko-KR" altLang="en-US" sz="1100" dirty="0"/>
              <a:t>③</a:t>
            </a:r>
            <a:r>
              <a:rPr lang="en-US" altLang="ko-KR" sz="1100" dirty="0"/>
              <a:t>).</a:t>
            </a:r>
            <a:endParaRPr lang="ko-KR" altLang="en-US" sz="1100" dirty="0"/>
          </a:p>
        </p:txBody>
      </p:sp>
      <p:cxnSp>
        <p:nvCxnSpPr>
          <p:cNvPr id="28" name="꺾인 연결선 27"/>
          <p:cNvCxnSpPr>
            <a:stCxn id="24" idx="0"/>
            <a:endCxn id="150" idx="2"/>
          </p:cNvCxnSpPr>
          <p:nvPr/>
        </p:nvCxnSpPr>
        <p:spPr>
          <a:xfrm rot="5400000" flipH="1" flipV="1">
            <a:off x="6205317" y="5365537"/>
            <a:ext cx="487484" cy="7504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stCxn id="162" idx="2"/>
          </p:cNvCxnSpPr>
          <p:nvPr/>
        </p:nvCxnSpPr>
        <p:spPr>
          <a:xfrm>
            <a:off x="8432268" y="4301931"/>
            <a:ext cx="2909391" cy="52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11250697" y="3737372"/>
            <a:ext cx="90962" cy="5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61" name="TextBox 160"/>
          <p:cNvSpPr txBox="1"/>
          <p:nvPr/>
        </p:nvSpPr>
        <p:spPr>
          <a:xfrm>
            <a:off x="9316531" y="3460012"/>
            <a:ext cx="11240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 </a:t>
            </a:r>
            <a:r>
              <a:rPr lang="ko-KR" altLang="en-US" sz="1100" dirty="0" err="1"/>
              <a:t>선출원의</a:t>
            </a:r>
            <a:r>
              <a:rPr lang="ko-KR" altLang="en-US" sz="1100" dirty="0"/>
              <a:t> 지위</a:t>
            </a:r>
          </a:p>
        </p:txBody>
      </p:sp>
      <p:cxnSp>
        <p:nvCxnSpPr>
          <p:cNvPr id="165" name="직선 연결선 164"/>
          <p:cNvCxnSpPr>
            <a:endCxn id="167" idx="0"/>
          </p:cNvCxnSpPr>
          <p:nvPr/>
        </p:nvCxnSpPr>
        <p:spPr>
          <a:xfrm>
            <a:off x="8490863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8106767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</a:p>
        </p:txBody>
      </p:sp>
      <p:grpSp>
        <p:nvGrpSpPr>
          <p:cNvPr id="168" name="그룹 167"/>
          <p:cNvGrpSpPr/>
          <p:nvPr/>
        </p:nvGrpSpPr>
        <p:grpSpPr>
          <a:xfrm>
            <a:off x="8107557" y="5038117"/>
            <a:ext cx="770400" cy="459001"/>
            <a:chOff x="2814293" y="4469336"/>
            <a:chExt cx="1177134" cy="696098"/>
          </a:xfrm>
          <a:solidFill>
            <a:schemeClr val="bg1"/>
          </a:solidFill>
        </p:grpSpPr>
        <p:sp>
          <p:nvSpPr>
            <p:cNvPr id="169" name="직사각형 168"/>
            <p:cNvSpPr/>
            <p:nvPr/>
          </p:nvSpPr>
          <p:spPr>
            <a:xfrm>
              <a:off x="2814293" y="4469336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2814293" y="4817385"/>
              <a:ext cx="1177134" cy="348049"/>
            </a:xfrm>
            <a:prstGeom prst="rect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1" name="직선 연결선 170"/>
          <p:cNvCxnSpPr>
            <a:endCxn id="172" idx="0"/>
          </p:cNvCxnSpPr>
          <p:nvPr/>
        </p:nvCxnSpPr>
        <p:spPr>
          <a:xfrm>
            <a:off x="9357077" y="4353253"/>
            <a:ext cx="1" cy="3023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8972981" y="4655651"/>
            <a:ext cx="768194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</a:p>
        </p:txBody>
      </p:sp>
      <p:sp>
        <p:nvSpPr>
          <p:cNvPr id="173" name="Rectangle 14"/>
          <p:cNvSpPr>
            <a:spLocks noChangeArrowheads="1"/>
          </p:cNvSpPr>
          <p:nvPr/>
        </p:nvSpPr>
        <p:spPr bwMode="auto">
          <a:xfrm flipV="1">
            <a:off x="10405358" y="424044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77" name="직선 연결선 176"/>
          <p:cNvCxnSpPr/>
          <p:nvPr/>
        </p:nvCxnSpPr>
        <p:spPr>
          <a:xfrm flipH="1">
            <a:off x="10456457" y="4353253"/>
            <a:ext cx="6856" cy="7315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0072359" y="5096901"/>
            <a:ext cx="768194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특허 포기</a:t>
            </a:r>
          </a:p>
        </p:txBody>
      </p:sp>
      <p:sp>
        <p:nvSpPr>
          <p:cNvPr id="179" name="직사각형 178"/>
          <p:cNvSpPr/>
          <p:nvPr/>
        </p:nvSpPr>
        <p:spPr>
          <a:xfrm>
            <a:off x="8834455" y="5984495"/>
            <a:ext cx="1687499" cy="2616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특허권이 장래를 향해 소멸</a:t>
            </a:r>
          </a:p>
        </p:txBody>
      </p:sp>
      <p:cxnSp>
        <p:nvCxnSpPr>
          <p:cNvPr id="180" name="꺾인 연결선 179"/>
          <p:cNvCxnSpPr>
            <a:stCxn id="179" idx="0"/>
            <a:endCxn id="178" idx="2"/>
          </p:cNvCxnSpPr>
          <p:nvPr/>
        </p:nvCxnSpPr>
        <p:spPr>
          <a:xfrm rot="5400000" flipH="1" flipV="1">
            <a:off x="9746644" y="5274684"/>
            <a:ext cx="641373" cy="77825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4309001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5182369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82" name="직선 연결선 181"/>
          <p:cNvCxnSpPr>
            <a:endCxn id="173" idx="2"/>
          </p:cNvCxnSpPr>
          <p:nvPr/>
        </p:nvCxnSpPr>
        <p:spPr>
          <a:xfrm>
            <a:off x="8492757" y="4301931"/>
            <a:ext cx="1912601" cy="96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4"/>
          <p:cNvSpPr>
            <a:spLocks noChangeArrowheads="1"/>
          </p:cNvSpPr>
          <p:nvPr/>
        </p:nvSpPr>
        <p:spPr bwMode="auto">
          <a:xfrm flipV="1">
            <a:off x="8432268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3" name="Rectangle 14"/>
          <p:cNvSpPr>
            <a:spLocks noChangeArrowheads="1"/>
          </p:cNvSpPr>
          <p:nvPr/>
        </p:nvSpPr>
        <p:spPr bwMode="auto">
          <a:xfrm flipV="1">
            <a:off x="9305636" y="4239477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977021" y="5853691"/>
            <a:ext cx="1687499" cy="2616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</a:rPr>
              <a:t>특허출원이 소급 소멸</a:t>
            </a:r>
          </a:p>
        </p:txBody>
      </p:sp>
      <p:cxnSp>
        <p:nvCxnSpPr>
          <p:cNvPr id="184" name="꺾인 연결선 183"/>
          <p:cNvCxnSpPr>
            <a:stCxn id="183" idx="0"/>
            <a:endCxn id="66" idx="2"/>
          </p:cNvCxnSpPr>
          <p:nvPr/>
        </p:nvCxnSpPr>
        <p:spPr>
          <a:xfrm rot="5400000" flipH="1" flipV="1">
            <a:off x="1553867" y="5172529"/>
            <a:ext cx="948067" cy="41425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477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동일자</a:t>
            </a:r>
            <a:r>
              <a:rPr lang="ko-KR" altLang="en-US" dirty="0">
                <a:solidFill>
                  <a:srgbClr val="525252"/>
                </a:solidFill>
              </a:rPr>
              <a:t> 출원의 실질적 동일성과 특허의 무효</a:t>
            </a:r>
            <a:r>
              <a:rPr lang="en-US" altLang="ko-KR" dirty="0">
                <a:solidFill>
                  <a:srgbClr val="525252"/>
                </a:solidFill>
              </a:rPr>
              <a:t>/</a:t>
            </a:r>
            <a:r>
              <a:rPr lang="ko-KR" altLang="en-US" dirty="0">
                <a:solidFill>
                  <a:srgbClr val="525252"/>
                </a:solidFill>
              </a:rPr>
              <a:t>포기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36</a:t>
            </a:r>
            <a:r>
              <a:rPr lang="ko-KR" altLang="en-US" sz="1400" dirty="0"/>
              <a:t>조를 적용하기 위한 전제로서 두 발명이 서로 동일한 발명인지 여부는 대비되는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두 발명의 실체를 파악하여 따져보아야 할 것이지 표현양식에 따른 차이에 따라 판단할 것은 아니므로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/>
              <a:t>대비되는 두 발명이 각각 물건의 발명과 방법의 발명으로 서로 발명의 범주가 다르다고 하여 곧바로 동일한 발명이 아니라고 단정할 수 없다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36</a:t>
            </a:r>
            <a:r>
              <a:rPr lang="ko-KR" altLang="en-US" sz="1400" dirty="0"/>
              <a:t>조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등의 적용에 있어 특허권이나 실용신안권의 포기에 의하여 경합출원의 하자가 치유되어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 대한 관계에서 특허권의 효력을 주장할 수 있다고 보는 것은 </a:t>
            </a:r>
            <a:r>
              <a:rPr lang="en-US" altLang="ko-KR" sz="1400" dirty="0">
                <a:highlight>
                  <a:srgbClr val="FFFF00"/>
                </a:highlight>
              </a:rPr>
              <a:t>1) </a:t>
            </a:r>
            <a:r>
              <a:rPr lang="ko-KR" altLang="en-US" sz="1400" dirty="0">
                <a:highlight>
                  <a:srgbClr val="FFFF00"/>
                </a:highlight>
              </a:rPr>
              <a:t>명문의 근거가 없을 뿐만 아니라 </a:t>
            </a:r>
            <a:r>
              <a:rPr lang="en-US" altLang="ko-KR" sz="1400" dirty="0">
                <a:highlight>
                  <a:srgbClr val="FFFF00"/>
                </a:highlight>
              </a:rPr>
              <a:t>2) </a:t>
            </a:r>
            <a:r>
              <a:rPr lang="ko-KR" altLang="en-US" sz="1400" dirty="0">
                <a:highlight>
                  <a:srgbClr val="FFFF00"/>
                </a:highlight>
              </a:rPr>
              <a:t>권리자가 포기의 대상과 시기를 임의로 선택할 수 있어 권리관계가 불확정한 상태에 놓이게 되는 등 법적 안정성을 해칠 우려가 있는 점</a:t>
            </a:r>
            <a:r>
              <a:rPr lang="en-US" altLang="ko-KR" sz="1400" dirty="0">
                <a:highlight>
                  <a:srgbClr val="FFFF00"/>
                </a:highlight>
              </a:rPr>
              <a:t>, 3) </a:t>
            </a:r>
            <a:r>
              <a:rPr lang="ko-KR" altLang="en-US" sz="1400" dirty="0">
                <a:highlight>
                  <a:srgbClr val="FFFF00"/>
                </a:highlight>
              </a:rPr>
              <a:t>특허권이나 실용신안권의 포기는 그 출원의 포기와는 달리 소급효가 없음에도 결과적으로 그 포기에 소급효를 인정하는 셈이 되어 부당하며</a:t>
            </a:r>
            <a:r>
              <a:rPr lang="en-US" altLang="ko-KR" sz="1400" dirty="0">
                <a:highlight>
                  <a:srgbClr val="FFFF00"/>
                </a:highlight>
              </a:rPr>
              <a:t>, 4) </a:t>
            </a:r>
            <a:r>
              <a:rPr lang="ko-KR" altLang="en-US" sz="1400" dirty="0">
                <a:highlight>
                  <a:srgbClr val="FFFF00"/>
                </a:highlight>
              </a:rPr>
              <a:t>나아가 특허권 등의 포기는 등록만으로 이루어져 대외적인 공시방법으로는 충분하지 아니한 점</a:t>
            </a:r>
            <a:r>
              <a:rPr lang="ko-KR" altLang="en-US" sz="1400" dirty="0"/>
              <a:t> 등을 종합하여 보면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출원이 경합된 상태에서 등록된 특허권이나 실용신안권 중 어느 하나에 대하여 사후 권리자가 그 권리를 포기하였다고 하더라도 경합출원으로 인한 하자가 치유된다고 보기는 어렵다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4587933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1142399" y="4844108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1645488" y="450108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0"/>
            <a:endCxn id="22" idx="4"/>
          </p:cNvCxnSpPr>
          <p:nvPr/>
        </p:nvCxnSpPr>
        <p:spPr>
          <a:xfrm flipH="1" flipV="1">
            <a:off x="1716062" y="464825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1FAB89-FCF5-43F0-95FF-6883B7A962C2}"/>
              </a:ext>
            </a:extLst>
          </p:cNvPr>
          <p:cNvSpPr txBox="1"/>
          <p:nvPr/>
        </p:nvSpPr>
        <p:spPr>
          <a:xfrm>
            <a:off x="3166859" y="4844108"/>
            <a:ext cx="720266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87B676-6868-44D3-B4DB-53B7D46E69F1}"/>
              </a:ext>
            </a:extLst>
          </p:cNvPr>
          <p:cNvSpPr/>
          <p:nvPr/>
        </p:nvSpPr>
        <p:spPr>
          <a:xfrm>
            <a:off x="3449622" y="449399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16A2BCD-A858-4187-8094-DEF1E330CA4D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3526991" y="465533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C2461AB7-FD80-4C84-8E9E-04501376A5BE}"/>
              </a:ext>
            </a:extLst>
          </p:cNvPr>
          <p:cNvSpPr/>
          <p:nvPr/>
        </p:nvSpPr>
        <p:spPr>
          <a:xfrm>
            <a:off x="5237730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DFEB377-469E-485F-ACD4-4A671E6F66DA}"/>
              </a:ext>
            </a:extLst>
          </p:cNvPr>
          <p:cNvCxnSpPr>
            <a:cxnSpLocks/>
            <a:stCxn id="65" idx="0"/>
            <a:endCxn id="63" idx="4"/>
          </p:cNvCxnSpPr>
          <p:nvPr/>
        </p:nvCxnSpPr>
        <p:spPr>
          <a:xfrm flipV="1">
            <a:off x="5315099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59BA8A2-1A64-4952-B4D2-C4C6B791FA0D}"/>
              </a:ext>
            </a:extLst>
          </p:cNvPr>
          <p:cNvSpPr txBox="1"/>
          <p:nvPr/>
        </p:nvSpPr>
        <p:spPr>
          <a:xfrm>
            <a:off x="4686597" y="4858427"/>
            <a:ext cx="125700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乙의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64867"/>
            <a:ext cx="5365671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2007. 1. 12.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2005</a:t>
            </a:r>
            <a:r>
              <a:rPr lang="ko-KR" altLang="en-US" sz="1600" dirty="0"/>
              <a:t>후</a:t>
            </a:r>
            <a:r>
              <a:rPr lang="en-US" altLang="ko-KR" sz="1600" dirty="0"/>
              <a:t>3017 </a:t>
            </a:r>
            <a:r>
              <a:rPr lang="ko-KR" altLang="en-US" sz="1600" dirty="0"/>
              <a:t>판결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336927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AC2CAAE-BD39-4990-A867-53F268370BFC}"/>
              </a:ext>
            </a:extLst>
          </p:cNvPr>
          <p:cNvSpPr txBox="1"/>
          <p:nvPr/>
        </p:nvSpPr>
        <p:spPr>
          <a:xfrm>
            <a:off x="737141" y="5282520"/>
            <a:ext cx="1957842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로스트 왁스 주조용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폐왁스의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재생방법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52B0388-8969-4B15-B793-E3C1AF7D164D}"/>
              </a:ext>
            </a:extLst>
          </p:cNvPr>
          <p:cNvCxnSpPr>
            <a:stCxn id="37" idx="0"/>
            <a:endCxn id="21" idx="2"/>
          </p:cNvCxnSpPr>
          <p:nvPr/>
        </p:nvCxnSpPr>
        <p:spPr>
          <a:xfrm flipV="1">
            <a:off x="1716062" y="5121107"/>
            <a:ext cx="1" cy="1614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6A6D92F-3456-4E35-B7C3-B37DA01DD08F}"/>
              </a:ext>
            </a:extLst>
          </p:cNvPr>
          <p:cNvSpPr txBox="1"/>
          <p:nvPr/>
        </p:nvSpPr>
        <p:spPr>
          <a:xfrm>
            <a:off x="1192779" y="4073203"/>
            <a:ext cx="104656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실용출원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01AE4F-6B2F-4B0E-8606-3513BF249DF8}"/>
              </a:ext>
            </a:extLst>
          </p:cNvPr>
          <p:cNvSpPr txBox="1"/>
          <p:nvPr/>
        </p:nvSpPr>
        <p:spPr>
          <a:xfrm>
            <a:off x="737141" y="3471288"/>
            <a:ext cx="1957842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로스트 왁스 주조용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폐왁스의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재생장치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6F989D6-AFAD-4BD5-8F37-C28FC01F67B4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>
          <a:xfrm>
            <a:off x="1716062" y="3932953"/>
            <a:ext cx="1" cy="1402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513C404-2A87-4E14-85E8-C3CA1D0A05C6}"/>
              </a:ext>
            </a:extLst>
          </p:cNvPr>
          <p:cNvCxnSpPr>
            <a:cxnSpLocks/>
            <a:stCxn id="41" idx="2"/>
            <a:endCxn id="22" idx="0"/>
          </p:cNvCxnSpPr>
          <p:nvPr/>
        </p:nvCxnSpPr>
        <p:spPr>
          <a:xfrm flipH="1">
            <a:off x="1716062" y="4350202"/>
            <a:ext cx="1" cy="1508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4130F92-BFED-41BE-80C0-B40193DAF13B}"/>
              </a:ext>
            </a:extLst>
          </p:cNvPr>
          <p:cNvSpPr txBox="1"/>
          <p:nvPr/>
        </p:nvSpPr>
        <p:spPr>
          <a:xfrm>
            <a:off x="2477708" y="4061040"/>
            <a:ext cx="667476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B735FDE-534D-4C32-A88C-0033E968BCF4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811446" y="4338039"/>
            <a:ext cx="0" cy="1559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675BF3F3-C91C-4F21-A764-A7281904A65E}"/>
              </a:ext>
            </a:extLst>
          </p:cNvPr>
          <p:cNvSpPr/>
          <p:nvPr/>
        </p:nvSpPr>
        <p:spPr>
          <a:xfrm>
            <a:off x="2738063" y="449399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AD79FE-4685-490A-A61E-4F240A3AE857}"/>
              </a:ext>
            </a:extLst>
          </p:cNvPr>
          <p:cNvSpPr txBox="1"/>
          <p:nvPr/>
        </p:nvSpPr>
        <p:spPr>
          <a:xfrm>
            <a:off x="4027618" y="4061040"/>
            <a:ext cx="667476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포기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ADE4A9E-C751-4A2C-8B9C-17E5820A27EC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4361356" y="4338039"/>
            <a:ext cx="0" cy="1559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8D5F350E-3E73-431E-B0DA-76A12135E575}"/>
              </a:ext>
            </a:extLst>
          </p:cNvPr>
          <p:cNvSpPr/>
          <p:nvPr/>
        </p:nvSpPr>
        <p:spPr>
          <a:xfrm>
            <a:off x="4287973" y="449399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A0F166C-73C2-4228-BDE4-CAA5D7881981}"/>
              </a:ext>
            </a:extLst>
          </p:cNvPr>
          <p:cNvSpPr/>
          <p:nvPr/>
        </p:nvSpPr>
        <p:spPr>
          <a:xfrm>
            <a:off x="6314818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2B1C9FE-8D7C-43D8-8F84-85BC9AF0C919}"/>
              </a:ext>
            </a:extLst>
          </p:cNvPr>
          <p:cNvCxnSpPr>
            <a:cxnSpLocks/>
            <a:stCxn id="78" idx="0"/>
            <a:endCxn id="76" idx="4"/>
          </p:cNvCxnSpPr>
          <p:nvPr/>
        </p:nvCxnSpPr>
        <p:spPr>
          <a:xfrm flipV="1">
            <a:off x="6392187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438682B-790F-402A-8545-CAD2FC4B1F85}"/>
              </a:ext>
            </a:extLst>
          </p:cNvPr>
          <p:cNvSpPr txBox="1"/>
          <p:nvPr/>
        </p:nvSpPr>
        <p:spPr>
          <a:xfrm>
            <a:off x="6015060" y="4858427"/>
            <a:ext cx="754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784455AA-DE5D-4168-B07C-4DAA9F22CFC0}"/>
              </a:ext>
            </a:extLst>
          </p:cNvPr>
          <p:cNvSpPr/>
          <p:nvPr/>
        </p:nvSpPr>
        <p:spPr>
          <a:xfrm>
            <a:off x="7551363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63814A67-DFB5-4FB5-A6D8-4FDE28A00532}"/>
              </a:ext>
            </a:extLst>
          </p:cNvPr>
          <p:cNvCxnSpPr>
            <a:cxnSpLocks/>
            <a:stCxn id="93" idx="0"/>
            <a:endCxn id="84" idx="4"/>
          </p:cNvCxnSpPr>
          <p:nvPr/>
        </p:nvCxnSpPr>
        <p:spPr>
          <a:xfrm flipV="1">
            <a:off x="7628732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A82D6E7-94E1-4D7A-BE0F-E4A86DF18AE7}"/>
              </a:ext>
            </a:extLst>
          </p:cNvPr>
          <p:cNvSpPr txBox="1"/>
          <p:nvPr/>
        </p:nvSpPr>
        <p:spPr>
          <a:xfrm>
            <a:off x="6869605" y="4858427"/>
            <a:ext cx="1518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乙의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605601D7-A620-442B-9D2B-1EDBBF7D1A62}"/>
              </a:ext>
            </a:extLst>
          </p:cNvPr>
          <p:cNvSpPr/>
          <p:nvPr/>
        </p:nvSpPr>
        <p:spPr>
          <a:xfrm>
            <a:off x="8815071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03BA267D-D576-40B9-AE81-D6CDD7B30C4B}"/>
              </a:ext>
            </a:extLst>
          </p:cNvPr>
          <p:cNvCxnSpPr>
            <a:cxnSpLocks/>
            <a:stCxn id="97" idx="0"/>
            <a:endCxn id="95" idx="4"/>
          </p:cNvCxnSpPr>
          <p:nvPr/>
        </p:nvCxnSpPr>
        <p:spPr>
          <a:xfrm flipV="1">
            <a:off x="8892440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B1E8417-EE45-41D8-AA52-2B2FD1584DB8}"/>
              </a:ext>
            </a:extLst>
          </p:cNvPr>
          <p:cNvSpPr txBox="1"/>
          <p:nvPr/>
        </p:nvSpPr>
        <p:spPr>
          <a:xfrm>
            <a:off x="8515313" y="4858427"/>
            <a:ext cx="754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인용판결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5A211B6B-4B83-4475-BC09-A41F7D1360F6}"/>
              </a:ext>
            </a:extLst>
          </p:cNvPr>
          <p:cNvSpPr/>
          <p:nvPr/>
        </p:nvSpPr>
        <p:spPr>
          <a:xfrm>
            <a:off x="9668112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904B8374-B68D-43D2-87E8-8A6113BBD27D}"/>
              </a:ext>
            </a:extLst>
          </p:cNvPr>
          <p:cNvCxnSpPr>
            <a:cxnSpLocks/>
            <a:stCxn id="100" idx="0"/>
            <a:endCxn id="98" idx="4"/>
          </p:cNvCxnSpPr>
          <p:nvPr/>
        </p:nvCxnSpPr>
        <p:spPr>
          <a:xfrm flipV="1">
            <a:off x="9745481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A5608C0-33C9-44C8-B175-F35BA9A093BD}"/>
              </a:ext>
            </a:extLst>
          </p:cNvPr>
          <p:cNvSpPr txBox="1"/>
          <p:nvPr/>
        </p:nvSpPr>
        <p:spPr>
          <a:xfrm>
            <a:off x="9370958" y="4858427"/>
            <a:ext cx="74904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53743B83-8563-4876-A9C6-AE220FB3E0B6}"/>
              </a:ext>
            </a:extLst>
          </p:cNvPr>
          <p:cNvSpPr/>
          <p:nvPr/>
        </p:nvSpPr>
        <p:spPr>
          <a:xfrm>
            <a:off x="10502612" y="449399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AB14D99-378A-4EE2-AB6C-22EC0B080725}"/>
              </a:ext>
            </a:extLst>
          </p:cNvPr>
          <p:cNvCxnSpPr>
            <a:cxnSpLocks/>
            <a:stCxn id="103" idx="0"/>
            <a:endCxn id="101" idx="4"/>
          </p:cNvCxnSpPr>
          <p:nvPr/>
        </p:nvCxnSpPr>
        <p:spPr>
          <a:xfrm flipV="1">
            <a:off x="10579981" y="4655337"/>
            <a:ext cx="0" cy="203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FB62375-65F0-4A2E-B76F-E3A9E3691CF6}"/>
              </a:ext>
            </a:extLst>
          </p:cNvPr>
          <p:cNvSpPr txBox="1"/>
          <p:nvPr/>
        </p:nvSpPr>
        <p:spPr>
          <a:xfrm>
            <a:off x="10202854" y="4858427"/>
            <a:ext cx="75425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말풍선: 모서리가 둥근 사각형 46">
            <a:extLst>
              <a:ext uri="{FF2B5EF4-FFF2-40B4-BE49-F238E27FC236}">
                <a16:creationId xmlns:a16="http://schemas.microsoft.com/office/drawing/2014/main" id="{C7B0F6DC-3155-4D54-98EC-5B8D2D2AC288}"/>
              </a:ext>
            </a:extLst>
          </p:cNvPr>
          <p:cNvSpPr/>
          <p:nvPr/>
        </p:nvSpPr>
        <p:spPr>
          <a:xfrm>
            <a:off x="4234543" y="5511765"/>
            <a:ext cx="6890657" cy="325727"/>
          </a:xfrm>
          <a:prstGeom prst="wedgeRoundRectCallout">
            <a:avLst>
              <a:gd name="adj1" fmla="val -20126"/>
              <a:gd name="adj2" fmla="val -10478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실질적 동일성이 있으나 어느 한 권리를 유지하고 나머지 권리를 포기한 경우 협의가 이루어진 것으로 봐야 함</a:t>
            </a:r>
          </a:p>
        </p:txBody>
      </p:sp>
      <p:sp>
        <p:nvSpPr>
          <p:cNvPr id="104" name="말풍선: 모서리가 둥근 사각형 103">
            <a:extLst>
              <a:ext uri="{FF2B5EF4-FFF2-40B4-BE49-F238E27FC236}">
                <a16:creationId xmlns:a16="http://schemas.microsoft.com/office/drawing/2014/main" id="{43373A3F-398A-41D9-84F5-BAC68481A06C}"/>
              </a:ext>
            </a:extLst>
          </p:cNvPr>
          <p:cNvSpPr/>
          <p:nvPr/>
        </p:nvSpPr>
        <p:spPr>
          <a:xfrm>
            <a:off x="4768477" y="3597428"/>
            <a:ext cx="7245715" cy="528840"/>
          </a:xfrm>
          <a:prstGeom prst="wedgeRoundRectCallout">
            <a:avLst>
              <a:gd name="adj1" fmla="val 26554"/>
              <a:gd name="adj2" fmla="val 16902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실질적 동일성이 있으며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사후적으로 포기하더라도 제</a:t>
            </a:r>
            <a:r>
              <a:rPr lang="en-US" altLang="ko-KR" sz="1200" dirty="0">
                <a:solidFill>
                  <a:schemeClr val="tx1"/>
                </a:solidFill>
              </a:rPr>
              <a:t>36</a:t>
            </a:r>
            <a:r>
              <a:rPr lang="ko-KR" altLang="en-US" sz="1200" dirty="0">
                <a:solidFill>
                  <a:schemeClr val="tx1"/>
                </a:solidFill>
              </a:rPr>
              <a:t>조의 협의에 해당하지 않고 무효사유가 치유되지 않음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등록무효와 달리 소급효가 없어 포기하기 전까지는 권리가 유효하게 중복된 상태이므로 등록무효와 달리 봐야 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66AA437-29DE-465D-A1C1-A1E305F9D763}"/>
              </a:ext>
            </a:extLst>
          </p:cNvPr>
          <p:cNvSpPr/>
          <p:nvPr/>
        </p:nvSpPr>
        <p:spPr>
          <a:xfrm>
            <a:off x="113937" y="5923623"/>
            <a:ext cx="11987867" cy="9002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rgbClr val="FF0000"/>
                </a:solidFill>
              </a:rPr>
              <a:t>(</a:t>
            </a:r>
            <a:r>
              <a:rPr lang="ko-KR" altLang="en-US" sz="1050" b="1" dirty="0">
                <a:solidFill>
                  <a:srgbClr val="FF0000"/>
                </a:solidFill>
              </a:rPr>
              <a:t>실질적 동일성의 비판</a:t>
            </a:r>
            <a:r>
              <a:rPr lang="en-US" altLang="ko-KR" sz="1050" b="1" dirty="0">
                <a:solidFill>
                  <a:srgbClr val="FF0000"/>
                </a:solidFill>
              </a:rPr>
              <a:t>) </a:t>
            </a:r>
            <a:r>
              <a:rPr lang="ko-KR" altLang="en-US" sz="1050" dirty="0"/>
              <a:t>출원인이 서로 상이하다고 판단하여 별개의 출원으로 출원한 복수의 발명을 그 구성의 차이에도 불구하고 </a:t>
            </a:r>
            <a:r>
              <a:rPr lang="en-US" altLang="ko-KR" sz="1050" dirty="0"/>
              <a:t>'</a:t>
            </a:r>
            <a:r>
              <a:rPr lang="ko-KR" altLang="en-US" sz="1050" dirty="0"/>
              <a:t>실질적으로 </a:t>
            </a:r>
            <a:r>
              <a:rPr lang="ko-KR" altLang="en-US" sz="1050" dirty="0" err="1"/>
              <a:t>동일’하다고</a:t>
            </a:r>
            <a:r>
              <a:rPr lang="ko-KR" altLang="en-US" sz="1050" dirty="0"/>
              <a:t> 판단하여 모두 무효로 하는 것은</a:t>
            </a:r>
            <a:r>
              <a:rPr lang="en-US" altLang="ko-KR" sz="1050" dirty="0"/>
              <a:t>, 1) </a:t>
            </a:r>
            <a:r>
              <a:rPr lang="ko-KR" altLang="en-US" sz="1050" dirty="0"/>
              <a:t>이와 같은 복수의 출원을 하나의 출원서에 복수의 청구항으로 기재하여 출원하는 경우라면 모두 유효하게 등록될 수 있었을 것이라는 점과</a:t>
            </a:r>
            <a:r>
              <a:rPr lang="en-US" altLang="ko-KR" sz="1050" dirty="0"/>
              <a:t>, 2) </a:t>
            </a:r>
            <a:r>
              <a:rPr lang="ko-KR" altLang="en-US" sz="1050" dirty="0"/>
              <a:t>유사한 복수의 발명을 출원일을 달리하여 출원하는 경우에는 독점권을 부당하게 연장시키는 효과가 발생할 수도 있으나</a:t>
            </a:r>
            <a:r>
              <a:rPr lang="en-US" altLang="ko-KR" sz="1050" dirty="0"/>
              <a:t>, </a:t>
            </a:r>
            <a:r>
              <a:rPr lang="ko-KR" altLang="en-US" sz="1050" dirty="0"/>
              <a:t>출원일이 동일하므로 유사한 복수의 발명을 출원하여 독점권을 향유할 수 있는 기간을 부당하게 연장하는 점이 없다는 점</a:t>
            </a:r>
            <a:r>
              <a:rPr lang="en-US" altLang="ko-KR" sz="1050" dirty="0"/>
              <a:t>,  3) </a:t>
            </a:r>
            <a:r>
              <a:rPr lang="ko-KR" altLang="en-US" sz="1050" dirty="0"/>
              <a:t>특히 발명의 범주의 차이에도 불구하고 동일하다고 판단한 경우에서 물건의 발명과 방법의 발명은 특허권자가 누릴 수 있는 권리의 내용에 있어 큰 차이가 있다는 점</a:t>
            </a:r>
            <a:r>
              <a:rPr lang="en-US" altLang="ko-KR" sz="1050" dirty="0"/>
              <a:t>, 4) </a:t>
            </a:r>
            <a:r>
              <a:rPr lang="ko-KR" altLang="en-US" sz="1050" dirty="0"/>
              <a:t>선후출원 판단시의 실질적 동일성 개념의 적용은 미국에서 선출원에 비하여 진보성이 부정되는 후출원이 등록이 되지 아니하는 점과 일견 유사한 점이 있으나 미국에서도 이 경우 기간의 포기서</a:t>
            </a:r>
            <a:r>
              <a:rPr lang="en-US" altLang="ko-KR" sz="1050" dirty="0"/>
              <a:t>(terminal disclaimer) </a:t>
            </a:r>
            <a:r>
              <a:rPr lang="ko-KR" altLang="en-US" sz="1050" dirty="0"/>
              <a:t>제출로 동일인의 경우 경합발명이 모두 등록이 가능하다는 점을 상기하면</a:t>
            </a:r>
            <a:r>
              <a:rPr lang="en-US" altLang="ko-KR" sz="1050" dirty="0"/>
              <a:t>, </a:t>
            </a:r>
            <a:r>
              <a:rPr lang="ko-KR" altLang="en-US" sz="1050" dirty="0"/>
              <a:t>상기와 같은 결과는 매우 부당한 것이라고 생각된다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DE3E196-FEFA-4997-9849-3AF2F2D1B258}"/>
              </a:ext>
            </a:extLst>
          </p:cNvPr>
          <p:cNvSpPr/>
          <p:nvPr/>
        </p:nvSpPr>
        <p:spPr>
          <a:xfrm>
            <a:off x="10871617" y="4729162"/>
            <a:ext cx="325720" cy="32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FB1E980-9301-43C2-A78E-8FE7D74A1C02}"/>
              </a:ext>
            </a:extLst>
          </p:cNvPr>
          <p:cNvSpPr/>
          <p:nvPr/>
        </p:nvSpPr>
        <p:spPr>
          <a:xfrm>
            <a:off x="11197337" y="4729162"/>
            <a:ext cx="325720" cy="32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767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79509F-5216-C035-D723-7AE32CE1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7D3C623-9D3B-4267-DB69-C16E8FF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9B69469-AEBC-2300-B16E-10C8409A7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판례의 논거들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7EC58-1263-F08A-6927-74620DBF8306}"/>
              </a:ext>
            </a:extLst>
          </p:cNvPr>
          <p:cNvSpPr txBox="1"/>
          <p:nvPr/>
        </p:nvSpPr>
        <p:spPr>
          <a:xfrm>
            <a:off x="820135" y="1837768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 err="1"/>
              <a:t>문언적</a:t>
            </a:r>
            <a:r>
              <a:rPr lang="ko-KR" altLang="en-US" sz="2000" dirty="0"/>
              <a:t> 해석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B546E-7BD6-2894-CCA8-0D278B1C4D8E}"/>
              </a:ext>
            </a:extLst>
          </p:cNvPr>
          <p:cNvSpPr txBox="1"/>
          <p:nvPr/>
        </p:nvSpPr>
        <p:spPr>
          <a:xfrm>
            <a:off x="820135" y="3040484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/>
              <a:t>법규정</a:t>
            </a:r>
            <a:r>
              <a:rPr lang="en-US" altLang="ko-KR" sz="2000" dirty="0"/>
              <a:t>(</a:t>
            </a:r>
            <a:r>
              <a:rPr lang="ko-KR" altLang="en-US" sz="2000" dirty="0"/>
              <a:t>법리</a:t>
            </a:r>
            <a:r>
              <a:rPr lang="en-US" altLang="ko-KR" sz="2000" dirty="0"/>
              <a:t>)</a:t>
            </a:r>
            <a:r>
              <a:rPr lang="ko-KR" altLang="en-US" sz="2000" dirty="0"/>
              <a:t>의 </a:t>
            </a:r>
            <a:endParaRPr lang="en-US" altLang="ko-KR" sz="2000" dirty="0"/>
          </a:p>
          <a:p>
            <a:pPr algn="ctr"/>
            <a:r>
              <a:rPr lang="ko-KR" altLang="en-US" sz="2000" dirty="0"/>
              <a:t>취지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7B07C-DF73-0249-52E3-FDDA6092DCB6}"/>
              </a:ext>
            </a:extLst>
          </p:cNvPr>
          <p:cNvSpPr txBox="1"/>
          <p:nvPr/>
        </p:nvSpPr>
        <p:spPr>
          <a:xfrm>
            <a:off x="820135" y="4225272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/>
              <a:t>특허법의 목적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44F88-A4EE-DDF7-E483-20FEAA423288}"/>
              </a:ext>
            </a:extLst>
          </p:cNvPr>
          <p:cNvSpPr txBox="1"/>
          <p:nvPr/>
        </p:nvSpPr>
        <p:spPr>
          <a:xfrm>
            <a:off x="820135" y="5426134"/>
            <a:ext cx="2420470" cy="1073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000" dirty="0"/>
              <a:t>다른 법률과의 </a:t>
            </a:r>
            <a:endParaRPr lang="en-US" altLang="ko-KR" sz="2000" dirty="0"/>
          </a:p>
          <a:p>
            <a:pPr algn="ctr"/>
            <a:r>
              <a:rPr lang="ko-KR" altLang="en-US" sz="2000" dirty="0"/>
              <a:t>형평성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9877A0C-4DCB-7FAE-71C5-7AFEB8A512F9}"/>
              </a:ext>
            </a:extLst>
          </p:cNvPr>
          <p:cNvCxnSpPr>
            <a:cxnSpLocks/>
          </p:cNvCxnSpPr>
          <p:nvPr/>
        </p:nvCxnSpPr>
        <p:spPr>
          <a:xfrm>
            <a:off x="3527477" y="1649506"/>
            <a:ext cx="0" cy="504712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66129A-BFD1-6064-DE0C-FA82F6BBAFD6}"/>
              </a:ext>
            </a:extLst>
          </p:cNvPr>
          <p:cNvSpPr txBox="1"/>
          <p:nvPr/>
        </p:nvSpPr>
        <p:spPr>
          <a:xfrm>
            <a:off x="3724700" y="1070641"/>
            <a:ext cx="6333785" cy="36933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FFFF00"/>
                </a:solidFill>
              </a:rPr>
              <a:t>(2005</a:t>
            </a:r>
            <a:r>
              <a:rPr lang="ko-KR" altLang="en-US" sz="1800" dirty="0">
                <a:solidFill>
                  <a:srgbClr val="FFFF00"/>
                </a:solidFill>
              </a:rPr>
              <a:t>후</a:t>
            </a:r>
            <a:r>
              <a:rPr lang="en-US" altLang="ko-KR" sz="1800" dirty="0">
                <a:solidFill>
                  <a:srgbClr val="FFFF00"/>
                </a:solidFill>
              </a:rPr>
              <a:t>3017) </a:t>
            </a:r>
            <a:r>
              <a:rPr lang="ko-KR" altLang="en-US" dirty="0">
                <a:solidFill>
                  <a:srgbClr val="FFFF00"/>
                </a:solidFill>
              </a:rPr>
              <a:t>특허권의 포기에 대해서는 선출원의 지위가 인정됨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93E9CD-DED6-D614-0788-65D77B9DA38D}"/>
              </a:ext>
            </a:extLst>
          </p:cNvPr>
          <p:cNvSpPr txBox="1"/>
          <p:nvPr/>
        </p:nvSpPr>
        <p:spPr>
          <a:xfrm>
            <a:off x="3724699" y="1830108"/>
            <a:ext cx="7923961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36</a:t>
            </a:r>
            <a:r>
              <a:rPr lang="ko-KR" altLang="en-US" sz="1600" dirty="0">
                <a:solidFill>
                  <a:srgbClr val="FF0000"/>
                </a:solidFill>
              </a:rPr>
              <a:t>조</a:t>
            </a:r>
            <a:r>
              <a:rPr lang="ko-KR" altLang="en-US" sz="1600" dirty="0"/>
              <a:t>에 선출원의 지위 불인정 사유로 규정되어 있지 않음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7043D-FCA1-CA67-B640-77B32CF95921}"/>
              </a:ext>
            </a:extLst>
          </p:cNvPr>
          <p:cNvSpPr txBox="1"/>
          <p:nvPr/>
        </p:nvSpPr>
        <p:spPr>
          <a:xfrm>
            <a:off x="3724700" y="2214593"/>
            <a:ext cx="7923964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120</a:t>
            </a:r>
            <a:r>
              <a:rPr lang="ko-KR" altLang="en-US" sz="1600" dirty="0">
                <a:solidFill>
                  <a:srgbClr val="FF0000"/>
                </a:solidFill>
              </a:rPr>
              <a:t>조</a:t>
            </a:r>
            <a:r>
              <a:rPr lang="ko-KR" altLang="en-US" sz="1600" dirty="0"/>
              <a:t>에 의한 특허권의 포기는 특허권의 포기는 출원의 포기와 달리 소급효가 인정되지 않음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47F3E3-803A-EE43-5B73-CAD0D62256A7}"/>
              </a:ext>
            </a:extLst>
          </p:cNvPr>
          <p:cNvSpPr txBox="1"/>
          <p:nvPr/>
        </p:nvSpPr>
        <p:spPr>
          <a:xfrm>
            <a:off x="3724699" y="2593806"/>
            <a:ext cx="7923963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120</a:t>
            </a:r>
            <a:r>
              <a:rPr lang="ko-KR" altLang="en-US" sz="1600" dirty="0"/>
              <a:t>조에 의한 특허권의 포기는 </a:t>
            </a:r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101</a:t>
            </a:r>
            <a:r>
              <a:rPr lang="ko-KR" altLang="en-US" sz="1600" dirty="0">
                <a:solidFill>
                  <a:srgbClr val="FF0000"/>
                </a:solidFill>
              </a:rPr>
              <a:t>조제</a:t>
            </a:r>
            <a:r>
              <a:rPr lang="en-US" altLang="ko-KR" sz="1600" dirty="0">
                <a:solidFill>
                  <a:srgbClr val="FF0000"/>
                </a:solidFill>
              </a:rPr>
              <a:t>1</a:t>
            </a:r>
            <a:r>
              <a:rPr lang="ko-KR" altLang="en-US" sz="1600" dirty="0" err="1">
                <a:solidFill>
                  <a:srgbClr val="FF0000"/>
                </a:solidFill>
              </a:rPr>
              <a:t>항제</a:t>
            </a:r>
            <a:r>
              <a:rPr lang="en-US" altLang="ko-KR" sz="1600" dirty="0">
                <a:solidFill>
                  <a:srgbClr val="FF0000"/>
                </a:solidFill>
              </a:rPr>
              <a:t>1</a:t>
            </a:r>
            <a:r>
              <a:rPr lang="ko-KR" altLang="en-US" sz="1600" dirty="0">
                <a:solidFill>
                  <a:srgbClr val="FF0000"/>
                </a:solidFill>
              </a:rPr>
              <a:t>호</a:t>
            </a:r>
            <a:r>
              <a:rPr lang="ko-KR" altLang="en-US" sz="1600" dirty="0"/>
              <a:t>에 따라 등록이 </a:t>
            </a:r>
            <a:r>
              <a:rPr lang="ko-KR" altLang="en-US" sz="1600" dirty="0" err="1"/>
              <a:t>효력발생요건인데</a:t>
            </a:r>
            <a:endParaRPr lang="en-US" altLang="ko-KR" sz="1600" dirty="0"/>
          </a:p>
          <a:p>
            <a:r>
              <a:rPr lang="ko-KR" altLang="en-US" sz="1600" dirty="0"/>
              <a:t>대외적인 공시방법으로 충분하지 않음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409775-5262-4FE1-37B0-B8CBDC34003E}"/>
              </a:ext>
            </a:extLst>
          </p:cNvPr>
          <p:cNvSpPr txBox="1"/>
          <p:nvPr/>
        </p:nvSpPr>
        <p:spPr>
          <a:xfrm>
            <a:off x="3724700" y="3345319"/>
            <a:ext cx="7923962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120</a:t>
            </a:r>
            <a:r>
              <a:rPr lang="ko-KR" altLang="en-US" sz="1600" dirty="0"/>
              <a:t>조에 의한 특허권의 포기는 특허권자가 시기와 대상을 임의로 정할 수 있어서 법적 안정성을 해침</a:t>
            </a:r>
          </a:p>
        </p:txBody>
      </p:sp>
    </p:spTree>
    <p:extLst>
      <p:ext uri="{BB962C8B-B14F-4D97-AF65-F5344CB8AC3E}">
        <p14:creationId xmlns:p14="http://schemas.microsoft.com/office/powerpoint/2010/main" val="2016056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발명의 범주가 다른 경우의 선출원주의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85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(1990.1.13.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42307</a:t>
            </a:r>
            <a:r>
              <a:rPr lang="ko-KR" altLang="en-US" sz="1400" dirty="0"/>
              <a:t>호로 전부 개정되기 전의 것</a:t>
            </a:r>
            <a:r>
              <a:rPr lang="en-US" altLang="ko-KR" sz="1400" dirty="0"/>
              <a:t>)</a:t>
            </a:r>
            <a:r>
              <a:rPr lang="ko-KR" altLang="en-US" sz="1400" dirty="0"/>
              <a:t>제</a:t>
            </a:r>
            <a:r>
              <a:rPr lang="en-US" altLang="ko-KR" sz="1400" dirty="0"/>
              <a:t>11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은 동일한 발명에 대하여는 최선출원에 한하여 특허를 받을 수 있다고 규정하여 동일한 발명에 대한 중복등록을 방지하기 위하여 선출원주의를 채택하고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전후로 출원된 양 발명이 동일하다고 함은 그 기술적 구성이 전면적으로 일치하는 경우는 물론 그 범위에 차이가 있을 뿐 부분적으로 일치하는 경우라도 특별한 사정이 없는 한</a:t>
            </a:r>
            <a:r>
              <a:rPr lang="en-US" altLang="ko-KR" sz="1400" dirty="0"/>
              <a:t>, </a:t>
            </a:r>
            <a:r>
              <a:rPr lang="ko-KR" altLang="en-US" sz="1400" dirty="0"/>
              <a:t>양발명은 동일하고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비록 양 발명의 구성에 상이점이 있어도 그 기술분야에 통상의 지식을 가진 자가 보통으로 채용하는 정도의 변경에 지나지 아니하고 발명의 목적과 작용 효과에 특별한 차이를 일으키지 아니하는 경우</a:t>
            </a:r>
            <a:r>
              <a:rPr lang="ko-KR" altLang="en-US" sz="1400" dirty="0"/>
              <a:t>에는 양 발명은 역시 동일한 발명이다</a:t>
            </a:r>
            <a:r>
              <a:rPr lang="en-US" altLang="ko-KR" sz="1400" dirty="0"/>
              <a:t>.  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(1990.1.13.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42307</a:t>
            </a:r>
            <a:r>
              <a:rPr lang="ko-KR" altLang="en-US" sz="1400" dirty="0"/>
              <a:t>호로 전부 개정되기 전의 것</a:t>
            </a:r>
            <a:r>
              <a:rPr lang="en-US" altLang="ko-KR" sz="1400" dirty="0"/>
              <a:t>)</a:t>
            </a:r>
            <a:r>
              <a:rPr lang="ko-KR" altLang="en-US" sz="1400" dirty="0"/>
              <a:t>제</a:t>
            </a:r>
            <a:r>
              <a:rPr lang="en-US" altLang="ko-KR" sz="1400" dirty="0"/>
              <a:t>11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항을 적용하기 위한 전제로서 두 발명이 서로 동일한 발명인지 여부를 판단함에 있어서는 대비되는 두 발명의 실체를 파악하여 따져보아야 할 것이지 표현양식에 따른 차이가 있는지 여부에 따라 판단할 것은 아니므로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대비되는 두 발명이 각각 물건의 발명과 방법의 발명으로 서로 발명의 범주가 다르다는 사정만으로 곧바로 동일한 발명이 아니라고 단정할 수 없다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/>
              <a:t>  </a:t>
            </a:r>
          </a:p>
          <a:p>
            <a:pPr fontAlgn="base"/>
            <a:r>
              <a:rPr lang="en-US" altLang="ko-KR" sz="1400" dirty="0"/>
              <a:t>[3] </a:t>
            </a:r>
            <a:r>
              <a:rPr lang="ko-KR" altLang="en-US" sz="1400" dirty="0"/>
              <a:t>등록된 특허발명이 그 출원 전에 국내에서 공지되었거나 공연히 실시된 발명으로서 신규성이 없는 경우에는 그에 대한 등록무효심판이 없어도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그 권리범위를 인정 할 수 없으며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특허무효사유에 있어서 신규성 결여와 선출원주의 위반은 특허발명 내지 </a:t>
            </a:r>
            <a:r>
              <a:rPr lang="ko-KR" altLang="en-US" sz="1400" dirty="0" err="1"/>
              <a:t>후출원발명과</a:t>
            </a:r>
            <a:r>
              <a:rPr lang="ko-KR" altLang="en-US" sz="1400" dirty="0"/>
              <a:t> 선행발명 내지 선출원발명의 동일성 여부가 문제된다는 점에서 다르지 않으므로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위 법리는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후출원발명에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선출원주의 위반의 무효사유가 있는 경우에도 그대로 적용</a:t>
            </a:r>
            <a:r>
              <a:rPr lang="ko-KR" altLang="en-US" sz="1400" dirty="0"/>
              <a:t>된다</a:t>
            </a:r>
            <a:r>
              <a:rPr lang="en-US" altLang="ko-KR" sz="1400" dirty="0"/>
              <a:t>. </a:t>
            </a:r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456325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1530399" y="4819433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2033488" y="4476409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0"/>
            <a:endCxn id="22" idx="4"/>
          </p:cNvCxnSpPr>
          <p:nvPr/>
        </p:nvCxnSpPr>
        <p:spPr>
          <a:xfrm flipH="1" flipV="1">
            <a:off x="2104062" y="4623577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1FAB89-FCF5-43F0-95FF-6883B7A962C2}"/>
              </a:ext>
            </a:extLst>
          </p:cNvPr>
          <p:cNvSpPr txBox="1"/>
          <p:nvPr/>
        </p:nvSpPr>
        <p:spPr>
          <a:xfrm>
            <a:off x="5944560" y="4819433"/>
            <a:ext cx="720266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87B676-6868-44D3-B4DB-53B7D46E69F1}"/>
              </a:ext>
            </a:extLst>
          </p:cNvPr>
          <p:cNvSpPr/>
          <p:nvPr/>
        </p:nvSpPr>
        <p:spPr>
          <a:xfrm>
            <a:off x="6227323" y="446932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16A2BCD-A858-4187-8094-DEF1E330CA4D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6304692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64867"/>
            <a:ext cx="5969374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2009. 9. 24.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2007</a:t>
            </a:r>
            <a:r>
              <a:rPr lang="ko-KR" altLang="en-US" sz="1600" dirty="0"/>
              <a:t>후</a:t>
            </a:r>
            <a:r>
              <a:rPr lang="en-US" altLang="ko-KR" sz="1600" dirty="0"/>
              <a:t>2827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권리범위확인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384890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AC2CAAE-BD39-4990-A867-53F268370BFC}"/>
              </a:ext>
            </a:extLst>
          </p:cNvPr>
          <p:cNvSpPr txBox="1"/>
          <p:nvPr/>
        </p:nvSpPr>
        <p:spPr>
          <a:xfrm>
            <a:off x="472884" y="5257845"/>
            <a:ext cx="3262356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암로디핀</a:t>
            </a:r>
            <a:r>
              <a:rPr lang="ko-KR" altLang="en-US" sz="1200" dirty="0"/>
              <a:t> 염기를 불활성 용매 중에서 </a:t>
            </a:r>
            <a:r>
              <a:rPr lang="ko-KR" altLang="en-US" sz="1200" dirty="0" err="1"/>
              <a:t>벤젠설폰산</a:t>
            </a:r>
            <a:r>
              <a:rPr lang="ko-KR" altLang="en-US" sz="1200" dirty="0"/>
              <a:t> 또는 그의 암모늄염의 용액과 반응시킨 후 </a:t>
            </a:r>
            <a:r>
              <a:rPr lang="ko-KR" altLang="en-US" sz="1200" dirty="0" err="1"/>
              <a:t>암로디핀의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베실레이트염을</a:t>
            </a:r>
            <a:r>
              <a:rPr lang="ko-KR" altLang="en-US" sz="1200" dirty="0"/>
              <a:t> 회수함을 특징으로 하여 </a:t>
            </a:r>
            <a:r>
              <a:rPr lang="ko-KR" altLang="en-US" sz="1200" dirty="0" err="1"/>
              <a:t>암로디핀의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베실레이트염을</a:t>
            </a:r>
            <a:r>
              <a:rPr lang="ko-KR" altLang="en-US" sz="1200" dirty="0"/>
              <a:t> 제조하는 방법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52B0388-8969-4B15-B793-E3C1AF7D164D}"/>
              </a:ext>
            </a:extLst>
          </p:cNvPr>
          <p:cNvCxnSpPr>
            <a:cxnSpLocks/>
            <a:stCxn id="37" idx="0"/>
            <a:endCxn id="21" idx="2"/>
          </p:cNvCxnSpPr>
          <p:nvPr/>
        </p:nvCxnSpPr>
        <p:spPr>
          <a:xfrm flipV="1">
            <a:off x="2104062" y="5096432"/>
            <a:ext cx="1" cy="1614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999B311-108C-4360-B404-112176F90F45}"/>
              </a:ext>
            </a:extLst>
          </p:cNvPr>
          <p:cNvSpPr txBox="1"/>
          <p:nvPr/>
        </p:nvSpPr>
        <p:spPr>
          <a:xfrm>
            <a:off x="4202166" y="4819433"/>
            <a:ext cx="11473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특허출원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9A5A288-5FA6-46E6-BC75-43B7FB32100D}"/>
              </a:ext>
            </a:extLst>
          </p:cNvPr>
          <p:cNvSpPr/>
          <p:nvPr/>
        </p:nvSpPr>
        <p:spPr>
          <a:xfrm>
            <a:off x="4705255" y="4476409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A0317E4-1917-4596-8F89-DE15A2F8693F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4775829" y="4623577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B666DEF-976A-4485-BF11-5BA2FC8164BF}"/>
              </a:ext>
            </a:extLst>
          </p:cNvPr>
          <p:cNvSpPr txBox="1"/>
          <p:nvPr/>
        </p:nvSpPr>
        <p:spPr>
          <a:xfrm>
            <a:off x="6800987" y="4819433"/>
            <a:ext cx="72026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40A2FA9-1AF7-4118-BB3B-0B51F886A91A}"/>
              </a:ext>
            </a:extLst>
          </p:cNvPr>
          <p:cNvSpPr/>
          <p:nvPr/>
        </p:nvSpPr>
        <p:spPr>
          <a:xfrm>
            <a:off x="7083750" y="446932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CD9C98D-7A02-461F-9633-FD964C654F46}"/>
              </a:ext>
            </a:extLst>
          </p:cNvPr>
          <p:cNvCxnSpPr>
            <a:cxnSpLocks/>
            <a:stCxn id="66" idx="0"/>
            <a:endCxn id="67" idx="4"/>
          </p:cNvCxnSpPr>
          <p:nvPr/>
        </p:nvCxnSpPr>
        <p:spPr>
          <a:xfrm flipH="1" flipV="1">
            <a:off x="7161119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25C9412-C9FA-4CF0-85C6-81EC37FF4FAA}"/>
              </a:ext>
            </a:extLst>
          </p:cNvPr>
          <p:cNvSpPr txBox="1"/>
          <p:nvPr/>
        </p:nvSpPr>
        <p:spPr>
          <a:xfrm>
            <a:off x="3815093" y="5257845"/>
            <a:ext cx="192147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암로디핀의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베실레이트염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90EFF77-743B-4320-AE0C-1C6DCE726A20}"/>
              </a:ext>
            </a:extLst>
          </p:cNvPr>
          <p:cNvCxnSpPr>
            <a:cxnSpLocks/>
            <a:stCxn id="69" idx="0"/>
            <a:endCxn id="60" idx="2"/>
          </p:cNvCxnSpPr>
          <p:nvPr/>
        </p:nvCxnSpPr>
        <p:spPr>
          <a:xfrm flipV="1">
            <a:off x="4775829" y="5096432"/>
            <a:ext cx="1" cy="1614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663F233-3270-46CE-AC7E-08B18F89A077}"/>
              </a:ext>
            </a:extLst>
          </p:cNvPr>
          <p:cNvSpPr txBox="1"/>
          <p:nvPr/>
        </p:nvSpPr>
        <p:spPr>
          <a:xfrm>
            <a:off x="7890138" y="4819433"/>
            <a:ext cx="1996288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丙 소극적 권리범위 청구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5C73ACC-334A-47F7-A7E9-DE32779A3F74}"/>
              </a:ext>
            </a:extLst>
          </p:cNvPr>
          <p:cNvSpPr/>
          <p:nvPr/>
        </p:nvSpPr>
        <p:spPr>
          <a:xfrm>
            <a:off x="8810912" y="4469324"/>
            <a:ext cx="154738" cy="16133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4CD380B-A1C4-419A-9CC1-854A74D308A3}"/>
              </a:ext>
            </a:extLst>
          </p:cNvPr>
          <p:cNvCxnSpPr>
            <a:cxnSpLocks/>
            <a:stCxn id="71" idx="0"/>
            <a:endCxn id="79" idx="4"/>
          </p:cNvCxnSpPr>
          <p:nvPr/>
        </p:nvCxnSpPr>
        <p:spPr>
          <a:xfrm flipH="1" flipV="1">
            <a:off x="8888281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40A7C9-79E0-4CEF-BF03-743C0BCA5657}"/>
              </a:ext>
            </a:extLst>
          </p:cNvPr>
          <p:cNvSpPr txBox="1"/>
          <p:nvPr/>
        </p:nvSpPr>
        <p:spPr>
          <a:xfrm>
            <a:off x="10263880" y="4819433"/>
            <a:ext cx="1054150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+mn-ea"/>
              </a:rPr>
              <a:t>인용심결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(Y)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1FD8562-30CC-4973-89CD-B5CFF7EACBD8}"/>
              </a:ext>
            </a:extLst>
          </p:cNvPr>
          <p:cNvSpPr/>
          <p:nvPr/>
        </p:nvSpPr>
        <p:spPr>
          <a:xfrm>
            <a:off x="10713585" y="4469324"/>
            <a:ext cx="154738" cy="16133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9358921-39CF-44C3-848A-E5A513D013F5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10790954" y="4630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DD021D7D-C776-42D1-B61D-4C80C7620963}"/>
              </a:ext>
            </a:extLst>
          </p:cNvPr>
          <p:cNvSpPr/>
          <p:nvPr/>
        </p:nvSpPr>
        <p:spPr>
          <a:xfrm>
            <a:off x="8515935" y="5678279"/>
            <a:ext cx="317241" cy="3172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578F54A-B0BE-45C2-B4A0-6C10BA0FAEC2}"/>
              </a:ext>
            </a:extLst>
          </p:cNvPr>
          <p:cNvSpPr/>
          <p:nvPr/>
        </p:nvSpPr>
        <p:spPr>
          <a:xfrm>
            <a:off x="6040793" y="6090894"/>
            <a:ext cx="317241" cy="3172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0CC6B1A-8D2B-4433-8056-9DE2E8F54A4A}"/>
              </a:ext>
            </a:extLst>
          </p:cNvPr>
          <p:cNvSpPr/>
          <p:nvPr/>
        </p:nvSpPr>
        <p:spPr>
          <a:xfrm>
            <a:off x="10661601" y="5126582"/>
            <a:ext cx="317241" cy="3172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CCFF819-37C6-A7B9-828E-D848FC01DF9A}"/>
              </a:ext>
            </a:extLst>
          </p:cNvPr>
          <p:cNvCxnSpPr>
            <a:endCxn id="69" idx="2"/>
          </p:cNvCxnSpPr>
          <p:nvPr/>
        </p:nvCxnSpPr>
        <p:spPr>
          <a:xfrm flipV="1">
            <a:off x="3735240" y="5534844"/>
            <a:ext cx="1040589" cy="27258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9CA73D-A044-AB92-2E4C-FF2E84C33EAB}"/>
              </a:ext>
            </a:extLst>
          </p:cNvPr>
          <p:cNvSpPr txBox="1"/>
          <p:nvPr/>
        </p:nvSpPr>
        <p:spPr>
          <a:xfrm>
            <a:off x="4749077" y="5728058"/>
            <a:ext cx="38314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제법에 의해 생산된 물건발명과 </a:t>
            </a:r>
            <a:r>
              <a:rPr lang="ko-KR" altLang="en-US" sz="1100" dirty="0" err="1">
                <a:solidFill>
                  <a:srgbClr val="FF0000"/>
                </a:solidFill>
              </a:rPr>
              <a:t>후출원</a:t>
            </a:r>
            <a:r>
              <a:rPr lang="ko-KR" altLang="en-US" sz="1100" dirty="0">
                <a:solidFill>
                  <a:srgbClr val="FF0000"/>
                </a:solidFill>
              </a:rPr>
              <a:t> 물건발명의 구성의 상이</a:t>
            </a:r>
            <a:endParaRPr lang="en-US" altLang="ko-KR" sz="1100" dirty="0">
              <a:solidFill>
                <a:srgbClr val="FF0000"/>
              </a:solidFill>
            </a:endParaRPr>
          </a:p>
          <a:p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제법발명</a:t>
            </a:r>
            <a:r>
              <a:rPr lang="en-US" altLang="ko-KR" sz="1100" dirty="0">
                <a:solidFill>
                  <a:srgbClr val="FF0000"/>
                </a:solidFill>
              </a:rPr>
              <a:t>-</a:t>
            </a:r>
            <a:r>
              <a:rPr lang="ko-KR" altLang="en-US" sz="1100" dirty="0">
                <a:solidFill>
                  <a:srgbClr val="FF0000"/>
                </a:solidFill>
              </a:rPr>
              <a:t>물건발명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520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3719244" y="3914453"/>
            <a:ext cx="6256746" cy="832207"/>
          </a:xfrm>
          <a:custGeom>
            <a:avLst/>
            <a:gdLst>
              <a:gd name="connsiteX0" fmla="*/ 0 w 6318607"/>
              <a:gd name="connsiteY0" fmla="*/ 832207 h 832207"/>
              <a:gd name="connsiteX1" fmla="*/ 277402 w 6318607"/>
              <a:gd name="connsiteY1" fmla="*/ 0 h 832207"/>
              <a:gd name="connsiteX2" fmla="*/ 6010382 w 6318607"/>
              <a:gd name="connsiteY2" fmla="*/ 0 h 832207"/>
              <a:gd name="connsiteX3" fmla="*/ 6318607 w 6318607"/>
              <a:gd name="connsiteY3" fmla="*/ 791110 h 83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8607" h="832207">
                <a:moveTo>
                  <a:pt x="0" y="832207"/>
                </a:moveTo>
                <a:lnTo>
                  <a:pt x="277402" y="0"/>
                </a:lnTo>
                <a:lnTo>
                  <a:pt x="6010382" y="0"/>
                </a:lnTo>
                <a:lnTo>
                  <a:pt x="6318607" y="791110"/>
                </a:lnTo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확대된 선출원의 개념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1656739" y="4750837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발명이 다음 각 호의 요건을 모두 갖춘 다른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발명과 동일한 경우에 그 발명은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특허출원의 발명자와 다른 특허출원의 발명자가 같거나 그 특허출원을 출원한 때의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출원인과</a:t>
            </a:r>
            <a:r>
              <a:rPr lang="ko-KR" altLang="en-US" sz="1400" dirty="0">
                <a:solidFill>
                  <a:schemeClr val="tx2"/>
                </a:solidFill>
              </a:rPr>
              <a:t> 다른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같은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1.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특허출원일 전에 출원된 특허출원일 것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 </a:t>
            </a:r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그 특허출원 후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조에 따라 출원공개되거나 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특허출원일 것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21566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167003" y="4534388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/>
          <p:cNvCxnSpPr>
            <a:stCxn id="28" idx="0"/>
            <a:endCxn id="30" idx="2"/>
          </p:cNvCxnSpPr>
          <p:nvPr/>
        </p:nvCxnSpPr>
        <p:spPr>
          <a:xfrm flipV="1">
            <a:off x="2480031" y="3558936"/>
            <a:ext cx="5856" cy="9754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66237" y="3251159"/>
            <a:ext cx="14393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다른 특허출원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963261" y="4240562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0114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8696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10</a:t>
            </a:r>
            <a:r>
              <a:rPr lang="ko-KR" altLang="en-US" sz="1400" dirty="0"/>
              <a:t>시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584297" y="4534388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solidFill>
                  <a:schemeClr val="tx1"/>
                </a:solidFill>
              </a:rPr>
              <a:t>출원공개일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/>
          <p:cNvCxnSpPr>
            <a:stCxn id="37" idx="0"/>
            <a:endCxn id="39" idx="2"/>
          </p:cNvCxnSpPr>
          <p:nvPr/>
        </p:nvCxnSpPr>
        <p:spPr>
          <a:xfrm flipV="1">
            <a:off x="9897325" y="3558936"/>
            <a:ext cx="5856" cy="9754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285029" y="3251159"/>
            <a:ext cx="123630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출원공개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8380555" y="4240562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r>
              <a:rPr lang="ko-KR" altLang="en-US" sz="1400" dirty="0"/>
              <a:t>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7408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24</a:t>
            </a:r>
            <a:r>
              <a:rPr lang="ko-KR" altLang="en-US" sz="1400" dirty="0"/>
              <a:t>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5990" y="424056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14</a:t>
            </a:r>
            <a:r>
              <a:rPr lang="ko-KR" altLang="en-US" sz="1400" dirty="0"/>
              <a:t>시</a:t>
            </a:r>
          </a:p>
        </p:txBody>
      </p:sp>
      <p:cxnSp>
        <p:nvCxnSpPr>
          <p:cNvPr id="46" name="직선 연결선 45"/>
          <p:cNvCxnSpPr>
            <a:endCxn id="47" idx="0"/>
          </p:cNvCxnSpPr>
          <p:nvPr/>
        </p:nvCxnSpPr>
        <p:spPr>
          <a:xfrm>
            <a:off x="6606170" y="4812408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876592" y="5257214"/>
            <a:ext cx="145915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 그 특허출원</a:t>
            </a:r>
            <a:r>
              <a:rPr lang="en-US" altLang="ko-KR" sz="1400" dirty="0"/>
              <a:t>(Y)</a:t>
            </a:r>
            <a:endParaRPr lang="ko-KR" altLang="en-US" sz="1100" dirty="0"/>
          </a:p>
        </p:txBody>
      </p:sp>
      <p:sp>
        <p:nvSpPr>
          <p:cNvPr id="49" name="직사각형 48"/>
          <p:cNvSpPr/>
          <p:nvPr/>
        </p:nvSpPr>
        <p:spPr>
          <a:xfrm>
            <a:off x="1766234" y="2716546"/>
            <a:ext cx="1439304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766234" y="2946047"/>
            <a:ext cx="1439304" cy="2295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876591" y="5636430"/>
            <a:ext cx="1459158" cy="2295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876591" y="5865931"/>
            <a:ext cx="1459158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구부러진 연결선 20"/>
          <p:cNvCxnSpPr>
            <a:stCxn id="50" idx="3"/>
            <a:endCxn id="54" idx="1"/>
          </p:cNvCxnSpPr>
          <p:nvPr/>
        </p:nvCxnSpPr>
        <p:spPr>
          <a:xfrm>
            <a:off x="3205538" y="3060797"/>
            <a:ext cx="2671053" cy="2690383"/>
          </a:xfrm>
          <a:prstGeom prst="curvedConnector3">
            <a:avLst>
              <a:gd name="adj1" fmla="val 50001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633026" y="3210966"/>
            <a:ext cx="15199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동일성</a:t>
            </a:r>
            <a:endParaRPr lang="en-US" altLang="ko-KR" sz="16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객관적 </a:t>
            </a:r>
            <a:r>
              <a:rPr lang="ko-KR" altLang="en-US" sz="1200" dirty="0" err="1"/>
              <a:t>창작성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527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기준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1229205"/>
            <a:ext cx="4607141" cy="1220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1600" dirty="0">
                <a:solidFill>
                  <a:schemeClr val="tx2"/>
                </a:solidFill>
              </a:rPr>
              <a:t>그 특허출원일</a:t>
            </a:r>
            <a:r>
              <a:rPr lang="en-US" altLang="ko-KR" sz="1600" dirty="0">
                <a:solidFill>
                  <a:schemeClr val="tx2"/>
                </a:solidFill>
              </a:rPr>
              <a:t>(Y) </a:t>
            </a:r>
            <a:r>
              <a:rPr lang="ko-KR" altLang="en-US" sz="1600" dirty="0">
                <a:solidFill>
                  <a:schemeClr val="tx2"/>
                </a:solidFill>
              </a:rPr>
              <a:t>전에 출원된 다른 특허출원</a:t>
            </a:r>
            <a:r>
              <a:rPr lang="en-US" altLang="ko-KR" sz="1600" dirty="0">
                <a:solidFill>
                  <a:schemeClr val="tx2"/>
                </a:solidFill>
              </a:rPr>
              <a:t>(X)</a:t>
            </a:r>
            <a:r>
              <a:rPr lang="ko-KR" altLang="en-US" sz="1600" dirty="0">
                <a:solidFill>
                  <a:schemeClr val="tx2"/>
                </a:solidFill>
              </a:rPr>
              <a:t>일 것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600" dirty="0">
                <a:solidFill>
                  <a:schemeClr val="tx2"/>
                </a:solidFill>
              </a:rPr>
              <a:t>= </a:t>
            </a:r>
            <a:r>
              <a:rPr lang="ko-KR" altLang="en-US" sz="1600" dirty="0">
                <a:solidFill>
                  <a:schemeClr val="tx2"/>
                </a:solidFill>
              </a:rPr>
              <a:t>다른 특허출원일</a:t>
            </a:r>
            <a:r>
              <a:rPr lang="en-US" altLang="ko-KR" sz="1600" dirty="0">
                <a:solidFill>
                  <a:schemeClr val="tx2"/>
                </a:solidFill>
              </a:rPr>
              <a:t>(X) </a:t>
            </a:r>
            <a:r>
              <a:rPr lang="ko-KR" altLang="en-US" sz="1600" dirty="0">
                <a:solidFill>
                  <a:schemeClr val="tx2"/>
                </a:solidFill>
              </a:rPr>
              <a:t>후 그 특허출원</a:t>
            </a:r>
            <a:r>
              <a:rPr lang="en-US" altLang="ko-KR" sz="1600" dirty="0">
                <a:solidFill>
                  <a:schemeClr val="tx2"/>
                </a:solidFill>
              </a:rPr>
              <a:t>(Y)</a:t>
            </a:r>
            <a:r>
              <a:rPr lang="ko-KR" altLang="en-US" sz="1600" dirty="0">
                <a:solidFill>
                  <a:schemeClr val="tx2"/>
                </a:solidFill>
              </a:rPr>
              <a:t>이 있을 것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1174" y="2879217"/>
            <a:ext cx="4607141" cy="1235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1600" dirty="0">
                <a:solidFill>
                  <a:schemeClr val="tx2"/>
                </a:solidFill>
              </a:rPr>
              <a:t>그 특허출원</a:t>
            </a:r>
            <a:r>
              <a:rPr lang="en-US" altLang="ko-KR" sz="1600" dirty="0">
                <a:solidFill>
                  <a:schemeClr val="tx2"/>
                </a:solidFill>
              </a:rPr>
              <a:t>(Y) </a:t>
            </a:r>
            <a:r>
              <a:rPr lang="ko-KR" altLang="en-US" sz="1600" dirty="0">
                <a:solidFill>
                  <a:schemeClr val="tx2"/>
                </a:solidFill>
              </a:rPr>
              <a:t>후에 </a:t>
            </a:r>
            <a:r>
              <a:rPr lang="ko-KR" altLang="en-US" sz="1600" dirty="0" err="1">
                <a:solidFill>
                  <a:schemeClr val="tx2"/>
                </a:solidFill>
              </a:rPr>
              <a:t>출원공개나</a:t>
            </a:r>
            <a:r>
              <a:rPr lang="ko-KR" altLang="en-US" sz="1600" dirty="0">
                <a:solidFill>
                  <a:schemeClr val="tx2"/>
                </a:solidFill>
              </a:rPr>
              <a:t> </a:t>
            </a:r>
            <a:r>
              <a:rPr lang="ko-KR" altLang="en-US" sz="16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600" dirty="0">
                <a:solidFill>
                  <a:schemeClr val="tx2"/>
                </a:solidFill>
              </a:rPr>
              <a:t> 다른 특허출원</a:t>
            </a:r>
            <a:r>
              <a:rPr lang="en-US" altLang="ko-KR" sz="1600" dirty="0">
                <a:solidFill>
                  <a:schemeClr val="tx2"/>
                </a:solidFill>
              </a:rPr>
              <a:t>(X)</a:t>
            </a:r>
            <a:r>
              <a:rPr lang="ko-KR" altLang="en-US" sz="1600" dirty="0">
                <a:solidFill>
                  <a:schemeClr val="tx2"/>
                </a:solidFill>
              </a:rPr>
              <a:t>일 것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600" dirty="0">
                <a:solidFill>
                  <a:schemeClr val="tx2"/>
                </a:solidFill>
              </a:rPr>
              <a:t>= </a:t>
            </a:r>
            <a:r>
              <a:rPr lang="ko-KR" altLang="en-US" sz="1600" dirty="0">
                <a:solidFill>
                  <a:schemeClr val="tx2"/>
                </a:solidFill>
              </a:rPr>
              <a:t>다른 특허출원</a:t>
            </a:r>
            <a:r>
              <a:rPr lang="en-US" altLang="ko-KR" sz="1600" dirty="0">
                <a:solidFill>
                  <a:schemeClr val="tx2"/>
                </a:solidFill>
              </a:rPr>
              <a:t>(X)</a:t>
            </a:r>
            <a:r>
              <a:rPr lang="ko-KR" altLang="en-US" sz="1600" dirty="0">
                <a:solidFill>
                  <a:schemeClr val="tx2"/>
                </a:solidFill>
              </a:rPr>
              <a:t>의 </a:t>
            </a:r>
            <a:r>
              <a:rPr lang="ko-KR" altLang="en-US" sz="1600" dirty="0" err="1">
                <a:solidFill>
                  <a:schemeClr val="tx2"/>
                </a:solidFill>
              </a:rPr>
              <a:t>출원공개나</a:t>
            </a:r>
            <a:r>
              <a:rPr lang="ko-KR" altLang="en-US" sz="1600" dirty="0">
                <a:solidFill>
                  <a:schemeClr val="tx2"/>
                </a:solidFill>
              </a:rPr>
              <a:t> </a:t>
            </a:r>
            <a:r>
              <a:rPr lang="ko-KR" altLang="en-US" sz="1600" dirty="0" err="1">
                <a:solidFill>
                  <a:schemeClr val="tx2"/>
                </a:solidFill>
              </a:rPr>
              <a:t>등록공고</a:t>
            </a:r>
            <a:r>
              <a:rPr lang="ko-KR" altLang="en-US" sz="1600" dirty="0">
                <a:solidFill>
                  <a:schemeClr val="tx2"/>
                </a:solidFill>
              </a:rPr>
              <a:t> 전에 그 특허출원</a:t>
            </a:r>
            <a:r>
              <a:rPr lang="en-US" altLang="ko-KR" sz="1600" dirty="0">
                <a:solidFill>
                  <a:schemeClr val="tx2"/>
                </a:solidFill>
              </a:rPr>
              <a:t>(Y)</a:t>
            </a:r>
            <a:r>
              <a:rPr lang="ko-KR" altLang="en-US" sz="1600" dirty="0">
                <a:solidFill>
                  <a:schemeClr val="tx2"/>
                </a:solidFill>
              </a:rPr>
              <a:t>이 있을 것</a:t>
            </a:r>
          </a:p>
        </p:txBody>
      </p:sp>
      <p:sp>
        <p:nvSpPr>
          <p:cNvPr id="61" name="자유형 60"/>
          <p:cNvSpPr/>
          <p:nvPr/>
        </p:nvSpPr>
        <p:spPr>
          <a:xfrm>
            <a:off x="5323839" y="1372889"/>
            <a:ext cx="1474364" cy="364501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dkVert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62" name="직선 연결선 61"/>
          <p:cNvCxnSpPr/>
          <p:nvPr/>
        </p:nvCxnSpPr>
        <p:spPr>
          <a:xfrm>
            <a:off x="5334222" y="1751031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6760767" y="1632314"/>
            <a:ext cx="1169836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그 특허출원일</a:t>
            </a:r>
          </a:p>
        </p:txBody>
      </p:sp>
      <p:cxnSp>
        <p:nvCxnSpPr>
          <p:cNvPr id="65" name="직선 연결선 64"/>
          <p:cNvCxnSpPr>
            <a:stCxn id="64" idx="2"/>
            <a:endCxn id="66" idx="0"/>
          </p:cNvCxnSpPr>
          <p:nvPr/>
        </p:nvCxnSpPr>
        <p:spPr>
          <a:xfrm>
            <a:off x="7345685" y="1869746"/>
            <a:ext cx="9890" cy="3158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780547" y="2185594"/>
            <a:ext cx="115005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36736" y="1111171"/>
            <a:ext cx="1441420" cy="2006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 특허출원일</a:t>
            </a:r>
            <a:r>
              <a:rPr lang="en-US" altLang="ko-KR" sz="1200" dirty="0"/>
              <a:t>(Y)</a:t>
            </a:r>
            <a:r>
              <a:rPr lang="ko-KR" altLang="en-US" sz="1200" dirty="0"/>
              <a:t> 전</a:t>
            </a:r>
          </a:p>
        </p:txBody>
      </p:sp>
      <p:cxnSp>
        <p:nvCxnSpPr>
          <p:cNvPr id="71" name="직선 연결선 70"/>
          <p:cNvCxnSpPr>
            <a:endCxn id="72" idx="0"/>
          </p:cNvCxnSpPr>
          <p:nvPr/>
        </p:nvCxnSpPr>
        <p:spPr>
          <a:xfrm>
            <a:off x="5731975" y="1780371"/>
            <a:ext cx="878" cy="1683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111412" y="1948763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다른 특허출원</a:t>
            </a:r>
            <a:r>
              <a:rPr lang="en-US" altLang="ko-KR" sz="1200" dirty="0"/>
              <a:t>(X)  </a:t>
            </a:r>
            <a:endParaRPr lang="ko-KR" altLang="en-US" sz="1200" dirty="0"/>
          </a:p>
        </p:txBody>
      </p:sp>
      <p:sp>
        <p:nvSpPr>
          <p:cNvPr id="73" name="직사각형 72"/>
          <p:cNvSpPr/>
          <p:nvPr/>
        </p:nvSpPr>
        <p:spPr>
          <a:xfrm>
            <a:off x="5317455" y="1118710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직사각형 8"/>
          <p:cNvSpPr/>
          <p:nvPr/>
        </p:nvSpPr>
        <p:spPr>
          <a:xfrm>
            <a:off x="5013789" y="1037689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5" name="자유형 14"/>
          <p:cNvSpPr/>
          <p:nvPr/>
        </p:nvSpPr>
        <p:spPr>
          <a:xfrm>
            <a:off x="10078948" y="1394875"/>
            <a:ext cx="1479479" cy="349745"/>
          </a:xfrm>
          <a:custGeom>
            <a:avLst/>
            <a:gdLst>
              <a:gd name="connsiteX0" fmla="*/ 0 w 1479479"/>
              <a:gd name="connsiteY0" fmla="*/ 482885 h 482885"/>
              <a:gd name="connsiteX1" fmla="*/ 215758 w 1479479"/>
              <a:gd name="connsiteY1" fmla="*/ 0 h 482885"/>
              <a:gd name="connsiteX2" fmla="*/ 1479479 w 1479479"/>
              <a:gd name="connsiteY2" fmla="*/ 0 h 482885"/>
              <a:gd name="connsiteX3" fmla="*/ 1479479 w 1479479"/>
              <a:gd name="connsiteY3" fmla="*/ 472611 h 48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479" h="482885">
                <a:moveTo>
                  <a:pt x="0" y="482885"/>
                </a:moveTo>
                <a:lnTo>
                  <a:pt x="215758" y="0"/>
                </a:lnTo>
                <a:lnTo>
                  <a:pt x="1479479" y="0"/>
                </a:lnTo>
                <a:lnTo>
                  <a:pt x="1479479" y="472611"/>
                </a:lnTo>
              </a:path>
            </a:pathLst>
          </a:cu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/>
          <p:cNvCxnSpPr/>
          <p:nvPr/>
        </p:nvCxnSpPr>
        <p:spPr>
          <a:xfrm>
            <a:off x="9170767" y="1751031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endCxn id="89" idx="0"/>
          </p:cNvCxnSpPr>
          <p:nvPr/>
        </p:nvCxnSpPr>
        <p:spPr>
          <a:xfrm>
            <a:off x="11182230" y="1780371"/>
            <a:ext cx="9890" cy="1819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0617092" y="1962355"/>
            <a:ext cx="115005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 </a:t>
            </a:r>
          </a:p>
        </p:txBody>
      </p:sp>
      <p:cxnSp>
        <p:nvCxnSpPr>
          <p:cNvPr id="93" name="직선 연결선 92"/>
          <p:cNvCxnSpPr>
            <a:stCxn id="97" idx="2"/>
            <a:endCxn id="94" idx="0"/>
          </p:cNvCxnSpPr>
          <p:nvPr/>
        </p:nvCxnSpPr>
        <p:spPr>
          <a:xfrm>
            <a:off x="9568354" y="1869746"/>
            <a:ext cx="1044" cy="3469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947957" y="2216652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다른 특허출원</a:t>
            </a:r>
            <a:r>
              <a:rPr lang="en-US" altLang="ko-KR" sz="1200" dirty="0"/>
              <a:t>(X)  </a:t>
            </a:r>
            <a:endParaRPr lang="ko-KR" altLang="en-US" sz="1200" dirty="0"/>
          </a:p>
        </p:txBody>
      </p:sp>
      <p:sp>
        <p:nvSpPr>
          <p:cNvPr id="95" name="직사각형 94"/>
          <p:cNvSpPr/>
          <p:nvPr/>
        </p:nvSpPr>
        <p:spPr>
          <a:xfrm>
            <a:off x="9154000" y="1118710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6" name="직사각형 95"/>
          <p:cNvSpPr/>
          <p:nvPr/>
        </p:nvSpPr>
        <p:spPr>
          <a:xfrm>
            <a:off x="8850334" y="1037689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7" name="직사각형 96"/>
          <p:cNvSpPr/>
          <p:nvPr/>
        </p:nvSpPr>
        <p:spPr>
          <a:xfrm>
            <a:off x="8983436" y="1632314"/>
            <a:ext cx="1169836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다른 특허출원일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11485085" y="1118710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2" name="TextBox 91"/>
          <p:cNvSpPr txBox="1"/>
          <p:nvPr/>
        </p:nvSpPr>
        <p:spPr>
          <a:xfrm>
            <a:off x="10118501" y="1140936"/>
            <a:ext cx="1579278" cy="2006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다른 특허출원일</a:t>
            </a:r>
            <a:r>
              <a:rPr lang="en-US" altLang="ko-KR" sz="1200" dirty="0"/>
              <a:t>(X)</a:t>
            </a:r>
            <a:r>
              <a:rPr lang="ko-KR" altLang="en-US" sz="1200" dirty="0"/>
              <a:t> 후</a:t>
            </a:r>
          </a:p>
        </p:txBody>
      </p:sp>
      <p:sp>
        <p:nvSpPr>
          <p:cNvPr id="17" name="오른쪽 화살표 16"/>
          <p:cNvSpPr/>
          <p:nvPr/>
        </p:nvSpPr>
        <p:spPr>
          <a:xfrm>
            <a:off x="8301519" y="1436522"/>
            <a:ext cx="421241" cy="823484"/>
          </a:xfrm>
          <a:prstGeom prst="rightArrow">
            <a:avLst>
              <a:gd name="adj1" fmla="val 73495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자유형 109"/>
          <p:cNvSpPr/>
          <p:nvPr/>
        </p:nvSpPr>
        <p:spPr>
          <a:xfrm>
            <a:off x="795895" y="3065203"/>
            <a:ext cx="1990073" cy="349745"/>
          </a:xfrm>
          <a:custGeom>
            <a:avLst/>
            <a:gdLst>
              <a:gd name="connsiteX0" fmla="*/ 0 w 1479479"/>
              <a:gd name="connsiteY0" fmla="*/ 482885 h 482885"/>
              <a:gd name="connsiteX1" fmla="*/ 215758 w 1479479"/>
              <a:gd name="connsiteY1" fmla="*/ 0 h 482885"/>
              <a:gd name="connsiteX2" fmla="*/ 1479479 w 1479479"/>
              <a:gd name="connsiteY2" fmla="*/ 0 h 482885"/>
              <a:gd name="connsiteX3" fmla="*/ 1479479 w 1479479"/>
              <a:gd name="connsiteY3" fmla="*/ 472611 h 48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479" h="482885">
                <a:moveTo>
                  <a:pt x="0" y="482885"/>
                </a:moveTo>
                <a:lnTo>
                  <a:pt x="215758" y="0"/>
                </a:lnTo>
                <a:lnTo>
                  <a:pt x="1479479" y="0"/>
                </a:lnTo>
                <a:lnTo>
                  <a:pt x="1479479" y="472611"/>
                </a:lnTo>
              </a:path>
            </a:pathLst>
          </a:custGeom>
          <a:pattFill prst="dkVert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연결선 110"/>
          <p:cNvCxnSpPr/>
          <p:nvPr/>
        </p:nvCxnSpPr>
        <p:spPr>
          <a:xfrm>
            <a:off x="398308" y="3421358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endCxn id="113" idx="0"/>
          </p:cNvCxnSpPr>
          <p:nvPr/>
        </p:nvCxnSpPr>
        <p:spPr>
          <a:xfrm>
            <a:off x="2409771" y="3450698"/>
            <a:ext cx="9890" cy="1819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844633" y="3632682"/>
            <a:ext cx="1150056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출원공개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/>
              <a:t>등록공고</a:t>
            </a:r>
            <a:r>
              <a:rPr lang="en-US" altLang="ko-KR" sz="1200"/>
              <a:t>(X) </a:t>
            </a:r>
            <a:endParaRPr lang="en-US" altLang="ko-KR" sz="1200" dirty="0"/>
          </a:p>
        </p:txBody>
      </p:sp>
      <p:cxnSp>
        <p:nvCxnSpPr>
          <p:cNvPr id="114" name="직선 연결선 113"/>
          <p:cNvCxnSpPr>
            <a:stCxn id="118" idx="2"/>
            <a:endCxn id="115" idx="0"/>
          </p:cNvCxnSpPr>
          <p:nvPr/>
        </p:nvCxnSpPr>
        <p:spPr>
          <a:xfrm>
            <a:off x="795895" y="3540073"/>
            <a:ext cx="1044" cy="3469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75498" y="3886979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</a:t>
            </a:r>
            <a:endParaRPr lang="ko-KR" altLang="en-US" sz="1200" dirty="0"/>
          </a:p>
        </p:txBody>
      </p:sp>
      <p:sp>
        <p:nvSpPr>
          <p:cNvPr id="116" name="직사각형 115"/>
          <p:cNvSpPr/>
          <p:nvPr/>
        </p:nvSpPr>
        <p:spPr>
          <a:xfrm>
            <a:off x="381541" y="2789037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7" name="직사각형 116"/>
          <p:cNvSpPr/>
          <p:nvPr/>
        </p:nvSpPr>
        <p:spPr>
          <a:xfrm>
            <a:off x="77875" y="2708016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8" name="직사각형 117"/>
          <p:cNvSpPr/>
          <p:nvPr/>
        </p:nvSpPr>
        <p:spPr>
          <a:xfrm>
            <a:off x="210977" y="3302641"/>
            <a:ext cx="1169836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특허출원일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2712626" y="2789037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0" name="TextBox 119"/>
          <p:cNvSpPr txBox="1"/>
          <p:nvPr/>
        </p:nvSpPr>
        <p:spPr>
          <a:xfrm>
            <a:off x="1253575" y="2811263"/>
            <a:ext cx="1303562" cy="2349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 특허출원</a:t>
            </a:r>
            <a:r>
              <a:rPr lang="en-US" altLang="ko-KR" sz="1200" dirty="0"/>
              <a:t>(Y)</a:t>
            </a:r>
            <a:r>
              <a:rPr lang="ko-KR" altLang="en-US" sz="1200" dirty="0"/>
              <a:t> 후</a:t>
            </a:r>
          </a:p>
        </p:txBody>
      </p:sp>
      <p:sp>
        <p:nvSpPr>
          <p:cNvPr id="121" name="오른쪽 화살표 120"/>
          <p:cNvSpPr/>
          <p:nvPr/>
        </p:nvSpPr>
        <p:spPr>
          <a:xfrm>
            <a:off x="3365605" y="3106850"/>
            <a:ext cx="421241" cy="823484"/>
          </a:xfrm>
          <a:prstGeom prst="rightArrow">
            <a:avLst>
              <a:gd name="adj1" fmla="val 73495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자유형 121"/>
          <p:cNvSpPr/>
          <p:nvPr/>
        </p:nvSpPr>
        <p:spPr>
          <a:xfrm>
            <a:off x="4249838" y="3045981"/>
            <a:ext cx="1965683" cy="364501"/>
          </a:xfrm>
          <a:custGeom>
            <a:avLst/>
            <a:gdLst>
              <a:gd name="connsiteX0" fmla="*/ 7797800 w 7797800"/>
              <a:gd name="connsiteY0" fmla="*/ 1066800 h 1104900"/>
              <a:gd name="connsiteX1" fmla="*/ 7327900 w 7797800"/>
              <a:gd name="connsiteY1" fmla="*/ 0 h 1104900"/>
              <a:gd name="connsiteX2" fmla="*/ 0 w 7797800"/>
              <a:gd name="connsiteY2" fmla="*/ 0 h 1104900"/>
              <a:gd name="connsiteX3" fmla="*/ 0 w 7797800"/>
              <a:gd name="connsiteY3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7800" h="1104900">
                <a:moveTo>
                  <a:pt x="7797800" y="1066800"/>
                </a:moveTo>
                <a:lnTo>
                  <a:pt x="7327900" y="0"/>
                </a:lnTo>
                <a:lnTo>
                  <a:pt x="0" y="0"/>
                </a:lnTo>
                <a:lnTo>
                  <a:pt x="0" y="1104900"/>
                </a:lnTo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123" name="직선 연결선 122"/>
          <p:cNvCxnSpPr/>
          <p:nvPr/>
        </p:nvCxnSpPr>
        <p:spPr>
          <a:xfrm>
            <a:off x="4260222" y="3424123"/>
            <a:ext cx="260530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5376876" y="3305406"/>
            <a:ext cx="1579950" cy="237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 err="1">
                <a:solidFill>
                  <a:schemeClr val="tx1"/>
                </a:solidFill>
              </a:rPr>
              <a:t>등록공고일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324377" y="2784262"/>
            <a:ext cx="1733167" cy="2349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출원공개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등록공고</a:t>
            </a:r>
            <a:r>
              <a:rPr lang="en-US" altLang="ko-KR" sz="1200" dirty="0"/>
              <a:t>(X) </a:t>
            </a:r>
            <a:r>
              <a:rPr lang="ko-KR" altLang="en-US" sz="1200" dirty="0"/>
              <a:t>전</a:t>
            </a:r>
          </a:p>
        </p:txBody>
      </p:sp>
      <p:cxnSp>
        <p:nvCxnSpPr>
          <p:cNvPr id="128" name="직선 연결선 127"/>
          <p:cNvCxnSpPr>
            <a:endCxn id="129" idx="0"/>
          </p:cNvCxnSpPr>
          <p:nvPr/>
        </p:nvCxnSpPr>
        <p:spPr>
          <a:xfrm>
            <a:off x="4657975" y="3453462"/>
            <a:ext cx="878" cy="1683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4037412" y="3621855"/>
            <a:ext cx="124288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 특허출원</a:t>
            </a:r>
            <a:r>
              <a:rPr lang="en-US" altLang="ko-KR" sz="1200" dirty="0"/>
              <a:t>(Y) </a:t>
            </a:r>
            <a:endParaRPr lang="ko-KR" altLang="en-US" sz="1200" dirty="0"/>
          </a:p>
        </p:txBody>
      </p:sp>
      <p:sp>
        <p:nvSpPr>
          <p:cNvPr id="130" name="직사각형 129"/>
          <p:cNvSpPr/>
          <p:nvPr/>
        </p:nvSpPr>
        <p:spPr>
          <a:xfrm>
            <a:off x="4243455" y="2791802"/>
            <a:ext cx="90520" cy="606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1" name="직사각형 130"/>
          <p:cNvSpPr/>
          <p:nvPr/>
        </p:nvSpPr>
        <p:spPr>
          <a:xfrm>
            <a:off x="3939789" y="2710781"/>
            <a:ext cx="3082247" cy="15775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32" name="직선 연결선 131"/>
          <p:cNvCxnSpPr>
            <a:endCxn id="133" idx="0"/>
          </p:cNvCxnSpPr>
          <p:nvPr/>
        </p:nvCxnSpPr>
        <p:spPr>
          <a:xfrm>
            <a:off x="6215522" y="3537855"/>
            <a:ext cx="9890" cy="1819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650384" y="3719840"/>
            <a:ext cx="1150056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출원공개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등록공고</a:t>
            </a:r>
            <a:r>
              <a:rPr lang="en-US" altLang="ko-KR" sz="1200" dirty="0"/>
              <a:t>(X) </a:t>
            </a:r>
          </a:p>
        </p:txBody>
      </p:sp>
      <p:cxnSp>
        <p:nvCxnSpPr>
          <p:cNvPr id="134" name="직선 연결선 133"/>
          <p:cNvCxnSpPr/>
          <p:nvPr/>
        </p:nvCxnSpPr>
        <p:spPr>
          <a:xfrm flipV="1">
            <a:off x="77875" y="4410732"/>
            <a:ext cx="12014808" cy="174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자유형 134"/>
          <p:cNvSpPr/>
          <p:nvPr/>
        </p:nvSpPr>
        <p:spPr>
          <a:xfrm>
            <a:off x="3719244" y="4798036"/>
            <a:ext cx="6256746" cy="832207"/>
          </a:xfrm>
          <a:custGeom>
            <a:avLst/>
            <a:gdLst>
              <a:gd name="connsiteX0" fmla="*/ 0 w 6318607"/>
              <a:gd name="connsiteY0" fmla="*/ 832207 h 832207"/>
              <a:gd name="connsiteX1" fmla="*/ 277402 w 6318607"/>
              <a:gd name="connsiteY1" fmla="*/ 0 h 832207"/>
              <a:gd name="connsiteX2" fmla="*/ 6010382 w 6318607"/>
              <a:gd name="connsiteY2" fmla="*/ 0 h 832207"/>
              <a:gd name="connsiteX3" fmla="*/ 6318607 w 6318607"/>
              <a:gd name="connsiteY3" fmla="*/ 791110 h 83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8607" h="832207">
                <a:moveTo>
                  <a:pt x="0" y="832207"/>
                </a:moveTo>
                <a:lnTo>
                  <a:pt x="277402" y="0"/>
                </a:lnTo>
                <a:lnTo>
                  <a:pt x="6010382" y="0"/>
                </a:lnTo>
                <a:lnTo>
                  <a:pt x="6318607" y="791110"/>
                </a:lnTo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연결선 135"/>
          <p:cNvCxnSpPr/>
          <p:nvPr/>
        </p:nvCxnSpPr>
        <p:spPr>
          <a:xfrm>
            <a:off x="1656739" y="5634420"/>
            <a:ext cx="90675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1167003" y="5417971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다른 특허출원일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138" name="직선 연결선 137"/>
          <p:cNvCxnSpPr>
            <a:stCxn id="137" idx="2"/>
            <a:endCxn id="139" idx="2"/>
          </p:cNvCxnSpPr>
          <p:nvPr/>
        </p:nvCxnSpPr>
        <p:spPr>
          <a:xfrm>
            <a:off x="2480031" y="5850869"/>
            <a:ext cx="5856" cy="6199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766237" y="6163027"/>
            <a:ext cx="14393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다른 특허출원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143" name="직사각형 142"/>
          <p:cNvSpPr/>
          <p:nvPr/>
        </p:nvSpPr>
        <p:spPr>
          <a:xfrm>
            <a:off x="8584297" y="5417971"/>
            <a:ext cx="2626056" cy="432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solidFill>
                  <a:schemeClr val="tx1"/>
                </a:solidFill>
              </a:rPr>
              <a:t>출원공개</a:t>
            </a:r>
            <a:r>
              <a:rPr lang="en-US" altLang="ko-KR" sz="2000" dirty="0">
                <a:solidFill>
                  <a:schemeClr val="tx1"/>
                </a:solidFill>
              </a:rPr>
              <a:t>/</a:t>
            </a:r>
            <a:r>
              <a:rPr lang="ko-KR" altLang="en-US" sz="2000" dirty="0" err="1">
                <a:solidFill>
                  <a:schemeClr val="tx1"/>
                </a:solidFill>
              </a:rPr>
              <a:t>등록공고일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144" name="직선 연결선 143"/>
          <p:cNvCxnSpPr>
            <a:stCxn id="143" idx="2"/>
            <a:endCxn id="145" idx="2"/>
          </p:cNvCxnSpPr>
          <p:nvPr/>
        </p:nvCxnSpPr>
        <p:spPr>
          <a:xfrm>
            <a:off x="9897325" y="5850869"/>
            <a:ext cx="5856" cy="6199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8915755" y="6163027"/>
            <a:ext cx="19748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출원공개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등록공고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cxnSp>
        <p:nvCxnSpPr>
          <p:cNvPr id="149" name="직선 연결선 148"/>
          <p:cNvCxnSpPr>
            <a:endCxn id="150" idx="0"/>
          </p:cNvCxnSpPr>
          <p:nvPr/>
        </p:nvCxnSpPr>
        <p:spPr>
          <a:xfrm>
            <a:off x="6606170" y="5675443"/>
            <a:ext cx="0" cy="4448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5876592" y="6120249"/>
            <a:ext cx="145915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 그 특허출원</a:t>
            </a:r>
            <a:r>
              <a:rPr lang="en-US" altLang="ko-KR" sz="1400" dirty="0"/>
              <a:t>(Y)</a:t>
            </a:r>
            <a:endParaRPr lang="ko-KR" altLang="en-US" sz="11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455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객체적 기준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298061" y="1150706"/>
            <a:ext cx="5506837" cy="1027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최초란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출원할 때 처음으로 첨부된 것을 기준으로 한다는 의미이며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보정을 했을 때 </a:t>
            </a:r>
            <a:r>
              <a:rPr lang="ko-KR" altLang="en-US" sz="1400" dirty="0" err="1">
                <a:solidFill>
                  <a:srgbClr val="FF0000"/>
                </a:solidFill>
              </a:rPr>
              <a:t>판단대상을</a:t>
            </a:r>
            <a:r>
              <a:rPr lang="ko-KR" altLang="en-US" sz="1400" dirty="0">
                <a:solidFill>
                  <a:srgbClr val="FF0000"/>
                </a:solidFill>
              </a:rPr>
              <a:t> 결정하는 기준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이 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구체적으로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최초 단어가 있으면 보정과 상관없이 가장 처음 첨부된 것을 기준으로 판단하고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최초 단어가 없으면 보정했을 때 가장 나중 것을 기준으로 판단한다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521738" y="4557866"/>
            <a:ext cx="402971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643864" y="3037227"/>
            <a:ext cx="0" cy="2085654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472664" y="3037227"/>
            <a:ext cx="0" cy="2085654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67817" y="4116015"/>
            <a:ext cx="4027470" cy="0"/>
          </a:xfrm>
          <a:prstGeom prst="line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667817" y="3674226"/>
            <a:ext cx="4027470" cy="0"/>
          </a:xfrm>
          <a:prstGeom prst="line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1055925" y="3458468"/>
            <a:ext cx="1185426" cy="442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 </a:t>
            </a:r>
            <a:r>
              <a:rPr lang="ko-KR" altLang="en-US" sz="1100" dirty="0" err="1">
                <a:solidFill>
                  <a:schemeClr val="tx1"/>
                </a:solidFill>
              </a:rPr>
              <a:t>청구범위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055925" y="3900674"/>
            <a:ext cx="1185426" cy="4422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 명세서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도면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884571" y="3458468"/>
            <a:ext cx="1185426" cy="442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884571" y="3900674"/>
            <a:ext cx="1185426" cy="4422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명세서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도면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55928" y="4418489"/>
            <a:ext cx="118542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특허출원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76" name="TextBox 75"/>
          <p:cNvSpPr txBox="1"/>
          <p:nvPr/>
        </p:nvSpPr>
        <p:spPr>
          <a:xfrm>
            <a:off x="2884574" y="4418489"/>
            <a:ext cx="118542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보정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883874" y="2817441"/>
            <a:ext cx="15199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최초 존재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696619" y="2817441"/>
            <a:ext cx="15199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최초 </a:t>
            </a:r>
            <a:r>
              <a:rPr lang="ko-KR" altLang="en-US" sz="1600" dirty="0" err="1">
                <a:solidFill>
                  <a:srgbClr val="FF0000"/>
                </a:solidFill>
              </a:rPr>
              <a:t>부존재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513045" y="3536287"/>
            <a:ext cx="12510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청구범위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4513045" y="3951374"/>
            <a:ext cx="12510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명세서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ko-KR" altLang="en-US" sz="1600" dirty="0">
                <a:solidFill>
                  <a:srgbClr val="FF0000"/>
                </a:solidFill>
              </a:rPr>
              <a:t>도면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147" name="직선 연결선 146"/>
          <p:cNvCxnSpPr/>
          <p:nvPr/>
        </p:nvCxnSpPr>
        <p:spPr>
          <a:xfrm>
            <a:off x="6618312" y="2172361"/>
            <a:ext cx="53921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6453860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B(★2)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6453860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C(★1)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574718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C(▲2)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7574718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B, C(▲1)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453862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甲 출원</a:t>
            </a:r>
            <a:r>
              <a:rPr lang="en-US" altLang="ko-KR" sz="1100" dirty="0"/>
              <a:t>(X)</a:t>
            </a:r>
            <a:endParaRPr lang="ko-KR" altLang="en-US" sz="1100" dirty="0"/>
          </a:p>
        </p:txBody>
      </p:sp>
      <p:sp>
        <p:nvSpPr>
          <p:cNvPr id="155" name="TextBox 154"/>
          <p:cNvSpPr txBox="1"/>
          <p:nvPr/>
        </p:nvSpPr>
        <p:spPr>
          <a:xfrm>
            <a:off x="7574720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乙 출원</a:t>
            </a:r>
            <a:r>
              <a:rPr lang="en-US" altLang="ko-KR" sz="1100" dirty="0"/>
              <a:t>(Y)</a:t>
            </a:r>
            <a:endParaRPr lang="ko-KR" altLang="en-US" sz="1100" dirty="0"/>
          </a:p>
        </p:txBody>
      </p:sp>
      <p:sp>
        <p:nvSpPr>
          <p:cNvPr id="156" name="직사각형 155"/>
          <p:cNvSpPr/>
          <p:nvPr/>
        </p:nvSpPr>
        <p:spPr>
          <a:xfrm>
            <a:off x="8658633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C(■2)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658633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B, C(■1)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9779491" y="1376737"/>
            <a:ext cx="839823" cy="2411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B(◆2)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779491" y="1613463"/>
            <a:ext cx="839823" cy="2411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B(◆1)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8658635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보정</a:t>
            </a:r>
            <a:r>
              <a:rPr lang="en-US" altLang="ko-KR" sz="1100" dirty="0"/>
              <a:t>(X)</a:t>
            </a:r>
            <a:endParaRPr lang="ko-KR" altLang="en-US" sz="1100" dirty="0"/>
          </a:p>
        </p:txBody>
      </p:sp>
      <p:sp>
        <p:nvSpPr>
          <p:cNvPr id="161" name="TextBox 160"/>
          <p:cNvSpPr txBox="1"/>
          <p:nvPr/>
        </p:nvSpPr>
        <p:spPr>
          <a:xfrm>
            <a:off x="9779493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보정</a:t>
            </a:r>
            <a:r>
              <a:rPr lang="en-US" altLang="ko-KR" sz="1100" dirty="0"/>
              <a:t>(Y)</a:t>
            </a:r>
            <a:endParaRPr lang="ko-KR" altLang="en-US" sz="1100" dirty="0"/>
          </a:p>
        </p:txBody>
      </p:sp>
      <p:sp>
        <p:nvSpPr>
          <p:cNvPr id="164" name="TextBox 163"/>
          <p:cNvSpPr txBox="1"/>
          <p:nvPr/>
        </p:nvSpPr>
        <p:spPr>
          <a:xfrm>
            <a:off x="10872804" y="2032984"/>
            <a:ext cx="839820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공개</a:t>
            </a:r>
            <a:r>
              <a:rPr lang="en-US" altLang="ko-KR" sz="1100" dirty="0"/>
              <a:t>(X)</a:t>
            </a:r>
            <a:endParaRPr lang="ko-KR" altLang="en-US" sz="1100" dirty="0"/>
          </a:p>
        </p:txBody>
      </p:sp>
      <p:graphicFrame>
        <p:nvGraphicFramePr>
          <p:cNvPr id="165" name="표 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81310"/>
              </p:ext>
            </p:extLst>
          </p:nvPr>
        </p:nvGraphicFramePr>
        <p:xfrm>
          <a:off x="6453860" y="2789426"/>
          <a:ext cx="5556630" cy="903845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852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1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판단대상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다른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출원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그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출원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선출원주의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청구범위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(■2)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청구범위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(◆2)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확대된 </a:t>
                      </a:r>
                      <a:r>
                        <a:rPr lang="ko-KR" altLang="en-US" sz="1200" dirty="0" err="1"/>
                        <a:t>선출원의</a:t>
                      </a:r>
                      <a:r>
                        <a:rPr lang="ko-KR" altLang="en-US" sz="1200" dirty="0"/>
                        <a:t> 지위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최초 명세서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도면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(★1)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청구범위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(◆2)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" name="직사각형 165"/>
          <p:cNvSpPr/>
          <p:nvPr/>
        </p:nvSpPr>
        <p:spPr>
          <a:xfrm>
            <a:off x="6453860" y="4232199"/>
            <a:ext cx="5556630" cy="15679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최초 명세서 또는 도면은 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최초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청구범위는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를 의미하고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명세서 또는 도면은 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1,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청구범위는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를 의미한다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 Y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등록가능성과 관련하여서는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Y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청구범위에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기재된 발명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(◆2)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이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출원과 관련하여 확대된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선출원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선출원주의에 위반되는지 여부가 문제이다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확대된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선출원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위반 여부는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최초 명세서 또는 도면에 기재된 발명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(★1)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과 비교하여 동일성이 있는지 판단하고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선출원주의 위반 여부는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출원의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청구범위에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기재된 발명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(■2)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과 비교하여 동일성이 있는지 판단한다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모서리가 둥근 사각형 설명선 1"/>
          <p:cNvSpPr/>
          <p:nvPr/>
        </p:nvSpPr>
        <p:spPr>
          <a:xfrm>
            <a:off x="2963333" y="5232384"/>
            <a:ext cx="2841565" cy="770466"/>
          </a:xfrm>
          <a:prstGeom prst="wedgeRoundRectCallout">
            <a:avLst>
              <a:gd name="adj1" fmla="val -17483"/>
              <a:gd name="adj2" fmla="val -11547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보충</a:t>
            </a:r>
            <a:r>
              <a:rPr lang="en-US" altLang="ko-KR" sz="1200" dirty="0">
                <a:solidFill>
                  <a:schemeClr val="tx1"/>
                </a:solidFill>
              </a:rPr>
              <a:t>+</a:t>
            </a:r>
            <a:r>
              <a:rPr lang="ko-KR" altLang="en-US" sz="1200" dirty="0">
                <a:solidFill>
                  <a:schemeClr val="tx1"/>
                </a:solidFill>
              </a:rPr>
              <a:t>정정의 </a:t>
            </a:r>
            <a:r>
              <a:rPr lang="ko-KR" altLang="en-US" sz="1200" dirty="0" err="1">
                <a:solidFill>
                  <a:schemeClr val="tx1"/>
                </a:solidFill>
              </a:rPr>
              <a:t>줄임말로서</a:t>
            </a:r>
            <a:r>
              <a:rPr lang="ko-KR" altLang="en-US" sz="1200" dirty="0">
                <a:solidFill>
                  <a:schemeClr val="tx1"/>
                </a:solidFill>
              </a:rPr>
              <a:t> 보정을 한 경우 보정한 내용대로 출원한 것으로 간주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소급효가 인정</a:t>
            </a:r>
            <a:r>
              <a:rPr lang="en-US" altLang="ko-KR" sz="1050" dirty="0">
                <a:solidFill>
                  <a:schemeClr val="tx1"/>
                </a:solidFill>
              </a:rPr>
              <a:t>)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065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>
            <a:stCxn id="88" idx="2"/>
          </p:cNvCxnSpPr>
          <p:nvPr/>
        </p:nvCxnSpPr>
        <p:spPr>
          <a:xfrm>
            <a:off x="8175465" y="4529147"/>
            <a:ext cx="0" cy="1974203"/>
          </a:xfrm>
          <a:prstGeom prst="line">
            <a:avLst/>
          </a:prstGeom>
          <a:ln w="571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적용의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항단서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195260" y="1106383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발명자 동일</a:t>
            </a:r>
          </a:p>
        </p:txBody>
      </p:sp>
      <p:cxnSp>
        <p:nvCxnSpPr>
          <p:cNvPr id="147" name="직선 연결선 146"/>
          <p:cNvCxnSpPr/>
          <p:nvPr/>
        </p:nvCxnSpPr>
        <p:spPr>
          <a:xfrm>
            <a:off x="714031" y="3939876"/>
            <a:ext cx="441194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endCxn id="40" idx="0"/>
          </p:cNvCxnSpPr>
          <p:nvPr/>
        </p:nvCxnSpPr>
        <p:spPr>
          <a:xfrm>
            <a:off x="1196412" y="3973792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4031" y="4336824"/>
            <a:ext cx="972861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r>
              <a:rPr lang="en-US" altLang="ko-KR" sz="1200" dirty="0"/>
              <a:t>A, B </a:t>
            </a:r>
            <a:r>
              <a:rPr lang="ko-KR" altLang="en-US" sz="1200" dirty="0"/>
              <a:t>발명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341673" y="4741210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341673" y="4970711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2632" y="4336824"/>
            <a:ext cx="109384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乙에게 </a:t>
            </a:r>
            <a:r>
              <a:rPr lang="en-US" altLang="ko-KR" sz="1200" dirty="0"/>
              <a:t>B </a:t>
            </a:r>
            <a:r>
              <a:rPr lang="ko-KR" altLang="en-US" sz="1200" dirty="0"/>
              <a:t>양도</a:t>
            </a:r>
          </a:p>
        </p:txBody>
      </p:sp>
      <p:cxnSp>
        <p:nvCxnSpPr>
          <p:cNvPr id="12" name="직선 연결선 11"/>
          <p:cNvCxnSpPr>
            <a:endCxn id="13" idx="0"/>
          </p:cNvCxnSpPr>
          <p:nvPr/>
        </p:nvCxnSpPr>
        <p:spPr>
          <a:xfrm>
            <a:off x="3766870" y="4025068"/>
            <a:ext cx="0" cy="3117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41674" y="43368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cxnSp>
        <p:nvCxnSpPr>
          <p:cNvPr id="14" name="직선 연결선 13"/>
          <p:cNvCxnSpPr>
            <a:endCxn id="11" idx="0"/>
          </p:cNvCxnSpPr>
          <p:nvPr/>
        </p:nvCxnSpPr>
        <p:spPr>
          <a:xfrm flipH="1">
            <a:off x="2369555" y="3973792"/>
            <a:ext cx="6176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15307" y="3322101"/>
            <a:ext cx="850392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乙 출원</a:t>
            </a:r>
            <a:r>
              <a:rPr lang="en-US" altLang="ko-KR" sz="1200" dirty="0">
                <a:solidFill>
                  <a:schemeClr val="bg1"/>
                </a:solidFill>
              </a:rPr>
              <a:t>(X)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직선 연결선 17"/>
          <p:cNvCxnSpPr>
            <a:endCxn id="17" idx="2"/>
          </p:cNvCxnSpPr>
          <p:nvPr/>
        </p:nvCxnSpPr>
        <p:spPr>
          <a:xfrm flipV="1">
            <a:off x="2840503" y="3599100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92066" y="3322101"/>
            <a:ext cx="850392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乙공개</a:t>
            </a:r>
            <a:r>
              <a:rPr lang="en-US" altLang="ko-KR" sz="1200" dirty="0">
                <a:solidFill>
                  <a:schemeClr val="bg1"/>
                </a:solidFill>
              </a:rPr>
              <a:t>(X)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23" name="직선 연결선 22"/>
          <p:cNvCxnSpPr>
            <a:endCxn id="22" idx="2"/>
          </p:cNvCxnSpPr>
          <p:nvPr/>
        </p:nvCxnSpPr>
        <p:spPr>
          <a:xfrm flipV="1">
            <a:off x="4617262" y="3599100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415307" y="2764201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415307" y="2993702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3102124" y="1909576"/>
            <a:ext cx="2392743" cy="592106"/>
          </a:xfrm>
          <a:prstGeom prst="wedgeRoundRectCallout">
            <a:avLst>
              <a:gd name="adj1" fmla="val -42595"/>
              <a:gd name="adj2" fmla="val 15366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와</a:t>
            </a:r>
            <a:r>
              <a:rPr lang="en-US" altLang="ko-KR" sz="1200" dirty="0">
                <a:solidFill>
                  <a:schemeClr val="tx1"/>
                </a:solidFill>
              </a:rPr>
              <a:t> B</a:t>
            </a:r>
            <a:r>
              <a:rPr lang="ko-KR" altLang="en-US" sz="1200" dirty="0">
                <a:solidFill>
                  <a:schemeClr val="tx1"/>
                </a:solidFill>
              </a:rPr>
              <a:t>가 관련기술로서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불가피하게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도 설명</a:t>
            </a:r>
          </a:p>
        </p:txBody>
      </p:sp>
      <p:sp>
        <p:nvSpPr>
          <p:cNvPr id="33" name="모서리가 둥근 사각형 설명선 32"/>
          <p:cNvSpPr/>
          <p:nvPr/>
        </p:nvSpPr>
        <p:spPr>
          <a:xfrm>
            <a:off x="1196412" y="5542607"/>
            <a:ext cx="2023855" cy="592106"/>
          </a:xfrm>
          <a:prstGeom prst="wedgeRoundRectCallout">
            <a:avLst>
              <a:gd name="adj1" fmla="val 53990"/>
              <a:gd name="adj2" fmla="val -16671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r>
              <a:rPr lang="ko-KR" altLang="en-US" sz="1200" dirty="0">
                <a:solidFill>
                  <a:schemeClr val="tx1"/>
                </a:solidFill>
              </a:rPr>
              <a:t>의 발명자가 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r>
              <a:rPr lang="ko-KR" altLang="en-US" sz="1200" dirty="0">
                <a:solidFill>
                  <a:schemeClr val="tx1"/>
                </a:solidFill>
              </a:rPr>
              <a:t>의 발명자와 동일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6284959" y="1106383"/>
            <a:ext cx="2954519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그 </a:t>
            </a:r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특허출원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한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 때의 출원인 동일</a:t>
            </a:r>
          </a:p>
        </p:txBody>
      </p:sp>
      <p:cxnSp>
        <p:nvCxnSpPr>
          <p:cNvPr id="36" name="직선 연결선 35"/>
          <p:cNvCxnSpPr/>
          <p:nvPr/>
        </p:nvCxnSpPr>
        <p:spPr>
          <a:xfrm>
            <a:off x="6766003" y="3389393"/>
            <a:ext cx="501864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233384" y="2270509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233384" y="2500010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/>
          <p:cNvCxnSpPr/>
          <p:nvPr/>
        </p:nvCxnSpPr>
        <p:spPr>
          <a:xfrm flipH="1" flipV="1">
            <a:off x="7658581" y="3122617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233385" y="2823250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58" name="직사각형 57"/>
          <p:cNvSpPr/>
          <p:nvPr/>
        </p:nvSpPr>
        <p:spPr>
          <a:xfrm>
            <a:off x="8724497" y="2270509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724497" y="2500010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 flipH="1" flipV="1">
            <a:off x="9149694" y="3122617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724498" y="2823250"/>
            <a:ext cx="850392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甲 출원</a:t>
            </a:r>
            <a:r>
              <a:rPr lang="en-US" altLang="ko-KR" sz="1200" dirty="0">
                <a:solidFill>
                  <a:schemeClr val="bg1"/>
                </a:solidFill>
              </a:rPr>
              <a:t>(Y)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4" name="직선 연결선 63"/>
          <p:cNvCxnSpPr/>
          <p:nvPr/>
        </p:nvCxnSpPr>
        <p:spPr>
          <a:xfrm flipH="1" flipV="1">
            <a:off x="10544339" y="3122617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119143" y="2823250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66" name="모서리가 둥근 사각형 설명선 65"/>
          <p:cNvSpPr/>
          <p:nvPr/>
        </p:nvSpPr>
        <p:spPr>
          <a:xfrm>
            <a:off x="9395552" y="1593495"/>
            <a:ext cx="2389098" cy="592106"/>
          </a:xfrm>
          <a:prstGeom prst="wedgeRoundRectCallout">
            <a:avLst>
              <a:gd name="adj1" fmla="val -41862"/>
              <a:gd name="adj2" fmla="val 887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r>
              <a:rPr lang="ko-KR" altLang="en-US" sz="1200" dirty="0">
                <a:solidFill>
                  <a:schemeClr val="tx1"/>
                </a:solidFill>
              </a:rPr>
              <a:t>의 발명의 설명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도면에만 기재된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를 보호받고자 출원</a:t>
            </a:r>
            <a:r>
              <a:rPr lang="en-US" altLang="ko-KR" sz="1200" dirty="0">
                <a:solidFill>
                  <a:schemeClr val="tx1"/>
                </a:solidFill>
              </a:rPr>
              <a:t>(Y)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진행했을 때 출원인 동일</a:t>
            </a:r>
          </a:p>
        </p:txBody>
      </p:sp>
      <p:cxnSp>
        <p:nvCxnSpPr>
          <p:cNvPr id="67" name="직선 연결선 66"/>
          <p:cNvCxnSpPr/>
          <p:nvPr/>
        </p:nvCxnSpPr>
        <p:spPr>
          <a:xfrm>
            <a:off x="6774549" y="5284018"/>
            <a:ext cx="501864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6489894" y="4165134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489894" y="4394635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연결선 69"/>
          <p:cNvCxnSpPr/>
          <p:nvPr/>
        </p:nvCxnSpPr>
        <p:spPr>
          <a:xfrm flipH="1" flipV="1">
            <a:off x="6915091" y="5017242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89895" y="4717875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72" name="직사각형 71"/>
          <p:cNvSpPr/>
          <p:nvPr/>
        </p:nvSpPr>
        <p:spPr>
          <a:xfrm>
            <a:off x="7750269" y="5600826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7750269" y="5830327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4" name="직선 연결선 73"/>
          <p:cNvCxnSpPr>
            <a:endCxn id="72" idx="0"/>
          </p:cNvCxnSpPr>
          <p:nvPr/>
        </p:nvCxnSpPr>
        <p:spPr>
          <a:xfrm>
            <a:off x="8175465" y="5295148"/>
            <a:ext cx="1" cy="30567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750270" y="6153567"/>
            <a:ext cx="850392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r>
              <a:rPr lang="en-US" altLang="ko-KR" sz="1200" dirty="0">
                <a:solidFill>
                  <a:schemeClr val="bg1"/>
                </a:solidFill>
              </a:rPr>
              <a:t>(Y)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76" name="직선 연결선 75"/>
          <p:cNvCxnSpPr/>
          <p:nvPr/>
        </p:nvCxnSpPr>
        <p:spPr>
          <a:xfrm flipH="1" flipV="1">
            <a:off x="9339375" y="5017242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623337" y="4717875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ym typeface="Wingdings" panose="05000000000000000000" pitchFamily="2" charset="2"/>
              </a:rPr>
              <a:t>乙</a:t>
            </a:r>
            <a:r>
              <a:rPr lang="ko-KR" altLang="en-US" sz="1200" dirty="0"/>
              <a:t>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78" name="모서리가 둥근 사각형 설명선 77"/>
          <p:cNvSpPr/>
          <p:nvPr/>
        </p:nvSpPr>
        <p:spPr>
          <a:xfrm>
            <a:off x="9148506" y="3869081"/>
            <a:ext cx="2644690" cy="592106"/>
          </a:xfrm>
          <a:prstGeom prst="wedgeRoundRectCallout">
            <a:avLst>
              <a:gd name="adj1" fmla="val -61552"/>
              <a:gd name="adj2" fmla="val 359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그 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r>
              <a:rPr lang="ko-KR" altLang="en-US" sz="1200" dirty="0">
                <a:solidFill>
                  <a:schemeClr val="tx1"/>
                </a:solidFill>
              </a:rPr>
              <a:t>할 때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출원인이</a:t>
            </a:r>
            <a:r>
              <a:rPr lang="ko-KR" altLang="en-US" sz="1200" dirty="0">
                <a:solidFill>
                  <a:schemeClr val="tx1"/>
                </a:solidFill>
              </a:rPr>
              <a:t> 甲이기 때문에 </a:t>
            </a:r>
            <a:r>
              <a:rPr lang="en-US" altLang="ko-KR" sz="1200" dirty="0">
                <a:solidFill>
                  <a:schemeClr val="tx1"/>
                </a:solidFill>
              </a:rPr>
              <a:t>Y</a:t>
            </a:r>
            <a:r>
              <a:rPr lang="ko-KR" altLang="en-US" sz="1200" dirty="0" err="1">
                <a:solidFill>
                  <a:schemeClr val="tx1"/>
                </a:solidFill>
              </a:rPr>
              <a:t>출원인도</a:t>
            </a:r>
            <a:r>
              <a:rPr lang="ko-KR" altLang="en-US" sz="1200" dirty="0">
                <a:solidFill>
                  <a:schemeClr val="tx1"/>
                </a:solidFill>
              </a:rPr>
              <a:t> 甲이어야 함</a:t>
            </a:r>
          </a:p>
        </p:txBody>
      </p:sp>
      <p:cxnSp>
        <p:nvCxnSpPr>
          <p:cNvPr id="79" name="직선 연결선 78"/>
          <p:cNvCxnSpPr/>
          <p:nvPr/>
        </p:nvCxnSpPr>
        <p:spPr>
          <a:xfrm flipH="1" flipV="1">
            <a:off x="11039988" y="5017242"/>
            <a:ext cx="6994" cy="2556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363974" y="4717875"/>
            <a:ext cx="196789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sym typeface="Wingdings" panose="05000000000000000000" pitchFamily="2" charset="2"/>
              </a:rPr>
              <a:t>乙</a:t>
            </a:r>
            <a:r>
              <a:rPr lang="ko-KR" altLang="en-US" sz="1200" dirty="0"/>
              <a:t> 출원인변경신고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88" name="TextBox 87"/>
          <p:cNvSpPr txBox="1"/>
          <p:nvPr/>
        </p:nvSpPr>
        <p:spPr>
          <a:xfrm>
            <a:off x="7498036" y="3882816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그 출원할 때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그 </a:t>
            </a:r>
            <a:r>
              <a:rPr lang="ko-KR" altLang="en-US" dirty="0" err="1">
                <a:solidFill>
                  <a:srgbClr val="FF0000"/>
                </a:solidFill>
              </a:rPr>
              <a:t>출원시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913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 출원 지위 </a:t>
            </a:r>
            <a:r>
              <a:rPr lang="en-US" altLang="ko-KR" dirty="0"/>
              <a:t>vs </a:t>
            </a: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출원 지위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6206" y="2393357"/>
            <a:ext cx="864838" cy="686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2400" dirty="0">
                <a:solidFill>
                  <a:schemeClr val="tx2"/>
                </a:solidFill>
              </a:rPr>
              <a:t>출원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21162" y="2393357"/>
            <a:ext cx="864838" cy="6862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2400" dirty="0">
                <a:solidFill>
                  <a:schemeClr val="tx2"/>
                </a:solidFill>
              </a:rPr>
              <a:t>등록</a:t>
            </a:r>
          </a:p>
        </p:txBody>
      </p:sp>
      <p:cxnSp>
        <p:nvCxnSpPr>
          <p:cNvPr id="6" name="직선 화살표 연결선 5"/>
          <p:cNvCxnSpPr>
            <a:stCxn id="74" idx="3"/>
            <a:endCxn id="100" idx="1"/>
          </p:cNvCxnSpPr>
          <p:nvPr/>
        </p:nvCxnSpPr>
        <p:spPr>
          <a:xfrm>
            <a:off x="1081044" y="2736488"/>
            <a:ext cx="34011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08635" y="1816692"/>
            <a:ext cx="3606439" cy="482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fontAlgn="base"/>
            <a:r>
              <a:rPr lang="ko-KR" altLang="en-US" sz="1400" dirty="0">
                <a:solidFill>
                  <a:schemeClr val="tx2"/>
                </a:solidFill>
              </a:rPr>
              <a:t>그 출원의 지위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내 출원이 </a:t>
            </a:r>
            <a:r>
              <a:rPr lang="ko-KR" altLang="en-US" sz="1200" dirty="0" err="1">
                <a:solidFill>
                  <a:schemeClr val="tx2"/>
                </a:solidFill>
              </a:rPr>
              <a:t>등록받을</a:t>
            </a:r>
            <a:r>
              <a:rPr lang="ko-KR" altLang="en-US" sz="1200" dirty="0">
                <a:solidFill>
                  <a:schemeClr val="tx2"/>
                </a:solidFill>
              </a:rPr>
              <a:t> 수 있는가</a:t>
            </a:r>
            <a:r>
              <a:rPr lang="en-US" altLang="ko-KR" sz="1200" dirty="0">
                <a:solidFill>
                  <a:schemeClr val="tx2"/>
                </a:solidFill>
              </a:rPr>
              <a:t>?)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708636" y="3203955"/>
            <a:ext cx="3606438" cy="482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fontAlgn="base"/>
            <a:r>
              <a:rPr lang="ko-KR" altLang="en-US" sz="1400" dirty="0">
                <a:solidFill>
                  <a:schemeClr val="tx2"/>
                </a:solidFill>
              </a:rPr>
              <a:t>다른 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인용대상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지위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내 출원에 의하여 등록을 금지시킬 수 있는가</a:t>
            </a:r>
            <a:r>
              <a:rPr lang="en-US" altLang="ko-KR" sz="1200" dirty="0">
                <a:solidFill>
                  <a:schemeClr val="tx2"/>
                </a:solidFill>
              </a:rPr>
              <a:t>?)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623411" y="2910316"/>
            <a:ext cx="1872889" cy="309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1400" dirty="0" err="1">
                <a:solidFill>
                  <a:schemeClr val="tx2"/>
                </a:solidFill>
              </a:rPr>
              <a:t>공지기술의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3411" y="3321950"/>
            <a:ext cx="1872889" cy="309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23411" y="3724364"/>
            <a:ext cx="1872889" cy="309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</a:p>
        </p:txBody>
      </p:sp>
      <p:cxnSp>
        <p:nvCxnSpPr>
          <p:cNvPr id="19" name="꺾인 연결선 18"/>
          <p:cNvCxnSpPr>
            <a:stCxn id="100" idx="3"/>
            <a:endCxn id="101" idx="1"/>
          </p:cNvCxnSpPr>
          <p:nvPr/>
        </p:nvCxnSpPr>
        <p:spPr>
          <a:xfrm flipV="1">
            <a:off x="2286000" y="2058168"/>
            <a:ext cx="422635" cy="67832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100" idx="3"/>
            <a:endCxn id="103" idx="1"/>
          </p:cNvCxnSpPr>
          <p:nvPr/>
        </p:nvCxnSpPr>
        <p:spPr>
          <a:xfrm>
            <a:off x="2286000" y="2736488"/>
            <a:ext cx="422636" cy="70894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03" idx="3"/>
            <a:endCxn id="107" idx="1"/>
          </p:cNvCxnSpPr>
          <p:nvPr/>
        </p:nvCxnSpPr>
        <p:spPr>
          <a:xfrm flipV="1">
            <a:off x="6315074" y="3065249"/>
            <a:ext cx="308337" cy="38018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103" idx="3"/>
            <a:endCxn id="109" idx="1"/>
          </p:cNvCxnSpPr>
          <p:nvPr/>
        </p:nvCxnSpPr>
        <p:spPr>
          <a:xfrm>
            <a:off x="6315074" y="3445431"/>
            <a:ext cx="308337" cy="3145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103" idx="3"/>
            <a:endCxn id="111" idx="1"/>
          </p:cNvCxnSpPr>
          <p:nvPr/>
        </p:nvCxnSpPr>
        <p:spPr>
          <a:xfrm>
            <a:off x="6315074" y="3445431"/>
            <a:ext cx="308337" cy="43386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296275" y="1332925"/>
            <a:ext cx="3429000" cy="309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3600" dirty="0" err="1">
                <a:solidFill>
                  <a:srgbClr val="FF0000"/>
                </a:solidFill>
              </a:rPr>
              <a:t>등록금지적</a:t>
            </a:r>
            <a:r>
              <a:rPr lang="ko-KR" altLang="en-US" sz="3600" dirty="0">
                <a:solidFill>
                  <a:srgbClr val="FF0000"/>
                </a:solidFill>
              </a:rPr>
              <a:t> 효력</a:t>
            </a:r>
          </a:p>
        </p:txBody>
      </p:sp>
      <p:sp>
        <p:nvSpPr>
          <p:cNvPr id="36" name="왼쪽 화살표 35"/>
          <p:cNvSpPr/>
          <p:nvPr/>
        </p:nvSpPr>
        <p:spPr>
          <a:xfrm rot="19261059">
            <a:off x="8090262" y="1876549"/>
            <a:ext cx="723900" cy="915418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AD97CAA-B593-422B-8F18-7DF43CF333F0}"/>
              </a:ext>
            </a:extLst>
          </p:cNvPr>
          <p:cNvGrpSpPr/>
          <p:nvPr/>
        </p:nvGrpSpPr>
        <p:grpSpPr>
          <a:xfrm>
            <a:off x="1293785" y="4756784"/>
            <a:ext cx="9442580" cy="1653770"/>
            <a:chOff x="1026367" y="1057733"/>
            <a:chExt cx="9442580" cy="1653770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3DD0464-661C-42C0-B4BE-212E48F351BE}"/>
                </a:ext>
              </a:extLst>
            </p:cNvPr>
            <p:cNvCxnSpPr/>
            <p:nvPr/>
          </p:nvCxnSpPr>
          <p:spPr>
            <a:xfrm>
              <a:off x="1803326" y="1777108"/>
              <a:ext cx="8064896" cy="0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C63D3A5-3C1B-4B8C-8560-59610295F138}"/>
                </a:ext>
              </a:extLst>
            </p:cNvPr>
            <p:cNvSpPr/>
            <p:nvPr/>
          </p:nvSpPr>
          <p:spPr>
            <a:xfrm>
              <a:off x="5105161" y="1057733"/>
              <a:ext cx="1245202" cy="36004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>
                      <a:lumMod val="95000"/>
                    </a:schemeClr>
                  </a:solidFill>
                </a:rPr>
                <a:t>특허출원</a:t>
              </a: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CFF23956-1EC0-4FAC-B21B-EC126AFB0A1F}"/>
                </a:ext>
              </a:extLst>
            </p:cNvPr>
            <p:cNvSpPr/>
            <p:nvPr/>
          </p:nvSpPr>
          <p:spPr>
            <a:xfrm>
              <a:off x="1026367" y="1959430"/>
              <a:ext cx="4721290" cy="569166"/>
            </a:xfrm>
            <a:custGeom>
              <a:avLst/>
              <a:gdLst>
                <a:gd name="csX0" fmla="*/ 4721290 w 4721290"/>
                <a:gd name="csY0" fmla="*/ 0 h 569166"/>
                <a:gd name="csX1" fmla="*/ 4392386 w 4721290"/>
                <a:gd name="csY1" fmla="*/ 267508 h 569166"/>
                <a:gd name="csX2" fmla="*/ 4021494 w 4721290"/>
                <a:gd name="csY2" fmla="*/ 569166 h 569166"/>
                <a:gd name="csX3" fmla="*/ 3431675 w 4721290"/>
                <a:gd name="csY3" fmla="*/ 569166 h 569166"/>
                <a:gd name="csX4" fmla="*/ 2721211 w 4721290"/>
                <a:gd name="csY4" fmla="*/ 569166 h 569166"/>
                <a:gd name="csX5" fmla="*/ 2131392 w 4721290"/>
                <a:gd name="csY5" fmla="*/ 569166 h 569166"/>
                <a:gd name="csX6" fmla="*/ 1581788 w 4721290"/>
                <a:gd name="csY6" fmla="*/ 569166 h 569166"/>
                <a:gd name="csX7" fmla="*/ 831109 w 4721290"/>
                <a:gd name="csY7" fmla="*/ 569166 h 569166"/>
                <a:gd name="csX8" fmla="*/ 0 w 4721290"/>
                <a:gd name="csY8" fmla="*/ 569166 h 569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721290" h="569166" extrusionOk="0">
                  <a:moveTo>
                    <a:pt x="4721290" y="0"/>
                  </a:moveTo>
                  <a:cubicBezTo>
                    <a:pt x="4575297" y="95535"/>
                    <a:pt x="4513131" y="150027"/>
                    <a:pt x="4392386" y="267508"/>
                  </a:cubicBezTo>
                  <a:cubicBezTo>
                    <a:pt x="4271641" y="384989"/>
                    <a:pt x="4166567" y="445411"/>
                    <a:pt x="4021494" y="569166"/>
                  </a:cubicBezTo>
                  <a:cubicBezTo>
                    <a:pt x="3835215" y="571127"/>
                    <a:pt x="3618634" y="587290"/>
                    <a:pt x="3431675" y="569166"/>
                  </a:cubicBezTo>
                  <a:cubicBezTo>
                    <a:pt x="3244716" y="551042"/>
                    <a:pt x="3073856" y="552040"/>
                    <a:pt x="2721211" y="569166"/>
                  </a:cubicBezTo>
                  <a:cubicBezTo>
                    <a:pt x="2368566" y="586292"/>
                    <a:pt x="2408101" y="596949"/>
                    <a:pt x="2131392" y="569166"/>
                  </a:cubicBezTo>
                  <a:cubicBezTo>
                    <a:pt x="1854683" y="541383"/>
                    <a:pt x="1828199" y="589824"/>
                    <a:pt x="1581788" y="569166"/>
                  </a:cubicBezTo>
                  <a:cubicBezTo>
                    <a:pt x="1335377" y="548508"/>
                    <a:pt x="1108845" y="533010"/>
                    <a:pt x="831109" y="569166"/>
                  </a:cubicBezTo>
                  <a:cubicBezTo>
                    <a:pt x="553373" y="605322"/>
                    <a:pt x="349229" y="551185"/>
                    <a:pt x="0" y="569166"/>
                  </a:cubicBezTo>
                </a:path>
              </a:pathLst>
            </a:custGeom>
            <a:noFill/>
            <a:ln w="28575">
              <a:prstDash val="sysDot"/>
              <a:tailEnd type="triangle"/>
              <a:extLst>
                <a:ext uri="{C807C97D-BFC1-408E-A445-0C87EB9F89A2}">
                  <ask:lineSketchStyleProps xmlns:ask="http://schemas.microsoft.com/office/drawing/2018/sketchyshapes" sd="2802881777">
                    <a:custGeom>
                      <a:avLst/>
                      <a:gdLst>
                        <a:gd name="connsiteX0" fmla="*/ 4721290 w 4721290"/>
                        <a:gd name="connsiteY0" fmla="*/ 0 h 625151"/>
                        <a:gd name="connsiteX1" fmla="*/ 4021494 w 4721290"/>
                        <a:gd name="connsiteY1" fmla="*/ 625151 h 625151"/>
                        <a:gd name="connsiteX2" fmla="*/ 0 w 4721290"/>
                        <a:gd name="connsiteY2" fmla="*/ 625151 h 625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4721290" h="625151">
                          <a:moveTo>
                            <a:pt x="4721290" y="0"/>
                          </a:moveTo>
                          <a:lnTo>
                            <a:pt x="4021494" y="625151"/>
                          </a:lnTo>
                          <a:lnTo>
                            <a:pt x="0" y="625151"/>
                          </a:ln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5F93293E-FEC5-4AD1-AF77-EC9640750454}"/>
                </a:ext>
              </a:extLst>
            </p:cNvPr>
            <p:cNvSpPr/>
            <p:nvPr/>
          </p:nvSpPr>
          <p:spPr>
            <a:xfrm>
              <a:off x="5756988" y="1968759"/>
              <a:ext cx="4711959" cy="559837"/>
            </a:xfrm>
            <a:custGeom>
              <a:avLst/>
              <a:gdLst>
                <a:gd name="csX0" fmla="*/ 0 w 4711959"/>
                <a:gd name="csY0" fmla="*/ 0 h 559837"/>
                <a:gd name="csX1" fmla="*/ 263123 w 4711959"/>
                <a:gd name="csY1" fmla="*/ 263123 h 559837"/>
                <a:gd name="csX2" fmla="*/ 559837 w 4711959"/>
                <a:gd name="csY2" fmla="*/ 559837 h 559837"/>
                <a:gd name="csX3" fmla="*/ 1127294 w 4711959"/>
                <a:gd name="csY3" fmla="*/ 559837 h 559837"/>
                <a:gd name="csX4" fmla="*/ 1819314 w 4711959"/>
                <a:gd name="csY4" fmla="*/ 559837 h 559837"/>
                <a:gd name="csX5" fmla="*/ 2428292 w 4711959"/>
                <a:gd name="csY5" fmla="*/ 559837 h 559837"/>
                <a:gd name="csX6" fmla="*/ 3078791 w 4711959"/>
                <a:gd name="csY6" fmla="*/ 559837 h 559837"/>
                <a:gd name="csX7" fmla="*/ 3853854 w 4711959"/>
                <a:gd name="csY7" fmla="*/ 559837 h 559837"/>
                <a:gd name="csX8" fmla="*/ 4711959 w 4711959"/>
                <a:gd name="csY8" fmla="*/ 559837 h 559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711959" h="559837" extrusionOk="0">
                  <a:moveTo>
                    <a:pt x="0" y="0"/>
                  </a:moveTo>
                  <a:cubicBezTo>
                    <a:pt x="128555" y="123173"/>
                    <a:pt x="186359" y="176707"/>
                    <a:pt x="263123" y="263123"/>
                  </a:cubicBezTo>
                  <a:cubicBezTo>
                    <a:pt x="339887" y="349539"/>
                    <a:pt x="472934" y="447947"/>
                    <a:pt x="559837" y="559837"/>
                  </a:cubicBezTo>
                  <a:cubicBezTo>
                    <a:pt x="688711" y="533784"/>
                    <a:pt x="890160" y="582479"/>
                    <a:pt x="1127294" y="559837"/>
                  </a:cubicBezTo>
                  <a:cubicBezTo>
                    <a:pt x="1364428" y="537195"/>
                    <a:pt x="1602260" y="534757"/>
                    <a:pt x="1819314" y="559837"/>
                  </a:cubicBezTo>
                  <a:cubicBezTo>
                    <a:pt x="2036368" y="584917"/>
                    <a:pt x="2294894" y="579304"/>
                    <a:pt x="2428292" y="559837"/>
                  </a:cubicBezTo>
                  <a:cubicBezTo>
                    <a:pt x="2561690" y="540370"/>
                    <a:pt x="2876937" y="529698"/>
                    <a:pt x="3078791" y="559837"/>
                  </a:cubicBezTo>
                  <a:cubicBezTo>
                    <a:pt x="3280645" y="589976"/>
                    <a:pt x="3652456" y="555001"/>
                    <a:pt x="3853854" y="559837"/>
                  </a:cubicBezTo>
                  <a:cubicBezTo>
                    <a:pt x="4055252" y="564673"/>
                    <a:pt x="4285360" y="594155"/>
                    <a:pt x="4711959" y="559837"/>
                  </a:cubicBezTo>
                </a:path>
              </a:pathLst>
            </a:custGeom>
            <a:noFill/>
            <a:ln w="28575">
              <a:prstDash val="sysDot"/>
              <a:tailEnd type="triangle"/>
              <a:extLst>
                <a:ext uri="{C807C97D-BFC1-408E-A445-0C87EB9F89A2}">
                  <ask:lineSketchStyleProps xmlns:ask="http://schemas.microsoft.com/office/drawing/2018/sketchyshapes" sd="3483464521">
                    <a:custGeom>
                      <a:avLst/>
                      <a:gdLst>
                        <a:gd name="connsiteX0" fmla="*/ 0 w 4711959"/>
                        <a:gd name="connsiteY0" fmla="*/ 0 h 559837"/>
                        <a:gd name="connsiteX1" fmla="*/ 559837 w 4711959"/>
                        <a:gd name="connsiteY1" fmla="*/ 559837 h 559837"/>
                        <a:gd name="connsiteX2" fmla="*/ 4711959 w 4711959"/>
                        <a:gd name="connsiteY2" fmla="*/ 559837 h 5598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4711959" h="559837">
                          <a:moveTo>
                            <a:pt x="0" y="0"/>
                          </a:moveTo>
                          <a:lnTo>
                            <a:pt x="559837" y="559837"/>
                          </a:lnTo>
                          <a:lnTo>
                            <a:pt x="4711959" y="559837"/>
                          </a:ln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781033-007D-4D16-8561-409449C80A5C}"/>
                </a:ext>
              </a:extLst>
            </p:cNvPr>
            <p:cNvSpPr txBox="1"/>
            <p:nvPr/>
          </p:nvSpPr>
          <p:spPr>
            <a:xfrm>
              <a:off x="2006082" y="2342171"/>
              <a:ext cx="154080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그 출원의 지위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08E5332-538F-4346-B0DF-40DD81775E10}"/>
                </a:ext>
              </a:extLst>
            </p:cNvPr>
            <p:cNvSpPr txBox="1"/>
            <p:nvPr/>
          </p:nvSpPr>
          <p:spPr>
            <a:xfrm>
              <a:off x="7725897" y="2342171"/>
              <a:ext cx="174919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다른 출원의 지위</a:t>
              </a:r>
            </a:p>
          </p:txBody>
        </p:sp>
      </p:grp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C791F33-BB75-4701-A830-F3EA5F4BD5D0}"/>
              </a:ext>
            </a:extLst>
          </p:cNvPr>
          <p:cNvCxnSpPr/>
          <p:nvPr/>
        </p:nvCxnSpPr>
        <p:spPr>
          <a:xfrm>
            <a:off x="74645" y="4376057"/>
            <a:ext cx="1185920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A2E151A-2F3D-4710-8375-EFE3323F96F0}"/>
              </a:ext>
            </a:extLst>
          </p:cNvPr>
          <p:cNvCxnSpPr>
            <a:stCxn id="22" idx="2"/>
          </p:cNvCxnSpPr>
          <p:nvPr/>
        </p:nvCxnSpPr>
        <p:spPr>
          <a:xfrm>
            <a:off x="5995180" y="5116824"/>
            <a:ext cx="0" cy="2660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412C7731-B558-4F68-BD64-7839EE311535}"/>
              </a:ext>
            </a:extLst>
          </p:cNvPr>
          <p:cNvSpPr/>
          <p:nvPr/>
        </p:nvSpPr>
        <p:spPr>
          <a:xfrm>
            <a:off x="5897949" y="5399233"/>
            <a:ext cx="194461" cy="1944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582A1-3E61-414A-AD34-DC4237A37A4C}"/>
              </a:ext>
            </a:extLst>
          </p:cNvPr>
          <p:cNvSpPr txBox="1"/>
          <p:nvPr/>
        </p:nvSpPr>
        <p:spPr>
          <a:xfrm>
            <a:off x="6321569" y="1907446"/>
            <a:ext cx="1253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청구범위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BF3D8C-91F2-4454-BE74-A63E1FCFC133}"/>
              </a:ext>
            </a:extLst>
          </p:cNvPr>
          <p:cNvSpPr txBox="1"/>
          <p:nvPr/>
        </p:nvSpPr>
        <p:spPr>
          <a:xfrm>
            <a:off x="8496300" y="2921625"/>
            <a:ext cx="2274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최초 명세서 또는 도면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8F6B4D-383A-4429-B3C2-F7390414B558}"/>
              </a:ext>
            </a:extLst>
          </p:cNvPr>
          <p:cNvSpPr txBox="1"/>
          <p:nvPr/>
        </p:nvSpPr>
        <p:spPr>
          <a:xfrm>
            <a:off x="8496300" y="3321950"/>
            <a:ext cx="2274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청구범위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B5BC0C-C40F-4C4F-90C1-4321FADF1801}"/>
              </a:ext>
            </a:extLst>
          </p:cNvPr>
          <p:cNvSpPr txBox="1"/>
          <p:nvPr/>
        </p:nvSpPr>
        <p:spPr>
          <a:xfrm>
            <a:off x="8496300" y="3734724"/>
            <a:ext cx="2274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최초 명세서 또는 도면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078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출원발명의 등록금지적 효력</a:t>
            </a:r>
            <a:r>
              <a:rPr lang="en-US" altLang="ko-KR" dirty="0"/>
              <a:t>(</a:t>
            </a: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출원의 지위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558249"/>
              </p:ext>
            </p:extLst>
          </p:nvPr>
        </p:nvGraphicFramePr>
        <p:xfrm>
          <a:off x="341419" y="1065165"/>
          <a:ext cx="11536256" cy="1677924"/>
        </p:xfrm>
        <a:graphic>
          <a:graphicData uri="http://schemas.openxmlformats.org/drawingml/2006/table">
            <a:tbl>
              <a:tblPr/>
              <a:tblGrid>
                <a:gridCol w="1697845">
                  <a:extLst>
                    <a:ext uri="{9D8B030D-6E8A-4147-A177-3AD203B41FA5}">
                      <a16:colId xmlns:a16="http://schemas.microsoft.com/office/drawing/2014/main" val="1938038473"/>
                    </a:ext>
                  </a:extLst>
                </a:gridCol>
                <a:gridCol w="2668749">
                  <a:extLst>
                    <a:ext uri="{9D8B030D-6E8A-4147-A177-3AD203B41FA5}">
                      <a16:colId xmlns:a16="http://schemas.microsoft.com/office/drawing/2014/main" val="721845093"/>
                    </a:ext>
                  </a:extLst>
                </a:gridCol>
                <a:gridCol w="3774309">
                  <a:extLst>
                    <a:ext uri="{9D8B030D-6E8A-4147-A177-3AD203B41FA5}">
                      <a16:colId xmlns:a16="http://schemas.microsoft.com/office/drawing/2014/main" val="1556334561"/>
                    </a:ext>
                  </a:extLst>
                </a:gridCol>
                <a:gridCol w="3395353">
                  <a:extLst>
                    <a:ext uri="{9D8B030D-6E8A-4147-A177-3AD203B41FA5}">
                      <a16:colId xmlns:a16="http://schemas.microsoft.com/office/drawing/2014/main" val="3907008119"/>
                    </a:ext>
                  </a:extLst>
                </a:gridCol>
              </a:tblGrid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출원의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공지기술의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10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852261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출원공개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설정등록된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후부터 발생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216)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출원한 날부터 발생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출원한 날의 다음날부터 발생하여 출원공개 또는 등록공고 전까지 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872430"/>
                  </a:ext>
                </a:extLst>
              </a:tr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 명세서 또는 도면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 명세서 또는 도면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722737"/>
                  </a:ext>
                </a:extLst>
              </a:tr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국제주의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국내주의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국내주의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946965"/>
                  </a:ext>
                </a:extLst>
              </a:tr>
              <a:tr h="194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동일성과 용이성 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 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 판단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5314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출원이 무효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취하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포기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거절결정확정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협의불성립으로 거절결정이 확정된 경우는 제외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된 경우나 무권리자 출원의 경우 부적용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발명자나 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특허출원할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때의 출원인 동일의 경우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부적용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889861"/>
                  </a:ext>
                </a:extLst>
              </a:tr>
            </a:tbl>
          </a:graphicData>
        </a:graphic>
      </p:graphicFrame>
      <p:cxnSp>
        <p:nvCxnSpPr>
          <p:cNvPr id="114" name="직선 연결선 113"/>
          <p:cNvCxnSpPr/>
          <p:nvPr/>
        </p:nvCxnSpPr>
        <p:spPr>
          <a:xfrm flipV="1">
            <a:off x="133350" y="2915711"/>
            <a:ext cx="11963400" cy="28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자유형 115"/>
          <p:cNvSpPr/>
          <p:nvPr/>
        </p:nvSpPr>
        <p:spPr>
          <a:xfrm flipV="1">
            <a:off x="2595414" y="4554427"/>
            <a:ext cx="3240360" cy="717277"/>
          </a:xfrm>
          <a:custGeom>
            <a:avLst/>
            <a:gdLst>
              <a:gd name="connsiteX0" fmla="*/ 0 w 3612445"/>
              <a:gd name="connsiteY0" fmla="*/ 699911 h 711200"/>
              <a:gd name="connsiteX1" fmla="*/ 688623 w 3612445"/>
              <a:gd name="connsiteY1" fmla="*/ 11289 h 711200"/>
              <a:gd name="connsiteX2" fmla="*/ 2889956 w 3612445"/>
              <a:gd name="connsiteY2" fmla="*/ 0 h 711200"/>
              <a:gd name="connsiteX3" fmla="*/ 3612445 w 3612445"/>
              <a:gd name="connsiteY3" fmla="*/ 71120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2445" h="711200">
                <a:moveTo>
                  <a:pt x="0" y="699911"/>
                </a:moveTo>
                <a:lnTo>
                  <a:pt x="688623" y="11289"/>
                </a:lnTo>
                <a:lnTo>
                  <a:pt x="2889956" y="0"/>
                </a:lnTo>
                <a:lnTo>
                  <a:pt x="3612445" y="711200"/>
                </a:lnTo>
              </a:path>
            </a:pathLst>
          </a:cu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자유형 117"/>
          <p:cNvSpPr/>
          <p:nvPr/>
        </p:nvSpPr>
        <p:spPr>
          <a:xfrm flipV="1">
            <a:off x="5547741" y="4565719"/>
            <a:ext cx="3938939" cy="711802"/>
          </a:xfrm>
          <a:custGeom>
            <a:avLst/>
            <a:gdLst>
              <a:gd name="connsiteX0" fmla="*/ 0 w 3680178"/>
              <a:gd name="connsiteY0" fmla="*/ 699911 h 733778"/>
              <a:gd name="connsiteX1" fmla="*/ 722489 w 3680178"/>
              <a:gd name="connsiteY1" fmla="*/ 0 h 733778"/>
              <a:gd name="connsiteX2" fmla="*/ 3680178 w 3680178"/>
              <a:gd name="connsiteY2" fmla="*/ 0 h 733778"/>
              <a:gd name="connsiteX3" fmla="*/ 3680178 w 3680178"/>
              <a:gd name="connsiteY3" fmla="*/ 733778 h 73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0178" h="733778">
                <a:moveTo>
                  <a:pt x="0" y="699911"/>
                </a:moveTo>
                <a:lnTo>
                  <a:pt x="722489" y="0"/>
                </a:lnTo>
                <a:lnTo>
                  <a:pt x="3680178" y="0"/>
                </a:lnTo>
                <a:lnTo>
                  <a:pt x="3680178" y="733778"/>
                </a:lnTo>
              </a:path>
            </a:pathLst>
          </a:custGeom>
          <a:pattFill prst="ltVert">
            <a:fgClr>
              <a:schemeClr val="accent3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 flipV="1">
            <a:off x="1378188" y="3808907"/>
            <a:ext cx="8223012" cy="720493"/>
          </a:xfrm>
          <a:custGeom>
            <a:avLst/>
            <a:gdLst>
              <a:gd name="connsiteX0" fmla="*/ 0 w 7303911"/>
              <a:gd name="connsiteY0" fmla="*/ 33867 h 722489"/>
              <a:gd name="connsiteX1" fmla="*/ 722489 w 7303911"/>
              <a:gd name="connsiteY1" fmla="*/ 722489 h 722489"/>
              <a:gd name="connsiteX2" fmla="*/ 7303911 w 7303911"/>
              <a:gd name="connsiteY2" fmla="*/ 722489 h 722489"/>
              <a:gd name="connsiteX3" fmla="*/ 7303911 w 7303911"/>
              <a:gd name="connsiteY3" fmla="*/ 0 h 72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3911" h="722489">
                <a:moveTo>
                  <a:pt x="0" y="33867"/>
                </a:moveTo>
                <a:lnTo>
                  <a:pt x="722489" y="722489"/>
                </a:lnTo>
                <a:lnTo>
                  <a:pt x="7303911" y="722489"/>
                </a:lnTo>
                <a:lnTo>
                  <a:pt x="7303911" y="0"/>
                </a:lnTo>
              </a:path>
            </a:pathLst>
          </a:custGeom>
          <a:pattFill prst="pct5">
            <a:fgClr>
              <a:schemeClr val="accent5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화살표 연결선 121"/>
          <p:cNvCxnSpPr/>
          <p:nvPr/>
        </p:nvCxnSpPr>
        <p:spPr>
          <a:xfrm>
            <a:off x="1803326" y="4551608"/>
            <a:ext cx="8064896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1515294" y="4371588"/>
            <a:ext cx="1080120" cy="3600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특허출원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5105161" y="4371588"/>
            <a:ext cx="1245202" cy="3600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출원공개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(x)*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925162" y="5055664"/>
            <a:ext cx="2374368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accent2"/>
                </a:solidFill>
              </a:rPr>
              <a:t>확대된 </a:t>
            </a:r>
            <a:r>
              <a:rPr lang="ko-KR" altLang="en-US" sz="1600" b="1" dirty="0" err="1">
                <a:solidFill>
                  <a:schemeClr val="accent2"/>
                </a:solidFill>
              </a:rPr>
              <a:t>선출원의</a:t>
            </a:r>
            <a:r>
              <a:rPr lang="ko-KR" altLang="en-US" sz="1600" b="1" dirty="0">
                <a:solidFill>
                  <a:schemeClr val="accent2"/>
                </a:solidFill>
              </a:rPr>
              <a:t> 지위</a:t>
            </a:r>
            <a:endParaRPr lang="en-US" altLang="ko-KR" sz="1600" b="1" dirty="0">
              <a:solidFill>
                <a:schemeClr val="accent2"/>
              </a:solidFill>
            </a:endParaRPr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범위</a:t>
            </a:r>
            <a:r>
              <a:rPr lang="en-US" altLang="ko-KR" sz="1200" dirty="0"/>
              <a:t>: </a:t>
            </a:r>
            <a:r>
              <a:rPr lang="ko-KR" altLang="en-US" sz="1200" dirty="0"/>
              <a:t>최초 명세서 또는 도면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지역</a:t>
            </a:r>
            <a:r>
              <a:rPr lang="en-US" altLang="ko-KR" sz="1200" dirty="0"/>
              <a:t>: </a:t>
            </a:r>
            <a:r>
              <a:rPr lang="ko-KR" altLang="en-US" sz="1200" dirty="0"/>
              <a:t>국내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판단</a:t>
            </a:r>
            <a:r>
              <a:rPr lang="en-US" altLang="ko-KR" sz="1200" dirty="0"/>
              <a:t>: </a:t>
            </a:r>
            <a:r>
              <a:rPr lang="ko-KR" altLang="en-US" sz="1200" dirty="0"/>
              <a:t>동일성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비고</a:t>
            </a:r>
            <a:r>
              <a:rPr lang="en-US" altLang="ko-KR" sz="1200" dirty="0"/>
              <a:t>: </a:t>
            </a:r>
            <a:r>
              <a:rPr lang="ko-KR" altLang="en-US" sz="1200" dirty="0"/>
              <a:t>발명자</a:t>
            </a:r>
            <a:r>
              <a:rPr lang="en-US" altLang="ko-KR" sz="1200" dirty="0"/>
              <a:t>, </a:t>
            </a:r>
            <a:r>
              <a:rPr lang="ko-KR" altLang="en-US" sz="1200" dirty="0"/>
              <a:t>출원인 동일 부적용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34339" y="5055664"/>
            <a:ext cx="3114638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3">
                    <a:lumMod val="50000"/>
                  </a:schemeClr>
                </a:solidFill>
              </a:rPr>
              <a:t>공지기술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**</a:t>
            </a:r>
            <a:r>
              <a:rPr lang="ko-KR" altLang="en-US" sz="1600" b="1" dirty="0">
                <a:solidFill>
                  <a:schemeClr val="accent3">
                    <a:lumMod val="50000"/>
                  </a:schemeClr>
                </a:solidFill>
              </a:rPr>
              <a:t>의 지위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1600" b="1" dirty="0" err="1">
                <a:solidFill>
                  <a:schemeClr val="accent3">
                    <a:lumMod val="50000"/>
                  </a:schemeClr>
                </a:solidFill>
              </a:rPr>
              <a:t>신규성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,</a:t>
            </a:r>
            <a:r>
              <a:rPr lang="ko-KR" altLang="en-US" sz="1600" b="1" dirty="0">
                <a:solidFill>
                  <a:schemeClr val="accent3">
                    <a:lumMod val="50000"/>
                  </a:schemeClr>
                </a:solidFill>
              </a:rPr>
              <a:t>진보성</a:t>
            </a:r>
            <a:r>
              <a:rPr lang="en-US" altLang="ko-KR" sz="16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범위</a:t>
            </a:r>
            <a:r>
              <a:rPr lang="en-US" altLang="ko-KR" sz="1200" dirty="0"/>
              <a:t>: </a:t>
            </a:r>
            <a:r>
              <a:rPr lang="ko-KR" altLang="en-US" sz="1200" dirty="0"/>
              <a:t>최초 명세서 또는 도면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지역</a:t>
            </a:r>
            <a:r>
              <a:rPr lang="en-US" altLang="ko-KR" sz="1200" dirty="0"/>
              <a:t>: </a:t>
            </a:r>
            <a:r>
              <a:rPr lang="ko-KR" altLang="en-US" sz="1200" dirty="0"/>
              <a:t>국내</a:t>
            </a:r>
            <a:r>
              <a:rPr lang="en-US" altLang="ko-KR" sz="1200" dirty="0"/>
              <a:t>/</a:t>
            </a:r>
            <a:r>
              <a:rPr lang="ko-KR" altLang="en-US" sz="1200" dirty="0"/>
              <a:t>국외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판단</a:t>
            </a:r>
            <a:r>
              <a:rPr lang="en-US" altLang="ko-KR" sz="1200" dirty="0"/>
              <a:t>: </a:t>
            </a:r>
            <a:r>
              <a:rPr lang="ko-KR" altLang="en-US" sz="1200" dirty="0"/>
              <a:t>동일성</a:t>
            </a:r>
            <a:r>
              <a:rPr lang="en-US" altLang="ko-KR" sz="1200" dirty="0"/>
              <a:t>/</a:t>
            </a:r>
            <a:r>
              <a:rPr lang="ko-KR" altLang="en-US" sz="1200" dirty="0"/>
              <a:t>용이성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비고</a:t>
            </a:r>
            <a:r>
              <a:rPr lang="en-US" altLang="ko-KR" sz="1200" dirty="0"/>
              <a:t>: </a:t>
            </a:r>
            <a:endParaRPr lang="ko-KR" altLang="en-US" sz="1200" dirty="0"/>
          </a:p>
        </p:txBody>
      </p:sp>
      <p:sp>
        <p:nvSpPr>
          <p:cNvPr id="132" name="TextBox 131"/>
          <p:cNvSpPr txBox="1"/>
          <p:nvPr/>
        </p:nvSpPr>
        <p:spPr>
          <a:xfrm>
            <a:off x="3572449" y="3043753"/>
            <a:ext cx="4580100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chemeClr val="accent2"/>
                </a:solidFill>
              </a:rPr>
              <a:t>선출원의</a:t>
            </a:r>
            <a:r>
              <a:rPr lang="ko-KR" altLang="en-US" sz="1600" b="1" dirty="0">
                <a:solidFill>
                  <a:schemeClr val="accent2"/>
                </a:solidFill>
              </a:rPr>
              <a:t> 지위</a:t>
            </a:r>
            <a:endParaRPr lang="en-US" altLang="ko-KR" sz="1600" b="1" dirty="0">
              <a:solidFill>
                <a:schemeClr val="accent2"/>
              </a:solidFill>
            </a:endParaRPr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범위</a:t>
            </a:r>
            <a:r>
              <a:rPr lang="en-US" altLang="ko-KR" sz="1200" dirty="0"/>
              <a:t>: </a:t>
            </a:r>
            <a:r>
              <a:rPr lang="ko-KR" altLang="en-US" sz="1200" dirty="0"/>
              <a:t>청구범위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지역</a:t>
            </a:r>
            <a:r>
              <a:rPr lang="en-US" altLang="ko-KR" sz="1200" dirty="0"/>
              <a:t>: </a:t>
            </a:r>
            <a:r>
              <a:rPr lang="ko-KR" altLang="en-US" sz="1200" dirty="0"/>
              <a:t>국내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판단</a:t>
            </a:r>
            <a:r>
              <a:rPr lang="en-US" altLang="ko-KR" sz="1200" dirty="0"/>
              <a:t>: </a:t>
            </a:r>
            <a:r>
              <a:rPr lang="ko-KR" altLang="en-US" sz="1200" dirty="0"/>
              <a:t>동일성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비고</a:t>
            </a:r>
            <a:r>
              <a:rPr lang="en-US" altLang="ko-KR" sz="1200" dirty="0"/>
              <a:t>: </a:t>
            </a:r>
            <a:r>
              <a:rPr lang="ko-KR" altLang="en-US" sz="1200" dirty="0"/>
              <a:t>출원의 무효</a:t>
            </a:r>
            <a:r>
              <a:rPr lang="en-US" altLang="ko-KR" sz="1200" dirty="0"/>
              <a:t>, </a:t>
            </a:r>
            <a:r>
              <a:rPr lang="ko-KR" altLang="en-US" sz="1200" dirty="0"/>
              <a:t>취하</a:t>
            </a:r>
            <a:r>
              <a:rPr lang="en-US" altLang="ko-KR" sz="1200" dirty="0"/>
              <a:t>, </a:t>
            </a:r>
            <a:r>
              <a:rPr lang="ko-KR" altLang="en-US" sz="1200" dirty="0"/>
              <a:t>포기</a:t>
            </a:r>
            <a:r>
              <a:rPr lang="en-US" altLang="ko-KR" sz="1200" dirty="0"/>
              <a:t>, </a:t>
            </a:r>
            <a:r>
              <a:rPr lang="ko-KR" altLang="en-US" sz="1200" dirty="0"/>
              <a:t>거절결정확정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무권리자</a:t>
            </a:r>
            <a:r>
              <a:rPr lang="ko-KR" altLang="en-US" sz="1200" dirty="0"/>
              <a:t> 출원은</a:t>
            </a:r>
            <a:r>
              <a:rPr lang="en-US" altLang="ko-KR" sz="1200" dirty="0"/>
              <a:t> </a:t>
            </a:r>
            <a:r>
              <a:rPr lang="ko-KR" altLang="en-US" sz="1200" dirty="0"/>
              <a:t>부적용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7489" y="6256707"/>
            <a:ext cx="11949261" cy="573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*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출원공개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는 일반적으로 특허출원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한 날로부터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년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6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개월이 지난 후이나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1)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조기공개신청을 하거나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2)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그 전에 </a:t>
            </a: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</a:rPr>
              <a:t>실체심사하여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 등록된 경우에는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년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6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개월 전에 공개될 수도 있다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** </a:t>
            </a: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</a:rPr>
              <a:t>공지기술의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 지위는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1)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공지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2)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공연실시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3)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반포된 간행물에 게재 또는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4)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전기통신회선을 통하여 공중이 </a:t>
            </a: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</a:rPr>
              <a:t>이용가능하게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 된 경우에 인정이 된다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그 중에서 출원공개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는 반포된 간행물에 게재에 해당한다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  <a:p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다만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특허출원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(x)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</a:rPr>
              <a:t>자체는 공개되지 않기 때문에 공지기술의 지위를 갖지 않는다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228725" y="3944411"/>
            <a:ext cx="286569" cy="1111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/>
          <p:cNvSpPr/>
          <p:nvPr/>
        </p:nvSpPr>
        <p:spPr>
          <a:xfrm>
            <a:off x="9506151" y="3806740"/>
            <a:ext cx="188059" cy="699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9506151" y="4593774"/>
            <a:ext cx="188059" cy="699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778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출원발명의 </a:t>
            </a:r>
            <a:r>
              <a:rPr lang="ko-KR" altLang="en-US" dirty="0" err="1"/>
              <a:t>등록금지적</a:t>
            </a:r>
            <a:r>
              <a:rPr lang="ko-KR" altLang="en-US" dirty="0"/>
              <a:t> 효력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95260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시기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809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22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22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직선 연결선 25"/>
          <p:cNvCxnSpPr>
            <a:stCxn id="40" idx="0"/>
            <a:endCxn id="27" idx="2"/>
          </p:cNvCxnSpPr>
          <p:nvPr/>
        </p:nvCxnSpPr>
        <p:spPr>
          <a:xfrm flipV="1">
            <a:off x="1147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2299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42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44" name="직선 연결선 43"/>
          <p:cNvCxnSpPr>
            <a:stCxn id="46" idx="0"/>
            <a:endCxn id="45" idx="2"/>
          </p:cNvCxnSpPr>
          <p:nvPr/>
        </p:nvCxnSpPr>
        <p:spPr>
          <a:xfrm flipV="1">
            <a:off x="4096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093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6" name="직사각형 45"/>
          <p:cNvSpPr/>
          <p:nvPr/>
        </p:nvSpPr>
        <p:spPr>
          <a:xfrm>
            <a:off x="3491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55" idx="2"/>
          </p:cNvCxnSpPr>
          <p:nvPr/>
        </p:nvCxnSpPr>
        <p:spPr>
          <a:xfrm>
            <a:off x="620457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95260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95260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(7)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57" name="직선 연결선 56"/>
          <p:cNvCxnSpPr>
            <a:endCxn id="59" idx="2"/>
          </p:cNvCxnSpPr>
          <p:nvPr/>
        </p:nvCxnSpPr>
        <p:spPr>
          <a:xfrm>
            <a:off x="16055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1803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180335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(8)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0" name="직선 연결선 59"/>
          <p:cNvCxnSpPr>
            <a:endCxn id="62" idx="2"/>
          </p:cNvCxnSpPr>
          <p:nvPr/>
        </p:nvCxnSpPr>
        <p:spPr>
          <a:xfrm>
            <a:off x="26537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2286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2286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3" name="직선 연결선 62"/>
          <p:cNvCxnSpPr>
            <a:endCxn id="65" idx="2"/>
          </p:cNvCxnSpPr>
          <p:nvPr/>
        </p:nvCxnSpPr>
        <p:spPr>
          <a:xfrm>
            <a:off x="362477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319958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19958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6" name="직선 연결선 65"/>
          <p:cNvCxnSpPr>
            <a:endCxn id="68" idx="2"/>
          </p:cNvCxnSpPr>
          <p:nvPr/>
        </p:nvCxnSpPr>
        <p:spPr>
          <a:xfrm>
            <a:off x="45489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4123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1237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9" name="직선 연결선 68"/>
          <p:cNvCxnSpPr>
            <a:endCxn id="71" idx="2"/>
          </p:cNvCxnSpPr>
          <p:nvPr/>
        </p:nvCxnSpPr>
        <p:spPr>
          <a:xfrm>
            <a:off x="54439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5018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0188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36216"/>
              </p:ext>
            </p:extLst>
          </p:nvPr>
        </p:nvGraphicFramePr>
        <p:xfrm>
          <a:off x="133350" y="4791391"/>
          <a:ext cx="5791209" cy="155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0233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신규성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6409793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범위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>
            <a:off x="6905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6818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818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>
            <a:stCxn id="97" idx="0"/>
            <a:endCxn id="96" idx="2"/>
          </p:cNvCxnSpPr>
          <p:nvPr/>
        </p:nvCxnSpPr>
        <p:spPr>
          <a:xfrm flipV="1">
            <a:off x="7243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18299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97" name="직사각형 96"/>
          <p:cNvSpPr/>
          <p:nvPr/>
        </p:nvSpPr>
        <p:spPr>
          <a:xfrm>
            <a:off x="6638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98" name="직선 연결선 97"/>
          <p:cNvCxnSpPr>
            <a:stCxn id="100" idx="0"/>
            <a:endCxn id="99" idx="2"/>
          </p:cNvCxnSpPr>
          <p:nvPr/>
        </p:nvCxnSpPr>
        <p:spPr>
          <a:xfrm flipV="1">
            <a:off x="10192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76693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100" name="직사각형 99"/>
          <p:cNvSpPr/>
          <p:nvPr/>
        </p:nvSpPr>
        <p:spPr>
          <a:xfrm>
            <a:off x="9587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cxnSp>
        <p:nvCxnSpPr>
          <p:cNvPr id="101" name="직선 연결선 100"/>
          <p:cNvCxnSpPr>
            <a:endCxn id="103" idx="2"/>
          </p:cNvCxnSpPr>
          <p:nvPr/>
        </p:nvCxnSpPr>
        <p:spPr>
          <a:xfrm>
            <a:off x="6716457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6291260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291260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(7)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직선 연결선 103"/>
          <p:cNvCxnSpPr>
            <a:endCxn id="106" idx="2"/>
          </p:cNvCxnSpPr>
          <p:nvPr/>
        </p:nvCxnSpPr>
        <p:spPr>
          <a:xfrm>
            <a:off x="77015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7276335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2763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(8)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7" name="직선 연결선 106"/>
          <p:cNvCxnSpPr>
            <a:endCxn id="109" idx="2"/>
          </p:cNvCxnSpPr>
          <p:nvPr/>
        </p:nvCxnSpPr>
        <p:spPr>
          <a:xfrm>
            <a:off x="87497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83246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83246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0" name="직선 연결선 109"/>
          <p:cNvCxnSpPr>
            <a:endCxn id="112" idx="2"/>
          </p:cNvCxnSpPr>
          <p:nvPr/>
        </p:nvCxnSpPr>
        <p:spPr>
          <a:xfrm>
            <a:off x="972077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929558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929558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3" name="직선 연결선 112"/>
          <p:cNvCxnSpPr>
            <a:endCxn id="115" idx="2"/>
          </p:cNvCxnSpPr>
          <p:nvPr/>
        </p:nvCxnSpPr>
        <p:spPr>
          <a:xfrm>
            <a:off x="106449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10219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02197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6" name="직선 연결선 115"/>
          <p:cNvCxnSpPr>
            <a:endCxn id="118" idx="2"/>
          </p:cNvCxnSpPr>
          <p:nvPr/>
        </p:nvCxnSpPr>
        <p:spPr>
          <a:xfrm>
            <a:off x="115399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11114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11148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70739"/>
              </p:ext>
            </p:extLst>
          </p:nvPr>
        </p:nvGraphicFramePr>
        <p:xfrm>
          <a:off x="6229350" y="4791391"/>
          <a:ext cx="5791209" cy="155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0233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신규성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120" name="직사각형 119"/>
          <p:cNvSpPr/>
          <p:nvPr/>
        </p:nvSpPr>
        <p:spPr>
          <a:xfrm>
            <a:off x="8584844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8584844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2" name="직선 연결선 121"/>
          <p:cNvCxnSpPr>
            <a:endCxn id="123" idx="2"/>
          </p:cNvCxnSpPr>
          <p:nvPr/>
        </p:nvCxnSpPr>
        <p:spPr>
          <a:xfrm flipV="1">
            <a:off x="901004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858484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보정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cxnSp>
        <p:nvCxnSpPr>
          <p:cNvPr id="11" name="직선 화살표 연결선 10"/>
          <p:cNvCxnSpPr>
            <a:stCxn id="123" idx="1"/>
            <a:endCxn id="96" idx="3"/>
          </p:cNvCxnSpPr>
          <p:nvPr/>
        </p:nvCxnSpPr>
        <p:spPr>
          <a:xfrm flipH="1">
            <a:off x="7668691" y="2341724"/>
            <a:ext cx="91615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361005" y="2016116"/>
            <a:ext cx="1519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소급효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56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출원발명의 </a:t>
            </a:r>
            <a:r>
              <a:rPr lang="ko-KR" altLang="en-US" dirty="0" err="1"/>
              <a:t>등록금지적</a:t>
            </a:r>
            <a:r>
              <a:rPr lang="ko-KR" altLang="en-US" dirty="0"/>
              <a:t> 효력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95260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지역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809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22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22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직선 연결선 25"/>
          <p:cNvCxnSpPr>
            <a:stCxn id="40" idx="0"/>
            <a:endCxn id="27" idx="2"/>
          </p:cNvCxnSpPr>
          <p:nvPr/>
        </p:nvCxnSpPr>
        <p:spPr>
          <a:xfrm flipV="1">
            <a:off x="1147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2389" y="2203224"/>
            <a:ext cx="12102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일본출원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42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44" name="직선 연결선 43"/>
          <p:cNvCxnSpPr>
            <a:stCxn id="46" idx="0"/>
            <a:endCxn id="45" idx="2"/>
          </p:cNvCxnSpPr>
          <p:nvPr/>
        </p:nvCxnSpPr>
        <p:spPr>
          <a:xfrm flipV="1">
            <a:off x="4096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91025" y="2203224"/>
            <a:ext cx="12102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일본공개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46" name="직사각형 45"/>
          <p:cNvSpPr/>
          <p:nvPr/>
        </p:nvSpPr>
        <p:spPr>
          <a:xfrm>
            <a:off x="3491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55" idx="2"/>
          </p:cNvCxnSpPr>
          <p:nvPr/>
        </p:nvCxnSpPr>
        <p:spPr>
          <a:xfrm>
            <a:off x="620457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95260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95260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(7)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57" name="직선 연결선 56"/>
          <p:cNvCxnSpPr>
            <a:endCxn id="59" idx="2"/>
          </p:cNvCxnSpPr>
          <p:nvPr/>
        </p:nvCxnSpPr>
        <p:spPr>
          <a:xfrm>
            <a:off x="16055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180335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180335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(8)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0" name="직선 연결선 59"/>
          <p:cNvCxnSpPr>
            <a:endCxn id="62" idx="2"/>
          </p:cNvCxnSpPr>
          <p:nvPr/>
        </p:nvCxnSpPr>
        <p:spPr>
          <a:xfrm>
            <a:off x="26537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22860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(3)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228601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(9)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3" name="직선 연결선 62"/>
          <p:cNvCxnSpPr>
            <a:endCxn id="65" idx="2"/>
          </p:cNvCxnSpPr>
          <p:nvPr/>
        </p:nvCxnSpPr>
        <p:spPr>
          <a:xfrm>
            <a:off x="362477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319958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A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(4)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199581" y="4049756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(10)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6" name="직선 연결선 65"/>
          <p:cNvCxnSpPr>
            <a:endCxn id="68" idx="2"/>
          </p:cNvCxnSpPr>
          <p:nvPr/>
        </p:nvCxnSpPr>
        <p:spPr>
          <a:xfrm>
            <a:off x="4548932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4123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123735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9" name="직선 연결선 68"/>
          <p:cNvCxnSpPr>
            <a:endCxn id="71" idx="2"/>
          </p:cNvCxnSpPr>
          <p:nvPr/>
        </p:nvCxnSpPr>
        <p:spPr>
          <a:xfrm>
            <a:off x="5443998" y="2930676"/>
            <a:ext cx="0" cy="15735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5018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018801" y="4049756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169242"/>
              </p:ext>
            </p:extLst>
          </p:nvPr>
        </p:nvGraphicFramePr>
        <p:xfrm>
          <a:off x="133350" y="4791391"/>
          <a:ext cx="5791209" cy="155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0233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04248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신규성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6409793" y="1106383"/>
            <a:ext cx="95223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판단</a:t>
            </a:r>
          </a:p>
        </p:txBody>
      </p:sp>
      <p:cxnSp>
        <p:nvCxnSpPr>
          <p:cNvPr id="92" name="직선 연결선 91"/>
          <p:cNvCxnSpPr/>
          <p:nvPr/>
        </p:nvCxnSpPr>
        <p:spPr>
          <a:xfrm>
            <a:off x="6905281" y="2815926"/>
            <a:ext cx="50599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6818298" y="1645585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818298" y="1875086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>
            <a:stCxn id="97" idx="0"/>
            <a:endCxn id="96" idx="2"/>
          </p:cNvCxnSpPr>
          <p:nvPr/>
        </p:nvCxnSpPr>
        <p:spPr>
          <a:xfrm flipV="1">
            <a:off x="7243495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18299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97" name="직사각형 96"/>
          <p:cNvSpPr/>
          <p:nvPr/>
        </p:nvSpPr>
        <p:spPr>
          <a:xfrm>
            <a:off x="6638389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출원일</a:t>
            </a:r>
          </a:p>
        </p:txBody>
      </p:sp>
      <p:cxnSp>
        <p:nvCxnSpPr>
          <p:cNvPr id="98" name="직선 연결선 97"/>
          <p:cNvCxnSpPr>
            <a:stCxn id="100" idx="0"/>
            <a:endCxn id="99" idx="2"/>
          </p:cNvCxnSpPr>
          <p:nvPr/>
        </p:nvCxnSpPr>
        <p:spPr>
          <a:xfrm flipV="1">
            <a:off x="10192131" y="2480223"/>
            <a:ext cx="0" cy="220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766935" y="2203224"/>
            <a:ext cx="85039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공개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100" name="직사각형 99"/>
          <p:cNvSpPr/>
          <p:nvPr/>
        </p:nvSpPr>
        <p:spPr>
          <a:xfrm>
            <a:off x="9587025" y="2701176"/>
            <a:ext cx="121021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공개일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716457" y="2930677"/>
            <a:ext cx="4823541" cy="834732"/>
            <a:chOff x="6716457" y="2930676"/>
            <a:chExt cx="4823541" cy="1573591"/>
          </a:xfrm>
        </p:grpSpPr>
        <p:cxnSp>
          <p:nvCxnSpPr>
            <p:cNvPr id="101" name="직선 연결선 100"/>
            <p:cNvCxnSpPr/>
            <p:nvPr/>
          </p:nvCxnSpPr>
          <p:spPr>
            <a:xfrm>
              <a:off x="6716457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>
              <a:off x="7701532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>
              <a:off x="8749798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>
              <a:off x="9720778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>
              <a:off x="10644932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>
              <a:off x="11539998" y="2930676"/>
              <a:ext cx="0" cy="157359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113850"/>
              </p:ext>
            </p:extLst>
          </p:nvPr>
        </p:nvGraphicFramePr>
        <p:xfrm>
          <a:off x="6229350" y="4791391"/>
          <a:ext cx="5581647" cy="153749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9265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670397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</a:tblGrid>
              <a:tr h="2834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신규성</a:t>
                      </a:r>
                      <a:r>
                        <a:rPr lang="ko-KR" altLang="en-US" sz="1000" dirty="0"/>
                        <a:t>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2834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진보성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1752601" y="1203375"/>
            <a:ext cx="4250265" cy="671710"/>
          </a:xfrm>
          <a:prstGeom prst="wedgeRoundRectCallout">
            <a:avLst>
              <a:gd name="adj1" fmla="val -62594"/>
              <a:gd name="adj2" fmla="val -37077"/>
              <a:gd name="adj3" fmla="val 16667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외국에서 시장조사를 하던 중 괜찮은 아이템을 발견했는데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국내에서 조사해 보니 아무도 특허등록을 해 놓지 않은 상태이다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국내에서 특허를 받을 수 있는 방법은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9793" y="4191000"/>
            <a:ext cx="1596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B’</a:t>
            </a:r>
            <a:r>
              <a:rPr lang="ko-KR" altLang="en-US" sz="1200" dirty="0"/>
              <a:t>는 </a:t>
            </a:r>
            <a:r>
              <a:rPr lang="en-US" altLang="ko-KR" sz="1200" dirty="0"/>
              <a:t>B</a:t>
            </a:r>
            <a:r>
              <a:rPr lang="ko-KR" altLang="en-US" sz="1200" dirty="0"/>
              <a:t>로부터 용이함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6291260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7276335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32460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(3)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9295581" y="3538153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(4)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0219735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11114801" y="3538153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00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 절차의 종료와 등록금지적 효력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출원공개 전 출원의 무효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취하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거절결정 확정에 의하여 출원 절차가 종료되면 등록금지적 효력이 남지 않는다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출원공개 후 출원 절차가 종료되면 공지기술의 지위와 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남지만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지위는 남지 않게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151495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278489"/>
              </p:ext>
            </p:extLst>
          </p:nvPr>
        </p:nvGraphicFramePr>
        <p:xfrm>
          <a:off x="431505" y="2769712"/>
          <a:ext cx="4690828" cy="2676746"/>
        </p:xfrm>
        <a:graphic>
          <a:graphicData uri="http://schemas.openxmlformats.org/drawingml/2006/table">
            <a:tbl>
              <a:tblPr/>
              <a:tblGrid>
                <a:gridCol w="956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94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14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공지기술의 지위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6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공개 전 </a:t>
                      </a:r>
                      <a:endParaRPr lang="en-US" altLang="ko-KR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공개 후 </a:t>
                      </a:r>
                      <a:endParaRPr lang="en-US" altLang="ko-KR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인정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6419052" y="1819056"/>
            <a:ext cx="2757925" cy="4866416"/>
            <a:chOff x="1778000" y="3217333"/>
            <a:chExt cx="4343400" cy="3081867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1778000" y="3217333"/>
              <a:ext cx="0" cy="3081867"/>
            </a:xfrm>
            <a:prstGeom prst="line">
              <a:avLst/>
            </a:prstGeom>
            <a:ln w="28575">
              <a:solidFill>
                <a:schemeClr val="accent4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6121400" y="3217333"/>
              <a:ext cx="0" cy="3081867"/>
            </a:xfrm>
            <a:prstGeom prst="line">
              <a:avLst/>
            </a:prstGeom>
            <a:ln w="28575">
              <a:solidFill>
                <a:schemeClr val="accent4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>
            <a:off x="6354277" y="3066046"/>
            <a:ext cx="5507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6438252" y="2021787"/>
            <a:ext cx="2717802" cy="8935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65492" y="1867898"/>
            <a:ext cx="9100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년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월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9020344" y="2913644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808927" y="3281943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출원공개</a:t>
            </a:r>
          </a:p>
        </p:txBody>
      </p:sp>
      <p:sp>
        <p:nvSpPr>
          <p:cNvPr id="19" name="자유형 18"/>
          <p:cNvSpPr/>
          <p:nvPr/>
        </p:nvSpPr>
        <p:spPr>
          <a:xfrm>
            <a:off x="6579919" y="2566512"/>
            <a:ext cx="5281445" cy="474134"/>
          </a:xfrm>
          <a:custGeom>
            <a:avLst/>
            <a:gdLst>
              <a:gd name="connsiteX0" fmla="*/ 0 w 8449733"/>
              <a:gd name="connsiteY0" fmla="*/ 474134 h 474134"/>
              <a:gd name="connsiteX1" fmla="*/ 186266 w 8449733"/>
              <a:gd name="connsiteY1" fmla="*/ 8467 h 474134"/>
              <a:gd name="connsiteX2" fmla="*/ 3869266 w 8449733"/>
              <a:gd name="connsiteY2" fmla="*/ 8467 h 474134"/>
              <a:gd name="connsiteX3" fmla="*/ 4174066 w 8449733"/>
              <a:gd name="connsiteY3" fmla="*/ 338667 h 474134"/>
              <a:gd name="connsiteX4" fmla="*/ 4461933 w 8449733"/>
              <a:gd name="connsiteY4" fmla="*/ 0 h 474134"/>
              <a:gd name="connsiteX5" fmla="*/ 8449733 w 8449733"/>
              <a:gd name="connsiteY5" fmla="*/ 0 h 47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9733" h="474134">
                <a:moveTo>
                  <a:pt x="0" y="474134"/>
                </a:moveTo>
                <a:lnTo>
                  <a:pt x="186266" y="8467"/>
                </a:lnTo>
                <a:lnTo>
                  <a:pt x="3869266" y="8467"/>
                </a:lnTo>
                <a:lnTo>
                  <a:pt x="4174066" y="338667"/>
                </a:lnTo>
                <a:lnTo>
                  <a:pt x="4461933" y="0"/>
                </a:lnTo>
                <a:lnTo>
                  <a:pt x="8449733" y="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 19"/>
          <p:cNvSpPr/>
          <p:nvPr/>
        </p:nvSpPr>
        <p:spPr>
          <a:xfrm>
            <a:off x="6275107" y="3150712"/>
            <a:ext cx="5586257" cy="465667"/>
          </a:xfrm>
          <a:custGeom>
            <a:avLst/>
            <a:gdLst>
              <a:gd name="connsiteX0" fmla="*/ 0 w 8466667"/>
              <a:gd name="connsiteY0" fmla="*/ 0 h 465667"/>
              <a:gd name="connsiteX1" fmla="*/ 228600 w 8466667"/>
              <a:gd name="connsiteY1" fmla="*/ 465667 h 465667"/>
              <a:gd name="connsiteX2" fmla="*/ 8466667 w 8466667"/>
              <a:gd name="connsiteY2" fmla="*/ 465667 h 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667" h="465667">
                <a:moveTo>
                  <a:pt x="0" y="0"/>
                </a:moveTo>
                <a:lnTo>
                  <a:pt x="228600" y="465667"/>
                </a:lnTo>
                <a:lnTo>
                  <a:pt x="8466667" y="465667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/>
          <p:cNvCxnSpPr/>
          <p:nvPr/>
        </p:nvCxnSpPr>
        <p:spPr>
          <a:xfrm>
            <a:off x="6354277" y="4498031"/>
            <a:ext cx="50051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6266652" y="4345629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9020344" y="4345629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8808927" y="4713928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출원공개</a:t>
            </a:r>
          </a:p>
        </p:txBody>
      </p:sp>
      <p:sp>
        <p:nvSpPr>
          <p:cNvPr id="60" name="자유형 59"/>
          <p:cNvSpPr/>
          <p:nvPr/>
        </p:nvSpPr>
        <p:spPr>
          <a:xfrm>
            <a:off x="6579919" y="3998497"/>
            <a:ext cx="5281445" cy="474134"/>
          </a:xfrm>
          <a:custGeom>
            <a:avLst/>
            <a:gdLst>
              <a:gd name="connsiteX0" fmla="*/ 0 w 8449733"/>
              <a:gd name="connsiteY0" fmla="*/ 474134 h 474134"/>
              <a:gd name="connsiteX1" fmla="*/ 186266 w 8449733"/>
              <a:gd name="connsiteY1" fmla="*/ 8467 h 474134"/>
              <a:gd name="connsiteX2" fmla="*/ 3869266 w 8449733"/>
              <a:gd name="connsiteY2" fmla="*/ 8467 h 474134"/>
              <a:gd name="connsiteX3" fmla="*/ 4174066 w 8449733"/>
              <a:gd name="connsiteY3" fmla="*/ 338667 h 474134"/>
              <a:gd name="connsiteX4" fmla="*/ 4461933 w 8449733"/>
              <a:gd name="connsiteY4" fmla="*/ 0 h 474134"/>
              <a:gd name="connsiteX5" fmla="*/ 8449733 w 8449733"/>
              <a:gd name="connsiteY5" fmla="*/ 0 h 47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9733" h="474134">
                <a:moveTo>
                  <a:pt x="0" y="474134"/>
                </a:moveTo>
                <a:lnTo>
                  <a:pt x="186266" y="8467"/>
                </a:lnTo>
                <a:lnTo>
                  <a:pt x="3869266" y="8467"/>
                </a:lnTo>
                <a:lnTo>
                  <a:pt x="4174066" y="338667"/>
                </a:lnTo>
                <a:lnTo>
                  <a:pt x="4461933" y="0"/>
                </a:lnTo>
                <a:lnTo>
                  <a:pt x="8449733" y="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 60"/>
          <p:cNvSpPr/>
          <p:nvPr/>
        </p:nvSpPr>
        <p:spPr>
          <a:xfrm>
            <a:off x="6275108" y="4582697"/>
            <a:ext cx="5586258" cy="465667"/>
          </a:xfrm>
          <a:custGeom>
            <a:avLst/>
            <a:gdLst>
              <a:gd name="connsiteX0" fmla="*/ 0 w 8466667"/>
              <a:gd name="connsiteY0" fmla="*/ 0 h 465667"/>
              <a:gd name="connsiteX1" fmla="*/ 228600 w 8466667"/>
              <a:gd name="connsiteY1" fmla="*/ 465667 h 465667"/>
              <a:gd name="connsiteX2" fmla="*/ 8466667 w 8466667"/>
              <a:gd name="connsiteY2" fmla="*/ 465667 h 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667" h="465667">
                <a:moveTo>
                  <a:pt x="0" y="0"/>
                </a:moveTo>
                <a:lnTo>
                  <a:pt x="228600" y="465667"/>
                </a:lnTo>
                <a:lnTo>
                  <a:pt x="8466667" y="465667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6354277" y="5886884"/>
            <a:ext cx="15995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6266652" y="5734482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9020344" y="5734482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자유형 66"/>
          <p:cNvSpPr/>
          <p:nvPr/>
        </p:nvSpPr>
        <p:spPr>
          <a:xfrm>
            <a:off x="6579919" y="5387350"/>
            <a:ext cx="5281445" cy="474134"/>
          </a:xfrm>
          <a:custGeom>
            <a:avLst/>
            <a:gdLst>
              <a:gd name="connsiteX0" fmla="*/ 0 w 8449733"/>
              <a:gd name="connsiteY0" fmla="*/ 474134 h 474134"/>
              <a:gd name="connsiteX1" fmla="*/ 186266 w 8449733"/>
              <a:gd name="connsiteY1" fmla="*/ 8467 h 474134"/>
              <a:gd name="connsiteX2" fmla="*/ 3869266 w 8449733"/>
              <a:gd name="connsiteY2" fmla="*/ 8467 h 474134"/>
              <a:gd name="connsiteX3" fmla="*/ 4174066 w 8449733"/>
              <a:gd name="connsiteY3" fmla="*/ 338667 h 474134"/>
              <a:gd name="connsiteX4" fmla="*/ 4461933 w 8449733"/>
              <a:gd name="connsiteY4" fmla="*/ 0 h 474134"/>
              <a:gd name="connsiteX5" fmla="*/ 8449733 w 8449733"/>
              <a:gd name="connsiteY5" fmla="*/ 0 h 47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9733" h="474134">
                <a:moveTo>
                  <a:pt x="0" y="474134"/>
                </a:moveTo>
                <a:lnTo>
                  <a:pt x="186266" y="8467"/>
                </a:lnTo>
                <a:lnTo>
                  <a:pt x="3869266" y="8467"/>
                </a:lnTo>
                <a:lnTo>
                  <a:pt x="4174066" y="338667"/>
                </a:lnTo>
                <a:lnTo>
                  <a:pt x="4461933" y="0"/>
                </a:lnTo>
                <a:lnTo>
                  <a:pt x="8449733" y="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자유형 67"/>
          <p:cNvSpPr/>
          <p:nvPr/>
        </p:nvSpPr>
        <p:spPr>
          <a:xfrm>
            <a:off x="6275108" y="5971550"/>
            <a:ext cx="5586257" cy="465667"/>
          </a:xfrm>
          <a:custGeom>
            <a:avLst/>
            <a:gdLst>
              <a:gd name="connsiteX0" fmla="*/ 0 w 8466667"/>
              <a:gd name="connsiteY0" fmla="*/ 0 h 465667"/>
              <a:gd name="connsiteX1" fmla="*/ 228600 w 8466667"/>
              <a:gd name="connsiteY1" fmla="*/ 465667 h 465667"/>
              <a:gd name="connsiteX2" fmla="*/ 8466667 w 8466667"/>
              <a:gd name="connsiteY2" fmla="*/ 465667 h 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667" h="465667">
                <a:moveTo>
                  <a:pt x="0" y="0"/>
                </a:moveTo>
                <a:lnTo>
                  <a:pt x="228600" y="465667"/>
                </a:lnTo>
                <a:lnTo>
                  <a:pt x="8466667" y="465667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11202827" y="4345629"/>
            <a:ext cx="313266" cy="31326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10991410" y="4713928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절차종료</a:t>
            </a:r>
          </a:p>
        </p:txBody>
      </p:sp>
      <p:sp>
        <p:nvSpPr>
          <p:cNvPr id="72" name="타원 71"/>
          <p:cNvSpPr/>
          <p:nvPr/>
        </p:nvSpPr>
        <p:spPr>
          <a:xfrm>
            <a:off x="7797153" y="5734482"/>
            <a:ext cx="313266" cy="31326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7585736" y="610278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절차종료</a:t>
            </a:r>
          </a:p>
        </p:txBody>
      </p:sp>
      <p:sp>
        <p:nvSpPr>
          <p:cNvPr id="26" name="도넛 25"/>
          <p:cNvSpPr/>
          <p:nvPr/>
        </p:nvSpPr>
        <p:spPr>
          <a:xfrm>
            <a:off x="7547386" y="2363312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6" name="도넛 75"/>
          <p:cNvSpPr/>
          <p:nvPr/>
        </p:nvSpPr>
        <p:spPr>
          <a:xfrm>
            <a:off x="7547386" y="3383545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도넛 76"/>
          <p:cNvSpPr/>
          <p:nvPr/>
        </p:nvSpPr>
        <p:spPr>
          <a:xfrm>
            <a:off x="10646186" y="2363312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도넛 77"/>
          <p:cNvSpPr/>
          <p:nvPr/>
        </p:nvSpPr>
        <p:spPr>
          <a:xfrm>
            <a:off x="10646186" y="3845864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도넛 78"/>
          <p:cNvSpPr/>
          <p:nvPr/>
        </p:nvSpPr>
        <p:spPr>
          <a:xfrm>
            <a:off x="8072340" y="3845864"/>
            <a:ext cx="406400" cy="406400"/>
          </a:xfrm>
          <a:prstGeom prst="donut">
            <a:avLst>
              <a:gd name="adj" fmla="val 2273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곱셈 기호 80"/>
          <p:cNvSpPr/>
          <p:nvPr/>
        </p:nvSpPr>
        <p:spPr>
          <a:xfrm>
            <a:off x="7440438" y="4713928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곱셈 기호 81"/>
          <p:cNvSpPr/>
          <p:nvPr/>
        </p:nvSpPr>
        <p:spPr>
          <a:xfrm>
            <a:off x="8068554" y="5077202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곱셈 기호 82"/>
          <p:cNvSpPr/>
          <p:nvPr/>
        </p:nvSpPr>
        <p:spPr>
          <a:xfrm>
            <a:off x="10371114" y="5077202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곱셈 기호 83"/>
          <p:cNvSpPr/>
          <p:nvPr/>
        </p:nvSpPr>
        <p:spPr>
          <a:xfrm>
            <a:off x="9696347" y="6127069"/>
            <a:ext cx="620296" cy="620296"/>
          </a:xfrm>
          <a:prstGeom prst="mathMultiply">
            <a:avLst>
              <a:gd name="adj1" fmla="val 1260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5" name="직선 연결선 84"/>
          <p:cNvCxnSpPr/>
          <p:nvPr/>
        </p:nvCxnSpPr>
        <p:spPr>
          <a:xfrm>
            <a:off x="5437012" y="1803394"/>
            <a:ext cx="0" cy="48906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55235" y="3281943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특허출원</a:t>
            </a:r>
          </a:p>
        </p:txBody>
      </p:sp>
      <p:sp>
        <p:nvSpPr>
          <p:cNvPr id="14" name="타원 13"/>
          <p:cNvSpPr/>
          <p:nvPr/>
        </p:nvSpPr>
        <p:spPr>
          <a:xfrm>
            <a:off x="6266652" y="2913644"/>
            <a:ext cx="313266" cy="3132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6055235" y="4713928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특허출원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55235" y="610278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특허출원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691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 24"/>
          <p:cNvSpPr/>
          <p:nvPr/>
        </p:nvSpPr>
        <p:spPr>
          <a:xfrm>
            <a:off x="1587495" y="2116654"/>
            <a:ext cx="8661400" cy="804333"/>
          </a:xfrm>
          <a:custGeom>
            <a:avLst/>
            <a:gdLst>
              <a:gd name="connsiteX0" fmla="*/ 0 w 8619067"/>
              <a:gd name="connsiteY0" fmla="*/ 0 h 702733"/>
              <a:gd name="connsiteX1" fmla="*/ 364067 w 8619067"/>
              <a:gd name="connsiteY1" fmla="*/ 702733 h 702733"/>
              <a:gd name="connsiteX2" fmla="*/ 8619067 w 8619067"/>
              <a:gd name="connsiteY2" fmla="*/ 702733 h 702733"/>
              <a:gd name="connsiteX3" fmla="*/ 8619067 w 8619067"/>
              <a:gd name="connsiteY3" fmla="*/ 76200 h 702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19067" h="702733">
                <a:moveTo>
                  <a:pt x="0" y="0"/>
                </a:moveTo>
                <a:lnTo>
                  <a:pt x="364067" y="702733"/>
                </a:lnTo>
                <a:lnTo>
                  <a:pt x="8619067" y="702733"/>
                </a:lnTo>
                <a:lnTo>
                  <a:pt x="8619067" y="76200"/>
                </a:lnTo>
              </a:path>
            </a:pathLst>
          </a:custGeom>
          <a:pattFill prst="ltHorz">
            <a:fgClr>
              <a:schemeClr val="accent6">
                <a:lumMod val="50000"/>
              </a:schemeClr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연결선 111"/>
          <p:cNvCxnSpPr>
            <a:endCxn id="114" idx="2"/>
          </p:cNvCxnSpPr>
          <p:nvPr/>
        </p:nvCxnSpPr>
        <p:spPr>
          <a:xfrm>
            <a:off x="2542433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>
            <a:endCxn id="117" idx="2"/>
          </p:cNvCxnSpPr>
          <p:nvPr/>
        </p:nvCxnSpPr>
        <p:spPr>
          <a:xfrm>
            <a:off x="3502106" y="2226720"/>
            <a:ext cx="1" cy="195580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endCxn id="120" idx="2"/>
          </p:cNvCxnSpPr>
          <p:nvPr/>
        </p:nvCxnSpPr>
        <p:spPr>
          <a:xfrm>
            <a:off x="5744220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endCxn id="123" idx="2"/>
          </p:cNvCxnSpPr>
          <p:nvPr/>
        </p:nvCxnSpPr>
        <p:spPr>
          <a:xfrm>
            <a:off x="6969209" y="2226720"/>
            <a:ext cx="1" cy="195580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endCxn id="126" idx="2"/>
          </p:cNvCxnSpPr>
          <p:nvPr/>
        </p:nvCxnSpPr>
        <p:spPr>
          <a:xfrm>
            <a:off x="7893364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>
            <a:endCxn id="129" idx="2"/>
          </p:cNvCxnSpPr>
          <p:nvPr/>
        </p:nvCxnSpPr>
        <p:spPr>
          <a:xfrm>
            <a:off x="8788430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설정등록과 등록공고에 의한 등록금지적 효력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2117236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2117236" y="3728010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(2)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3076910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3076910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(5)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319023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5319023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(11)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6544013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6544013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(14)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7468167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(16)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7468167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(17)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8363233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8363233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(20)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52124"/>
              </p:ext>
            </p:extLst>
          </p:nvPr>
        </p:nvGraphicFramePr>
        <p:xfrm>
          <a:off x="1140897" y="4960758"/>
          <a:ext cx="10026630" cy="1676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99780">
                  <a:extLst>
                    <a:ext uri="{9D8B030D-6E8A-4147-A177-3AD203B41FA5}">
                      <a16:colId xmlns:a16="http://schemas.microsoft.com/office/drawing/2014/main" val="2616795804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940597772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1509181753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111996257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310433508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278951296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682422079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294019505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923538741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838919691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997937256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4201534290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3289386902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298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170917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(12)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(13)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(14)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(15)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(16)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(17)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(18)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(19)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(20)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(21)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96863"/>
                  </a:ext>
                </a:extLst>
              </a:tr>
              <a:tr h="1826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신규성</a:t>
                      </a:r>
                      <a:r>
                        <a:rPr lang="ko-KR" altLang="en-US" sz="1000" dirty="0"/>
                        <a:t>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32382"/>
                  </a:ext>
                </a:extLst>
              </a:tr>
              <a:tr h="1709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진보성 위반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6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선출원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r>
                        <a:rPr lang="ko-KR" altLang="en-US" sz="900" dirty="0"/>
                        <a:t>협의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×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054708"/>
                  </a:ext>
                </a:extLst>
              </a:tr>
              <a:tr h="1826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확선</a:t>
                      </a:r>
                      <a:r>
                        <a:rPr lang="ko-KR" altLang="en-US" sz="1000" dirty="0"/>
                        <a:t> 위반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×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70503"/>
                  </a:ext>
                </a:extLst>
              </a:tr>
            </a:tbl>
          </a:graphicData>
        </a:graphic>
      </p:graphicFrame>
      <p:sp>
        <p:nvSpPr>
          <p:cNvPr id="134" name="직사각형 133"/>
          <p:cNvSpPr/>
          <p:nvPr/>
        </p:nvSpPr>
        <p:spPr>
          <a:xfrm>
            <a:off x="1889684" y="1080457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1889684" y="1309958"/>
            <a:ext cx="850393" cy="22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36" name="직선 연결선 135"/>
          <p:cNvCxnSpPr>
            <a:stCxn id="108" idx="0"/>
            <a:endCxn id="135" idx="2"/>
          </p:cNvCxnSpPr>
          <p:nvPr/>
        </p:nvCxnSpPr>
        <p:spPr>
          <a:xfrm flipH="1" flipV="1">
            <a:off x="2314881" y="1539458"/>
            <a:ext cx="1027" cy="4009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자유형 22"/>
          <p:cNvSpPr/>
          <p:nvPr/>
        </p:nvSpPr>
        <p:spPr>
          <a:xfrm>
            <a:off x="5266262" y="1066787"/>
            <a:ext cx="4944533" cy="1083734"/>
          </a:xfrm>
          <a:custGeom>
            <a:avLst/>
            <a:gdLst>
              <a:gd name="connsiteX0" fmla="*/ 0 w 4944533"/>
              <a:gd name="connsiteY0" fmla="*/ 1075267 h 1083734"/>
              <a:gd name="connsiteX1" fmla="*/ 389466 w 4944533"/>
              <a:gd name="connsiteY1" fmla="*/ 0 h 1083734"/>
              <a:gd name="connsiteX2" fmla="*/ 4944533 w 4944533"/>
              <a:gd name="connsiteY2" fmla="*/ 0 h 1083734"/>
              <a:gd name="connsiteX3" fmla="*/ 4944533 w 4944533"/>
              <a:gd name="connsiteY3" fmla="*/ 1083734 h 1083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1083734">
                <a:moveTo>
                  <a:pt x="0" y="1075267"/>
                </a:moveTo>
                <a:lnTo>
                  <a:pt x="389466" y="0"/>
                </a:lnTo>
                <a:lnTo>
                  <a:pt x="4944533" y="0"/>
                </a:lnTo>
                <a:lnTo>
                  <a:pt x="4944533" y="1083734"/>
                </a:lnTo>
              </a:path>
            </a:pathLst>
          </a:custGeom>
          <a:pattFill prst="pct10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2912528" y="1540921"/>
            <a:ext cx="5367867" cy="609600"/>
          </a:xfrm>
          <a:custGeom>
            <a:avLst/>
            <a:gdLst>
              <a:gd name="connsiteX0" fmla="*/ 0 w 5367867"/>
              <a:gd name="connsiteY0" fmla="*/ 609600 h 609600"/>
              <a:gd name="connsiteX1" fmla="*/ 0 w 5367867"/>
              <a:gd name="connsiteY1" fmla="*/ 609600 h 609600"/>
              <a:gd name="connsiteX2" fmla="*/ 186267 w 5367867"/>
              <a:gd name="connsiteY2" fmla="*/ 0 h 609600"/>
              <a:gd name="connsiteX3" fmla="*/ 5096934 w 5367867"/>
              <a:gd name="connsiteY3" fmla="*/ 0 h 609600"/>
              <a:gd name="connsiteX4" fmla="*/ 5367867 w 5367867"/>
              <a:gd name="connsiteY4" fmla="*/ 575733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7867" h="609600">
                <a:moveTo>
                  <a:pt x="0" y="609600"/>
                </a:moveTo>
                <a:lnTo>
                  <a:pt x="0" y="609600"/>
                </a:lnTo>
                <a:lnTo>
                  <a:pt x="186267" y="0"/>
                </a:lnTo>
                <a:lnTo>
                  <a:pt x="5096934" y="0"/>
                </a:lnTo>
                <a:lnTo>
                  <a:pt x="5367867" y="575733"/>
                </a:lnTo>
              </a:path>
            </a:pathLst>
          </a:cu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/>
          <p:cNvCxnSpPr>
            <a:stCxn id="108" idx="1"/>
          </p:cNvCxnSpPr>
          <p:nvPr/>
        </p:nvCxnSpPr>
        <p:spPr>
          <a:xfrm>
            <a:off x="1710802" y="2155500"/>
            <a:ext cx="876244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710802" y="1940359"/>
            <a:ext cx="1210212" cy="430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특허출원일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659438" y="1940359"/>
            <a:ext cx="1210212" cy="430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설정등록일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673571" y="1940359"/>
            <a:ext cx="1210212" cy="430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등록공고일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8" name="직선 연결선 27"/>
          <p:cNvCxnSpPr>
            <a:endCxn id="111" idx="0"/>
          </p:cNvCxnSpPr>
          <p:nvPr/>
        </p:nvCxnSpPr>
        <p:spPr>
          <a:xfrm flipH="1">
            <a:off x="5320923" y="1539458"/>
            <a:ext cx="165472" cy="41566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0045693" y="1066787"/>
            <a:ext cx="262467" cy="10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/>
          <p:cNvSpPr/>
          <p:nvPr/>
        </p:nvSpPr>
        <p:spPr>
          <a:xfrm>
            <a:off x="10045693" y="2226720"/>
            <a:ext cx="262467" cy="10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1441984" y="1498587"/>
            <a:ext cx="262467" cy="10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3571677" y="1401354"/>
            <a:ext cx="177003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확선의</a:t>
            </a:r>
            <a:r>
              <a:rPr lang="ko-KR" altLang="en-US" sz="1600" dirty="0"/>
              <a:t> 지위 </a:t>
            </a:r>
            <a:r>
              <a:rPr lang="en-US" altLang="ko-KR" sz="1600" dirty="0"/>
              <a:t>– A, B</a:t>
            </a:r>
            <a:endParaRPr lang="ko-KR" altLang="en-US" sz="1600" dirty="0"/>
          </a:p>
        </p:txBody>
      </p:sp>
      <p:sp>
        <p:nvSpPr>
          <p:cNvPr id="139" name="TextBox 138"/>
          <p:cNvSpPr txBox="1"/>
          <p:nvPr/>
        </p:nvSpPr>
        <p:spPr>
          <a:xfrm>
            <a:off x="6924477" y="911180"/>
            <a:ext cx="213872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/>
              <a:t>공지기술의 </a:t>
            </a:r>
            <a:r>
              <a:rPr lang="ko-KR" altLang="en-US" sz="1600" dirty="0"/>
              <a:t>지위 </a:t>
            </a:r>
            <a:r>
              <a:rPr lang="en-US" altLang="ko-KR" sz="1600" dirty="0"/>
              <a:t>– A, B</a:t>
            </a:r>
            <a:endParaRPr lang="ko-KR" altLang="en-US" sz="1600" dirty="0"/>
          </a:p>
        </p:txBody>
      </p:sp>
      <p:sp>
        <p:nvSpPr>
          <p:cNvPr id="140" name="TextBox 139"/>
          <p:cNvSpPr txBox="1"/>
          <p:nvPr/>
        </p:nvSpPr>
        <p:spPr>
          <a:xfrm>
            <a:off x="7390199" y="2748453"/>
            <a:ext cx="171393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선출원의</a:t>
            </a:r>
            <a:r>
              <a:rPr lang="ko-KR" altLang="en-US" sz="1600" dirty="0"/>
              <a:t> 지위 </a:t>
            </a:r>
            <a:r>
              <a:rPr lang="en-US" altLang="ko-KR" sz="1600" dirty="0"/>
              <a:t>– A</a:t>
            </a:r>
            <a:endParaRPr lang="ko-KR" altLang="en-US" sz="1600" dirty="0"/>
          </a:p>
        </p:txBody>
      </p:sp>
      <p:sp>
        <p:nvSpPr>
          <p:cNvPr id="141" name="직사각형 140"/>
          <p:cNvSpPr/>
          <p:nvPr/>
        </p:nvSpPr>
        <p:spPr>
          <a:xfrm>
            <a:off x="2117236" y="4244477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(3)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3076910" y="4244477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(6)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5319023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(12)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6544013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(15)</a:t>
            </a:r>
          </a:p>
        </p:txBody>
      </p:sp>
      <p:sp>
        <p:nvSpPr>
          <p:cNvPr id="145" name="직사각형 144"/>
          <p:cNvSpPr/>
          <p:nvPr/>
        </p:nvSpPr>
        <p:spPr>
          <a:xfrm>
            <a:off x="7468167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(18)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8363233" y="424447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B’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(21)</a:t>
            </a:r>
          </a:p>
        </p:txBody>
      </p:sp>
      <p:cxnSp>
        <p:nvCxnSpPr>
          <p:cNvPr id="147" name="직선 연결선 146"/>
          <p:cNvCxnSpPr>
            <a:endCxn id="149" idx="2"/>
          </p:cNvCxnSpPr>
          <p:nvPr/>
        </p:nvCxnSpPr>
        <p:spPr>
          <a:xfrm>
            <a:off x="4755174" y="2370641"/>
            <a:ext cx="0" cy="2101091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4329977" y="3216407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(7)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4329977" y="3728010"/>
            <a:ext cx="850393" cy="454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(8)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4329977" y="4244477"/>
            <a:ext cx="850393" cy="4545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</a:rPr>
              <a:t>B’</a:t>
            </a:r>
            <a:r>
              <a:rPr lang="ko-KR" altLang="en-US" sz="1200" dirty="0">
                <a:solidFill>
                  <a:schemeClr val="bg1"/>
                </a:solidFill>
              </a:rPr>
              <a:t>출원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(9)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72877" y="4382744"/>
            <a:ext cx="1834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 B’</a:t>
            </a:r>
            <a:r>
              <a:rPr lang="ko-KR" altLang="en-US" sz="1400" dirty="0"/>
              <a:t>는</a:t>
            </a:r>
            <a:r>
              <a:rPr lang="en-US" altLang="ko-KR" sz="1400" dirty="0"/>
              <a:t> B</a:t>
            </a:r>
            <a:r>
              <a:rPr lang="ko-KR" altLang="en-US" sz="1400" dirty="0"/>
              <a:t>로부터 용이함</a:t>
            </a: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09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 출원의 지위 관점에서 제</a:t>
            </a:r>
            <a:r>
              <a:rPr lang="en-US" altLang="ko-KR" dirty="0"/>
              <a:t>29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조의 판단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차적으로 시기적 기준에 의하여 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선출원주의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ko-KR" altLang="en-US" sz="1400" dirty="0">
                <a:solidFill>
                  <a:schemeClr val="tx2"/>
                </a:solidFill>
              </a:rPr>
              <a:t> 중 논점을 추출한 후</a:t>
            </a:r>
            <a:r>
              <a:rPr lang="en-US" altLang="ko-KR" sz="1400" dirty="0">
                <a:solidFill>
                  <a:schemeClr val="tx2"/>
                </a:solidFill>
              </a:rPr>
              <a:t>, 2</a:t>
            </a:r>
            <a:r>
              <a:rPr lang="ko-KR" altLang="en-US" sz="1400" dirty="0">
                <a:solidFill>
                  <a:schemeClr val="tx2"/>
                </a:solidFill>
              </a:rPr>
              <a:t>차적으로 객체적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지역적 기준 및 판단방법을 고려하여 구체적인 등록가능성을 판단한다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2" name="직선 연결선 51"/>
          <p:cNvCxnSpPr/>
          <p:nvPr/>
        </p:nvCxnSpPr>
        <p:spPr>
          <a:xfrm>
            <a:off x="0" y="151495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397911" y="2916789"/>
            <a:ext cx="1888067" cy="3407811"/>
            <a:chOff x="965200" y="2324100"/>
            <a:chExt cx="1888067" cy="2908300"/>
          </a:xfrm>
        </p:grpSpPr>
        <p:sp>
          <p:nvSpPr>
            <p:cNvPr id="2" name="직사각형 1"/>
            <p:cNvSpPr/>
            <p:nvPr/>
          </p:nvSpPr>
          <p:spPr>
            <a:xfrm>
              <a:off x="965200" y="2324100"/>
              <a:ext cx="1888067" cy="613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제</a:t>
              </a:r>
              <a:r>
                <a:rPr lang="en-US" altLang="ko-KR" sz="1600" dirty="0">
                  <a:solidFill>
                    <a:schemeClr val="tx1"/>
                  </a:solidFill>
                </a:rPr>
                <a:t>29</a:t>
              </a:r>
              <a:r>
                <a:rPr lang="ko-KR" altLang="en-US" sz="1600" dirty="0">
                  <a:solidFill>
                    <a:schemeClr val="tx1"/>
                  </a:solidFill>
                </a:rPr>
                <a:t>조</a:t>
              </a:r>
              <a:r>
                <a:rPr lang="en-US" altLang="ko-KR" sz="1600" dirty="0">
                  <a:solidFill>
                    <a:schemeClr val="tx1"/>
                  </a:solidFill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</a:rPr>
                <a:t>제</a:t>
              </a:r>
              <a:r>
                <a:rPr lang="en-US" altLang="ko-KR" sz="1600" dirty="0">
                  <a:solidFill>
                    <a:schemeClr val="tx1"/>
                  </a:solidFill>
                </a:rPr>
                <a:t>36</a:t>
              </a:r>
              <a:r>
                <a:rPr lang="ko-KR" altLang="en-US" sz="1600" dirty="0">
                  <a:solidFill>
                    <a:schemeClr val="tx1"/>
                  </a:solidFill>
                </a:rPr>
                <a:t>조 中 논점의 추출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</a:rPr>
                <a:t>시기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965200" y="3441700"/>
              <a:ext cx="1888067" cy="613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비교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</a:rPr>
                <a:t>객체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방법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965200" y="4618566"/>
              <a:ext cx="1888067" cy="613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결론도출</a:t>
              </a:r>
            </a:p>
          </p:txBody>
        </p:sp>
      </p:grpSp>
      <p:cxnSp>
        <p:nvCxnSpPr>
          <p:cNvPr id="7" name="직선 화살표 연결선 6"/>
          <p:cNvCxnSpPr>
            <a:stCxn id="2" idx="2"/>
            <a:endCxn id="55" idx="0"/>
          </p:cNvCxnSpPr>
          <p:nvPr/>
        </p:nvCxnSpPr>
        <p:spPr>
          <a:xfrm>
            <a:off x="1341945" y="3636051"/>
            <a:ext cx="0" cy="59029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55" idx="2"/>
            <a:endCxn id="56" idx="0"/>
          </p:cNvCxnSpPr>
          <p:nvPr/>
        </p:nvCxnSpPr>
        <p:spPr>
          <a:xfrm>
            <a:off x="1341945" y="4945603"/>
            <a:ext cx="0" cy="6597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30865" y="1746419"/>
            <a:ext cx="4792132" cy="919401"/>
          </a:xfrm>
          <a:prstGeom prst="wedgeRoundRectCallout">
            <a:avLst>
              <a:gd name="adj1" fmla="val -32847"/>
              <a:gd name="adj2" fmla="val 7447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출원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일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기준으로 앞쪽 영역을 살펴서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출원이 있는 경우 제</a:t>
            </a:r>
            <a:r>
              <a:rPr lang="en-US" altLang="ko-KR" sz="1200" dirty="0">
                <a:solidFill>
                  <a:srgbClr val="FF0000"/>
                </a:solidFill>
              </a:rPr>
              <a:t>36</a:t>
            </a:r>
            <a:r>
              <a:rPr lang="ko-KR" altLang="en-US" sz="1200" dirty="0">
                <a:solidFill>
                  <a:srgbClr val="FF0000"/>
                </a:solidFill>
              </a:rPr>
              <a:t>조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29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단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출원 후 공개가 있어야 함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을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공개가 있는 경우 제</a:t>
            </a:r>
            <a:r>
              <a:rPr lang="en-US" altLang="ko-KR" sz="1200" dirty="0">
                <a:solidFill>
                  <a:srgbClr val="FF0000"/>
                </a:solidFill>
              </a:rPr>
              <a:t>29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및 제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항을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논점으로 추출함</a:t>
            </a:r>
          </a:p>
        </p:txBody>
      </p:sp>
      <p:cxnSp>
        <p:nvCxnSpPr>
          <p:cNvPr id="68" name="직선 연결선 67"/>
          <p:cNvCxnSpPr/>
          <p:nvPr/>
        </p:nvCxnSpPr>
        <p:spPr>
          <a:xfrm>
            <a:off x="3244145" y="2916789"/>
            <a:ext cx="0" cy="34078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65" idx="1"/>
          </p:cNvCxnSpPr>
          <p:nvPr/>
        </p:nvCxnSpPr>
        <p:spPr>
          <a:xfrm>
            <a:off x="8496914" y="5575129"/>
            <a:ext cx="34968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/>
          <p:cNvGrpSpPr/>
          <p:nvPr/>
        </p:nvGrpSpPr>
        <p:grpSpPr>
          <a:xfrm>
            <a:off x="9082352" y="2882610"/>
            <a:ext cx="2291071" cy="3382723"/>
            <a:chOff x="9082352" y="2882610"/>
            <a:chExt cx="2291071" cy="3631721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9082352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9841896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10659913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11373423" y="2882610"/>
              <a:ext cx="0" cy="363172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화살표 연결선 17"/>
          <p:cNvCxnSpPr/>
          <p:nvPr/>
        </p:nvCxnSpPr>
        <p:spPr>
          <a:xfrm flipH="1">
            <a:off x="8483898" y="4970203"/>
            <a:ext cx="58998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8483898" y="4432084"/>
            <a:ext cx="1349531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8483898" y="3917185"/>
            <a:ext cx="217598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8483898" y="3400195"/>
            <a:ext cx="2881058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7879287" y="4724828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①</a:t>
            </a:r>
            <a:endParaRPr lang="ko-KR" altLang="en-US" sz="2800" dirty="0"/>
          </a:p>
        </p:txBody>
      </p:sp>
      <p:sp>
        <p:nvSpPr>
          <p:cNvPr id="86" name="직사각형 85"/>
          <p:cNvSpPr/>
          <p:nvPr/>
        </p:nvSpPr>
        <p:spPr>
          <a:xfrm>
            <a:off x="7879287" y="4211033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②</a:t>
            </a:r>
            <a:endParaRPr lang="ko-KR" altLang="en-US" sz="2800" dirty="0"/>
          </a:p>
        </p:txBody>
      </p:sp>
      <p:sp>
        <p:nvSpPr>
          <p:cNvPr id="87" name="직사각형 86"/>
          <p:cNvSpPr/>
          <p:nvPr/>
        </p:nvSpPr>
        <p:spPr>
          <a:xfrm>
            <a:off x="7879287" y="3680292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③</a:t>
            </a:r>
            <a:endParaRPr lang="ko-KR" altLang="en-US" sz="2800" dirty="0"/>
          </a:p>
        </p:txBody>
      </p:sp>
      <p:sp>
        <p:nvSpPr>
          <p:cNvPr id="88" name="직사각형 87"/>
          <p:cNvSpPr/>
          <p:nvPr/>
        </p:nvSpPr>
        <p:spPr>
          <a:xfrm>
            <a:off x="7879287" y="3112846"/>
            <a:ext cx="50847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2800" dirty="0">
                <a:solidFill>
                  <a:schemeClr val="tx2"/>
                </a:solidFill>
              </a:rPr>
              <a:t>④</a:t>
            </a:r>
            <a:endParaRPr lang="ko-KR" alt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7089837" y="4830574"/>
            <a:ext cx="780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endParaRPr lang="en-US" altLang="ko-KR" sz="1600" dirty="0"/>
          </a:p>
        </p:txBody>
      </p:sp>
      <p:sp>
        <p:nvSpPr>
          <p:cNvPr id="92" name="TextBox 91"/>
          <p:cNvSpPr txBox="1"/>
          <p:nvPr/>
        </p:nvSpPr>
        <p:spPr>
          <a:xfrm>
            <a:off x="5887585" y="4329138"/>
            <a:ext cx="1983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r>
              <a:rPr lang="en-US" altLang="ko-KR" sz="1600" dirty="0"/>
              <a:t>+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3</a:t>
            </a:r>
            <a:r>
              <a:rPr lang="ko-KR" altLang="en-US" sz="1600" dirty="0"/>
              <a:t>항</a:t>
            </a:r>
            <a:endParaRPr lang="en-US" altLang="ko-KR" sz="1600" dirty="0"/>
          </a:p>
        </p:txBody>
      </p:sp>
      <p:sp>
        <p:nvSpPr>
          <p:cNvPr id="93" name="TextBox 92"/>
          <p:cNvSpPr txBox="1"/>
          <p:nvPr/>
        </p:nvSpPr>
        <p:spPr>
          <a:xfrm>
            <a:off x="3338810" y="3781467"/>
            <a:ext cx="4532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r>
              <a:rPr lang="en-US" altLang="ko-KR" sz="1600" dirty="0"/>
              <a:t>+(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3</a:t>
            </a:r>
            <a:r>
              <a:rPr lang="ko-KR" altLang="en-US" sz="1600" dirty="0"/>
              <a:t>항</a:t>
            </a:r>
            <a:r>
              <a:rPr lang="en-US" altLang="ko-KR" sz="1600" dirty="0"/>
              <a:t>+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/>
              <a:t>항 中 하나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94" name="TextBox 93"/>
          <p:cNvSpPr txBox="1"/>
          <p:nvPr/>
        </p:nvSpPr>
        <p:spPr>
          <a:xfrm>
            <a:off x="5289665" y="3215529"/>
            <a:ext cx="2581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</a:t>
            </a:r>
            <a:r>
              <a:rPr lang="en-US" altLang="ko-KR" sz="1600" dirty="0"/>
              <a:t>+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/>
              <a:t>항 </a:t>
            </a:r>
            <a:endParaRPr lang="en-US" altLang="ko-KR" sz="1600" dirty="0"/>
          </a:p>
        </p:txBody>
      </p:sp>
      <p:sp>
        <p:nvSpPr>
          <p:cNvPr id="65" name="직사각형 64"/>
          <p:cNvSpPr/>
          <p:nvPr/>
        </p:nvSpPr>
        <p:spPr>
          <a:xfrm>
            <a:off x="8496914" y="5359988"/>
            <a:ext cx="1176596" cy="4302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특허출원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0071747" y="5359988"/>
            <a:ext cx="1176596" cy="4302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출원공개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62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46183799-BA4D-9A14-F1BB-C636E650A69B}"/>
              </a:ext>
            </a:extLst>
          </p:cNvPr>
          <p:cNvSpPr/>
          <p:nvPr/>
        </p:nvSpPr>
        <p:spPr>
          <a:xfrm rot="10800000">
            <a:off x="1943099" y="2909081"/>
            <a:ext cx="7016070" cy="769042"/>
          </a:xfrm>
          <a:prstGeom prst="round2SameRect">
            <a:avLst>
              <a:gd name="adj1" fmla="val 50000"/>
              <a:gd name="adj2" fmla="val 0"/>
            </a:avLst>
          </a:prstGeom>
          <a:pattFill prst="pct30">
            <a:fgClr>
              <a:schemeClr val="accent3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무권리자출원과</a:t>
            </a:r>
            <a:r>
              <a:rPr lang="ko-KR" altLang="en-US" dirty="0"/>
              <a:t> 미완성발명출원의 등록금지적 효력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97</a:t>
            </a:fld>
            <a:endParaRPr lang="ko-KR" altLang="en-US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A233082A-9AD6-437D-B2B4-44B61A9CA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862836"/>
              </p:ext>
            </p:extLst>
          </p:nvPr>
        </p:nvGraphicFramePr>
        <p:xfrm>
          <a:off x="773651" y="4220235"/>
          <a:ext cx="10544205" cy="23164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36396">
                  <a:extLst>
                    <a:ext uri="{9D8B030D-6E8A-4147-A177-3AD203B41FA5}">
                      <a16:colId xmlns:a16="http://schemas.microsoft.com/office/drawing/2014/main" val="43425660"/>
                    </a:ext>
                  </a:extLst>
                </a:gridCol>
                <a:gridCol w="2443772">
                  <a:extLst>
                    <a:ext uri="{9D8B030D-6E8A-4147-A177-3AD203B41FA5}">
                      <a16:colId xmlns:a16="http://schemas.microsoft.com/office/drawing/2014/main" val="535295143"/>
                    </a:ext>
                  </a:extLst>
                </a:gridCol>
                <a:gridCol w="5564037">
                  <a:extLst>
                    <a:ext uri="{9D8B030D-6E8A-4147-A177-3AD203B41FA5}">
                      <a16:colId xmlns:a16="http://schemas.microsoft.com/office/drawing/2014/main" val="2676927970"/>
                    </a:ext>
                  </a:extLst>
                </a:gridCol>
              </a:tblGrid>
              <a:tr h="274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등록금지적 효력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미완성발명출원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무권리자출원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86666"/>
                  </a:ext>
                </a:extLst>
              </a:tr>
              <a:tr h="274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선출원의 지위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제</a:t>
                      </a:r>
                      <a:r>
                        <a:rPr lang="en-US" altLang="ko-KR" sz="1600" dirty="0"/>
                        <a:t>36</a:t>
                      </a:r>
                      <a:r>
                        <a:rPr lang="ko-KR" altLang="en-US" sz="1600" dirty="0"/>
                        <a:t>조제</a:t>
                      </a:r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항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제</a:t>
                      </a:r>
                      <a:r>
                        <a:rPr lang="en-US" altLang="ko-KR" sz="1600" dirty="0"/>
                        <a:t>36</a:t>
                      </a:r>
                      <a:r>
                        <a:rPr lang="ko-KR" altLang="en-US" sz="1600" dirty="0"/>
                        <a:t>조 제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항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549618"/>
                  </a:ext>
                </a:extLst>
              </a:tr>
              <a:tr h="383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확대된 선출원의 지위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判例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인정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정당한 권리자 출원에 대해서는 발명자가 동일하여 불인정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605332"/>
                  </a:ext>
                </a:extLst>
              </a:tr>
              <a:tr h="5407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공지기술의 지위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判例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인정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정당한 권리자 출원에 대해서는 의사에 반한 공지이기 때문에 공지된 날로부터 </a:t>
                      </a:r>
                      <a:r>
                        <a:rPr lang="en-US" altLang="ko-KR" sz="1600" dirty="0"/>
                        <a:t>12</a:t>
                      </a:r>
                      <a:r>
                        <a:rPr lang="ko-KR" altLang="en-US" sz="1600" dirty="0"/>
                        <a:t>개월 이내에 정당한 권리자가 출원한 경우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불인정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9651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3C10E25-5463-F158-258B-97E2BB2214DA}"/>
              </a:ext>
            </a:extLst>
          </p:cNvPr>
          <p:cNvCxnSpPr>
            <a:cxnSpLocks/>
          </p:cNvCxnSpPr>
          <p:nvPr/>
        </p:nvCxnSpPr>
        <p:spPr>
          <a:xfrm>
            <a:off x="1803326" y="2873050"/>
            <a:ext cx="9032314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C0AD24-F1CB-0051-C9E1-791127FA72CA}"/>
              </a:ext>
            </a:extLst>
          </p:cNvPr>
          <p:cNvSpPr/>
          <p:nvPr/>
        </p:nvSpPr>
        <p:spPr>
          <a:xfrm>
            <a:off x="1515294" y="2592682"/>
            <a:ext cx="1080120" cy="5607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무권리자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출원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D9B4F07-40A2-63AB-123A-A6DEA9540869}"/>
              </a:ext>
            </a:extLst>
          </p:cNvPr>
          <p:cNvSpPr/>
          <p:nvPr/>
        </p:nvSpPr>
        <p:spPr>
          <a:xfrm>
            <a:off x="5105161" y="2592682"/>
            <a:ext cx="1245202" cy="5607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무권리자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공개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(x)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C4C28D3-6339-CF37-D90B-F25442D93578}"/>
              </a:ext>
            </a:extLst>
          </p:cNvPr>
          <p:cNvSpPr/>
          <p:nvPr/>
        </p:nvSpPr>
        <p:spPr>
          <a:xfrm>
            <a:off x="8896260" y="2806938"/>
            <a:ext cx="125820" cy="132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5E4F846A-121E-0C8D-EE86-85B7110B5FD6}"/>
              </a:ext>
            </a:extLst>
          </p:cNvPr>
          <p:cNvCxnSpPr>
            <a:stCxn id="10" idx="0"/>
            <a:endCxn id="11" idx="0"/>
          </p:cNvCxnSpPr>
          <p:nvPr/>
        </p:nvCxnSpPr>
        <p:spPr>
          <a:xfrm rot="16200000" flipH="1">
            <a:off x="7236338" y="1084106"/>
            <a:ext cx="214256" cy="3231408"/>
          </a:xfrm>
          <a:prstGeom prst="bentConnector3">
            <a:avLst>
              <a:gd name="adj1" fmla="val -106695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130C431-DC46-373E-91FA-6D0B0016D459}"/>
              </a:ext>
            </a:extLst>
          </p:cNvPr>
          <p:cNvSpPr txBox="1"/>
          <p:nvPr/>
        </p:nvSpPr>
        <p:spPr>
          <a:xfrm>
            <a:off x="7139940" y="196808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0DE536-96C8-5ED3-998D-8F505319C5A4}"/>
              </a:ext>
            </a:extLst>
          </p:cNvPr>
          <p:cNvSpPr txBox="1"/>
          <p:nvPr/>
        </p:nvSpPr>
        <p:spPr>
          <a:xfrm>
            <a:off x="3634245" y="3249120"/>
            <a:ext cx="40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정당한 권리자 출원의 거절되지 않는 구간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76E01-AE70-368E-ACE0-8C8811865640}"/>
              </a:ext>
            </a:extLst>
          </p:cNvPr>
          <p:cNvSpPr txBox="1"/>
          <p:nvPr/>
        </p:nvSpPr>
        <p:spPr>
          <a:xfrm>
            <a:off x="447105" y="1150377"/>
            <a:ext cx="1114426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9388" indent="-179388"/>
            <a:r>
              <a:rPr lang="ko-KR" altLang="en-US" dirty="0"/>
              <a:t>* 정당한 권리자 출원이 무권리자 출원일로 소급효가 인정되지 않을 때 정당한 권리자 출원이 무권리자 출원 또는 </a:t>
            </a:r>
            <a:endParaRPr lang="en-US" altLang="ko-KR" dirty="0"/>
          </a:p>
          <a:p>
            <a:r>
              <a:rPr lang="ko-KR" altLang="en-US" dirty="0"/>
              <a:t>   공개에 의하여 거절되지 않는 구간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A17D492-0EE4-611F-4DD1-74824A6962A5}"/>
              </a:ext>
            </a:extLst>
          </p:cNvPr>
          <p:cNvCxnSpPr/>
          <p:nvPr/>
        </p:nvCxnSpPr>
        <p:spPr>
          <a:xfrm flipH="1" flipV="1">
            <a:off x="280574" y="3976951"/>
            <a:ext cx="11539951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588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41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106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국방상 필요한 발명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5600" y="986046"/>
            <a:ext cx="11472332" cy="3539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국방상 필요한 발명 등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 ① 정부는 국방상 필요한 경우 외국에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특허출원하는</a:t>
            </a:r>
            <a:r>
              <a:rPr lang="ko-KR" altLang="en-US" sz="1400" dirty="0">
                <a:solidFill>
                  <a:schemeClr val="tx2"/>
                </a:solidFill>
              </a:rPr>
              <a:t> 것을 금지하거나 </a:t>
            </a:r>
            <a:r>
              <a:rPr lang="ko-KR" altLang="en-US" sz="1400" dirty="0" err="1">
                <a:solidFill>
                  <a:schemeClr val="tx2"/>
                </a:solidFill>
              </a:rPr>
              <a:t>발명자ㆍ출원인</a:t>
            </a:r>
            <a:r>
              <a:rPr lang="ko-KR" altLang="en-US" sz="1400" dirty="0">
                <a:solidFill>
                  <a:schemeClr val="tx2"/>
                </a:solidFill>
              </a:rPr>
              <a:t> 및 대리인에게 그 특허출원의 발명을 비밀로 취급하도록 명할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정부의 허가를 받은 경우에는 외국에 특허출원을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정부는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발명이 국방상 필요한 경우에는 특허를 하지 아니할 수 있으며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전시ㆍ사변</a:t>
            </a:r>
            <a:r>
              <a:rPr lang="ko-KR" altLang="en-US" sz="1400" dirty="0">
                <a:solidFill>
                  <a:schemeClr val="tx2"/>
                </a:solidFill>
              </a:rPr>
              <a:t> 또는 이에 준하는 비상시에 국방상 필요한 경우에는 특허를 받을 수 있는 권리를 수용할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또는 비밀취급에 따른 손실에 대해서는 정부는 정당한 보상금을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특허하지 아니하거나 수용한 경우에는 정부는 정당한 보상금을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또는 비밀취급명령을 위반한 경우에는 그 발명에 대하여 특허를 받을 수 있는 권리를 포기한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또는 비밀취급명령을 위반한 경우에는 외국에의 특허출원 금지 또는 비밀취급에 따른 손실보상금의 청구권을 포기한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외국에의 특허출원 금지 및 비밀취급의 절차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항까지의 규정에 따른 수용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보상금 지급의 절차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밖에 필요한 사항은 대통령령으로 정한다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endParaRPr lang="en-US" altLang="ko-KR" sz="1400" dirty="0">
              <a:solidFill>
                <a:schemeClr val="tx2"/>
              </a:solidFill>
            </a:endParaRPr>
          </a:p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수용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정부는 특허발명이 전시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사변 또는 이에 준하는 비상시에 국방상 필요한 경우에는 특허권을 수용할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특허권이 수용되는 경우에는 그 특허발명에 관한 특허권 외의 권리는 소멸된다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정부는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특허권을 수용하는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통상실시권자에</a:t>
            </a:r>
            <a:r>
              <a:rPr lang="ko-KR" altLang="en-US" sz="1400" dirty="0">
                <a:solidFill>
                  <a:schemeClr val="tx2"/>
                </a:solidFill>
              </a:rPr>
              <a:t> 대하여 정당한 보상금을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특허권의 수용 및 보상금의 지급에 필요한 사항은 대통령령으로 정한다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90170"/>
              </p:ext>
            </p:extLst>
          </p:nvPr>
        </p:nvGraphicFramePr>
        <p:xfrm>
          <a:off x="350180" y="4766598"/>
          <a:ext cx="11477751" cy="1946339"/>
        </p:xfrm>
        <a:graphic>
          <a:graphicData uri="http://schemas.openxmlformats.org/drawingml/2006/table">
            <a:tbl>
              <a:tblPr/>
              <a:tblGrid>
                <a:gridCol w="93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법 규정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취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급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요 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보 상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583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등록 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외국에의 출원금지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국방상 필요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33350" marR="31750" indent="-1333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위반시 특허를 받을 수 있는 권리 포기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보상금청구권 포기 간주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41⑤⑥)</a:t>
                      </a:r>
                    </a:p>
                    <a:p>
                      <a:pPr marL="133350" marR="31750" indent="-1333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위반시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년 이하의 징역 또는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천만원 이하의 벌금형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229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3),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양벌규정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적용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230)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5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비밀취급명령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불특허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수용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전시ㆍ사변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또는 이에 준하는 비상시에 국방상 필요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6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등록 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수용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780" marR="31750" indent="-14478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이외의 권리 소멸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2080" marR="31750" indent="-13208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질권자는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보상받지 못함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∵물상대위가능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123))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3899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25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33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44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출원인 </a:t>
            </a:r>
            <a:endParaRPr lang="ko-KR" altLang="en-US" dirty="0"/>
          </a:p>
        </p:txBody>
      </p:sp>
      <p:cxnSp>
        <p:nvCxnSpPr>
          <p:cNvPr id="43" name="직선 연결선 42"/>
          <p:cNvCxnSpPr/>
          <p:nvPr/>
        </p:nvCxnSpPr>
        <p:spPr>
          <a:xfrm>
            <a:off x="0" y="15170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되기 위해서는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일반적인 권리의 주체가 될 수 있는 능력인 권리능력이 있어야 하며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권리능력이 있는 자라 하더라도 해당 발명에 대한 권리의 주체가 될 수 있는 권리적격이 있어야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0" name="다이아몬드 9"/>
          <p:cNvSpPr/>
          <p:nvPr/>
        </p:nvSpPr>
        <p:spPr>
          <a:xfrm>
            <a:off x="3141397" y="1811839"/>
            <a:ext cx="1524000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권리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능력자 </a:t>
            </a:r>
          </a:p>
        </p:txBody>
      </p:sp>
      <p:sp>
        <p:nvSpPr>
          <p:cNvPr id="48" name="다이아몬드 47"/>
          <p:cNvSpPr/>
          <p:nvPr/>
        </p:nvSpPr>
        <p:spPr>
          <a:xfrm>
            <a:off x="3141397" y="3539039"/>
            <a:ext cx="1524000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권리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적격자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49623" y="2662388"/>
            <a:ext cx="1902522" cy="6280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실체심사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외국인</a:t>
            </a:r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25</a:t>
            </a:r>
            <a:r>
              <a:rPr lang="ko-KR" altLang="en-US" sz="1200" dirty="0">
                <a:solidFill>
                  <a:schemeClr val="tx1"/>
                </a:solidFill>
              </a:rPr>
              <a:t>조 위반의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거절이유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49624" y="3795025"/>
            <a:ext cx="1902522" cy="6280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실체심사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33</a:t>
            </a:r>
            <a:r>
              <a:rPr lang="ko-KR" altLang="en-US" sz="1200" dirty="0">
                <a:solidFill>
                  <a:schemeClr val="tx1"/>
                </a:solidFill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 본문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단서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44</a:t>
            </a:r>
            <a:r>
              <a:rPr lang="ko-KR" altLang="en-US" sz="1200" dirty="0">
                <a:solidFill>
                  <a:schemeClr val="tx1"/>
                </a:solidFill>
              </a:rPr>
              <a:t>조 위반의 거절이유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2" name="직선 화살표 연결선 71"/>
          <p:cNvCxnSpPr>
            <a:cxnSpLocks/>
            <a:stCxn id="48" idx="1"/>
            <a:endCxn id="71" idx="3"/>
          </p:cNvCxnSpPr>
          <p:nvPr/>
        </p:nvCxnSpPr>
        <p:spPr>
          <a:xfrm flipH="1" flipV="1">
            <a:off x="2252146" y="4109053"/>
            <a:ext cx="889251" cy="57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3285288" y="5228136"/>
            <a:ext cx="1236208" cy="50378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등록가능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>
            <a:cxnSpLocks/>
            <a:stCxn id="10" idx="2"/>
            <a:endCxn id="48" idx="0"/>
          </p:cNvCxnSpPr>
          <p:nvPr/>
        </p:nvCxnSpPr>
        <p:spPr>
          <a:xfrm>
            <a:off x="3903397" y="2963306"/>
            <a:ext cx="0" cy="5757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cxnSpLocks/>
            <a:stCxn id="48" idx="2"/>
            <a:endCxn id="73" idx="0"/>
          </p:cNvCxnSpPr>
          <p:nvPr/>
        </p:nvCxnSpPr>
        <p:spPr>
          <a:xfrm flipH="1">
            <a:off x="3903392" y="4690506"/>
            <a:ext cx="5" cy="5376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78064" y="2921374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85" name="TextBox 84"/>
          <p:cNvSpPr txBox="1"/>
          <p:nvPr/>
        </p:nvSpPr>
        <p:spPr>
          <a:xfrm>
            <a:off x="3874772" y="4733750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86" name="TextBox 85"/>
          <p:cNvSpPr txBox="1"/>
          <p:nvPr/>
        </p:nvSpPr>
        <p:spPr>
          <a:xfrm>
            <a:off x="2816724" y="2122723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88" name="TextBox 87"/>
          <p:cNvSpPr txBox="1"/>
          <p:nvPr/>
        </p:nvSpPr>
        <p:spPr>
          <a:xfrm>
            <a:off x="2771779" y="3834333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5046151" y="1879575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내국인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6151" y="2574313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외국인</a:t>
            </a:r>
          </a:p>
        </p:txBody>
      </p:sp>
      <p:cxnSp>
        <p:nvCxnSpPr>
          <p:cNvPr id="8" name="꺾인 연결선 7"/>
          <p:cNvCxnSpPr>
            <a:cxnSpLocks/>
            <a:stCxn id="10" idx="3"/>
            <a:endCxn id="2" idx="1"/>
          </p:cNvCxnSpPr>
          <p:nvPr/>
        </p:nvCxnSpPr>
        <p:spPr>
          <a:xfrm flipV="1">
            <a:off x="4665397" y="2010380"/>
            <a:ext cx="380754" cy="37719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cxnSpLocks/>
            <a:stCxn id="10" idx="3"/>
            <a:endCxn id="20" idx="1"/>
          </p:cNvCxnSpPr>
          <p:nvPr/>
        </p:nvCxnSpPr>
        <p:spPr>
          <a:xfrm>
            <a:off x="4665397" y="2387573"/>
            <a:ext cx="380754" cy="31754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7587" y="2244946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재내자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7587" y="2838080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재외자</a:t>
            </a:r>
          </a:p>
        </p:txBody>
      </p:sp>
      <p:cxnSp>
        <p:nvCxnSpPr>
          <p:cNvPr id="17" name="꺾인 연결선 16"/>
          <p:cNvCxnSpPr>
            <a:stCxn id="20" idx="3"/>
            <a:endCxn id="29" idx="1"/>
          </p:cNvCxnSpPr>
          <p:nvPr/>
        </p:nvCxnSpPr>
        <p:spPr>
          <a:xfrm flipV="1">
            <a:off x="5610729" y="2375751"/>
            <a:ext cx="426858" cy="32936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20" idx="3"/>
            <a:endCxn id="30" idx="1"/>
          </p:cNvCxnSpPr>
          <p:nvPr/>
        </p:nvCxnSpPr>
        <p:spPr>
          <a:xfrm>
            <a:off x="5610729" y="2705118"/>
            <a:ext cx="426858" cy="26376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46151" y="3594926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발명자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6151" y="3984852"/>
            <a:ext cx="5645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승계인</a:t>
            </a:r>
          </a:p>
        </p:txBody>
      </p:sp>
      <p:cxnSp>
        <p:nvCxnSpPr>
          <p:cNvPr id="37" name="꺾인 연결선 36"/>
          <p:cNvCxnSpPr>
            <a:cxnSpLocks/>
            <a:stCxn id="48" idx="3"/>
            <a:endCxn id="35" idx="1"/>
          </p:cNvCxnSpPr>
          <p:nvPr/>
        </p:nvCxnSpPr>
        <p:spPr>
          <a:xfrm flipV="1">
            <a:off x="4665397" y="3725731"/>
            <a:ext cx="380754" cy="3890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cxnSpLocks/>
            <a:stCxn id="48" idx="3"/>
            <a:endCxn id="36" idx="1"/>
          </p:cNvCxnSpPr>
          <p:nvPr/>
        </p:nvCxnSpPr>
        <p:spPr>
          <a:xfrm>
            <a:off x="4665397" y="4114773"/>
            <a:ext cx="380754" cy="88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46151" y="4360325"/>
            <a:ext cx="154401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지식재산처</a:t>
            </a:r>
            <a:r>
              <a:rPr lang="en-US" altLang="ko-KR" sz="1100" dirty="0"/>
              <a:t>/</a:t>
            </a:r>
            <a:r>
              <a:rPr lang="ko-KR" altLang="en-US" sz="1100" dirty="0"/>
              <a:t>심판원 직원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6151" y="4750251"/>
            <a:ext cx="1426357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공동발명</a:t>
            </a:r>
          </a:p>
        </p:txBody>
      </p:sp>
      <p:cxnSp>
        <p:nvCxnSpPr>
          <p:cNvPr id="32" name="꺾인 연결선 31"/>
          <p:cNvCxnSpPr>
            <a:cxnSpLocks/>
            <a:stCxn id="48" idx="3"/>
            <a:endCxn id="49" idx="1"/>
          </p:cNvCxnSpPr>
          <p:nvPr/>
        </p:nvCxnSpPr>
        <p:spPr>
          <a:xfrm>
            <a:off x="4665397" y="4114773"/>
            <a:ext cx="380754" cy="76628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cxnSpLocks/>
            <a:stCxn id="48" idx="3"/>
            <a:endCxn id="47" idx="1"/>
          </p:cNvCxnSpPr>
          <p:nvPr/>
        </p:nvCxnSpPr>
        <p:spPr>
          <a:xfrm>
            <a:off x="4665397" y="4114773"/>
            <a:ext cx="380754" cy="37635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23784" y="1879575"/>
            <a:ext cx="323999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재내외자</a:t>
            </a:r>
            <a:r>
              <a:rPr lang="ko-KR" altLang="en-US" sz="1100" dirty="0"/>
              <a:t> 불문하고 자연인</a:t>
            </a:r>
            <a:r>
              <a:rPr lang="en-US" altLang="ko-KR" sz="1100" dirty="0"/>
              <a:t>, </a:t>
            </a:r>
            <a:r>
              <a:rPr lang="ko-KR" altLang="en-US" sz="1100" dirty="0"/>
              <a:t>법인의 경우 권리능력 인정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2165" y="2254682"/>
            <a:ext cx="98296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권리능력 인정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1356" y="2652673"/>
            <a:ext cx="437940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원칙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1356" y="3028835"/>
            <a:ext cx="437940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예외</a:t>
            </a:r>
          </a:p>
        </p:txBody>
      </p:sp>
      <p:cxnSp>
        <p:nvCxnSpPr>
          <p:cNvPr id="51" name="꺾인 연결선 50"/>
          <p:cNvCxnSpPr>
            <a:stCxn id="30" idx="3"/>
            <a:endCxn id="59" idx="1"/>
          </p:cNvCxnSpPr>
          <p:nvPr/>
        </p:nvCxnSpPr>
        <p:spPr>
          <a:xfrm flipV="1">
            <a:off x="6602165" y="2783478"/>
            <a:ext cx="209191" cy="18540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0" idx="3"/>
            <a:endCxn id="60" idx="1"/>
          </p:cNvCxnSpPr>
          <p:nvPr/>
        </p:nvCxnSpPr>
        <p:spPr>
          <a:xfrm>
            <a:off x="6602165" y="2968885"/>
            <a:ext cx="209191" cy="19075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243779" y="2652673"/>
            <a:ext cx="110959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/>
              <a:t>권리능력 불인정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7243779" y="3039062"/>
            <a:ext cx="403027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권리능력 인정</a:t>
            </a:r>
            <a:r>
              <a:rPr lang="en-US" altLang="ko-KR" sz="1100" dirty="0"/>
              <a:t> - </a:t>
            </a:r>
            <a:r>
              <a:rPr lang="ko-KR" altLang="en-US" sz="1100" dirty="0"/>
              <a:t>상호주의</a:t>
            </a:r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, 25Ⅰ,Ⅱ), </a:t>
            </a:r>
            <a:r>
              <a:rPr lang="ko-KR" altLang="en-US" sz="1100" dirty="0"/>
              <a:t>조약에 의한 경우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25Ⅲ)</a:t>
            </a:r>
            <a:endParaRPr lang="ko-KR" altLang="en-US" sz="1100" dirty="0"/>
          </a:p>
        </p:txBody>
      </p:sp>
      <p:sp>
        <p:nvSpPr>
          <p:cNvPr id="54" name="모서리가 둥근 사각형 설명선 53"/>
          <p:cNvSpPr/>
          <p:nvPr/>
        </p:nvSpPr>
        <p:spPr>
          <a:xfrm>
            <a:off x="499542" y="4602866"/>
            <a:ext cx="2616200" cy="399620"/>
          </a:xfrm>
          <a:prstGeom prst="wedgeRoundRectCallout">
            <a:avLst>
              <a:gd name="adj1" fmla="val 50516"/>
              <a:gd name="adj2" fmla="val -155724"/>
              <a:gd name="adj3" fmla="val 16667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2"/>
                </a:solidFill>
              </a:rPr>
              <a:t>정당한 권리자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= </a:t>
            </a:r>
            <a:r>
              <a:rPr lang="ko-KR" altLang="en-US" sz="1200" dirty="0">
                <a:solidFill>
                  <a:schemeClr val="tx2"/>
                </a:solidFill>
              </a:rPr>
              <a:t>특허를 받을 수 있는 권리를 가진 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3784" y="3594926"/>
            <a:ext cx="273023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100" dirty="0"/>
              <a:t>자연인 ○ </a:t>
            </a:r>
            <a:r>
              <a:rPr lang="en-US" altLang="ko-KR" sz="1100" dirty="0"/>
              <a:t>/ </a:t>
            </a:r>
            <a:r>
              <a:rPr lang="ko-KR" altLang="en-US" sz="1100" dirty="0"/>
              <a:t>법인 </a:t>
            </a:r>
            <a:r>
              <a:rPr lang="en-US" altLang="ko-KR" sz="1100" dirty="0"/>
              <a:t>×(</a:t>
            </a:r>
            <a:r>
              <a:rPr lang="ko-KR" altLang="en-US" sz="1100" dirty="0"/>
              <a:t>∵ 발명행위는 사실행위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9" name="TextBox 68"/>
          <p:cNvSpPr txBox="1"/>
          <p:nvPr/>
        </p:nvSpPr>
        <p:spPr>
          <a:xfrm>
            <a:off x="5623784" y="3992859"/>
            <a:ext cx="1279517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100" dirty="0"/>
              <a:t>자연인 ○ </a:t>
            </a:r>
            <a:r>
              <a:rPr lang="en-US" altLang="ko-KR" sz="1100" dirty="0"/>
              <a:t>/ </a:t>
            </a:r>
            <a:r>
              <a:rPr lang="ko-KR" altLang="en-US" sz="1100" dirty="0"/>
              <a:t>법인 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2164" y="4257815"/>
            <a:ext cx="5484715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100" dirty="0"/>
              <a:t>상속</a:t>
            </a:r>
            <a:r>
              <a:rPr lang="en-US" altLang="ko-KR" sz="1100" dirty="0"/>
              <a:t>/</a:t>
            </a:r>
            <a:r>
              <a:rPr lang="ko-KR" altLang="en-US" sz="1100" dirty="0" err="1"/>
              <a:t>유증의</a:t>
            </a:r>
            <a:r>
              <a:rPr lang="ko-KR" altLang="en-US" sz="1100" dirty="0"/>
              <a:t> 경우를 제외하고는 재직 중 특허 </a:t>
            </a:r>
            <a:r>
              <a:rPr lang="en-US" altLang="ko-KR" sz="1100" dirty="0"/>
              <a:t>×(</a:t>
            </a:r>
            <a:r>
              <a:rPr lang="ko-KR" altLang="en-US" sz="1100" dirty="0"/>
              <a:t>法 </a:t>
            </a:r>
            <a:r>
              <a:rPr lang="en-US" altLang="ko-KR" sz="1100" dirty="0"/>
              <a:t>33</a:t>
            </a:r>
            <a:r>
              <a:rPr lang="ko-KR" altLang="en-US" sz="1100" dirty="0"/>
              <a:t>①단서</a:t>
            </a:r>
            <a:r>
              <a:rPr lang="en-US" altLang="ko-KR" sz="1100" dirty="0"/>
              <a:t>)</a:t>
            </a:r>
          </a:p>
          <a:p>
            <a:pPr fontAlgn="base"/>
            <a:r>
              <a:rPr lang="en-US" altLang="ko-KR" sz="1100" dirty="0"/>
              <a:t>(</a:t>
            </a: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특허를 받을 수 있는 권리는 가짐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4" name="TextBox 73"/>
          <p:cNvSpPr txBox="1"/>
          <p:nvPr/>
        </p:nvSpPr>
        <p:spPr>
          <a:xfrm>
            <a:off x="7291570" y="4953055"/>
            <a:ext cx="311816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1100" dirty="0"/>
              <a:t>특허를 받을 수 있는 권리의 공유→ 공동출원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44)</a:t>
            </a:r>
            <a:endParaRPr lang="ko-KR" altLang="en-US" sz="1100" dirty="0"/>
          </a:p>
        </p:txBody>
      </p:sp>
      <p:sp>
        <p:nvSpPr>
          <p:cNvPr id="55" name="직사각형 54"/>
          <p:cNvSpPr/>
          <p:nvPr/>
        </p:nvSpPr>
        <p:spPr>
          <a:xfrm>
            <a:off x="4905631" y="3099690"/>
            <a:ext cx="802824" cy="120326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4861780" y="3078449"/>
            <a:ext cx="926857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 fontAlgn="base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33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 fontAlgn="base"/>
            <a:r>
              <a:rPr lang="ko-KR" altLang="en-US" sz="1100" dirty="0">
                <a:solidFill>
                  <a:srgbClr val="FF0000"/>
                </a:solidFill>
              </a:rPr>
              <a:t>본문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64672"/>
              </p:ext>
            </p:extLst>
          </p:nvPr>
        </p:nvGraphicFramePr>
        <p:xfrm>
          <a:off x="5191729" y="5604920"/>
          <a:ext cx="6703937" cy="853440"/>
        </p:xfrm>
        <a:graphic>
          <a:graphicData uri="http://schemas.openxmlformats.org/drawingml/2006/table">
            <a:tbl>
              <a:tblPr/>
              <a:tblGrid>
                <a:gridCol w="2439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권리적격</a:t>
                      </a:r>
                    </a:p>
                    <a:p>
                      <a:pPr marL="6350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권리능력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승계인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 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∵발명행위가 사실행위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 flipH="1" flipV="1">
            <a:off x="5198533" y="5604933"/>
            <a:ext cx="2391263" cy="4148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자유형 78"/>
          <p:cNvSpPr/>
          <p:nvPr/>
        </p:nvSpPr>
        <p:spPr>
          <a:xfrm>
            <a:off x="8398933" y="3733800"/>
            <a:ext cx="270934" cy="389467"/>
          </a:xfrm>
          <a:custGeom>
            <a:avLst/>
            <a:gdLst>
              <a:gd name="connsiteX0" fmla="*/ 0 w 270934"/>
              <a:gd name="connsiteY0" fmla="*/ 0 h 389467"/>
              <a:gd name="connsiteX1" fmla="*/ 270934 w 270934"/>
              <a:gd name="connsiteY1" fmla="*/ 0 h 389467"/>
              <a:gd name="connsiteX2" fmla="*/ 270934 w 270934"/>
              <a:gd name="connsiteY2" fmla="*/ 389467 h 389467"/>
              <a:gd name="connsiteX3" fmla="*/ 16934 w 270934"/>
              <a:gd name="connsiteY3" fmla="*/ 389467 h 38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934" h="389467">
                <a:moveTo>
                  <a:pt x="0" y="0"/>
                </a:moveTo>
                <a:lnTo>
                  <a:pt x="270934" y="0"/>
                </a:lnTo>
                <a:lnTo>
                  <a:pt x="270934" y="389467"/>
                </a:lnTo>
                <a:lnTo>
                  <a:pt x="16934" y="389467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화살표 연결선 80"/>
          <p:cNvCxnSpPr/>
          <p:nvPr/>
        </p:nvCxnSpPr>
        <p:spPr>
          <a:xfrm>
            <a:off x="8669867" y="3928533"/>
            <a:ext cx="38946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083064" y="3673532"/>
            <a:ext cx="283360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rgbClr val="FF0000"/>
                </a:solidFill>
              </a:rPr>
              <a:t>특허를 받을 수 있는 권리가 없는 자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무권리자</a:t>
            </a:r>
            <a:r>
              <a:rPr lang="en-US" altLang="ko-KR" sz="1400" dirty="0">
                <a:solidFill>
                  <a:srgbClr val="FF0000"/>
                </a:solidFill>
              </a:rPr>
              <a:t>):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33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항본문</a:t>
            </a:r>
            <a:r>
              <a:rPr lang="ko-KR" altLang="en-US" sz="1400" dirty="0">
                <a:solidFill>
                  <a:srgbClr val="FF0000"/>
                </a:solidFill>
              </a:rPr>
              <a:t> 위반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99</a:t>
            </a:fld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38C64C-EDA3-D9F1-99EB-94CBA0AF0307}"/>
              </a:ext>
            </a:extLst>
          </p:cNvPr>
          <p:cNvSpPr/>
          <p:nvPr/>
        </p:nvSpPr>
        <p:spPr>
          <a:xfrm>
            <a:off x="349623" y="1830046"/>
            <a:ext cx="1902522" cy="5037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방식심사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내외국인</a:t>
            </a:r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 err="1">
                <a:solidFill>
                  <a:schemeClr val="tx1"/>
                </a:solidFill>
              </a:rPr>
              <a:t>불수리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3BD6C0-D6E1-3796-D31E-85872E1437EF}"/>
              </a:ext>
            </a:extLst>
          </p:cNvPr>
          <p:cNvSpPr txBox="1"/>
          <p:nvPr/>
        </p:nvSpPr>
        <p:spPr>
          <a:xfrm>
            <a:off x="5046151" y="5110938"/>
            <a:ext cx="142636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/>
              <a:t>단독발명후 지분 양도</a:t>
            </a:r>
            <a:endParaRPr lang="ko-KR" altLang="en-US" sz="1100" dirty="0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D600CF4E-63D4-9881-C804-863081792646}"/>
              </a:ext>
            </a:extLst>
          </p:cNvPr>
          <p:cNvCxnSpPr>
            <a:stCxn id="49" idx="3"/>
            <a:endCxn id="74" idx="1"/>
          </p:cNvCxnSpPr>
          <p:nvPr/>
        </p:nvCxnSpPr>
        <p:spPr>
          <a:xfrm>
            <a:off x="6472508" y="4881056"/>
            <a:ext cx="819062" cy="2028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FAB1701-9229-C754-5C9C-24D5A513D616}"/>
              </a:ext>
            </a:extLst>
          </p:cNvPr>
          <p:cNvCxnSpPr>
            <a:stCxn id="31" idx="3"/>
            <a:endCxn id="74" idx="1"/>
          </p:cNvCxnSpPr>
          <p:nvPr/>
        </p:nvCxnSpPr>
        <p:spPr>
          <a:xfrm flipV="1">
            <a:off x="6472513" y="5083860"/>
            <a:ext cx="819057" cy="157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D826E09-BCA7-6F0B-9B70-41FC7D4D3AAF}"/>
              </a:ext>
            </a:extLst>
          </p:cNvPr>
          <p:cNvSpPr txBox="1"/>
          <p:nvPr/>
        </p:nvSpPr>
        <p:spPr>
          <a:xfrm>
            <a:off x="6434210" y="4642069"/>
            <a:ext cx="7270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法 </a:t>
            </a:r>
            <a:r>
              <a:rPr lang="en-US" altLang="ko-KR" sz="1000" dirty="0"/>
              <a:t>33</a:t>
            </a:r>
            <a:r>
              <a:rPr lang="ko-KR" altLang="en-US" sz="1000" dirty="0"/>
              <a:t>②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ADCEA5B0-3900-1B6A-2F7F-777F1382C824}"/>
              </a:ext>
            </a:extLst>
          </p:cNvPr>
          <p:cNvCxnSpPr>
            <a:stCxn id="10" idx="1"/>
            <a:endCxn id="26" idx="3"/>
          </p:cNvCxnSpPr>
          <p:nvPr/>
        </p:nvCxnSpPr>
        <p:spPr>
          <a:xfrm rot="10800000">
            <a:off x="2252145" y="2081941"/>
            <a:ext cx="889252" cy="305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46E5E3A8-0200-4276-191E-83D106D25813}"/>
              </a:ext>
            </a:extLst>
          </p:cNvPr>
          <p:cNvCxnSpPr>
            <a:cxnSpLocks/>
            <a:stCxn id="10" idx="1"/>
            <a:endCxn id="13" idx="3"/>
          </p:cNvCxnSpPr>
          <p:nvPr/>
        </p:nvCxnSpPr>
        <p:spPr>
          <a:xfrm rot="10800000" flipV="1">
            <a:off x="2252145" y="2387572"/>
            <a:ext cx="889252" cy="58884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C2883CD-0053-8AF5-6683-2B209DE0E483}"/>
              </a:ext>
            </a:extLst>
          </p:cNvPr>
          <p:cNvSpPr/>
          <p:nvPr/>
        </p:nvSpPr>
        <p:spPr>
          <a:xfrm>
            <a:off x="6026098" y="3317524"/>
            <a:ext cx="1040074" cy="246306"/>
          </a:xfrm>
          <a:prstGeom prst="wedgeRoundRectCallout">
            <a:avLst>
              <a:gd name="adj1" fmla="val -28159"/>
              <a:gd name="adj2" fmla="val 77968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발명을 한 사람</a:t>
            </a:r>
          </a:p>
        </p:txBody>
      </p:sp>
    </p:spTree>
    <p:extLst>
      <p:ext uri="{BB962C8B-B14F-4D97-AF65-F5344CB8AC3E}">
        <p14:creationId xmlns:p14="http://schemas.microsoft.com/office/powerpoint/2010/main" val="2156038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33</a:t>
            </a:r>
            <a:r>
              <a:rPr lang="ko-KR" altLang="en-US" sz="2000" dirty="0"/>
              <a:t>조제</a:t>
            </a:r>
            <a:r>
              <a:rPr lang="en-US" altLang="ko-KR" sz="2000" dirty="0"/>
              <a:t>1</a:t>
            </a:r>
            <a:r>
              <a:rPr lang="ko-KR" altLang="en-US" sz="2000" dirty="0"/>
              <a:t>항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44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항본문과</a:t>
            </a:r>
            <a:r>
              <a:rPr lang="ko-KR" altLang="en-US" dirty="0"/>
              <a:t> 제</a:t>
            </a:r>
            <a:r>
              <a:rPr lang="en-US" altLang="ko-KR" dirty="0"/>
              <a:t>44</a:t>
            </a:r>
            <a:r>
              <a:rPr lang="ko-KR" altLang="en-US" dirty="0"/>
              <a:t>조의 적용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>
                <a:solidFill>
                  <a:schemeClr val="bg1"/>
                </a:solidFill>
              </a:rPr>
              <a:t>100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127524" y="1106383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33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항본문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 위반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6097412" y="965770"/>
            <a:ext cx="0" cy="53631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75775" y="2738473"/>
            <a:ext cx="5506957" cy="4365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발명자가 아닌 자로서 승계인이 아닌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모인자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75775" y="3825658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특허를 받을 수 있는 권리를 승계한 승계인이 다시 특허를 받을 수 있는 권리를 </a:t>
            </a:r>
            <a:r>
              <a:rPr lang="ko-KR" altLang="en-US" sz="1400" dirty="0" err="1">
                <a:solidFill>
                  <a:schemeClr val="tx2"/>
                </a:solidFill>
              </a:rPr>
              <a:t>재양도한</a:t>
            </a:r>
            <a:r>
              <a:rPr lang="ko-KR" altLang="en-US" sz="1400" dirty="0">
                <a:solidFill>
                  <a:schemeClr val="tx2"/>
                </a:solidFill>
              </a:rPr>
              <a:t> 후 출원한 자</a:t>
            </a:r>
            <a:r>
              <a:rPr lang="en-US" altLang="ko-KR" sz="1400" dirty="0">
                <a:solidFill>
                  <a:schemeClr val="tx2"/>
                </a:solidFill>
              </a:rPr>
              <a:t>(2006</a:t>
            </a:r>
            <a:r>
              <a:rPr lang="ko-KR" altLang="en-US" sz="1400" dirty="0">
                <a:solidFill>
                  <a:schemeClr val="tx2"/>
                </a:solidFill>
              </a:rPr>
              <a:t>허</a:t>
            </a:r>
            <a:r>
              <a:rPr lang="en-US" altLang="ko-KR" sz="1400" dirty="0">
                <a:solidFill>
                  <a:schemeClr val="tx2"/>
                </a:solidFill>
              </a:rPr>
              <a:t>6143)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75775" y="5079839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출원일지라도 정당한 </a:t>
            </a:r>
            <a:r>
              <a:rPr lang="ko-KR" altLang="en-US" sz="1400" dirty="0" err="1">
                <a:solidFill>
                  <a:schemeClr val="tx2"/>
                </a:solidFill>
              </a:rPr>
              <a:t>권리자로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출원인변경이</a:t>
            </a:r>
            <a:r>
              <a:rPr lang="ko-KR" altLang="en-US" sz="1400" dirty="0">
                <a:solidFill>
                  <a:schemeClr val="tx2"/>
                </a:solidFill>
              </a:rPr>
              <a:t> 된 경우에는 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항본문</a:t>
            </a:r>
            <a:r>
              <a:rPr lang="ko-KR" altLang="en-US" sz="1400" dirty="0">
                <a:solidFill>
                  <a:schemeClr val="tx2"/>
                </a:solidFill>
              </a:rPr>
              <a:t> 위반 하자 치유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298060" y="1658699"/>
            <a:ext cx="5506837" cy="927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자</a:t>
            </a:r>
            <a:r>
              <a:rPr lang="en-US" altLang="ko-KR" sz="1400" dirty="0">
                <a:solidFill>
                  <a:schemeClr val="tx2"/>
                </a:solidFill>
              </a:rPr>
              <a:t>) ① </a:t>
            </a:r>
            <a:r>
              <a:rPr lang="ko-KR" altLang="en-US" sz="1400" dirty="0">
                <a:solidFill>
                  <a:schemeClr val="tx2"/>
                </a:solidFill>
              </a:rPr>
              <a:t>발명을 한 사람 또는 그 승계인은 이 법에서 정하는 바에 따라 특허를 받을 수 있는 권리를 가진다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33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항본문</a:t>
            </a:r>
            <a:r>
              <a:rPr lang="ko-KR" altLang="en-US" sz="1400" dirty="0">
                <a:solidFill>
                  <a:srgbClr val="FF0000"/>
                </a:solidFill>
              </a:rPr>
              <a:t> 위반인 특허를 받을 수 있는 권리를 가지지 아니한 자를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무권리자라고</a:t>
            </a:r>
            <a:r>
              <a:rPr lang="ko-KR" altLang="en-US" sz="1400" dirty="0">
                <a:solidFill>
                  <a:srgbClr val="FF0000"/>
                </a:solidFill>
              </a:rPr>
              <a:t> 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5775" y="3238026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구성을 변경했지만 진보성이 없는 등 기술적 사상의 창작에 기여하지 않은 자</a:t>
            </a:r>
            <a:r>
              <a:rPr lang="en-US" altLang="ko-KR" sz="1400" dirty="0">
                <a:solidFill>
                  <a:schemeClr val="tx2"/>
                </a:solidFill>
              </a:rPr>
              <a:t>(2009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2463)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auto">
          <a:xfrm>
            <a:off x="6231991" y="1106383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 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44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조 위반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80242" y="3608048"/>
            <a:ext cx="5506957" cy="4365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공동발명하여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특허를 받을 수 있는 권리가 공유인데 단독으로 출원한 경우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80242" y="5079839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특허를 받을 수 있는 권리가 공유인 경우인데 일부가 지분 모두를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이전받아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단독 권리자가 된다면 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44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조 위반 하자 치유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(2004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허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5894)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6402527" y="1658699"/>
            <a:ext cx="5506837" cy="6103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공동출원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</a:t>
            </a:r>
            <a:r>
              <a:rPr lang="en-US" altLang="ko-KR" sz="1400" dirty="0">
                <a:solidFill>
                  <a:schemeClr val="tx2"/>
                </a:solidFill>
              </a:rPr>
              <a:t>*</a:t>
            </a:r>
            <a:r>
              <a:rPr lang="ko-KR" altLang="en-US" sz="1400" dirty="0">
                <a:solidFill>
                  <a:schemeClr val="tx2"/>
                </a:solidFill>
              </a:rPr>
              <a:t>인 경우에는 공유자 모두가 공동으로 특허출원을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380242" y="4093158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단독발명후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지분의 일부를 이전하여 특허를 받을 수 있는 권리가 공유인데 단독으로 출원한 경우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5775" y="5697905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착오로 등록되었을지라도 정당한 </a:t>
            </a:r>
            <a:r>
              <a:rPr lang="ko-KR" altLang="en-US" sz="1400" dirty="0" err="1">
                <a:solidFill>
                  <a:schemeClr val="tx2"/>
                </a:solidFill>
              </a:rPr>
              <a:t>권리자에게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이전등록한</a:t>
            </a:r>
            <a:r>
              <a:rPr lang="ko-KR" altLang="en-US" sz="1400" dirty="0">
                <a:solidFill>
                  <a:schemeClr val="tx2"/>
                </a:solidFill>
              </a:rPr>
              <a:t> 경우에는 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항본문</a:t>
            </a:r>
            <a:r>
              <a:rPr lang="ko-KR" altLang="en-US" sz="1400" dirty="0">
                <a:solidFill>
                  <a:schemeClr val="tx2"/>
                </a:solidFill>
              </a:rPr>
              <a:t> 위반 하자 치유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133①Ⅱ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402527" y="5702394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착오로 등록되었을지라도 다른 공유자에게 지분을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이전등록한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경우에는 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44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조 위반 하자 치유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133①Ⅱ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단서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5775" y="4399078"/>
            <a:ext cx="550695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발명자가 특허를 받을 수 있는 권리를 양도한 후 스스로 출원한 경우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(2008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허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3018)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415BB0-BF22-EE84-B97F-8117D28E51D9}"/>
              </a:ext>
            </a:extLst>
          </p:cNvPr>
          <p:cNvSpPr/>
          <p:nvPr/>
        </p:nvSpPr>
        <p:spPr>
          <a:xfrm>
            <a:off x="127524" y="4993341"/>
            <a:ext cx="11858282" cy="133554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569C1-223D-AFF9-F26E-61D004FC769A}"/>
              </a:ext>
            </a:extLst>
          </p:cNvPr>
          <p:cNvSpPr txBox="1"/>
          <p:nvPr/>
        </p:nvSpPr>
        <p:spPr>
          <a:xfrm>
            <a:off x="6094589" y="4607240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>
                <a:solidFill>
                  <a:srgbClr val="FF0000"/>
                </a:solidFill>
              </a:rPr>
              <a:t>판단시</a:t>
            </a:r>
            <a:r>
              <a:rPr lang="ko-KR" altLang="en-US" dirty="0">
                <a:solidFill>
                  <a:srgbClr val="FF0000"/>
                </a:solidFill>
              </a:rPr>
              <a:t> 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FB10F-681A-CDB4-3EDD-575605AEE133}"/>
              </a:ext>
            </a:extLst>
          </p:cNvPr>
          <p:cNvSpPr txBox="1"/>
          <p:nvPr/>
        </p:nvSpPr>
        <p:spPr>
          <a:xfrm>
            <a:off x="6402527" y="2321857"/>
            <a:ext cx="43973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구법에서는 제</a:t>
            </a:r>
            <a:r>
              <a:rPr lang="en-US" altLang="ko-KR" sz="1000" dirty="0"/>
              <a:t>33</a:t>
            </a:r>
            <a:r>
              <a:rPr lang="ko-KR" altLang="en-US" sz="1000" dirty="0"/>
              <a:t>조제</a:t>
            </a:r>
            <a:r>
              <a:rPr lang="en-US" altLang="ko-KR" sz="1000" dirty="0"/>
              <a:t>2</a:t>
            </a:r>
            <a:r>
              <a:rPr lang="ko-KR" altLang="en-US" sz="1000" dirty="0"/>
              <a:t>항에 의한 특허를 받을 수 있는 권리가 공유인 경우에 적용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E55D480-CB4C-9A07-A49D-FB55571E7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749699"/>
              </p:ext>
            </p:extLst>
          </p:nvPr>
        </p:nvGraphicFramePr>
        <p:xfrm>
          <a:off x="6382868" y="2559747"/>
          <a:ext cx="5533356" cy="8229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83339">
                  <a:extLst>
                    <a:ext uri="{9D8B030D-6E8A-4147-A177-3AD203B41FA5}">
                      <a16:colId xmlns:a16="http://schemas.microsoft.com/office/drawing/2014/main" val="1199459884"/>
                    </a:ext>
                  </a:extLst>
                </a:gridCol>
                <a:gridCol w="633722">
                  <a:extLst>
                    <a:ext uri="{9D8B030D-6E8A-4147-A177-3AD203B41FA5}">
                      <a16:colId xmlns:a16="http://schemas.microsoft.com/office/drawing/2014/main" val="42243944"/>
                    </a:ext>
                  </a:extLst>
                </a:gridCol>
                <a:gridCol w="1649506">
                  <a:extLst>
                    <a:ext uri="{9D8B030D-6E8A-4147-A177-3AD203B41FA5}">
                      <a16:colId xmlns:a16="http://schemas.microsoft.com/office/drawing/2014/main" val="1406179581"/>
                    </a:ext>
                  </a:extLst>
                </a:gridCol>
                <a:gridCol w="1866789">
                  <a:extLst>
                    <a:ext uri="{9D8B030D-6E8A-4147-A177-3AD203B41FA5}">
                      <a16:colId xmlns:a16="http://schemas.microsoft.com/office/drawing/2014/main" val="214966021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특허를 받을 수 있는 권리의 공유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단독발명후 지분이전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공동발명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4315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44</a:t>
                      </a:r>
                      <a:r>
                        <a:rPr lang="ko-KR" altLang="en-US" sz="900" dirty="0"/>
                        <a:t>조 위반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구법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불인정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계약상 채무불이행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762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현행법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09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0442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5437022"/>
            <a:ext cx="943208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찰떡초코파이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101</a:t>
            </a:fld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228735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269047"/>
            <a:ext cx="11681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甲이 경영하는 개인업체 연구개발부장 乙이 丙 회사로 전직하여 甲의 영업비밀</a:t>
            </a:r>
            <a:r>
              <a:rPr lang="en-US" altLang="ko-KR" sz="1200" dirty="0"/>
              <a:t>[</a:t>
            </a:r>
            <a:r>
              <a:rPr lang="ko-KR" altLang="en-US" sz="1200" dirty="0"/>
              <a:t>이하 ‘모인</a:t>
            </a:r>
            <a:r>
              <a:rPr lang="en-US" altLang="ko-KR" sz="1200" dirty="0"/>
              <a:t>(</a:t>
            </a:r>
            <a:r>
              <a:rPr lang="ko-KR" altLang="en-US" sz="1200" dirty="0"/>
              <a:t>冒認</a:t>
            </a:r>
            <a:r>
              <a:rPr lang="en-US" altLang="ko-KR" sz="1200" dirty="0"/>
              <a:t>)</a:t>
            </a:r>
            <a:r>
              <a:rPr lang="ko-KR" altLang="en-US" sz="1200" dirty="0" err="1"/>
              <a:t>대상발명’이라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]</a:t>
            </a:r>
            <a:r>
              <a:rPr lang="ko-KR" altLang="en-US" sz="1200" dirty="0"/>
              <a:t>을 丙 회사 직원들에게 누설함으로써 丙 회사가 甲의 </a:t>
            </a:r>
            <a:r>
              <a:rPr lang="ko-KR" altLang="en-US" sz="1200" dirty="0" err="1"/>
              <a:t>모인대상발명을</a:t>
            </a:r>
            <a:r>
              <a:rPr lang="ko-KR" altLang="en-US" sz="1200" dirty="0"/>
              <a:t> 변형하여 명칭이 “떡을 내장하는 과자 및 그 </a:t>
            </a:r>
            <a:r>
              <a:rPr lang="ko-KR" altLang="en-US" sz="1200" dirty="0" err="1"/>
              <a:t>제조방법”인</a:t>
            </a:r>
            <a:r>
              <a:rPr lang="ko-KR" altLang="en-US" sz="1200" dirty="0"/>
              <a:t> 특허발명을 출원하여 특허등록을 받은 사안에서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특허발명의 특징적인 부분인 ‘떡이 가진 장기간 보관할 수 없는 문제점을 해결하기 위한 </a:t>
            </a:r>
            <a:r>
              <a:rPr lang="ko-KR" altLang="en-US" sz="1200" dirty="0" err="1"/>
              <a:t>떡생지</a:t>
            </a:r>
            <a:r>
              <a:rPr lang="ko-KR" altLang="en-US" sz="1200" dirty="0"/>
              <a:t> 제조공정인 구성 </a:t>
            </a:r>
            <a:r>
              <a:rPr lang="en-US" altLang="ko-KR" sz="1200" dirty="0"/>
              <a:t>2’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모인대상발명의</a:t>
            </a:r>
            <a:r>
              <a:rPr lang="ko-KR" altLang="en-US" sz="1200" dirty="0"/>
              <a:t> 구성과 실질적인 차이가 없고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</a:t>
            </a:r>
            <a:r>
              <a:rPr lang="ko-KR" altLang="en-US" sz="1200" dirty="0" err="1"/>
              <a:t>모인대상발명과</a:t>
            </a:r>
            <a:r>
              <a:rPr lang="ko-KR" altLang="en-US" sz="1200" dirty="0"/>
              <a:t> 실질적으로 차이가 없는 구성 </a:t>
            </a:r>
            <a:r>
              <a:rPr lang="en-US" altLang="ko-KR" sz="1200" dirty="0"/>
              <a:t>2</a:t>
            </a:r>
            <a:r>
              <a:rPr lang="ko-KR" altLang="en-US" sz="1200" dirty="0"/>
              <a:t>에 </a:t>
            </a:r>
            <a:r>
              <a:rPr lang="ko-KR" altLang="en-US" sz="1200" dirty="0" err="1"/>
              <a:t>모인대상발명에</a:t>
            </a:r>
            <a:r>
              <a:rPr lang="ko-KR" altLang="en-US" sz="1200" dirty="0"/>
              <a:t> 없는 구성 </a:t>
            </a:r>
            <a:r>
              <a:rPr lang="en-US" altLang="ko-KR" sz="1200" dirty="0"/>
              <a:t>1, 3, 4</a:t>
            </a:r>
            <a:r>
              <a:rPr lang="ko-KR" altLang="en-US" sz="1200" dirty="0"/>
              <a:t>를 새로 부가하는 </a:t>
            </a:r>
            <a:r>
              <a:rPr lang="ko-KR" altLang="en-US" sz="1200" dirty="0">
                <a:solidFill>
                  <a:srgbClr val="FF0000"/>
                </a:solidFill>
              </a:rPr>
              <a:t>것은 통상의 기술자가 보통으로 채용하는 정도의 변경에 지나지 않고 그 변경으로 발명의 작용효과에 특별한 차이를 일으키지 않아서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</a:t>
            </a:r>
            <a:r>
              <a:rPr lang="ko-KR" altLang="en-US" sz="1200" dirty="0">
                <a:solidFill>
                  <a:srgbClr val="FF0000"/>
                </a:solidFill>
              </a:rPr>
              <a:t>특허발명의 기술적 사상의 창작에 실질적으로 기여한 것이 없다</a:t>
            </a:r>
            <a:r>
              <a:rPr lang="ko-KR" altLang="en-US" sz="1200" dirty="0"/>
              <a:t>는 이유로</a:t>
            </a:r>
            <a:r>
              <a:rPr lang="en-US" altLang="ko-KR" sz="1200" dirty="0"/>
              <a:t>, </a:t>
            </a:r>
            <a:r>
              <a:rPr lang="ko-KR" altLang="en-US" sz="1200" dirty="0"/>
              <a:t>위 특허발명은 무권리자가 출원하여 특허를 받은 경우에 해당하여 특허법 제</a:t>
            </a:r>
            <a:r>
              <a:rPr lang="en-US" altLang="ko-KR" sz="1200" dirty="0"/>
              <a:t>133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본문에 따라 그 등록이 무효이다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1645488" y="5350173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F855E-63E7-4276-9A07-944733EA92D5}"/>
              </a:ext>
            </a:extLst>
          </p:cNvPr>
          <p:cNvSpPr txBox="1"/>
          <p:nvPr/>
        </p:nvSpPr>
        <p:spPr>
          <a:xfrm>
            <a:off x="351138" y="4292831"/>
            <a:ext cx="163712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과자류 제조업체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삼진식품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운영하는 甲이 외피가 도포된 떡 및 그 제조방법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특허출원후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0EF7D2-5FEE-4A2F-ABD4-9147C82EBFE2}"/>
              </a:ext>
            </a:extLst>
          </p:cNvPr>
          <p:cNvSpPr/>
          <p:nvPr/>
        </p:nvSpPr>
        <p:spPr>
          <a:xfrm>
            <a:off x="2299726" y="534308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2437A67-7853-4410-9F0F-93BCE51D441E}"/>
              </a:ext>
            </a:extLst>
          </p:cNvPr>
          <p:cNvSpPr/>
          <p:nvPr/>
        </p:nvSpPr>
        <p:spPr>
          <a:xfrm>
            <a:off x="3929544" y="534308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C7409E-9708-455F-937F-1A02408E7A56}"/>
              </a:ext>
            </a:extLst>
          </p:cNvPr>
          <p:cNvSpPr txBox="1"/>
          <p:nvPr/>
        </p:nvSpPr>
        <p:spPr>
          <a:xfrm>
            <a:off x="319066" y="5739981"/>
            <a:ext cx="3525146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연구개발부장으로 제품 개발 및 제조공정 전반에 관한 정보를 관리할 수 있는 유일한 직원이었던 乙이 퇴사 후 丙 주식회사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청우식품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입사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乙은 기술정보와 동일한 내용의 ‘떡 생지의 원재료 및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배합비’에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관한 보고서를 丙 주식회사 제출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7C9590-F96C-443E-8904-DE90258FAF82}"/>
              </a:ext>
            </a:extLst>
          </p:cNvPr>
          <p:cNvCxnSpPr>
            <a:cxnSpLocks/>
            <a:stCxn id="37" idx="2"/>
            <a:endCxn id="27" idx="0"/>
          </p:cNvCxnSpPr>
          <p:nvPr/>
        </p:nvCxnSpPr>
        <p:spPr>
          <a:xfrm rot="16200000" flipH="1">
            <a:off x="1329709" y="4963819"/>
            <a:ext cx="226345" cy="54636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78A8E6-8843-432E-B2B7-F049BC13ECC2}"/>
              </a:ext>
            </a:extLst>
          </p:cNvPr>
          <p:cNvSpPr txBox="1"/>
          <p:nvPr/>
        </p:nvSpPr>
        <p:spPr>
          <a:xfrm>
            <a:off x="2065632" y="4623762"/>
            <a:ext cx="113245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초코찰떡파이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제품 개발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출시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12386C3-0CC1-42F1-B941-40D96C54403B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rot="5400000">
            <a:off x="2375646" y="5086876"/>
            <a:ext cx="257661" cy="25476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5F209D4-546B-45E0-9FC8-78934FA6AC87}"/>
              </a:ext>
            </a:extLst>
          </p:cNvPr>
          <p:cNvSpPr/>
          <p:nvPr/>
        </p:nvSpPr>
        <p:spPr>
          <a:xfrm>
            <a:off x="3509545" y="534308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2F93E-BC94-427B-895D-B20B68F6D95E}"/>
              </a:ext>
            </a:extLst>
          </p:cNvPr>
          <p:cNvSpPr txBox="1"/>
          <p:nvPr/>
        </p:nvSpPr>
        <p:spPr>
          <a:xfrm>
            <a:off x="3863279" y="4586434"/>
            <a:ext cx="23695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제품품질을 개선한 원재료 및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배합비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기술 연구개발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영업비밀로 관리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A351E9F3-9FFB-4B2E-A4A4-E5AA09B24698}"/>
              </a:ext>
            </a:extLst>
          </p:cNvPr>
          <p:cNvCxnSpPr>
            <a:cxnSpLocks/>
            <a:stCxn id="86" idx="2"/>
            <a:endCxn id="85" idx="0"/>
          </p:cNvCxnSpPr>
          <p:nvPr/>
        </p:nvCxnSpPr>
        <p:spPr>
          <a:xfrm rot="5400000">
            <a:off x="4169995" y="4465018"/>
            <a:ext cx="294989" cy="14611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19D9534-0796-45A3-A189-E5997798044F}"/>
              </a:ext>
            </a:extLst>
          </p:cNvPr>
          <p:cNvCxnSpPr>
            <a:stCxn id="79" idx="0"/>
            <a:endCxn id="77" idx="4"/>
          </p:cNvCxnSpPr>
          <p:nvPr/>
        </p:nvCxnSpPr>
        <p:spPr>
          <a:xfrm rot="5400000" flipH="1" flipV="1">
            <a:off x="2926499" y="4659567"/>
            <a:ext cx="235555" cy="19252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D0BCFBF0-4BEE-4BCF-B574-F09834429646}"/>
              </a:ext>
            </a:extLst>
          </p:cNvPr>
          <p:cNvSpPr/>
          <p:nvPr/>
        </p:nvSpPr>
        <p:spPr>
          <a:xfrm>
            <a:off x="6560361" y="534308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EC9646-AB01-4AB9-8CF9-DE60BB0A9C0E}"/>
              </a:ext>
            </a:extLst>
          </p:cNvPr>
          <p:cNvSpPr txBox="1"/>
          <p:nvPr/>
        </p:nvSpPr>
        <p:spPr>
          <a:xfrm>
            <a:off x="5709726" y="5739981"/>
            <a:ext cx="121162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주식회사에서 찰떡 쿠키 출시</a:t>
            </a: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41787710-DFF3-444B-8773-13BD50582944}"/>
              </a:ext>
            </a:extLst>
          </p:cNvPr>
          <p:cNvCxnSpPr>
            <a:cxnSpLocks/>
            <a:stCxn id="90" idx="0"/>
            <a:endCxn id="89" idx="4"/>
          </p:cNvCxnSpPr>
          <p:nvPr/>
        </p:nvCxnSpPr>
        <p:spPr>
          <a:xfrm rot="5400000" flipH="1" flipV="1">
            <a:off x="6358857" y="5461108"/>
            <a:ext cx="235555" cy="3221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AADE59F-0011-4F37-8952-8288FDBA2E53}"/>
              </a:ext>
            </a:extLst>
          </p:cNvPr>
          <p:cNvSpPr/>
          <p:nvPr/>
        </p:nvSpPr>
        <p:spPr>
          <a:xfrm>
            <a:off x="4934744" y="534308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8AFB44E-C66F-4BE4-908F-B73F3FA4135C}"/>
              </a:ext>
            </a:extLst>
          </p:cNvPr>
          <p:cNvSpPr txBox="1"/>
          <p:nvPr/>
        </p:nvSpPr>
        <p:spPr>
          <a:xfrm>
            <a:off x="4084109" y="5739981"/>
            <a:ext cx="1504011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떡을 내장하는 과자 및 그 제조방법을 발명자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직원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출원인 丙으로 출원하여 등록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48D264A2-CAD7-41A3-80A4-2FD4324FE157}"/>
              </a:ext>
            </a:extLst>
          </p:cNvPr>
          <p:cNvCxnSpPr>
            <a:cxnSpLocks/>
            <a:stCxn id="97" idx="0"/>
            <a:endCxn id="96" idx="4"/>
          </p:cNvCxnSpPr>
          <p:nvPr/>
        </p:nvCxnSpPr>
        <p:spPr>
          <a:xfrm rot="5400000" flipH="1" flipV="1">
            <a:off x="4806337" y="5534205"/>
            <a:ext cx="235555" cy="1759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C18B1B71-920E-4836-82C6-EE7D80461224}"/>
              </a:ext>
            </a:extLst>
          </p:cNvPr>
          <p:cNvSpPr/>
          <p:nvPr/>
        </p:nvSpPr>
        <p:spPr>
          <a:xfrm>
            <a:off x="7118803" y="5343088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9AE6D4A-7560-4BA8-B6CD-96B2D5ED795C}"/>
              </a:ext>
            </a:extLst>
          </p:cNvPr>
          <p:cNvSpPr txBox="1"/>
          <p:nvPr/>
        </p:nvSpPr>
        <p:spPr>
          <a:xfrm>
            <a:off x="6398177" y="4801285"/>
            <a:ext cx="12655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887F22AF-6A4D-4896-9B99-F4DFFC873F9B}"/>
              </a:ext>
            </a:extLst>
          </p:cNvPr>
          <p:cNvCxnSpPr>
            <a:cxnSpLocks/>
            <a:stCxn id="103" idx="2"/>
            <a:endCxn id="102" idx="0"/>
          </p:cNvCxnSpPr>
          <p:nvPr/>
        </p:nvCxnSpPr>
        <p:spPr>
          <a:xfrm rot="16200000" flipH="1">
            <a:off x="6981155" y="5128071"/>
            <a:ext cx="264804" cy="16522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타원 105">
            <a:extLst>
              <a:ext uri="{FF2B5EF4-FFF2-40B4-BE49-F238E27FC236}">
                <a16:creationId xmlns:a16="http://schemas.microsoft.com/office/drawing/2014/main" id="{4FB52A7F-5312-43D4-A540-D37AE90413E8}"/>
              </a:ext>
            </a:extLst>
          </p:cNvPr>
          <p:cNvSpPr/>
          <p:nvPr/>
        </p:nvSpPr>
        <p:spPr>
          <a:xfrm>
            <a:off x="8863351" y="5343088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E4FF013-B00A-4584-9406-2846FB8BC45C}"/>
              </a:ext>
            </a:extLst>
          </p:cNvPr>
          <p:cNvSpPr txBox="1"/>
          <p:nvPr/>
        </p:nvSpPr>
        <p:spPr>
          <a:xfrm>
            <a:off x="7797532" y="4801285"/>
            <a:ext cx="173835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영업비밀침해소송제기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E71B15CA-EB86-4DBE-8207-C9EDA6F81C8D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 rot="16200000" flipH="1">
            <a:off x="8671312" y="5073680"/>
            <a:ext cx="264804" cy="2740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2011. 9. 29.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2463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  <a:endParaRPr lang="ko-KR" altLang="en-US" sz="1400" dirty="0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FB76F859-88A1-4D6E-9410-CD53FEF533BA}"/>
              </a:ext>
            </a:extLst>
          </p:cNvPr>
          <p:cNvSpPr/>
          <p:nvPr/>
        </p:nvSpPr>
        <p:spPr>
          <a:xfrm>
            <a:off x="113937" y="2325974"/>
            <a:ext cx="3827176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의정부지방법원 </a:t>
            </a:r>
            <a:r>
              <a:rPr lang="en-US" altLang="ko-KR" sz="1400" dirty="0"/>
              <a:t>2011. 9. 8.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가합</a:t>
            </a:r>
            <a:r>
              <a:rPr lang="en-US" altLang="ko-KR" sz="1400" dirty="0"/>
              <a:t>7325</a:t>
            </a:r>
            <a:endParaRPr lang="ko-KR" altLang="en-US" sz="1400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FA80E0B-E456-45D1-9A4E-386FBE42E6F9}"/>
              </a:ext>
            </a:extLst>
          </p:cNvPr>
          <p:cNvSpPr/>
          <p:nvPr/>
        </p:nvSpPr>
        <p:spPr>
          <a:xfrm>
            <a:off x="227449" y="2637741"/>
            <a:ext cx="116869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과자류 제조업체를 운영하는 甲이 ‘외피가 도포된 떡 및 그 </a:t>
            </a:r>
            <a:r>
              <a:rPr lang="ko-KR" altLang="en-US" sz="1200" dirty="0" err="1"/>
              <a:t>제조방법’에</a:t>
            </a:r>
            <a:r>
              <a:rPr lang="ko-KR" altLang="en-US" sz="1200" dirty="0"/>
              <a:t> 관한 특허발명 등록을 마치고 ‘</a:t>
            </a:r>
            <a:r>
              <a:rPr lang="ko-KR" altLang="en-US" sz="1200" dirty="0" err="1"/>
              <a:t>초코찰떡파이’라는</a:t>
            </a:r>
            <a:r>
              <a:rPr lang="ko-KR" altLang="en-US" sz="1200" dirty="0"/>
              <a:t> 제품을 개발</a:t>
            </a:r>
            <a:r>
              <a:rPr lang="en-US" altLang="ko-KR" sz="1200" dirty="0"/>
              <a:t>·</a:t>
            </a:r>
            <a:r>
              <a:rPr lang="ko-KR" altLang="en-US" sz="1200" dirty="0"/>
              <a:t>출시한 후 상당한 시간과 비용을 투입하여 제품 품질을 개선한 ‘원재료 및 </a:t>
            </a:r>
            <a:r>
              <a:rPr lang="ko-KR" altLang="en-US" sz="1200" dirty="0" err="1"/>
              <a:t>배합비’에</a:t>
            </a:r>
            <a:r>
              <a:rPr lang="ko-KR" altLang="en-US" sz="1200" dirty="0"/>
              <a:t> 관한 기술을 연구</a:t>
            </a:r>
            <a:r>
              <a:rPr lang="en-US" altLang="ko-KR" sz="1200" dirty="0"/>
              <a:t>·</a:t>
            </a:r>
            <a:r>
              <a:rPr lang="ko-KR" altLang="en-US" sz="1200" dirty="0"/>
              <a:t>개발하였는데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甲 업체의 연구개발부장으로 제품 개발 및 제조공정 전반에 관한 정보를 관리할 수 있는 유일한 직원이었던 乙이 퇴사 후 丙 주식회사에 입사하여 위 기술정보와 동일한 내용의 ‘떡 생지의 원재료 및 </a:t>
            </a:r>
            <a:r>
              <a:rPr lang="ko-KR" altLang="en-US" sz="1200" dirty="0" err="1"/>
              <a:t>배합비’에</a:t>
            </a:r>
            <a:r>
              <a:rPr lang="ko-KR" altLang="en-US" sz="1200" dirty="0"/>
              <a:t> 관한 보고서를 제출하여 丙 회사가 ‘</a:t>
            </a:r>
            <a:r>
              <a:rPr lang="ko-KR" altLang="en-US" sz="1200" dirty="0" err="1"/>
              <a:t>찰떡쿠키’라는</a:t>
            </a:r>
            <a:r>
              <a:rPr lang="ko-KR" altLang="en-US" sz="1200" dirty="0"/>
              <a:t> 제품을 출시</a:t>
            </a:r>
            <a:r>
              <a:rPr lang="en-US" altLang="ko-KR" sz="1200" dirty="0"/>
              <a:t>·</a:t>
            </a:r>
            <a:r>
              <a:rPr lang="ko-KR" altLang="en-US" sz="1200" dirty="0"/>
              <a:t>판매한 사안에서</a:t>
            </a:r>
            <a:r>
              <a:rPr lang="en-US" altLang="ko-KR" sz="1200" dirty="0"/>
              <a:t>, </a:t>
            </a:r>
            <a:r>
              <a:rPr lang="ko-KR" altLang="en-US" sz="1200" dirty="0"/>
              <a:t>甲의 기술정보가 상당한 인적</a:t>
            </a:r>
            <a:r>
              <a:rPr lang="en-US" altLang="ko-KR" sz="1200" dirty="0"/>
              <a:t>·</a:t>
            </a:r>
            <a:r>
              <a:rPr lang="ko-KR" altLang="en-US" sz="1200" dirty="0"/>
              <a:t>물적 시설을 투입하여 개발한 것으로 甲 업체의 주력 상품인 </a:t>
            </a:r>
            <a:r>
              <a:rPr lang="ko-KR" altLang="en-US" sz="1200" dirty="0" err="1"/>
              <a:t>찰떡초코파이의</a:t>
            </a:r>
            <a:r>
              <a:rPr lang="ko-KR" altLang="en-US" sz="1200" dirty="0"/>
              <a:t> 핵심 기술이고</a:t>
            </a:r>
            <a:r>
              <a:rPr lang="en-US" altLang="ko-KR" sz="1200" dirty="0"/>
              <a:t>, </a:t>
            </a:r>
            <a:r>
              <a:rPr lang="ko-KR" altLang="en-US" sz="1200" dirty="0"/>
              <a:t>일반적으로 알려져 있지 아니함은 물론</a:t>
            </a:r>
            <a:r>
              <a:rPr lang="en-US" altLang="ko-KR" sz="1200" dirty="0"/>
              <a:t>, </a:t>
            </a:r>
            <a:r>
              <a:rPr lang="ko-KR" altLang="en-US" sz="1200" dirty="0"/>
              <a:t>甲이 乙을 포함한 전 직원들에게서 영업비밀 준수에 관한 서약서를 받는 등 기술정보를 엄격하게 관리하여 비밀로 유지</a:t>
            </a:r>
            <a:r>
              <a:rPr lang="en-US" altLang="ko-KR" sz="1200" dirty="0"/>
              <a:t>·</a:t>
            </a:r>
            <a:r>
              <a:rPr lang="ko-KR" altLang="en-US" sz="1200" dirty="0"/>
              <a:t>관리하여 온 점 등에 비추어</a:t>
            </a:r>
            <a:r>
              <a:rPr lang="en-US" altLang="ko-KR" sz="1200" dirty="0"/>
              <a:t>,</a:t>
            </a:r>
            <a:r>
              <a:rPr lang="ko-KR" altLang="en-US" sz="1200" dirty="0"/>
              <a:t>위 기술정보는 부정경쟁방지 및 영업비밀보호에 관한 법률 제</a:t>
            </a:r>
            <a:r>
              <a:rPr lang="en-US" altLang="ko-KR" sz="1200" dirty="0"/>
              <a:t>2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호에 정한 영업비밀에 해당하고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乙을 통하여 취득한 위 영업비밀을 이용하여 </a:t>
            </a:r>
            <a:r>
              <a:rPr lang="ko-KR" altLang="en-US" sz="1200" dirty="0" err="1"/>
              <a:t>찰떡쿠키의</a:t>
            </a:r>
            <a:r>
              <a:rPr lang="ko-KR" altLang="en-US" sz="1200" dirty="0"/>
              <a:t> 개발에 성공하거나 또는 개발 성공에 필요한 시간적</a:t>
            </a:r>
            <a:r>
              <a:rPr lang="en-US" altLang="ko-KR" sz="1200" dirty="0"/>
              <a:t>·</a:t>
            </a:r>
            <a:r>
              <a:rPr lang="ko-KR" altLang="en-US" sz="1200" dirty="0"/>
              <a:t>인적</a:t>
            </a:r>
            <a:r>
              <a:rPr lang="en-US" altLang="ko-KR" sz="1200" dirty="0"/>
              <a:t>·</a:t>
            </a:r>
            <a:r>
              <a:rPr lang="ko-KR" altLang="en-US" sz="1200" dirty="0"/>
              <a:t>물적 비용을 상당 부분 단축</a:t>
            </a:r>
            <a:r>
              <a:rPr lang="en-US" altLang="ko-KR" sz="1200" dirty="0"/>
              <a:t>·</a:t>
            </a:r>
            <a:r>
              <a:rPr lang="ko-KR" altLang="en-US" sz="1200" dirty="0"/>
              <a:t>절감하였다고 보이고</a:t>
            </a:r>
            <a:r>
              <a:rPr lang="en-US" altLang="ko-KR" sz="1200" dirty="0"/>
              <a:t>, </a:t>
            </a:r>
            <a:r>
              <a:rPr lang="ko-KR" altLang="en-US" sz="1200" dirty="0"/>
              <a:t>영업비밀과 丙 회사의 기술 사이에 일부 차이점이 존재하더라도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회사가 위 영업비밀을 자신의 영업활동에 이용하여 기업활동에 직접 또는 간접적으로 사용한 이상</a:t>
            </a:r>
            <a:r>
              <a:rPr lang="en-US" altLang="ko-KR" sz="1200" dirty="0"/>
              <a:t>, </a:t>
            </a:r>
            <a:r>
              <a:rPr lang="ko-KR" altLang="en-US" sz="1200" dirty="0"/>
              <a:t>영업비밀을 침해하였다고 보이므로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丙 회사는 영업비밀 침해행위로 인하여 甲이 입은 손해를 배상할 책임이 있다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단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영업비밀의 보호기간을 乙이 甲 업체를 퇴직한 날을 기준으로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년으로 인정함</a:t>
            </a:r>
            <a:r>
              <a:rPr lang="en-US" altLang="ko-KR" sz="1200" dirty="0">
                <a:solidFill>
                  <a:srgbClr val="FF0000"/>
                </a:solidFill>
              </a:rPr>
              <a:t>).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BFD281FC-CD72-49F6-854D-14A8B3DE91EB}"/>
              </a:ext>
            </a:extLst>
          </p:cNvPr>
          <p:cNvCxnSpPr/>
          <p:nvPr/>
        </p:nvCxnSpPr>
        <p:spPr>
          <a:xfrm>
            <a:off x="0" y="419942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6" descr="http://image.daldalmall.co.kr/data_daldalmall/goods/14344321497620/14344321497620_5.jpg">
            <a:extLst>
              <a:ext uri="{FF2B5EF4-FFF2-40B4-BE49-F238E27FC236}">
                <a16:creationId xmlns:a16="http://schemas.microsoft.com/office/drawing/2014/main" id="{1119D9E0-B8DB-44C9-B8F3-DC4573F66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36" b="56225"/>
          <a:stretch/>
        </p:blipFill>
        <p:spPr bwMode="auto">
          <a:xfrm>
            <a:off x="10126368" y="4237781"/>
            <a:ext cx="1974389" cy="140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https://postfiles.pstatic.net/MjAxNzA0MDFfMTQ1/MDAxNDkwOTc0NTA1Mzgw.OFtuDrCkA8yIUWn9BBPDYgPYeYK2x675xq5OyS9mxMEg.-vV4Ym1O--Q3rCJCfzm6x72QfREuNJr-uO_DyBUkODAg.JPEG.sonamuhangru/20170330_234820.jpg?type=w2">
            <a:extLst>
              <a:ext uri="{FF2B5EF4-FFF2-40B4-BE49-F238E27FC236}">
                <a16:creationId xmlns:a16="http://schemas.microsoft.com/office/drawing/2014/main" id="{428CC643-FCDC-444F-909F-8A7EE44CD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154" y="5588953"/>
            <a:ext cx="1373900" cy="12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9381A3-1AE0-1B48-E3A7-28EEC87A14D3}"/>
              </a:ext>
            </a:extLst>
          </p:cNvPr>
          <p:cNvSpPr txBox="1"/>
          <p:nvPr/>
        </p:nvSpPr>
        <p:spPr>
          <a:xfrm>
            <a:off x="3315789" y="4311541"/>
            <a:ext cx="3589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년</a:t>
            </a:r>
            <a:r>
              <a:rPr lang="en-US" altLang="ko-KR" sz="1200" dirty="0">
                <a:solidFill>
                  <a:srgbClr val="FF0000"/>
                </a:solidFill>
              </a:rPr>
              <a:t>/30</a:t>
            </a:r>
            <a:r>
              <a:rPr lang="ko-KR" altLang="en-US" sz="1200" dirty="0">
                <a:solidFill>
                  <a:srgbClr val="FF0000"/>
                </a:solidFill>
              </a:rPr>
              <a:t>억 투자하여 보존기간을 </a:t>
            </a:r>
            <a:r>
              <a:rPr lang="en-US" altLang="ko-KR" sz="1200" dirty="0">
                <a:solidFill>
                  <a:srgbClr val="FF0000"/>
                </a:solidFill>
              </a:rPr>
              <a:t>10</a:t>
            </a:r>
            <a:r>
              <a:rPr lang="ko-KR" altLang="en-US" sz="1200" dirty="0">
                <a:solidFill>
                  <a:srgbClr val="FF0000"/>
                </a:solidFill>
              </a:rPr>
              <a:t>주에서 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개월로 연장</a:t>
            </a:r>
          </a:p>
        </p:txBody>
      </p:sp>
    </p:spTree>
    <p:extLst>
      <p:ext uri="{BB962C8B-B14F-4D97-AF65-F5344CB8AC3E}">
        <p14:creationId xmlns:p14="http://schemas.microsoft.com/office/powerpoint/2010/main" val="3187303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롤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r>
              <a:rPr lang="ko-KR" altLang="en-US" dirty="0">
                <a:solidFill>
                  <a:srgbClr val="525252"/>
                </a:solidFill>
              </a:rPr>
              <a:t>코팅장치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102</a:t>
            </a:fld>
            <a:endParaRPr lang="ko-KR" altLang="en-US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9" y="1008637"/>
            <a:ext cx="431435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2022. 11. 17.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2019</a:t>
            </a:r>
            <a:r>
              <a:rPr lang="ko-KR" altLang="en-US" sz="1200" dirty="0"/>
              <a:t>후</a:t>
            </a:r>
            <a:r>
              <a:rPr lang="en-US" altLang="ko-KR" sz="1200" dirty="0"/>
              <a:t>11268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69012" y="1363747"/>
            <a:ext cx="120511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구 특허법</a:t>
            </a:r>
            <a:r>
              <a:rPr lang="en-US" altLang="ko-KR" sz="1200" dirty="0"/>
              <a:t>(2006. 3. 3. </a:t>
            </a:r>
            <a:r>
              <a:rPr lang="ko-KR" altLang="en-US" sz="1200" dirty="0"/>
              <a:t>법률 제</a:t>
            </a:r>
            <a:r>
              <a:rPr lang="en-US" altLang="ko-KR" sz="1200" dirty="0"/>
              <a:t>7871</a:t>
            </a:r>
            <a:r>
              <a:rPr lang="ko-KR" altLang="en-US" sz="1200" dirty="0"/>
              <a:t>호로 개정되기 전의 것</a:t>
            </a:r>
            <a:r>
              <a:rPr lang="en-US" altLang="ko-KR" sz="1200" dirty="0"/>
              <a:t>, </a:t>
            </a:r>
            <a:r>
              <a:rPr lang="ko-KR" altLang="en-US" sz="1200" dirty="0"/>
              <a:t>이하 같다</a:t>
            </a:r>
            <a:r>
              <a:rPr lang="en-US" altLang="ko-KR" sz="1200" dirty="0"/>
              <a:t>) </a:t>
            </a:r>
            <a:r>
              <a:rPr lang="ko-KR" altLang="en-US" sz="1200" dirty="0"/>
              <a:t>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본문은 발명을 한 사람 또는 그 승계인은 특허법에서 정하는 바에 따라 특허를 받을 수 있는 권리를 가진다고 규정하고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133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2</a:t>
            </a:r>
            <a:r>
              <a:rPr lang="ko-KR" altLang="en-US" sz="1200" dirty="0"/>
              <a:t>호는 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본문의 규정에 의한 특허를 받을 수 있는 권리를 가지지 아니한 사람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무권리자’라고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출원하여 </a:t>
            </a:r>
            <a:r>
              <a:rPr lang="ko-KR" altLang="en-US" sz="1200" dirty="0" err="1"/>
              <a:t>특허받은</a:t>
            </a:r>
            <a:r>
              <a:rPr lang="ko-KR" altLang="en-US" sz="1200" dirty="0"/>
              <a:t> 경우를 특허무효사유의 하나로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무권리자의 출원을 무효사유로 한 특허무효심판 및 그에 따른 </a:t>
            </a:r>
            <a:r>
              <a:rPr lang="ko-KR" altLang="en-US" sz="1200" dirty="0" err="1"/>
              <a:t>심결취소소송에서</a:t>
            </a:r>
            <a:r>
              <a:rPr lang="ko-KR" altLang="en-US" sz="1200" dirty="0"/>
              <a:t> </a:t>
            </a:r>
            <a:r>
              <a:rPr lang="ko-KR" altLang="en-US" sz="1200" dirty="0">
                <a:highlight>
                  <a:srgbClr val="FFFF00"/>
                </a:highlight>
              </a:rPr>
              <a:t>위와 같은 무효사유에 관한 증명책임은 무효라고 주장하는 당사자</a:t>
            </a:r>
            <a:r>
              <a:rPr lang="ko-KR" altLang="en-US" sz="1200" dirty="0"/>
              <a:t>에게 있다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특허법 제</a:t>
            </a:r>
            <a:r>
              <a:rPr lang="en-US" altLang="ko-KR" sz="1200" dirty="0"/>
              <a:t>2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호는 ‘</a:t>
            </a:r>
            <a:r>
              <a:rPr lang="ko-KR" altLang="en-US" sz="1200" dirty="0" err="1"/>
              <a:t>발명’이란</a:t>
            </a:r>
            <a:r>
              <a:rPr lang="ko-KR" altLang="en-US" sz="1200" dirty="0"/>
              <a:t> 자연법칙을 이용하여 기술적 사상을 고도로 창작한 것을 말한다고 규정하고 있으므로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33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항에서 정하고 있는 ‘발명을 한 자’는 바로 이러한 발명행위를 한 사람을 가리킨다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2011. 9. 29.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2009</a:t>
            </a:r>
            <a:r>
              <a:rPr lang="ko-KR" altLang="en-US" sz="1200" dirty="0"/>
              <a:t>후</a:t>
            </a:r>
            <a:r>
              <a:rPr lang="en-US" altLang="ko-KR" sz="1200" dirty="0"/>
              <a:t>2463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</a:t>
            </a:r>
          </a:p>
        </p:txBody>
      </p:sp>
      <p:sp>
        <p:nvSpPr>
          <p:cNvPr id="19" name="Line 5">
            <a:extLst>
              <a:ext uri="{FF2B5EF4-FFF2-40B4-BE49-F238E27FC236}">
                <a16:creationId xmlns:a16="http://schemas.microsoft.com/office/drawing/2014/main" id="{0BEAE8CA-D13F-4977-A54A-833036EDB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257" y="3737363"/>
            <a:ext cx="1155510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6D475-FAFA-4A69-BABE-E114DE552074}"/>
              </a:ext>
            </a:extLst>
          </p:cNvPr>
          <p:cNvSpPr txBox="1"/>
          <p:nvPr/>
        </p:nvSpPr>
        <p:spPr>
          <a:xfrm>
            <a:off x="353184" y="4065258"/>
            <a:ext cx="118432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모인대상발명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D8F240F-02EC-41B5-BA72-840A15F086A4}"/>
              </a:ext>
            </a:extLst>
          </p:cNvPr>
          <p:cNvSpPr/>
          <p:nvPr/>
        </p:nvSpPr>
        <p:spPr>
          <a:xfrm>
            <a:off x="867977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1B8DF3E-919A-4473-8D03-48A2196079D8}"/>
              </a:ext>
            </a:extLst>
          </p:cNvPr>
          <p:cNvCxnSpPr>
            <a:cxnSpLocks/>
            <a:stCxn id="20" idx="0"/>
            <a:endCxn id="23" idx="4"/>
          </p:cNvCxnSpPr>
          <p:nvPr/>
        </p:nvCxnSpPr>
        <p:spPr>
          <a:xfrm flipH="1" flipV="1">
            <a:off x="945346" y="3804767"/>
            <a:ext cx="1" cy="2604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1F400C-EA48-4876-9FDE-A22E6F3F4695}"/>
              </a:ext>
            </a:extLst>
          </p:cNvPr>
          <p:cNvSpPr txBox="1"/>
          <p:nvPr/>
        </p:nvSpPr>
        <p:spPr>
          <a:xfrm>
            <a:off x="174038" y="5250373"/>
            <a:ext cx="1542618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H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제작소에서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 제공한 패턴 필름 코팅장치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(1)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의 조립도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6B11F7C-C520-4C40-AE96-8A5FDCFC7CB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945347" y="4526923"/>
            <a:ext cx="0" cy="723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CB9059-D662-42C5-8B61-D5AB8BD8CA4F}"/>
              </a:ext>
            </a:extLst>
          </p:cNvPr>
          <p:cNvSpPr txBox="1"/>
          <p:nvPr/>
        </p:nvSpPr>
        <p:spPr>
          <a:xfrm>
            <a:off x="10832963" y="3998396"/>
            <a:ext cx="927209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대법원 판단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기각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2251259-CCB1-45F1-8B5F-A3238466F5DE}"/>
              </a:ext>
            </a:extLst>
          </p:cNvPr>
          <p:cNvSpPr/>
          <p:nvPr/>
        </p:nvSpPr>
        <p:spPr>
          <a:xfrm>
            <a:off x="1121716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86A1B5D-764D-4029-962B-2DCB60A496DF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H="1" flipV="1">
            <a:off x="11294530" y="3804767"/>
            <a:ext cx="2038" cy="193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9A7D604-C2BE-31E0-3297-813504BAD580}"/>
              </a:ext>
            </a:extLst>
          </p:cNvPr>
          <p:cNvSpPr txBox="1"/>
          <p:nvPr/>
        </p:nvSpPr>
        <p:spPr>
          <a:xfrm>
            <a:off x="5349541" y="3993538"/>
            <a:ext cx="781942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(2’)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BE0968F-66E6-BFA0-AD29-D07CDCD33C9E}"/>
              </a:ext>
            </a:extLst>
          </p:cNvPr>
          <p:cNvSpPr/>
          <p:nvPr/>
        </p:nvSpPr>
        <p:spPr>
          <a:xfrm>
            <a:off x="567093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C5A0AA3-8C28-28AB-4970-F69B903D970C}"/>
              </a:ext>
            </a:extLst>
          </p:cNvPr>
          <p:cNvCxnSpPr>
            <a:cxnSpLocks/>
            <a:stCxn id="49" idx="0"/>
            <a:endCxn id="54" idx="4"/>
          </p:cNvCxnSpPr>
          <p:nvPr/>
        </p:nvCxnSpPr>
        <p:spPr>
          <a:xfrm flipV="1">
            <a:off x="5740512" y="3804767"/>
            <a:ext cx="7788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414ACC8-CCFF-485F-5121-F755E341C9C8}"/>
              </a:ext>
            </a:extLst>
          </p:cNvPr>
          <p:cNvSpPr txBox="1"/>
          <p:nvPr/>
        </p:nvSpPr>
        <p:spPr>
          <a:xfrm>
            <a:off x="7703095" y="3993538"/>
            <a:ext cx="76912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973283-0482-DD8B-E06E-A70460ED2EC1}"/>
              </a:ext>
            </a:extLst>
          </p:cNvPr>
          <p:cNvSpPr/>
          <p:nvPr/>
        </p:nvSpPr>
        <p:spPr>
          <a:xfrm>
            <a:off x="8010287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BB86F4DA-C064-89BD-0111-B180DF2A2CED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8087656" y="380476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3F38F27-CC79-9ACB-E718-2F75DD20F241}"/>
              </a:ext>
            </a:extLst>
          </p:cNvPr>
          <p:cNvSpPr txBox="1"/>
          <p:nvPr/>
        </p:nvSpPr>
        <p:spPr>
          <a:xfrm>
            <a:off x="8526291" y="3993538"/>
            <a:ext cx="47430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5B410617-9714-0CBB-4051-61CCBC455620}"/>
              </a:ext>
            </a:extLst>
          </p:cNvPr>
          <p:cNvSpPr/>
          <p:nvPr/>
        </p:nvSpPr>
        <p:spPr>
          <a:xfrm>
            <a:off x="868638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DEBC522-9277-AFF5-0C19-47EFB6632897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V="1">
            <a:off x="8763445" y="3804767"/>
            <a:ext cx="305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4734ED-6BC6-8FFB-AF91-44C820E4F5CB}"/>
              </a:ext>
            </a:extLst>
          </p:cNvPr>
          <p:cNvSpPr txBox="1"/>
          <p:nvPr/>
        </p:nvSpPr>
        <p:spPr>
          <a:xfrm>
            <a:off x="1652240" y="4065258"/>
            <a:ext cx="118432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모인대상발명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E0D2369-5AC8-79A9-9A70-167C140017A6}"/>
              </a:ext>
            </a:extLst>
          </p:cNvPr>
          <p:cNvSpPr/>
          <p:nvPr/>
        </p:nvSpPr>
        <p:spPr>
          <a:xfrm>
            <a:off x="2161475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D472042-0C0E-8D4F-8941-E668D92FFF47}"/>
              </a:ext>
            </a:extLst>
          </p:cNvPr>
          <p:cNvCxnSpPr>
            <a:cxnSpLocks/>
          </p:cNvCxnSpPr>
          <p:nvPr/>
        </p:nvCxnSpPr>
        <p:spPr>
          <a:xfrm flipH="1" flipV="1">
            <a:off x="2244402" y="387648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30C8C3-93E6-AA4D-2209-014D63A417BC}"/>
              </a:ext>
            </a:extLst>
          </p:cNvPr>
          <p:cNvSpPr txBox="1"/>
          <p:nvPr/>
        </p:nvSpPr>
        <p:spPr>
          <a:xfrm>
            <a:off x="1422515" y="4603463"/>
            <a:ext cx="164377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H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제작소에서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 제공한 패턴 필름 코팅장치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개선품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)(2)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의  취급설명서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3F47DE8-74E1-C3E5-3254-5C1A42A945D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244403" y="4517958"/>
            <a:ext cx="0" cy="85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1958B0-2073-C4FB-F5E9-36865FE7E895}"/>
              </a:ext>
            </a:extLst>
          </p:cNvPr>
          <p:cNvSpPr txBox="1"/>
          <p:nvPr/>
        </p:nvSpPr>
        <p:spPr>
          <a:xfrm>
            <a:off x="3791538" y="3159741"/>
            <a:ext cx="104034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EA84AD3-BBA4-36A3-21C1-E6F7235C4AB2}"/>
              </a:ext>
            </a:extLst>
          </p:cNvPr>
          <p:cNvSpPr/>
          <p:nvPr/>
        </p:nvSpPr>
        <p:spPr>
          <a:xfrm>
            <a:off x="423434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2F4DA59-CED0-5B7D-2411-FC4DAED0D49F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4311711" y="3436740"/>
            <a:ext cx="1" cy="2066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59A791-6E7A-07A8-AD25-9C69E5C3E28C}"/>
              </a:ext>
            </a:extLst>
          </p:cNvPr>
          <p:cNvSpPr txBox="1"/>
          <p:nvPr/>
        </p:nvSpPr>
        <p:spPr>
          <a:xfrm>
            <a:off x="3540403" y="2514766"/>
            <a:ext cx="1542618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(A)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I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에게 제공한 프리즘 코팅기계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(3)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의 운영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보수설명서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7A5FEB5-3B21-908F-8013-6FAB50DF196D}"/>
              </a:ext>
            </a:extLst>
          </p:cNvPr>
          <p:cNvCxnSpPr>
            <a:cxnSpLocks/>
            <a:stCxn id="15" idx="0"/>
            <a:endCxn id="24" idx="2"/>
          </p:cNvCxnSpPr>
          <p:nvPr/>
        </p:nvCxnSpPr>
        <p:spPr>
          <a:xfrm flipV="1">
            <a:off x="4311712" y="3114930"/>
            <a:ext cx="0" cy="44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5173BA9-F58C-3AA2-4D42-F3D6AEE39FC3}"/>
              </a:ext>
            </a:extLst>
          </p:cNvPr>
          <p:cNvSpPr txBox="1"/>
          <p:nvPr/>
        </p:nvSpPr>
        <p:spPr>
          <a:xfrm>
            <a:off x="486126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2004.12.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경</a:t>
            </a:r>
            <a:endParaRPr lang="ko-KR" alt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F61A72-5C62-D292-FB5A-D464D49FA5A7}"/>
              </a:ext>
            </a:extLst>
          </p:cNvPr>
          <p:cNvSpPr txBox="1"/>
          <p:nvPr/>
        </p:nvSpPr>
        <p:spPr>
          <a:xfrm>
            <a:off x="1794147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2005.5.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경</a:t>
            </a:r>
            <a:endParaRPr lang="ko-KR" alt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257F6F-0A96-AF45-C235-0ACCE09F82C6}"/>
              </a:ext>
            </a:extLst>
          </p:cNvPr>
          <p:cNvSpPr txBox="1"/>
          <p:nvPr/>
        </p:nvSpPr>
        <p:spPr>
          <a:xfrm>
            <a:off x="3810381" y="3778840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2005.7.19.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경</a:t>
            </a:r>
            <a:endParaRPr lang="ko-KR" alt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8AAD02-358F-F3B4-2E28-43BBE1F2B17B}"/>
              </a:ext>
            </a:extLst>
          </p:cNvPr>
          <p:cNvSpPr txBox="1"/>
          <p:nvPr/>
        </p:nvSpPr>
        <p:spPr>
          <a:xfrm>
            <a:off x="5224055" y="3374748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2006.9.21.</a:t>
            </a:r>
            <a:endParaRPr lang="ko-KR" alt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31D72-0119-D356-04C0-26B62547E6E7}"/>
              </a:ext>
            </a:extLst>
          </p:cNvPr>
          <p:cNvSpPr txBox="1"/>
          <p:nvPr/>
        </p:nvSpPr>
        <p:spPr>
          <a:xfrm>
            <a:off x="6295428" y="3993538"/>
            <a:ext cx="48561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특허등록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6A24AAB-246E-133C-F28B-5A54B9955E2F}"/>
              </a:ext>
            </a:extLst>
          </p:cNvPr>
          <p:cNvSpPr/>
          <p:nvPr/>
        </p:nvSpPr>
        <p:spPr>
          <a:xfrm>
            <a:off x="646865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782E8E4-60EF-A738-615B-A2EE266C66F5}"/>
              </a:ext>
            </a:extLst>
          </p:cNvPr>
          <p:cNvCxnSpPr>
            <a:cxnSpLocks/>
            <a:stCxn id="35" idx="0"/>
            <a:endCxn id="36" idx="4"/>
          </p:cNvCxnSpPr>
          <p:nvPr/>
        </p:nvCxnSpPr>
        <p:spPr>
          <a:xfrm flipV="1">
            <a:off x="6538233" y="3804767"/>
            <a:ext cx="7788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912B4A2-076E-0068-BDEC-7BDAC96B0721}"/>
              </a:ext>
            </a:extLst>
          </p:cNvPr>
          <p:cNvSpPr txBox="1"/>
          <p:nvPr/>
        </p:nvSpPr>
        <p:spPr>
          <a:xfrm>
            <a:off x="6030741" y="3374748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2008.3.4.</a:t>
            </a:r>
            <a:endParaRPr lang="ko-KR" altLang="en-US" sz="10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1E0800-5622-F095-ECFA-DBE61B86DEEA}"/>
              </a:ext>
            </a:extLst>
          </p:cNvPr>
          <p:cNvSpPr txBox="1"/>
          <p:nvPr/>
        </p:nvSpPr>
        <p:spPr>
          <a:xfrm>
            <a:off x="9077733" y="3993538"/>
            <a:ext cx="61178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90F7C6B8-8DCE-1186-CD48-D6D8AE531707}"/>
              </a:ext>
            </a:extLst>
          </p:cNvPr>
          <p:cNvSpPr/>
          <p:nvPr/>
        </p:nvSpPr>
        <p:spPr>
          <a:xfrm>
            <a:off x="9306253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7F51310-4292-E53A-1ECE-2904CCA683B8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9383622" y="380476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596DEE3-8782-B38B-DA30-6D8D5F8B2341}"/>
              </a:ext>
            </a:extLst>
          </p:cNvPr>
          <p:cNvSpPr txBox="1"/>
          <p:nvPr/>
        </p:nvSpPr>
        <p:spPr>
          <a:xfrm>
            <a:off x="9768472" y="3993538"/>
            <a:ext cx="47430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CE267434-A721-618E-1A03-EBDF75E999D7}"/>
              </a:ext>
            </a:extLst>
          </p:cNvPr>
          <p:cNvSpPr/>
          <p:nvPr/>
        </p:nvSpPr>
        <p:spPr>
          <a:xfrm>
            <a:off x="992856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C5CD137-E184-2D72-E39C-76237B871E84}"/>
              </a:ext>
            </a:extLst>
          </p:cNvPr>
          <p:cNvCxnSpPr>
            <a:cxnSpLocks/>
            <a:stCxn id="67" idx="0"/>
            <a:endCxn id="71" idx="4"/>
          </p:cNvCxnSpPr>
          <p:nvPr/>
        </p:nvCxnSpPr>
        <p:spPr>
          <a:xfrm flipV="1">
            <a:off x="10005626" y="3804767"/>
            <a:ext cx="305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7F37F28-E01D-0AD8-958C-99266E811280}"/>
              </a:ext>
            </a:extLst>
          </p:cNvPr>
          <p:cNvSpPr txBox="1"/>
          <p:nvPr/>
        </p:nvSpPr>
        <p:spPr>
          <a:xfrm>
            <a:off x="10299152" y="3993538"/>
            <a:ext cx="47430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EADD974B-AB0B-07C9-74C8-2844F329B965}"/>
              </a:ext>
            </a:extLst>
          </p:cNvPr>
          <p:cNvSpPr/>
          <p:nvPr/>
        </p:nvSpPr>
        <p:spPr>
          <a:xfrm>
            <a:off x="10459242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60C96D68-7EDA-ACF4-0E3E-5F2CCEC6B87C}"/>
              </a:ext>
            </a:extLst>
          </p:cNvPr>
          <p:cNvCxnSpPr>
            <a:cxnSpLocks/>
            <a:stCxn id="86" idx="0"/>
            <a:endCxn id="90" idx="4"/>
          </p:cNvCxnSpPr>
          <p:nvPr/>
        </p:nvCxnSpPr>
        <p:spPr>
          <a:xfrm flipV="1">
            <a:off x="10536306" y="3804767"/>
            <a:ext cx="305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EED5A369-5FDF-A8A4-A64F-6374427227CA}"/>
              </a:ext>
            </a:extLst>
          </p:cNvPr>
          <p:cNvSpPr txBox="1"/>
          <p:nvPr/>
        </p:nvSpPr>
        <p:spPr>
          <a:xfrm>
            <a:off x="6911826" y="3993538"/>
            <a:ext cx="73912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G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지분양도</a:t>
            </a: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CF122DC5-DC8A-68A9-8A89-3DE4D3334531}"/>
              </a:ext>
            </a:extLst>
          </p:cNvPr>
          <p:cNvSpPr/>
          <p:nvPr/>
        </p:nvSpPr>
        <p:spPr>
          <a:xfrm>
            <a:off x="7211809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D344759-0B8E-13A6-4B06-6966F251676D}"/>
              </a:ext>
            </a:extLst>
          </p:cNvPr>
          <p:cNvCxnSpPr>
            <a:cxnSpLocks/>
            <a:stCxn id="97" idx="0"/>
            <a:endCxn id="98" idx="4"/>
          </p:cNvCxnSpPr>
          <p:nvPr/>
        </p:nvCxnSpPr>
        <p:spPr>
          <a:xfrm flipV="1">
            <a:off x="7281390" y="3804767"/>
            <a:ext cx="7788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A58A046-8911-DC49-B834-6FB7F88A1E7A}"/>
              </a:ext>
            </a:extLst>
          </p:cNvPr>
          <p:cNvSpPr txBox="1"/>
          <p:nvPr/>
        </p:nvSpPr>
        <p:spPr>
          <a:xfrm>
            <a:off x="6773898" y="3374748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2010.7.19.</a:t>
            </a:r>
            <a:endParaRPr lang="ko-KR" altLang="en-US" sz="1050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A2652E66-F5AA-A6E8-644D-0F17986B08CF}"/>
              </a:ext>
            </a:extLst>
          </p:cNvPr>
          <p:cNvSpPr/>
          <p:nvPr/>
        </p:nvSpPr>
        <p:spPr>
          <a:xfrm>
            <a:off x="3476151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0B75A69-D8A5-3DAB-F3B9-0063E0C5B2C4}"/>
              </a:ext>
            </a:extLst>
          </p:cNvPr>
          <p:cNvCxnSpPr>
            <a:cxnSpLocks/>
            <a:stCxn id="108" idx="0"/>
            <a:endCxn id="106" idx="4"/>
          </p:cNvCxnSpPr>
          <p:nvPr/>
        </p:nvCxnSpPr>
        <p:spPr>
          <a:xfrm flipH="1" flipV="1">
            <a:off x="3553520" y="3804767"/>
            <a:ext cx="1" cy="14666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FA070D65-583F-A691-4C71-83FB7D70F832}"/>
              </a:ext>
            </a:extLst>
          </p:cNvPr>
          <p:cNvSpPr txBox="1"/>
          <p:nvPr/>
        </p:nvSpPr>
        <p:spPr>
          <a:xfrm>
            <a:off x="2875695" y="5271425"/>
            <a:ext cx="1355652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A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비밀유지계약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(2005.6 </a:t>
            </a:r>
            <a:r>
              <a:rPr lang="ko-KR" altLang="en-US" sz="110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정보개시</a:t>
            </a:r>
            <a:r>
              <a:rPr lang="en-US" altLang="ko-KR" sz="110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highlight>
                <a:srgbClr val="00FF00"/>
              </a:highlight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56F3F5A-5744-5885-D3E1-28F44F1565C8}"/>
              </a:ext>
            </a:extLst>
          </p:cNvPr>
          <p:cNvSpPr txBox="1"/>
          <p:nvPr/>
        </p:nvSpPr>
        <p:spPr>
          <a:xfrm>
            <a:off x="3103265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2005.7.1</a:t>
            </a:r>
            <a:endParaRPr lang="ko-KR" altLang="en-US" sz="1050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788D5A2D-EC75-59B1-D3CE-B5AEEC3A4FA5}"/>
              </a:ext>
            </a:extLst>
          </p:cNvPr>
          <p:cNvSpPr/>
          <p:nvPr/>
        </p:nvSpPr>
        <p:spPr>
          <a:xfrm>
            <a:off x="4891097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FF976161-0017-EA93-FFBB-1B2BDB7F36DA}"/>
              </a:ext>
            </a:extLst>
          </p:cNvPr>
          <p:cNvCxnSpPr>
            <a:cxnSpLocks/>
            <a:stCxn id="124" idx="0"/>
            <a:endCxn id="122" idx="4"/>
          </p:cNvCxnSpPr>
          <p:nvPr/>
        </p:nvCxnSpPr>
        <p:spPr>
          <a:xfrm flipH="1" flipV="1">
            <a:off x="4968466" y="3804767"/>
            <a:ext cx="1" cy="7389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4573DAF-7BC4-5F23-439E-D52B410258B2}"/>
              </a:ext>
            </a:extLst>
          </p:cNvPr>
          <p:cNvSpPr txBox="1"/>
          <p:nvPr/>
        </p:nvSpPr>
        <p:spPr>
          <a:xfrm>
            <a:off x="4481239" y="4543741"/>
            <a:ext cx="974456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A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G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코팅기계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납품계약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51E49EB-2A6D-82FB-66BA-0BB179551B1B}"/>
              </a:ext>
            </a:extLst>
          </p:cNvPr>
          <p:cNvSpPr txBox="1"/>
          <p:nvPr/>
        </p:nvSpPr>
        <p:spPr>
          <a:xfrm>
            <a:off x="4518211" y="3374748"/>
            <a:ext cx="929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2005.8.1</a:t>
            </a:r>
            <a:endParaRPr lang="ko-KR" altLang="en-US" sz="1050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321B93B-8A8D-DA72-E4F3-BBED6519ED97}"/>
              </a:ext>
            </a:extLst>
          </p:cNvPr>
          <p:cNvSpPr/>
          <p:nvPr/>
        </p:nvSpPr>
        <p:spPr>
          <a:xfrm>
            <a:off x="1525565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95C33F1-AD45-1B7A-5077-9E8147BBC611}"/>
              </a:ext>
            </a:extLst>
          </p:cNvPr>
          <p:cNvCxnSpPr>
            <a:cxnSpLocks/>
            <a:stCxn id="135" idx="2"/>
            <a:endCxn id="133" idx="0"/>
          </p:cNvCxnSpPr>
          <p:nvPr/>
        </p:nvCxnSpPr>
        <p:spPr>
          <a:xfrm flipH="1">
            <a:off x="1602934" y="3098054"/>
            <a:ext cx="1" cy="5453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E8F9D85A-E428-10C7-C75E-95453CAF5A07}"/>
              </a:ext>
            </a:extLst>
          </p:cNvPr>
          <p:cNvSpPr txBox="1"/>
          <p:nvPr/>
        </p:nvSpPr>
        <p:spPr>
          <a:xfrm>
            <a:off x="1177947" y="2667167"/>
            <a:ext cx="849976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(A)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I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납품계약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7BEA9AA-7E3A-F4C4-FADA-75A75375197E}"/>
              </a:ext>
            </a:extLst>
          </p:cNvPr>
          <p:cNvSpPr txBox="1"/>
          <p:nvPr/>
        </p:nvSpPr>
        <p:spPr>
          <a:xfrm>
            <a:off x="1101604" y="3778840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2005.3.9</a:t>
            </a:r>
            <a:endParaRPr lang="ko-KR" altLang="en-US" sz="1050" dirty="0">
              <a:highlight>
                <a:srgbClr val="00FF00"/>
              </a:highlight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95DD681A-3305-48F8-FBD8-80301FF47585}"/>
              </a:ext>
            </a:extLst>
          </p:cNvPr>
          <p:cNvSpPr/>
          <p:nvPr/>
        </p:nvSpPr>
        <p:spPr>
          <a:xfrm>
            <a:off x="2843268" y="36434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CFA7E383-09B4-C62D-B86C-9A699A80C54E}"/>
              </a:ext>
            </a:extLst>
          </p:cNvPr>
          <p:cNvCxnSpPr>
            <a:cxnSpLocks/>
            <a:stCxn id="141" idx="2"/>
            <a:endCxn id="139" idx="0"/>
          </p:cNvCxnSpPr>
          <p:nvPr/>
        </p:nvCxnSpPr>
        <p:spPr>
          <a:xfrm flipH="1">
            <a:off x="2920637" y="2928777"/>
            <a:ext cx="1" cy="71465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14AE476A-93BF-F87D-F836-96320BA157CE}"/>
              </a:ext>
            </a:extLst>
          </p:cNvPr>
          <p:cNvSpPr txBox="1"/>
          <p:nvPr/>
        </p:nvSpPr>
        <p:spPr>
          <a:xfrm>
            <a:off x="2495650" y="2667167"/>
            <a:ext cx="84997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납품완료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30308EF-646E-1B74-3021-7021A733024C}"/>
              </a:ext>
            </a:extLst>
          </p:cNvPr>
          <p:cNvSpPr txBox="1"/>
          <p:nvPr/>
        </p:nvSpPr>
        <p:spPr>
          <a:xfrm>
            <a:off x="2419307" y="3778840"/>
            <a:ext cx="10305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highlight>
                  <a:srgbClr val="00FF00"/>
                </a:highlight>
                <a:latin typeface="+mn-ea"/>
              </a:rPr>
              <a:t>2005.5.15</a:t>
            </a:r>
            <a:endParaRPr lang="ko-KR" altLang="en-US" sz="1050" dirty="0">
              <a:highlight>
                <a:srgbClr val="00FF00"/>
              </a:highlight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41CECA7-A0F3-7852-359F-E0155C1CD18F}"/>
              </a:ext>
            </a:extLst>
          </p:cNvPr>
          <p:cNvSpPr txBox="1"/>
          <p:nvPr/>
        </p:nvSpPr>
        <p:spPr>
          <a:xfrm>
            <a:off x="165033" y="6099893"/>
            <a:ext cx="563808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H</a:t>
            </a:r>
            <a:r>
              <a:rPr lang="ko-KR" altLang="en-US" dirty="0"/>
              <a:t>와 </a:t>
            </a:r>
            <a:r>
              <a:rPr lang="en-US" altLang="ko-KR" dirty="0"/>
              <a:t>G </a:t>
            </a:r>
            <a:r>
              <a:rPr lang="ko-KR" altLang="en-US" dirty="0"/>
              <a:t>사이에 비밀유지계약 없지만</a:t>
            </a:r>
            <a:r>
              <a:rPr lang="en-US" altLang="ko-KR" dirty="0"/>
              <a:t>, </a:t>
            </a:r>
            <a:r>
              <a:rPr lang="en-US" altLang="ko-KR" dirty="0">
                <a:highlight>
                  <a:srgbClr val="FFFF00"/>
                </a:highlight>
              </a:rPr>
              <a:t>G</a:t>
            </a:r>
            <a:r>
              <a:rPr lang="ko-KR" altLang="en-US" dirty="0">
                <a:highlight>
                  <a:srgbClr val="FFFF00"/>
                </a:highlight>
              </a:rPr>
              <a:t>가 비밀로 관리</a:t>
            </a:r>
            <a:r>
              <a:rPr lang="ko-KR" altLang="en-US" dirty="0"/>
              <a:t>하여 </a:t>
            </a:r>
            <a:endParaRPr lang="en-US" altLang="ko-KR" dirty="0"/>
          </a:p>
          <a:p>
            <a:r>
              <a:rPr lang="ko-KR" altLang="en-US" dirty="0"/>
              <a:t>불특정인이 인식할 수 있는 상태가 아님</a:t>
            </a:r>
            <a:r>
              <a:rPr lang="en-US" altLang="ko-KR" dirty="0"/>
              <a:t>, </a:t>
            </a:r>
            <a:r>
              <a:rPr lang="ko-KR" altLang="en-US" dirty="0"/>
              <a:t>따라서 공지</a:t>
            </a:r>
            <a:r>
              <a:rPr lang="en-US" altLang="ko-KR" dirty="0"/>
              <a:t>X</a:t>
            </a:r>
            <a:endParaRPr lang="ko-KR" altLang="en-US" dirty="0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0017C685-4C22-17A6-0B77-46B3FDA7FA02}"/>
              </a:ext>
            </a:extLst>
          </p:cNvPr>
          <p:cNvCxnSpPr>
            <a:endCxn id="26" idx="3"/>
          </p:cNvCxnSpPr>
          <p:nvPr/>
        </p:nvCxnSpPr>
        <p:spPr>
          <a:xfrm flipH="1" flipV="1">
            <a:off x="1716656" y="5550455"/>
            <a:ext cx="311267" cy="54943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93107F52-2E66-4254-7C12-468EA018A320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027923" y="5203627"/>
            <a:ext cx="216480" cy="89626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5ECCE08-1B40-243B-8842-A139CD978976}"/>
              </a:ext>
            </a:extLst>
          </p:cNvPr>
          <p:cNvSpPr txBox="1"/>
          <p:nvPr/>
        </p:nvSpPr>
        <p:spPr>
          <a:xfrm>
            <a:off x="5487117" y="2551245"/>
            <a:ext cx="5730041" cy="64633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만 비밀유지의무를 부담하고</a:t>
            </a:r>
            <a:r>
              <a:rPr lang="en-US" altLang="ko-KR" dirty="0"/>
              <a:t>, I</a:t>
            </a:r>
            <a:r>
              <a:rPr lang="ko-KR" altLang="en-US" dirty="0"/>
              <a:t>는 비밀유지의무를 부담하지 않을 뿐더러 </a:t>
            </a:r>
            <a:r>
              <a:rPr lang="en-US" altLang="ko-KR" dirty="0">
                <a:highlight>
                  <a:srgbClr val="FFFF00"/>
                </a:highlight>
              </a:rPr>
              <a:t>I</a:t>
            </a:r>
            <a:r>
              <a:rPr lang="ko-KR" altLang="en-US" dirty="0">
                <a:highlight>
                  <a:srgbClr val="FFFF00"/>
                </a:highlight>
              </a:rPr>
              <a:t>가 비밀로 관리하지 않음</a:t>
            </a:r>
            <a:r>
              <a:rPr lang="en-US" altLang="ko-KR" dirty="0"/>
              <a:t>, </a:t>
            </a:r>
            <a:r>
              <a:rPr lang="ko-KR" altLang="en-US" dirty="0"/>
              <a:t>따라서 공지 </a:t>
            </a:r>
            <a:r>
              <a:rPr lang="en-US" altLang="ko-KR" dirty="0"/>
              <a:t>O</a:t>
            </a:r>
            <a:endParaRPr lang="ko-KR" altLang="en-US" dirty="0"/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9D65985A-D02D-830F-F4EE-CFCABEDF083F}"/>
              </a:ext>
            </a:extLst>
          </p:cNvPr>
          <p:cNvCxnSpPr>
            <a:cxnSpLocks/>
            <a:stCxn id="152" idx="1"/>
            <a:endCxn id="24" idx="3"/>
          </p:cNvCxnSpPr>
          <p:nvPr/>
        </p:nvCxnSpPr>
        <p:spPr>
          <a:xfrm flipH="1" flipV="1">
            <a:off x="5083021" y="2814848"/>
            <a:ext cx="404096" cy="59563"/>
          </a:xfrm>
          <a:prstGeom prst="straightConnector1">
            <a:avLst/>
          </a:prstGeom>
          <a:ln w="28575">
            <a:solidFill>
              <a:schemeClr val="accent4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F0033D8-3C84-5451-D0F5-C9CBA9213B1A}"/>
              </a:ext>
            </a:extLst>
          </p:cNvPr>
          <p:cNvCxnSpPr/>
          <p:nvPr/>
        </p:nvCxnSpPr>
        <p:spPr>
          <a:xfrm>
            <a:off x="0" y="239052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231E1F0-A0BC-3D52-6670-57A535E8BCC0}"/>
              </a:ext>
            </a:extLst>
          </p:cNvPr>
          <p:cNvSpPr txBox="1"/>
          <p:nvPr/>
        </p:nvSpPr>
        <p:spPr>
          <a:xfrm>
            <a:off x="5942923" y="4828353"/>
            <a:ext cx="5817250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ko-KR" altLang="en-US" sz="1200" b="0" i="0" u="none" strike="noStrike" baseline="0" dirty="0">
                <a:latin typeface="CourtBT"/>
              </a:rPr>
              <a:t>선행발명 </a:t>
            </a:r>
            <a:r>
              <a:rPr lang="en-US" altLang="ko-KR" sz="1200" b="0" i="0" u="none" strike="noStrike" baseline="0" dirty="0">
                <a:latin typeface="CourtBT"/>
              </a:rPr>
              <a:t>2</a:t>
            </a:r>
            <a:r>
              <a:rPr lang="ko-KR" altLang="en-US" sz="1200" b="0" i="0" u="none" strike="noStrike" baseline="0" dirty="0">
                <a:latin typeface="CourtBT"/>
              </a:rPr>
              <a:t>와 실질적으로 동일하다고 볼 여지가 있으나</a:t>
            </a:r>
            <a:r>
              <a:rPr lang="en-US" altLang="ko-KR" sz="1200" b="0" i="0" u="none" strike="noStrike" baseline="0" dirty="0">
                <a:latin typeface="CourtBT"/>
              </a:rPr>
              <a:t>, A</a:t>
            </a:r>
            <a:r>
              <a:rPr lang="ko-KR" altLang="en-US" sz="1200" b="0" i="0" u="none" strike="noStrike" baseline="0" dirty="0">
                <a:latin typeface="CourtBT"/>
              </a:rPr>
              <a:t>가 </a:t>
            </a:r>
            <a:r>
              <a:rPr lang="en-US" altLang="ko-KR" sz="1200" b="0" i="0" u="none" strike="noStrike" baseline="0" dirty="0">
                <a:latin typeface="CourtBT"/>
              </a:rPr>
              <a:t>G</a:t>
            </a:r>
            <a:r>
              <a:rPr lang="ko-KR" altLang="en-US" sz="1200" b="0" i="0" u="none" strike="noStrike" baseline="0" dirty="0">
                <a:latin typeface="CourtBT"/>
              </a:rPr>
              <a:t>로부터 선행발명 </a:t>
            </a:r>
            <a:r>
              <a:rPr lang="en-US" altLang="ko-KR" sz="1200" b="0" i="0" u="none" strike="noStrike" baseline="0" dirty="0">
                <a:latin typeface="CourtBT"/>
              </a:rPr>
              <a:t>2</a:t>
            </a:r>
            <a:r>
              <a:rPr lang="ko-KR" altLang="en-US" sz="1200" b="0" i="0" u="none" strike="noStrike" baseline="0" dirty="0">
                <a:latin typeface="CourtBT"/>
              </a:rPr>
              <a:t>를 </a:t>
            </a:r>
            <a:r>
              <a:rPr lang="ko-KR" altLang="en-US" sz="1200" dirty="0">
                <a:latin typeface="CourtBT"/>
              </a:rPr>
              <a:t>제</a:t>
            </a:r>
            <a:r>
              <a:rPr lang="ko-KR" altLang="en-US" sz="1200" b="0" i="0" u="none" strike="noStrike" baseline="0" dirty="0">
                <a:latin typeface="CourtBT"/>
              </a:rPr>
              <a:t>공받았다 하더라도 그 전에 특허발명을 자체적으로 완성하였다</a:t>
            </a:r>
            <a:r>
              <a:rPr lang="en-US" altLang="ko-KR" sz="1200" b="0" i="0" u="none" strike="noStrike" baseline="0" dirty="0">
                <a:latin typeface="CourtBT"/>
              </a:rPr>
              <a:t>. </a:t>
            </a:r>
            <a:r>
              <a:rPr lang="ko-KR" altLang="en-US" sz="1200" b="0" i="0" u="none" strike="noStrike" baseline="0" dirty="0">
                <a:latin typeface="CourtBT"/>
              </a:rPr>
              <a:t>피고가 제출한 자료만으로는 </a:t>
            </a:r>
            <a:r>
              <a:rPr lang="en-US" altLang="ko-KR" sz="1200" b="0" i="0" u="none" strike="noStrike" baseline="0" dirty="0">
                <a:latin typeface="CourtBT"/>
              </a:rPr>
              <a:t>A</a:t>
            </a:r>
            <a:r>
              <a:rPr lang="ko-KR" altLang="en-US" sz="1200" dirty="0">
                <a:latin typeface="CourtBT"/>
              </a:rPr>
              <a:t>가 선행발명 </a:t>
            </a:r>
            <a:r>
              <a:rPr lang="en-US" altLang="ko-KR" sz="1200" dirty="0">
                <a:latin typeface="CourtBT"/>
              </a:rPr>
              <a:t>1</a:t>
            </a:r>
            <a:r>
              <a:rPr lang="ko-KR" altLang="en-US" sz="1200" dirty="0">
                <a:latin typeface="CourtBT"/>
              </a:rPr>
              <a:t> 또는 </a:t>
            </a:r>
            <a:r>
              <a:rPr lang="en-US" altLang="ko-KR" sz="1200" dirty="0">
                <a:latin typeface="CourtBT"/>
              </a:rPr>
              <a:t>2</a:t>
            </a:r>
            <a:r>
              <a:rPr lang="ko-KR" altLang="en-US" sz="1200" dirty="0">
                <a:latin typeface="CourtBT"/>
              </a:rPr>
              <a:t>를 모방하여 정당한 권한 없이 무단으로 이 사건 특허발명을 출원하였다는 점이 증명되었다고 보기 어렵다</a:t>
            </a:r>
            <a:r>
              <a:rPr lang="en-US" altLang="ko-KR" sz="1200" dirty="0">
                <a:latin typeface="CourtBT"/>
              </a:rPr>
              <a:t>.</a:t>
            </a:r>
            <a:endParaRPr lang="en-US" altLang="ko-KR" sz="1200" b="0" i="0" u="none" strike="noStrike" baseline="0" dirty="0">
              <a:latin typeface="CourtBT"/>
            </a:endParaRPr>
          </a:p>
          <a:p>
            <a:pPr marL="228600" indent="-228600" algn="l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선행발명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1, 2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는 출원 전에 공지되지 않았고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선행발명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출원 전 공지되었으나 선행발명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의하여 신규성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진보성이 부정되지 않는다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cxnSp>
        <p:nvCxnSpPr>
          <p:cNvPr id="158" name="연결선: 꺾임 157">
            <a:extLst>
              <a:ext uri="{FF2B5EF4-FFF2-40B4-BE49-F238E27FC236}">
                <a16:creationId xmlns:a16="http://schemas.microsoft.com/office/drawing/2014/main" id="{A70AE49C-B0F1-3D2B-65E7-4F87FD0E8818}"/>
              </a:ext>
            </a:extLst>
          </p:cNvPr>
          <p:cNvCxnSpPr>
            <a:cxnSpLocks/>
            <a:stCxn id="39" idx="2"/>
            <a:endCxn id="157" idx="0"/>
          </p:cNvCxnSpPr>
          <p:nvPr/>
        </p:nvCxnSpPr>
        <p:spPr>
          <a:xfrm rot="5400000">
            <a:off x="9889912" y="3421697"/>
            <a:ext cx="368292" cy="2445020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2697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공동발명자에 해당하는 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103</a:t>
            </a:fld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17271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공동발명이란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명 이상의 자연인이 실질적으로 협력하여 함께 완성한 발명</a:t>
            </a:r>
            <a:r>
              <a:rPr lang="ko-KR" altLang="en-US" sz="1400" dirty="0">
                <a:solidFill>
                  <a:schemeClr val="tx2"/>
                </a:solidFill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공동발명자가 되기 위해서는 이루는 기술적 사상의 창작에 실질적 협력하였다는 객관적 요건과 상호 협력하여 발명행위를 수행한다는 주관적 요건이 필요하다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실질적 협력이란 발명의 착상단계에서 구체화하는 단계에 실질적으로 관여하는 것을 의미한다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단순한 보조자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관리자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위탁자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자본주 등은 공동발명자가 되지 못한다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52147"/>
              </p:ext>
            </p:extLst>
          </p:nvPr>
        </p:nvGraphicFramePr>
        <p:xfrm>
          <a:off x="372533" y="1815625"/>
          <a:ext cx="11446934" cy="2411984"/>
        </p:xfrm>
        <a:graphic>
          <a:graphicData uri="http://schemas.openxmlformats.org/drawingml/2006/table">
            <a:tbl>
              <a:tblPr/>
              <a:tblGrid>
                <a:gridCol w="572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3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96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발명자에 해당하는 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발명자에 해당하지 아니한 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70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어떤 문제를 해결하기 위한 기술적 수단을 착상한 자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타인의 착상에 의거 연구를 하여 발명을 완성하게 한 자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타인의 착상에 대하여 구체화하는 기술적 수단을 부가하여 발명을 완성한 자</a:t>
                      </a:r>
                    </a:p>
                    <a:p>
                      <a:pPr marL="179388" marR="17780" indent="-1793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구체화하기 위해서 약간 불완전한 착상을 하고 타인에게 일반적인 지식의 조언 또는 지도를 얻어 발명을 완성한 자</a:t>
                      </a: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타인의 발명에 힌트를 얻고 다시 그 발명의 범위를 확대하는 발명을 한 자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marR="17780" indent="-1793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화학발명의 경우 실제 실험을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통하여 발명을 구체화하고 완성하는 데 실질적으로 기여한 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17780" indent="-1117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발명자에게 자금을 제공하거나 설비이용의 편의를 주는 등 발명의 완성을 원조하거나 위탁한 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단순후원자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위탁자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희망조건만 제시하고 그것을 해결할 착상을 제공하지 아니한 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단순 관리자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타인이 제시한 착상 속에서 실용성이 있을 것을 선택한 것에 지나지 아니한 자</a:t>
                      </a:r>
                    </a:p>
                    <a:p>
                      <a:pPr marL="106680" marR="17780" indent="-1066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그 발명에 관하여 착상만 하고 구체화하는 과정에서 실질적으로 관여하지 아니한 자</a:t>
                      </a:r>
                    </a:p>
                    <a:p>
                      <a:pPr marL="118110" marR="17780" indent="-11811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발명의 과정에서 연구자의 지시로 단순히 데이터를 정리하거나 제시된 제도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실험 등을 한 것에 지니지 아니한 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단순보조자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단지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일반 지식의 조언 또는 제시를 주기만 한 자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구성을 변경했지만 기술적 사상의 창작에 기여하지 않은 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 bwMode="auto">
          <a:xfrm>
            <a:off x="348791" y="4663101"/>
            <a:ext cx="11519555" cy="1986212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sz="1200" dirty="0"/>
              <a:t>공동발명자가 되기 위해서는 발명의 완성을 위하여 실질적으로 상호 협력하는 관계가 있어야 하므로</a:t>
            </a:r>
            <a:r>
              <a:rPr lang="en-US" altLang="ko-KR" sz="1200" dirty="0"/>
              <a:t>, ⅰ) </a:t>
            </a:r>
            <a:r>
              <a:rPr lang="ko-KR" altLang="en-US" sz="1200" dirty="0"/>
              <a:t>단순히 발명에 대한 기본적인 과제와 아이디어만을 제공하였거나</a:t>
            </a:r>
            <a:r>
              <a:rPr lang="en-US" altLang="ko-KR" sz="1200" dirty="0"/>
              <a:t>, ⅱ) </a:t>
            </a:r>
            <a:r>
              <a:rPr lang="ko-KR" altLang="en-US" sz="1200" dirty="0"/>
              <a:t>연구자를 일반적으로 관리하였거나</a:t>
            </a:r>
            <a:r>
              <a:rPr lang="en-US" altLang="ko-KR" sz="1200" dirty="0"/>
              <a:t>, ⅲ) </a:t>
            </a:r>
            <a:r>
              <a:rPr lang="ko-KR" altLang="en-US" sz="1200" dirty="0"/>
              <a:t>연구자의 지시로 데이터의 정리와 실험만을 하였거나</a:t>
            </a:r>
            <a:r>
              <a:rPr lang="en-US" altLang="ko-KR" sz="1200" dirty="0"/>
              <a:t>, ⅳ) </a:t>
            </a:r>
            <a:r>
              <a:rPr lang="ko-KR" altLang="en-US" sz="1200" dirty="0"/>
              <a:t>자금⋅설비 등을 제공하여 발명의 완성을 후원⋅위탁하였을 뿐인 정도 등에 그치지 않고</a:t>
            </a:r>
            <a:r>
              <a:rPr lang="en-US" altLang="ko-KR" sz="1200" dirty="0"/>
              <a:t>, ⅰ) </a:t>
            </a:r>
            <a:r>
              <a:rPr lang="ko-KR" altLang="en-US" sz="1200" dirty="0"/>
              <a:t>발명의 기술적 과제를 해결하기 위한 구체적인 착상을 새롭게 제시⋅부가⋅보완하거나</a:t>
            </a:r>
            <a:r>
              <a:rPr lang="en-US" altLang="ko-KR" sz="1200" dirty="0"/>
              <a:t>, ⅱ) </a:t>
            </a:r>
            <a:r>
              <a:rPr lang="ko-KR" altLang="en-US" sz="1200" dirty="0"/>
              <a:t>실험 등을 통하여 새로운 착상을 구체화하거나</a:t>
            </a:r>
            <a:r>
              <a:rPr lang="en-US" altLang="ko-KR" sz="1200" dirty="0"/>
              <a:t>, ⅲ) </a:t>
            </a:r>
            <a:r>
              <a:rPr lang="ko-KR" altLang="en-US" sz="1200" dirty="0"/>
              <a:t>발명의 목적 및 효과를 달성하기 위한 구체적인 수단과 방법의 제공 또는 구체적인 조언⋅지도를 통하여 발명을 가능하게 한 경우 등과 같이 기술적 사상의 창작행위에 실질적으로 기여하기에 이르러야 공동발명자에 해당한다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이른바 실험의 과학이라고 하는 </a:t>
            </a:r>
            <a:r>
              <a:rPr lang="ko-KR" altLang="en-US" sz="1200" dirty="0">
                <a:solidFill>
                  <a:srgbClr val="FF0000"/>
                </a:solidFill>
              </a:rPr>
              <a:t>화학발명의 경우</a:t>
            </a:r>
            <a:r>
              <a:rPr lang="ko-KR" altLang="en-US" sz="1200" dirty="0"/>
              <a:t>에는 그 발명 내용과 기술수준에 따라 차이가 있을 수는 있지만 예측가능성 내지 실현가능성이 현저히 부족하여 실험데이터가 제시된 </a:t>
            </a:r>
            <a:r>
              <a:rPr lang="ko-KR" altLang="en-US" sz="1200" dirty="0" err="1"/>
              <a:t>실험예가</a:t>
            </a:r>
            <a:r>
              <a:rPr lang="ko-KR" altLang="en-US" sz="1200" dirty="0"/>
              <a:t> 없으면 완성된 발명으로 보기 어려운 경우가 많이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그와 같은 경우에는 </a:t>
            </a:r>
            <a:r>
              <a:rPr lang="ko-KR" altLang="en-US" sz="1200" dirty="0">
                <a:solidFill>
                  <a:srgbClr val="FF0000"/>
                </a:solidFill>
              </a:rPr>
              <a:t>실제 실험을 통하여 발명을 구체화하고 완성하는 데 실질적으로 기여하였는지의 관점</a:t>
            </a:r>
            <a:r>
              <a:rPr lang="ko-KR" altLang="en-US" sz="1200" dirty="0"/>
              <a:t>에서 공동발명자인지를 결정하여야 한다</a:t>
            </a: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348791" y="4372785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/>
            <a:r>
              <a:rPr lang="ko-KR" altLang="en-US" sz="1200" dirty="0"/>
              <a:t>대법원 </a:t>
            </a:r>
            <a:r>
              <a:rPr lang="en-US" altLang="ko-KR" sz="1200" dirty="0"/>
              <a:t>2011. 7. 28.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2009</a:t>
            </a:r>
            <a:r>
              <a:rPr lang="ko-KR" altLang="en-US" sz="1200" dirty="0"/>
              <a:t>다</a:t>
            </a:r>
            <a:r>
              <a:rPr lang="en-US" altLang="ko-KR" sz="1200" dirty="0"/>
              <a:t>75178</a:t>
            </a:r>
            <a:r>
              <a:rPr lang="ko-KR" altLang="en-US" sz="1200" dirty="0"/>
              <a:t> 판결</a:t>
            </a:r>
            <a:r>
              <a:rPr lang="en-US" altLang="ko-KR" sz="1200" dirty="0"/>
              <a:t>【</a:t>
            </a:r>
            <a:r>
              <a:rPr lang="ko-KR" altLang="en-US" sz="1200" dirty="0"/>
              <a:t>직무 발명 보상금</a:t>
            </a:r>
            <a:r>
              <a:rPr lang="en-US" altLang="ko-KR" sz="1200" dirty="0"/>
              <a:t>】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53951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공동발명자의 법적 취급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A501A-DE38-4C46-AA95-C34350E97086}"/>
              </a:ext>
            </a:extLst>
          </p:cNvPr>
          <p:cNvSpPr txBox="1"/>
          <p:nvPr/>
        </p:nvSpPr>
        <p:spPr>
          <a:xfrm>
            <a:off x="1613132" y="1074920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의의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FDA6B-D707-492F-8239-7FE810697B86}"/>
              </a:ext>
            </a:extLst>
          </p:cNvPr>
          <p:cNvSpPr txBox="1"/>
          <p:nvPr/>
        </p:nvSpPr>
        <p:spPr>
          <a:xfrm>
            <a:off x="1613132" y="1627010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성립요건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5DAE6-83A0-4209-943C-79F070A474AB}"/>
              </a:ext>
            </a:extLst>
          </p:cNvPr>
          <p:cNvSpPr txBox="1"/>
          <p:nvPr/>
        </p:nvSpPr>
        <p:spPr>
          <a:xfrm>
            <a:off x="1613132" y="3002460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유 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86FEA-06E8-4E3C-A619-FD903249AD25}"/>
              </a:ext>
            </a:extLst>
          </p:cNvPr>
          <p:cNvSpPr txBox="1"/>
          <p:nvPr/>
        </p:nvSpPr>
        <p:spPr>
          <a:xfrm>
            <a:off x="1613132" y="4300818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법적취급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2E40B-F794-49A9-856E-A80C7BD7FC5A}"/>
              </a:ext>
            </a:extLst>
          </p:cNvPr>
          <p:cNvSpPr txBox="1"/>
          <p:nvPr/>
        </p:nvSpPr>
        <p:spPr>
          <a:xfrm>
            <a:off x="3140247" y="135001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인 이상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249277-79C6-4AC0-B443-475021FD0F25}"/>
              </a:ext>
            </a:extLst>
          </p:cNvPr>
          <p:cNvSpPr txBox="1"/>
          <p:nvPr/>
        </p:nvSpPr>
        <p:spPr>
          <a:xfrm>
            <a:off x="3140247" y="1679387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자연인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A7049-271D-4B3F-9BC6-0E73C9632BC1}"/>
              </a:ext>
            </a:extLst>
          </p:cNvPr>
          <p:cNvSpPr txBox="1"/>
          <p:nvPr/>
        </p:nvSpPr>
        <p:spPr>
          <a:xfrm>
            <a:off x="3140247" y="2008763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실질적 협력 완성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1EE66-AF37-4B8C-82FF-47A16BCD9E22}"/>
              </a:ext>
            </a:extLst>
          </p:cNvPr>
          <p:cNvSpPr txBox="1"/>
          <p:nvPr/>
        </p:nvSpPr>
        <p:spPr>
          <a:xfrm>
            <a:off x="5124562" y="1811676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주관적 요건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AEC894-68F3-4258-BCA9-EF5C26998A3F}"/>
              </a:ext>
            </a:extLst>
          </p:cNvPr>
          <p:cNvSpPr txBox="1"/>
          <p:nvPr/>
        </p:nvSpPr>
        <p:spPr>
          <a:xfrm>
            <a:off x="5124562" y="2175808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객관적 요건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DFAC0B-FBCD-4746-8BF4-572E900C3E6E}"/>
              </a:ext>
            </a:extLst>
          </p:cNvPr>
          <p:cNvSpPr txBox="1"/>
          <p:nvPr/>
        </p:nvSpPr>
        <p:spPr>
          <a:xfrm>
            <a:off x="3140247" y="292099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해당하는 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F9B9D6-F717-4D9B-81E3-3B9F81683D98}"/>
              </a:ext>
            </a:extLst>
          </p:cNvPr>
          <p:cNvSpPr txBox="1"/>
          <p:nvPr/>
        </p:nvSpPr>
        <p:spPr>
          <a:xfrm>
            <a:off x="3140247" y="3250367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해당하지 않는 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703ABD-4B33-4AED-8342-ECBA580A435F}"/>
              </a:ext>
            </a:extLst>
          </p:cNvPr>
          <p:cNvSpPr txBox="1"/>
          <p:nvPr/>
        </p:nvSpPr>
        <p:spPr>
          <a:xfrm>
            <a:off x="3140247" y="4162318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공유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703C1-AA7B-4607-8FEF-316F9BC75F84}"/>
              </a:ext>
            </a:extLst>
          </p:cNvPr>
          <p:cNvSpPr txBox="1"/>
          <p:nvPr/>
        </p:nvSpPr>
        <p:spPr>
          <a:xfrm>
            <a:off x="3140247" y="4776362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심판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및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939AFB-DEC8-4E8C-B255-C22388228573}"/>
              </a:ext>
            </a:extLst>
          </p:cNvPr>
          <p:cNvSpPr txBox="1"/>
          <p:nvPr/>
        </p:nvSpPr>
        <p:spPr>
          <a:xfrm>
            <a:off x="3140247" y="5916144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그 밖의 절차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0C8CE3-FD24-49BB-BDE2-380436520087}"/>
              </a:ext>
            </a:extLst>
          </p:cNvPr>
          <p:cNvSpPr txBox="1"/>
          <p:nvPr/>
        </p:nvSpPr>
        <p:spPr>
          <a:xfrm>
            <a:off x="5124562" y="4023818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등록전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취급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37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EFF5F-4C53-42DE-8FCC-C667D92F2868}"/>
              </a:ext>
            </a:extLst>
          </p:cNvPr>
          <p:cNvSpPr txBox="1"/>
          <p:nvPr/>
        </p:nvSpPr>
        <p:spPr>
          <a:xfrm>
            <a:off x="5124562" y="4387950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등록후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취급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99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78B074-7893-4261-92D2-1046A5674BB1}"/>
              </a:ext>
            </a:extLst>
          </p:cNvPr>
          <p:cNvSpPr txBox="1"/>
          <p:nvPr/>
        </p:nvSpPr>
        <p:spPr>
          <a:xfrm>
            <a:off x="5124562" y="4776362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출원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B76C42-487F-4BD2-A9AF-470552BC7397}"/>
              </a:ext>
            </a:extLst>
          </p:cNvPr>
          <p:cNvSpPr txBox="1"/>
          <p:nvPr/>
        </p:nvSpPr>
        <p:spPr>
          <a:xfrm>
            <a:off x="5124562" y="5140494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심판청구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139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FC9AB2-015D-4FD7-9706-B6138430CFD9}"/>
              </a:ext>
            </a:extLst>
          </p:cNvPr>
          <p:cNvSpPr txBox="1"/>
          <p:nvPr/>
        </p:nvSpPr>
        <p:spPr>
          <a:xfrm>
            <a:off x="5124562" y="5506587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소송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F1AF87-74C6-402B-8D70-543A8DD10608}"/>
              </a:ext>
            </a:extLst>
          </p:cNvPr>
          <p:cNvSpPr txBox="1"/>
          <p:nvPr/>
        </p:nvSpPr>
        <p:spPr>
          <a:xfrm>
            <a:off x="5124562" y="5912930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대표자가 없는 경우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항본문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9DE7A4-9B8B-4FF1-BC44-A033EE37A318}"/>
              </a:ext>
            </a:extLst>
          </p:cNvPr>
          <p:cNvSpPr txBox="1"/>
          <p:nvPr/>
        </p:nvSpPr>
        <p:spPr>
          <a:xfrm>
            <a:off x="5124562" y="6276189"/>
            <a:ext cx="26737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대표자가 있는 경우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항단서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E31550-1CDB-4058-B51B-AF54AAD18704}"/>
              </a:ext>
            </a:extLst>
          </p:cNvPr>
          <p:cNvSpPr txBox="1"/>
          <p:nvPr/>
        </p:nvSpPr>
        <p:spPr>
          <a:xfrm>
            <a:off x="8092048" y="4578205"/>
            <a:ext cx="391591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특허출원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):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62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63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133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99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63814B-7EB4-43CC-AE6C-F3B462ACB19D}"/>
              </a:ext>
            </a:extLst>
          </p:cNvPr>
          <p:cNvSpPr txBox="1"/>
          <p:nvPr/>
        </p:nvSpPr>
        <p:spPr>
          <a:xfrm>
            <a:off x="8092048" y="4942337"/>
            <a:ext cx="391591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연장등록출원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90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92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3):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134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B14F71-010D-4956-8760-5647891670B4}"/>
              </a:ext>
            </a:extLst>
          </p:cNvPr>
          <p:cNvSpPr txBox="1"/>
          <p:nvPr/>
        </p:nvSpPr>
        <p:spPr>
          <a:xfrm>
            <a:off x="8092049" y="5368087"/>
            <a:ext cx="391591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침해소송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BEF9A7-6279-4C2D-B60C-E19E9F52DFC6}"/>
              </a:ext>
            </a:extLst>
          </p:cNvPr>
          <p:cNvSpPr txBox="1"/>
          <p:nvPr/>
        </p:nvSpPr>
        <p:spPr>
          <a:xfrm>
            <a:off x="8092049" y="5732219"/>
            <a:ext cx="391591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심결취소소송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DDCB939A-4B13-444D-A250-D13DC8AE206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2622422" y="1488511"/>
            <a:ext cx="517825" cy="3231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00597A5A-6EF7-4EEC-9600-6E626C3C1914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2622422" y="1811676"/>
            <a:ext cx="517825" cy="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8160DB3B-DE60-4986-B979-4D36BB3E83E4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2622422" y="1811676"/>
            <a:ext cx="517825" cy="3355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D593535D-8674-47F6-A9EB-23BF813B573A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606737" y="2147263"/>
            <a:ext cx="517825" cy="167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5FE3E447-A4B0-42FD-88E8-EEBE209C2286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4606737" y="1950176"/>
            <a:ext cx="517825" cy="1970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DB0DCD71-A484-498C-87BA-480F3203A9D6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2622422" y="3187126"/>
            <a:ext cx="517825" cy="20174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E48C3F50-F8B4-48D2-9827-5FFE9464F406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2622422" y="3059491"/>
            <a:ext cx="517825" cy="12763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162466A5-3CE4-4D2C-AFCD-346532FBDFB2}"/>
              </a:ext>
            </a:extLst>
          </p:cNvPr>
          <p:cNvCxnSpPr>
            <a:cxnSpLocks/>
            <a:stCxn id="13" idx="3"/>
            <a:endCxn id="23" idx="1"/>
          </p:cNvCxnSpPr>
          <p:nvPr/>
        </p:nvCxnSpPr>
        <p:spPr>
          <a:xfrm flipV="1">
            <a:off x="2622422" y="4300818"/>
            <a:ext cx="517825" cy="18466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E01DCEDF-E68D-4E24-AB05-7DD5D05921A6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2622422" y="4485484"/>
            <a:ext cx="517825" cy="42937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EB1CE4F0-434B-494B-BE21-28663AEDDA40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2622422" y="4485484"/>
            <a:ext cx="517825" cy="156916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336F581-ED1A-40E3-82C9-15A6AC4BDB46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4606737" y="4162318"/>
            <a:ext cx="517825" cy="138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A732E75-903F-49F8-A1B8-9F0F8E8E5479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>
            <a:off x="4606737" y="4300818"/>
            <a:ext cx="517825" cy="225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8539D245-0789-476D-9C3E-14D80147C46E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>
            <a:off x="4606737" y="4914862"/>
            <a:ext cx="51782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4DE64BCF-AECF-4C48-B3EE-0B1DA0B9EA2D}"/>
              </a:ext>
            </a:extLst>
          </p:cNvPr>
          <p:cNvCxnSpPr>
            <a:stCxn id="24" idx="3"/>
            <a:endCxn id="29" idx="1"/>
          </p:cNvCxnSpPr>
          <p:nvPr/>
        </p:nvCxnSpPr>
        <p:spPr>
          <a:xfrm>
            <a:off x="4606737" y="4914862"/>
            <a:ext cx="517825" cy="3641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4D561E87-2719-47D4-B4B1-2E96938D5319}"/>
              </a:ext>
            </a:extLst>
          </p:cNvPr>
          <p:cNvCxnSpPr>
            <a:stCxn id="24" idx="3"/>
            <a:endCxn id="30" idx="1"/>
          </p:cNvCxnSpPr>
          <p:nvPr/>
        </p:nvCxnSpPr>
        <p:spPr>
          <a:xfrm>
            <a:off x="4606737" y="4914862"/>
            <a:ext cx="517825" cy="7302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26799282-4548-4D75-A68B-7811EB5E9F40}"/>
              </a:ext>
            </a:extLst>
          </p:cNvPr>
          <p:cNvCxnSpPr>
            <a:stCxn id="25" idx="3"/>
            <a:endCxn id="32" idx="1"/>
          </p:cNvCxnSpPr>
          <p:nvPr/>
        </p:nvCxnSpPr>
        <p:spPr>
          <a:xfrm flipV="1">
            <a:off x="4606737" y="6051430"/>
            <a:ext cx="517825" cy="32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A0702361-465D-4615-ACE6-BE79746DC879}"/>
              </a:ext>
            </a:extLst>
          </p:cNvPr>
          <p:cNvCxnSpPr>
            <a:stCxn id="25" idx="3"/>
            <a:endCxn id="33" idx="1"/>
          </p:cNvCxnSpPr>
          <p:nvPr/>
        </p:nvCxnSpPr>
        <p:spPr>
          <a:xfrm>
            <a:off x="4606737" y="6054644"/>
            <a:ext cx="517825" cy="360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4E73D6FC-25FD-402E-82E3-D129CC929168}"/>
              </a:ext>
            </a:extLst>
          </p:cNvPr>
          <p:cNvCxnSpPr>
            <a:cxnSpLocks/>
            <a:stCxn id="28" idx="3"/>
            <a:endCxn id="34" idx="1"/>
          </p:cNvCxnSpPr>
          <p:nvPr/>
        </p:nvCxnSpPr>
        <p:spPr>
          <a:xfrm flipV="1">
            <a:off x="7798274" y="4716705"/>
            <a:ext cx="293774" cy="1981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54A8AF95-D9F4-4E81-8D94-78472580CCB3}"/>
              </a:ext>
            </a:extLst>
          </p:cNvPr>
          <p:cNvCxnSpPr>
            <a:cxnSpLocks/>
            <a:stCxn id="28" idx="3"/>
            <a:endCxn id="35" idx="1"/>
          </p:cNvCxnSpPr>
          <p:nvPr/>
        </p:nvCxnSpPr>
        <p:spPr>
          <a:xfrm>
            <a:off x="7798274" y="4914862"/>
            <a:ext cx="293774" cy="1659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D7BA42F9-E030-4216-9BBE-BAAFD9D0073E}"/>
              </a:ext>
            </a:extLst>
          </p:cNvPr>
          <p:cNvCxnSpPr>
            <a:cxnSpLocks/>
            <a:stCxn id="30" idx="3"/>
            <a:endCxn id="36" idx="1"/>
          </p:cNvCxnSpPr>
          <p:nvPr/>
        </p:nvCxnSpPr>
        <p:spPr>
          <a:xfrm flipV="1">
            <a:off x="7798274" y="5506587"/>
            <a:ext cx="293775" cy="138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6091854D-9DF9-4BD4-AC21-E7CAA1B5B65E}"/>
              </a:ext>
            </a:extLst>
          </p:cNvPr>
          <p:cNvCxnSpPr>
            <a:cxnSpLocks/>
            <a:stCxn id="30" idx="3"/>
            <a:endCxn id="37" idx="1"/>
          </p:cNvCxnSpPr>
          <p:nvPr/>
        </p:nvCxnSpPr>
        <p:spPr>
          <a:xfrm>
            <a:off x="7798274" y="5645087"/>
            <a:ext cx="293775" cy="225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0B8D483-ACC3-427E-B25B-660E6F343882}"/>
              </a:ext>
            </a:extLst>
          </p:cNvPr>
          <p:cNvSpPr txBox="1"/>
          <p:nvPr/>
        </p:nvSpPr>
        <p:spPr>
          <a:xfrm>
            <a:off x="344930" y="2365094"/>
            <a:ext cx="750377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공동</a:t>
            </a:r>
            <a:endParaRPr lang="en-US" altLang="ko-KR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발명</a:t>
            </a:r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70B2C7D3-1927-4A92-9684-AB9954EBDDBB}"/>
              </a:ext>
            </a:extLst>
          </p:cNvPr>
          <p:cNvCxnSpPr>
            <a:stCxn id="107" idx="3"/>
            <a:endCxn id="7" idx="1"/>
          </p:cNvCxnSpPr>
          <p:nvPr/>
        </p:nvCxnSpPr>
        <p:spPr>
          <a:xfrm flipV="1">
            <a:off x="1095307" y="1259586"/>
            <a:ext cx="517825" cy="14286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6FE9BA1F-396E-461F-A965-F6101EC2C857}"/>
              </a:ext>
            </a:extLst>
          </p:cNvPr>
          <p:cNvCxnSpPr>
            <a:stCxn id="107" idx="3"/>
            <a:endCxn id="11" idx="1"/>
          </p:cNvCxnSpPr>
          <p:nvPr/>
        </p:nvCxnSpPr>
        <p:spPr>
          <a:xfrm flipV="1">
            <a:off x="1095307" y="1811676"/>
            <a:ext cx="517825" cy="8765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02A69A62-3276-4EE9-ADAC-E33FDA3AC83D}"/>
              </a:ext>
            </a:extLst>
          </p:cNvPr>
          <p:cNvCxnSpPr>
            <a:stCxn id="107" idx="3"/>
            <a:endCxn id="12" idx="1"/>
          </p:cNvCxnSpPr>
          <p:nvPr/>
        </p:nvCxnSpPr>
        <p:spPr>
          <a:xfrm>
            <a:off x="1095307" y="2688260"/>
            <a:ext cx="517825" cy="4988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9001C80B-5312-403A-9FA9-610880EEAE74}"/>
              </a:ext>
            </a:extLst>
          </p:cNvPr>
          <p:cNvCxnSpPr>
            <a:stCxn id="107" idx="3"/>
            <a:endCxn id="13" idx="1"/>
          </p:cNvCxnSpPr>
          <p:nvPr/>
        </p:nvCxnSpPr>
        <p:spPr>
          <a:xfrm>
            <a:off x="1095307" y="2688260"/>
            <a:ext cx="517825" cy="17972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539C69-595E-6D6D-C6AD-4B599B03920F}"/>
              </a:ext>
            </a:extLst>
          </p:cNvPr>
          <p:cNvSpPr txBox="1"/>
          <p:nvPr/>
        </p:nvSpPr>
        <p:spPr>
          <a:xfrm>
            <a:off x="5124562" y="2568796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</a:rPr>
              <a:t>일반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C3076-B8CE-3BB3-356D-BBDC3545A708}"/>
              </a:ext>
            </a:extLst>
          </p:cNvPr>
          <p:cNvSpPr txBox="1"/>
          <p:nvPr/>
        </p:nvSpPr>
        <p:spPr>
          <a:xfrm>
            <a:off x="5124562" y="2919226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화학발명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D3BEE-5B1A-8165-C133-517F95A213BA}"/>
              </a:ext>
            </a:extLst>
          </p:cNvPr>
          <p:cNvSpPr txBox="1"/>
          <p:nvPr/>
        </p:nvSpPr>
        <p:spPr>
          <a:xfrm>
            <a:off x="5124562" y="325995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>
                    <a:lumMod val="50000"/>
                  </a:schemeClr>
                </a:solidFill>
              </a:rPr>
              <a:t>일반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9950A-BEAD-4CE9-B9D8-5C23AC4909AD}"/>
              </a:ext>
            </a:extLst>
          </p:cNvPr>
          <p:cNvSpPr txBox="1"/>
          <p:nvPr/>
        </p:nvSpPr>
        <p:spPr>
          <a:xfrm>
            <a:off x="5124562" y="362831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무권리자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7766E73-9FBE-F08E-EA95-EBD43D26577F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4606737" y="2707296"/>
            <a:ext cx="517825" cy="3521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61DCCCB2-01C3-1230-360C-5BBE6DCA1A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4606737" y="3057726"/>
            <a:ext cx="517825" cy="176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6582D29D-4121-17FD-27CF-F92127372CC1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>
            <a:off x="4606737" y="3388867"/>
            <a:ext cx="517825" cy="95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D436DDDA-11C9-745E-5CB4-9FD10B5B56B7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606737" y="3388867"/>
            <a:ext cx="517825" cy="53014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B5DF429-5C37-0E56-441E-DE7ECC3303F7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>
            <a:off x="4606737" y="3388867"/>
            <a:ext cx="517825" cy="37795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1679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6179976"/>
            <a:ext cx="11479567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05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33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인공지능이 발명자가 될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105</a:t>
            </a:fld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599706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104775" y="1259522"/>
            <a:ext cx="11989587" cy="491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080" dirty="0"/>
              <a:t>[1]</a:t>
            </a:r>
            <a:r>
              <a:rPr lang="ko-KR" altLang="en-US" sz="1080" dirty="0"/>
              <a:t> 원고가 이 법원에서 주장하는 사유는 제</a:t>
            </a:r>
            <a:r>
              <a:rPr lang="en-US" altLang="ko-KR" sz="1080" dirty="0"/>
              <a:t>1</a:t>
            </a:r>
            <a:r>
              <a:rPr lang="ko-KR" altLang="en-US" sz="1080" dirty="0"/>
              <a:t>심에서의 주장과 크게 다르지 않고</a:t>
            </a:r>
            <a:r>
              <a:rPr lang="en-US" altLang="ko-KR" sz="1080" dirty="0"/>
              <a:t>, </a:t>
            </a:r>
            <a:r>
              <a:rPr lang="ko-KR" altLang="en-US" sz="1080" dirty="0"/>
              <a:t>제</a:t>
            </a:r>
            <a:r>
              <a:rPr lang="en-US" altLang="ko-KR" sz="1080" dirty="0"/>
              <a:t>1</a:t>
            </a:r>
            <a:r>
              <a:rPr lang="ko-KR" altLang="en-US" sz="1080" dirty="0"/>
              <a:t>심 및 이 법원에 제출된 증거와 이 법원에서의 변론 내용을 종합하여 보더라도 제</a:t>
            </a:r>
            <a:r>
              <a:rPr lang="en-US" altLang="ko-KR" sz="1080" dirty="0"/>
              <a:t>1</a:t>
            </a:r>
            <a:r>
              <a:rPr lang="ko-KR" altLang="en-US" sz="1080" dirty="0"/>
              <a:t>심의 판단은 정당한 것으로 인정된다</a:t>
            </a:r>
            <a:r>
              <a:rPr lang="en-US" altLang="ko-KR" sz="1080" dirty="0"/>
              <a:t>. </a:t>
            </a:r>
            <a:r>
              <a:rPr lang="ko-KR" altLang="en-US" sz="1080" dirty="0"/>
              <a:t>이에 이 법원이 기재할 이유는 원고가 이 법원에서 강조하거나 새롭게 한 주장에 대하여 제</a:t>
            </a:r>
            <a:r>
              <a:rPr lang="en-US" altLang="ko-KR" sz="1080" dirty="0"/>
              <a:t>2</a:t>
            </a:r>
            <a:r>
              <a:rPr lang="ko-KR" altLang="en-US" sz="1080" dirty="0"/>
              <a:t>항에서 추가로 판단하는 것 외에는 제</a:t>
            </a:r>
            <a:r>
              <a:rPr lang="en-US" altLang="ko-KR" sz="1080" dirty="0"/>
              <a:t>1</a:t>
            </a:r>
            <a:r>
              <a:rPr lang="ko-KR" altLang="en-US" sz="1080" dirty="0"/>
              <a:t>심판결의 이유와 같으므로 행정소송법 제</a:t>
            </a:r>
            <a:r>
              <a:rPr lang="en-US" altLang="ko-KR" sz="1080" dirty="0"/>
              <a:t>8</a:t>
            </a:r>
            <a:r>
              <a:rPr lang="ko-KR" altLang="en-US" sz="1080" dirty="0"/>
              <a:t>조 제</a:t>
            </a:r>
            <a:r>
              <a:rPr lang="en-US" altLang="ko-KR" sz="1080" dirty="0"/>
              <a:t>2</a:t>
            </a:r>
            <a:r>
              <a:rPr lang="ko-KR" altLang="en-US" sz="1080" dirty="0"/>
              <a:t>항</a:t>
            </a:r>
            <a:r>
              <a:rPr lang="en-US" altLang="ko-KR" sz="1080" dirty="0"/>
              <a:t>, </a:t>
            </a:r>
            <a:r>
              <a:rPr lang="ko-KR" altLang="en-US" sz="1080" dirty="0"/>
              <a:t>민사소송법 제</a:t>
            </a:r>
            <a:r>
              <a:rPr lang="en-US" altLang="ko-KR" sz="1080" dirty="0"/>
              <a:t>420</a:t>
            </a:r>
            <a:r>
              <a:rPr lang="ko-KR" altLang="en-US" sz="1080" dirty="0"/>
              <a:t>조 본문에 따라 이를 인용한다</a:t>
            </a:r>
            <a:r>
              <a:rPr lang="en-US" altLang="ko-KR" sz="1080" dirty="0"/>
              <a:t>.</a:t>
            </a:r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1080" dirty="0"/>
          </a:p>
          <a:p>
            <a:pPr fontAlgn="base"/>
            <a:endParaRPr lang="en-US" altLang="ko-KR" sz="400" dirty="0"/>
          </a:p>
          <a:p>
            <a:pPr fontAlgn="base"/>
            <a:r>
              <a:rPr lang="en-US" altLang="ko-KR" sz="1080" dirty="0"/>
              <a:t>[2]</a:t>
            </a:r>
            <a:r>
              <a:rPr lang="ko-KR" altLang="en-US" sz="1080" dirty="0"/>
              <a:t> 추가판단</a:t>
            </a:r>
            <a:endParaRPr lang="en-US" altLang="ko-KR" sz="1080" dirty="0"/>
          </a:p>
          <a:p>
            <a:pPr fontAlgn="base"/>
            <a:r>
              <a:rPr lang="ko-KR" altLang="en-US" sz="1080" dirty="0"/>
              <a:t>가</a:t>
            </a:r>
            <a:r>
              <a:rPr lang="en-US" altLang="ko-KR" sz="1080" dirty="0"/>
              <a:t>. </a:t>
            </a:r>
            <a:r>
              <a:rPr lang="ko-KR" altLang="en-US" sz="1080" dirty="0"/>
              <a:t>원고는</a:t>
            </a:r>
            <a:r>
              <a:rPr lang="en-US" altLang="ko-KR" sz="1080" dirty="0"/>
              <a:t>, </a:t>
            </a:r>
            <a:r>
              <a:rPr lang="ko-KR" altLang="en-US" sz="1080" dirty="0"/>
              <a:t>특허법상 발명자는 자연인으로 한정된다는 해석은 근거가 없고</a:t>
            </a:r>
            <a:r>
              <a:rPr lang="en-US" altLang="ko-KR" sz="1080" dirty="0"/>
              <a:t>, </a:t>
            </a:r>
            <a:r>
              <a:rPr lang="ko-KR" altLang="en-US" sz="1080" dirty="0"/>
              <a:t>특허법 입법 당시 인공지능 발명자에 대한 고려가 없었을 것이라는 점에 비추어 입법적 공백은 규정의 합리적인 해석을 통하여 해결해야 한다고 주장한다</a:t>
            </a:r>
            <a:r>
              <a:rPr lang="en-US" altLang="ko-KR" sz="1080" dirty="0"/>
              <a:t>. </a:t>
            </a:r>
            <a:r>
              <a:rPr lang="ko-KR" altLang="en-US" sz="1080" dirty="0"/>
              <a:t>특허법 제</a:t>
            </a:r>
            <a:r>
              <a:rPr lang="en-US" altLang="ko-KR" sz="1080" dirty="0"/>
              <a:t>33</a:t>
            </a:r>
            <a:r>
              <a:rPr lang="ko-KR" altLang="en-US" sz="1080" dirty="0"/>
              <a:t>조 및 제</a:t>
            </a:r>
            <a:r>
              <a:rPr lang="en-US" altLang="ko-KR" sz="1080" dirty="0"/>
              <a:t>42</a:t>
            </a:r>
            <a:r>
              <a:rPr lang="ko-KR" altLang="en-US" sz="1080" dirty="0"/>
              <a:t>조의 해석에 비추어 </a:t>
            </a:r>
            <a:r>
              <a:rPr lang="ko-KR" altLang="en-US" sz="1080" dirty="0">
                <a:highlight>
                  <a:srgbClr val="FFFF00"/>
                </a:highlight>
              </a:rPr>
              <a:t>특허법상 발명자가 자연인을 의미하는 것이 분명</a:t>
            </a:r>
            <a:r>
              <a:rPr lang="ko-KR" altLang="en-US" sz="1080" dirty="0"/>
              <a:t>함은 제</a:t>
            </a:r>
            <a:r>
              <a:rPr lang="en-US" altLang="ko-KR" sz="1080" dirty="0"/>
              <a:t>1</a:t>
            </a:r>
            <a:r>
              <a:rPr lang="ko-KR" altLang="en-US" sz="1080" dirty="0"/>
              <a:t>심판결에서 본 바와 같다</a:t>
            </a:r>
            <a:r>
              <a:rPr lang="en-US" altLang="ko-KR" sz="1080" dirty="0"/>
              <a:t>. </a:t>
            </a:r>
            <a:r>
              <a:rPr lang="ko-KR" altLang="en-US" sz="1080" dirty="0">
                <a:highlight>
                  <a:srgbClr val="FFFF00"/>
                </a:highlight>
              </a:rPr>
              <a:t>인공지능의 출현 및 발전 정도</a:t>
            </a:r>
            <a:r>
              <a:rPr lang="en-US" altLang="ko-KR" sz="1080" dirty="0">
                <a:highlight>
                  <a:srgbClr val="FFFF00"/>
                </a:highlight>
              </a:rPr>
              <a:t>, </a:t>
            </a:r>
            <a:r>
              <a:rPr lang="ko-KR" altLang="en-US" sz="1080" dirty="0">
                <a:highlight>
                  <a:srgbClr val="FFFF00"/>
                </a:highlight>
              </a:rPr>
              <a:t>현재까지의 기술 수준</a:t>
            </a:r>
            <a:r>
              <a:rPr lang="en-US" altLang="ko-KR" sz="1080" dirty="0">
                <a:highlight>
                  <a:srgbClr val="FFFF00"/>
                </a:highlight>
              </a:rPr>
              <a:t>, </a:t>
            </a:r>
            <a:r>
              <a:rPr lang="ko-KR" altLang="en-US" sz="1080" dirty="0">
                <a:highlight>
                  <a:srgbClr val="FFFF00"/>
                </a:highlight>
              </a:rPr>
              <a:t>인공지능에 대한 사회의 인식 등에 비추어 현재의 특허법 규정만으로 인공지능을 발명자에 포함시키는 것은 정당한 법률해석의 한계를 벗어난다</a:t>
            </a:r>
            <a:r>
              <a:rPr lang="en-US" altLang="ko-KR" sz="1080" dirty="0">
                <a:highlight>
                  <a:srgbClr val="FFFF00"/>
                </a:highlight>
              </a:rPr>
              <a:t>. </a:t>
            </a:r>
            <a:r>
              <a:rPr lang="ko-KR" altLang="en-US" sz="1080" dirty="0">
                <a:highlight>
                  <a:srgbClr val="FFFF00"/>
                </a:highlight>
              </a:rPr>
              <a:t>향후 인공지능의 발명으로 보호받아야 할 대상이 존재한다면 이는 사회적 논의를 거쳐 입법을 통해 보완해 나가야 할 것이다</a:t>
            </a:r>
            <a:r>
              <a:rPr lang="en-US" altLang="ko-KR" sz="1080" dirty="0">
                <a:highlight>
                  <a:srgbClr val="FFFF00"/>
                </a:highlight>
              </a:rPr>
              <a:t>. </a:t>
            </a:r>
          </a:p>
          <a:p>
            <a:pPr fontAlgn="base"/>
            <a:r>
              <a:rPr lang="ko-KR" altLang="en-US" sz="1080" dirty="0"/>
              <a:t>나</a:t>
            </a:r>
            <a:r>
              <a:rPr lang="en-US" altLang="ko-KR" sz="1080" dirty="0"/>
              <a:t>. </a:t>
            </a:r>
            <a:r>
              <a:rPr lang="ko-KR" altLang="en-US" sz="1080" dirty="0"/>
              <a:t>원고는 인공지능이 권리능력을 갖지 못하더라도 특허법상 발명자로 인정될 수 있다고 하면서 인공지능이 생성한 결과물에 대한 권리 및 의무는 인공지능의 소유자 또는 관리운영자에게 귀속시키는 것이 가능하다고 주장한다</a:t>
            </a:r>
            <a:r>
              <a:rPr lang="en-US" altLang="ko-KR" sz="1080" dirty="0">
                <a:solidFill>
                  <a:srgbClr val="FF0000"/>
                </a:solidFill>
              </a:rPr>
              <a:t>. </a:t>
            </a:r>
            <a:r>
              <a:rPr lang="ko-KR" altLang="en-US" sz="1080" dirty="0">
                <a:highlight>
                  <a:srgbClr val="FFFF00"/>
                </a:highlight>
              </a:rPr>
              <a:t>특허법 제</a:t>
            </a:r>
            <a:r>
              <a:rPr lang="en-US" altLang="ko-KR" sz="1080" dirty="0">
                <a:highlight>
                  <a:srgbClr val="FFFF00"/>
                </a:highlight>
              </a:rPr>
              <a:t>33</a:t>
            </a:r>
            <a:r>
              <a:rPr lang="ko-KR" altLang="en-US" sz="1080" dirty="0">
                <a:highlight>
                  <a:srgbClr val="FFFF00"/>
                </a:highlight>
              </a:rPr>
              <a:t>조 제</a:t>
            </a:r>
            <a:r>
              <a:rPr lang="en-US" altLang="ko-KR" sz="1080" dirty="0">
                <a:highlight>
                  <a:srgbClr val="FFFF00"/>
                </a:highlight>
              </a:rPr>
              <a:t>1</a:t>
            </a:r>
            <a:r>
              <a:rPr lang="ko-KR" altLang="en-US" sz="1080" dirty="0">
                <a:highlight>
                  <a:srgbClr val="FFFF00"/>
                </a:highlight>
              </a:rPr>
              <a:t>항에서 발명을 한 사람 또는 그 승계인은 이 법에서 정하는 바에 따라 특허를 받을 수 있는 권리를 가진다</a:t>
            </a:r>
            <a:r>
              <a:rPr lang="en-US" altLang="ko-KR" sz="1080" dirty="0">
                <a:highlight>
                  <a:srgbClr val="FFFF00"/>
                </a:highlight>
              </a:rPr>
              <a:t>.’</a:t>
            </a:r>
            <a:r>
              <a:rPr lang="ko-KR" altLang="en-US" sz="1080" dirty="0">
                <a:highlight>
                  <a:srgbClr val="FFFF00"/>
                </a:highlight>
              </a:rPr>
              <a:t>고 규정하여 발명자주의를 채택하고 있어 원고의 주장은 그 자체로 특허법에 맞지 않을 뿐 아니라</a:t>
            </a:r>
            <a:r>
              <a:rPr lang="en-US" altLang="ko-KR" sz="1080" dirty="0">
                <a:highlight>
                  <a:srgbClr val="FFFF00"/>
                </a:highlight>
              </a:rPr>
              <a:t>, </a:t>
            </a:r>
            <a:r>
              <a:rPr lang="ko-KR" altLang="en-US" sz="1080" dirty="0">
                <a:highlight>
                  <a:srgbClr val="FFFF00"/>
                </a:highlight>
              </a:rPr>
              <a:t>관련 권리와 의무는 인공지능의 소유자 등에게 귀속시키는 것 또한 아무런 근거가 없고 현행 특허법의 </a:t>
            </a:r>
            <a:r>
              <a:rPr lang="ko-KR" altLang="en-US" sz="1080" dirty="0" err="1">
                <a:highlight>
                  <a:srgbClr val="FFFF00"/>
                </a:highlight>
              </a:rPr>
              <a:t>체계와도</a:t>
            </a:r>
            <a:r>
              <a:rPr lang="ko-KR" altLang="en-US" sz="1080" dirty="0">
                <a:highlight>
                  <a:srgbClr val="FFFF00"/>
                </a:highlight>
              </a:rPr>
              <a:t> 전혀 부합하지 않는다</a:t>
            </a:r>
            <a:r>
              <a:rPr lang="en-US" altLang="ko-KR" sz="1080" dirty="0">
                <a:highlight>
                  <a:srgbClr val="FFFF00"/>
                </a:highlight>
              </a:rPr>
              <a:t>.</a:t>
            </a:r>
            <a:endParaRPr lang="ko-KR" altLang="en-US" sz="1080" dirty="0">
              <a:highlight>
                <a:srgbClr val="FFFF00"/>
              </a:highlight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1681348" y="6093127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C7409E-9708-455F-937F-1A02408E7A56}"/>
              </a:ext>
            </a:extLst>
          </p:cNvPr>
          <p:cNvSpPr txBox="1"/>
          <p:nvPr/>
        </p:nvSpPr>
        <p:spPr>
          <a:xfrm>
            <a:off x="54910" y="6397211"/>
            <a:ext cx="3219578" cy="4154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PCT 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출원</a:t>
            </a:r>
            <a:endParaRPr lang="en-US" altLang="ko-KR" sz="10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발명자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 AI(DABUS)/(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출원인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 AI 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개발자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스티븐 테일러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19D9534-0796-45A3-A189-E5997798044F}"/>
              </a:ext>
            </a:extLst>
          </p:cNvPr>
          <p:cNvCxnSpPr>
            <a:cxnSpLocks/>
            <a:stCxn id="79" idx="0"/>
            <a:endCxn id="27" idx="4"/>
          </p:cNvCxnSpPr>
          <p:nvPr/>
        </p:nvCxnSpPr>
        <p:spPr>
          <a:xfrm rot="5400000" flipH="1" flipV="1">
            <a:off x="1629852" y="6275142"/>
            <a:ext cx="156916" cy="8722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6153883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서울고등법원 </a:t>
            </a:r>
            <a:r>
              <a:rPr lang="en-US" altLang="ko-KR" sz="1400" dirty="0"/>
              <a:t>2024. 5. 16.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2023</a:t>
            </a:r>
            <a:r>
              <a:rPr lang="ko-KR" altLang="en-US" sz="1400" dirty="0"/>
              <a:t>누</a:t>
            </a:r>
            <a:r>
              <a:rPr lang="en-US" altLang="ko-KR" sz="1400" dirty="0"/>
              <a:t>52088 </a:t>
            </a:r>
            <a:r>
              <a:rPr lang="ko-KR" altLang="en-US" sz="1400" dirty="0" err="1"/>
              <a:t>특허출원무효처분</a:t>
            </a:r>
            <a:r>
              <a:rPr lang="ko-KR" altLang="en-US" sz="1400" dirty="0"/>
              <a:t> 취소 청구의 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D8B745-0E7B-464D-643B-E291D4C2AF55}"/>
              </a:ext>
            </a:extLst>
          </p:cNvPr>
          <p:cNvSpPr/>
          <p:nvPr/>
        </p:nvSpPr>
        <p:spPr>
          <a:xfrm>
            <a:off x="97637" y="1797421"/>
            <a:ext cx="11989588" cy="2812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[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원심판결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: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서울행정법원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2023. 6. 30.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선고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2022</a:t>
            </a:r>
            <a:r>
              <a:rPr lang="ko-KR" altLang="en-US" sz="1200" b="1" dirty="0" err="1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구합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89524 </a:t>
            </a:r>
            <a:r>
              <a:rPr lang="ko-KR" altLang="en-US" sz="1200" b="1" dirty="0" err="1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특허출원무효처분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 취소 청구의 소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Frutiger LT 65 Bold"/>
                <a:ea typeface="Rix모던고딕 B"/>
              </a:rPr>
              <a:t>] </a:t>
            </a:r>
          </a:p>
          <a:p>
            <a:pPr marL="171450" marR="0" lvl="0" indent="-17145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호는 ‘발명이라 함은 자연법칙을 이용한 기술적 사상의 창작으로서 고도한 것을 말한다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고 규정하고 있다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그런데 ‘기술’ 자체가 아닌 ‘기술적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사상’이란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 결국 인간의 사유를 전제로 하는 것이고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‘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창작’ 역시 인간의 정신적 활동을 전제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로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하는 것이다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또한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발명행위는 이른바 사실행위로써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발명행위를 하게 되면 특허법상 발명자지위가 부여되고 특허권이 발명자에게 원시적으로 귀속되므로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33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소위 ‘발명자주의’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발명자의 지위는 원칙적으로 권리능력이 전제가 되어야 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그런데 민법에서는 ‘사람은 생존한 동안 권리와 의무의 주체가 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고 규정하여 원칙적으로 자연인에게만 권리능력이 부여된다는 점을 명시하고 있고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다만 제한된 범위 내에서 법인에게도 권리능력을 부여하고 있는데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34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인공지능은 법령상 자연인과 법인 모두에 포섭되지 않으므로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[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민법상 ‘본법에서 물건이라 함은 유체물 및 전기 기타 관리할 수 있는 자연력을 말한다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.’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고 하여 사람과 법인을 제외한 나머지를 포괄적으로 물건으로 보고 있는바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98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소프트웨어와 하드웨어가 결합하는 형태의 인공지능 역시 민법상 유체물로서 물건에 해당할 여지가 높아 보인다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],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현행 법령상으로 인공지능에게 권리능력을 인정할 수도 없다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원고는 인공지능이 출원서에 ‘발명자’ 로 기재되는 것이 권리능력 등과 별개로 허용될 수 있다는 취지로 주장하나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이는 앞서 본 바와 같은 특허법상 발명자의 개념과 상치되는 것이고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통일적 법해석에 전혀 부합하지 않는 주장이어서 받아들이기 어렵다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).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171450" marR="0" lvl="0" indent="-17145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나아가 원고는 인공지능을 발명자로 표시할 수 있도록 허용하는 것이 발명을 장려하고 그 이용을 도모함으로써 기술발전을 촉진하여 산업발전에 이바지하고자 하는 특허법의 목적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취지에 더 부합한다고도 주장한다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그러나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인공지능이 발명자로 표시될 수 있다 하더라도 그로 인하여 인공지능이나 인공지능의 개발자가 더 적극적으로 발명을 할 유인이 발생한다고 볼만한 합리적 근거는 부족한 반면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인공지능을 발명자로 인정할 경우 향후 인간 지성의 위축을 초래하여 미래 인간의 혁신에 부정적인 영향을 미칠 우려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연구 집약적인 산업 자체가 붕괴될 우려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발명이나 그 결과물과 관련된 법적 분쟁이 발생할 경우 인공지능의 개발자인 인간이 책임을 회피함으로써 책임 소재가 불분명해질 우려 등이 엄존하고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소수 거대 기업 등이 강력한 인공지능을 독점함으로써 특허법이 소수의 권익만을 보호하는 수단으로 전락할 위험성도 있는바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인공지능을 발명자로 인정하는 것이 우리 사회의 기술 및 산업발전의 도모에 궁극적으로 기여할 것이라고 단정하기도 어렵다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171450" marR="0" lvl="0" indent="-171450" algn="just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원고는 인공지능을 발명자로 표시할 수 없을 경우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인공지능이 인간의 개입 없이 독자적으로 한 발명에 관하여 어느 누구도 적법하게 특허를 출원할 수 없는 문제가 발생할 수 있고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이는 특허법의 목적이나 취지에도 반한다고 주장한다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그러나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앞서 본 바와 같이 현 단계의 인공지능이 인간의 어떠한 개입 없이도 독자적으로 발명할 정도의 기술적 수준에 이르렀다고는 보이지 않을 뿐 아니라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현행 법령상 인공지능을 활용하여 발명에 기여한 인간을 발명자로 표시하여 특허를 출원하는 것까지 금지된다고 보이지도 않고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이를 영업비밀 등으로 보호하는 다른 수단도 존재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하므로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원고의 주장과 같은 문제는 현실적으로 발생할 것으로 보이지 않는다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물론 미래에 강한 인공지능이 출현할 경우에 원고의 주장과 같은 문제가 현실화할 가능성까지 완전히 배제할 수는 없으나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이는 기술적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정책적 판단을 거쳐 향후 제도 개선 등을 통해 해결할 과제로 보일 뿐이다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endParaRPr lang="ko-KR" altLang="en-US" sz="105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63795D8-F784-70B4-5808-C6852AF90DFC}"/>
              </a:ext>
            </a:extLst>
          </p:cNvPr>
          <p:cNvSpPr/>
          <p:nvPr/>
        </p:nvSpPr>
        <p:spPr>
          <a:xfrm>
            <a:off x="3801041" y="6093127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01058-00A4-F7DA-D004-69157C151FC0}"/>
              </a:ext>
            </a:extLst>
          </p:cNvPr>
          <p:cNvSpPr txBox="1"/>
          <p:nvPr/>
        </p:nvSpPr>
        <p:spPr>
          <a:xfrm>
            <a:off x="3331242" y="6387686"/>
            <a:ext cx="937683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2021.5.17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국내단계진입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2C6D380-2D85-FACB-9437-A948A915EFF8}"/>
              </a:ext>
            </a:extLst>
          </p:cNvPr>
          <p:cNvSpPr/>
          <p:nvPr/>
        </p:nvSpPr>
        <p:spPr>
          <a:xfrm>
            <a:off x="4971174" y="6093127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381575-D24E-1A2E-3E4C-BCD1374D482B}"/>
              </a:ext>
            </a:extLst>
          </p:cNvPr>
          <p:cNvSpPr txBox="1"/>
          <p:nvPr/>
        </p:nvSpPr>
        <p:spPr>
          <a:xfrm>
            <a:off x="4316549" y="6387686"/>
            <a:ext cx="1254579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2022.9.18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특허출원 무효처분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EF7FB744-B2AB-68F1-3981-86D6FFCEB313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rot="5400000" flipH="1" flipV="1">
            <a:off x="3762154" y="6278226"/>
            <a:ext cx="147391" cy="71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F6C9B97-A4F5-92DF-390F-FCAF8BAD65FA}"/>
              </a:ext>
            </a:extLst>
          </p:cNvPr>
          <p:cNvCxnSpPr>
            <a:cxnSpLocks/>
            <a:stCxn id="22" idx="0"/>
            <a:endCxn id="21" idx="4"/>
          </p:cNvCxnSpPr>
          <p:nvPr/>
        </p:nvCxnSpPr>
        <p:spPr>
          <a:xfrm rot="5400000" flipH="1" flipV="1">
            <a:off x="4919098" y="6265037"/>
            <a:ext cx="147391" cy="979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21E123BC-3978-7B37-1D8F-D6F9305A6CDD}"/>
              </a:ext>
            </a:extLst>
          </p:cNvPr>
          <p:cNvSpPr/>
          <p:nvPr/>
        </p:nvSpPr>
        <p:spPr>
          <a:xfrm>
            <a:off x="6454402" y="6093127"/>
            <a:ext cx="141148" cy="1471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694817-8679-7508-4A11-7432A6F5A5CA}"/>
              </a:ext>
            </a:extLst>
          </p:cNvPr>
          <p:cNvSpPr txBox="1"/>
          <p:nvPr/>
        </p:nvSpPr>
        <p:spPr>
          <a:xfrm>
            <a:off x="5628537" y="6387686"/>
            <a:ext cx="1783314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서울행정법원</a:t>
            </a:r>
            <a:endParaRPr lang="en-US" altLang="ko-KR" sz="10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무효처분취소의 소 제기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3F938071-29F0-A509-2EB9-7813BAFFB244}"/>
              </a:ext>
            </a:extLst>
          </p:cNvPr>
          <p:cNvCxnSpPr>
            <a:cxnSpLocks/>
            <a:stCxn id="43" idx="0"/>
            <a:endCxn id="42" idx="4"/>
          </p:cNvCxnSpPr>
          <p:nvPr/>
        </p:nvCxnSpPr>
        <p:spPr>
          <a:xfrm rot="5400000" flipH="1" flipV="1">
            <a:off x="6448890" y="6311600"/>
            <a:ext cx="147391" cy="47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C3CC1D3F-5688-CDA6-C319-FFBDFBE262EC}"/>
              </a:ext>
            </a:extLst>
          </p:cNvPr>
          <p:cNvSpPr/>
          <p:nvPr/>
        </p:nvSpPr>
        <p:spPr>
          <a:xfrm>
            <a:off x="8105765" y="6093127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13461B-FFCC-BA98-F1D2-F9F41CDFE2D0}"/>
              </a:ext>
            </a:extLst>
          </p:cNvPr>
          <p:cNvSpPr txBox="1"/>
          <p:nvPr/>
        </p:nvSpPr>
        <p:spPr>
          <a:xfrm>
            <a:off x="7473915" y="6387686"/>
            <a:ext cx="158443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2023.6.30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기각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050" dirty="0">
                <a:solidFill>
                  <a:srgbClr val="FF0000"/>
                </a:solidFill>
              </a:rPr>
              <a:t>2022</a:t>
            </a:r>
            <a:r>
              <a:rPr lang="ko-KR" altLang="en-US" sz="1050" dirty="0" err="1">
                <a:solidFill>
                  <a:srgbClr val="FF0000"/>
                </a:solidFill>
              </a:rPr>
              <a:t>구합</a:t>
            </a:r>
            <a:r>
              <a:rPr lang="en-US" altLang="ko-KR" sz="1050" dirty="0">
                <a:solidFill>
                  <a:srgbClr val="FF0000"/>
                </a:solidFill>
              </a:rPr>
              <a:t>89524</a:t>
            </a:r>
            <a:r>
              <a:rPr lang="en-US" altLang="ko-KR" sz="1050" dirty="0"/>
              <a:t>)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DABB69DA-A982-9453-B4DC-CEAC196F98E2}"/>
              </a:ext>
            </a:extLst>
          </p:cNvPr>
          <p:cNvCxnSpPr>
            <a:cxnSpLocks/>
            <a:stCxn id="48" idx="0"/>
            <a:endCxn id="47" idx="4"/>
          </p:cNvCxnSpPr>
          <p:nvPr/>
        </p:nvCxnSpPr>
        <p:spPr>
          <a:xfrm rot="16200000" flipV="1">
            <a:off x="8147542" y="6269093"/>
            <a:ext cx="147391" cy="897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65D8ACA0-39F9-DF00-6840-EC379ED2BCD1}"/>
              </a:ext>
            </a:extLst>
          </p:cNvPr>
          <p:cNvSpPr/>
          <p:nvPr/>
        </p:nvSpPr>
        <p:spPr>
          <a:xfrm>
            <a:off x="9665274" y="6093127"/>
            <a:ext cx="141148" cy="1471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0B131D-9703-BD6B-76CA-7FFC2CC83C71}"/>
              </a:ext>
            </a:extLst>
          </p:cNvPr>
          <p:cNvSpPr txBox="1"/>
          <p:nvPr/>
        </p:nvSpPr>
        <p:spPr>
          <a:xfrm>
            <a:off x="9178032" y="6387686"/>
            <a:ext cx="110606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서울고등법원</a:t>
            </a:r>
            <a:endParaRPr lang="en-US" altLang="ko-KR" sz="10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항소</a:t>
            </a: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8ED9E45E-9A74-7C30-8E08-7E6EB090AEA1}"/>
              </a:ext>
            </a:extLst>
          </p:cNvPr>
          <p:cNvCxnSpPr>
            <a:cxnSpLocks/>
            <a:stCxn id="52" idx="0"/>
            <a:endCxn id="51" idx="4"/>
          </p:cNvCxnSpPr>
          <p:nvPr/>
        </p:nvCxnSpPr>
        <p:spPr>
          <a:xfrm rot="5400000" flipH="1" flipV="1">
            <a:off x="9659762" y="6311600"/>
            <a:ext cx="147391" cy="47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98A9F25F-88A5-DDB1-9B80-7F82214EC77F}"/>
              </a:ext>
            </a:extLst>
          </p:cNvPr>
          <p:cNvSpPr/>
          <p:nvPr/>
        </p:nvSpPr>
        <p:spPr>
          <a:xfrm>
            <a:off x="11173762" y="6093127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25194B-1A32-1860-14A2-BACFA0BC870C}"/>
              </a:ext>
            </a:extLst>
          </p:cNvPr>
          <p:cNvSpPr txBox="1"/>
          <p:nvPr/>
        </p:nvSpPr>
        <p:spPr>
          <a:xfrm>
            <a:off x="10395561" y="6387686"/>
            <a:ext cx="1680530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2024.5.16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기각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2023</a:t>
            </a:r>
            <a:r>
              <a:rPr lang="ko-KR" altLang="en-US" sz="1050" dirty="0">
                <a:solidFill>
                  <a:srgbClr val="FF0000"/>
                </a:solidFill>
                <a:latin typeface="+mn-ea"/>
              </a:rPr>
              <a:t>누</a:t>
            </a:r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52088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4A8DCF5D-EE09-EC74-F254-280A0EEF6B8C}"/>
              </a:ext>
            </a:extLst>
          </p:cNvPr>
          <p:cNvCxnSpPr>
            <a:cxnSpLocks/>
            <a:stCxn id="56" idx="0"/>
            <a:endCxn id="54" idx="4"/>
          </p:cNvCxnSpPr>
          <p:nvPr/>
        </p:nvCxnSpPr>
        <p:spPr>
          <a:xfrm rot="5400000" flipH="1" flipV="1">
            <a:off x="11166386" y="6309736"/>
            <a:ext cx="147391" cy="85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00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조의 법조문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5" y="1029105"/>
            <a:ext cx="119363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권리는 이전할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75" y="1985824"/>
            <a:ext cx="119363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권리는 질권의 목적으로 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75" y="2790135"/>
            <a:ext cx="119363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43" y="1376236"/>
            <a:ext cx="1164845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이전 </a:t>
            </a:r>
            <a:r>
              <a:rPr lang="en-US" altLang="ko-KR" sz="1200" dirty="0">
                <a:solidFill>
                  <a:schemeClr val="tx2"/>
                </a:solidFill>
              </a:rPr>
              <a:t>: </a:t>
            </a:r>
            <a:r>
              <a:rPr lang="ko-KR" altLang="en-US" sz="1200" dirty="0">
                <a:solidFill>
                  <a:schemeClr val="tx2"/>
                </a:solidFill>
              </a:rPr>
              <a:t>양도 </a:t>
            </a:r>
            <a:r>
              <a:rPr lang="en-US" altLang="ko-KR" sz="1200" dirty="0">
                <a:solidFill>
                  <a:schemeClr val="tx2"/>
                </a:solidFill>
              </a:rPr>
              <a:t>+ </a:t>
            </a:r>
            <a:r>
              <a:rPr lang="ko-KR" altLang="en-US" sz="1200" dirty="0">
                <a:solidFill>
                  <a:schemeClr val="tx2"/>
                </a:solidFill>
              </a:rPr>
              <a:t>상속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43" y="2341432"/>
            <a:ext cx="1164845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불안정한 상태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43" y="3154232"/>
            <a:ext cx="11648456" cy="6734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새로이 공유자로 될 자의 자본력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기술력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신용력</a:t>
            </a:r>
            <a:r>
              <a:rPr lang="ko-KR" altLang="en-US" sz="1200" dirty="0">
                <a:solidFill>
                  <a:schemeClr val="tx2"/>
                </a:solidFill>
              </a:rPr>
              <a:t> 여하에 따라 기존 공유자의 이해관계에 영향을 미치기 때문에 제한을 두고 있음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민법과 차이점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지분의 상속은 다른 공유자에게 </a:t>
            </a:r>
            <a:r>
              <a:rPr lang="ko-KR" altLang="en-US" sz="1200" dirty="0" err="1">
                <a:solidFill>
                  <a:schemeClr val="tx2"/>
                </a:solidFill>
              </a:rPr>
              <a:t>불측의</a:t>
            </a:r>
            <a:r>
              <a:rPr lang="ko-KR" altLang="en-US" sz="1200" dirty="0">
                <a:solidFill>
                  <a:schemeClr val="tx2"/>
                </a:solidFill>
              </a:rPr>
              <a:t> 손해를 줄 염려가 없기 때문에 다른 공유자의 동의를 받지 아니하고 할 수 있으며 공유자끼리의 지분양도는 공유자 사이의 지분 비율의 변동에 불과하기 때문에 다른 공유자의 동의를 받지 아니하고 가능하다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106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5D3D5A2-A7CA-4BAF-A52A-210F4D0F5454}"/>
              </a:ext>
            </a:extLst>
          </p:cNvPr>
          <p:cNvCxnSpPr/>
          <p:nvPr/>
        </p:nvCxnSpPr>
        <p:spPr>
          <a:xfrm>
            <a:off x="17418" y="3979817"/>
            <a:ext cx="1212233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6CA6DE-28A0-4408-8B78-BFBF21F50FE4}"/>
              </a:ext>
            </a:extLst>
          </p:cNvPr>
          <p:cNvSpPr/>
          <p:nvPr/>
        </p:nvSpPr>
        <p:spPr>
          <a:xfrm>
            <a:off x="226423" y="5167579"/>
            <a:ext cx="1743663" cy="37731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특허를 받을 수 있는 권리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6D972E-B048-4F0C-95CD-8DAEEA811B36}"/>
              </a:ext>
            </a:extLst>
          </p:cNvPr>
          <p:cNvSpPr/>
          <p:nvPr/>
        </p:nvSpPr>
        <p:spPr>
          <a:xfrm>
            <a:off x="2335763" y="4559220"/>
            <a:ext cx="1326679" cy="3773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특허부여요구권적</a:t>
            </a:r>
            <a:r>
              <a:rPr lang="ko-KR" altLang="en-US" sz="1200" dirty="0">
                <a:solidFill>
                  <a:schemeClr val="tx2"/>
                </a:solidFill>
              </a:rPr>
              <a:t> 효력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8E5946-5366-4A79-92C5-59DE5C726E44}"/>
              </a:ext>
            </a:extLst>
          </p:cNvPr>
          <p:cNvSpPr/>
          <p:nvPr/>
        </p:nvSpPr>
        <p:spPr>
          <a:xfrm>
            <a:off x="2335763" y="5744418"/>
            <a:ext cx="1326679" cy="3773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발명자권적</a:t>
            </a:r>
            <a:r>
              <a:rPr lang="ko-KR" altLang="en-US" sz="1200" dirty="0">
                <a:solidFill>
                  <a:schemeClr val="tx2"/>
                </a:solidFill>
              </a:rPr>
              <a:t> 효력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F7BC4D-DC91-4D42-B22B-4A8145570711}"/>
              </a:ext>
            </a:extLst>
          </p:cNvPr>
          <p:cNvSpPr/>
          <p:nvPr/>
        </p:nvSpPr>
        <p:spPr>
          <a:xfrm>
            <a:off x="3996684" y="4232881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권리부여의 요구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42)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4B3DD0-C8C9-4CDF-AAAB-7744960D69E7}"/>
              </a:ext>
            </a:extLst>
          </p:cNvPr>
          <p:cNvSpPr/>
          <p:nvPr/>
        </p:nvSpPr>
        <p:spPr>
          <a:xfrm>
            <a:off x="3996684" y="4673065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타인출원의 등록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금지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661651-5C56-4E82-BB29-3B733279EE2D}"/>
              </a:ext>
            </a:extLst>
          </p:cNvPr>
          <p:cNvSpPr/>
          <p:nvPr/>
        </p:nvSpPr>
        <p:spPr>
          <a:xfrm>
            <a:off x="3996684" y="5570190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재산권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492269-D1CC-4FD5-A76A-396C4BD65C67}"/>
              </a:ext>
            </a:extLst>
          </p:cNvPr>
          <p:cNvSpPr/>
          <p:nvPr/>
        </p:nvSpPr>
        <p:spPr>
          <a:xfrm>
            <a:off x="3996684" y="6010374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인격권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1F05BF-99A6-4D0F-9A39-372768919F69}"/>
              </a:ext>
            </a:extLst>
          </p:cNvPr>
          <p:cNvSpPr/>
          <p:nvPr/>
        </p:nvSpPr>
        <p:spPr>
          <a:xfrm>
            <a:off x="5648899" y="4982880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침해에 대한 보호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4D394F-EE52-4F28-93ED-B01293F8C932}"/>
              </a:ext>
            </a:extLst>
          </p:cNvPr>
          <p:cNvSpPr/>
          <p:nvPr/>
        </p:nvSpPr>
        <p:spPr>
          <a:xfrm>
            <a:off x="5648899" y="5798475"/>
            <a:ext cx="1326679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발명의 실시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C52AA2-6F6F-4F36-96EE-F39A501B4903}"/>
              </a:ext>
            </a:extLst>
          </p:cNvPr>
          <p:cNvSpPr/>
          <p:nvPr/>
        </p:nvSpPr>
        <p:spPr>
          <a:xfrm>
            <a:off x="7365381" y="4272461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무권리자출원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무단출원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548D5AD-8BBD-4B8A-BA41-B6F0FF835DCD}"/>
              </a:ext>
            </a:extLst>
          </p:cNvPr>
          <p:cNvSpPr/>
          <p:nvPr/>
        </p:nvSpPr>
        <p:spPr>
          <a:xfrm>
            <a:off x="7365381" y="4695930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무단공표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012A8D-6A48-4A93-93EC-2C182C7B39D1}"/>
              </a:ext>
            </a:extLst>
          </p:cNvPr>
          <p:cNvSpPr/>
          <p:nvPr/>
        </p:nvSpPr>
        <p:spPr>
          <a:xfrm>
            <a:off x="7365381" y="5124918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무단실시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F48EEE-E037-4216-A599-0DCF1B440DB5}"/>
              </a:ext>
            </a:extLst>
          </p:cNvPr>
          <p:cNvSpPr/>
          <p:nvPr/>
        </p:nvSpPr>
        <p:spPr>
          <a:xfrm>
            <a:off x="9751538" y="4161282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정당한 권리자 출원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34, 35)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8B960F-E357-4A56-AD2F-3A86F4992C3F}"/>
              </a:ext>
            </a:extLst>
          </p:cNvPr>
          <p:cNvSpPr/>
          <p:nvPr/>
        </p:nvSpPr>
        <p:spPr>
          <a:xfrm>
            <a:off x="9751538" y="4584751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이전청구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99</a:t>
            </a:r>
            <a:r>
              <a:rPr lang="ko-KR" altLang="en-US" sz="1200" dirty="0">
                <a:solidFill>
                  <a:schemeClr val="tx2"/>
                </a:solidFill>
              </a:rPr>
              <a:t>의</a:t>
            </a:r>
            <a:r>
              <a:rPr lang="en-US" altLang="ko-KR" sz="1200" dirty="0">
                <a:solidFill>
                  <a:schemeClr val="tx2"/>
                </a:solidFill>
              </a:rPr>
              <a:t>2)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672F1FB-C1E9-4FC0-A2D5-D18AD269FC52}"/>
              </a:ext>
            </a:extLst>
          </p:cNvPr>
          <p:cNvSpPr/>
          <p:nvPr/>
        </p:nvSpPr>
        <p:spPr>
          <a:xfrm>
            <a:off x="9751538" y="4997447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의사에 반한 공지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30①Ⅱ)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60C29B-A6E1-4B36-9F59-8B18D1F7036E}"/>
              </a:ext>
            </a:extLst>
          </p:cNvPr>
          <p:cNvSpPr/>
          <p:nvPr/>
        </p:nvSpPr>
        <p:spPr>
          <a:xfrm>
            <a:off x="9751538" y="5422414"/>
            <a:ext cx="1647994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보상금청구권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65)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60A919-0130-4897-ACB2-60C4E721BC4A}"/>
              </a:ext>
            </a:extLst>
          </p:cNvPr>
          <p:cNvSpPr/>
          <p:nvPr/>
        </p:nvSpPr>
        <p:spPr>
          <a:xfrm>
            <a:off x="7365381" y="5800597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선사용권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103)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D728F45-024E-42CF-972C-90EECADDBC12}"/>
              </a:ext>
            </a:extLst>
          </p:cNvPr>
          <p:cNvSpPr/>
          <p:nvPr/>
        </p:nvSpPr>
        <p:spPr>
          <a:xfrm>
            <a:off x="7365381" y="6229585"/>
            <a:ext cx="1712830" cy="3773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2"/>
                </a:solidFill>
              </a:rPr>
              <a:t>특허출원시부터</a:t>
            </a:r>
            <a:r>
              <a:rPr lang="ko-KR" altLang="en-US" sz="1200" dirty="0">
                <a:solidFill>
                  <a:schemeClr val="tx2"/>
                </a:solidFill>
              </a:rPr>
              <a:t> 국내에 있던 물건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法 </a:t>
            </a:r>
            <a:r>
              <a:rPr lang="en-US" altLang="ko-KR" sz="1200" dirty="0">
                <a:solidFill>
                  <a:schemeClr val="tx2"/>
                </a:solidFill>
              </a:rPr>
              <a:t>96①Ⅲ)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4F17131-9782-4919-995C-139A63D6850F}"/>
              </a:ext>
            </a:extLst>
          </p:cNvPr>
          <p:cNvSpPr/>
          <p:nvPr/>
        </p:nvSpPr>
        <p:spPr>
          <a:xfrm>
            <a:off x="9751538" y="5847381"/>
            <a:ext cx="1647994" cy="37731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영업비밀보호법에 의한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보호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부정취득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공개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36D58A31-84F4-45F4-9189-7127B1334981}"/>
              </a:ext>
            </a:extLst>
          </p:cNvPr>
          <p:cNvCxnSpPr>
            <a:stCxn id="8" idx="3"/>
            <a:endCxn id="18" idx="1"/>
          </p:cNvCxnSpPr>
          <p:nvPr/>
        </p:nvCxnSpPr>
        <p:spPr>
          <a:xfrm flipV="1">
            <a:off x="1970086" y="4747878"/>
            <a:ext cx="365677" cy="6083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6BD3106-8750-4983-BF65-D7B61B778AA3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1970086" y="5356237"/>
            <a:ext cx="365677" cy="5768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867933C7-2F27-4C66-9EBE-FDD346CE4997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3662442" y="4421539"/>
            <a:ext cx="334242" cy="3263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E20248E-3E20-4892-81D7-3D0E60962BC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3662442" y="4747878"/>
            <a:ext cx="334242" cy="1138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5F50DBB7-BB14-4657-A1B7-ECDB27B38B63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 flipV="1">
            <a:off x="3662442" y="5758848"/>
            <a:ext cx="334242" cy="1742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AA182F24-0EAC-4F1A-8C79-B5C2ECDEFF9D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>
            <a:off x="3662442" y="5933076"/>
            <a:ext cx="334242" cy="2659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C614E993-A8CC-4CEE-A785-5DA49D8C0863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 flipV="1">
            <a:off x="5323363" y="5171538"/>
            <a:ext cx="325536" cy="5873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801C308D-C6FF-452D-B3E8-CD7AE4A9ABCD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>
            <a:off x="5323363" y="5758848"/>
            <a:ext cx="325536" cy="2282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CF8DAA59-E95E-4186-A198-7391729F10C5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 flipV="1">
            <a:off x="6975578" y="4461119"/>
            <a:ext cx="389803" cy="7104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A8BAB1ED-F912-46F7-B36A-E53581FD1BC5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>
            <a:off x="6975578" y="5171538"/>
            <a:ext cx="389803" cy="1420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E23EFB4C-7436-4C8E-A494-C0764B47189F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 flipV="1">
            <a:off x="6975578" y="4884588"/>
            <a:ext cx="389803" cy="2869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AF5C3EC7-D9F3-42E5-B44B-9270F5D4C0C2}"/>
              </a:ext>
            </a:extLst>
          </p:cNvPr>
          <p:cNvCxnSpPr>
            <a:stCxn id="26" idx="3"/>
            <a:endCxn id="34" idx="1"/>
          </p:cNvCxnSpPr>
          <p:nvPr/>
        </p:nvCxnSpPr>
        <p:spPr>
          <a:xfrm>
            <a:off x="6975578" y="5987133"/>
            <a:ext cx="389803" cy="21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A67B1319-BBD5-4211-8034-1F4912882DFE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>
            <a:off x="6975578" y="5987133"/>
            <a:ext cx="389803" cy="4311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C786560F-5B36-470D-A305-7A03493127FF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 flipV="1">
            <a:off x="9078211" y="4349940"/>
            <a:ext cx="673327" cy="1111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27008CE9-3D91-4686-86FB-25F159CCDC6D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9078211" y="4461119"/>
            <a:ext cx="673327" cy="3122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8413A653-7E6D-4456-B85B-C0D563A190AB}"/>
              </a:ext>
            </a:extLst>
          </p:cNvPr>
          <p:cNvCxnSpPr>
            <a:stCxn id="28" idx="3"/>
            <a:endCxn id="32" idx="1"/>
          </p:cNvCxnSpPr>
          <p:nvPr/>
        </p:nvCxnSpPr>
        <p:spPr>
          <a:xfrm>
            <a:off x="9078211" y="4884588"/>
            <a:ext cx="673327" cy="3015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8C13B22-2AC6-4AA9-B45A-68DDF7C419FC}"/>
              </a:ext>
            </a:extLst>
          </p:cNvPr>
          <p:cNvCxnSpPr>
            <a:stCxn id="29" idx="3"/>
            <a:endCxn id="33" idx="1"/>
          </p:cNvCxnSpPr>
          <p:nvPr/>
        </p:nvCxnSpPr>
        <p:spPr>
          <a:xfrm>
            <a:off x="9078211" y="5313576"/>
            <a:ext cx="673327" cy="2974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20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/>
              <a:t>항의 개념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67" y="1746507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67" y="3980749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/>
              <a:t>무체물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95968" y="5084930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점유 수반</a:t>
            </a:r>
            <a:r>
              <a:rPr lang="en-US" altLang="ko-KR" sz="1400" dirty="0"/>
              <a:t>×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312157" y="1427453"/>
            <a:ext cx="3436861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공유자 모두</a:t>
            </a:r>
            <a:r>
              <a:rPr lang="en-US" altLang="ko-KR" sz="1400" dirty="0"/>
              <a:t>/</a:t>
            </a:r>
            <a:r>
              <a:rPr lang="ko-KR" altLang="en-US" sz="1400" dirty="0"/>
              <a:t>지분 비율 무관</a:t>
            </a:r>
            <a:r>
              <a:rPr lang="en-US" altLang="ko-KR" sz="1400" dirty="0"/>
              <a:t>/</a:t>
            </a:r>
            <a:r>
              <a:rPr lang="ko-KR" altLang="en-US" sz="1400" dirty="0"/>
              <a:t>발명 전체 실시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99</a:t>
            </a:r>
            <a:r>
              <a:rPr lang="ko-KR" altLang="en-US" sz="1400" dirty="0"/>
              <a:t>③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312159" y="2985788"/>
            <a:ext cx="3436860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지분 비율보다는 자본력</a:t>
            </a:r>
            <a:r>
              <a:rPr lang="en-US" altLang="ko-KR" sz="1400" dirty="0"/>
              <a:t>, </a:t>
            </a:r>
            <a:r>
              <a:rPr lang="ko-KR" altLang="en-US" sz="1400" dirty="0"/>
              <a:t>기술력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신용력</a:t>
            </a:r>
            <a:r>
              <a:rPr lang="ko-KR" altLang="en-US" sz="1400" dirty="0"/>
              <a:t> 등 다른 요인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967" y="2807556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기술적 사상</a:t>
            </a:r>
          </a:p>
        </p:txBody>
      </p:sp>
      <p:cxnSp>
        <p:nvCxnSpPr>
          <p:cNvPr id="7" name="직선 화살표 연결선 6"/>
          <p:cNvCxnSpPr>
            <a:stCxn id="18" idx="2"/>
            <a:endCxn id="23" idx="0"/>
          </p:cNvCxnSpPr>
          <p:nvPr/>
        </p:nvCxnSpPr>
        <p:spPr>
          <a:xfrm>
            <a:off x="1217905" y="2339179"/>
            <a:ext cx="0" cy="4683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3" idx="2"/>
          </p:cNvCxnSpPr>
          <p:nvPr/>
        </p:nvCxnSpPr>
        <p:spPr>
          <a:xfrm>
            <a:off x="1217905" y="3400228"/>
            <a:ext cx="1" cy="5805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9" idx="2"/>
            <a:endCxn id="20" idx="0"/>
          </p:cNvCxnSpPr>
          <p:nvPr/>
        </p:nvCxnSpPr>
        <p:spPr>
          <a:xfrm>
            <a:off x="1217905" y="4573421"/>
            <a:ext cx="1" cy="5115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0" idx="2"/>
            <a:endCxn id="21" idx="0"/>
          </p:cNvCxnSpPr>
          <p:nvPr/>
        </p:nvCxnSpPr>
        <p:spPr>
          <a:xfrm rot="5400000" flipH="1" flipV="1">
            <a:off x="499172" y="2146187"/>
            <a:ext cx="4250149" cy="2812682"/>
          </a:xfrm>
          <a:prstGeom prst="bentConnector5">
            <a:avLst>
              <a:gd name="adj1" fmla="val -5379"/>
              <a:gd name="adj2" fmla="val 28730"/>
              <a:gd name="adj3" fmla="val 105379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22" idx="0"/>
            <a:endCxn id="21" idx="2"/>
          </p:cNvCxnSpPr>
          <p:nvPr/>
        </p:nvCxnSpPr>
        <p:spPr>
          <a:xfrm flipH="1" flipV="1">
            <a:off x="4030588" y="2020125"/>
            <a:ext cx="1" cy="9656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33409" y="2332095"/>
            <a:ext cx="8098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영향력</a:t>
            </a:r>
          </a:p>
        </p:txBody>
      </p:sp>
      <p:sp>
        <p:nvSpPr>
          <p:cNvPr id="36" name="왼쪽 화살표 35"/>
          <p:cNvSpPr/>
          <p:nvPr/>
        </p:nvSpPr>
        <p:spPr>
          <a:xfrm>
            <a:off x="4571998" y="2332095"/>
            <a:ext cx="575733" cy="369332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242075" y="2332095"/>
            <a:ext cx="601447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제한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2609" y="1561841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>
                <a:solidFill>
                  <a:schemeClr val="accent1">
                    <a:lumMod val="50000"/>
                  </a:schemeClr>
                </a:solidFill>
              </a:rPr>
              <a:t>등록전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2609" y="2517534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 dirty="0" err="1">
                <a:solidFill>
                  <a:schemeClr val="accent1">
                    <a:lumMod val="50000"/>
                  </a:schemeClr>
                </a:solidFill>
              </a:rPr>
              <a:t>등록후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83400" y="1492956"/>
            <a:ext cx="4960668" cy="4616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37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3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874933" y="2186579"/>
            <a:ext cx="4960668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2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지분을 양도하거나 그 지분을 목적으로 하는 질권을 설정할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4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특허권에 대하여 </a:t>
            </a:r>
            <a:r>
              <a:rPr lang="ko-KR" altLang="en-US" sz="12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200" dirty="0">
                <a:solidFill>
                  <a:schemeClr val="tx2"/>
                </a:solidFill>
              </a:rPr>
              <a:t> 설정하거나 </a:t>
            </a:r>
            <a:r>
              <a:rPr lang="ko-KR" altLang="en-US" sz="12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200" dirty="0">
                <a:solidFill>
                  <a:schemeClr val="tx2"/>
                </a:solidFill>
              </a:rPr>
              <a:t> 허락할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43" name="꺾인 연결선 42"/>
          <p:cNvCxnSpPr>
            <a:stCxn id="37" idx="3"/>
            <a:endCxn id="38" idx="1"/>
          </p:cNvCxnSpPr>
          <p:nvPr/>
        </p:nvCxnSpPr>
        <p:spPr>
          <a:xfrm flipV="1">
            <a:off x="5843522" y="1715730"/>
            <a:ext cx="279087" cy="8010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7" idx="3"/>
            <a:endCxn id="39" idx="1"/>
          </p:cNvCxnSpPr>
          <p:nvPr/>
        </p:nvCxnSpPr>
        <p:spPr>
          <a:xfrm>
            <a:off x="5843522" y="2516761"/>
            <a:ext cx="279087" cy="15466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312159" y="3886200"/>
            <a:ext cx="953190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092980"/>
              </p:ext>
            </p:extLst>
          </p:nvPr>
        </p:nvGraphicFramePr>
        <p:xfrm>
          <a:off x="2428427" y="4421024"/>
          <a:ext cx="3489772" cy="15697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" name="그룹 53"/>
          <p:cNvGrpSpPr/>
          <p:nvPr/>
        </p:nvGrpSpPr>
        <p:grpSpPr>
          <a:xfrm>
            <a:off x="6244163" y="4622800"/>
            <a:ext cx="1443571" cy="982134"/>
            <a:chOff x="6659029" y="4622800"/>
            <a:chExt cx="1443571" cy="982134"/>
          </a:xfrm>
        </p:grpSpPr>
        <p:sp>
          <p:nvSpPr>
            <p:cNvPr id="51" name="오른쪽 화살표 50"/>
            <p:cNvSpPr/>
            <p:nvPr/>
          </p:nvSpPr>
          <p:spPr>
            <a:xfrm>
              <a:off x="6680200" y="4622800"/>
              <a:ext cx="1422400" cy="982134"/>
            </a:xfrm>
            <a:prstGeom prst="rightArrow">
              <a:avLst>
                <a:gd name="adj1" fmla="val 71348"/>
                <a:gd name="adj2" fmla="val 51191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59029" y="4823320"/>
              <a:ext cx="1278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甲이 丁에게 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지분 </a:t>
              </a:r>
              <a:r>
                <a:rPr lang="en-US" altLang="ko-KR" sz="1400" dirty="0"/>
                <a:t>5% </a:t>
              </a:r>
              <a:r>
                <a:rPr lang="ko-KR" altLang="en-US" sz="1400" dirty="0"/>
                <a:t>양도</a:t>
              </a:r>
            </a:p>
          </p:txBody>
        </p:sp>
      </p:grp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148057"/>
              </p:ext>
            </p:extLst>
          </p:nvPr>
        </p:nvGraphicFramePr>
        <p:xfrm>
          <a:off x="8024893" y="4421024"/>
          <a:ext cx="3489772" cy="194056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일조원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97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발명자의 추가 또는 정정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108</a:t>
            </a:fld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등록 전 출원인과 등록 후 특허권자는 발명자의 추가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정정을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등록 전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특허출원인이</a:t>
            </a:r>
            <a:r>
              <a:rPr lang="ko-KR" altLang="en-US" sz="1400" dirty="0">
                <a:solidFill>
                  <a:schemeClr val="tx2"/>
                </a:solidFill>
              </a:rPr>
              <a:t> 착오로 인하여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발명자의 기재를 일부 누락하거나 잘못 적은 경우에는 발명자를 추가 또는 정정할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법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특허결정이 있는 때부터 법 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87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항에 따른 특허권의 설정등록을 받기 전</a:t>
            </a:r>
            <a:r>
              <a:rPr lang="ko-KR" altLang="en-US" sz="1400" dirty="0">
                <a:solidFill>
                  <a:schemeClr val="tx2"/>
                </a:solidFill>
              </a:rPr>
              <a:t>까지는 발명자를 추가할 수 없고 발명자의 동일성이 유지되지 않는 경우 발명자를 정정할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발명자를 추가 또는 정정하려는 경우에는 보정서에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발명자의 추가 또는 정정 이유를 기재한 설명서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특허출원인 및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추가 또는 정정의 대상이 되는 발명자</a:t>
            </a:r>
            <a:r>
              <a:rPr lang="ko-KR" altLang="en-US" sz="1400" dirty="0">
                <a:solidFill>
                  <a:schemeClr val="tx2"/>
                </a:solidFill>
              </a:rPr>
              <a:t>가 서명 또는 날인한 확인서류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발명자의 사망 등으로 서명 또는 날인이 불가한 특별한 사유가 있는 경우에는 그 사유를 확인서류에 기재하고 서명 또는 날인을 생략할 수 있다</a:t>
            </a:r>
            <a:r>
              <a:rPr lang="en-US" altLang="ko-KR" sz="1400" dirty="0">
                <a:solidFill>
                  <a:schemeClr val="tx2"/>
                </a:solidFill>
              </a:rPr>
              <a:t>.)</a:t>
            </a:r>
            <a:r>
              <a:rPr lang="ko-KR" altLang="en-US" sz="1400" dirty="0">
                <a:solidFill>
                  <a:schemeClr val="tx2"/>
                </a:solidFill>
              </a:rPr>
              <a:t>를 첨부하여 지식재산처장에게 제출해야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적은 발명자의 기재가 일부 누락되거나 발명자를 잘못 적은 것임이 명백한 경우에는 확인서류를 첨부하지 않을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</a:rPr>
              <a:t>28①②).  </a:t>
            </a:r>
            <a:r>
              <a:rPr lang="ko-KR" altLang="en-US" sz="1400" dirty="0">
                <a:solidFill>
                  <a:schemeClr val="tx2"/>
                </a:solidFill>
              </a:rPr>
              <a:t>등록 후 특허권자도 발명자의 추가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정정을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특허권자가 발명자를 추가 또는 정정하려는 경우에는 정정발급신청서에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발명자의 추가 또는 정정 이유를 기재한 설명서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특허권자 및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신청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전ㆍ후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발명자 전원</a:t>
            </a:r>
            <a:r>
              <a:rPr lang="ko-KR" altLang="en-US" sz="1400" dirty="0">
                <a:solidFill>
                  <a:schemeClr val="tx2"/>
                </a:solidFill>
              </a:rPr>
              <a:t>이 서명 또는 날인한 확인서류를 첨부하여 지식재산처장에게 제출해야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ⅰ)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적은 발명자의 기재가 일부 누락된 경우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발명자를 잘못 적은 것임이 명백한 경우</a:t>
            </a:r>
            <a:r>
              <a:rPr lang="en-US" altLang="ko-KR" sz="1400" dirty="0">
                <a:solidFill>
                  <a:schemeClr val="tx2"/>
                </a:solidFill>
              </a:rPr>
              <a:t>, ⅲ) </a:t>
            </a:r>
            <a:r>
              <a:rPr lang="ko-KR" altLang="en-US" sz="1400" dirty="0">
                <a:solidFill>
                  <a:schemeClr val="tx2"/>
                </a:solidFill>
              </a:rPr>
              <a:t>특허권자가 법 제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특허권 이전등록을 받은 자인 경우에는 확인서류를 첨부하지 않을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</a:rPr>
              <a:t>28③④).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</a:t>
            </a:r>
            <a:r>
              <a:rPr lang="ko-KR" altLang="en-US" sz="1400" dirty="0">
                <a:solidFill>
                  <a:schemeClr val="tx2"/>
                </a:solidFill>
              </a:rPr>
              <a:t>진실한 발명자가 발명자로 표시되지 않았으면 발명자는 특허증에 발명자로 기재된 권리를 </a:t>
            </a:r>
            <a:r>
              <a:rPr lang="ko-KR" altLang="en-US" sz="1400" dirty="0" err="1">
                <a:solidFill>
                  <a:schemeClr val="tx2"/>
                </a:solidFill>
              </a:rPr>
              <a:t>제한받았기</a:t>
            </a:r>
            <a:r>
              <a:rPr lang="ko-KR" altLang="en-US" sz="1400" dirty="0">
                <a:solidFill>
                  <a:schemeClr val="tx2"/>
                </a:solidFill>
              </a:rPr>
              <a:t> 때문에 특허권자에게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발명자 인격권의 침해에 대한 손해배상을 </a:t>
            </a:r>
            <a:r>
              <a:rPr lang="ko-KR" altLang="en-US" sz="1400" dirty="0">
                <a:solidFill>
                  <a:schemeClr val="tx2"/>
                </a:solidFill>
              </a:rPr>
              <a:t>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특허증에 발명자로 표시되는 것은 직무발명의 보상 등과 같은 개인적인 만족을 넘어서 입시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인사 등에서 사회적으로 유의미한 이익을 누리도록 하는 기능이 있고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수수료를 </a:t>
            </a:r>
            <a:r>
              <a:rPr lang="ko-KR" altLang="en-US" sz="1400" dirty="0" err="1">
                <a:solidFill>
                  <a:schemeClr val="tx2"/>
                </a:solidFill>
              </a:rPr>
              <a:t>감면받거나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확대된 선출원을 회피할 목적으로 악용될 소지가 있으므로 제한하고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감면 대상자를 발명자에 포함하여 부당하게 수수료를 </a:t>
            </a:r>
            <a:r>
              <a:rPr lang="ko-KR" altLang="en-US" sz="1400" dirty="0" err="1">
                <a:solidFill>
                  <a:schemeClr val="tx2"/>
                </a:solidFill>
              </a:rPr>
              <a:t>감면받은</a:t>
            </a:r>
            <a:r>
              <a:rPr lang="ko-KR" altLang="en-US" sz="1400" dirty="0">
                <a:solidFill>
                  <a:schemeClr val="tx2"/>
                </a:solidFill>
              </a:rPr>
              <a:t> 경우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감면받은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특허료 및 수수료의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배를 추징</a:t>
            </a:r>
            <a:r>
              <a:rPr lang="ko-KR" altLang="en-US" sz="1400" dirty="0">
                <a:solidFill>
                  <a:schemeClr val="tx2"/>
                </a:solidFill>
              </a:rPr>
              <a:t>하고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일정 기간 감면을 제한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83④)</a:t>
            </a:r>
            <a:r>
              <a:rPr lang="ko-KR" altLang="en-US" sz="1400" dirty="0">
                <a:solidFill>
                  <a:schemeClr val="tx2"/>
                </a:solidFill>
              </a:rPr>
              <a:t>함으로써 제도의 악용을 방지하고 공정성을 제고하고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인격권을 침해하였다고 하여 등록된 특허가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제한열거적인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무효사유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133①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각호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에 해당하지 않는다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 </a:t>
            </a:r>
            <a:endParaRPr lang="ko-KR" altLang="en-US" sz="1400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43476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11783864" y="6795984"/>
            <a:ext cx="0" cy="868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33084" y="5170649"/>
            <a:ext cx="390861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2075" indent="-92075" fontAlgn="base"/>
            <a:r>
              <a:rPr lang="en-US" altLang="ko-KR" sz="1200" dirty="0"/>
              <a:t>- </a:t>
            </a:r>
            <a:r>
              <a:rPr lang="ko-KR" altLang="en-US" sz="1200" dirty="0"/>
              <a:t>표시상 완전히 일치하지 않더라도 실질적으로 동일한 발명자로 판단되면 발명자가 동일한 것으로 인정된다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2011. 12. 13.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2011</a:t>
            </a:r>
            <a:r>
              <a:rPr lang="ko-KR" altLang="en-US" sz="1200" dirty="0"/>
              <a:t>도</a:t>
            </a:r>
            <a:r>
              <a:rPr lang="en-US" altLang="ko-KR" sz="1200" dirty="0"/>
              <a:t>10525).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</a:t>
            </a:r>
            <a:r>
              <a:rPr lang="ko-KR" altLang="en-US" sz="1200" dirty="0"/>
              <a:t>발명자가 동일하다는 것은 출원인이 증명하여야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</a:t>
            </a:r>
            <a:r>
              <a:rPr lang="en-US" altLang="ko-KR" sz="1200" dirty="0"/>
              <a:t>, </a:t>
            </a:r>
            <a:r>
              <a:rPr lang="ko-KR" altLang="en-US" sz="1200" dirty="0"/>
              <a:t>출원인이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4</a:t>
            </a:r>
            <a:r>
              <a:rPr lang="ko-KR" altLang="en-US" sz="1200" dirty="0"/>
              <a:t>항에 위반된 것을 염려하여 발명자의 추가나 정정신청을 한 경우 심사관은 진정한 발명자인지 여부를 증명할 수 있는 서류를 출원인에게 요구할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68424-E31A-4153-B06B-E07ADBC83727}"/>
              </a:ext>
            </a:extLst>
          </p:cNvPr>
          <p:cNvSpPr txBox="1"/>
          <p:nvPr/>
        </p:nvSpPr>
        <p:spPr>
          <a:xfrm>
            <a:off x="275098" y="4684197"/>
            <a:ext cx="373050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확대된 </a:t>
            </a:r>
            <a:r>
              <a:rPr lang="ko-KR" altLang="en-US" dirty="0" err="1"/>
              <a:t>선출원</a:t>
            </a:r>
            <a:r>
              <a:rPr lang="ko-KR" altLang="en-US" dirty="0"/>
              <a:t> 위반 회피 악용</a:t>
            </a:r>
            <a:r>
              <a:rPr lang="en-US" altLang="ko-KR" dirty="0"/>
              <a:t> </a:t>
            </a:r>
            <a:r>
              <a:rPr lang="ko-KR" altLang="en-US" dirty="0"/>
              <a:t>방지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DD8919-62DB-4CD5-8CAE-F75EC9CC1CF2}"/>
              </a:ext>
            </a:extLst>
          </p:cNvPr>
          <p:cNvSpPr txBox="1"/>
          <p:nvPr/>
        </p:nvSpPr>
        <p:spPr>
          <a:xfrm>
            <a:off x="4456044" y="4680144"/>
            <a:ext cx="741839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6213" indent="-176213"/>
            <a:r>
              <a:rPr lang="en-US" altLang="ko-KR" dirty="0"/>
              <a:t>* </a:t>
            </a:r>
            <a:r>
              <a:rPr lang="ko-KR" altLang="en-US" dirty="0"/>
              <a:t>甲으로부터 특허를 받을 수 있는 권리를 양수한 乙이 발명자</a:t>
            </a:r>
            <a:r>
              <a:rPr lang="en-US" altLang="ko-KR" dirty="0"/>
              <a:t>, </a:t>
            </a:r>
            <a:r>
              <a:rPr lang="ko-KR" altLang="en-US" dirty="0"/>
              <a:t>출원인을 乙로 기재하여 </a:t>
            </a:r>
            <a:r>
              <a:rPr lang="ko-KR" altLang="en-US" dirty="0" err="1"/>
              <a:t>특허출원한</a:t>
            </a:r>
            <a:r>
              <a:rPr lang="ko-KR" altLang="en-US" dirty="0"/>
              <a:t> 경우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A33203-DC4F-4573-8BEA-22193E13C33A}"/>
              </a:ext>
            </a:extLst>
          </p:cNvPr>
          <p:cNvSpPr txBox="1"/>
          <p:nvPr/>
        </p:nvSpPr>
        <p:spPr>
          <a:xfrm>
            <a:off x="4456044" y="5460469"/>
            <a:ext cx="748657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200" dirty="0"/>
              <a:t>등록 전 심사과정에서 발명자 기재에 대한 방식 흠결을 이유로 보정명령 후</a:t>
            </a:r>
            <a:r>
              <a:rPr lang="en-US" altLang="ko-KR" sz="1200" dirty="0"/>
              <a:t>, </a:t>
            </a:r>
            <a:r>
              <a:rPr lang="ko-KR" altLang="en-US" sz="1200" dirty="0"/>
              <a:t>진정한 발명자임을 증명하지 못하거나 발명자 정정을 하지 않은 경우 출원을 무효로 할 수 있으나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제한열거적인</a:t>
            </a:r>
            <a:r>
              <a:rPr lang="ko-KR" altLang="en-US" sz="1200" dirty="0"/>
              <a:t> 거절이유에 해당하지 않음 </a:t>
            </a:r>
            <a:endParaRPr lang="en-US" altLang="ko-KR" sz="1200" dirty="0"/>
          </a:p>
          <a:p>
            <a:pPr marL="171450" indent="-171450" fontAlgn="base">
              <a:buFontTx/>
              <a:buChar char="-"/>
            </a:pPr>
            <a:r>
              <a:rPr lang="ko-KR" altLang="en-US" sz="1200" dirty="0"/>
              <a:t>등록 후에는 </a:t>
            </a:r>
            <a:r>
              <a:rPr lang="ko-KR" altLang="en-US" sz="1200" dirty="0" err="1"/>
              <a:t>제한열거적인</a:t>
            </a:r>
            <a:r>
              <a:rPr lang="ko-KR" altLang="en-US" sz="1200" dirty="0"/>
              <a:t> 무효사유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133①</a:t>
            </a:r>
            <a:r>
              <a:rPr lang="ko-KR" altLang="en-US" sz="1200" dirty="0"/>
              <a:t>각호</a:t>
            </a:r>
            <a:r>
              <a:rPr lang="en-US" altLang="ko-KR" sz="1200" dirty="0"/>
              <a:t>)</a:t>
            </a:r>
            <a:r>
              <a:rPr lang="ko-KR" altLang="en-US" sz="1200" dirty="0"/>
              <a:t>에 해당하지 않음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2018. 7. 20.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2015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1669)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</a:rPr>
              <a:t>발명자 인격권 침해에 대한 손해배상청구가능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서울행정법원 </a:t>
            </a:r>
            <a:r>
              <a:rPr lang="en-US" altLang="ko-KR" sz="1200" dirty="0">
                <a:solidFill>
                  <a:schemeClr val="tx2"/>
                </a:solidFill>
              </a:rPr>
              <a:t>2011. 11. 4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2011</a:t>
            </a:r>
            <a:r>
              <a:rPr lang="ko-KR" altLang="en-US" sz="1200" dirty="0" err="1">
                <a:solidFill>
                  <a:schemeClr val="tx2"/>
                </a:solidFill>
              </a:rPr>
              <a:t>구합</a:t>
            </a:r>
            <a:r>
              <a:rPr lang="en-US" altLang="ko-KR" sz="1200" dirty="0">
                <a:solidFill>
                  <a:schemeClr val="tx2"/>
                </a:solidFill>
              </a:rPr>
              <a:t>21942)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200" dirty="0">
                <a:solidFill>
                  <a:srgbClr val="FF0000"/>
                </a:solidFill>
              </a:rPr>
              <a:t>부당 수수료 감면자에 대하여 </a:t>
            </a:r>
            <a:r>
              <a:rPr lang="ko-KR" altLang="en-US" sz="1200" dirty="0" err="1">
                <a:solidFill>
                  <a:srgbClr val="FF0000"/>
                </a:solidFill>
              </a:rPr>
              <a:t>감면받은</a:t>
            </a:r>
            <a:r>
              <a:rPr lang="ko-KR" altLang="en-US" sz="1200" dirty="0">
                <a:solidFill>
                  <a:srgbClr val="FF0000"/>
                </a:solidFill>
              </a:rPr>
              <a:t> 특허료 및 수수료의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배를 추징하고 일정기간 감면을 제한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83④)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444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특허출원서상</a:t>
            </a:r>
            <a:r>
              <a:rPr lang="ko-KR" altLang="en-US" dirty="0"/>
              <a:t> 발명자 허위 기재의 취급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109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68424-E31A-4153-B06B-E07ADBC83727}"/>
              </a:ext>
            </a:extLst>
          </p:cNvPr>
          <p:cNvSpPr txBox="1"/>
          <p:nvPr/>
        </p:nvSpPr>
        <p:spPr>
          <a:xfrm>
            <a:off x="435012" y="1150854"/>
            <a:ext cx="4160113" cy="646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발명자만을 허위 기재한 경우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3A249-DED7-5240-252B-122068F689E0}"/>
              </a:ext>
            </a:extLst>
          </p:cNvPr>
          <p:cNvSpPr txBox="1"/>
          <p:nvPr/>
        </p:nvSpPr>
        <p:spPr>
          <a:xfrm>
            <a:off x="4595125" y="1150854"/>
            <a:ext cx="718873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甲으로부터 발명에 대한 특허를 받을 수 있는 권리를 </a:t>
            </a:r>
            <a:r>
              <a:rPr lang="ko-KR" altLang="en-US" dirty="0" err="1"/>
              <a:t>이전받은</a:t>
            </a:r>
            <a:r>
              <a:rPr lang="ko-KR" altLang="en-US" dirty="0"/>
              <a:t> 乙이 발명자</a:t>
            </a:r>
            <a:r>
              <a:rPr lang="en-US" altLang="ko-KR" dirty="0"/>
              <a:t>, </a:t>
            </a:r>
            <a:r>
              <a:rPr lang="ko-KR" altLang="en-US" dirty="0"/>
              <a:t>출원인을 乙로 기재하여 특허출원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F85D3-8FAD-07FD-7E74-4262D1A8F447}"/>
              </a:ext>
            </a:extLst>
          </p:cNvPr>
          <p:cNvSpPr txBox="1"/>
          <p:nvPr/>
        </p:nvSpPr>
        <p:spPr>
          <a:xfrm>
            <a:off x="435012" y="1849354"/>
            <a:ext cx="11348852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진정한 발명자인지 여부는 실질에 의하여 판단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등록 전 심사과정에서 발명자 기재에 대한 방식 위반으로 절차보정사유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46)</a:t>
            </a:r>
            <a:r>
              <a:rPr lang="ko-KR" altLang="en-US" sz="1600" dirty="0"/>
              <a:t>이므로 보정명령 후</a:t>
            </a:r>
            <a:r>
              <a:rPr lang="en-US" altLang="ko-KR" sz="1600" dirty="0"/>
              <a:t>, </a:t>
            </a:r>
            <a:r>
              <a:rPr lang="ko-KR" altLang="en-US" sz="1600" dirty="0"/>
              <a:t>진정한 발명자임을 증명하지 못하거나 발명자 정정을 하지 않은 경우 출원을 무효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16)</a:t>
            </a:r>
            <a:r>
              <a:rPr lang="ko-KR" altLang="en-US" sz="1600" dirty="0"/>
              <a:t>로 할 수 있으나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제한열거적인</a:t>
            </a:r>
            <a:r>
              <a:rPr lang="ko-KR" altLang="en-US" sz="1600" dirty="0"/>
              <a:t> 거절이유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62)</a:t>
            </a:r>
            <a:r>
              <a:rPr lang="ko-KR" altLang="en-US" sz="1600" dirty="0"/>
              <a:t>에 해당하지 않음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착오로 등록된 경우에는 </a:t>
            </a:r>
            <a:r>
              <a:rPr lang="ko-KR" altLang="en-US" sz="1600" dirty="0" err="1"/>
              <a:t>제한열거적인</a:t>
            </a:r>
            <a:r>
              <a:rPr lang="ko-KR" altLang="en-US" sz="1600" dirty="0"/>
              <a:t> 특허무효사유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133①)</a:t>
            </a:r>
            <a:r>
              <a:rPr lang="ko-KR" altLang="en-US" sz="1600" dirty="0"/>
              <a:t>에 해당하지</a:t>
            </a:r>
            <a:r>
              <a:rPr lang="en-US" altLang="ko-KR" sz="1600" dirty="0"/>
              <a:t> </a:t>
            </a:r>
            <a:r>
              <a:rPr lang="ko-KR" altLang="en-US" sz="1600" dirty="0"/>
              <a:t>않으므로 하자 치유 간주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발명자 인격권 침해에 대한 손해배상청구를 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발명자를 잘못 적은 것임이 명백한 경우나 특허권자 및 신청 </a:t>
            </a:r>
            <a:r>
              <a:rPr lang="ko-KR" altLang="en-US" sz="1600" dirty="0" err="1"/>
              <a:t>전ㆍ후</a:t>
            </a:r>
            <a:r>
              <a:rPr lang="ko-KR" altLang="en-US" sz="1600" dirty="0"/>
              <a:t> 발명자 전원이 서명 또는 날인한 확인서류를 첨부한 경우에 해당하기 때문에 발명자 정정 가능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수수료 면탈 목적인 경우 </a:t>
            </a:r>
            <a:r>
              <a:rPr lang="ko-KR" altLang="en-US" sz="1600" dirty="0" err="1"/>
              <a:t>감면받은</a:t>
            </a:r>
            <a:r>
              <a:rPr lang="ko-KR" altLang="en-US" sz="1600" dirty="0"/>
              <a:t> 특허료 및 수수료의 </a:t>
            </a:r>
            <a:r>
              <a:rPr lang="en-US" altLang="ko-KR" sz="1600" dirty="0"/>
              <a:t>2</a:t>
            </a:r>
            <a:r>
              <a:rPr lang="ko-KR" altLang="en-US" sz="1600" dirty="0"/>
              <a:t>배를 추징하고 일정기간 감면을 제한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83④)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79672-0AB9-D4F9-771A-577A6F241471}"/>
              </a:ext>
            </a:extLst>
          </p:cNvPr>
          <p:cNvSpPr txBox="1"/>
          <p:nvPr/>
        </p:nvSpPr>
        <p:spPr>
          <a:xfrm>
            <a:off x="435012" y="4305605"/>
            <a:ext cx="4160113" cy="646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발명자</a:t>
            </a:r>
            <a:r>
              <a:rPr lang="en-US" altLang="ko-KR" dirty="0"/>
              <a:t>, </a:t>
            </a:r>
            <a:r>
              <a:rPr lang="ko-KR" altLang="en-US" dirty="0"/>
              <a:t>출원인 모두를 허위 기재한 경우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18319-7A7A-1BF8-8FA3-71867488C77C}"/>
              </a:ext>
            </a:extLst>
          </p:cNvPr>
          <p:cNvSpPr txBox="1"/>
          <p:nvPr/>
        </p:nvSpPr>
        <p:spPr>
          <a:xfrm>
            <a:off x="4595125" y="4305605"/>
            <a:ext cx="718873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甲으로부터 발명에 대한 특허를 받을 수 있는 권리를 </a:t>
            </a:r>
            <a:r>
              <a:rPr lang="ko-KR" altLang="en-US" dirty="0" err="1"/>
              <a:t>이전받지</a:t>
            </a:r>
            <a:r>
              <a:rPr lang="ko-KR" altLang="en-US" dirty="0"/>
              <a:t> 못한</a:t>
            </a:r>
            <a:r>
              <a:rPr lang="en-US" altLang="ko-KR" dirty="0"/>
              <a:t>(</a:t>
            </a:r>
            <a:r>
              <a:rPr lang="ko-KR" altLang="en-US" dirty="0"/>
              <a:t>甲의 발명을 </a:t>
            </a:r>
            <a:r>
              <a:rPr lang="ko-KR" altLang="en-US" dirty="0" err="1"/>
              <a:t>모인한</a:t>
            </a:r>
            <a:r>
              <a:rPr lang="en-US" altLang="ko-KR" dirty="0"/>
              <a:t>)</a:t>
            </a:r>
            <a:r>
              <a:rPr lang="ko-KR" altLang="en-US" dirty="0"/>
              <a:t> 乙이 발명자</a:t>
            </a:r>
            <a:r>
              <a:rPr lang="en-US" altLang="ko-KR" dirty="0"/>
              <a:t>, </a:t>
            </a:r>
            <a:r>
              <a:rPr lang="ko-KR" altLang="en-US" dirty="0"/>
              <a:t>출원인을 乙로 기재하여 특허출원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AFC7F-96D9-6687-BFA4-EBAF4E293A11}"/>
              </a:ext>
            </a:extLst>
          </p:cNvPr>
          <p:cNvSpPr txBox="1"/>
          <p:nvPr/>
        </p:nvSpPr>
        <p:spPr>
          <a:xfrm>
            <a:off x="435012" y="5004105"/>
            <a:ext cx="11348852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진정한 발명자인지 여부는 실질에 의하여 판단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발명자 허위 기재는 방식 위반으로 절차보정사유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46)</a:t>
            </a:r>
            <a:r>
              <a:rPr lang="ko-KR" altLang="en-US" sz="1600" dirty="0"/>
              <a:t>이고</a:t>
            </a:r>
            <a:r>
              <a:rPr lang="en-US" altLang="ko-KR" sz="1600" dirty="0"/>
              <a:t>, </a:t>
            </a:r>
            <a:r>
              <a:rPr lang="ko-KR" altLang="en-US" sz="1600" dirty="0"/>
              <a:t>출원인 흠결은 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위반으로 </a:t>
            </a:r>
            <a:r>
              <a:rPr lang="ko-KR" altLang="en-US" sz="1600" dirty="0" err="1"/>
              <a:t>제한열거적인</a:t>
            </a:r>
            <a:r>
              <a:rPr lang="ko-KR" altLang="en-US" sz="1600" dirty="0"/>
              <a:t> 거절이유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62), </a:t>
            </a:r>
            <a:r>
              <a:rPr lang="ko-KR" altLang="en-US" sz="1600" dirty="0"/>
              <a:t>특허무효사유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133①)</a:t>
            </a:r>
            <a:r>
              <a:rPr lang="ko-KR" altLang="en-US" sz="1600" dirty="0"/>
              <a:t>에 해당하나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34</a:t>
            </a:r>
            <a:r>
              <a:rPr lang="ko-KR" altLang="en-US" sz="1600" dirty="0"/>
              <a:t>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35</a:t>
            </a:r>
            <a:r>
              <a:rPr lang="ko-KR" altLang="en-US" sz="1600" dirty="0"/>
              <a:t>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99</a:t>
            </a:r>
            <a:r>
              <a:rPr lang="ko-KR" altLang="en-US" sz="1600" dirty="0"/>
              <a:t>조의</a:t>
            </a:r>
            <a:r>
              <a:rPr lang="en-US" altLang="ko-KR" sz="1600" dirty="0"/>
              <a:t>2</a:t>
            </a:r>
            <a:r>
              <a:rPr lang="ko-KR" altLang="en-US" sz="1600" dirty="0"/>
              <a:t>에 의한 정당한 권리자 보호를 위해 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위반으로 처리가 적절함</a:t>
            </a:r>
            <a:endParaRPr lang="en-US" altLang="ko-KR" sz="16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1E393FE-C157-A9D7-4893-40E4DA6FDEBA}"/>
              </a:ext>
            </a:extLst>
          </p:cNvPr>
          <p:cNvCxnSpPr>
            <a:cxnSpLocks/>
          </p:cNvCxnSpPr>
          <p:nvPr/>
        </p:nvCxnSpPr>
        <p:spPr>
          <a:xfrm>
            <a:off x="0" y="3984178"/>
            <a:ext cx="12191999" cy="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170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38</a:t>
            </a:r>
            <a:r>
              <a:rPr lang="ko-KR" altLang="en-US" dirty="0">
                <a:solidFill>
                  <a:srgbClr val="525252"/>
                </a:solidFill>
              </a:rPr>
              <a:t>조의 법조문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543" y="986046"/>
            <a:ext cx="11538390" cy="24622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특허를 받을 수 있는 권리의 승계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 전에 이루어진 특허를 받을 수 있는 권리의 승계는 그 승계인이 특허출원을 하여야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자에게 대항할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동일한 자로부터 동일한 특허를 받을 수 있는 권리를 승계한 자가 둘 이상인 경우 그 승계한 권리에 대하여 같은 날에 둘 이상의 특허출원이 있으면 특허출원인 간에 협의하여 정한 자에게만 승계의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동일한 자로부터 동일한 발명 및 고안에 대한 특허를 받을 수 있는 권리 및 실용신안등록을 받을 수 있는 권리를 승계한 자가 둘 이상인 경우 그 승계한 권리에 대하여 같은 날에 특허출원 및 실용신안등록출원이 있으면 특허출원인 및 실용신안등록출원인 간에 협의하여 정한 자에게만 승계의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특허출원 후에는 특허를 받을 수 있는 권리의 승계는 상속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밖의 일반승계의 경우를 제외하고는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특허출원인변경신고를</a:t>
            </a:r>
            <a:r>
              <a:rPr lang="ko-KR" altLang="en-US" sz="1400" dirty="0">
                <a:solidFill>
                  <a:schemeClr val="tx2"/>
                </a:solidFill>
              </a:rPr>
              <a:t> 하여야만 그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권리의 상속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밖의 일반승계가 있는 경우에는 승계인은 지체 없이 그 취지를 지식재산처장에게 신고하여야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동일한 자로부터 동일한 특허를 받을 수 있는 권리를 승계한 자가 둘 이상인 경우 그 승계한 권리에 대하여 같은 날에 둘 이상의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특허출원인변경신고가</a:t>
            </a:r>
            <a:r>
              <a:rPr lang="ko-KR" altLang="en-US" sz="1400" dirty="0">
                <a:solidFill>
                  <a:schemeClr val="tx2"/>
                </a:solidFill>
              </a:rPr>
              <a:t> 있으면 신고를 한 자 간에 협의하여 정한 자에게만 신고의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항의 경우에는 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항을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9214"/>
              </p:ext>
            </p:extLst>
          </p:nvPr>
        </p:nvGraphicFramePr>
        <p:xfrm>
          <a:off x="289543" y="3700330"/>
          <a:ext cx="11538390" cy="2871915"/>
        </p:xfrm>
        <a:graphic>
          <a:graphicData uri="http://schemas.openxmlformats.org/drawingml/2006/table">
            <a:tbl>
              <a:tblPr/>
              <a:tblGrid>
                <a:gridCol w="190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9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1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832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이전형식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이전시기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일반승계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특정승계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 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사유발생시 효력발생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승계인이 특허출원 →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자 대항요건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동일자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출원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협의명령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②③⑦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→ 협의하여 정한 자에게만 승계의 효력발생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협의가 성립되지 아니하면 승계의 효력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불발생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→ 무권리자 출원으로 간주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6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 후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사유발생시 효력 발생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∵권리의 단절 막기 위해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승계인이 지식재산처장에 신고 要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승계인의 출원인변경신고 → 효력발생요건</a:t>
                      </a: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동일자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출원인변경신고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협의명령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38⑥⑦) →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협의하여 정한 자에게만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출원인변경신고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효력발생 </a:t>
                      </a:r>
                    </a:p>
                    <a:p>
                      <a:pPr marL="180975" marR="31750" indent="-1492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협의가 성립되지 아니하면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출원인변경신고의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효력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불발생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→ 피승계인이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출원인인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상태로 출원절차 진행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>
            <a:off x="289543" y="3691467"/>
            <a:ext cx="1903324" cy="44026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3726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528" y="4582548"/>
            <a:ext cx="1139168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38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분리탑재형 발전기의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CASE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111</a:t>
            </a:fld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269047"/>
            <a:ext cx="116819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발명을 한 사람 또는 그 승계인은 특허법에서 정하는 바에 따라 특허를 받을 수 있는 권리를 가진다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33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본문</a:t>
            </a:r>
            <a:r>
              <a:rPr lang="en-US" altLang="ko-KR" sz="1400" dirty="0"/>
              <a:t>). </a:t>
            </a:r>
            <a:r>
              <a:rPr lang="ko-KR" altLang="en-US" sz="1400" dirty="0"/>
              <a:t>만일 이러한 정당한 권리자 아닌 사람</a:t>
            </a:r>
            <a:r>
              <a:rPr lang="en-US" altLang="ko-KR" sz="1400" dirty="0"/>
              <a:t>(</a:t>
            </a:r>
            <a:r>
              <a:rPr lang="ko-KR" altLang="en-US" sz="1400" dirty="0"/>
              <a:t>이하 ‘</a:t>
            </a:r>
            <a:r>
              <a:rPr lang="ko-KR" altLang="en-US" sz="1400" dirty="0" err="1"/>
              <a:t>무권리자’라</a:t>
            </a:r>
            <a:r>
              <a:rPr lang="ko-KR" altLang="en-US" sz="1400" dirty="0"/>
              <a:t> 한다</a:t>
            </a:r>
            <a:r>
              <a:rPr lang="en-US" altLang="ko-KR" sz="1400" dirty="0"/>
              <a:t>)</a:t>
            </a:r>
            <a:r>
              <a:rPr lang="ko-KR" altLang="en-US" sz="1400" dirty="0"/>
              <a:t>이 한 특허출원에 대하여 특허권의 설정등록이 이루어지면 특허무효사유에 해당한다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133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제</a:t>
            </a:r>
            <a:r>
              <a:rPr lang="en-US" altLang="ko-KR" sz="1400" dirty="0"/>
              <a:t>2</a:t>
            </a:r>
            <a:r>
              <a:rPr lang="ko-KR" altLang="en-US" sz="1400" dirty="0"/>
              <a:t>호</a:t>
            </a:r>
            <a:r>
              <a:rPr lang="en-US" altLang="ko-KR" sz="1400" dirty="0"/>
              <a:t>). </a:t>
            </a:r>
            <a:r>
              <a:rPr lang="ko-KR" altLang="en-US" sz="1400" dirty="0"/>
              <a:t>특허출원 전에 특허를 받을 수 있는 권리를 계약에 따라 이전한 양도인은 더 이상 그 권리의 귀속주체가 아니므로 그러한 양도인이 한 특허출원에 대하여 설정등록이 이루어진 특허권은 특허무효사유에 해당하는 무권리자의 특허이다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특허출원 전에 이루어진 특허를 받을 수 있는 권리의 승계는 그 승계인이 특허출원을 하여야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자에게 대항할 수 있다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38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). </a:t>
            </a:r>
            <a:r>
              <a:rPr lang="ko-KR" altLang="en-US" sz="1400" dirty="0"/>
              <a:t>여기서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자는 특허를 받을 수 있는 권리에 관하여 승계인의 지위와 양립할 수 없는 법률상 지위를 취득한 사람에 한한다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무권리자의 특허로서 특허무효사유가 있는 특허권을 </a:t>
            </a:r>
            <a:r>
              <a:rPr lang="ko-KR" altLang="en-US" sz="1400" dirty="0" err="1"/>
              <a:t>이전받은</a:t>
            </a:r>
            <a:r>
              <a:rPr lang="ko-KR" altLang="en-US" sz="1400" dirty="0"/>
              <a:t> 양수인은 특허법 제</a:t>
            </a:r>
            <a:r>
              <a:rPr lang="en-US" altLang="ko-KR" sz="1400" dirty="0"/>
              <a:t>38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항에서 말하는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 해당하지 않는다</a:t>
            </a:r>
            <a:r>
              <a:rPr lang="en-US" altLang="ko-KR" sz="1400" dirty="0"/>
              <a:t>.</a:t>
            </a:r>
          </a:p>
          <a:p>
            <a:pPr fontAlgn="base"/>
            <a:endParaRPr lang="ko-KR" altLang="en-US" sz="14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2464998" y="4495699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F855E-63E7-4276-9A07-944733EA92D5}"/>
              </a:ext>
            </a:extLst>
          </p:cNvPr>
          <p:cNvSpPr txBox="1"/>
          <p:nvPr/>
        </p:nvSpPr>
        <p:spPr>
          <a:xfrm>
            <a:off x="926301" y="3438357"/>
            <a:ext cx="188147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 피고보조참가인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 세트 제작 공급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계약 체결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0EF7D2-5FEE-4A2F-ABD4-9147C82EBFE2}"/>
              </a:ext>
            </a:extLst>
          </p:cNvPr>
          <p:cNvSpPr/>
          <p:nvPr/>
        </p:nvSpPr>
        <p:spPr>
          <a:xfrm>
            <a:off x="3119236" y="448861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2437A67-7853-4410-9F0F-93BCE51D441E}"/>
              </a:ext>
            </a:extLst>
          </p:cNvPr>
          <p:cNvSpPr/>
          <p:nvPr/>
        </p:nvSpPr>
        <p:spPr>
          <a:xfrm>
            <a:off x="5016472" y="4488614"/>
            <a:ext cx="154738" cy="16133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7C9590-F96C-443E-8904-DE90258FAF82}"/>
              </a:ext>
            </a:extLst>
          </p:cNvPr>
          <p:cNvCxnSpPr>
            <a:cxnSpLocks/>
            <a:stCxn id="37" idx="2"/>
            <a:endCxn id="27" idx="0"/>
          </p:cNvCxnSpPr>
          <p:nvPr/>
        </p:nvCxnSpPr>
        <p:spPr>
          <a:xfrm rot="16200000" flipH="1">
            <a:off x="1995800" y="3955926"/>
            <a:ext cx="411011" cy="66853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78A8E6-8843-432E-B2B7-F049BC13ECC2}"/>
              </a:ext>
            </a:extLst>
          </p:cNvPr>
          <p:cNvSpPr txBox="1"/>
          <p:nvPr/>
        </p:nvSpPr>
        <p:spPr>
          <a:xfrm>
            <a:off x="2941596" y="3438357"/>
            <a:ext cx="141148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회사는 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 부품 개발 공급 계약 체결 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12386C3-0CC1-42F1-B941-40D96C54403B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rot="5400000">
            <a:off x="3220009" y="4061285"/>
            <a:ext cx="403926" cy="45073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5F209D4-546B-45E0-9FC8-78934FA6AC87}"/>
              </a:ext>
            </a:extLst>
          </p:cNvPr>
          <p:cNvSpPr/>
          <p:nvPr/>
        </p:nvSpPr>
        <p:spPr>
          <a:xfrm>
            <a:off x="3716582" y="448861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2F93E-BC94-427B-895D-B20B68F6D95E}"/>
              </a:ext>
            </a:extLst>
          </p:cNvPr>
          <p:cNvSpPr txBox="1"/>
          <p:nvPr/>
        </p:nvSpPr>
        <p:spPr>
          <a:xfrm>
            <a:off x="1740130" y="5171873"/>
            <a:ext cx="157645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회사 직원이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부품 관련 발명 완성</a:t>
            </a: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A351E9F3-9FFB-4B2E-A4A4-E5AA09B24698}"/>
              </a:ext>
            </a:extLst>
          </p:cNvPr>
          <p:cNvCxnSpPr>
            <a:cxnSpLocks/>
            <a:stCxn id="86" idx="0"/>
            <a:endCxn id="85" idx="4"/>
          </p:cNvCxnSpPr>
          <p:nvPr/>
        </p:nvCxnSpPr>
        <p:spPr>
          <a:xfrm rot="5400000" flipH="1" flipV="1">
            <a:off x="2900195" y="4278117"/>
            <a:ext cx="521921" cy="126559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AADE59F-0011-4F37-8952-8288FDBA2E53}"/>
              </a:ext>
            </a:extLst>
          </p:cNvPr>
          <p:cNvSpPr/>
          <p:nvPr/>
        </p:nvSpPr>
        <p:spPr>
          <a:xfrm>
            <a:off x="6229530" y="448861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2020. 5. 14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2020</a:t>
            </a:r>
            <a:r>
              <a:rPr lang="ko-KR" altLang="en-US" sz="1400" dirty="0"/>
              <a:t>후</a:t>
            </a:r>
            <a:r>
              <a:rPr lang="en-US" altLang="ko-KR" sz="1400" dirty="0"/>
              <a:t>10087 </a:t>
            </a:r>
            <a:r>
              <a:rPr lang="ko-KR" altLang="en-US" sz="1400" dirty="0"/>
              <a:t>판결 </a:t>
            </a:r>
            <a:r>
              <a:rPr lang="en-US" altLang="ko-KR" sz="1400" dirty="0"/>
              <a:t>[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)]</a:t>
            </a:r>
            <a:endParaRPr lang="ko-KR" altLang="en-US" sz="1400" dirty="0"/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BFD281FC-CD72-49F6-854D-14A8B3DE91EB}"/>
              </a:ext>
            </a:extLst>
          </p:cNvPr>
          <p:cNvCxnSpPr/>
          <p:nvPr/>
        </p:nvCxnSpPr>
        <p:spPr>
          <a:xfrm>
            <a:off x="0" y="291408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C30ED1FB-6D67-4B29-B733-DBE7262F2FA1}"/>
              </a:ext>
            </a:extLst>
          </p:cNvPr>
          <p:cNvCxnSpPr>
            <a:cxnSpLocks/>
            <a:stCxn id="37" idx="0"/>
            <a:endCxn id="83" idx="0"/>
          </p:cNvCxnSpPr>
          <p:nvPr/>
        </p:nvCxnSpPr>
        <p:spPr>
          <a:xfrm rot="5400000" flipH="1" flipV="1">
            <a:off x="2757188" y="2548207"/>
            <a:ext cx="12700" cy="1780300"/>
          </a:xfrm>
          <a:prstGeom prst="bentConnector3">
            <a:avLst>
              <a:gd name="adj1" fmla="val 50943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F00C7A-51FB-4FB7-85D1-D7FBDB337667}"/>
              </a:ext>
            </a:extLst>
          </p:cNvPr>
          <p:cNvSpPr txBox="1"/>
          <p:nvPr/>
        </p:nvSpPr>
        <p:spPr>
          <a:xfrm>
            <a:off x="1467243" y="2926197"/>
            <a:ext cx="299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계약을 통해 발생한 모든 지적재산권은 </a:t>
            </a:r>
            <a:endParaRPr lang="en-US" altLang="ko-KR" sz="1200" dirty="0"/>
          </a:p>
          <a:p>
            <a:r>
              <a:rPr lang="ko-KR" altLang="en-US" sz="1200" dirty="0"/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/>
              <a:t>를 거쳐 피고보조참가인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/>
              <a:t>에게 귀속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9AFEB1-C195-4069-BFF3-270C48ACF668}"/>
              </a:ext>
            </a:extLst>
          </p:cNvPr>
          <p:cNvSpPr txBox="1"/>
          <p:nvPr/>
        </p:nvSpPr>
        <p:spPr>
          <a:xfrm>
            <a:off x="4501737" y="3440788"/>
            <a:ext cx="145202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회사 출원하여 등록 후 원고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에게 이전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47B67AB-4A92-4381-AECE-1AE88639A781}"/>
              </a:ext>
            </a:extLst>
          </p:cNvPr>
          <p:cNvCxnSpPr>
            <a:cxnSpLocks/>
            <a:stCxn id="50" idx="2"/>
            <a:endCxn id="77" idx="0"/>
          </p:cNvCxnSpPr>
          <p:nvPr/>
        </p:nvCxnSpPr>
        <p:spPr>
          <a:xfrm rot="5400000">
            <a:off x="4960048" y="4220913"/>
            <a:ext cx="401495" cy="13390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F1B931-A240-423A-AD48-BE70F863E845}"/>
              </a:ext>
            </a:extLst>
          </p:cNvPr>
          <p:cNvSpPr txBox="1"/>
          <p:nvPr/>
        </p:nvSpPr>
        <p:spPr>
          <a:xfrm>
            <a:off x="6031126" y="3440788"/>
            <a:ext cx="10597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87887B0F-9391-491F-98B3-5E9CAC320861}"/>
              </a:ext>
            </a:extLst>
          </p:cNvPr>
          <p:cNvCxnSpPr>
            <a:cxnSpLocks/>
            <a:stCxn id="60" idx="2"/>
            <a:endCxn id="96" idx="0"/>
          </p:cNvCxnSpPr>
          <p:nvPr/>
        </p:nvCxnSpPr>
        <p:spPr>
          <a:xfrm rot="5400000">
            <a:off x="6140879" y="4068473"/>
            <a:ext cx="586161" cy="25412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ED132116-906D-4B8B-B0BC-3C0D57ADF92A}"/>
              </a:ext>
            </a:extLst>
          </p:cNvPr>
          <p:cNvSpPr/>
          <p:nvPr/>
        </p:nvSpPr>
        <p:spPr>
          <a:xfrm>
            <a:off x="6554939" y="448861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635A6B-8BB9-4529-9606-6D788F68EEC2}"/>
              </a:ext>
            </a:extLst>
          </p:cNvPr>
          <p:cNvSpPr txBox="1"/>
          <p:nvPr/>
        </p:nvSpPr>
        <p:spPr>
          <a:xfrm>
            <a:off x="6339279" y="4994072"/>
            <a:ext cx="751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F407AB73-2EDC-43ED-A330-9708767BECEC}"/>
              </a:ext>
            </a:extLst>
          </p:cNvPr>
          <p:cNvCxnSpPr>
            <a:cxnSpLocks/>
            <a:stCxn id="65" idx="0"/>
            <a:endCxn id="64" idx="4"/>
          </p:cNvCxnSpPr>
          <p:nvPr/>
        </p:nvCxnSpPr>
        <p:spPr>
          <a:xfrm rot="16200000" flipV="1">
            <a:off x="6501642" y="4780618"/>
            <a:ext cx="344120" cy="827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446CF830-2D6D-4D46-A7A0-4C5BFFAC0ABD}"/>
              </a:ext>
            </a:extLst>
          </p:cNvPr>
          <p:cNvSpPr/>
          <p:nvPr/>
        </p:nvSpPr>
        <p:spPr>
          <a:xfrm>
            <a:off x="7833621" y="448861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8870B3-76B0-490D-9A8E-88A122FCDDCB}"/>
              </a:ext>
            </a:extLst>
          </p:cNvPr>
          <p:cNvSpPr txBox="1"/>
          <p:nvPr/>
        </p:nvSpPr>
        <p:spPr>
          <a:xfrm>
            <a:off x="7264285" y="3440788"/>
            <a:ext cx="10597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9A9AA8B0-F785-4B00-A138-640F3ABD042C}"/>
              </a:ext>
            </a:extLst>
          </p:cNvPr>
          <p:cNvCxnSpPr>
            <a:cxnSpLocks/>
            <a:stCxn id="72" idx="2"/>
            <a:endCxn id="71" idx="0"/>
          </p:cNvCxnSpPr>
          <p:nvPr/>
        </p:nvCxnSpPr>
        <p:spPr>
          <a:xfrm rot="16200000" flipH="1">
            <a:off x="7559504" y="4137127"/>
            <a:ext cx="586161" cy="11681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56F87F6E-67F6-44AB-AA7D-E93EE4AA08F4}"/>
              </a:ext>
            </a:extLst>
          </p:cNvPr>
          <p:cNvSpPr/>
          <p:nvPr/>
        </p:nvSpPr>
        <p:spPr>
          <a:xfrm>
            <a:off x="9064802" y="448861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C26916-2D59-4BA2-ADED-17944F6CDA36}"/>
              </a:ext>
            </a:extLst>
          </p:cNvPr>
          <p:cNvSpPr txBox="1"/>
          <p:nvPr/>
        </p:nvSpPr>
        <p:spPr>
          <a:xfrm>
            <a:off x="8849142" y="4994072"/>
            <a:ext cx="751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D6D0686A-E3C9-4939-B0AA-BD635A1420AD}"/>
              </a:ext>
            </a:extLst>
          </p:cNvPr>
          <p:cNvCxnSpPr>
            <a:cxnSpLocks/>
            <a:stCxn id="75" idx="0"/>
            <a:endCxn id="74" idx="4"/>
          </p:cNvCxnSpPr>
          <p:nvPr/>
        </p:nvCxnSpPr>
        <p:spPr>
          <a:xfrm rot="16200000" flipV="1">
            <a:off x="9011505" y="4780618"/>
            <a:ext cx="344120" cy="827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3F6224EB-9327-4FDF-A844-06DA9E8EEC5F}"/>
              </a:ext>
            </a:extLst>
          </p:cNvPr>
          <p:cNvSpPr/>
          <p:nvPr/>
        </p:nvSpPr>
        <p:spPr>
          <a:xfrm>
            <a:off x="9515802" y="448861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1DA923-1069-4817-9B85-3AAAFCCE4B17}"/>
              </a:ext>
            </a:extLst>
          </p:cNvPr>
          <p:cNvSpPr txBox="1"/>
          <p:nvPr/>
        </p:nvSpPr>
        <p:spPr>
          <a:xfrm>
            <a:off x="9351903" y="3440788"/>
            <a:ext cx="10597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7058E585-DFDA-4C5E-B219-C439FE590D21}"/>
              </a:ext>
            </a:extLst>
          </p:cNvPr>
          <p:cNvCxnSpPr>
            <a:cxnSpLocks/>
            <a:stCxn id="80" idx="2"/>
            <a:endCxn id="78" idx="0"/>
          </p:cNvCxnSpPr>
          <p:nvPr/>
        </p:nvCxnSpPr>
        <p:spPr>
          <a:xfrm rot="5400000">
            <a:off x="9444404" y="4051221"/>
            <a:ext cx="586161" cy="2886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>
            <a:extLst>
              <a:ext uri="{FF2B5EF4-FFF2-40B4-BE49-F238E27FC236}">
                <a16:creationId xmlns:a16="http://schemas.microsoft.com/office/drawing/2014/main" id="{196C4D4C-BB4E-410C-A57F-6D1F451965F5}"/>
              </a:ext>
            </a:extLst>
          </p:cNvPr>
          <p:cNvSpPr/>
          <p:nvPr/>
        </p:nvSpPr>
        <p:spPr>
          <a:xfrm>
            <a:off x="8222215" y="4488614"/>
            <a:ext cx="154738" cy="16133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4442E4-5A95-4FDB-AFC2-3DFEF7E7895B}"/>
              </a:ext>
            </a:extLst>
          </p:cNvPr>
          <p:cNvSpPr txBox="1"/>
          <p:nvPr/>
        </p:nvSpPr>
        <p:spPr>
          <a:xfrm>
            <a:off x="8006555" y="4994072"/>
            <a:ext cx="7516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보조참가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신청</a:t>
            </a: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94D69269-5CFA-473A-BF40-AEF121BD588F}"/>
              </a:ext>
            </a:extLst>
          </p:cNvPr>
          <p:cNvCxnSpPr>
            <a:cxnSpLocks/>
            <a:stCxn id="88" idx="0"/>
            <a:endCxn id="82" idx="4"/>
          </p:cNvCxnSpPr>
          <p:nvPr/>
        </p:nvCxnSpPr>
        <p:spPr>
          <a:xfrm rot="16200000" flipV="1">
            <a:off x="8168918" y="4780618"/>
            <a:ext cx="344120" cy="827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3D0C1F-FE7F-47E3-AA0E-DF5972CAB440}"/>
              </a:ext>
            </a:extLst>
          </p:cNvPr>
          <p:cNvSpPr/>
          <p:nvPr/>
        </p:nvSpPr>
        <p:spPr>
          <a:xfrm>
            <a:off x="3291494" y="5491057"/>
            <a:ext cx="88922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특정 소송사건에서 한쪽 당사자를 보조하기 위하여 보조참가를 하려면 그 소송의 결과에 대하여 이해관계가 있어야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여기서 이해관계라고 함은 </a:t>
            </a:r>
            <a:r>
              <a:rPr lang="ko-KR" altLang="en-US" sz="1200" dirty="0" err="1"/>
              <a:t>사실상ㆍ경제상</a:t>
            </a:r>
            <a:r>
              <a:rPr lang="ko-KR" altLang="en-US" sz="1200" dirty="0"/>
              <a:t> 또는 감정상의 이해관계가 아니라 법률상의 이해관계를 말하는 것으로</a:t>
            </a:r>
            <a:r>
              <a:rPr lang="en-US" altLang="ko-KR" sz="1200" dirty="0"/>
              <a:t>, </a:t>
            </a:r>
            <a:r>
              <a:rPr lang="ko-KR" altLang="en-US" sz="1200" dirty="0"/>
              <a:t>그 소송의 판결의 </a:t>
            </a:r>
            <a:r>
              <a:rPr lang="ko-KR" altLang="en-US" sz="1200" dirty="0" err="1"/>
              <a:t>기판력이나</a:t>
            </a:r>
            <a:r>
              <a:rPr lang="ko-KR" altLang="en-US" sz="1200" dirty="0"/>
              <a:t> 집행력을 당연히 받는 경우 또는 적어도 그 판결을 전제로 하여 보조참가를 하려는 자의 법률상의 지위가 결정되는 관계에 있는 경우를 의미한다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2017. 6. 22.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2014</a:t>
            </a:r>
            <a:r>
              <a:rPr lang="ko-KR" altLang="en-US" sz="1200" dirty="0"/>
              <a:t>다</a:t>
            </a:r>
            <a:r>
              <a:rPr lang="en-US" altLang="ko-KR" sz="1200" dirty="0"/>
              <a:t>225809 </a:t>
            </a:r>
            <a:r>
              <a:rPr lang="ko-KR" altLang="en-US" sz="1200" dirty="0"/>
              <a:t>전원합의체 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2007. 4. 26.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2005</a:t>
            </a:r>
            <a:r>
              <a:rPr lang="ko-KR" altLang="en-US" sz="1200" dirty="0"/>
              <a:t>다</a:t>
            </a:r>
            <a:r>
              <a:rPr lang="en-US" altLang="ko-KR" sz="1200" dirty="0"/>
              <a:t>19156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</a:t>
            </a:r>
          </a:p>
          <a:p>
            <a:r>
              <a:rPr lang="ko-KR" altLang="en-US" sz="1200" dirty="0" err="1"/>
              <a:t>살피건대</a:t>
            </a:r>
            <a:r>
              <a:rPr lang="en-US" altLang="ko-KR" sz="1200" dirty="0"/>
              <a:t>, </a:t>
            </a:r>
            <a:r>
              <a:rPr lang="ko-KR" altLang="en-US" sz="1200" dirty="0"/>
              <a:t>뒤에서 보는 바와 같이 피고보조참가인은 이 사건 특허발명에 관한 특허를 출원할 권리를 적법하게 승계한 자로서 이 사건 소송에서 이 사건 특허발명이 무권리자에 의한 출원으로 인정되어 그 특허가 무효가 될 경우 자신 명의로 이 사건 특허발명을 출원하여 특허를 </a:t>
            </a:r>
            <a:r>
              <a:rPr lang="ko-KR" altLang="en-US" sz="1200" dirty="0" err="1"/>
              <a:t>등록받을</a:t>
            </a:r>
            <a:r>
              <a:rPr lang="ko-KR" altLang="en-US" sz="1200" dirty="0"/>
              <a:t> 수 있는 지위에 있다고 인정되므로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소송의 결과에 대하여 법률상 이해관계가 있다고 할 것이다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8630A9-6382-49F9-B082-F36F519BE7E5}"/>
              </a:ext>
            </a:extLst>
          </p:cNvPr>
          <p:cNvSpPr txBox="1"/>
          <p:nvPr/>
        </p:nvSpPr>
        <p:spPr>
          <a:xfrm>
            <a:off x="289226" y="5789349"/>
            <a:ext cx="2901808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현재는 특허를 받을 수 있는 권리를 가진 丙만이 무효심판청구 가능</a:t>
            </a:r>
          </a:p>
        </p:txBody>
      </p:sp>
    </p:spTree>
    <p:extLst>
      <p:ext uri="{BB962C8B-B14F-4D97-AF65-F5344CB8AC3E}">
        <p14:creationId xmlns:p14="http://schemas.microsoft.com/office/powerpoint/2010/main" val="23325665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38</a:t>
            </a:r>
            <a:r>
              <a:rPr lang="ko-KR" altLang="en-US" dirty="0"/>
              <a:t>조 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분리탑재형 발전기의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38" name="슬라이드 번호 개체 틀 1">
            <a:extLst>
              <a:ext uri="{FF2B5EF4-FFF2-40B4-BE49-F238E27FC236}">
                <a16:creationId xmlns:a16="http://schemas.microsoft.com/office/drawing/2014/main" id="{0F75A23A-7A3E-48BF-8C01-2171501A13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112</a:t>
            </a:fld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39CAB7-A0DD-4B52-B97C-8449DEFC839A}"/>
              </a:ext>
            </a:extLst>
          </p:cNvPr>
          <p:cNvSpPr txBox="1"/>
          <p:nvPr/>
        </p:nvSpPr>
        <p:spPr>
          <a:xfrm>
            <a:off x="2188131" y="2432653"/>
            <a:ext cx="468498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52AAB2-5201-4304-BC2A-8E53B3DCA00F}"/>
              </a:ext>
            </a:extLst>
          </p:cNvPr>
          <p:cNvSpPr txBox="1"/>
          <p:nvPr/>
        </p:nvSpPr>
        <p:spPr>
          <a:xfrm>
            <a:off x="2188842" y="4382222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F322C9-2035-4206-BDD4-5F340BF7CF73}"/>
              </a:ext>
            </a:extLst>
          </p:cNvPr>
          <p:cNvSpPr txBox="1"/>
          <p:nvPr/>
        </p:nvSpPr>
        <p:spPr>
          <a:xfrm>
            <a:off x="454934" y="3338426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갑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3DA43A0-333E-4EE1-9661-1A07AA9CBD60}"/>
              </a:ext>
            </a:extLst>
          </p:cNvPr>
          <p:cNvCxnSpPr>
            <a:cxnSpLocks/>
          </p:cNvCxnSpPr>
          <p:nvPr/>
        </p:nvCxnSpPr>
        <p:spPr>
          <a:xfrm flipV="1">
            <a:off x="1068026" y="2636965"/>
            <a:ext cx="978572" cy="9057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82202D-74F0-403B-94BF-C94A52817D1D}"/>
              </a:ext>
            </a:extLst>
          </p:cNvPr>
          <p:cNvSpPr txBox="1"/>
          <p:nvPr/>
        </p:nvSpPr>
        <p:spPr>
          <a:xfrm>
            <a:off x="868807" y="2632709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양도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출원전</a:t>
            </a:r>
            <a:r>
              <a:rPr lang="ko-KR" altLang="en-US" sz="1600" dirty="0"/>
              <a:t> 승계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E7861E0-E3B2-42B8-9121-6D63D501DC70}"/>
              </a:ext>
            </a:extLst>
          </p:cNvPr>
          <p:cNvCxnSpPr>
            <a:cxnSpLocks/>
          </p:cNvCxnSpPr>
          <p:nvPr/>
        </p:nvCxnSpPr>
        <p:spPr>
          <a:xfrm>
            <a:off x="1068026" y="3542738"/>
            <a:ext cx="978573" cy="104379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FAF416F-8CC3-46C8-99AC-EFC5873F9924}"/>
              </a:ext>
            </a:extLst>
          </p:cNvPr>
          <p:cNvSpPr txBox="1"/>
          <p:nvPr/>
        </p:nvSpPr>
        <p:spPr>
          <a:xfrm>
            <a:off x="951450" y="3800739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2. </a:t>
            </a:r>
            <a:r>
              <a:rPr lang="ko-KR" altLang="en-US" sz="1600" dirty="0"/>
              <a:t>양도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출원전</a:t>
            </a:r>
            <a:r>
              <a:rPr lang="ko-KR" altLang="en-US" sz="1600" dirty="0"/>
              <a:t> 승계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4F9CBF-F984-48CD-B65A-77863187FB6A}"/>
              </a:ext>
            </a:extLst>
          </p:cNvPr>
          <p:cNvSpPr txBox="1"/>
          <p:nvPr/>
        </p:nvSpPr>
        <p:spPr>
          <a:xfrm>
            <a:off x="2310230" y="4852947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3. </a:t>
            </a:r>
            <a:r>
              <a:rPr lang="ko-KR" altLang="en-US" sz="1600" dirty="0"/>
              <a:t>출원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3BE3F51-F81E-4DA7-99E0-9BAE042BD24F}"/>
              </a:ext>
            </a:extLst>
          </p:cNvPr>
          <p:cNvCxnSpPr>
            <a:cxnSpLocks/>
          </p:cNvCxnSpPr>
          <p:nvPr/>
        </p:nvCxnSpPr>
        <p:spPr>
          <a:xfrm>
            <a:off x="6107506" y="1075676"/>
            <a:ext cx="0" cy="577969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6199DC-97D5-40B7-9AAE-1234AE4B0201}"/>
              </a:ext>
            </a:extLst>
          </p:cNvPr>
          <p:cNvSpPr/>
          <p:nvPr/>
        </p:nvSpPr>
        <p:spPr>
          <a:xfrm>
            <a:off x="198828" y="1273489"/>
            <a:ext cx="265109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특허법 제</a:t>
            </a:r>
            <a:r>
              <a:rPr lang="en-US" altLang="ko-KR" sz="1400" dirty="0"/>
              <a:t>38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적용 </a:t>
            </a:r>
            <a:r>
              <a:rPr lang="en-US" altLang="ko-KR" sz="1400" dirty="0"/>
              <a:t>CASE</a:t>
            </a:r>
            <a:endParaRPr lang="ko-KR" altLang="en-US" sz="14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E817E42-661E-428D-BFED-55542CEC4C94}"/>
              </a:ext>
            </a:extLst>
          </p:cNvPr>
          <p:cNvSpPr/>
          <p:nvPr/>
        </p:nvSpPr>
        <p:spPr>
          <a:xfrm>
            <a:off x="6617353" y="1273489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2020. 5. 14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2020</a:t>
            </a:r>
            <a:r>
              <a:rPr lang="ko-KR" altLang="en-US" sz="1400" dirty="0"/>
              <a:t>후</a:t>
            </a:r>
            <a:r>
              <a:rPr lang="en-US" altLang="ko-KR" sz="1400" dirty="0"/>
              <a:t>10087 </a:t>
            </a:r>
            <a:r>
              <a:rPr lang="ko-KR" altLang="en-US" sz="1400" dirty="0"/>
              <a:t>판결 </a:t>
            </a:r>
            <a:r>
              <a:rPr lang="en-US" altLang="ko-KR" sz="1400" dirty="0"/>
              <a:t>[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)]</a:t>
            </a:r>
            <a:endParaRPr lang="ko-KR" altLang="en-US" sz="1400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99BA7B2C-BF58-476C-919E-1F5A3EEE9AD7}"/>
              </a:ext>
            </a:extLst>
          </p:cNvPr>
          <p:cNvCxnSpPr>
            <a:cxnSpLocks/>
            <a:endCxn id="45" idx="3"/>
          </p:cNvCxnSpPr>
          <p:nvPr/>
        </p:nvCxnSpPr>
        <p:spPr>
          <a:xfrm rot="16200000" flipH="1">
            <a:off x="1668407" y="3595249"/>
            <a:ext cx="1745258" cy="237312"/>
          </a:xfrm>
          <a:prstGeom prst="bentConnector4">
            <a:avLst>
              <a:gd name="adj1" fmla="val 44147"/>
              <a:gd name="adj2" fmla="val 276603"/>
            </a:avLst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A1E752B-0F6D-4BD8-9ADE-8DF664CA2D47}"/>
              </a:ext>
            </a:extLst>
          </p:cNvPr>
          <p:cNvSpPr txBox="1"/>
          <p:nvPr/>
        </p:nvSpPr>
        <p:spPr>
          <a:xfrm>
            <a:off x="198828" y="1626450"/>
            <a:ext cx="5822407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</a:rPr>
              <a:t>특허출원 전에 이루어진 특허를 받을 수 있는 권리의 승계는 그 승계인이 특허출원을 하여야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자에게 대항할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3764FD-51D7-423E-9A2F-4D588F4BECE3}"/>
              </a:ext>
            </a:extLst>
          </p:cNvPr>
          <p:cNvSpPr txBox="1"/>
          <p:nvPr/>
        </p:nvSpPr>
        <p:spPr>
          <a:xfrm>
            <a:off x="2768247" y="2871796"/>
            <a:ext cx="3294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병이</a:t>
            </a:r>
            <a:r>
              <a:rPr lang="en-US" altLang="ko-KR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출원하지 않았기 때문에 제</a:t>
            </a:r>
            <a:r>
              <a:rPr lang="en-US" altLang="ko-KR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자인</a:t>
            </a:r>
            <a:endParaRPr lang="en-US" altLang="ko-KR" sz="16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정에게 양도의 효력을 주장하지 못함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229F80-1550-4812-9B07-DFA3A9DED2B4}"/>
              </a:ext>
            </a:extLst>
          </p:cNvPr>
          <p:cNvSpPr txBox="1"/>
          <p:nvPr/>
        </p:nvSpPr>
        <p:spPr>
          <a:xfrm>
            <a:off x="3667447" y="5564311"/>
            <a:ext cx="2046585" cy="769441"/>
          </a:xfrm>
          <a:prstGeom prst="wedgeRectCallout">
            <a:avLst>
              <a:gd name="adj1" fmla="val -89829"/>
              <a:gd name="adj2" fmla="val -163776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항의 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자 인정</a:t>
            </a:r>
            <a:r>
              <a:rPr lang="en-US" altLang="ko-KR" sz="11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승계인의 지위와 양립할 수 없는 법률상 지위를 취득한 사람</a:t>
            </a:r>
            <a:endParaRPr lang="ko-KR" altLang="en-US" sz="11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B95E8E-507B-4A56-B164-B344277CDDC6}"/>
              </a:ext>
            </a:extLst>
          </p:cNvPr>
          <p:cNvSpPr txBox="1"/>
          <p:nvPr/>
        </p:nvSpPr>
        <p:spPr>
          <a:xfrm>
            <a:off x="8130001" y="1915072"/>
            <a:ext cx="470848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병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F021D1-C29C-4F50-B018-3A07E6AA0C59}"/>
              </a:ext>
            </a:extLst>
          </p:cNvPr>
          <p:cNvSpPr txBox="1"/>
          <p:nvPr/>
        </p:nvSpPr>
        <p:spPr>
          <a:xfrm>
            <a:off x="8130003" y="3864641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F6A9FC1-A552-4DB0-B491-06ACD5E1ADED}"/>
              </a:ext>
            </a:extLst>
          </p:cNvPr>
          <p:cNvSpPr txBox="1"/>
          <p:nvPr/>
        </p:nvSpPr>
        <p:spPr>
          <a:xfrm>
            <a:off x="6396095" y="2820845"/>
            <a:ext cx="470850" cy="40862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갑</a:t>
            </a: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F626377-BFDB-470B-8407-78B719335BAC}"/>
              </a:ext>
            </a:extLst>
          </p:cNvPr>
          <p:cNvCxnSpPr>
            <a:cxnSpLocks/>
          </p:cNvCxnSpPr>
          <p:nvPr/>
        </p:nvCxnSpPr>
        <p:spPr>
          <a:xfrm flipV="1">
            <a:off x="7009187" y="2119384"/>
            <a:ext cx="978572" cy="9057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6BE2A72-AB5E-4AA6-8251-80EFF5CDCA97}"/>
              </a:ext>
            </a:extLst>
          </p:cNvPr>
          <p:cNvSpPr txBox="1"/>
          <p:nvPr/>
        </p:nvSpPr>
        <p:spPr>
          <a:xfrm>
            <a:off x="6872813" y="2123127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양도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출원전</a:t>
            </a:r>
            <a:r>
              <a:rPr lang="ko-KR" altLang="en-US" sz="1600" dirty="0"/>
              <a:t> 승계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973BAA5-78B7-41FF-BAC0-2D4043F69EEA}"/>
              </a:ext>
            </a:extLst>
          </p:cNvPr>
          <p:cNvCxnSpPr>
            <a:cxnSpLocks/>
          </p:cNvCxnSpPr>
          <p:nvPr/>
        </p:nvCxnSpPr>
        <p:spPr>
          <a:xfrm>
            <a:off x="7009187" y="3025157"/>
            <a:ext cx="978573" cy="104379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ECB4053-5F03-4DF5-B02E-9AD131911868}"/>
              </a:ext>
            </a:extLst>
          </p:cNvPr>
          <p:cNvSpPr txBox="1"/>
          <p:nvPr/>
        </p:nvSpPr>
        <p:spPr>
          <a:xfrm>
            <a:off x="7107179" y="3871661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3. </a:t>
            </a:r>
            <a:r>
              <a:rPr lang="ko-KR" altLang="en-US" sz="1600" dirty="0"/>
              <a:t>양도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9B9B48-D0AA-4E71-8A4F-D0623400E415}"/>
              </a:ext>
            </a:extLst>
          </p:cNvPr>
          <p:cNvSpPr txBox="1"/>
          <p:nvPr/>
        </p:nvSpPr>
        <p:spPr>
          <a:xfrm>
            <a:off x="6141175" y="3235498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2. </a:t>
            </a:r>
            <a:r>
              <a:rPr lang="ko-KR" altLang="en-US" sz="1600" dirty="0" err="1"/>
              <a:t>출원후</a:t>
            </a:r>
            <a:r>
              <a:rPr lang="ko-KR" altLang="en-US" sz="1600" dirty="0"/>
              <a:t> 등록</a:t>
            </a:r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7EBB987F-72F4-4A97-B8CC-1B843296DB82}"/>
              </a:ext>
            </a:extLst>
          </p:cNvPr>
          <p:cNvCxnSpPr>
            <a:cxnSpLocks/>
            <a:endCxn id="93" idx="3"/>
          </p:cNvCxnSpPr>
          <p:nvPr/>
        </p:nvCxnSpPr>
        <p:spPr>
          <a:xfrm rot="16200000" flipH="1">
            <a:off x="7610510" y="3078610"/>
            <a:ext cx="1745258" cy="235428"/>
          </a:xfrm>
          <a:prstGeom prst="bentConnector4">
            <a:avLst>
              <a:gd name="adj1" fmla="val 44147"/>
              <a:gd name="adj2" fmla="val 288805"/>
            </a:avLst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CF8F045-0759-4DF9-90BE-0F7AE36FBA17}"/>
              </a:ext>
            </a:extLst>
          </p:cNvPr>
          <p:cNvSpPr txBox="1"/>
          <p:nvPr/>
        </p:nvSpPr>
        <p:spPr>
          <a:xfrm>
            <a:off x="8709408" y="2354215"/>
            <a:ext cx="3238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병이 양도에 의해 정당한 권리자라는 </a:t>
            </a:r>
            <a:endParaRPr lang="en-US" altLang="ko-KR" sz="16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r>
              <a:rPr lang="ko-KR" alt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것을 정에게 주장 가능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FBF242F-5264-40FA-ACA0-36916484B729}"/>
              </a:ext>
            </a:extLst>
          </p:cNvPr>
          <p:cNvSpPr txBox="1"/>
          <p:nvPr/>
        </p:nvSpPr>
        <p:spPr>
          <a:xfrm>
            <a:off x="9632035" y="4534621"/>
            <a:ext cx="2345627" cy="769441"/>
          </a:xfrm>
          <a:prstGeom prst="wedgeRectCallout">
            <a:avLst>
              <a:gd name="adj1" fmla="val -93648"/>
              <a:gd name="adj2" fmla="val -9580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항의 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자 불인정</a:t>
            </a:r>
            <a:r>
              <a:rPr lang="en-US" altLang="ko-KR" sz="11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승계인의 지위와 양립할 수 없는 법률상 지위를 취득하지 않은 사람</a:t>
            </a:r>
            <a:endParaRPr lang="ko-KR" altLang="en-US" sz="1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5D3DCC-BA19-4628-B4B1-2D77D292FE2F}"/>
              </a:ext>
            </a:extLst>
          </p:cNvPr>
          <p:cNvSpPr/>
          <p:nvPr/>
        </p:nvSpPr>
        <p:spPr>
          <a:xfrm>
            <a:off x="6471914" y="5398558"/>
            <a:ext cx="5505745" cy="11230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 err="1">
                <a:solidFill>
                  <a:schemeClr val="tx2"/>
                </a:solidFill>
              </a:rPr>
              <a:t>등록후</a:t>
            </a:r>
            <a:r>
              <a:rPr lang="ko-KR" altLang="en-US" sz="1400" dirty="0">
                <a:solidFill>
                  <a:schemeClr val="tx2"/>
                </a:solidFill>
              </a:rPr>
              <a:t> 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이전으로서</a:t>
            </a:r>
            <a:r>
              <a:rPr lang="ko-KR" altLang="en-US" sz="1400" dirty="0">
                <a:solidFill>
                  <a:schemeClr val="tx2"/>
                </a:solidFill>
              </a:rPr>
              <a:t> 특허를 받을 수 있는 권리의 이중양도가 </a:t>
            </a:r>
            <a:r>
              <a:rPr lang="ko-KR" altLang="en-US" sz="1400" dirty="0" err="1">
                <a:solidFill>
                  <a:schemeClr val="tx2"/>
                </a:solidFill>
              </a:rPr>
              <a:t>아니라서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38</a:t>
            </a:r>
            <a:r>
              <a:rPr lang="ko-KR" altLang="en-US" sz="1400" dirty="0">
                <a:solidFill>
                  <a:schemeClr val="tx2"/>
                </a:solidFill>
              </a:rPr>
              <a:t>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적용 사안이라고 할 수 없음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2"/>
                </a:solidFill>
              </a:rPr>
              <a:t>특허를 받을 수 있는 권리의 양도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양수의 당사자인 양도인은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 포함되지 않음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B0DAA4-AD2E-4ADD-B7A7-82FDFC6EC2FC}"/>
              </a:ext>
            </a:extLst>
          </p:cNvPr>
          <p:cNvSpPr txBox="1"/>
          <p:nvPr/>
        </p:nvSpPr>
        <p:spPr>
          <a:xfrm>
            <a:off x="3667447" y="800010"/>
            <a:ext cx="2046585" cy="769441"/>
          </a:xfrm>
          <a:prstGeom prst="wedgeRectCallout">
            <a:avLst>
              <a:gd name="adj1" fmla="val -106979"/>
              <a:gd name="adj2" fmla="val 8950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양립할 수 없는 법률상 지위를 취득한 사람 사이에서 우열을 결정하는 의미</a:t>
            </a:r>
            <a:endParaRPr lang="ko-KR" altLang="en-US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203E73-24CB-422F-BB49-0FFB378DC13C}"/>
              </a:ext>
            </a:extLst>
          </p:cNvPr>
          <p:cNvSpPr/>
          <p:nvPr/>
        </p:nvSpPr>
        <p:spPr>
          <a:xfrm>
            <a:off x="2129722" y="1872817"/>
            <a:ext cx="329602" cy="2645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E7C09-68D0-4B0D-A54F-3EEA7C6DEBED}"/>
              </a:ext>
            </a:extLst>
          </p:cNvPr>
          <p:cNvSpPr txBox="1"/>
          <p:nvPr/>
        </p:nvSpPr>
        <p:spPr>
          <a:xfrm>
            <a:off x="6255222" y="4534621"/>
            <a:ext cx="2345627" cy="769441"/>
          </a:xfrm>
          <a:prstGeom prst="wedgeRectCallout">
            <a:avLst>
              <a:gd name="adj1" fmla="val -37204"/>
              <a:gd name="adj2" fmla="val -17874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항의 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자 불인정</a:t>
            </a:r>
            <a:r>
              <a:rPr lang="en-US" altLang="ko-KR" sz="11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특허를 받을 수 있는 권리에 관하여 승계인의 지위와 양립할 수 없는 법률상 지위를 취득하지 않은 사람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052924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직무발명의 필요성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113</a:t>
            </a:fld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97A3D7-0E8E-4AB9-A707-558984B8C033}"/>
              </a:ext>
            </a:extLst>
          </p:cNvPr>
          <p:cNvSpPr txBox="1"/>
          <p:nvPr/>
        </p:nvSpPr>
        <p:spPr>
          <a:xfrm>
            <a:off x="304302" y="1600959"/>
            <a:ext cx="4343898" cy="1023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연구개발투자와 시설 등을 제공한 사용자와 창조적인 노력으로 발명을 완성한 종업원의 합리적인 이익 조정으로 상호 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Win-Win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할 수 있는 구도가 직무발명제도의 기본 전제이자 작동원리</a:t>
            </a: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id="{A81D4840-0330-49E7-B4CF-44E48F9FD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045" y="1789238"/>
            <a:ext cx="118130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연구의욕 고취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13EEE06-50AA-4557-9EB5-2770FF2A3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83" y="1765690"/>
            <a:ext cx="918046" cy="3970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지속적인 </a:t>
            </a:r>
            <a:endParaRPr lang="en-US" altLang="ko-KR" sz="11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R&amp;D</a:t>
            </a:r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투자</a:t>
            </a:r>
          </a:p>
        </p:txBody>
      </p:sp>
      <p:sp>
        <p:nvSpPr>
          <p:cNvPr id="33" name="Text Box 5">
            <a:extLst>
              <a:ext uri="{FF2B5EF4-FFF2-40B4-BE49-F238E27FC236}">
                <a16:creationId xmlns:a16="http://schemas.microsoft.com/office/drawing/2014/main" id="{C232A39C-0FFB-46EF-B413-B0DB03C62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229" y="2315626"/>
            <a:ext cx="150445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R&amp;D  </a:t>
            </a:r>
            <a:r>
              <a:rPr lang="ko-KR" altLang="en-US" sz="1600" b="1" i="1" dirty="0">
                <a:solidFill>
                  <a:srgbClr val="FF0000"/>
                </a:solidFill>
                <a:latin typeface="Rix모던명조 M" panose="02020603020101020101" pitchFamily="18" charset="-127"/>
              </a:rPr>
              <a:t>선순환 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DD4F1921-F8B7-4838-A24C-6DC7477E5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478" y="3120465"/>
            <a:ext cx="1259148" cy="2446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Rix모던명조 M" panose="02020603020101020101" pitchFamily="18" charset="-127"/>
              </a:rPr>
              <a:t>발명의 권리화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3CE0D44C-4195-4445-B834-D64166ABF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783" y="947902"/>
            <a:ext cx="763477" cy="758932"/>
          </a:xfrm>
          <a:prstGeom prst="ellipse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altLang="ko-KR" sz="1100" dirty="0">
              <a:solidFill>
                <a:srgbClr val="FFFFFF"/>
              </a:solidFill>
              <a:latin typeface="Rix모던명조 M" panose="02020603020101020101" pitchFamily="18" charset="-127"/>
            </a:endParaRPr>
          </a:p>
          <a:p>
            <a:endParaRPr lang="en-US" altLang="ko-KR" sz="1100" dirty="0">
              <a:solidFill>
                <a:srgbClr val="FFFFFF"/>
              </a:solidFill>
              <a:latin typeface="Rix모던명조 M" panose="02020603020101020101" pitchFamily="18" charset="-127"/>
            </a:endParaRPr>
          </a:p>
          <a:p>
            <a:endParaRPr lang="en-US" altLang="ko-KR" sz="110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54" name="Text Box 13">
            <a:extLst>
              <a:ext uri="{FF2B5EF4-FFF2-40B4-BE49-F238E27FC236}">
                <a16:creationId xmlns:a16="http://schemas.microsoft.com/office/drawing/2014/main" id="{CACD02F9-3605-4B6D-BF62-B94D699E5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0151" y="1154644"/>
            <a:ext cx="426669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정당한 보상</a:t>
            </a:r>
          </a:p>
        </p:txBody>
      </p:sp>
      <p:sp>
        <p:nvSpPr>
          <p:cNvPr id="51" name="Oval 17">
            <a:extLst>
              <a:ext uri="{FF2B5EF4-FFF2-40B4-BE49-F238E27FC236}">
                <a16:creationId xmlns:a16="http://schemas.microsoft.com/office/drawing/2014/main" id="{F6C85B30-11CF-4486-A343-2C8FD1165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5412" y="2626584"/>
            <a:ext cx="740294" cy="706300"/>
          </a:xfrm>
          <a:prstGeom prst="ellips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ko-KR" sz="110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CFC5BE1F-B75F-4FF8-8398-67EE52BFC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6395" y="2801943"/>
            <a:ext cx="698327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우수발명</a:t>
            </a:r>
            <a:endParaRPr lang="en-US" altLang="ko-KR" sz="1200" dirty="0">
              <a:solidFill>
                <a:prstClr val="white"/>
              </a:solidFill>
              <a:latin typeface="Rix모던명조 M" panose="02020603020101020101" pitchFamily="18" charset="-127"/>
            </a:endParaRPr>
          </a:p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창출</a:t>
            </a:r>
          </a:p>
        </p:txBody>
      </p:sp>
      <p:sp>
        <p:nvSpPr>
          <p:cNvPr id="45" name="Oval 24">
            <a:extLst>
              <a:ext uri="{FF2B5EF4-FFF2-40B4-BE49-F238E27FC236}">
                <a16:creationId xmlns:a16="http://schemas.microsoft.com/office/drawing/2014/main" id="{D76C17AB-7E67-4AFF-A5ED-1AFEB1C3E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589" y="2607230"/>
            <a:ext cx="686374" cy="707899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altLang="ko-KR" sz="1100" dirty="0">
              <a:solidFill>
                <a:srgbClr val="FFFFFF"/>
              </a:solidFill>
              <a:latin typeface="Rix모던명조 M" panose="02020603020101020101" pitchFamily="18" charset="-127"/>
            </a:endParaRPr>
          </a:p>
          <a:p>
            <a:endParaRPr lang="en-US" altLang="ko-KR" sz="1100" dirty="0">
              <a:solidFill>
                <a:srgbClr val="000000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42" name="Text Box 27">
            <a:extLst>
              <a:ext uri="{FF2B5EF4-FFF2-40B4-BE49-F238E27FC236}">
                <a16:creationId xmlns:a16="http://schemas.microsoft.com/office/drawing/2014/main" id="{D8974F44-332F-4909-B665-1D5B9A4A9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083" y="2809299"/>
            <a:ext cx="824988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이익</a:t>
            </a:r>
          </a:p>
          <a:p>
            <a:pPr algn="ctr"/>
            <a:r>
              <a:rPr lang="ko-KR" altLang="en-US" sz="1200" dirty="0">
                <a:solidFill>
                  <a:prstClr val="white"/>
                </a:solidFill>
                <a:latin typeface="Rix모던명조 M" panose="02020603020101020101" pitchFamily="18" charset="-127"/>
              </a:rPr>
              <a:t>증대</a:t>
            </a:r>
          </a:p>
        </p:txBody>
      </p:sp>
      <p:sp>
        <p:nvSpPr>
          <p:cNvPr id="38" name="AutoShape 28">
            <a:extLst>
              <a:ext uri="{FF2B5EF4-FFF2-40B4-BE49-F238E27FC236}">
                <a16:creationId xmlns:a16="http://schemas.microsoft.com/office/drawing/2014/main" id="{CD2B7764-9141-4F02-AC9B-7593D1580C95}"/>
              </a:ext>
            </a:extLst>
          </p:cNvPr>
          <p:cNvSpPr>
            <a:spLocks noChangeArrowheads="1"/>
          </p:cNvSpPr>
          <p:nvPr/>
        </p:nvSpPr>
        <p:spPr bwMode="auto">
          <a:xfrm rot="3028264">
            <a:off x="8692193" y="1942326"/>
            <a:ext cx="1046623" cy="340267"/>
          </a:xfrm>
          <a:prstGeom prst="rightArrow">
            <a:avLst>
              <a:gd name="adj1" fmla="val 56269"/>
              <a:gd name="adj2" fmla="val 112126"/>
            </a:avLst>
          </a:prstGeom>
          <a:solidFill>
            <a:schemeClr val="accent3">
              <a:lumMod val="20000"/>
              <a:lumOff val="80000"/>
            </a:schemeClr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39" name="AutoShape 29">
            <a:extLst>
              <a:ext uri="{FF2B5EF4-FFF2-40B4-BE49-F238E27FC236}">
                <a16:creationId xmlns:a16="http://schemas.microsoft.com/office/drawing/2014/main" id="{148CCD5A-BEFF-46E7-8978-9BAD00AF7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221" y="2786389"/>
            <a:ext cx="1504452" cy="399080"/>
          </a:xfrm>
          <a:prstGeom prst="leftArrow">
            <a:avLst>
              <a:gd name="adj1" fmla="val 50000"/>
              <a:gd name="adj2" fmla="val 96832"/>
            </a:avLst>
          </a:prstGeom>
          <a:solidFill>
            <a:schemeClr val="accent3">
              <a:lumMod val="20000"/>
              <a:lumOff val="80000"/>
            </a:schemeClr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40" name="AutoShape 30">
            <a:extLst>
              <a:ext uri="{FF2B5EF4-FFF2-40B4-BE49-F238E27FC236}">
                <a16:creationId xmlns:a16="http://schemas.microsoft.com/office/drawing/2014/main" id="{D862C650-643A-4087-9478-2CAAE9555EA6}"/>
              </a:ext>
            </a:extLst>
          </p:cNvPr>
          <p:cNvSpPr>
            <a:spLocks noChangeArrowheads="1"/>
          </p:cNvSpPr>
          <p:nvPr/>
        </p:nvSpPr>
        <p:spPr bwMode="auto">
          <a:xfrm rot="18676126">
            <a:off x="7283494" y="1845253"/>
            <a:ext cx="1047722" cy="436569"/>
          </a:xfrm>
          <a:prstGeom prst="rightArrow">
            <a:avLst>
              <a:gd name="adj1" fmla="val 50000"/>
              <a:gd name="adj2" fmla="val 58395"/>
            </a:avLst>
          </a:prstGeom>
          <a:solidFill>
            <a:schemeClr val="accent3">
              <a:lumMod val="20000"/>
              <a:lumOff val="80000"/>
            </a:schemeClr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 dirty="0">
              <a:solidFill>
                <a:prstClr val="black"/>
              </a:solidFill>
              <a:latin typeface="Rix모던명조 M" panose="0202060302010102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32EE1D-B676-4EED-9CC8-F16284180741}"/>
              </a:ext>
            </a:extLst>
          </p:cNvPr>
          <p:cNvSpPr txBox="1"/>
          <p:nvPr/>
        </p:nvSpPr>
        <p:spPr>
          <a:xfrm>
            <a:off x="337260" y="4146632"/>
            <a:ext cx="4310940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기술이 고도로 복잡화 및 다양화됨에 따라 기존의 기술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(prior art)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을 뛰어 넘는 새로운 기술의 개발은 대규모 연구시설과 인력 및 막대한 연구비의 </a:t>
            </a:r>
            <a:r>
              <a:rPr lang="ko-KR" altLang="en-US" sz="1400" dirty="0" err="1">
                <a:solidFill>
                  <a:prstClr val="white">
                    <a:lumMod val="50000"/>
                  </a:prstClr>
                </a:solidFill>
              </a:rPr>
              <a:t>지원없이는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 사실상 불가능하게 됨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. 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그 결과 기업체</a:t>
            </a:r>
            <a:r>
              <a:rPr lang="en-US" altLang="ko-KR" sz="1400" dirty="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</a:rPr>
              <a:t>연구소 및 대학 등에 의한 직무발명의 비중이 갈수록 높아지고 있음</a:t>
            </a:r>
          </a:p>
        </p:txBody>
      </p:sp>
      <p:graphicFrame>
        <p:nvGraphicFramePr>
          <p:cNvPr id="60" name="Group 131">
            <a:extLst>
              <a:ext uri="{FF2B5EF4-FFF2-40B4-BE49-F238E27FC236}">
                <a16:creationId xmlns:a16="http://schemas.microsoft.com/office/drawing/2014/main" id="{A97BA65E-B34A-4920-8A78-D6C78C2521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592612"/>
              </p:ext>
            </p:extLst>
          </p:nvPr>
        </p:nvGraphicFramePr>
        <p:xfrm>
          <a:off x="4894217" y="4143376"/>
          <a:ext cx="6853644" cy="147185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69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3965333382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646776974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2139306465"/>
                    </a:ext>
                  </a:extLst>
                </a:gridCol>
                <a:gridCol w="710500">
                  <a:extLst>
                    <a:ext uri="{9D8B030D-6E8A-4147-A177-3AD203B41FA5}">
                      <a16:colId xmlns:a16="http://schemas.microsoft.com/office/drawing/2014/main" val="1438454979"/>
                    </a:ext>
                  </a:extLst>
                </a:gridCol>
              </a:tblGrid>
              <a:tr h="596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연도    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개인발명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41,972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40,878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41,671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42,487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44,552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44,696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42,043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36,049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직무발명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171,722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167,952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163,104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167,505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174,423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182,063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195,955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201,584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2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합계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213,694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208,830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204,775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209,992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218,975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226,759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237,998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237,633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2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직무발명 비중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(%)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80.36%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80.43%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79.65%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79.77%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79.65%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80.29%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82.33%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84.83%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1BFEFE71-1031-4818-B071-B449BB0A68CC}"/>
              </a:ext>
            </a:extLst>
          </p:cNvPr>
          <p:cNvSpPr txBox="1"/>
          <p:nvPr/>
        </p:nvSpPr>
        <p:spPr>
          <a:xfrm>
            <a:off x="4894217" y="5723364"/>
            <a:ext cx="6603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</a:rPr>
              <a:t>* </a:t>
            </a:r>
            <a:r>
              <a:rPr lang="ko-KR" altLang="en-US" sz="1200" dirty="0">
                <a:solidFill>
                  <a:prstClr val="black"/>
                </a:solidFill>
              </a:rPr>
              <a:t>특허출원건수를 기준으로 하였으며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개인발명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ko-KR" altLang="en-US" sz="1200" dirty="0">
                <a:solidFill>
                  <a:prstClr val="black"/>
                </a:solidFill>
              </a:rPr>
              <a:t>건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은 개인출원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직무발명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ko-KR" altLang="en-US" sz="1200" dirty="0">
                <a:solidFill>
                  <a:prstClr val="black"/>
                </a:solidFill>
              </a:rPr>
              <a:t>건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은 법인출원 건수를 의미함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B7C6AA5-B86E-4BF5-AF5C-0A8E9D9350FA}"/>
              </a:ext>
            </a:extLst>
          </p:cNvPr>
          <p:cNvCxnSpPr/>
          <p:nvPr/>
        </p:nvCxnSpPr>
        <p:spPr>
          <a:xfrm>
            <a:off x="304302" y="3667125"/>
            <a:ext cx="1155043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757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직무발명의 혜택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75" y="986046"/>
            <a:ext cx="11936323" cy="33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hangingPunct="0">
              <a:lnSpc>
                <a:spcPct val="120000"/>
              </a:lnSpc>
              <a:spcAft>
                <a:spcPct val="30000"/>
              </a:spcAft>
              <a:buClr>
                <a:srgbClr val="1F497D">
                  <a:lumMod val="75000"/>
                </a:srgbClr>
              </a:buClr>
              <a:defRPr/>
            </a:pPr>
            <a:r>
              <a:rPr lang="ko-KR" altLang="en-US" sz="1400" dirty="0">
                <a:solidFill>
                  <a:prstClr val="black"/>
                </a:solidFill>
              </a:rPr>
              <a:t>직무발명제도 도입 기업에게는 직무발명보상금 지출비용에 대하여 세액공제 혜택이 주어지고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정부지원사업 대상자 선정 시에 인센티브가 부여됨</a:t>
            </a:r>
            <a:endParaRPr lang="ko-KR" altLang="en-US" sz="1400" kern="0" dirty="0">
              <a:solidFill>
                <a:prstClr val="black"/>
              </a:solidFill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0" y="132049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114</a:t>
            </a:fld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33A38DD-5C45-4D27-B981-9FEB1D92F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25628"/>
              </p:ext>
            </p:extLst>
          </p:nvPr>
        </p:nvGraphicFramePr>
        <p:xfrm>
          <a:off x="499170" y="1683795"/>
          <a:ext cx="11007030" cy="385370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5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권리확보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2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직무발명에 대한 합리적이고 안정적인 권리를 확보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세액공제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직무발명 보상금으로 지출한 금액에 대해서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연구개발비용으로 소득세 또는 법인세에서 세액공제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조세특례제한법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동법 시행령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발명자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사용자로부터 받는 보상금에 대하여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500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만원까지 비과세 혜택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소득세법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조 제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호 </a:t>
                      </a:r>
                      <a:r>
                        <a:rPr lang="ko-KR" altLang="en-US" sz="1200" b="0" dirty="0" err="1">
                          <a:latin typeface="+mn-ea"/>
                          <a:ea typeface="+mn-ea"/>
                        </a:rPr>
                        <a:t>라목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지식재산처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민간 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IP-R&amp;D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연계전략 지원사업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특허기술의 전략적 사업화 지원사업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지역지식재산 창출 지원사업 </a:t>
                      </a:r>
                      <a:endParaRPr lang="en-US" altLang="ko-KR" sz="1200" b="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실용신안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디자인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우선심사대상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실용신안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디자인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4~6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년차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등록료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20%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추가감면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월말까지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**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5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중소벤처기업부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중소기업 기술혁신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융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복합기술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 err="1">
                          <a:latin typeface="+mn-ea"/>
                          <a:ea typeface="+mn-ea"/>
                        </a:rPr>
                        <a:t>상용화기술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창업성장기술 개발사업</a:t>
                      </a:r>
                      <a:br>
                        <a:rPr lang="ko-KR" altLang="en-US" sz="1200" b="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공정개선 기술개발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과학기술정부통신부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*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SW </a:t>
                      </a:r>
                      <a:r>
                        <a:rPr lang="ko-KR" altLang="en-US" sz="1200" b="0" dirty="0">
                          <a:latin typeface="+mn-ea"/>
                          <a:ea typeface="+mn-ea"/>
                        </a:rPr>
                        <a:t>공학기술 현장적용 지원사업</a:t>
                      </a:r>
                      <a:endParaRPr lang="en-US" altLang="ko-KR" sz="1200" b="0" dirty="0">
                        <a:latin typeface="+mn-ea"/>
                        <a:ea typeface="+mn-ea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융합 제품화 기술개발 및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R&amp;D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역략강화사업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중소기업 공통 애로 해소지원사업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4194752-0FFE-4FEF-91D7-391D54523EA0}"/>
              </a:ext>
            </a:extLst>
          </p:cNvPr>
          <p:cNvSpPr txBox="1"/>
          <p:nvPr/>
        </p:nvSpPr>
        <p:spPr>
          <a:xfrm>
            <a:off x="432495" y="5553177"/>
            <a:ext cx="7622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</a:rPr>
              <a:t>* </a:t>
            </a:r>
            <a:r>
              <a:rPr lang="ko-KR" altLang="en-US" sz="1200" dirty="0">
                <a:solidFill>
                  <a:prstClr val="black"/>
                </a:solidFill>
              </a:rPr>
              <a:t>직무발명 보상 우수기업으로 인증된 경우에 한함</a:t>
            </a:r>
            <a:endParaRPr lang="en-US" altLang="ko-KR" sz="1200" dirty="0">
              <a:solidFill>
                <a:prstClr val="black"/>
              </a:solidFill>
            </a:endParaRPr>
          </a:p>
          <a:p>
            <a:r>
              <a:rPr lang="en-US" altLang="ko-KR" sz="1200" dirty="0">
                <a:solidFill>
                  <a:prstClr val="black"/>
                </a:solidFill>
              </a:rPr>
              <a:t>** </a:t>
            </a:r>
            <a:r>
              <a:rPr lang="ko-KR" altLang="en-US" sz="1200" dirty="0" err="1">
                <a:solidFill>
                  <a:prstClr val="black"/>
                </a:solidFill>
              </a:rPr>
              <a:t>청구항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10</a:t>
            </a:r>
            <a:r>
              <a:rPr lang="ko-KR" altLang="en-US" sz="1200" dirty="0">
                <a:solidFill>
                  <a:prstClr val="black"/>
                </a:solidFill>
              </a:rPr>
              <a:t>항의 등록특허 </a:t>
            </a:r>
            <a:r>
              <a:rPr lang="en-US" altLang="ko-KR" sz="1200" dirty="0">
                <a:solidFill>
                  <a:prstClr val="black"/>
                </a:solidFill>
              </a:rPr>
              <a:t>1</a:t>
            </a:r>
            <a:r>
              <a:rPr lang="ko-KR" altLang="en-US" sz="1200" dirty="0">
                <a:solidFill>
                  <a:prstClr val="black"/>
                </a:solidFill>
              </a:rPr>
              <a:t>건의 </a:t>
            </a:r>
            <a:r>
              <a:rPr lang="en-US" altLang="ko-KR" sz="1200" dirty="0">
                <a:solidFill>
                  <a:prstClr val="black"/>
                </a:solidFill>
              </a:rPr>
              <a:t>4~6</a:t>
            </a:r>
            <a:r>
              <a:rPr lang="ko-KR" altLang="en-US" sz="1200" dirty="0" err="1">
                <a:solidFill>
                  <a:prstClr val="black"/>
                </a:solidFill>
              </a:rPr>
              <a:t>년차</a:t>
            </a:r>
            <a:r>
              <a:rPr lang="ko-KR" altLang="en-US" sz="1200" dirty="0">
                <a:solidFill>
                  <a:prstClr val="black"/>
                </a:solidFill>
              </a:rPr>
              <a:t> 등록료 </a:t>
            </a:r>
            <a:r>
              <a:rPr lang="ko-KR" altLang="en-US" sz="1200" dirty="0" err="1">
                <a:solidFill>
                  <a:prstClr val="black"/>
                </a:solidFill>
              </a:rPr>
              <a:t>감면금액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370,500</a:t>
            </a:r>
            <a:r>
              <a:rPr lang="ko-KR" altLang="en-US" sz="1200" dirty="0">
                <a:solidFill>
                  <a:prstClr val="black"/>
                </a:solidFill>
              </a:rPr>
              <a:t>원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ko-KR" altLang="en-US" sz="1200" dirty="0">
                <a:solidFill>
                  <a:prstClr val="black"/>
                </a:solidFill>
              </a:rPr>
              <a:t>등록특허 </a:t>
            </a:r>
            <a:r>
              <a:rPr lang="en-US" altLang="ko-KR" sz="1200" dirty="0">
                <a:solidFill>
                  <a:prstClr val="black"/>
                </a:solidFill>
              </a:rPr>
              <a:t>100</a:t>
            </a:r>
            <a:r>
              <a:rPr lang="ko-KR" altLang="en-US" sz="1200" dirty="0">
                <a:solidFill>
                  <a:prstClr val="black"/>
                </a:solidFill>
              </a:rPr>
              <a:t>건은 </a:t>
            </a:r>
            <a:r>
              <a:rPr lang="en-US" altLang="ko-KR" sz="1200" dirty="0">
                <a:solidFill>
                  <a:prstClr val="black"/>
                </a:solidFill>
              </a:rPr>
              <a:t>37,050,000</a:t>
            </a:r>
            <a:r>
              <a:rPr lang="ko-KR" altLang="en-US" sz="1200" dirty="0">
                <a:solidFill>
                  <a:prstClr val="black"/>
                </a:solidFill>
              </a:rPr>
              <a:t>원 절감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8418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직무발명의 법률관계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3913" y="1283544"/>
            <a:ext cx="3429000" cy="309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 fontAlgn="base"/>
            <a:r>
              <a:rPr lang="ko-KR" altLang="en-US" sz="4800" dirty="0">
                <a:solidFill>
                  <a:schemeClr val="accent1">
                    <a:lumMod val="50000"/>
                  </a:schemeClr>
                </a:solidFill>
              </a:rPr>
              <a:t>종업원 발명</a:t>
            </a:r>
          </a:p>
        </p:txBody>
      </p:sp>
      <p:cxnSp>
        <p:nvCxnSpPr>
          <p:cNvPr id="8" name="직선 연결선 7"/>
          <p:cNvCxnSpPr/>
          <p:nvPr/>
        </p:nvCxnSpPr>
        <p:spPr>
          <a:xfrm flipH="1">
            <a:off x="4494370" y="1849124"/>
            <a:ext cx="159173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H="1">
            <a:off x="6314707" y="1849124"/>
            <a:ext cx="10837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47266" y="2136962"/>
            <a:ext cx="170751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민법의 고용관계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496" y="2136962"/>
            <a:ext cx="80983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특허법</a:t>
            </a:r>
          </a:p>
        </p:txBody>
      </p:sp>
      <p:sp>
        <p:nvSpPr>
          <p:cNvPr id="13" name="아래쪽 화살표 12"/>
          <p:cNvSpPr/>
          <p:nvPr/>
        </p:nvSpPr>
        <p:spPr>
          <a:xfrm>
            <a:off x="4672195" y="2653430"/>
            <a:ext cx="677333" cy="40643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아래쪽 화살표 15"/>
          <p:cNvSpPr/>
          <p:nvPr/>
        </p:nvSpPr>
        <p:spPr>
          <a:xfrm>
            <a:off x="6939747" y="2653430"/>
            <a:ext cx="677333" cy="40643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164200" y="3313821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사용자에게 귀속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3541" y="3313821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종업원에게 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7449" y="331382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21" name="자유형 20"/>
          <p:cNvSpPr/>
          <p:nvPr/>
        </p:nvSpPr>
        <p:spPr>
          <a:xfrm>
            <a:off x="5001025" y="1849134"/>
            <a:ext cx="323128" cy="300055"/>
          </a:xfrm>
          <a:custGeom>
            <a:avLst/>
            <a:gdLst>
              <a:gd name="connsiteX0" fmla="*/ 1032933 w 1032933"/>
              <a:gd name="connsiteY0" fmla="*/ 0 h 491066"/>
              <a:gd name="connsiteX1" fmla="*/ 1032933 w 1032933"/>
              <a:gd name="connsiteY1" fmla="*/ 245533 h 491066"/>
              <a:gd name="connsiteX2" fmla="*/ 0 w 1032933"/>
              <a:gd name="connsiteY2" fmla="*/ 245533 h 491066"/>
              <a:gd name="connsiteX3" fmla="*/ 0 w 1032933"/>
              <a:gd name="connsiteY3" fmla="*/ 491066 h 49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2933" h="491066">
                <a:moveTo>
                  <a:pt x="1032933" y="0"/>
                </a:moveTo>
                <a:lnTo>
                  <a:pt x="1032933" y="245533"/>
                </a:lnTo>
                <a:lnTo>
                  <a:pt x="0" y="245533"/>
                </a:lnTo>
                <a:lnTo>
                  <a:pt x="0" y="491066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6865088" y="1857600"/>
            <a:ext cx="413326" cy="279362"/>
          </a:xfrm>
          <a:custGeom>
            <a:avLst/>
            <a:gdLst>
              <a:gd name="connsiteX0" fmla="*/ 0 w 753533"/>
              <a:gd name="connsiteY0" fmla="*/ 0 h 457200"/>
              <a:gd name="connsiteX1" fmla="*/ 0 w 753533"/>
              <a:gd name="connsiteY1" fmla="*/ 237067 h 457200"/>
              <a:gd name="connsiteX2" fmla="*/ 753533 w 753533"/>
              <a:gd name="connsiteY2" fmla="*/ 237067 h 457200"/>
              <a:gd name="connsiteX3" fmla="*/ 753533 w 753533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533" h="457200">
                <a:moveTo>
                  <a:pt x="0" y="0"/>
                </a:moveTo>
                <a:lnTo>
                  <a:pt x="0" y="237067"/>
                </a:lnTo>
                <a:lnTo>
                  <a:pt x="753533" y="237067"/>
                </a:lnTo>
                <a:lnTo>
                  <a:pt x="753533" y="45720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8365091" y="1846135"/>
            <a:ext cx="3268133" cy="715089"/>
          </a:xfrm>
          <a:prstGeom prst="wedgeRoundRectCallout">
            <a:avLst>
              <a:gd name="adj1" fmla="val -69279"/>
              <a:gd name="adj2" fmla="val 1277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</a:t>
            </a:r>
            <a:r>
              <a:rPr lang="ko-KR" altLang="en-US" sz="1200" b="1" dirty="0"/>
              <a:t>제</a:t>
            </a:r>
            <a:r>
              <a:rPr lang="en-US" altLang="ko-KR" sz="1200" b="1" dirty="0"/>
              <a:t>33</a:t>
            </a:r>
            <a:r>
              <a:rPr lang="ko-KR" altLang="en-US" sz="1200" b="1" dirty="0"/>
              <a:t>조제</a:t>
            </a:r>
            <a:r>
              <a:rPr lang="en-US" altLang="ko-KR" sz="1200" b="1" dirty="0"/>
              <a:t>1</a:t>
            </a:r>
            <a:r>
              <a:rPr lang="ko-KR" altLang="en-US" sz="1200" b="1" dirty="0" err="1"/>
              <a:t>항본문</a:t>
            </a:r>
            <a:r>
              <a:rPr lang="en-US" altLang="ko-KR" sz="1200" b="1" dirty="0"/>
              <a:t>)</a:t>
            </a:r>
            <a:r>
              <a:rPr lang="ko-KR" altLang="en-US" sz="1200" dirty="0"/>
              <a:t> 발명을 한 사람 또는 그 승계인은 이 법에서 정하는 바에 따라 특허를 받을 수 있는 권리를 가진다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474158" y="1846135"/>
            <a:ext cx="3268133" cy="919401"/>
          </a:xfrm>
          <a:prstGeom prst="wedgeRoundRectCallout">
            <a:avLst>
              <a:gd name="adj1" fmla="val 61379"/>
              <a:gd name="adj2" fmla="val 1518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</a:t>
            </a:r>
            <a:r>
              <a:rPr lang="ko-KR" altLang="en-US" sz="1200" b="1" dirty="0"/>
              <a:t>제</a:t>
            </a:r>
            <a:r>
              <a:rPr lang="en-US" altLang="ko-KR" sz="1200" b="1" dirty="0"/>
              <a:t>655</a:t>
            </a:r>
            <a:r>
              <a:rPr lang="ko-KR" altLang="en-US" sz="1200" b="1" dirty="0"/>
              <a:t>조</a:t>
            </a:r>
            <a:r>
              <a:rPr lang="en-US" altLang="ko-KR" sz="1200" b="1" dirty="0"/>
              <a:t>)</a:t>
            </a:r>
            <a:r>
              <a:rPr lang="ko-KR" altLang="en-US" sz="1200" dirty="0"/>
              <a:t> 고용은 당사자 일방이 상대방에 대하여 노무를 제공할 것을 약정하고 상대방이 이에 대하여 보수를 지급할 것을 약정함으로써 그 효력이 생긴다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6" name="직사각형 25"/>
          <p:cNvSpPr/>
          <p:nvPr/>
        </p:nvSpPr>
        <p:spPr>
          <a:xfrm>
            <a:off x="2971800" y="3302004"/>
            <a:ext cx="6663267" cy="93133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985930" y="3731141"/>
            <a:ext cx="662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발명진흥법에서 양자간의 관계를 조절</a:t>
            </a: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79807"/>
              </p:ext>
            </p:extLst>
          </p:nvPr>
        </p:nvGraphicFramePr>
        <p:xfrm>
          <a:off x="490451" y="4637424"/>
          <a:ext cx="11329016" cy="1953768"/>
        </p:xfrm>
        <a:graphic>
          <a:graphicData uri="http://schemas.openxmlformats.org/drawingml/2006/table">
            <a:tbl>
              <a:tblPr/>
              <a:tblGrid>
                <a:gridCol w="140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0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종업원 등의 권리 및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등의 권리 및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6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직무발명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특허를 받을 수 있는 권리의 원시적 취득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발명완성사실통지의무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비밀유지의무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법정실시권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대기업의 경우 예약승계 계약의 체결 또는 근무규정의 작성이 있는 경우에 한함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예약승계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예약승계계약이나 근무규정에 근거한 승계취득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승계한 경우 정당한 보상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자유발명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특허를 받을 수 있는 권리의 원시적 취득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▪ 승계한 경우 정당한 보상 의무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601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직선 연결선 55"/>
          <p:cNvCxnSpPr/>
          <p:nvPr/>
        </p:nvCxnSpPr>
        <p:spPr>
          <a:xfrm>
            <a:off x="1864306" y="3075764"/>
            <a:ext cx="0" cy="2825503"/>
          </a:xfrm>
          <a:prstGeom prst="line">
            <a:avLst/>
          </a:prstGeom>
          <a:ln w="571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현재 또는 과거의 직무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116</a:t>
            </a:fld>
            <a:endParaRPr lang="ko-KR" altLang="en-US"/>
          </a:p>
        </p:txBody>
      </p:sp>
      <p:sp>
        <p:nvSpPr>
          <p:cNvPr id="22" name="직사각형 21"/>
          <p:cNvSpPr/>
          <p:nvPr/>
        </p:nvSpPr>
        <p:spPr bwMode="auto">
          <a:xfrm>
            <a:off x="348791" y="1535859"/>
            <a:ext cx="11519555" cy="885607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sz="1200" dirty="0" err="1"/>
              <a:t>구특허법</a:t>
            </a:r>
            <a:r>
              <a:rPr lang="ko-KR" altLang="en-US" sz="1200" dirty="0"/>
              <a:t> 제</a:t>
            </a:r>
            <a:r>
              <a:rPr lang="en-US" altLang="ko-KR" sz="1200" dirty="0"/>
              <a:t>17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항이나 특허법 제</a:t>
            </a:r>
            <a:r>
              <a:rPr lang="en-US" altLang="ko-KR" sz="1200" dirty="0"/>
              <a:t>39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의하면</a:t>
            </a:r>
            <a:r>
              <a:rPr lang="en-US" altLang="ko-KR" sz="1200" dirty="0"/>
              <a:t>, </a:t>
            </a:r>
            <a:r>
              <a:rPr lang="ko-KR" altLang="en-US" sz="1200" dirty="0"/>
              <a:t>직무발명에 관한 </a:t>
            </a:r>
            <a:r>
              <a:rPr lang="ko-KR" altLang="en-US" sz="1200" dirty="0" err="1"/>
              <a:t>통상실시권을</a:t>
            </a:r>
            <a:r>
              <a:rPr lang="ko-KR" altLang="en-US" sz="1200" dirty="0"/>
              <a:t> 취득하게 되는 사용자는 그 </a:t>
            </a:r>
            <a:r>
              <a:rPr lang="ko-KR" altLang="en-US" sz="1200" dirty="0" err="1"/>
              <a:t>피용자나</a:t>
            </a:r>
            <a:r>
              <a:rPr lang="ko-KR" altLang="en-US" sz="1200" dirty="0"/>
              <a:t> 종업원이 직무발명을 완성할 당시의 사용자이고</a:t>
            </a:r>
            <a:r>
              <a:rPr lang="en-US" altLang="ko-KR" sz="1200" dirty="0"/>
              <a:t>, </a:t>
            </a:r>
            <a:r>
              <a:rPr lang="ko-KR" altLang="en-US" sz="1200" dirty="0"/>
              <a:t>그에 따른 특허권의 등록이 그 이후에 이루어졌다고 하여 등록 당시의 사용자가 그 </a:t>
            </a:r>
            <a:r>
              <a:rPr lang="ko-KR" altLang="en-US" sz="1200" dirty="0" err="1"/>
              <a:t>통상실시권을</a:t>
            </a:r>
            <a:r>
              <a:rPr lang="ko-KR" altLang="en-US" sz="1200" dirty="0"/>
              <a:t> 취득하는 것은 아니다</a:t>
            </a:r>
            <a:r>
              <a:rPr lang="en-US" altLang="ko-KR" sz="1200" dirty="0"/>
              <a:t>.</a:t>
            </a:r>
          </a:p>
          <a:p>
            <a:pPr fontAlgn="base">
              <a:lnSpc>
                <a:spcPct val="150000"/>
              </a:lnSpc>
            </a:pP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sym typeface="Wingdings" pitchFamily="2" charset="2"/>
              </a:rPr>
              <a:t>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이는 발명완성 당시에 고용관계에 있는 사용자 등을 기준으로 직무발명인지 여부를 판단하기 때문이다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4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4" name="모서리가 둥근 직사각형 23"/>
          <p:cNvSpPr/>
          <p:nvPr/>
        </p:nvSpPr>
        <p:spPr bwMode="auto">
          <a:xfrm>
            <a:off x="348791" y="1245544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/>
            <a:r>
              <a:rPr lang="ko-KR" altLang="en-US" sz="1200" dirty="0"/>
              <a:t>대법원 </a:t>
            </a:r>
            <a:r>
              <a:rPr lang="en-US" altLang="ko-KR" sz="1200" dirty="0"/>
              <a:t>1997. 6. 27. </a:t>
            </a:r>
            <a:r>
              <a:rPr lang="ko-KR" altLang="en-US" sz="1200" dirty="0"/>
              <a:t>선고 </a:t>
            </a:r>
            <a:r>
              <a:rPr lang="en-US" altLang="ko-KR" sz="1200" dirty="0"/>
              <a:t>97</a:t>
            </a:r>
            <a:r>
              <a:rPr lang="ko-KR" altLang="en-US" sz="1200" dirty="0"/>
              <a:t>도</a:t>
            </a:r>
            <a:r>
              <a:rPr lang="en-US" altLang="ko-KR" sz="1200" dirty="0"/>
              <a:t>516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 err="1"/>
              <a:t>실용신안법위반</a:t>
            </a:r>
            <a:r>
              <a:rPr lang="en-US" altLang="ko-KR" sz="1200" dirty="0"/>
              <a:t>】</a:t>
            </a:r>
            <a:endParaRPr lang="ko-KR" altLang="en-US" sz="1200" dirty="0"/>
          </a:p>
        </p:txBody>
      </p:sp>
      <p:cxnSp>
        <p:nvCxnSpPr>
          <p:cNvPr id="30" name="직선 연결선 29"/>
          <p:cNvCxnSpPr/>
          <p:nvPr/>
        </p:nvCxnSpPr>
        <p:spPr>
          <a:xfrm>
            <a:off x="714031" y="4126150"/>
            <a:ext cx="573852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endCxn id="32" idx="0"/>
          </p:cNvCxnSpPr>
          <p:nvPr/>
        </p:nvCxnSpPr>
        <p:spPr>
          <a:xfrm>
            <a:off x="1196412" y="4160066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4031" y="4523098"/>
            <a:ext cx="972861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甲이 </a:t>
            </a:r>
            <a:r>
              <a:rPr lang="en-US" altLang="ko-KR" sz="1200" dirty="0"/>
              <a:t>A</a:t>
            </a:r>
            <a:r>
              <a:rPr lang="ko-KR" altLang="en-US" sz="1200" dirty="0"/>
              <a:t>회사 입사</a:t>
            </a:r>
          </a:p>
        </p:txBody>
      </p:sp>
      <p:cxnSp>
        <p:nvCxnSpPr>
          <p:cNvPr id="40" name="직선 연결선 39"/>
          <p:cNvCxnSpPr>
            <a:endCxn id="51" idx="2"/>
          </p:cNvCxnSpPr>
          <p:nvPr/>
        </p:nvCxnSpPr>
        <p:spPr>
          <a:xfrm flipV="1">
            <a:off x="1867642" y="3785374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endCxn id="48" idx="0"/>
          </p:cNvCxnSpPr>
          <p:nvPr/>
        </p:nvCxnSpPr>
        <p:spPr>
          <a:xfrm>
            <a:off x="3634015" y="4160066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51634" y="4523098"/>
            <a:ext cx="972861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甲이 </a:t>
            </a:r>
            <a:r>
              <a:rPr lang="en-US" altLang="ko-KR" sz="1200" dirty="0"/>
              <a:t>A</a:t>
            </a:r>
            <a:r>
              <a:rPr lang="ko-KR" altLang="en-US" sz="1200" dirty="0"/>
              <a:t>회사 퇴사</a:t>
            </a:r>
          </a:p>
        </p:txBody>
      </p:sp>
      <p:cxnSp>
        <p:nvCxnSpPr>
          <p:cNvPr id="49" name="직선 연결선 48"/>
          <p:cNvCxnSpPr>
            <a:endCxn id="50" idx="0"/>
          </p:cNvCxnSpPr>
          <p:nvPr/>
        </p:nvCxnSpPr>
        <p:spPr>
          <a:xfrm>
            <a:off x="4816402" y="4160066"/>
            <a:ext cx="4050" cy="363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334021" y="4523098"/>
            <a:ext cx="972861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甲이 </a:t>
            </a:r>
            <a:r>
              <a:rPr lang="en-US" altLang="ko-KR" sz="1200" dirty="0"/>
              <a:t>B</a:t>
            </a:r>
            <a:r>
              <a:rPr lang="ko-KR" altLang="en-US" sz="1200" dirty="0"/>
              <a:t>회사 입사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1211" y="3323709"/>
            <a:ext cx="9728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endParaRPr lang="en-US" altLang="ko-KR" sz="1200" dirty="0"/>
          </a:p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발명완성</a:t>
            </a:r>
          </a:p>
        </p:txBody>
      </p:sp>
      <p:cxnSp>
        <p:nvCxnSpPr>
          <p:cNvPr id="52" name="직선 연결선 51"/>
          <p:cNvCxnSpPr>
            <a:endCxn id="53" idx="2"/>
          </p:cNvCxnSpPr>
          <p:nvPr/>
        </p:nvCxnSpPr>
        <p:spPr>
          <a:xfrm flipV="1">
            <a:off x="3175482" y="3785374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89051" y="3323709"/>
            <a:ext cx="9728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endParaRPr lang="en-US" altLang="ko-KR" sz="1200" dirty="0"/>
          </a:p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발명 출원</a:t>
            </a:r>
          </a:p>
        </p:txBody>
      </p:sp>
      <p:cxnSp>
        <p:nvCxnSpPr>
          <p:cNvPr id="54" name="직선 연결선 53"/>
          <p:cNvCxnSpPr>
            <a:endCxn id="55" idx="2"/>
          </p:cNvCxnSpPr>
          <p:nvPr/>
        </p:nvCxnSpPr>
        <p:spPr>
          <a:xfrm flipV="1">
            <a:off x="5569037" y="3785374"/>
            <a:ext cx="0" cy="2981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82606" y="3323709"/>
            <a:ext cx="9728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甲 </a:t>
            </a:r>
            <a:endParaRPr lang="en-US" altLang="ko-KR" sz="1200" dirty="0"/>
          </a:p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발명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222" y="3523570"/>
            <a:ext cx="4980851" cy="1415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발명에 대하여 통상실시권을 취득하는 사용자는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= X</a:t>
            </a:r>
            <a:r>
              <a:rPr lang="ko-KR" altLang="en-US" dirty="0"/>
              <a:t>발명은 </a:t>
            </a:r>
            <a:r>
              <a:rPr lang="en-US" altLang="ko-KR" dirty="0"/>
              <a:t>A/B </a:t>
            </a:r>
            <a:r>
              <a:rPr lang="ko-KR" altLang="en-US" dirty="0"/>
              <a:t>회사 中 어느 회사의 직무발명인가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</a:t>
            </a:r>
            <a:r>
              <a:rPr lang="en-US" altLang="ko-KR" sz="1600" dirty="0"/>
              <a:t>- </a:t>
            </a:r>
            <a:r>
              <a:rPr lang="ko-KR" altLang="en-US" sz="1600" dirty="0"/>
              <a:t>종업원 등이 발명하였을 것</a:t>
            </a:r>
            <a:endParaRPr lang="en-US" altLang="ko-KR" sz="1600" dirty="0"/>
          </a:p>
          <a:p>
            <a:r>
              <a:rPr lang="en-US" altLang="ko-KR" sz="1600" dirty="0"/>
              <a:t>  - </a:t>
            </a:r>
            <a:r>
              <a:rPr lang="ko-KR" altLang="en-US" sz="1600" dirty="0"/>
              <a:t>사용자 등의 업무범위에 속할 것 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FF0000"/>
                </a:solidFill>
              </a:rPr>
              <a:t>  - </a:t>
            </a:r>
            <a:r>
              <a:rPr lang="ko-KR" altLang="en-US" sz="1600" dirty="0">
                <a:solidFill>
                  <a:srgbClr val="FF0000"/>
                </a:solidFill>
              </a:rPr>
              <a:t>종업원 등의 현재 또는 과거의 직무에 속할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6018" y="605366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발명 완성 당시</a:t>
            </a:r>
          </a:p>
        </p:txBody>
      </p:sp>
    </p:spTree>
    <p:extLst>
      <p:ext uri="{BB962C8B-B14F-4D97-AF65-F5344CB8AC3E}">
        <p14:creationId xmlns:p14="http://schemas.microsoft.com/office/powerpoint/2010/main" val="11341986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예약승계규정의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1)</a:t>
            </a:r>
            <a:r>
              <a:rPr lang="ko-KR" altLang="en-US" sz="1400" dirty="0"/>
              <a:t> 직무발명 외의 종업원 등의 발명에 대하여  </a:t>
            </a:r>
            <a:r>
              <a:rPr lang="en-US" altLang="ko-KR" sz="1400" dirty="0"/>
              <a:t>2)  </a:t>
            </a:r>
            <a:r>
              <a:rPr lang="ko-KR" altLang="en-US" sz="1400" dirty="0"/>
              <a:t>미리  </a:t>
            </a:r>
            <a:r>
              <a:rPr lang="en-US" altLang="ko-KR" sz="1400" dirty="0"/>
              <a:t>3) </a:t>
            </a:r>
            <a:r>
              <a:rPr lang="ko-KR" altLang="en-US" sz="1400" dirty="0"/>
              <a:t>사용자 등에게 특허를 받을 수 있는 권리나 특허권을 </a:t>
            </a:r>
            <a:r>
              <a:rPr lang="ko-KR" altLang="en-US" sz="1400" dirty="0" err="1"/>
              <a:t>승계시키거나</a:t>
            </a:r>
            <a:r>
              <a:rPr lang="ko-KR" altLang="en-US" sz="1400" dirty="0"/>
              <a:t> 사용자 등을 위하여 전용실시권을 설정하도록 하는  </a:t>
            </a:r>
            <a:r>
              <a:rPr lang="en-US" altLang="ko-KR" sz="1400" dirty="0"/>
              <a:t>4) </a:t>
            </a:r>
            <a:r>
              <a:rPr lang="ko-KR" altLang="en-US" sz="1400" dirty="0"/>
              <a:t>계약이나 근무규정의 조항은 무효로 한다</a:t>
            </a:r>
            <a:r>
              <a:rPr lang="en-US" altLang="ko-KR" sz="1400" dirty="0"/>
              <a:t>(</a:t>
            </a:r>
            <a:r>
              <a:rPr lang="ko-KR" altLang="en-US" sz="1400" dirty="0"/>
              <a:t>發振法 </a:t>
            </a:r>
            <a:r>
              <a:rPr lang="en-US" altLang="ko-KR" sz="1400" dirty="0"/>
              <a:t>10③).</a:t>
            </a:r>
            <a:endParaRPr lang="ko-KR" altLang="en-US" sz="1400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0" y="15092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EB0361-C7F8-4E76-9E9C-BC1138B09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2182"/>
              </p:ext>
            </p:extLst>
          </p:nvPr>
        </p:nvGraphicFramePr>
        <p:xfrm>
          <a:off x="707366" y="2032485"/>
          <a:ext cx="10636371" cy="412676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3157120850"/>
                    </a:ext>
                  </a:extLst>
                </a:gridCol>
                <a:gridCol w="3812875">
                  <a:extLst>
                    <a:ext uri="{9D8B030D-6E8A-4147-A177-3AD203B41FA5}">
                      <a16:colId xmlns:a16="http://schemas.microsoft.com/office/drawing/2014/main" val="166338093"/>
                    </a:ext>
                  </a:extLst>
                </a:gridCol>
                <a:gridCol w="3114136">
                  <a:extLst>
                    <a:ext uri="{9D8B030D-6E8A-4147-A177-3AD203B41FA5}">
                      <a16:colId xmlns:a16="http://schemas.microsoft.com/office/drawing/2014/main" val="2651455179"/>
                    </a:ext>
                  </a:extLst>
                </a:gridCol>
                <a:gridCol w="2510288">
                  <a:extLst>
                    <a:ext uri="{9D8B030D-6E8A-4147-A177-3AD203B41FA5}">
                      <a16:colId xmlns:a16="http://schemas.microsoft.com/office/drawing/2014/main" val="45869260"/>
                    </a:ext>
                  </a:extLst>
                </a:gridCol>
              </a:tblGrid>
              <a:tr h="35821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구 분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 완성 전</a:t>
                      </a:r>
                      <a:r>
                        <a:rPr lang="en-US" altLang="ko-KR" sz="1200" kern="0" spc="-100" dirty="0"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effectLst/>
                        </a:rPr>
                        <a:t>예약승계</a:t>
                      </a:r>
                      <a:r>
                        <a:rPr lang="en-US" altLang="ko-KR" sz="1200" kern="0" spc="-100" dirty="0">
                          <a:effectLst/>
                        </a:rPr>
                        <a:t>)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 완성 후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84423"/>
                  </a:ext>
                </a:extLst>
              </a:tr>
              <a:tr h="35383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직무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발명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특허를 받을 수 있는 권리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rowSpan="3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783852364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특허권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645143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전용실시권 설정계약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034027"/>
                  </a:ext>
                </a:extLst>
              </a:tr>
              <a:tr h="12916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통상실시권 허락계약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종업원 등 또는 승계인이 특허를 받은 경우 법정실시권 발생하기 때문에 불필요</a:t>
                      </a:r>
                    </a:p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단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대기업의 </a:t>
                      </a:r>
                      <a:r>
                        <a:rPr lang="ko-KR" altLang="en-US" sz="1200" kern="0" spc="-50" dirty="0">
                          <a:solidFill>
                            <a:srgbClr val="FF0000"/>
                          </a:solidFill>
                          <a:effectLst/>
                        </a:rPr>
                        <a:t>경우 예약승계계약의 체결 또는 근무규정의 작성이 된 경우</a:t>
                      </a:r>
                      <a:r>
                        <a:rPr lang="ko-KR" altLang="en-US" sz="1200" kern="0" spc="-50" dirty="0">
                          <a:effectLst/>
                        </a:rPr>
                        <a:t>에 한함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717695"/>
                  </a:ext>
                </a:extLst>
              </a:tr>
              <a:tr h="35383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자유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effectLst/>
                        </a:rPr>
                        <a:t>발명</a:t>
                      </a:r>
                      <a:endParaRPr lang="ko-KR" altLang="en-US" sz="12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특허를 받을 수 있는 권리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불가능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rowSpan="4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69423051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특허권 승계계약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불가능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20119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전용실시권 설정계약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불가능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5393"/>
                  </a:ext>
                </a:extLst>
              </a:tr>
              <a:tr h="353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effectLst/>
                        </a:rPr>
                        <a:t>통상실시권 허락계약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가능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84634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6E4282AE-17E4-4938-97AF-28162500348D}"/>
              </a:ext>
            </a:extLst>
          </p:cNvPr>
          <p:cNvSpPr/>
          <p:nvPr/>
        </p:nvSpPr>
        <p:spPr>
          <a:xfrm>
            <a:off x="854015" y="5031819"/>
            <a:ext cx="836762" cy="840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CCB7CC-A538-4BFE-907A-BE53E64231CB}"/>
              </a:ext>
            </a:extLst>
          </p:cNvPr>
          <p:cNvSpPr/>
          <p:nvPr/>
        </p:nvSpPr>
        <p:spPr>
          <a:xfrm>
            <a:off x="6374921" y="1923691"/>
            <a:ext cx="1794294" cy="577961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4EB620A-BBA0-4DA0-AF39-F4E2A4749FE5}"/>
              </a:ext>
            </a:extLst>
          </p:cNvPr>
          <p:cNvSpPr/>
          <p:nvPr/>
        </p:nvSpPr>
        <p:spPr>
          <a:xfrm>
            <a:off x="2613745" y="4585300"/>
            <a:ext cx="2363698" cy="1208292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0FE0831-051A-4B18-B60C-BA15962BB7C9}"/>
              </a:ext>
            </a:extLst>
          </p:cNvPr>
          <p:cNvSpPr/>
          <p:nvPr/>
        </p:nvSpPr>
        <p:spPr>
          <a:xfrm>
            <a:off x="6502215" y="4585300"/>
            <a:ext cx="1451340" cy="1208292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34201B9-0FA0-C167-559E-E22F4197C65A}"/>
              </a:ext>
            </a:extLst>
          </p:cNvPr>
          <p:cNvSpPr/>
          <p:nvPr/>
        </p:nvSpPr>
        <p:spPr>
          <a:xfrm>
            <a:off x="115975" y="982617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0FC8850-671A-BF90-0053-A218E77913BD}"/>
              </a:ext>
            </a:extLst>
          </p:cNvPr>
          <p:cNvSpPr/>
          <p:nvPr/>
        </p:nvSpPr>
        <p:spPr>
          <a:xfrm>
            <a:off x="3430680" y="1001669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138A7F7-7069-FC11-2540-86E9DE22ECC4}"/>
              </a:ext>
            </a:extLst>
          </p:cNvPr>
          <p:cNvSpPr/>
          <p:nvPr/>
        </p:nvSpPr>
        <p:spPr>
          <a:xfrm>
            <a:off x="4064096" y="1001669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10B3D37-E0B6-5B7B-DFA4-FD828BC6A17D}"/>
              </a:ext>
            </a:extLst>
          </p:cNvPr>
          <p:cNvSpPr/>
          <p:nvPr/>
        </p:nvSpPr>
        <p:spPr>
          <a:xfrm>
            <a:off x="1065834" y="1222907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A950811-1B28-70A7-5148-739828712A6F}"/>
              </a:ext>
            </a:extLst>
          </p:cNvPr>
          <p:cNvSpPr/>
          <p:nvPr/>
        </p:nvSpPr>
        <p:spPr>
          <a:xfrm>
            <a:off x="6249415" y="1656048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E3FEBE8-7244-4304-F243-904CCDE2026F}"/>
              </a:ext>
            </a:extLst>
          </p:cNvPr>
          <p:cNvSpPr/>
          <p:nvPr/>
        </p:nvSpPr>
        <p:spPr>
          <a:xfrm>
            <a:off x="727108" y="4851916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4E2CE6-A429-1252-43AC-C0912EDA9FE8}"/>
              </a:ext>
            </a:extLst>
          </p:cNvPr>
          <p:cNvSpPr/>
          <p:nvPr/>
        </p:nvSpPr>
        <p:spPr>
          <a:xfrm>
            <a:off x="2959100" y="4297571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67CF98C-E78E-733A-0E5A-D600AE6918B6}"/>
              </a:ext>
            </a:extLst>
          </p:cNvPr>
          <p:cNvSpPr/>
          <p:nvPr/>
        </p:nvSpPr>
        <p:spPr>
          <a:xfrm>
            <a:off x="6296016" y="4675445"/>
            <a:ext cx="251012" cy="25101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0228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공동직무발명의 경우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118</a:t>
            </a:fld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101804" y="2378296"/>
            <a:ext cx="97286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甲 </a:t>
            </a:r>
            <a:endParaRPr lang="en-US" altLang="ko-KR" sz="1600" dirty="0"/>
          </a:p>
          <a:p>
            <a:pPr algn="ctr"/>
            <a:r>
              <a:rPr lang="ko-KR" altLang="en-US" sz="1600" dirty="0"/>
              <a:t>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2978" y="2437070"/>
            <a:ext cx="8010526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乙의 특허를 받을 수 있는 권리에 대한 지분을 甲이 丙의 </a:t>
            </a:r>
            <a:r>
              <a:rPr lang="ko-KR" altLang="en-US" dirty="0" err="1"/>
              <a:t>동의없이</a:t>
            </a:r>
            <a:r>
              <a:rPr lang="ko-KR" altLang="en-US" dirty="0"/>
              <a:t> 취득할 수 있는가</a:t>
            </a:r>
            <a:r>
              <a:rPr lang="en-US" altLang="ko-KR" dirty="0"/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839" y="3077944"/>
            <a:ext cx="1631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</a:rPr>
              <a:t>예약승계계약체결</a:t>
            </a:r>
            <a:endParaRPr lang="en-US" altLang="ko-KR" sz="1400" dirty="0">
              <a:solidFill>
                <a:schemeClr val="tx2"/>
              </a:solidFill>
            </a:endParaRPr>
          </a:p>
          <a:p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근무규정작성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875" y="986046"/>
            <a:ext cx="11979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종업원 등의 직무발명이 제</a:t>
            </a:r>
            <a:r>
              <a:rPr lang="en-US" altLang="ko-KR" sz="1400" dirty="0"/>
              <a:t>3</a:t>
            </a:r>
            <a:r>
              <a:rPr lang="ko-KR" altLang="en-US" sz="1400" dirty="0"/>
              <a:t>자와 공동으로 행하여진 경우 계약이나 근무규정에 따라 사용자 등이 그 발명에 대한 권리를 승계하면 사용자 등은 그 발명에 대하여 종업원 등이 가지는 권리의 지분을 갖는다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發振法</a:t>
            </a:r>
            <a:r>
              <a:rPr lang="ko-KR" altLang="en-US" sz="1400" dirty="0"/>
              <a:t> </a:t>
            </a:r>
            <a:r>
              <a:rPr lang="en-US" altLang="ko-KR" sz="1400" dirty="0"/>
              <a:t>14). </a:t>
            </a:r>
            <a:r>
              <a:rPr lang="ko-KR" altLang="en-US" sz="1400" dirty="0"/>
              <a:t>이 경우 지분의 이전에 대하여 특허법 제</a:t>
            </a:r>
            <a:r>
              <a:rPr lang="en-US" altLang="ko-KR" sz="1400" dirty="0"/>
              <a:t>37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항에 의하여 제</a:t>
            </a:r>
            <a:r>
              <a:rPr lang="en-US" altLang="ko-KR" sz="1400" dirty="0"/>
              <a:t>3</a:t>
            </a:r>
            <a:r>
              <a:rPr lang="ko-KR" altLang="en-US" sz="1400" dirty="0"/>
              <a:t>자인 다른 공유자의 동의를 받아야 </a:t>
            </a:r>
            <a:r>
              <a:rPr lang="ko-KR" altLang="en-US" sz="1400" dirty="0" err="1"/>
              <a:t>하는지와</a:t>
            </a:r>
            <a:r>
              <a:rPr lang="ko-KR" altLang="en-US" sz="1400" dirty="0"/>
              <a:t> 관련하여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</a:t>
            </a:r>
            <a:r>
              <a:rPr lang="en-US" altLang="ko-KR" sz="1400" dirty="0"/>
              <a:t>(2012</a:t>
            </a:r>
            <a:r>
              <a:rPr lang="ko-KR" altLang="en-US" sz="1400" dirty="0"/>
              <a:t>도</a:t>
            </a:r>
            <a:r>
              <a:rPr lang="en-US" altLang="ko-KR" sz="1400" dirty="0"/>
              <a:t>6676)</a:t>
            </a:r>
            <a:r>
              <a:rPr lang="ko-KR" altLang="en-US" sz="1400" dirty="0"/>
              <a:t>은 이미 공동개발을 할 때 다른 공유자의 묵시적 동의가 있는 것으로 간주하여 별도의 동의절차를 밟을 필요가 없는 것으로 해석하고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0" y="177251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1803" y="3716038"/>
            <a:ext cx="97286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乙</a:t>
            </a:r>
            <a:endParaRPr lang="en-US" altLang="ko-KR" sz="1600" dirty="0"/>
          </a:p>
          <a:p>
            <a:pPr algn="ctr"/>
            <a:r>
              <a:rPr lang="ko-KR" altLang="en-US" sz="1600" dirty="0"/>
              <a:t>종업원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03" y="5019904"/>
            <a:ext cx="97286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丙</a:t>
            </a:r>
            <a:endParaRPr lang="en-US" altLang="ko-KR" sz="1600" dirty="0"/>
          </a:p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3</a:t>
            </a:r>
            <a:r>
              <a:rPr lang="ko-KR" altLang="en-US" sz="1600" dirty="0"/>
              <a:t>자</a:t>
            </a:r>
          </a:p>
        </p:txBody>
      </p:sp>
      <p:cxnSp>
        <p:nvCxnSpPr>
          <p:cNvPr id="5" name="직선 연결선 4"/>
          <p:cNvCxnSpPr>
            <a:stCxn id="32" idx="2"/>
            <a:endCxn id="26" idx="0"/>
          </p:cNvCxnSpPr>
          <p:nvPr/>
        </p:nvCxnSpPr>
        <p:spPr>
          <a:xfrm flipH="1">
            <a:off x="1588234" y="2963071"/>
            <a:ext cx="1" cy="7529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26" idx="2"/>
            <a:endCxn id="27" idx="0"/>
          </p:cNvCxnSpPr>
          <p:nvPr/>
        </p:nvCxnSpPr>
        <p:spPr>
          <a:xfrm>
            <a:off x="1588234" y="4300813"/>
            <a:ext cx="0" cy="7190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34576" y="4476433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</a:rPr>
              <a:t>공동발명</a:t>
            </a:r>
          </a:p>
        </p:txBody>
      </p:sp>
      <p:sp>
        <p:nvSpPr>
          <p:cNvPr id="15" name="자유형 14"/>
          <p:cNvSpPr/>
          <p:nvPr/>
        </p:nvSpPr>
        <p:spPr>
          <a:xfrm>
            <a:off x="2082822" y="2692400"/>
            <a:ext cx="855133" cy="1320800"/>
          </a:xfrm>
          <a:custGeom>
            <a:avLst/>
            <a:gdLst>
              <a:gd name="connsiteX0" fmla="*/ 0 w 855133"/>
              <a:gd name="connsiteY0" fmla="*/ 1320800 h 1320800"/>
              <a:gd name="connsiteX1" fmla="*/ 846667 w 855133"/>
              <a:gd name="connsiteY1" fmla="*/ 1320800 h 1320800"/>
              <a:gd name="connsiteX2" fmla="*/ 855133 w 855133"/>
              <a:gd name="connsiteY2" fmla="*/ 1227667 h 1320800"/>
              <a:gd name="connsiteX3" fmla="*/ 855133 w 855133"/>
              <a:gd name="connsiteY3" fmla="*/ 16933 h 1320800"/>
              <a:gd name="connsiteX4" fmla="*/ 762000 w 855133"/>
              <a:gd name="connsiteY4" fmla="*/ 0 h 1320800"/>
              <a:gd name="connsiteX5" fmla="*/ 42333 w 855133"/>
              <a:gd name="connsiteY5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55133" h="1320800">
                <a:moveTo>
                  <a:pt x="0" y="1320800"/>
                </a:moveTo>
                <a:lnTo>
                  <a:pt x="846667" y="1320800"/>
                </a:lnTo>
                <a:lnTo>
                  <a:pt x="855133" y="1227667"/>
                </a:lnTo>
                <a:lnTo>
                  <a:pt x="855133" y="16933"/>
                </a:lnTo>
                <a:lnTo>
                  <a:pt x="762000" y="0"/>
                </a:lnTo>
                <a:lnTo>
                  <a:pt x="42333" y="0"/>
                </a:lnTo>
              </a:path>
            </a:pathLst>
          </a:cu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202978" y="3446123"/>
            <a:ext cx="2836324" cy="9541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2978" y="3136060"/>
            <a:ext cx="1665841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특허법 제</a:t>
            </a:r>
            <a:r>
              <a:rPr lang="en-US" altLang="ko-KR" sz="1400" dirty="0"/>
              <a:t>37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202978" y="4816532"/>
            <a:ext cx="2836324" cy="138499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종업원 등의 직무발명이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자와 공동으로 행하여진 경우 계약이나 근무규정에 따라 사용자 등이 그 발명에 대한 권리를 승계하면 사용자 등은 그 발명에 대하여 종업원 등이 가지는 권리의 지분을 갖는다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2978" y="4506469"/>
            <a:ext cx="1566454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발명진흥법 제</a:t>
            </a:r>
            <a:r>
              <a:rPr lang="en-US" altLang="ko-KR" sz="1400" dirty="0"/>
              <a:t>14</a:t>
            </a:r>
            <a:r>
              <a:rPr lang="ko-KR" altLang="en-US" sz="1400" dirty="0"/>
              <a:t>조</a:t>
            </a:r>
          </a:p>
        </p:txBody>
      </p:sp>
      <p:cxnSp>
        <p:nvCxnSpPr>
          <p:cNvPr id="19" name="꺾인 연결선 18"/>
          <p:cNvCxnSpPr>
            <a:stCxn id="16" idx="3"/>
            <a:endCxn id="41" idx="3"/>
          </p:cNvCxnSpPr>
          <p:nvPr/>
        </p:nvCxnSpPr>
        <p:spPr>
          <a:xfrm>
            <a:off x="6039302" y="3923177"/>
            <a:ext cx="12700" cy="1585853"/>
          </a:xfrm>
          <a:prstGeom prst="bentConnector3">
            <a:avLst>
              <a:gd name="adj1" fmla="val 333333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504048" y="4499603"/>
            <a:ext cx="5291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대법원</a:t>
            </a:r>
            <a:r>
              <a:rPr lang="en-US" altLang="ko-KR" dirty="0">
                <a:solidFill>
                  <a:srgbClr val="FF0000"/>
                </a:solidFill>
              </a:rPr>
              <a:t>(2012</a:t>
            </a:r>
            <a:r>
              <a:rPr lang="ko-KR" altLang="en-US" dirty="0">
                <a:solidFill>
                  <a:srgbClr val="FF0000"/>
                </a:solidFill>
              </a:rPr>
              <a:t>도</a:t>
            </a:r>
            <a:r>
              <a:rPr lang="en-US" altLang="ko-KR" dirty="0">
                <a:solidFill>
                  <a:srgbClr val="FF0000"/>
                </a:solidFill>
              </a:rPr>
              <a:t>6676) : </a:t>
            </a:r>
            <a:r>
              <a:rPr lang="ko-KR" altLang="en-US" dirty="0">
                <a:solidFill>
                  <a:srgbClr val="FF0000"/>
                </a:solidFill>
              </a:rPr>
              <a:t>별도의 추가적인 동의절차 不要</a:t>
            </a:r>
          </a:p>
        </p:txBody>
      </p:sp>
    </p:spTree>
    <p:extLst>
      <p:ext uri="{BB962C8B-B14F-4D97-AF65-F5344CB8AC3E}">
        <p14:creationId xmlns:p14="http://schemas.microsoft.com/office/powerpoint/2010/main" val="16790966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직무발명 절차 규정에 따른 권리관계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119</a:t>
            </a:fld>
            <a:endParaRPr lang="ko-KR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47C3AF08-B0C6-4FD0-82DC-C8EF09D8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1421586"/>
            <a:ext cx="1367798" cy="44236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1"/>
                </a:solidFill>
                <a:latin typeface="+mn-ea"/>
              </a:rPr>
              <a:t>예약승계 계약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C3E285FB-62DC-4927-8FC7-10254196B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2062919"/>
            <a:ext cx="1367798" cy="442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latin typeface="+mn-ea"/>
              </a:rPr>
              <a:t>직무발명 완성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7E63E6F4-57AC-4608-98E8-89DD763E9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2776568"/>
            <a:ext cx="1367798" cy="442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latin typeface="+mn-ea"/>
              </a:rPr>
              <a:t>완성사실통지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215A8C94-8ABC-4EC6-9CFA-EA9222BA2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4852287"/>
            <a:ext cx="1367798" cy="4453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승계 여부 의사 통지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BAFBCA75-DB3F-4385-876B-BD1099111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4932226"/>
            <a:ext cx="1559914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FC765D87-C012-4655-83B0-BA6D3287B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5290002"/>
            <a:ext cx="1559914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851C39E7-97A2-457E-AA8C-1F8FB868D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4576352"/>
            <a:ext cx="1559914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62341B48-D373-4F58-A5A9-00294EAE1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4932226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DD1CA5BD-4A50-40F1-9BC7-9741034A7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5290002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D207B5DE-8209-48FF-A9A5-DDA954FA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4576352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37" name="Rectangle 18">
            <a:extLst>
              <a:ext uri="{FF2B5EF4-FFF2-40B4-BE49-F238E27FC236}">
                <a16:creationId xmlns:a16="http://schemas.microsoft.com/office/drawing/2014/main" id="{E7C62D4B-7394-4059-AE62-06F3279E7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4932226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인정 △</a:t>
            </a:r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**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Rectangle 19">
            <a:extLst>
              <a:ext uri="{FF2B5EF4-FFF2-40B4-BE49-F238E27FC236}">
                <a16:creationId xmlns:a16="http://schemas.microsoft.com/office/drawing/2014/main" id="{E8D89B5D-C954-4451-98C3-B940E6E8C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5290002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lang="ko-KR" altLang="en-US" sz="1200" dirty="0">
                <a:latin typeface="+mn-ea"/>
              </a:rPr>
              <a:t>동의 필요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Rectangle 20">
            <a:extLst>
              <a:ext uri="{FF2B5EF4-FFF2-40B4-BE49-F238E27FC236}">
                <a16:creationId xmlns:a16="http://schemas.microsoft.com/office/drawing/2014/main" id="{2CFAAEC5-D0BB-472D-8C23-55A0046F0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4576352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인정 △</a:t>
            </a:r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**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Rectangle 40">
            <a:extLst>
              <a:ext uri="{FF2B5EF4-FFF2-40B4-BE49-F238E27FC236}">
                <a16:creationId xmlns:a16="http://schemas.microsoft.com/office/drawing/2014/main" id="{5B579888-C85A-47F3-B437-4C59F5009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053" y="3700924"/>
            <a:ext cx="1367798" cy="4453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미승계</a:t>
            </a: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의사 통지</a:t>
            </a:r>
          </a:p>
        </p:txBody>
      </p:sp>
      <p:sp>
        <p:nvSpPr>
          <p:cNvPr id="45" name="Rectangle 42">
            <a:extLst>
              <a:ext uri="{FF2B5EF4-FFF2-40B4-BE49-F238E27FC236}">
                <a16:creationId xmlns:a16="http://schemas.microsoft.com/office/drawing/2014/main" id="{E0FE30B9-8521-4E8D-B82F-AF8E7E2FA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3795739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2">
                    <a:lumMod val="50000"/>
                  </a:schemeClr>
                </a:solidFill>
                <a:latin typeface="+mn-ea"/>
              </a:rPr>
              <a:t>불통지</a:t>
            </a:r>
          </a:p>
        </p:txBody>
      </p:sp>
      <p:sp>
        <p:nvSpPr>
          <p:cNvPr id="47" name="Rectangle 44">
            <a:extLst>
              <a:ext uri="{FF2B5EF4-FFF2-40B4-BE49-F238E27FC236}">
                <a16:creationId xmlns:a16="http://schemas.microsoft.com/office/drawing/2014/main" id="{F9194358-A26A-4395-B2CA-9D0F06A3F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3780863"/>
            <a:ext cx="1559914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lang="ko-KR" altLang="en-US" sz="1200" dirty="0">
                <a:latin typeface="+mn-ea"/>
              </a:rPr>
              <a:t>사용자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Rectangle 45">
            <a:extLst>
              <a:ext uri="{FF2B5EF4-FFF2-40B4-BE49-F238E27FC236}">
                <a16:creationId xmlns:a16="http://schemas.microsoft.com/office/drawing/2014/main" id="{CCAA9FCD-85BF-4F4F-88AA-F1A864A38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4214839"/>
            <a:ext cx="1559914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사용자</a:t>
            </a:r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6654CA81-37A6-4073-A33F-472924FD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3426893"/>
            <a:ext cx="1559914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종업원</a:t>
            </a:r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5F57B121-BB33-4757-BF08-4483FCC0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3780863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지급</a:t>
            </a:r>
          </a:p>
        </p:txBody>
      </p:sp>
      <p:sp>
        <p:nvSpPr>
          <p:cNvPr id="51" name="Rectangle 48">
            <a:extLst>
              <a:ext uri="{FF2B5EF4-FFF2-40B4-BE49-F238E27FC236}">
                <a16:creationId xmlns:a16="http://schemas.microsoft.com/office/drawing/2014/main" id="{93214ECE-03D4-40F5-B764-16AA605C3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4214839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지급</a:t>
            </a:r>
          </a:p>
        </p:txBody>
      </p:sp>
      <p:sp>
        <p:nvSpPr>
          <p:cNvPr id="52" name="Rectangle 49">
            <a:extLst>
              <a:ext uri="{FF2B5EF4-FFF2-40B4-BE49-F238E27FC236}">
                <a16:creationId xmlns:a16="http://schemas.microsoft.com/office/drawing/2014/main" id="{1D26CD26-6ACC-4B4D-9F03-DA1FD08E2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3426893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미지급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CFE468E8-3B93-431F-A9BE-4A68C48FB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3780863"/>
            <a:ext cx="1557845" cy="285460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-*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Rectangle 51">
            <a:extLst>
              <a:ext uri="{FF2B5EF4-FFF2-40B4-BE49-F238E27FC236}">
                <a16:creationId xmlns:a16="http://schemas.microsoft.com/office/drawing/2014/main" id="{1E4471B3-5814-4639-8FAD-A83C163B0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4214839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en-US" altLang="ko-KR" sz="1200" b="0" dirty="0">
                <a:solidFill>
                  <a:schemeClr val="tx1"/>
                </a:solidFill>
                <a:latin typeface="+mn-ea"/>
              </a:rPr>
              <a:t>-*</a:t>
            </a:r>
            <a:endParaRPr kumimoji="0"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ectangle 52">
            <a:extLst>
              <a:ext uri="{FF2B5EF4-FFF2-40B4-BE49-F238E27FC236}">
                <a16:creationId xmlns:a16="http://schemas.microsoft.com/office/drawing/2014/main" id="{672436F0-AA8F-42C9-BB0A-34635E477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3426893"/>
            <a:ext cx="1557845" cy="283556"/>
          </a:xfrm>
          <a:prstGeom prst="rect">
            <a:avLst/>
          </a:prstGeom>
          <a:noFill/>
          <a:ln w="12700" algn="ctr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r>
              <a:rPr kumimoji="0" lang="ko-KR" altLang="en-US" sz="1200" b="0" dirty="0">
                <a:solidFill>
                  <a:schemeClr val="tx1"/>
                </a:solidFill>
                <a:latin typeface="+mn-ea"/>
              </a:rPr>
              <a:t>인정</a:t>
            </a:r>
          </a:p>
        </p:txBody>
      </p:sp>
      <p:cxnSp>
        <p:nvCxnSpPr>
          <p:cNvPr id="57" name="AutoShape 54">
            <a:extLst>
              <a:ext uri="{FF2B5EF4-FFF2-40B4-BE49-F238E27FC236}">
                <a16:creationId xmlns:a16="http://schemas.microsoft.com/office/drawing/2014/main" id="{9804D381-9487-4781-B364-35B3829F4022}"/>
              </a:ext>
            </a:extLst>
          </p:cNvPr>
          <p:cNvCxnSpPr>
            <a:cxnSpLocks noChangeShapeType="1"/>
            <a:stCxn id="43" idx="3"/>
            <a:endCxn id="15" idx="1"/>
          </p:cNvCxnSpPr>
          <p:nvPr/>
        </p:nvCxnSpPr>
        <p:spPr bwMode="auto">
          <a:xfrm flipV="1">
            <a:off x="2845851" y="3568671"/>
            <a:ext cx="2079179" cy="35492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58" name="AutoShape 55">
            <a:extLst>
              <a:ext uri="{FF2B5EF4-FFF2-40B4-BE49-F238E27FC236}">
                <a16:creationId xmlns:a16="http://schemas.microsoft.com/office/drawing/2014/main" id="{016B29B4-A7FA-4BDD-99ED-98611A3B6CCC}"/>
              </a:ext>
            </a:extLst>
          </p:cNvPr>
          <p:cNvCxnSpPr>
            <a:cxnSpLocks noChangeShapeType="1"/>
            <a:stCxn id="43" idx="3"/>
            <a:endCxn id="45" idx="1"/>
          </p:cNvCxnSpPr>
          <p:nvPr/>
        </p:nvCxnSpPr>
        <p:spPr bwMode="auto">
          <a:xfrm>
            <a:off x="2845851" y="3923593"/>
            <a:ext cx="2079179" cy="1392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sp>
        <p:nvSpPr>
          <p:cNvPr id="59" name="Rectangle 56">
            <a:extLst>
              <a:ext uri="{FF2B5EF4-FFF2-40B4-BE49-F238E27FC236}">
                <a16:creationId xmlns:a16="http://schemas.microsoft.com/office/drawing/2014/main" id="{B6A7AE82-029A-4726-AA6E-2B40477C5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27" y="3069117"/>
            <a:ext cx="1559914" cy="2854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1"/>
                </a:solidFill>
                <a:latin typeface="+mn-ea"/>
              </a:rPr>
              <a:t>권리귀속</a:t>
            </a: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871B2D39-28DA-4322-976A-E3C2F36C1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47" y="3069117"/>
            <a:ext cx="1557845" cy="2854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>
                <a:solidFill>
                  <a:schemeClr val="bg1"/>
                </a:solidFill>
                <a:latin typeface="+mn-ea"/>
              </a:rPr>
              <a:t>보상금 지급</a:t>
            </a:r>
          </a:p>
        </p:txBody>
      </p:sp>
      <p:sp>
        <p:nvSpPr>
          <p:cNvPr id="61" name="Rectangle 58">
            <a:extLst>
              <a:ext uri="{FF2B5EF4-FFF2-40B4-BE49-F238E27FC236}">
                <a16:creationId xmlns:a16="http://schemas.microsoft.com/office/drawing/2014/main" id="{1D813920-A660-45B1-B389-21D840FC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130" y="3069117"/>
            <a:ext cx="1557845" cy="2854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 err="1">
                <a:solidFill>
                  <a:schemeClr val="bg1"/>
                </a:solidFill>
                <a:latin typeface="+mn-ea"/>
              </a:rPr>
              <a:t>법정실시권</a:t>
            </a: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 인정</a:t>
            </a:r>
          </a:p>
        </p:txBody>
      </p:sp>
      <p:cxnSp>
        <p:nvCxnSpPr>
          <p:cNvPr id="62" name="AutoShape 59">
            <a:extLst>
              <a:ext uri="{FF2B5EF4-FFF2-40B4-BE49-F238E27FC236}">
                <a16:creationId xmlns:a16="http://schemas.microsoft.com/office/drawing/2014/main" id="{72D3A10A-9ADB-4B09-A615-7C70949A9644}"/>
              </a:ext>
            </a:extLst>
          </p:cNvPr>
          <p:cNvCxnSpPr>
            <a:cxnSpLocks noChangeShapeType="1"/>
            <a:stCxn id="17" idx="2"/>
            <a:endCxn id="18" idx="0"/>
          </p:cNvCxnSpPr>
          <p:nvPr/>
        </p:nvCxnSpPr>
        <p:spPr bwMode="auto">
          <a:xfrm>
            <a:off x="2161952" y="1863954"/>
            <a:ext cx="0" cy="198965"/>
          </a:xfrm>
          <a:prstGeom prst="straightConnector1">
            <a:avLst/>
          </a:prstGeom>
          <a:noFill/>
          <a:ln w="12700">
            <a:solidFill>
              <a:srgbClr val="003300"/>
            </a:solidFill>
            <a:round/>
            <a:headEnd/>
            <a:tailEnd type="stealth" w="lg" len="med"/>
          </a:ln>
        </p:spPr>
      </p:cxnSp>
      <p:cxnSp>
        <p:nvCxnSpPr>
          <p:cNvPr id="63" name="AutoShape 61">
            <a:extLst>
              <a:ext uri="{FF2B5EF4-FFF2-40B4-BE49-F238E27FC236}">
                <a16:creationId xmlns:a16="http://schemas.microsoft.com/office/drawing/2014/main" id="{FDAB9DBB-5421-470B-AE8C-C7954913684D}"/>
              </a:ext>
            </a:extLst>
          </p:cNvPr>
          <p:cNvCxnSpPr>
            <a:cxnSpLocks noChangeShapeType="1"/>
            <a:stCxn id="18" idx="2"/>
            <a:endCxn id="19" idx="0"/>
          </p:cNvCxnSpPr>
          <p:nvPr/>
        </p:nvCxnSpPr>
        <p:spPr bwMode="auto">
          <a:xfrm>
            <a:off x="2161952" y="2505287"/>
            <a:ext cx="0" cy="271281"/>
          </a:xfrm>
          <a:prstGeom prst="straightConnector1">
            <a:avLst/>
          </a:prstGeom>
          <a:noFill/>
          <a:ln w="12700">
            <a:solidFill>
              <a:srgbClr val="003300"/>
            </a:solidFill>
            <a:round/>
            <a:headEnd/>
            <a:tailEnd type="stealth" w="lg" len="med"/>
          </a:ln>
        </p:spPr>
      </p:cxnSp>
      <p:cxnSp>
        <p:nvCxnSpPr>
          <p:cNvPr id="64" name="AutoShape 62">
            <a:extLst>
              <a:ext uri="{FF2B5EF4-FFF2-40B4-BE49-F238E27FC236}">
                <a16:creationId xmlns:a16="http://schemas.microsoft.com/office/drawing/2014/main" id="{90C428C7-92F8-4B9F-8057-8F97AA84212D}"/>
              </a:ext>
            </a:extLst>
          </p:cNvPr>
          <p:cNvCxnSpPr>
            <a:cxnSpLocks noChangeShapeType="1"/>
            <a:stCxn id="19" idx="2"/>
            <a:endCxn id="43" idx="0"/>
          </p:cNvCxnSpPr>
          <p:nvPr/>
        </p:nvCxnSpPr>
        <p:spPr bwMode="auto">
          <a:xfrm>
            <a:off x="2161952" y="3218936"/>
            <a:ext cx="0" cy="481988"/>
          </a:xfrm>
          <a:prstGeom prst="straightConnector1">
            <a:avLst/>
          </a:prstGeom>
          <a:noFill/>
          <a:ln w="12700">
            <a:solidFill>
              <a:srgbClr val="003300"/>
            </a:solidFill>
            <a:round/>
            <a:headEnd/>
            <a:tailEnd type="stealth" w="lg" len="med"/>
          </a:ln>
        </p:spPr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828F9E6-7FBE-4F40-A6CD-59B5CFDF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360" y="3284162"/>
            <a:ext cx="1754385" cy="28355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예약승계</a:t>
            </a:r>
          </a:p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계약존재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6B23DFE-23A1-49C2-9072-F88F0EF2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787" y="4424098"/>
            <a:ext cx="1754385" cy="2854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예약승계계약 </a:t>
            </a:r>
          </a:p>
          <a:p>
            <a:pPr latinLnBrk="0">
              <a:lnSpc>
                <a:spcPct val="120000"/>
              </a:lnSpc>
            </a:pPr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부존재</a:t>
            </a:r>
          </a:p>
        </p:txBody>
      </p:sp>
      <p:cxnSp>
        <p:nvCxnSpPr>
          <p:cNvPr id="67" name="AutoShape 66">
            <a:extLst>
              <a:ext uri="{FF2B5EF4-FFF2-40B4-BE49-F238E27FC236}">
                <a16:creationId xmlns:a16="http://schemas.microsoft.com/office/drawing/2014/main" id="{4A703E7D-74F6-4511-8305-ADCE2F46794E}"/>
              </a:ext>
            </a:extLst>
          </p:cNvPr>
          <p:cNvCxnSpPr>
            <a:cxnSpLocks noChangeShapeType="1"/>
            <a:stCxn id="19" idx="1"/>
            <a:endCxn id="20" idx="0"/>
          </p:cNvCxnSpPr>
          <p:nvPr/>
        </p:nvCxnSpPr>
        <p:spPr bwMode="auto">
          <a:xfrm rot="10800000" flipH="1" flipV="1">
            <a:off x="1478052" y="2997751"/>
            <a:ext cx="683899" cy="1854535"/>
          </a:xfrm>
          <a:prstGeom prst="bentConnector4">
            <a:avLst>
              <a:gd name="adj1" fmla="val -33426"/>
              <a:gd name="adj2" fmla="val 71915"/>
            </a:avLst>
          </a:prstGeom>
          <a:noFill/>
          <a:ln w="12700">
            <a:solidFill>
              <a:srgbClr val="003300"/>
            </a:solidFill>
            <a:miter lim="800000"/>
            <a:headEnd/>
            <a:tailEnd type="stealth" w="lg" len="med"/>
          </a:ln>
        </p:spPr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836406A-A90A-4C36-894A-3B247B7B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011" y="1702717"/>
            <a:ext cx="682721" cy="2835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endParaRPr kumimoji="0" lang="ko-KR" altLang="en-US" sz="1200" b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824F55-42C4-45AF-AADE-BD3F24FB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132" y="1702717"/>
            <a:ext cx="1756454" cy="28355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/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종업원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D6F56A-1010-4BC7-8E30-A52CD5ED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132" y="2058589"/>
            <a:ext cx="1756454" cy="2854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/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사용자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57B5A3-F23B-47E2-B9B3-5354EEAA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132" y="2416365"/>
            <a:ext cx="1756454" cy="28355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/>
            <a:r>
              <a:rPr kumimoji="0" lang="ko-KR" altLang="en-US" sz="1200" b="0">
                <a:solidFill>
                  <a:srgbClr val="000000"/>
                </a:solidFill>
                <a:latin typeface="+mn-ea"/>
              </a:rPr>
              <a:t>사용자와 종업원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EF9AA5-C6AA-4591-B296-DCC1E5C7E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011" y="2058589"/>
            <a:ext cx="682721" cy="2854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defRPr/>
            </a:pPr>
            <a:endParaRPr kumimoji="0" lang="ko-KR" altLang="en-US" sz="1200" b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E58A239-7360-4ED1-930F-ADAD3C10A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011" y="2414463"/>
            <a:ext cx="682721" cy="283556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defRPr/>
            </a:pPr>
            <a:endParaRPr kumimoji="0" lang="ko-KR" altLang="en-US" sz="12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EDB0800-1FFD-4068-8DBF-FC0FEB180B77}"/>
              </a:ext>
            </a:extLst>
          </p:cNvPr>
          <p:cNvSpPr/>
          <p:nvPr/>
        </p:nvSpPr>
        <p:spPr>
          <a:xfrm>
            <a:off x="806607" y="6083025"/>
            <a:ext cx="103991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/>
            <a:r>
              <a:rPr lang="en-US" altLang="ko-KR" sz="1100" dirty="0"/>
              <a:t>* </a:t>
            </a:r>
            <a:r>
              <a:rPr lang="ko-KR" altLang="en-US" sz="1100" dirty="0"/>
              <a:t>법정실시권은 혼동에 의해 소멸</a:t>
            </a:r>
            <a:endParaRPr lang="en-US" altLang="ko-KR" sz="1100" dirty="0"/>
          </a:p>
          <a:p>
            <a:pPr marL="88900" indent="-88900"/>
            <a:r>
              <a:rPr lang="ko-KR" altLang="en-US" sz="1100" dirty="0"/>
              <a:t>*</a:t>
            </a:r>
            <a:r>
              <a:rPr lang="en-US" altLang="ko-KR" sz="1100" dirty="0"/>
              <a:t>*</a:t>
            </a:r>
            <a:r>
              <a:rPr lang="ko-KR" altLang="en-US" sz="1100" dirty="0"/>
              <a:t> 중소기업기본법」 제</a:t>
            </a:r>
            <a:r>
              <a:rPr lang="en-US" altLang="ko-KR" sz="1100" dirty="0"/>
              <a:t>2</a:t>
            </a:r>
            <a:r>
              <a:rPr lang="ko-KR" altLang="en-US" sz="1100" dirty="0"/>
              <a:t>조에 따른 중소기업이 아닌 기업은 종업원 등과의 협의를 거쳐 미리 예약승계에 관한 계약 또는 근무규정을 체결 또는 작성하지 않았다면 </a:t>
            </a:r>
            <a:r>
              <a:rPr lang="ko-KR" altLang="en-US" sz="1100" dirty="0" err="1"/>
              <a:t>통상실시권</a:t>
            </a:r>
            <a:r>
              <a:rPr lang="ko-KR" altLang="en-US" sz="1100" dirty="0"/>
              <a:t> 불인정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31CD27-A1DB-4DFB-9D4D-2DAD9BB5C318}"/>
              </a:ext>
            </a:extLst>
          </p:cNvPr>
          <p:cNvSpPr/>
          <p:nvPr/>
        </p:nvSpPr>
        <p:spPr>
          <a:xfrm>
            <a:off x="914400" y="1155940"/>
            <a:ext cx="10587318" cy="48566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43">
            <a:extLst>
              <a:ext uri="{FF2B5EF4-FFF2-40B4-BE49-F238E27FC236}">
                <a16:creationId xmlns:a16="http://schemas.microsoft.com/office/drawing/2014/main" id="{64CA581F-B410-6C8B-28F3-917BA14FF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3426893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미승계통지</a:t>
            </a:r>
          </a:p>
        </p:txBody>
      </p:sp>
      <p:sp>
        <p:nvSpPr>
          <p:cNvPr id="31" name="Rectangle 42">
            <a:extLst>
              <a:ext uri="{FF2B5EF4-FFF2-40B4-BE49-F238E27FC236}">
                <a16:creationId xmlns:a16="http://schemas.microsoft.com/office/drawing/2014/main" id="{38DEC242-F4B6-1DAA-62C3-CEFE0B47D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4935673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미승계통지</a:t>
            </a:r>
          </a:p>
        </p:txBody>
      </p:sp>
      <p:sp>
        <p:nvSpPr>
          <p:cNvPr id="34" name="Rectangle 43">
            <a:extLst>
              <a:ext uri="{FF2B5EF4-FFF2-40B4-BE49-F238E27FC236}">
                <a16:creationId xmlns:a16="http://schemas.microsoft.com/office/drawing/2014/main" id="{E380FE34-AAD1-B7EF-7776-01BEAE35D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731" y="4223927"/>
            <a:ext cx="985461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승계통지</a:t>
            </a:r>
          </a:p>
        </p:txBody>
      </p:sp>
      <p:sp>
        <p:nvSpPr>
          <p:cNvPr id="35" name="Rectangle 41">
            <a:extLst>
              <a:ext uri="{FF2B5EF4-FFF2-40B4-BE49-F238E27FC236}">
                <a16:creationId xmlns:a16="http://schemas.microsoft.com/office/drawing/2014/main" id="{2648C492-5F69-5C44-CAA1-19300E68F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4577897"/>
            <a:ext cx="1170970" cy="285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양도불승낙</a:t>
            </a:r>
            <a:endParaRPr kumimoji="0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" name="Rectangle 43">
            <a:extLst>
              <a:ext uri="{FF2B5EF4-FFF2-40B4-BE49-F238E27FC236}">
                <a16:creationId xmlns:a16="http://schemas.microsoft.com/office/drawing/2014/main" id="{9C3005B7-5EFD-6AA4-B01D-658064A2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4223927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양도승낙</a:t>
            </a:r>
          </a:p>
        </p:txBody>
      </p:sp>
      <p:cxnSp>
        <p:nvCxnSpPr>
          <p:cNvPr id="82" name="AutoShape 55">
            <a:extLst>
              <a:ext uri="{FF2B5EF4-FFF2-40B4-BE49-F238E27FC236}">
                <a16:creationId xmlns:a16="http://schemas.microsoft.com/office/drawing/2014/main" id="{B72054C8-AA26-0E5A-C217-22B8041CBE1E}"/>
              </a:ext>
            </a:extLst>
          </p:cNvPr>
          <p:cNvCxnSpPr>
            <a:cxnSpLocks noChangeShapeType="1"/>
            <a:stCxn id="34" idx="3"/>
            <a:endCxn id="35" idx="1"/>
          </p:cNvCxnSpPr>
          <p:nvPr/>
        </p:nvCxnSpPr>
        <p:spPr bwMode="auto">
          <a:xfrm>
            <a:off x="4703192" y="4365705"/>
            <a:ext cx="221838" cy="35492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85" name="AutoShape 55">
            <a:extLst>
              <a:ext uri="{FF2B5EF4-FFF2-40B4-BE49-F238E27FC236}">
                <a16:creationId xmlns:a16="http://schemas.microsoft.com/office/drawing/2014/main" id="{E8E3EEE6-F5CB-E8DA-4DA1-8098F08AB6B2}"/>
              </a:ext>
            </a:extLst>
          </p:cNvPr>
          <p:cNvCxnSpPr>
            <a:cxnSpLocks noChangeShapeType="1"/>
            <a:stCxn id="34" idx="3"/>
            <a:endCxn id="75" idx="1"/>
          </p:cNvCxnSpPr>
          <p:nvPr/>
        </p:nvCxnSpPr>
        <p:spPr bwMode="auto">
          <a:xfrm>
            <a:off x="4703192" y="4365705"/>
            <a:ext cx="221838" cy="127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88" name="AutoShape 55">
            <a:extLst>
              <a:ext uri="{FF2B5EF4-FFF2-40B4-BE49-F238E27FC236}">
                <a16:creationId xmlns:a16="http://schemas.microsoft.com/office/drawing/2014/main" id="{85590966-80D0-9B08-C31D-1573C379D6F3}"/>
              </a:ext>
            </a:extLst>
          </p:cNvPr>
          <p:cNvCxnSpPr>
            <a:cxnSpLocks noChangeShapeType="1"/>
            <a:stCxn id="20" idx="3"/>
            <a:endCxn id="31" idx="1"/>
          </p:cNvCxnSpPr>
          <p:nvPr/>
        </p:nvCxnSpPr>
        <p:spPr bwMode="auto">
          <a:xfrm>
            <a:off x="2845851" y="5074956"/>
            <a:ext cx="2079179" cy="249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cxnSp>
        <p:nvCxnSpPr>
          <p:cNvPr id="91" name="AutoShape 55">
            <a:extLst>
              <a:ext uri="{FF2B5EF4-FFF2-40B4-BE49-F238E27FC236}">
                <a16:creationId xmlns:a16="http://schemas.microsoft.com/office/drawing/2014/main" id="{876B621C-C1C8-141D-69E3-991D5F85D2E9}"/>
              </a:ext>
            </a:extLst>
          </p:cNvPr>
          <p:cNvCxnSpPr>
            <a:cxnSpLocks noChangeShapeType="1"/>
            <a:stCxn id="20" idx="3"/>
            <a:endCxn id="34" idx="1"/>
          </p:cNvCxnSpPr>
          <p:nvPr/>
        </p:nvCxnSpPr>
        <p:spPr bwMode="auto">
          <a:xfrm flipV="1">
            <a:off x="2845851" y="4365705"/>
            <a:ext cx="871880" cy="70925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  <p:sp>
        <p:nvSpPr>
          <p:cNvPr id="16" name="Rectangle 42">
            <a:extLst>
              <a:ext uri="{FF2B5EF4-FFF2-40B4-BE49-F238E27FC236}">
                <a16:creationId xmlns:a16="http://schemas.microsoft.com/office/drawing/2014/main" id="{15A3B6F6-5111-5609-6E51-F6E77AA6A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30" y="5278571"/>
            <a:ext cx="1170970" cy="2835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불통지</a:t>
            </a:r>
            <a:endParaRPr kumimoji="0" lang="ko-KR" altLang="en-US" sz="12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23" name="AutoShape 55">
            <a:extLst>
              <a:ext uri="{FF2B5EF4-FFF2-40B4-BE49-F238E27FC236}">
                <a16:creationId xmlns:a16="http://schemas.microsoft.com/office/drawing/2014/main" id="{6DE1B58A-BC4A-C7E6-BD0C-72C08C1A58C7}"/>
              </a:ext>
            </a:extLst>
          </p:cNvPr>
          <p:cNvCxnSpPr>
            <a:cxnSpLocks noChangeShapeType="1"/>
            <a:stCxn id="20" idx="3"/>
            <a:endCxn id="16" idx="1"/>
          </p:cNvCxnSpPr>
          <p:nvPr/>
        </p:nvCxnSpPr>
        <p:spPr bwMode="auto">
          <a:xfrm>
            <a:off x="2845851" y="5074956"/>
            <a:ext cx="2079179" cy="34539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9862328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정당한 보상액의 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715" y="1150625"/>
            <a:ext cx="840897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/>
              <a:t>기존</a:t>
            </a:r>
            <a:endParaRPr lang="ko-KR" alt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761715" y="2098892"/>
            <a:ext cx="840897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현재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1879" y="1150625"/>
            <a:ext cx="457725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사용자 등이 얻을 이익 </a:t>
            </a:r>
            <a:r>
              <a:rPr lang="en-US" altLang="ko-KR" sz="1600" dirty="0"/>
              <a:t>× </a:t>
            </a:r>
            <a:r>
              <a:rPr lang="ko-KR" altLang="en-US" sz="1600" dirty="0"/>
              <a:t>종업원 등이 공헌한 정도</a:t>
            </a:r>
          </a:p>
        </p:txBody>
      </p:sp>
      <p:cxnSp>
        <p:nvCxnSpPr>
          <p:cNvPr id="11" name="직선 화살표 연결선 10"/>
          <p:cNvCxnSpPr>
            <a:stCxn id="32" idx="2"/>
            <a:endCxn id="24" idx="0"/>
          </p:cNvCxnSpPr>
          <p:nvPr/>
        </p:nvCxnSpPr>
        <p:spPr>
          <a:xfrm>
            <a:off x="1182164" y="1489179"/>
            <a:ext cx="0" cy="60971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47813" y="1563202"/>
            <a:ext cx="594038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법원에서 최종적으로 결정될 수 있어 대립과 반목을 통한 해결 조장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종업원 등이 공헌한 정도가 높게 평가되는 추세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accent2">
                    <a:lumMod val="50000"/>
                  </a:schemeClr>
                </a:solidFill>
              </a:rPr>
              <a:t>니치아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 화학 사건에서 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50% 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인정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23062" y="2098892"/>
            <a:ext cx="3598806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합리적 절차에 의하여 보상액을 정한 경우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3062" y="2612385"/>
            <a:ext cx="3598806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Otherwise</a:t>
            </a:r>
            <a:endParaRPr lang="ko-KR" alt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5621867" y="2098055"/>
            <a:ext cx="457725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그 보상을 정당한 보상으로 간주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1867" y="2612385"/>
            <a:ext cx="56896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사용자 등이 얻을 이익 </a:t>
            </a:r>
            <a:r>
              <a:rPr lang="en-US" altLang="ko-KR" sz="1600" dirty="0"/>
              <a:t>× </a:t>
            </a:r>
            <a:r>
              <a:rPr lang="ko-KR" altLang="en-US" sz="1600" dirty="0"/>
              <a:t>종업원 등이 공헌한 정도</a:t>
            </a:r>
            <a:r>
              <a:rPr lang="en-US" altLang="ko-KR" sz="1600" dirty="0"/>
              <a:t>(</a:t>
            </a:r>
            <a:r>
              <a:rPr lang="ko-KR" altLang="en-US" sz="1600" dirty="0"/>
              <a:t>기존과 동일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14" name="꺾인 연결선 13"/>
          <p:cNvCxnSpPr>
            <a:cxnSpLocks/>
            <a:stCxn id="24" idx="3"/>
            <a:endCxn id="31" idx="1"/>
          </p:cNvCxnSpPr>
          <p:nvPr/>
        </p:nvCxnSpPr>
        <p:spPr>
          <a:xfrm>
            <a:off x="1602612" y="2268169"/>
            <a:ext cx="420450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24" idx="3"/>
            <a:endCxn id="34" idx="1"/>
          </p:cNvCxnSpPr>
          <p:nvPr/>
        </p:nvCxnSpPr>
        <p:spPr>
          <a:xfrm>
            <a:off x="1602612" y="2268169"/>
            <a:ext cx="420450" cy="5134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다이어그램 37"/>
          <p:cNvGraphicFramePr/>
          <p:nvPr>
            <p:extLst>
              <p:ext uri="{D42A27DB-BD31-4B8C-83A1-F6EECF244321}">
                <p14:modId xmlns:p14="http://schemas.microsoft.com/office/powerpoint/2010/main" val="23343944"/>
              </p:ext>
            </p:extLst>
          </p:nvPr>
        </p:nvGraphicFramePr>
        <p:xfrm>
          <a:off x="211675" y="3674960"/>
          <a:ext cx="1709355" cy="2551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9" name="직사각형 38"/>
          <p:cNvSpPr/>
          <p:nvPr/>
        </p:nvSpPr>
        <p:spPr>
          <a:xfrm>
            <a:off x="1750581" y="3668564"/>
            <a:ext cx="10356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등은 보상에 대하여 보상형태와 보상액을 결정하기 위한 기준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지급방법 등이 명시된 보상규정을 작성하고 종업원 등에게 서면으로 알려야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15②).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 등은 보상규정의 작성 또는 변경에 관하여 종업원 등과 협의하여야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15③).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다만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보상규정을 종업원 등에게 불리하게 변경하는 경우에는 해당 계약 또는 규정의 적용을 받는 종업원 등의 과반수의 동의를 받아야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15③). 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1750581" y="4642949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등은 보상을 받을 종업원 등에게 보상규정에 따라 결정된 보상액 등 보상의 구체적 사항을 서면으로 알려야 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15④). </a:t>
            </a:r>
            <a:endParaRPr lang="ko-KR" altLang="en-US" sz="1200" dirty="0"/>
          </a:p>
        </p:txBody>
      </p:sp>
      <p:sp>
        <p:nvSpPr>
          <p:cNvPr id="43" name="직사각형 42"/>
          <p:cNvSpPr/>
          <p:nvPr/>
        </p:nvSpPr>
        <p:spPr>
          <a:xfrm>
            <a:off x="1750581" y="5565484"/>
            <a:ext cx="10136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사용자 등이 발명진흥법 제</a:t>
            </a:r>
            <a:r>
              <a:rPr lang="en-US" altLang="ko-KR" sz="1200" dirty="0">
                <a:latin typeface="+mn-ea"/>
              </a:rPr>
              <a:t>15</a:t>
            </a:r>
            <a:r>
              <a:rPr lang="ko-KR" altLang="en-US" sz="1200" dirty="0">
                <a:latin typeface="+mn-ea"/>
              </a:rPr>
              <a:t>조 제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항부터 제</a:t>
            </a: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항까지의 규정에 따라 종업원 등에게 보상한 경우에는 정당한 보상을 한 것으로 본다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다만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그 보상액이 직무발명에 의하여 「사용자 등이 얻을 이익」과 「그 발명의 완성에 사용자 등과 종업원 등이 공헌한 정도」를 고려하지 아니한 경우에는 그러하지 아니하다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發振法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15⑥).</a:t>
            </a:r>
            <a:endParaRPr lang="ko-KR" altLang="en-US" sz="1200" dirty="0"/>
          </a:p>
        </p:txBody>
      </p:sp>
      <p:cxnSp>
        <p:nvCxnSpPr>
          <p:cNvPr id="45" name="직선 연결선 44"/>
          <p:cNvCxnSpPr/>
          <p:nvPr/>
        </p:nvCxnSpPr>
        <p:spPr>
          <a:xfrm>
            <a:off x="143939" y="3166530"/>
            <a:ext cx="1174326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4904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직무발명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직무발명제도의 도입절차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121</a:t>
            </a:fld>
            <a:endParaRPr lang="ko-KR" altLang="en-US"/>
          </a:p>
        </p:txBody>
      </p:sp>
      <p:pic>
        <p:nvPicPr>
          <p:cNvPr id="6" name="Picture 2" descr="http://employeeinvention.net/web/front/jinvt/images/16page_img.gif">
            <a:extLst>
              <a:ext uri="{FF2B5EF4-FFF2-40B4-BE49-F238E27FC236}">
                <a16:creationId xmlns:a16="http://schemas.microsoft.com/office/drawing/2014/main" id="{9839EEA4-1A2E-4D87-A394-C9E40229A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407" y="951012"/>
            <a:ext cx="66675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2296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특허출원에 필요한 서류 및 심사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397063" y="1739976"/>
            <a:ext cx="844027" cy="5929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특허출원</a:t>
            </a:r>
            <a:endParaRPr lang="en-US" altLang="ko-KR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法 </a:t>
            </a:r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42)</a:t>
            </a:r>
            <a:endParaRPr lang="ko-KR" alt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548803" y="1323602"/>
            <a:ext cx="505106" cy="416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제출서류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94284" y="1323602"/>
            <a:ext cx="733269" cy="416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□ 출원서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42①)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62" name="그룹 161"/>
          <p:cNvGrpSpPr/>
          <p:nvPr/>
        </p:nvGrpSpPr>
        <p:grpSpPr>
          <a:xfrm>
            <a:off x="4245437" y="1337542"/>
            <a:ext cx="1653271" cy="1066469"/>
            <a:chOff x="4612062" y="1091999"/>
            <a:chExt cx="2014837" cy="1066469"/>
          </a:xfrm>
        </p:grpSpPr>
        <p:sp>
          <p:nvSpPr>
            <p:cNvPr id="42" name="직사각형 41"/>
            <p:cNvSpPr/>
            <p:nvPr/>
          </p:nvSpPr>
          <p:spPr>
            <a:xfrm>
              <a:off x="4612062" y="1091999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발명의 명칭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612062" y="1380031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□ 출원인의 성명 및 주소</a:t>
              </a: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4612062" y="1668063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대리인의 성명 및 주소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612062" y="1956095"/>
              <a:ext cx="2014837" cy="2023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발명자의 성명 및 주소</a:t>
              </a:r>
            </a:p>
          </p:txBody>
        </p:sp>
      </p:grpSp>
      <p:sp>
        <p:nvSpPr>
          <p:cNvPr id="50" name="직사각형 49"/>
          <p:cNvSpPr/>
          <p:nvPr/>
        </p:nvSpPr>
        <p:spPr>
          <a:xfrm>
            <a:off x="3294284" y="2564259"/>
            <a:ext cx="733269" cy="383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첨부서류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42②)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383593" y="2551559"/>
            <a:ext cx="1167040" cy="504056"/>
            <a:chOff x="5978827" y="2306016"/>
            <a:chExt cx="1584176" cy="504056"/>
          </a:xfrm>
        </p:grpSpPr>
        <p:sp>
          <p:nvSpPr>
            <p:cNvPr id="53" name="직사각형 52"/>
            <p:cNvSpPr/>
            <p:nvPr/>
          </p:nvSpPr>
          <p:spPr>
            <a:xfrm>
              <a:off x="5978827" y="2306016"/>
              <a:ext cx="1584176" cy="2160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□ 발명의 설명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978827" y="2594048"/>
              <a:ext cx="1584176" cy="2160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</a:rPr>
                <a:t> 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청구범위</a:t>
              </a: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4244050" y="2547739"/>
            <a:ext cx="960392" cy="808608"/>
            <a:chOff x="4610675" y="2302196"/>
            <a:chExt cx="1117228" cy="808608"/>
          </a:xfrm>
        </p:grpSpPr>
        <p:sp>
          <p:nvSpPr>
            <p:cNvPr id="57" name="직사각형 56"/>
            <p:cNvSpPr/>
            <p:nvPr/>
          </p:nvSpPr>
          <p:spPr>
            <a:xfrm>
              <a:off x="4610675" y="2302196"/>
              <a:ext cx="1117228" cy="232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□ 명세서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610675" y="2590228"/>
              <a:ext cx="1117228" cy="232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필요한 도면</a:t>
              </a: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610675" y="2878260"/>
              <a:ext cx="1117228" cy="2325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solidFill>
                    <a:schemeClr val="tx1"/>
                  </a:solidFill>
                </a:rPr>
                <a:t>● 요약서</a:t>
              </a:r>
            </a:p>
          </p:txBody>
        </p:sp>
      </p:grpSp>
      <p:cxnSp>
        <p:nvCxnSpPr>
          <p:cNvPr id="61" name="꺾인 연결선 60"/>
          <p:cNvCxnSpPr>
            <a:stCxn id="32" idx="3"/>
            <a:endCxn id="50" idx="1"/>
          </p:cNvCxnSpPr>
          <p:nvPr/>
        </p:nvCxnSpPr>
        <p:spPr>
          <a:xfrm>
            <a:off x="3053909" y="1531789"/>
            <a:ext cx="240375" cy="12241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33" idx="3"/>
            <a:endCxn id="42" idx="1"/>
          </p:cNvCxnSpPr>
          <p:nvPr/>
        </p:nvCxnSpPr>
        <p:spPr>
          <a:xfrm flipV="1">
            <a:off x="4027553" y="1438729"/>
            <a:ext cx="217884" cy="930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33" idx="3"/>
            <a:endCxn id="48" idx="1"/>
          </p:cNvCxnSpPr>
          <p:nvPr/>
        </p:nvCxnSpPr>
        <p:spPr>
          <a:xfrm>
            <a:off x="4027553" y="1531789"/>
            <a:ext cx="217884" cy="7710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33" idx="3"/>
            <a:endCxn id="44" idx="1"/>
          </p:cNvCxnSpPr>
          <p:nvPr/>
        </p:nvCxnSpPr>
        <p:spPr>
          <a:xfrm>
            <a:off x="4027553" y="1531789"/>
            <a:ext cx="217884" cy="1949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33" idx="3"/>
            <a:endCxn id="47" idx="1"/>
          </p:cNvCxnSpPr>
          <p:nvPr/>
        </p:nvCxnSpPr>
        <p:spPr>
          <a:xfrm>
            <a:off x="4027553" y="1531789"/>
            <a:ext cx="217884" cy="4830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0" idx="3"/>
            <a:endCxn id="58" idx="1"/>
          </p:cNvCxnSpPr>
          <p:nvPr/>
        </p:nvCxnSpPr>
        <p:spPr>
          <a:xfrm>
            <a:off x="4027553" y="2755931"/>
            <a:ext cx="216497" cy="1961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50" idx="3"/>
            <a:endCxn id="59" idx="1"/>
          </p:cNvCxnSpPr>
          <p:nvPr/>
        </p:nvCxnSpPr>
        <p:spPr>
          <a:xfrm>
            <a:off x="4027553" y="2755931"/>
            <a:ext cx="216497" cy="4841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57" idx="3"/>
            <a:endCxn id="56" idx="1"/>
          </p:cNvCxnSpPr>
          <p:nvPr/>
        </p:nvCxnSpPr>
        <p:spPr>
          <a:xfrm>
            <a:off x="5204442" y="2664011"/>
            <a:ext cx="179151" cy="2835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57" idx="3"/>
            <a:endCxn id="53" idx="1"/>
          </p:cNvCxnSpPr>
          <p:nvPr/>
        </p:nvCxnSpPr>
        <p:spPr>
          <a:xfrm flipV="1">
            <a:off x="5204442" y="2659571"/>
            <a:ext cx="179151" cy="44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548802" y="3483842"/>
            <a:ext cx="505107" cy="3961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기재방법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3853104" y="3483843"/>
            <a:ext cx="2440114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발명의 설명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42③) 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357913" y="3771875"/>
            <a:ext cx="1872208" cy="216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◆ 일반적 기재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42③Ⅰ) 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4357913" y="4059907"/>
            <a:ext cx="1872208" cy="216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○ 배경기술 기재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42③Ⅱ) 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77" name="꺾인 연결선 76"/>
          <p:cNvCxnSpPr>
            <a:endCxn id="74" idx="1"/>
          </p:cNvCxnSpPr>
          <p:nvPr/>
        </p:nvCxnSpPr>
        <p:spPr>
          <a:xfrm rot="16200000" flipH="1">
            <a:off x="3958635" y="3768785"/>
            <a:ext cx="468197" cy="33036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3853104" y="4359021"/>
            <a:ext cx="2440114" cy="52148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◆ 청구항의 기재원칙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42④)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- </a:t>
            </a:r>
            <a:r>
              <a:rPr lang="ko-KR" altLang="en-US" sz="1100" dirty="0">
                <a:solidFill>
                  <a:schemeClr val="tx1"/>
                </a:solidFill>
              </a:rPr>
              <a:t>청구항의 구성요소 </a:t>
            </a:r>
            <a:r>
              <a:rPr lang="ko-KR" altLang="en-US" sz="1100" dirty="0" err="1">
                <a:solidFill>
                  <a:schemeClr val="tx1"/>
                </a:solidFill>
              </a:rPr>
              <a:t>기재방법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42⑥)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○ </a:t>
            </a:r>
            <a:r>
              <a:rPr lang="ko-KR" altLang="en-US" sz="1100" dirty="0" err="1">
                <a:solidFill>
                  <a:schemeClr val="tx1"/>
                </a:solidFill>
              </a:rPr>
              <a:t>다항제</a:t>
            </a:r>
            <a:r>
              <a:rPr lang="ko-KR" altLang="en-US" sz="1100" dirty="0">
                <a:solidFill>
                  <a:schemeClr val="tx1"/>
                </a:solidFill>
              </a:rPr>
              <a:t> 기재방법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42⑧)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853104" y="4951677"/>
            <a:ext cx="2440114" cy="41487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/>
            <a:r>
              <a:rPr lang="ko-KR" altLang="en-US" sz="1100" dirty="0">
                <a:solidFill>
                  <a:schemeClr val="tx1"/>
                </a:solidFill>
              </a:rPr>
              <a:t>● 발명의 설명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도면 및 요약서의 기재방법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42⑨)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0" name="꺾인 연결선 79"/>
          <p:cNvCxnSpPr>
            <a:stCxn id="71" idx="3"/>
            <a:endCxn id="78" idx="1"/>
          </p:cNvCxnSpPr>
          <p:nvPr/>
        </p:nvCxnSpPr>
        <p:spPr>
          <a:xfrm>
            <a:off x="3053909" y="3681937"/>
            <a:ext cx="799195" cy="937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71" idx="3"/>
            <a:endCxn id="79" idx="1"/>
          </p:cNvCxnSpPr>
          <p:nvPr/>
        </p:nvCxnSpPr>
        <p:spPr>
          <a:xfrm>
            <a:off x="3053909" y="3681937"/>
            <a:ext cx="799195" cy="14771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31" idx="3"/>
            <a:endCxn id="71" idx="1"/>
          </p:cNvCxnSpPr>
          <p:nvPr/>
        </p:nvCxnSpPr>
        <p:spPr>
          <a:xfrm>
            <a:off x="2241090" y="2036441"/>
            <a:ext cx="307712" cy="164549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>
            <a:stCxn id="31" idx="3"/>
            <a:endCxn id="32" idx="1"/>
          </p:cNvCxnSpPr>
          <p:nvPr/>
        </p:nvCxnSpPr>
        <p:spPr>
          <a:xfrm flipV="1">
            <a:off x="2241090" y="1531789"/>
            <a:ext cx="307713" cy="50465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1397063" y="5409685"/>
            <a:ext cx="844027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청구범위</a:t>
            </a:r>
            <a:endParaRPr lang="en-US" altLang="ko-KR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제출유예</a:t>
            </a:r>
            <a:endParaRPr lang="en-US" altLang="ko-KR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法 </a:t>
            </a:r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42</a:t>
            </a:r>
            <a:r>
              <a:rPr lang="ko-KR" alt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의</a:t>
            </a:r>
            <a:r>
              <a:rPr lang="en-US" altLang="ko-KR" sz="11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2)</a:t>
            </a:r>
            <a:endParaRPr lang="ko-KR" alt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89" name="꺾인 연결선 88"/>
          <p:cNvCxnSpPr>
            <a:stCxn id="86" idx="3"/>
            <a:endCxn id="88" idx="1"/>
          </p:cNvCxnSpPr>
          <p:nvPr/>
        </p:nvCxnSpPr>
        <p:spPr>
          <a:xfrm>
            <a:off x="2241090" y="5697717"/>
            <a:ext cx="313537" cy="20686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stCxn id="86" idx="3"/>
            <a:endCxn id="87" idx="1"/>
          </p:cNvCxnSpPr>
          <p:nvPr/>
        </p:nvCxnSpPr>
        <p:spPr>
          <a:xfrm flipV="1">
            <a:off x="2241090" y="5616546"/>
            <a:ext cx="313537" cy="8117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2554627" y="5508534"/>
            <a:ext cx="1537402" cy="216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의의</a:t>
            </a:r>
            <a:r>
              <a:rPr lang="en-US" altLang="ko-KR" sz="1100" dirty="0">
                <a:solidFill>
                  <a:schemeClr val="tx1"/>
                </a:solidFill>
              </a:rPr>
              <a:t> 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2①)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554627" y="5796566"/>
            <a:ext cx="1537402" cy="216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유예기간</a:t>
            </a:r>
            <a:r>
              <a:rPr lang="en-US" altLang="ko-KR" sz="1100" dirty="0">
                <a:solidFill>
                  <a:schemeClr val="tx1"/>
                </a:solidFill>
              </a:rPr>
              <a:t> 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2②)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555849" y="6084598"/>
            <a:ext cx="1537402" cy="216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不제출효과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42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2③)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90655" y="3350235"/>
            <a:ext cx="930166" cy="63795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특허출원</a:t>
            </a:r>
            <a:endParaRPr lang="en-US" altLang="ko-KR" sz="14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필요서류</a:t>
            </a:r>
          </a:p>
        </p:txBody>
      </p:sp>
      <p:cxnSp>
        <p:nvCxnSpPr>
          <p:cNvPr id="164" name="꺾인 연결선 163"/>
          <p:cNvCxnSpPr>
            <a:stCxn id="32" idx="3"/>
            <a:endCxn id="33" idx="1"/>
          </p:cNvCxnSpPr>
          <p:nvPr/>
        </p:nvCxnSpPr>
        <p:spPr>
          <a:xfrm>
            <a:off x="3053909" y="1531789"/>
            <a:ext cx="24037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 165"/>
          <p:cNvCxnSpPr>
            <a:stCxn id="50" idx="3"/>
            <a:endCxn id="57" idx="1"/>
          </p:cNvCxnSpPr>
          <p:nvPr/>
        </p:nvCxnSpPr>
        <p:spPr>
          <a:xfrm flipV="1">
            <a:off x="4027553" y="2664011"/>
            <a:ext cx="216497" cy="919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71" idx="3"/>
            <a:endCxn id="72" idx="1"/>
          </p:cNvCxnSpPr>
          <p:nvPr/>
        </p:nvCxnSpPr>
        <p:spPr>
          <a:xfrm flipV="1">
            <a:off x="3053909" y="3591855"/>
            <a:ext cx="799195" cy="900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꺾인 연결선 200"/>
          <p:cNvCxnSpPr>
            <a:stCxn id="94" idx="3"/>
            <a:endCxn id="31" idx="1"/>
          </p:cNvCxnSpPr>
          <p:nvPr/>
        </p:nvCxnSpPr>
        <p:spPr>
          <a:xfrm flipV="1">
            <a:off x="1120821" y="2036441"/>
            <a:ext cx="276242" cy="16327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꺾인 연결선 202"/>
          <p:cNvCxnSpPr>
            <a:stCxn id="94" idx="3"/>
            <a:endCxn id="86" idx="1"/>
          </p:cNvCxnSpPr>
          <p:nvPr/>
        </p:nvCxnSpPr>
        <p:spPr>
          <a:xfrm>
            <a:off x="1120821" y="3669212"/>
            <a:ext cx="276242" cy="202850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>
            <a:stCxn id="73" idx="1"/>
          </p:cNvCxnSpPr>
          <p:nvPr/>
        </p:nvCxnSpPr>
        <p:spPr>
          <a:xfrm flipH="1" flipV="1">
            <a:off x="4027553" y="3880031"/>
            <a:ext cx="330360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꺾인 연결선 216"/>
          <p:cNvCxnSpPr>
            <a:stCxn id="86" idx="3"/>
            <a:endCxn id="91" idx="1"/>
          </p:cNvCxnSpPr>
          <p:nvPr/>
        </p:nvCxnSpPr>
        <p:spPr>
          <a:xfrm>
            <a:off x="2241090" y="5697717"/>
            <a:ext cx="314759" cy="4948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자유형 217"/>
          <p:cNvSpPr/>
          <p:nvPr/>
        </p:nvSpPr>
        <p:spPr>
          <a:xfrm>
            <a:off x="1809317" y="2946400"/>
            <a:ext cx="4876800" cy="3572933"/>
          </a:xfrm>
          <a:custGeom>
            <a:avLst/>
            <a:gdLst>
              <a:gd name="connsiteX0" fmla="*/ 4732867 w 4876800"/>
              <a:gd name="connsiteY0" fmla="*/ 0 h 3572933"/>
              <a:gd name="connsiteX1" fmla="*/ 4876800 w 4876800"/>
              <a:gd name="connsiteY1" fmla="*/ 0 h 3572933"/>
              <a:gd name="connsiteX2" fmla="*/ 4876800 w 4876800"/>
              <a:gd name="connsiteY2" fmla="*/ 3572933 h 3572933"/>
              <a:gd name="connsiteX3" fmla="*/ 0 w 4876800"/>
              <a:gd name="connsiteY3" fmla="*/ 3572933 h 3572933"/>
              <a:gd name="connsiteX4" fmla="*/ 0 w 4876800"/>
              <a:gd name="connsiteY4" fmla="*/ 3056467 h 357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572933">
                <a:moveTo>
                  <a:pt x="4732867" y="0"/>
                </a:moveTo>
                <a:lnTo>
                  <a:pt x="4876800" y="0"/>
                </a:lnTo>
                <a:lnTo>
                  <a:pt x="4876800" y="3572933"/>
                </a:lnTo>
                <a:lnTo>
                  <a:pt x="0" y="3572933"/>
                </a:lnTo>
                <a:lnTo>
                  <a:pt x="0" y="3056467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9" name="직선 연결선 218"/>
          <p:cNvCxnSpPr/>
          <p:nvPr/>
        </p:nvCxnSpPr>
        <p:spPr>
          <a:xfrm>
            <a:off x="7011812" y="1095555"/>
            <a:ext cx="0" cy="563304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/>
          <p:cNvCxnSpPr>
            <a:stCxn id="230" idx="2"/>
            <a:endCxn id="233" idx="0"/>
          </p:cNvCxnSpPr>
          <p:nvPr/>
        </p:nvCxnSpPr>
        <p:spPr>
          <a:xfrm>
            <a:off x="8586694" y="1595958"/>
            <a:ext cx="0" cy="9906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직사각형 229"/>
          <p:cNvSpPr/>
          <p:nvPr/>
        </p:nvSpPr>
        <p:spPr>
          <a:xfrm>
            <a:off x="7977614" y="1278458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출원서류</a:t>
            </a:r>
            <a:r>
              <a:rPr lang="ko-KR" altLang="en-US" sz="1200" dirty="0">
                <a:solidFill>
                  <a:schemeClr val="tx1"/>
                </a:solidFill>
              </a:rPr>
              <a:t> 작성</a:t>
            </a:r>
          </a:p>
        </p:txBody>
      </p:sp>
      <p:sp>
        <p:nvSpPr>
          <p:cNvPr id="231" name="직사각형 230"/>
          <p:cNvSpPr/>
          <p:nvPr/>
        </p:nvSpPr>
        <p:spPr>
          <a:xfrm>
            <a:off x="7977614" y="1710258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</a:t>
            </a:r>
            <a:r>
              <a:rPr lang="ko-KR" altLang="en-US" sz="1200" dirty="0">
                <a:solidFill>
                  <a:schemeClr val="tx1"/>
                </a:solidFill>
              </a:rPr>
              <a:t> 제출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7977614" y="2154758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출원료</a:t>
            </a:r>
            <a:r>
              <a:rPr lang="ko-KR" altLang="en-US" sz="120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233" name="직사각형 232"/>
          <p:cNvSpPr/>
          <p:nvPr/>
        </p:nvSpPr>
        <p:spPr>
          <a:xfrm>
            <a:off x="7977614" y="2586558"/>
            <a:ext cx="1218160" cy="3175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accent4"/>
                </a:solidFill>
              </a:rPr>
              <a:t>방식심사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cxnSp>
        <p:nvCxnSpPr>
          <p:cNvPr id="234" name="직선 연결선 233"/>
          <p:cNvCxnSpPr/>
          <p:nvPr/>
        </p:nvCxnSpPr>
        <p:spPr>
          <a:xfrm flipV="1">
            <a:off x="7725460" y="1278458"/>
            <a:ext cx="252154" cy="5461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/>
          <p:cNvCxnSpPr/>
          <p:nvPr/>
        </p:nvCxnSpPr>
        <p:spPr>
          <a:xfrm>
            <a:off x="7725460" y="2291283"/>
            <a:ext cx="252154" cy="61277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/>
          <p:cNvCxnSpPr>
            <a:stCxn id="237" idx="2"/>
            <a:endCxn id="240" idx="0"/>
          </p:cNvCxnSpPr>
          <p:nvPr/>
        </p:nvCxnSpPr>
        <p:spPr>
          <a:xfrm>
            <a:off x="8586694" y="3348349"/>
            <a:ext cx="0" cy="9906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직사각형 236"/>
          <p:cNvSpPr/>
          <p:nvPr/>
        </p:nvSpPr>
        <p:spPr>
          <a:xfrm>
            <a:off x="7977614" y="30308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심사청구서</a:t>
            </a:r>
            <a:r>
              <a:rPr lang="ko-KR" altLang="en-US" sz="1200" dirty="0">
                <a:solidFill>
                  <a:schemeClr val="tx1"/>
                </a:solidFill>
              </a:rPr>
              <a:t> 작성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7977614" y="34626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심사청구서</a:t>
            </a:r>
            <a:r>
              <a:rPr lang="ko-KR" altLang="en-US" sz="1200" dirty="0">
                <a:solidFill>
                  <a:schemeClr val="tx1"/>
                </a:solidFill>
              </a:rPr>
              <a:t> 제출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7977614" y="39071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심사청구료</a:t>
            </a:r>
            <a:r>
              <a:rPr lang="ko-KR" altLang="en-US" sz="120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240" name="직사각형 239"/>
          <p:cNvSpPr/>
          <p:nvPr/>
        </p:nvSpPr>
        <p:spPr>
          <a:xfrm>
            <a:off x="7977614" y="4338949"/>
            <a:ext cx="1218160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방식심사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41" name="직선 연결선 240"/>
          <p:cNvCxnSpPr/>
          <p:nvPr/>
        </p:nvCxnSpPr>
        <p:spPr>
          <a:xfrm flipV="1">
            <a:off x="7725460" y="3030849"/>
            <a:ext cx="252154" cy="5461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>
            <a:off x="7725460" y="4043674"/>
            <a:ext cx="252154" cy="6166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직사각형 223"/>
          <p:cNvSpPr/>
          <p:nvPr/>
        </p:nvSpPr>
        <p:spPr>
          <a:xfrm>
            <a:off x="7246204" y="1824558"/>
            <a:ext cx="479256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7246204" y="3593952"/>
            <a:ext cx="479256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sp>
        <p:nvSpPr>
          <p:cNvPr id="226" name="직사각형 225"/>
          <p:cNvSpPr/>
          <p:nvPr/>
        </p:nvSpPr>
        <p:spPr>
          <a:xfrm>
            <a:off x="7246204" y="5303940"/>
            <a:ext cx="479256" cy="482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실체심사</a:t>
            </a:r>
          </a:p>
        </p:txBody>
      </p:sp>
      <p:cxnSp>
        <p:nvCxnSpPr>
          <p:cNvPr id="228" name="직선 화살표 연결선 227"/>
          <p:cNvCxnSpPr>
            <a:stCxn id="224" idx="2"/>
            <a:endCxn id="225" idx="0"/>
          </p:cNvCxnSpPr>
          <p:nvPr/>
        </p:nvCxnSpPr>
        <p:spPr>
          <a:xfrm>
            <a:off x="7485832" y="2307158"/>
            <a:ext cx="0" cy="12867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/>
          <p:cNvCxnSpPr>
            <a:stCxn id="225" idx="2"/>
            <a:endCxn id="226" idx="0"/>
          </p:cNvCxnSpPr>
          <p:nvPr/>
        </p:nvCxnSpPr>
        <p:spPr>
          <a:xfrm>
            <a:off x="7485832" y="4076552"/>
            <a:ext cx="0" cy="12273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직사각형 257"/>
          <p:cNvSpPr/>
          <p:nvPr/>
        </p:nvSpPr>
        <p:spPr>
          <a:xfrm>
            <a:off x="9507910" y="2102111"/>
            <a:ext cx="646965" cy="318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흠결</a:t>
            </a:r>
            <a:r>
              <a:rPr lang="en-US" altLang="ko-KR" sz="1200" dirty="0">
                <a:solidFill>
                  <a:schemeClr val="tx1"/>
                </a:solidFill>
              </a:rPr>
              <a:t>×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9507910" y="2589433"/>
            <a:ext cx="646965" cy="318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흠결</a:t>
            </a:r>
            <a:r>
              <a:rPr lang="ko-KR" altLang="en-US" sz="1200" dirty="0">
                <a:solidFill>
                  <a:schemeClr val="tx1"/>
                </a:solidFill>
              </a:rPr>
              <a:t>○</a:t>
            </a:r>
          </a:p>
        </p:txBody>
      </p:sp>
      <p:sp>
        <p:nvSpPr>
          <p:cNvPr id="262" name="직사각형 261"/>
          <p:cNvSpPr/>
          <p:nvPr/>
        </p:nvSpPr>
        <p:spPr>
          <a:xfrm>
            <a:off x="10366547" y="2593197"/>
            <a:ext cx="1573889" cy="318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● 무효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2">
                    <a:lumMod val="50000"/>
                  </a:schemeClr>
                </a:solidFill>
              </a:rPr>
              <a:t>방식위반</a:t>
            </a:r>
            <a:r>
              <a:rPr lang="en-US" altLang="ko-KR" sz="10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10366547" y="3080519"/>
            <a:ext cx="1573889" cy="318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□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불수리</a:t>
            </a:r>
          </a:p>
        </p:txBody>
      </p:sp>
      <p:sp>
        <p:nvSpPr>
          <p:cNvPr id="265" name="직사각형 264"/>
          <p:cNvSpPr/>
          <p:nvPr/>
        </p:nvSpPr>
        <p:spPr>
          <a:xfrm>
            <a:off x="7977614" y="47802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주체적 요건</a:t>
            </a:r>
          </a:p>
        </p:txBody>
      </p:sp>
      <p:sp>
        <p:nvSpPr>
          <p:cNvPr id="266" name="직사각형 265"/>
          <p:cNvSpPr/>
          <p:nvPr/>
        </p:nvSpPr>
        <p:spPr>
          <a:xfrm>
            <a:off x="7977614" y="52120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실체적 요건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7977614" y="56565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조약 위반</a:t>
            </a:r>
          </a:p>
        </p:txBody>
      </p:sp>
      <p:sp>
        <p:nvSpPr>
          <p:cNvPr id="268" name="직사각형 267"/>
          <p:cNvSpPr/>
          <p:nvPr/>
        </p:nvSpPr>
        <p:spPr>
          <a:xfrm>
            <a:off x="7977614" y="6088324"/>
            <a:ext cx="1218160" cy="317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절차적 요건</a:t>
            </a:r>
          </a:p>
        </p:txBody>
      </p:sp>
      <p:sp>
        <p:nvSpPr>
          <p:cNvPr id="269" name="직사각형 268"/>
          <p:cNvSpPr/>
          <p:nvPr/>
        </p:nvSpPr>
        <p:spPr>
          <a:xfrm>
            <a:off x="9195774" y="5232318"/>
            <a:ext cx="27446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◆ 거절이유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정보제공사유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특허무효사유</a:t>
            </a:r>
          </a:p>
        </p:txBody>
      </p:sp>
      <p:sp>
        <p:nvSpPr>
          <p:cNvPr id="270" name="직사각형 269"/>
          <p:cNvSpPr/>
          <p:nvPr/>
        </p:nvSpPr>
        <p:spPr>
          <a:xfrm>
            <a:off x="9203768" y="6108574"/>
            <a:ext cx="9172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○ 거절이유</a:t>
            </a:r>
          </a:p>
        </p:txBody>
      </p:sp>
      <p:cxnSp>
        <p:nvCxnSpPr>
          <p:cNvPr id="272" name="꺾인 연결선 271"/>
          <p:cNvCxnSpPr>
            <a:stCxn id="233" idx="3"/>
            <a:endCxn id="258" idx="1"/>
          </p:cNvCxnSpPr>
          <p:nvPr/>
        </p:nvCxnSpPr>
        <p:spPr>
          <a:xfrm flipV="1">
            <a:off x="9195774" y="2261307"/>
            <a:ext cx="312136" cy="48400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꺾인 연결선 273"/>
          <p:cNvCxnSpPr>
            <a:stCxn id="233" idx="3"/>
            <a:endCxn id="260" idx="1"/>
          </p:cNvCxnSpPr>
          <p:nvPr/>
        </p:nvCxnSpPr>
        <p:spPr>
          <a:xfrm>
            <a:off x="9195774" y="2745308"/>
            <a:ext cx="312136" cy="33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꺾인 연결선 275"/>
          <p:cNvCxnSpPr>
            <a:stCxn id="260" idx="3"/>
            <a:endCxn id="262" idx="1"/>
          </p:cNvCxnSpPr>
          <p:nvPr/>
        </p:nvCxnSpPr>
        <p:spPr>
          <a:xfrm>
            <a:off x="10154875" y="2748629"/>
            <a:ext cx="211672" cy="37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0" idx="3"/>
            <a:endCxn id="263" idx="1"/>
          </p:cNvCxnSpPr>
          <p:nvPr/>
        </p:nvCxnSpPr>
        <p:spPr>
          <a:xfrm>
            <a:off x="10154875" y="2748629"/>
            <a:ext cx="211672" cy="4910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26" idx="3"/>
            <a:endCxn id="265" idx="1"/>
          </p:cNvCxnSpPr>
          <p:nvPr/>
        </p:nvCxnSpPr>
        <p:spPr>
          <a:xfrm flipV="1">
            <a:off x="7725460" y="4938974"/>
            <a:ext cx="252154" cy="6062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26" idx="3"/>
            <a:endCxn id="266" idx="1"/>
          </p:cNvCxnSpPr>
          <p:nvPr/>
        </p:nvCxnSpPr>
        <p:spPr>
          <a:xfrm flipV="1">
            <a:off x="7725460" y="5370774"/>
            <a:ext cx="252154" cy="1744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26" idx="3"/>
            <a:endCxn id="267" idx="1"/>
          </p:cNvCxnSpPr>
          <p:nvPr/>
        </p:nvCxnSpPr>
        <p:spPr>
          <a:xfrm>
            <a:off x="7725460" y="5545240"/>
            <a:ext cx="252154" cy="2700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26" idx="3"/>
            <a:endCxn id="268" idx="1"/>
          </p:cNvCxnSpPr>
          <p:nvPr/>
        </p:nvCxnSpPr>
        <p:spPr>
          <a:xfrm>
            <a:off x="7725460" y="5545240"/>
            <a:ext cx="252154" cy="7018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2244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특허출원에 필요한 서류의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r>
              <a:rPr lang="ko-KR" altLang="en-US" dirty="0">
                <a:solidFill>
                  <a:srgbClr val="525252"/>
                </a:solidFill>
              </a:rPr>
              <a:t>핵심내용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123</a:t>
            </a:fld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44575E-C7A6-47EA-98AD-CB6BB89DC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34029"/>
              </p:ext>
            </p:extLst>
          </p:nvPr>
        </p:nvGraphicFramePr>
        <p:xfrm>
          <a:off x="1570008" y="1107854"/>
          <a:ext cx="10230928" cy="524118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06547">
                  <a:extLst>
                    <a:ext uri="{9D8B030D-6E8A-4147-A177-3AD203B41FA5}">
                      <a16:colId xmlns:a16="http://schemas.microsoft.com/office/drawing/2014/main" val="3909132318"/>
                    </a:ext>
                  </a:extLst>
                </a:gridCol>
                <a:gridCol w="785822">
                  <a:extLst>
                    <a:ext uri="{9D8B030D-6E8A-4147-A177-3AD203B41FA5}">
                      <a16:colId xmlns:a16="http://schemas.microsoft.com/office/drawing/2014/main" val="4228982774"/>
                    </a:ext>
                  </a:extLst>
                </a:gridCol>
                <a:gridCol w="2137697">
                  <a:extLst>
                    <a:ext uri="{9D8B030D-6E8A-4147-A177-3AD203B41FA5}">
                      <a16:colId xmlns:a16="http://schemas.microsoft.com/office/drawing/2014/main" val="3060407361"/>
                    </a:ext>
                  </a:extLst>
                </a:gridCol>
                <a:gridCol w="1437398">
                  <a:extLst>
                    <a:ext uri="{9D8B030D-6E8A-4147-A177-3AD203B41FA5}">
                      <a16:colId xmlns:a16="http://schemas.microsoft.com/office/drawing/2014/main" val="1639798372"/>
                    </a:ext>
                  </a:extLst>
                </a:gridCol>
                <a:gridCol w="2935692">
                  <a:extLst>
                    <a:ext uri="{9D8B030D-6E8A-4147-A177-3AD203B41FA5}">
                      <a16:colId xmlns:a16="http://schemas.microsoft.com/office/drawing/2014/main" val="2499683190"/>
                    </a:ext>
                  </a:extLst>
                </a:gridCol>
                <a:gridCol w="2227772">
                  <a:extLst>
                    <a:ext uri="{9D8B030D-6E8A-4147-A177-3AD203B41FA5}">
                      <a16:colId xmlns:a16="http://schemas.microsoft.com/office/drawing/2014/main" val="1187653640"/>
                    </a:ext>
                  </a:extLst>
                </a:gridCol>
              </a:tblGrid>
              <a:tr h="3208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제출서류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역할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기재방법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위반 취급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90124"/>
                  </a:ext>
                </a:extLst>
              </a:tr>
              <a:tr h="5348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출원서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출원과 관련된 각종 취지를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적은 서면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항각호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 @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불수리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920730"/>
                  </a:ext>
                </a:extLst>
              </a:tr>
              <a:tr h="534815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명세서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발명의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발명의 공개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실시가능요건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일반적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실체적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312117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배경기술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절차적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989611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기재방법요건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9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196539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청구범위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발명의 보호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기재원칙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뒷받침 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실체적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870249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명확성 요건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 err="1"/>
                        <a:t>항제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실체적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056085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구성요소의 기재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124636"/>
                  </a:ext>
                </a:extLst>
              </a:tr>
              <a:tr h="534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다항제의 기재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거절이유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절차적 요건 위반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890160"/>
                  </a:ext>
                </a:extLst>
              </a:tr>
              <a:tr h="3208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필요한 도면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명세서의 보조수단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9</a:t>
                      </a:r>
                      <a:r>
                        <a:rPr lang="ko-KR" altLang="en-US" sz="1200" dirty="0"/>
                        <a:t>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224849"/>
                  </a:ext>
                </a:extLst>
              </a:tr>
              <a:tr h="3208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요약서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기술정보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제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43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조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42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9</a:t>
                      </a:r>
                      <a:r>
                        <a:rPr lang="ko-KR" altLang="en-US" sz="1200" dirty="0"/>
                        <a:t>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74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47098B-367B-4559-B8B1-3CC09CA7AFE3}"/>
              </a:ext>
            </a:extLst>
          </p:cNvPr>
          <p:cNvSpPr txBox="1"/>
          <p:nvPr/>
        </p:nvSpPr>
        <p:spPr>
          <a:xfrm>
            <a:off x="213363" y="1449238"/>
            <a:ext cx="70724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3D287-61F4-4098-A16E-979C839EE3AE}"/>
              </a:ext>
            </a:extLst>
          </p:cNvPr>
          <p:cNvSpPr txBox="1"/>
          <p:nvPr/>
        </p:nvSpPr>
        <p:spPr>
          <a:xfrm>
            <a:off x="213363" y="4537494"/>
            <a:ext cx="70724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497C2F0-A5A4-4C6A-9599-6559C9E675E0}"/>
              </a:ext>
            </a:extLst>
          </p:cNvPr>
          <p:cNvCxnSpPr>
            <a:stCxn id="6" idx="3"/>
          </p:cNvCxnSpPr>
          <p:nvPr/>
        </p:nvCxnSpPr>
        <p:spPr>
          <a:xfrm>
            <a:off x="920608" y="1710848"/>
            <a:ext cx="105484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0BBDF0-C64F-45B1-9D10-6817C5E7175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20608" y="3862790"/>
            <a:ext cx="707245" cy="936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E1C4092-8406-4A1D-A9E7-678292C0D599}"/>
              </a:ext>
            </a:extLst>
          </p:cNvPr>
          <p:cNvCxnSpPr>
            <a:stCxn id="7" idx="3"/>
          </p:cNvCxnSpPr>
          <p:nvPr/>
        </p:nvCxnSpPr>
        <p:spPr>
          <a:xfrm>
            <a:off x="920608" y="4799104"/>
            <a:ext cx="821928" cy="14205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5E57364-C11F-448F-A0EE-5A534ABA83EA}"/>
              </a:ext>
            </a:extLst>
          </p:cNvPr>
          <p:cNvCxnSpPr>
            <a:stCxn id="7" idx="3"/>
          </p:cNvCxnSpPr>
          <p:nvPr/>
        </p:nvCxnSpPr>
        <p:spPr>
          <a:xfrm>
            <a:off x="920608" y="4799104"/>
            <a:ext cx="821928" cy="107548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1265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청구범위 제출의 유예의 개념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238513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42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특허출원일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특허출원일은 명세서 및 필요한 도면을 첨부한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특허출원서가</a:t>
            </a:r>
            <a:r>
              <a:rPr lang="ko-KR" altLang="en-US" sz="1400" dirty="0">
                <a:solidFill>
                  <a:schemeClr val="tx2"/>
                </a:solidFill>
              </a:rPr>
              <a:t> 지식재산처장에게 도달한 날로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명세서에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청구범위는</a:t>
            </a:r>
            <a:r>
              <a:rPr lang="ko-KR" altLang="en-US" sz="1400" dirty="0">
                <a:solidFill>
                  <a:schemeClr val="tx2"/>
                </a:solidFill>
              </a:rPr>
              <a:t> 적지 아니할 수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설명은 적어야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후단에 따라 특허출원서에 최초로 첨부한 명세서에 청구범위를 적지 아니한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날까지 명세서에 청구범위를 적는 보정을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본문에 따른 기한 이전에 제</a:t>
            </a:r>
            <a:r>
              <a:rPr lang="en-US" altLang="ko-KR" sz="1400" dirty="0">
                <a:solidFill>
                  <a:schemeClr val="tx2"/>
                </a:solidFill>
              </a:rPr>
              <a:t>60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</a:t>
            </a:r>
            <a:r>
              <a:rPr lang="ko-KR" altLang="en-US" sz="1400" dirty="0">
                <a:solidFill>
                  <a:schemeClr val="tx2"/>
                </a:solidFill>
              </a:rPr>
              <a:t> 청구의 취지를 </a:t>
            </a:r>
            <a:r>
              <a:rPr lang="ko-KR" altLang="en-US" sz="1400" dirty="0" err="1">
                <a:solidFill>
                  <a:schemeClr val="tx2"/>
                </a:solidFill>
              </a:rPr>
              <a:t>통지받은</a:t>
            </a:r>
            <a:r>
              <a:rPr lang="ko-KR" altLang="en-US" sz="1400" dirty="0">
                <a:solidFill>
                  <a:schemeClr val="tx2"/>
                </a:solidFill>
              </a:rPr>
              <a:t> 경우에는 그 통지를 받은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중 빠른 날까지 보정을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보정을 하지 아니한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기한이 되는 날의 다음 날에 해당 특허출원을 취하한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3827139" y="3168640"/>
            <a:ext cx="1808927" cy="4488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3827139" y="3767548"/>
            <a:ext cx="1808927" cy="4488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명세서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827139" y="4402894"/>
            <a:ext cx="1808927" cy="4488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필요한 도면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827139" y="5001802"/>
            <a:ext cx="1808927" cy="44880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요약서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092133" y="3762845"/>
            <a:ext cx="3214240" cy="4535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발명의 설명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092135" y="4402894"/>
            <a:ext cx="3214238" cy="44880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stCxn id="76" idx="3"/>
            <a:endCxn id="67" idx="1"/>
          </p:cNvCxnSpPr>
          <p:nvPr/>
        </p:nvCxnSpPr>
        <p:spPr>
          <a:xfrm>
            <a:off x="3292197" y="4290352"/>
            <a:ext cx="534942" cy="93585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76" idx="3"/>
            <a:endCxn id="64" idx="1"/>
          </p:cNvCxnSpPr>
          <p:nvPr/>
        </p:nvCxnSpPr>
        <p:spPr>
          <a:xfrm flipV="1">
            <a:off x="3292197" y="3991949"/>
            <a:ext cx="534942" cy="2984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76" idx="3"/>
            <a:endCxn id="66" idx="1"/>
          </p:cNvCxnSpPr>
          <p:nvPr/>
        </p:nvCxnSpPr>
        <p:spPr>
          <a:xfrm>
            <a:off x="3292197" y="4290352"/>
            <a:ext cx="534942" cy="33694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64" idx="3"/>
            <a:endCxn id="70" idx="1"/>
          </p:cNvCxnSpPr>
          <p:nvPr/>
        </p:nvCxnSpPr>
        <p:spPr>
          <a:xfrm>
            <a:off x="5636066" y="3991950"/>
            <a:ext cx="456069" cy="63534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64" idx="3"/>
            <a:endCxn id="69" idx="1"/>
          </p:cNvCxnSpPr>
          <p:nvPr/>
        </p:nvCxnSpPr>
        <p:spPr>
          <a:xfrm flipV="1">
            <a:off x="5636066" y="3989598"/>
            <a:ext cx="456067" cy="235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2212791" y="3984992"/>
            <a:ext cx="1079406" cy="610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서류</a:t>
            </a:r>
          </a:p>
        </p:txBody>
      </p:sp>
      <p:cxnSp>
        <p:nvCxnSpPr>
          <p:cNvPr id="77" name="꺾인 연결선 76"/>
          <p:cNvCxnSpPr>
            <a:stCxn id="62" idx="1"/>
            <a:endCxn id="76" idx="3"/>
          </p:cNvCxnSpPr>
          <p:nvPr/>
        </p:nvCxnSpPr>
        <p:spPr>
          <a:xfrm rot="10800000" flipV="1">
            <a:off x="3292197" y="3393040"/>
            <a:ext cx="534942" cy="8973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8493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749758" y="2024885"/>
            <a:ext cx="958306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공개준비기간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최대 </a:t>
            </a:r>
            <a:r>
              <a:rPr lang="en-US" altLang="ko-KR" sz="1100" dirty="0">
                <a:solidFill>
                  <a:srgbClr val="FF0000"/>
                </a:solidFill>
              </a:rPr>
              <a:t>4</a:t>
            </a:r>
            <a:r>
              <a:rPr lang="ko-KR" altLang="en-US" sz="1100" dirty="0">
                <a:solidFill>
                  <a:srgbClr val="FF0000"/>
                </a:solidFill>
              </a:rPr>
              <a:t>개월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청구범위 제출의 유예기간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524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원칙적 유예기간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항본문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299" y="2536498"/>
            <a:ext cx="545382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0"/>
          </p:cNvCxnSpPr>
          <p:nvPr/>
        </p:nvCxnSpPr>
        <p:spPr>
          <a:xfrm flipV="1">
            <a:off x="752933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8" idx="0"/>
          </p:cNvCxnSpPr>
          <p:nvPr/>
        </p:nvCxnSpPr>
        <p:spPr>
          <a:xfrm flipV="1">
            <a:off x="4860421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745975" y="1864623"/>
            <a:ext cx="4098634" cy="633033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745975" y="2128971"/>
            <a:ext cx="2883347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77221" y="1715973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6913" y="1956603"/>
            <a:ext cx="67262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657" y="2196485"/>
            <a:ext cx="113370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일반적 유예기간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5735" y="2819346"/>
            <a:ext cx="754396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483223" y="2819346"/>
            <a:ext cx="754396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</a:t>
            </a:r>
          </a:p>
        </p:txBody>
      </p:sp>
      <p:sp>
        <p:nvSpPr>
          <p:cNvPr id="53" name="자유형 52"/>
          <p:cNvSpPr/>
          <p:nvPr/>
        </p:nvSpPr>
        <p:spPr>
          <a:xfrm>
            <a:off x="8425865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6132541" y="2531671"/>
            <a:ext cx="58816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429584" y="2814519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0" name="직선 화살표 연결선 29"/>
          <p:cNvCxnSpPr>
            <a:stCxn id="28" idx="0"/>
          </p:cNvCxnSpPr>
          <p:nvPr/>
        </p:nvCxnSpPr>
        <p:spPr>
          <a:xfrm flipV="1">
            <a:off x="6836371" y="2531673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자유형 32"/>
          <p:cNvSpPr/>
          <p:nvPr/>
        </p:nvSpPr>
        <p:spPr>
          <a:xfrm>
            <a:off x="6828867" y="2124144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86073" y="1951776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7139176" y="3280186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2" name="직선 화살표 연결선 41"/>
          <p:cNvCxnSpPr>
            <a:stCxn id="41" idx="0"/>
          </p:cNvCxnSpPr>
          <p:nvPr/>
        </p:nvCxnSpPr>
        <p:spPr>
          <a:xfrm flipV="1">
            <a:off x="7545963" y="2531674"/>
            <a:ext cx="0" cy="7485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8001406" y="3280186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46" name="직선 화살표 연결선 45"/>
          <p:cNvCxnSpPr>
            <a:stCxn id="45" idx="0"/>
          </p:cNvCxnSpPr>
          <p:nvPr/>
        </p:nvCxnSpPr>
        <p:spPr>
          <a:xfrm flipV="1">
            <a:off x="8408194" y="2531674"/>
            <a:ext cx="0" cy="7485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274312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8" name="직선 화살표 연결선 47"/>
          <p:cNvCxnSpPr>
            <a:stCxn id="47" idx="0"/>
          </p:cNvCxnSpPr>
          <p:nvPr/>
        </p:nvCxnSpPr>
        <p:spPr>
          <a:xfrm flipV="1">
            <a:off x="968110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10136543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50" name="직선 화살표 연결선 49"/>
          <p:cNvCxnSpPr>
            <a:stCxn id="49" idx="0"/>
          </p:cNvCxnSpPr>
          <p:nvPr/>
        </p:nvCxnSpPr>
        <p:spPr>
          <a:xfrm flipV="1">
            <a:off x="1054333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자유형 53"/>
          <p:cNvSpPr/>
          <p:nvPr/>
        </p:nvSpPr>
        <p:spPr>
          <a:xfrm>
            <a:off x="10543330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7895" y="3071751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3962" y="294578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6441" y="236742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8715" y="224913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6166216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자의 심사청구</a:t>
            </a:r>
            <a:endParaRPr lang="en-US" altLang="ko-KR" sz="1600" b="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항단서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5741812" y="1095555"/>
            <a:ext cx="0" cy="281652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75735" y="4140200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5"/>
          <p:cNvSpPr>
            <a:spLocks noChangeArrowheads="1"/>
          </p:cNvSpPr>
          <p:nvPr/>
        </p:nvSpPr>
        <p:spPr bwMode="auto">
          <a:xfrm>
            <a:off x="127524" y="4323715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분할출원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변경출원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52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53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ko-KR" altLang="en-US" sz="1100" b="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0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0" name="자유형 79"/>
          <p:cNvSpPr/>
          <p:nvPr/>
        </p:nvSpPr>
        <p:spPr>
          <a:xfrm>
            <a:off x="541546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3122144" y="5047617"/>
            <a:ext cx="85279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3419187" y="5330465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83" name="직선 화살표 연결선 82"/>
          <p:cNvCxnSpPr>
            <a:stCxn id="82" idx="0"/>
          </p:cNvCxnSpPr>
          <p:nvPr/>
        </p:nvCxnSpPr>
        <p:spPr>
          <a:xfrm flipV="1">
            <a:off x="3825974" y="5047619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83"/>
          <p:cNvSpPr/>
          <p:nvPr/>
        </p:nvSpPr>
        <p:spPr>
          <a:xfrm>
            <a:off x="3818470" y="4640090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4208554" y="4501590"/>
            <a:ext cx="32367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유예기간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2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 </a:t>
            </a:r>
            <a:r>
              <a:rPr lang="en-US" altLang="ko-KR" sz="1200" dirty="0"/>
              <a:t>+ </a:t>
            </a:r>
            <a:r>
              <a:rPr lang="ko-KR" altLang="en-US" sz="1200" dirty="0"/>
              <a:t>단서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8" name="직사각형 87"/>
          <p:cNvSpPr/>
          <p:nvPr/>
        </p:nvSpPr>
        <p:spPr>
          <a:xfrm>
            <a:off x="4991009" y="5940071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H="1" flipV="1">
            <a:off x="5389000" y="5076507"/>
            <a:ext cx="8797" cy="8635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7126146" y="5957029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/>
          <p:cNvCxnSpPr>
            <a:stCxn id="92" idx="0"/>
          </p:cNvCxnSpPr>
          <p:nvPr/>
        </p:nvCxnSpPr>
        <p:spPr>
          <a:xfrm flipV="1">
            <a:off x="7532933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자유형 93"/>
          <p:cNvSpPr/>
          <p:nvPr/>
        </p:nvSpPr>
        <p:spPr>
          <a:xfrm>
            <a:off x="7532933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47498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03565" y="555487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2931" y="485797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5607" y="486668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9417031" y="5957029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01" name="직선 화살표 연결선 100"/>
          <p:cNvCxnSpPr>
            <a:stCxn id="100" idx="0"/>
          </p:cNvCxnSpPr>
          <p:nvPr/>
        </p:nvCxnSpPr>
        <p:spPr>
          <a:xfrm flipV="1">
            <a:off x="9823818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자유형 101"/>
          <p:cNvSpPr/>
          <p:nvPr/>
        </p:nvSpPr>
        <p:spPr>
          <a:xfrm>
            <a:off x="982381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38383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03045" y="485791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26C01-DDBF-498F-BDC8-A1379D666A76}"/>
              </a:ext>
            </a:extLst>
          </p:cNvPr>
          <p:cNvSpPr txBox="1"/>
          <p:nvPr/>
        </p:nvSpPr>
        <p:spPr>
          <a:xfrm>
            <a:off x="100299" y="6527335"/>
            <a:ext cx="2608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* </a:t>
            </a:r>
            <a:r>
              <a:rPr lang="ko-KR" altLang="en-US" sz="1100" dirty="0">
                <a:solidFill>
                  <a:srgbClr val="FF0000"/>
                </a:solidFill>
              </a:rPr>
              <a:t>분리출원의 경우 청구범위 제출유예 불가</a:t>
            </a:r>
          </a:p>
        </p:txBody>
      </p:sp>
    </p:spTree>
    <p:extLst>
      <p:ext uri="{BB962C8B-B14F-4D97-AF65-F5344CB8AC3E}">
        <p14:creationId xmlns:p14="http://schemas.microsoft.com/office/powerpoint/2010/main" val="17713130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명세서의 구조</a:t>
            </a:r>
          </a:p>
        </p:txBody>
      </p:sp>
      <p:sp>
        <p:nvSpPr>
          <p:cNvPr id="36" name="한쪽 모서리가 잘린 사각형 41">
            <a:extLst>
              <a:ext uri="{FF2B5EF4-FFF2-40B4-BE49-F238E27FC236}">
                <a16:creationId xmlns:a16="http://schemas.microsoft.com/office/drawing/2014/main" id="{C5DC9B61-F023-E3F5-DFEE-07F1F6638F30}"/>
              </a:ext>
            </a:extLst>
          </p:cNvPr>
          <p:cNvSpPr/>
          <p:nvPr/>
        </p:nvSpPr>
        <p:spPr bwMode="auto">
          <a:xfrm>
            <a:off x="431371" y="1232123"/>
            <a:ext cx="5568949" cy="2679700"/>
          </a:xfrm>
          <a:prstGeom prst="snip1Rect">
            <a:avLst/>
          </a:prstGeom>
          <a:ln>
            <a:solidFill>
              <a:schemeClr val="tx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2000" b="0">
              <a:solidFill>
                <a:srgbClr val="1C1C1C"/>
              </a:solidFill>
              <a:latin typeface="+mn-ea"/>
            </a:endParaRP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BC53DE68-4DF1-E830-1EBF-D636A24C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1628800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>
                <a:solidFill>
                  <a:schemeClr val="tx1"/>
                </a:solidFill>
                <a:latin typeface="+mn-ea"/>
              </a:rPr>
              <a:t>출원서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49B0B647-03FB-24E7-9244-1AAEFC55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2194389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명세서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51CCB645-7BD2-15DC-F9C1-A9BE8C1C0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2803116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필요한 도면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A9552D65-B461-4102-3CED-3FB5814C2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605" y="3368705"/>
            <a:ext cx="1150937" cy="260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>
                <a:solidFill>
                  <a:schemeClr val="tx1"/>
                </a:solidFill>
                <a:latin typeface="+mn-ea"/>
              </a:rPr>
              <a:t>요약서</a:t>
            </a:r>
          </a:p>
        </p:txBody>
      </p:sp>
      <p:cxnSp>
        <p:nvCxnSpPr>
          <p:cNvPr id="44" name="AutoShape 11">
            <a:extLst>
              <a:ext uri="{FF2B5EF4-FFF2-40B4-BE49-F238E27FC236}">
                <a16:creationId xmlns:a16="http://schemas.microsoft.com/office/drawing/2014/main" id="{104EC371-41D8-99AA-EC32-33DEF666A3C4}"/>
              </a:ext>
            </a:extLst>
          </p:cNvPr>
          <p:cNvCxnSpPr>
            <a:cxnSpLocks noChangeShapeType="1"/>
            <a:stCxn id="37" idx="2"/>
            <a:endCxn id="38" idx="0"/>
          </p:cNvCxnSpPr>
          <p:nvPr/>
        </p:nvCxnSpPr>
        <p:spPr bwMode="auto">
          <a:xfrm>
            <a:off x="1392073" y="1889546"/>
            <a:ext cx="0" cy="304843"/>
          </a:xfrm>
          <a:prstGeom prst="straightConnector1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45" name="AutoShape 12">
            <a:extLst>
              <a:ext uri="{FF2B5EF4-FFF2-40B4-BE49-F238E27FC236}">
                <a16:creationId xmlns:a16="http://schemas.microsoft.com/office/drawing/2014/main" id="{F361BEF3-A113-4A3C-025C-D6CE532C48EF}"/>
              </a:ext>
            </a:extLst>
          </p:cNvPr>
          <p:cNvCxnSpPr>
            <a:cxnSpLocks noChangeShapeType="1"/>
            <a:stCxn id="38" idx="2"/>
            <a:endCxn id="39" idx="0"/>
          </p:cNvCxnSpPr>
          <p:nvPr/>
        </p:nvCxnSpPr>
        <p:spPr bwMode="auto">
          <a:xfrm>
            <a:off x="1392073" y="2455136"/>
            <a:ext cx="0" cy="347981"/>
          </a:xfrm>
          <a:prstGeom prst="straightConnector1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6" name="AutoShape 13">
            <a:extLst>
              <a:ext uri="{FF2B5EF4-FFF2-40B4-BE49-F238E27FC236}">
                <a16:creationId xmlns:a16="http://schemas.microsoft.com/office/drawing/2014/main" id="{09E505C5-2073-1968-442E-5AB4A9031244}"/>
              </a:ext>
            </a:extLst>
          </p:cNvPr>
          <p:cNvCxnSpPr>
            <a:cxnSpLocks noChangeShapeType="1"/>
            <a:stCxn id="39" idx="2"/>
            <a:endCxn id="42" idx="0"/>
          </p:cNvCxnSpPr>
          <p:nvPr/>
        </p:nvCxnSpPr>
        <p:spPr bwMode="auto">
          <a:xfrm>
            <a:off x="1392073" y="3063863"/>
            <a:ext cx="0" cy="304843"/>
          </a:xfrm>
          <a:prstGeom prst="straightConnector1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47" name="AutoShape 14">
            <a:extLst>
              <a:ext uri="{FF2B5EF4-FFF2-40B4-BE49-F238E27FC236}">
                <a16:creationId xmlns:a16="http://schemas.microsoft.com/office/drawing/2014/main" id="{0E4152DD-AE52-6640-FDAE-8F17E1E42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038" y="2107155"/>
            <a:ext cx="2592916" cy="24187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bg1"/>
                </a:solidFill>
                <a:latin typeface="+mn-ea"/>
              </a:rPr>
              <a:t>발명의 설명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(A, B, C)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AutoShape 17">
            <a:extLst>
              <a:ext uri="{FF2B5EF4-FFF2-40B4-BE49-F238E27FC236}">
                <a16:creationId xmlns:a16="http://schemas.microsoft.com/office/drawing/2014/main" id="{2B55328F-3CAC-E33A-6EE4-75F5FA34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038" y="2446911"/>
            <a:ext cx="2592916" cy="24187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(A, B)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9" name="AutoShape 19">
            <a:extLst>
              <a:ext uri="{FF2B5EF4-FFF2-40B4-BE49-F238E27FC236}">
                <a16:creationId xmlns:a16="http://schemas.microsoft.com/office/drawing/2014/main" id="{C5C01786-5E3C-F073-49D9-83C0D091D94E}"/>
              </a:ext>
            </a:extLst>
          </p:cNvPr>
          <p:cNvCxnSpPr>
            <a:cxnSpLocks noChangeShapeType="1"/>
            <a:stCxn id="38" idx="3"/>
            <a:endCxn id="47" idx="1"/>
          </p:cNvCxnSpPr>
          <p:nvPr/>
        </p:nvCxnSpPr>
        <p:spPr bwMode="auto">
          <a:xfrm flipV="1">
            <a:off x="1967541" y="2228090"/>
            <a:ext cx="961496" cy="96672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50" name="AutoShape 22">
            <a:extLst>
              <a:ext uri="{FF2B5EF4-FFF2-40B4-BE49-F238E27FC236}">
                <a16:creationId xmlns:a16="http://schemas.microsoft.com/office/drawing/2014/main" id="{E93C6F3F-F081-9F48-1768-8A9E3C91AA35}"/>
              </a:ext>
            </a:extLst>
          </p:cNvPr>
          <p:cNvCxnSpPr>
            <a:cxnSpLocks noChangeShapeType="1"/>
            <a:stCxn id="38" idx="3"/>
            <a:endCxn id="48" idx="1"/>
          </p:cNvCxnSpPr>
          <p:nvPr/>
        </p:nvCxnSpPr>
        <p:spPr bwMode="auto">
          <a:xfrm>
            <a:off x="1967541" y="2324762"/>
            <a:ext cx="961496" cy="243084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51" name="모서리가 둥근 직사각형 53">
            <a:extLst>
              <a:ext uri="{FF2B5EF4-FFF2-40B4-BE49-F238E27FC236}">
                <a16:creationId xmlns:a16="http://schemas.microsoft.com/office/drawing/2014/main" id="{572D7694-02ED-BD45-6D04-147C4C62BEEF}"/>
              </a:ext>
            </a:extLst>
          </p:cNvPr>
          <p:cNvSpPr/>
          <p:nvPr/>
        </p:nvSpPr>
        <p:spPr bwMode="auto">
          <a:xfrm>
            <a:off x="719237" y="1052736"/>
            <a:ext cx="3073400" cy="3603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defRPr/>
            </a:pPr>
            <a:r>
              <a:rPr lang="ko-KR" altLang="en-US" sz="1400" b="0" dirty="0">
                <a:latin typeface="+mj-ea"/>
                <a:ea typeface="+mj-ea"/>
              </a:rPr>
              <a:t>특허출원에 필요한 서류</a:t>
            </a:r>
            <a:endParaRPr lang="ko-KR" altLang="en-US" sz="1400" b="0" dirty="0">
              <a:solidFill>
                <a:srgbClr val="1C1C1C"/>
              </a:solidFill>
              <a:latin typeface="+mj-ea"/>
              <a:ea typeface="+mj-ea"/>
            </a:endParaRPr>
          </a:p>
        </p:txBody>
      </p:sp>
      <p:sp>
        <p:nvSpPr>
          <p:cNvPr id="52" name="직사각형 2">
            <a:extLst>
              <a:ext uri="{FF2B5EF4-FFF2-40B4-BE49-F238E27FC236}">
                <a16:creationId xmlns:a16="http://schemas.microsoft.com/office/drawing/2014/main" id="{8AF3CFE1-B65C-2C24-81B3-3C34C5C6A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826" y="1842629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명칭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B9792C6-B0CE-EC18-E197-6386DE1ABA53}"/>
              </a:ext>
            </a:extLst>
          </p:cNvPr>
          <p:cNvSpPr/>
          <p:nvPr/>
        </p:nvSpPr>
        <p:spPr bwMode="auto">
          <a:xfrm>
            <a:off x="7384826" y="2133143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기술분야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6FF621-0D02-6BD9-BD01-CAAB30D46114}"/>
              </a:ext>
            </a:extLst>
          </p:cNvPr>
          <p:cNvSpPr/>
          <p:nvPr/>
        </p:nvSpPr>
        <p:spPr bwMode="auto">
          <a:xfrm>
            <a:off x="7384826" y="2737979"/>
            <a:ext cx="3744384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내용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EC2AB12-8C37-1628-2B8A-C9BB0F6EA3F8}"/>
              </a:ext>
            </a:extLst>
          </p:cNvPr>
          <p:cNvSpPr/>
          <p:nvPr/>
        </p:nvSpPr>
        <p:spPr bwMode="auto">
          <a:xfrm>
            <a:off x="7672692" y="3028493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해결하고자 하는 과제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BBA35A4-36AF-EC6F-E569-B15BEBE64AA9}"/>
              </a:ext>
            </a:extLst>
          </p:cNvPr>
          <p:cNvSpPr/>
          <p:nvPr/>
        </p:nvSpPr>
        <p:spPr bwMode="auto">
          <a:xfrm>
            <a:off x="7672692" y="3309479"/>
            <a:ext cx="3744384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과제 해결 수단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D3BC7B-4243-9FE1-5CF1-A96C63C64F84}"/>
              </a:ext>
            </a:extLst>
          </p:cNvPr>
          <p:cNvSpPr/>
          <p:nvPr/>
        </p:nvSpPr>
        <p:spPr bwMode="auto">
          <a:xfrm>
            <a:off x="7672692" y="3599993"/>
            <a:ext cx="3744384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효과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8" name="직사각형 28">
            <a:extLst>
              <a:ext uri="{FF2B5EF4-FFF2-40B4-BE49-F238E27FC236}">
                <a16:creationId xmlns:a16="http://schemas.microsoft.com/office/drawing/2014/main" id="{AA2DE04C-15D5-1988-3370-A609524B0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826" y="3868279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r>
              <a:rPr lang="en-US" altLang="ko-KR" sz="1400" b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>
                <a:solidFill>
                  <a:schemeClr val="accent6">
                    <a:lumMod val="50000"/>
                  </a:schemeClr>
                </a:solidFill>
                <a:latin typeface="+mn-ea"/>
              </a:rPr>
              <a:t>도면의 간단한 설명</a:t>
            </a:r>
            <a:r>
              <a:rPr lang="en-US" altLang="ko-KR" sz="1400" b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AAE483F-292F-044F-0E3D-10EF6EFE89A8}"/>
              </a:ext>
            </a:extLst>
          </p:cNvPr>
          <p:cNvSpPr/>
          <p:nvPr/>
        </p:nvSpPr>
        <p:spPr bwMode="auto">
          <a:xfrm>
            <a:off x="7384826" y="4158793"/>
            <a:ext cx="4225131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실시를 위한 구체적인 내용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7E71FFF-66A4-E359-3AFC-5732FD413C06}"/>
              </a:ext>
            </a:extLst>
          </p:cNvPr>
          <p:cNvSpPr/>
          <p:nvPr/>
        </p:nvSpPr>
        <p:spPr bwMode="auto">
          <a:xfrm>
            <a:off x="7672692" y="4454068"/>
            <a:ext cx="3744384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실시예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1】x, y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를 포함하는 발명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A2AAC01-F660-FDB1-63B3-7350CF3DA00F}"/>
              </a:ext>
            </a:extLst>
          </p:cNvPr>
          <p:cNvSpPr/>
          <p:nvPr/>
        </p:nvSpPr>
        <p:spPr bwMode="auto">
          <a:xfrm>
            <a:off x="7672692" y="4744580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실시예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2】x, y, z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를 포함하는 발명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A9215B2-F32C-1B0C-338A-A12733BC3163}"/>
              </a:ext>
            </a:extLst>
          </p:cNvPr>
          <p:cNvSpPr/>
          <p:nvPr/>
        </p:nvSpPr>
        <p:spPr bwMode="auto">
          <a:xfrm>
            <a:off x="7151787" y="5285018"/>
            <a:ext cx="3744384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청구범위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】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653CB2-EED9-63A0-5744-53FA694A87C6}"/>
              </a:ext>
            </a:extLst>
          </p:cNvPr>
          <p:cNvSpPr/>
          <p:nvPr/>
        </p:nvSpPr>
        <p:spPr bwMode="auto">
          <a:xfrm>
            <a:off x="7439653" y="5575530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4"/>
                </a:solidFill>
                <a:latin typeface="+mn-ea"/>
              </a:rPr>
              <a:t>청구항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1】</a:t>
            </a:r>
            <a:r>
              <a:rPr lang="en-US" altLang="ko-KR" sz="1400" dirty="0">
                <a:solidFill>
                  <a:schemeClr val="accent4"/>
                </a:solidFill>
                <a:latin typeface="+mn-ea"/>
              </a:rPr>
              <a:t>x, y</a:t>
            </a:r>
            <a:r>
              <a:rPr lang="ko-KR" altLang="en-US" sz="1400" dirty="0">
                <a:solidFill>
                  <a:schemeClr val="accent4"/>
                </a:solidFill>
                <a:latin typeface="+mn-ea"/>
              </a:rPr>
              <a:t>를 포함하는 발명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FD5961E-CB9C-5878-7F29-6B034D41B3EE}"/>
              </a:ext>
            </a:extLst>
          </p:cNvPr>
          <p:cNvSpPr/>
          <p:nvPr/>
        </p:nvSpPr>
        <p:spPr bwMode="auto">
          <a:xfrm>
            <a:off x="7439652" y="5856518"/>
            <a:ext cx="3977423" cy="28733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【</a:t>
            </a:r>
            <a:r>
              <a:rPr lang="ko-KR" altLang="en-US" sz="1400" b="0" dirty="0" err="1">
                <a:solidFill>
                  <a:schemeClr val="accent4"/>
                </a:solidFill>
                <a:latin typeface="+mn-ea"/>
              </a:rPr>
              <a:t>청구항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2】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제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1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항에 있어서</a:t>
            </a:r>
            <a:r>
              <a:rPr lang="en-US" altLang="ko-KR" sz="1400" b="0" dirty="0">
                <a:solidFill>
                  <a:schemeClr val="accent4"/>
                </a:solidFill>
                <a:latin typeface="+mn-ea"/>
              </a:rPr>
              <a:t>, z</a:t>
            </a:r>
            <a:r>
              <a:rPr lang="ko-KR" altLang="en-US" sz="1400" b="0" dirty="0">
                <a:solidFill>
                  <a:schemeClr val="accent4"/>
                </a:solidFill>
                <a:latin typeface="+mn-ea"/>
              </a:rPr>
              <a:t>를 더 포함하는 발명</a:t>
            </a:r>
            <a:endParaRPr lang="en-US" altLang="ko-KR" sz="1400" b="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5" name="직사각형 38">
            <a:extLst>
              <a:ext uri="{FF2B5EF4-FFF2-40B4-BE49-F238E27FC236}">
                <a16:creationId xmlns:a16="http://schemas.microsoft.com/office/drawing/2014/main" id="{CC824A95-6C6E-EB20-C979-B642B871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787" y="1227724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algn="ctr"/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rgbClr val="1C1C1C"/>
                </a:solidFill>
                <a:latin typeface="+mn-ea"/>
              </a:rPr>
              <a:t>명세서</a:t>
            </a:r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】</a:t>
            </a:r>
          </a:p>
        </p:txBody>
      </p:sp>
      <p:cxnSp>
        <p:nvCxnSpPr>
          <p:cNvPr id="66" name="꺾인 연결선 4">
            <a:extLst>
              <a:ext uri="{FF2B5EF4-FFF2-40B4-BE49-F238E27FC236}">
                <a16:creationId xmlns:a16="http://schemas.microsoft.com/office/drawing/2014/main" id="{317A15CC-10A2-2009-978A-D352A36BF15C}"/>
              </a:ext>
            </a:extLst>
          </p:cNvPr>
          <p:cNvCxnSpPr>
            <a:cxnSpLocks noChangeShapeType="1"/>
            <a:stCxn id="47" idx="3"/>
            <a:endCxn id="72" idx="1"/>
          </p:cNvCxnSpPr>
          <p:nvPr/>
        </p:nvCxnSpPr>
        <p:spPr bwMode="auto">
          <a:xfrm flipV="1">
            <a:off x="5521954" y="1699744"/>
            <a:ext cx="1629833" cy="52834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5F5F5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꺾인 연결선 6">
            <a:extLst>
              <a:ext uri="{FF2B5EF4-FFF2-40B4-BE49-F238E27FC236}">
                <a16:creationId xmlns:a16="http://schemas.microsoft.com/office/drawing/2014/main" id="{7E97B0E0-2B6D-DEA0-09FB-EB99A290DEBA}"/>
              </a:ext>
            </a:extLst>
          </p:cNvPr>
          <p:cNvCxnSpPr>
            <a:cxnSpLocks noChangeShapeType="1"/>
            <a:stCxn id="48" idx="3"/>
            <a:endCxn id="62" idx="1"/>
          </p:cNvCxnSpPr>
          <p:nvPr/>
        </p:nvCxnSpPr>
        <p:spPr bwMode="auto">
          <a:xfrm>
            <a:off x="5521954" y="2567846"/>
            <a:ext cx="1629833" cy="28608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5F5F5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8C25349-2121-F605-D195-0CDF6896EB3A}"/>
              </a:ext>
            </a:extLst>
          </p:cNvPr>
          <p:cNvSpPr/>
          <p:nvPr/>
        </p:nvSpPr>
        <p:spPr bwMode="auto">
          <a:xfrm>
            <a:off x="7384826" y="2449054"/>
            <a:ext cx="3744384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배경기술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필수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9E1ADB8-8E0B-1FC3-43D0-03E92F185874}"/>
              </a:ext>
            </a:extLst>
          </p:cNvPr>
          <p:cNvSpPr/>
          <p:nvPr/>
        </p:nvSpPr>
        <p:spPr bwMode="auto">
          <a:xfrm>
            <a:off x="6768672" y="1195612"/>
            <a:ext cx="4992289" cy="49688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2000">
              <a:solidFill>
                <a:srgbClr val="1C1C1C"/>
              </a:solidFill>
              <a:latin typeface="+mn-ea"/>
            </a:endParaRPr>
          </a:p>
        </p:txBody>
      </p:sp>
      <p:graphicFrame>
        <p:nvGraphicFramePr>
          <p:cNvPr id="70" name="Group 224">
            <a:extLst>
              <a:ext uri="{FF2B5EF4-FFF2-40B4-BE49-F238E27FC236}">
                <a16:creationId xmlns:a16="http://schemas.microsoft.com/office/drawing/2014/main" id="{C7324699-4A10-9A2B-C756-1C516C3B7992}"/>
              </a:ext>
            </a:extLst>
          </p:cNvPr>
          <p:cNvGraphicFramePr>
            <a:graphicFrameLocks noGrp="1"/>
          </p:cNvGraphicFramePr>
          <p:nvPr/>
        </p:nvGraphicFramePr>
        <p:xfrm>
          <a:off x="431371" y="4149080"/>
          <a:ext cx="5568949" cy="2015408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0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1" lang="ko-KR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출원인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제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0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발명의 설명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권리해설서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기술문헌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92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청구범위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등록전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: 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권리요구서</a:t>
                      </a:r>
                      <a:endParaRPr kumimoji="1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등록후</a:t>
                      </a: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권리서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공공영역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(C)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과 </a:t>
                      </a:r>
                      <a:endParaRPr kumimoji="1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권리범위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(A, B)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한계 특정 </a:t>
                      </a:r>
                      <a:endParaRPr kumimoji="1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울타리 이론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48000" marR="4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A8FA2AED-C529-1603-B69B-64A82047BBB3}"/>
              </a:ext>
            </a:extLst>
          </p:cNvPr>
          <p:cNvSpPr txBox="1"/>
          <p:nvPr/>
        </p:nvSpPr>
        <p:spPr>
          <a:xfrm>
            <a:off x="298020" y="6324600"/>
            <a:ext cx="11627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US" altLang="ko-KR" sz="1200" dirty="0"/>
              <a:t>* </a:t>
            </a:r>
            <a:r>
              <a:rPr lang="ko-KR" altLang="en-US" sz="1200" dirty="0"/>
              <a:t>심사관은 청구범위의 </a:t>
            </a:r>
            <a:r>
              <a:rPr lang="ko-KR" altLang="en-US" sz="1200" dirty="0" err="1"/>
              <a:t>청구항별로</a:t>
            </a:r>
            <a:r>
              <a:rPr lang="ko-KR" altLang="en-US" sz="1200" dirty="0"/>
              <a:t> 거절이유를 판단하지만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하나의 </a:t>
            </a:r>
            <a:r>
              <a:rPr lang="ko-KR" altLang="en-US" sz="1200" dirty="0" err="1"/>
              <a:t>청구항이라도</a:t>
            </a:r>
            <a:r>
              <a:rPr lang="ko-KR" altLang="en-US" sz="1200" dirty="0"/>
              <a:t> 거절이유가 있으면 출원 전체를 거절결정하며</a:t>
            </a:r>
            <a:r>
              <a:rPr lang="en-US" altLang="ko-KR" sz="1200" dirty="0"/>
              <a:t>, </a:t>
            </a:r>
            <a:r>
              <a:rPr lang="ko-KR" altLang="en-US" sz="1200" dirty="0"/>
              <a:t>이를 출원일체의 원칙</a:t>
            </a:r>
            <a:r>
              <a:rPr lang="en-US" altLang="ko-KR" sz="1200" dirty="0"/>
              <a:t>(All or Nothing Rule)</a:t>
            </a:r>
            <a:r>
              <a:rPr lang="ko-KR" altLang="en-US" sz="1200" dirty="0"/>
              <a:t>이라고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2" name="직사각형 2">
            <a:extLst>
              <a:ext uri="{FF2B5EF4-FFF2-40B4-BE49-F238E27FC236}">
                <a16:creationId xmlns:a16="http://schemas.microsoft.com/office/drawing/2014/main" id="{33339EA8-27D5-0A9A-6D11-CF7106005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787" y="1556075"/>
            <a:ext cx="3744384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발명의 </a:t>
            </a:r>
            <a:r>
              <a:rPr lang="ko-KR" altLang="en-US" sz="1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설명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B37B208-B874-F9E1-FFC7-3F16E72591C5}"/>
              </a:ext>
            </a:extLst>
          </p:cNvPr>
          <p:cNvSpPr/>
          <p:nvPr/>
        </p:nvSpPr>
        <p:spPr>
          <a:xfrm>
            <a:off x="7384826" y="2403367"/>
            <a:ext cx="3112845" cy="921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A7C863F-E099-8CAF-6922-4BE89441448C}"/>
              </a:ext>
            </a:extLst>
          </p:cNvPr>
          <p:cNvSpPr/>
          <p:nvPr/>
        </p:nvSpPr>
        <p:spPr bwMode="auto">
          <a:xfrm>
            <a:off x="9253008" y="2099585"/>
            <a:ext cx="1244663" cy="28733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발명의 동기</a:t>
            </a:r>
            <a:endParaRPr lang="en-US" altLang="ko-KR" sz="14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E9160D-0BF2-24CD-2A83-A6E794EB7786}"/>
              </a:ext>
            </a:extLst>
          </p:cNvPr>
          <p:cNvSpPr/>
          <p:nvPr/>
        </p:nvSpPr>
        <p:spPr bwMode="auto">
          <a:xfrm>
            <a:off x="7672692" y="5014799"/>
            <a:ext cx="3744384" cy="288925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【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실시예 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3</a:t>
            </a:r>
            <a:r>
              <a:rPr lang="en-US" altLang="ko-KR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】x, y, z, w</a:t>
            </a:r>
            <a:r>
              <a:rPr lang="ko-KR" altLang="en-US" sz="14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를 포함하는 발명</a:t>
            </a:r>
            <a:endParaRPr lang="en-US" altLang="ko-KR" sz="14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D79526F6-2442-9FEC-A1DA-F24DEC86DD4A}"/>
              </a:ext>
            </a:extLst>
          </p:cNvPr>
          <p:cNvSpPr/>
          <p:nvPr/>
        </p:nvSpPr>
        <p:spPr>
          <a:xfrm>
            <a:off x="10583853" y="4487332"/>
            <a:ext cx="739318" cy="216045"/>
          </a:xfrm>
          <a:prstGeom prst="wedgeRoundRectCallout">
            <a:avLst>
              <a:gd name="adj1" fmla="val -82445"/>
              <a:gd name="adj2" fmla="val -32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</a:t>
            </a:r>
            <a:r>
              <a:rPr lang="ko-KR" altLang="en-US" sz="1200" dirty="0"/>
              <a:t>발명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2D84AD0E-C0A0-E35E-74A1-DBDDC276682D}"/>
              </a:ext>
            </a:extLst>
          </p:cNvPr>
          <p:cNvSpPr/>
          <p:nvPr/>
        </p:nvSpPr>
        <p:spPr>
          <a:xfrm>
            <a:off x="10682165" y="4804222"/>
            <a:ext cx="739318" cy="216045"/>
          </a:xfrm>
          <a:prstGeom prst="wedgeRoundRectCallout">
            <a:avLst>
              <a:gd name="adj1" fmla="val -82445"/>
              <a:gd name="adj2" fmla="val -32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</a:t>
            </a:r>
            <a:r>
              <a:rPr lang="ko-KR" altLang="en-US" sz="1200" dirty="0"/>
              <a:t>발명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B1140AC5-8CAE-3C0C-D14C-58383B7C03AB}"/>
              </a:ext>
            </a:extLst>
          </p:cNvPr>
          <p:cNvSpPr/>
          <p:nvPr/>
        </p:nvSpPr>
        <p:spPr>
          <a:xfrm>
            <a:off x="10932169" y="5128785"/>
            <a:ext cx="739318" cy="216045"/>
          </a:xfrm>
          <a:prstGeom prst="wedgeRoundRectCallout">
            <a:avLst>
              <a:gd name="adj1" fmla="val -82445"/>
              <a:gd name="adj2" fmla="val -32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</a:t>
            </a:r>
            <a:r>
              <a:rPr lang="ko-KR" altLang="en-US" sz="1200" dirty="0"/>
              <a:t>발명</a:t>
            </a:r>
          </a:p>
        </p:txBody>
      </p:sp>
    </p:spTree>
    <p:extLst>
      <p:ext uri="{BB962C8B-B14F-4D97-AF65-F5344CB8AC3E}">
        <p14:creationId xmlns:p14="http://schemas.microsoft.com/office/powerpoint/2010/main" val="756145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배경기술의 기재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127</a:t>
            </a:fld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문제가 되는 것은 배경기술에 기재된 경우 이를 </a:t>
            </a:r>
            <a:r>
              <a:rPr lang="ko-KR" altLang="en-US" sz="1400" dirty="0" err="1">
                <a:solidFill>
                  <a:schemeClr val="tx2"/>
                </a:solidFill>
              </a:rPr>
              <a:t>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진보성을 부정하는 공지기술로 볼 수 있느냐는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기존 대법원 </a:t>
            </a:r>
            <a:r>
              <a:rPr lang="en-US" altLang="ko-KR" sz="1400" dirty="0">
                <a:solidFill>
                  <a:schemeClr val="tx2"/>
                </a:solidFill>
              </a:rPr>
              <a:t>2005. 12. 23.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2004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2031 </a:t>
            </a:r>
            <a:r>
              <a:rPr lang="ko-KR" altLang="en-US" sz="1400" dirty="0">
                <a:solidFill>
                  <a:schemeClr val="tx2"/>
                </a:solidFill>
              </a:rPr>
              <a:t>판결 등은 특별한 사정이 없는 한 공지기술로 보아야 한다는 입장이었으나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2017. 1. 19.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2013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37 </a:t>
            </a:r>
            <a:r>
              <a:rPr lang="ko-KR" altLang="en-US" sz="1400" dirty="0">
                <a:solidFill>
                  <a:schemeClr val="tx2"/>
                </a:solidFill>
              </a:rPr>
              <a:t>전원합의체 판결은 이러한 종래의 판결을 변경하면서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명세서에 배경기술로 기재되어 있다고 하여 그 자체로 공지기술로 볼 수 없다</a:t>
            </a:r>
            <a:r>
              <a:rPr lang="ko-KR" altLang="en-US" sz="1400" dirty="0">
                <a:solidFill>
                  <a:schemeClr val="tx2"/>
                </a:solidFill>
              </a:rPr>
              <a:t>고 판시하였다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 전 공지된 것인지는 사실인정의 문제인데 배경기술이라는 항목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명세서의 기재형식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에 기재했다는 것에 근거하여 공지기술로 간주하는 태도는 객관적 진실에 반하는 결과를 낳을 수 있고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더욱이 배경기술이란 공개 여부는 묻지 않고 출원 전 존재한 기술을 말하는 것이기 때문이다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실제로는 출원 당시 아직 공개되지 아니한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선출원발명이나</a:t>
            </a:r>
            <a:r>
              <a:rPr lang="ko-KR" altLang="en-US" sz="1400" dirty="0">
                <a:solidFill>
                  <a:schemeClr val="tx2"/>
                </a:solidFill>
              </a:rPr>
              <a:t> 출원인의 회사 내부에만 알려져 있었던 기술을 배경기술에 기재할 수 있는데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이를 공지기술이라고 단정할 수는 없는 것이다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38513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cxnSpLocks/>
          </p:cNvCxnSpPr>
          <p:nvPr/>
        </p:nvCxnSpPr>
        <p:spPr>
          <a:xfrm>
            <a:off x="465826" y="3606370"/>
            <a:ext cx="1143956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670699" y="4784981"/>
            <a:ext cx="1749714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배경기술에 기재된 일부 구성요소가 공지되었음을 자인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2260460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5092547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거절결정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339596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심판청구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596718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기각심결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866718" y="3464008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소제기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2695973" y="4427181"/>
            <a:ext cx="1724440" cy="3004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</a:rPr>
              <a:t>의견서</a:t>
            </a:r>
            <a:r>
              <a:rPr lang="en-US" altLang="ko-KR" sz="1600" dirty="0">
                <a:solidFill>
                  <a:schemeClr val="bg1"/>
                </a:solidFill>
              </a:rPr>
              <a:t>/</a:t>
            </a:r>
            <a:r>
              <a:rPr lang="ko-KR" altLang="en-US" sz="1600" dirty="0">
                <a:solidFill>
                  <a:schemeClr val="bg1"/>
                </a:solidFill>
              </a:rPr>
              <a:t>보정서</a:t>
            </a:r>
          </a:p>
        </p:txBody>
      </p:sp>
      <p:cxnSp>
        <p:nvCxnSpPr>
          <p:cNvPr id="5" name="직선 화살표 연결선 4"/>
          <p:cNvCxnSpPr>
            <a:stCxn id="21" idx="0"/>
          </p:cNvCxnSpPr>
          <p:nvPr/>
        </p:nvCxnSpPr>
        <p:spPr>
          <a:xfrm flipV="1">
            <a:off x="3558193" y="3622849"/>
            <a:ext cx="0" cy="8043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11482" y="5936447"/>
            <a:ext cx="1749714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별도의 </a:t>
            </a:r>
            <a:r>
              <a:rPr lang="ko-KR" altLang="en-US" sz="1200" dirty="0" err="1"/>
              <a:t>증거없이도</a:t>
            </a:r>
            <a:r>
              <a:rPr lang="ko-KR" altLang="en-US" sz="1200" dirty="0"/>
              <a:t> 공지된 것으로 추정한 후 심사 진행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736756" y="5578647"/>
            <a:ext cx="1724440" cy="3004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실체심사</a:t>
            </a:r>
          </a:p>
        </p:txBody>
      </p:sp>
      <p:cxnSp>
        <p:nvCxnSpPr>
          <p:cNvPr id="30" name="직선 화살표 연결선 29"/>
          <p:cNvCxnSpPr>
            <a:stCxn id="29" idx="0"/>
          </p:cNvCxnSpPr>
          <p:nvPr/>
        </p:nvCxnSpPr>
        <p:spPr>
          <a:xfrm flipH="1" flipV="1">
            <a:off x="4586339" y="3622850"/>
            <a:ext cx="12637" cy="195579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10451757" y="3614228"/>
            <a:ext cx="0" cy="8043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40727" y="4432607"/>
            <a:ext cx="508767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실제로는 출원 당시 아직 공개되지 아니한 </a:t>
            </a:r>
            <a:r>
              <a:rPr lang="ko-KR" altLang="en-US" sz="1600" dirty="0" err="1">
                <a:solidFill>
                  <a:srgbClr val="FF0000"/>
                </a:solidFill>
              </a:rPr>
              <a:t>선출원발명이나</a:t>
            </a:r>
            <a:r>
              <a:rPr lang="ko-KR" altLang="en-US" sz="1600" dirty="0">
                <a:solidFill>
                  <a:srgbClr val="FF0000"/>
                </a:solidFill>
              </a:rPr>
              <a:t> 출원인의 회사 내부에만 알려져 있었던 기술을 착오로 공지된 것으로 잘못 기재하였음이 밝혀짐 </a:t>
            </a:r>
            <a:r>
              <a:rPr lang="en-US" altLang="ko-KR" sz="16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ko-KR" altLang="en-US" sz="1600" dirty="0">
                <a:solidFill>
                  <a:srgbClr val="FF0000"/>
                </a:solidFill>
                <a:sym typeface="Wingdings" pitchFamily="2" charset="2"/>
              </a:rPr>
              <a:t>추정 번복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858366-AD6A-494C-B97E-97EE0F99E849}"/>
              </a:ext>
            </a:extLst>
          </p:cNvPr>
          <p:cNvSpPr/>
          <p:nvPr/>
        </p:nvSpPr>
        <p:spPr>
          <a:xfrm>
            <a:off x="431831" y="3381073"/>
            <a:ext cx="1222916" cy="46630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공지기술</a:t>
            </a:r>
            <a:r>
              <a:rPr lang="en-US" altLang="ko-KR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(A)</a:t>
            </a:r>
            <a:endParaRPr lang="ko-KR" alt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D25404-45B7-B5E0-D1BC-AB1F71FE8A9A}"/>
              </a:ext>
            </a:extLst>
          </p:cNvPr>
          <p:cNvSpPr/>
          <p:nvPr/>
        </p:nvSpPr>
        <p:spPr>
          <a:xfrm>
            <a:off x="1969198" y="2513404"/>
            <a:ext cx="1591582" cy="5694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배경기술에 </a:t>
            </a:r>
            <a:r>
              <a:rPr lang="en-US" altLang="ko-KR" sz="1600" dirty="0">
                <a:solidFill>
                  <a:schemeClr val="tx1"/>
                </a:solidFill>
              </a:rPr>
              <a:t>A</a:t>
            </a:r>
            <a:r>
              <a:rPr lang="ko-KR" altLang="en-US" sz="1600" dirty="0">
                <a:solidFill>
                  <a:schemeClr val="tx1"/>
                </a:solidFill>
              </a:rPr>
              <a:t>를 기재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5D72E51-2DCD-017C-EB9D-E8E7839CA04F}"/>
              </a:ext>
            </a:extLst>
          </p:cNvPr>
          <p:cNvCxnSpPr>
            <a:cxnSpLocks/>
            <a:stCxn id="8" idx="2"/>
            <a:endCxn id="99" idx="0"/>
          </p:cNvCxnSpPr>
          <p:nvPr/>
        </p:nvCxnSpPr>
        <p:spPr>
          <a:xfrm flipH="1">
            <a:off x="2758599" y="3082838"/>
            <a:ext cx="6390" cy="38117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4A7B93D-5C5E-27B8-9FA7-FA08FB1A99E2}"/>
              </a:ext>
            </a:extLst>
          </p:cNvPr>
          <p:cNvCxnSpPr>
            <a:stCxn id="8" idx="1"/>
            <a:endCxn id="7" idx="0"/>
          </p:cNvCxnSpPr>
          <p:nvPr/>
        </p:nvCxnSpPr>
        <p:spPr>
          <a:xfrm flipH="1">
            <a:off x="1043289" y="2798121"/>
            <a:ext cx="925909" cy="58295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D98C4D-AE3C-B67B-0141-FEA44B205607}"/>
              </a:ext>
            </a:extLst>
          </p:cNvPr>
          <p:cNvSpPr txBox="1"/>
          <p:nvPr/>
        </p:nvSpPr>
        <p:spPr>
          <a:xfrm>
            <a:off x="733200" y="2596338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인정</a:t>
            </a:r>
            <a:r>
              <a:rPr lang="en-US" altLang="ko-KR" sz="2400" dirty="0">
                <a:solidFill>
                  <a:srgbClr val="FF0000"/>
                </a:solidFill>
              </a:rPr>
              <a:t>?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6177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뒷받침 요건의 판단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 err="1"/>
              <a:t>발명의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설명에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뒷받침되고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있는지는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특허출원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당시의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기술수준을</a:t>
            </a:r>
            <a:r>
              <a:rPr lang="en-US" altLang="ko-KR" sz="1400" dirty="0"/>
              <a:t> </a:t>
            </a:r>
            <a:r>
              <a:rPr lang="en-US" altLang="ko-KR" sz="1400" dirty="0" err="1"/>
              <a:t>기준으로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하여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통상의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기술자의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입장에서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청구항에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적혀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있는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사항과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대응되는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사항이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발명의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설명에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적혀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있는지에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의하여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판단하여야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한다</a:t>
            </a:r>
            <a:r>
              <a:rPr lang="en-US" altLang="ko-KR" sz="1400" dirty="0"/>
              <a:t>. </a:t>
            </a:r>
            <a:r>
              <a:rPr lang="ko-KR" altLang="en-US" sz="1400" dirty="0"/>
              <a:t>출원시의 기술상식에 비추어 보더라도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발명의 설명에 개시된 내용을 청구범위에 기재된 발명의 범위까지 확장 내지 일반화할 수 없는 경우</a:t>
            </a:r>
            <a:r>
              <a:rPr lang="ko-KR" altLang="en-US" sz="1400" dirty="0"/>
              <a:t>에는 그 청구범위는 발명의 설명에 의하여 뒷받침된다고 볼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17331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다이아몬드 21"/>
          <p:cNvSpPr/>
          <p:nvPr/>
        </p:nvSpPr>
        <p:spPr>
          <a:xfrm>
            <a:off x="3039567" y="2387595"/>
            <a:ext cx="1972733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형식적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판단</a:t>
            </a:r>
          </a:p>
        </p:txBody>
      </p:sp>
      <p:sp>
        <p:nvSpPr>
          <p:cNvPr id="23" name="다이아몬드 22"/>
          <p:cNvSpPr/>
          <p:nvPr/>
        </p:nvSpPr>
        <p:spPr>
          <a:xfrm>
            <a:off x="3039567" y="3936988"/>
            <a:ext cx="1972733" cy="115146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실질적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판단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05956" y="2709349"/>
            <a:ext cx="160020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42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호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위반되지 않음</a:t>
            </a:r>
          </a:p>
        </p:txBody>
      </p:sp>
      <p:cxnSp>
        <p:nvCxnSpPr>
          <p:cNvPr id="26" name="직선 화살표 연결선 25"/>
          <p:cNvCxnSpPr>
            <a:stCxn id="22" idx="1"/>
            <a:endCxn id="24" idx="3"/>
          </p:cNvCxnSpPr>
          <p:nvPr/>
        </p:nvCxnSpPr>
        <p:spPr>
          <a:xfrm flipH="1" flipV="1">
            <a:off x="2506156" y="2961244"/>
            <a:ext cx="533411" cy="20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3225829" y="5626085"/>
            <a:ext cx="1600200" cy="5037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42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호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위반됨</a:t>
            </a:r>
          </a:p>
        </p:txBody>
      </p:sp>
      <p:cxnSp>
        <p:nvCxnSpPr>
          <p:cNvPr id="32" name="직선 화살표 연결선 31"/>
          <p:cNvCxnSpPr>
            <a:stCxn id="22" idx="2"/>
            <a:endCxn id="23" idx="0"/>
          </p:cNvCxnSpPr>
          <p:nvPr/>
        </p:nvCxnSpPr>
        <p:spPr>
          <a:xfrm>
            <a:off x="4025934" y="3539062"/>
            <a:ext cx="0" cy="3979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3" idx="2"/>
            <a:endCxn id="31" idx="0"/>
          </p:cNvCxnSpPr>
          <p:nvPr/>
        </p:nvCxnSpPr>
        <p:spPr>
          <a:xfrm flipH="1">
            <a:off x="4025929" y="5088455"/>
            <a:ext cx="5" cy="5376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30169" y="3539053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4030169" y="5095660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2662795" y="2689897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2662795" y="4244769"/>
            <a:ext cx="48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6" name="꺾인 연결선 5"/>
          <p:cNvCxnSpPr>
            <a:stCxn id="23" idx="1"/>
            <a:endCxn id="24" idx="2"/>
          </p:cNvCxnSpPr>
          <p:nvPr/>
        </p:nvCxnSpPr>
        <p:spPr>
          <a:xfrm rot="10800000">
            <a:off x="1706057" y="3213138"/>
            <a:ext cx="1333511" cy="129958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81600" y="2816035"/>
            <a:ext cx="6485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청구항에</a:t>
            </a:r>
            <a:r>
              <a:rPr lang="ko-KR" altLang="en-US" sz="1400" dirty="0"/>
              <a:t> 기재된 </a:t>
            </a:r>
            <a:r>
              <a:rPr lang="en-US" altLang="ko-KR" sz="1400" dirty="0"/>
              <a:t>A </a:t>
            </a:r>
            <a:r>
              <a:rPr lang="ko-KR" altLang="en-US" sz="1400" dirty="0"/>
              <a:t>발명이 발명의 설명에도 기재되어 있는지 여부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1600" y="4250308"/>
            <a:ext cx="6485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발명의 설명에 기재된 발명의 범위를 확장 내지 일반화하면 </a:t>
            </a:r>
            <a:r>
              <a:rPr lang="ko-KR" altLang="en-US" sz="1400" dirty="0" err="1"/>
              <a:t>청구항에</a:t>
            </a:r>
            <a:r>
              <a:rPr lang="ko-KR" altLang="en-US" sz="1400" dirty="0"/>
              <a:t> 기재된 </a:t>
            </a:r>
            <a:r>
              <a:rPr lang="en-US" altLang="ko-KR" sz="1400" dirty="0"/>
              <a:t>A </a:t>
            </a:r>
            <a:r>
              <a:rPr lang="ko-KR" altLang="en-US" sz="1400" dirty="0"/>
              <a:t>발명에 이를 수 있는지 여부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0766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 err="1"/>
              <a:t>호과</a:t>
            </a:r>
            <a:r>
              <a:rPr lang="ko-KR" altLang="en-US" dirty="0"/>
              <a:t> 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항의 판단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129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9B9D5D0-4BEE-4CFD-A48C-A1A1F08F3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064035"/>
              </p:ext>
            </p:extLst>
          </p:nvPr>
        </p:nvGraphicFramePr>
        <p:xfrm>
          <a:off x="601134" y="3525744"/>
          <a:ext cx="10989732" cy="3139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53733">
                  <a:extLst>
                    <a:ext uri="{9D8B030D-6E8A-4147-A177-3AD203B41FA5}">
                      <a16:colId xmlns:a16="http://schemas.microsoft.com/office/drawing/2014/main" val="4152084408"/>
                    </a:ext>
                  </a:extLst>
                </a:gridCol>
                <a:gridCol w="4097867">
                  <a:extLst>
                    <a:ext uri="{9D8B030D-6E8A-4147-A177-3AD203B41FA5}">
                      <a16:colId xmlns:a16="http://schemas.microsoft.com/office/drawing/2014/main" val="1715484243"/>
                    </a:ext>
                  </a:extLst>
                </a:gridCol>
                <a:gridCol w="4538132">
                  <a:extLst>
                    <a:ext uri="{9D8B030D-6E8A-4147-A177-3AD203B41FA5}">
                      <a16:colId xmlns:a16="http://schemas.microsoft.com/office/drawing/2014/main" val="1893536710"/>
                    </a:ext>
                  </a:extLst>
                </a:gridCol>
              </a:tblGrid>
              <a:tr h="1454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기재요건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취지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판단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8690"/>
                  </a:ext>
                </a:extLst>
              </a:tr>
              <a:tr h="451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호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실시가능요건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특허출원된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내용을 제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 발명의 설명만으로 쉽게 알 수 있도록 공개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특허권으로 보호받고자 하는 기술적 내용과 범위를 명확하게 하기 위한 것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통상의 기술자가 출원 시의 기술 수준으로 보아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과도한 실험이나 특수한 지식을 부가하지 않고서도 발명의 설명의 기재에 의하여 그 발명을 정확하게 이해할 수 있고 동시에 재현할 수 있는 정도로 기재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되었는지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023678"/>
                  </a:ext>
                </a:extLst>
              </a:tr>
              <a:tr h="451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호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뒷받침요건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설명에 적지 아니함에 따라 공개하지 아니한 사항을 청구범위에 청구항으로 적어 특허권이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부여되면 공개하지 아니한 발명에 대하여 특허권이 부여되는 결과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초래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통상의 기술자가 출원시의 기술상식에 비추어 봤을 때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설명에 개시된 내용을 청구범위에 기재된 발명의 범위까지 확장 내지 일반화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있는지 여부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392062"/>
                  </a:ext>
                </a:extLst>
              </a:tr>
              <a:tr h="451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호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명확성요건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청구항의 기재가 불명확하거나 그 기재내용이 간결하지 아니한 발명은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특허요건 판단 등이 불가능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하며 특허권이 부여되면 발명의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보호범위가 불명확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특허발명의 보호범위를 결정할 수 없기 때문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통상의 기술자가 발명의 설명이나 도면 등의 기재와 출원 당시의 기술상식을 고려하여 청구범위에 기재된 사항으로부터 특허를 받고자 하는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발명을 명확하게 파악할 수 있는지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개별적으로 판단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549754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D63109A5-6DFF-1C40-5990-BF501E609F65}"/>
              </a:ext>
            </a:extLst>
          </p:cNvPr>
          <p:cNvSpPr/>
          <p:nvPr/>
        </p:nvSpPr>
        <p:spPr>
          <a:xfrm>
            <a:off x="5017249" y="1026161"/>
            <a:ext cx="1866900" cy="149860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9647F7D-9FDC-16BB-9C06-900E03D84695}"/>
              </a:ext>
            </a:extLst>
          </p:cNvPr>
          <p:cNvSpPr/>
          <p:nvPr/>
        </p:nvSpPr>
        <p:spPr>
          <a:xfrm>
            <a:off x="5957049" y="1026161"/>
            <a:ext cx="1866900" cy="149860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68248A-3F9A-DFF1-32C7-58D5277BB52E}"/>
              </a:ext>
            </a:extLst>
          </p:cNvPr>
          <p:cNvSpPr/>
          <p:nvPr/>
        </p:nvSpPr>
        <p:spPr>
          <a:xfrm>
            <a:off x="4433049" y="1466548"/>
            <a:ext cx="1168400" cy="6037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호 위반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378E9D-9FAD-C2A6-0FCA-004FB130EDD2}"/>
              </a:ext>
            </a:extLst>
          </p:cNvPr>
          <p:cNvSpPr/>
          <p:nvPr/>
        </p:nvSpPr>
        <p:spPr>
          <a:xfrm>
            <a:off x="7328649" y="1395149"/>
            <a:ext cx="1168400" cy="603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호 위반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D31A-7E05-E84C-261B-263F97DD62E4}"/>
              </a:ext>
            </a:extLst>
          </p:cNvPr>
          <p:cNvSpPr txBox="1"/>
          <p:nvPr/>
        </p:nvSpPr>
        <p:spPr>
          <a:xfrm>
            <a:off x="8775700" y="1026161"/>
            <a:ext cx="1273105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청구범위</a:t>
            </a:r>
            <a:r>
              <a:rPr lang="en-US" altLang="ko-KR" sz="1400" dirty="0"/>
              <a:t>: A, B</a:t>
            </a:r>
          </a:p>
          <a:p>
            <a:r>
              <a:rPr lang="ko-KR" altLang="en-US" sz="1400" dirty="0"/>
              <a:t>발명의 설명</a:t>
            </a:r>
            <a:r>
              <a:rPr lang="en-US" altLang="ko-KR" sz="1400" dirty="0"/>
              <a:t>: A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E591D-3928-4432-9D18-14EB0F819AAC}"/>
              </a:ext>
            </a:extLst>
          </p:cNvPr>
          <p:cNvSpPr txBox="1"/>
          <p:nvPr/>
        </p:nvSpPr>
        <p:spPr>
          <a:xfrm>
            <a:off x="8686799" y="1658626"/>
            <a:ext cx="306070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통상의 기술자가 출원시의 기술상식에 비추어 봤을 때 </a:t>
            </a:r>
            <a:r>
              <a:rPr lang="ko-KR" altLang="en-US" sz="1200" dirty="0"/>
              <a:t>발명의 설명에 기재된 </a:t>
            </a:r>
            <a:r>
              <a:rPr lang="en-US" altLang="ko-KR" sz="1200" dirty="0"/>
              <a:t>A</a:t>
            </a:r>
            <a:r>
              <a:rPr lang="ko-KR" altLang="en-US" sz="1200" dirty="0"/>
              <a:t>로부터 청구범위에 기재된 </a:t>
            </a:r>
            <a:r>
              <a:rPr lang="en-US" altLang="ko-KR" sz="1200" dirty="0"/>
              <a:t>B</a:t>
            </a:r>
            <a:r>
              <a:rPr lang="ko-KR" altLang="en-US" sz="1200" dirty="0"/>
              <a:t>까지 확장 내지 일반화될 수 없는 경우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6412D-B4B1-FC32-CE44-615BCC044D64}"/>
              </a:ext>
            </a:extLst>
          </p:cNvPr>
          <p:cNvSpPr txBox="1"/>
          <p:nvPr/>
        </p:nvSpPr>
        <p:spPr>
          <a:xfrm>
            <a:off x="1631576" y="1026161"/>
            <a:ext cx="1975975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청구범위</a:t>
            </a:r>
            <a:r>
              <a:rPr lang="en-US" altLang="ko-KR" sz="1400" dirty="0"/>
              <a:t>:  A</a:t>
            </a:r>
          </a:p>
          <a:p>
            <a:r>
              <a:rPr lang="ko-KR" altLang="en-US" sz="1400" dirty="0"/>
              <a:t>발명의 설명</a:t>
            </a:r>
            <a:r>
              <a:rPr lang="en-US" altLang="ko-KR" sz="1400" dirty="0"/>
              <a:t>:   A,  B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2A3D7-A0CE-92EB-8C83-2569A4B1937D}"/>
              </a:ext>
            </a:extLst>
          </p:cNvPr>
          <p:cNvSpPr txBox="1"/>
          <p:nvPr/>
        </p:nvSpPr>
        <p:spPr>
          <a:xfrm>
            <a:off x="689750" y="1595126"/>
            <a:ext cx="3248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통상의 기술자가 출원 시의 기술 수준으로 보아 과도한 실험이나 특수한 지식을 부가하지 않고서도 발명의 설명에 기재에 의하여 청구범위에 기재된 </a:t>
            </a:r>
            <a:r>
              <a:rPr lang="en-US" altLang="ko-KR" sz="1200" dirty="0"/>
              <a:t>A </a:t>
            </a:r>
            <a:r>
              <a:rPr lang="ko-KR" altLang="en-US" sz="1200" dirty="0"/>
              <a:t>발명을 정확하게 이해할 수 있고 동시에 재현할 수 있는 정도로 기재되지 않은 경우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B</a:t>
            </a:r>
            <a:r>
              <a:rPr lang="ko-KR" altLang="en-US" sz="1200" dirty="0"/>
              <a:t>는 발명의 설명 기재에 오류가 있더라도 무관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BD0690D-B233-30EF-8CC3-CAB815BAC5A6}"/>
              </a:ext>
            </a:extLst>
          </p:cNvPr>
          <p:cNvCxnSpPr/>
          <p:nvPr/>
        </p:nvCxnSpPr>
        <p:spPr>
          <a:xfrm>
            <a:off x="295301" y="3283325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D9FC0124-EC26-5792-58B3-AEFDF0827FB6}"/>
              </a:ext>
            </a:extLst>
          </p:cNvPr>
          <p:cNvSpPr/>
          <p:nvPr/>
        </p:nvSpPr>
        <p:spPr>
          <a:xfrm>
            <a:off x="2428119" y="1013885"/>
            <a:ext cx="292849" cy="2936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6D3737F-2F87-B274-A459-8FF661F3B748}"/>
              </a:ext>
            </a:extLst>
          </p:cNvPr>
          <p:cNvSpPr/>
          <p:nvPr/>
        </p:nvSpPr>
        <p:spPr>
          <a:xfrm>
            <a:off x="2694443" y="1255719"/>
            <a:ext cx="292849" cy="2936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F76A895C-A8E7-6FD7-190E-FEFCCC5886AE}"/>
              </a:ext>
            </a:extLst>
          </p:cNvPr>
          <p:cNvSpPr/>
          <p:nvPr/>
        </p:nvSpPr>
        <p:spPr>
          <a:xfrm>
            <a:off x="3305168" y="717711"/>
            <a:ext cx="1212472" cy="395105"/>
          </a:xfrm>
          <a:prstGeom prst="borderCallout2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해결수단</a:t>
            </a:r>
          </a:p>
        </p:txBody>
      </p:sp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55D87B22-AE2E-BEF4-4CE4-318703AC70D0}"/>
              </a:ext>
            </a:extLst>
          </p:cNvPr>
          <p:cNvSpPr/>
          <p:nvPr/>
        </p:nvSpPr>
        <p:spPr>
          <a:xfrm>
            <a:off x="2959101" y="2779940"/>
            <a:ext cx="9044640" cy="395105"/>
          </a:xfrm>
          <a:prstGeom prst="borderCallout2">
            <a:avLst>
              <a:gd name="adj1" fmla="val 52784"/>
              <a:gd name="adj2" fmla="val -791"/>
              <a:gd name="adj3" fmla="val 57322"/>
              <a:gd name="adj4" fmla="val -4176"/>
              <a:gd name="adj5" fmla="val -320868"/>
              <a:gd name="adj6" fmla="val -929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발명의 명칭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기술분야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배경기술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발명의 내용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해결과제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해결수단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효과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도면의 간단한 설명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,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 실시예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2AEBD-A490-9F25-1005-6B41B5210F3E}"/>
              </a:ext>
            </a:extLst>
          </p:cNvPr>
          <p:cNvSpPr txBox="1"/>
          <p:nvPr/>
        </p:nvSpPr>
        <p:spPr>
          <a:xfrm>
            <a:off x="162942" y="1001338"/>
            <a:ext cx="1164101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판단대상</a:t>
            </a:r>
            <a:r>
              <a:rPr lang="en-US" altLang="ko-KR" sz="16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발명의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88AEB6-E75C-8EAD-A409-6495D11BE518}"/>
              </a:ext>
            </a:extLst>
          </p:cNvPr>
          <p:cNvSpPr txBox="1"/>
          <p:nvPr/>
        </p:nvSpPr>
        <p:spPr>
          <a:xfrm>
            <a:off x="10327456" y="1001338"/>
            <a:ext cx="979755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판단대상</a:t>
            </a:r>
            <a:r>
              <a:rPr lang="en-US" altLang="ko-KR" sz="16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청구범위</a:t>
            </a:r>
          </a:p>
        </p:txBody>
      </p:sp>
    </p:spTree>
    <p:extLst>
      <p:ext uri="{BB962C8B-B14F-4D97-AF65-F5344CB8AC3E}">
        <p14:creationId xmlns:p14="http://schemas.microsoft.com/office/powerpoint/2010/main" val="31512228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청구항 구성요소의 기재방법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6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 err="1"/>
              <a:t>보드마카를</a:t>
            </a:r>
            <a:r>
              <a:rPr lang="ko-KR" altLang="en-US" sz="1400" dirty="0"/>
              <a:t> 발명한 경우 </a:t>
            </a:r>
            <a:r>
              <a:rPr lang="ko-KR" altLang="en-US" sz="1400" dirty="0" err="1"/>
              <a:t>출원인은</a:t>
            </a:r>
            <a:r>
              <a:rPr lang="ko-KR" altLang="en-US" sz="1400" dirty="0"/>
              <a:t> 다양한 방법에 의하여 </a:t>
            </a:r>
            <a:r>
              <a:rPr lang="ko-KR" altLang="en-US" sz="1400" dirty="0" err="1"/>
              <a:t>보드마카의</a:t>
            </a:r>
            <a:r>
              <a:rPr lang="ko-KR" altLang="en-US" sz="1400" dirty="0"/>
              <a:t> 구성요소를 특정하여 </a:t>
            </a:r>
            <a:r>
              <a:rPr lang="ko-KR" altLang="en-US" sz="1400" dirty="0" err="1"/>
              <a:t>청구항에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보드마카의</a:t>
            </a:r>
            <a:r>
              <a:rPr lang="ko-KR" altLang="en-US" sz="1400" dirty="0"/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구조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(structure) </a:t>
            </a:r>
            <a:r>
              <a:rPr lang="en-US" altLang="ko-KR" sz="1400" dirty="0"/>
              <a:t>A, B</a:t>
            </a:r>
            <a:r>
              <a:rPr lang="ko-KR" altLang="en-US" sz="1400" dirty="0"/>
              <a:t>를 알고 있는 경우에는 「</a:t>
            </a:r>
            <a:r>
              <a:rPr lang="en-US" altLang="ko-KR" sz="1400" dirty="0"/>
              <a:t>A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일측에</a:t>
            </a:r>
            <a:r>
              <a:rPr lang="ko-KR" altLang="en-US" sz="1400" dirty="0"/>
              <a:t> </a:t>
            </a:r>
            <a:r>
              <a:rPr lang="en-US" altLang="ko-KR" sz="1400" dirty="0"/>
              <a:t>B</a:t>
            </a:r>
            <a:r>
              <a:rPr lang="ko-KR" altLang="en-US" sz="1400" dirty="0"/>
              <a:t>가 결합된 </a:t>
            </a:r>
            <a:r>
              <a:rPr lang="ko-KR" altLang="en-US" sz="1400" dirty="0" err="1"/>
              <a:t>보드마카</a:t>
            </a:r>
            <a:r>
              <a:rPr lang="ko-KR" altLang="en-US" sz="1400" dirty="0"/>
              <a:t>」와 같이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구조를 알고 있지 아니한 경우에는 구조가 갖는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기능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(function)</a:t>
            </a:r>
            <a:r>
              <a:rPr lang="en-US" altLang="ko-KR" sz="1400" dirty="0"/>
              <a:t>(A</a:t>
            </a:r>
            <a:r>
              <a:rPr lang="ko-KR" altLang="en-US" sz="1400" dirty="0"/>
              <a:t>는 필기하는 기능</a:t>
            </a:r>
            <a:r>
              <a:rPr lang="en-US" altLang="ko-KR" sz="1400" dirty="0"/>
              <a:t>, B</a:t>
            </a:r>
            <a:r>
              <a:rPr lang="ko-KR" altLang="en-US" sz="1400" dirty="0"/>
              <a:t>는 지지하는 기능</a:t>
            </a:r>
            <a:r>
              <a:rPr lang="en-US" altLang="ko-KR" sz="1400" dirty="0"/>
              <a:t>)</a:t>
            </a:r>
            <a:r>
              <a:rPr lang="ko-KR" altLang="en-US" sz="1400" dirty="0"/>
              <a:t>을 특정하여 「필기수단의 </a:t>
            </a:r>
            <a:r>
              <a:rPr lang="ko-KR" altLang="en-US" sz="1400" dirty="0" err="1"/>
              <a:t>일측에</a:t>
            </a:r>
            <a:r>
              <a:rPr lang="ko-KR" altLang="en-US" sz="1400" dirty="0"/>
              <a:t> 지지수단이 결합된 </a:t>
            </a:r>
            <a:r>
              <a:rPr lang="ko-KR" altLang="en-US" sz="1400" dirty="0" err="1"/>
              <a:t>보드마카</a:t>
            </a:r>
            <a:r>
              <a:rPr lang="ko-KR" altLang="en-US" sz="1400" dirty="0"/>
              <a:t>」와 같이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또한</a:t>
            </a:r>
            <a:r>
              <a:rPr lang="en-US" altLang="ko-KR" sz="1400" dirty="0"/>
              <a:t>, </a:t>
            </a:r>
            <a:r>
              <a:rPr lang="ko-KR" altLang="en-US" sz="1400" dirty="0"/>
              <a:t>구조</a:t>
            </a:r>
            <a:r>
              <a:rPr lang="en-US" altLang="ko-KR" sz="1400" dirty="0"/>
              <a:t>(structure) </a:t>
            </a:r>
            <a:r>
              <a:rPr lang="ko-KR" altLang="en-US" sz="1400" dirty="0"/>
              <a:t>또는 기능</a:t>
            </a:r>
            <a:r>
              <a:rPr lang="en-US" altLang="ko-KR" sz="1400" dirty="0"/>
              <a:t>(function)</a:t>
            </a:r>
            <a:r>
              <a:rPr lang="ko-KR" altLang="en-US" sz="1400" dirty="0"/>
              <a:t>을 알지 못하더라도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제조방법</a:t>
            </a:r>
            <a:r>
              <a:rPr lang="ko-KR" altLang="en-US" sz="1400" dirty="0"/>
              <a:t>을 알고 있는 경우에는 「</a:t>
            </a:r>
            <a:r>
              <a:rPr lang="en-US" altLang="ko-KR" sz="1400" dirty="0"/>
              <a:t>X</a:t>
            </a:r>
            <a:r>
              <a:rPr lang="ko-KR" altLang="en-US" sz="1400" dirty="0" err="1"/>
              <a:t>공정후</a:t>
            </a:r>
            <a:r>
              <a:rPr lang="ko-KR" altLang="en-US" sz="1400" dirty="0"/>
              <a:t> </a:t>
            </a:r>
            <a:r>
              <a:rPr lang="en-US" altLang="ko-KR" sz="1400" dirty="0"/>
              <a:t>Y</a:t>
            </a:r>
            <a:r>
              <a:rPr lang="ko-KR" altLang="en-US" sz="1400" dirty="0"/>
              <a:t>공정을 거치는 방법에 의하여 제조된 </a:t>
            </a:r>
            <a:r>
              <a:rPr lang="ko-KR" altLang="en-US" sz="1400" dirty="0" err="1"/>
              <a:t>보드마카</a:t>
            </a:r>
            <a:r>
              <a:rPr lang="ko-KR" altLang="en-US" sz="1400" dirty="0"/>
              <a:t>」와 같이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적을 수 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출원인은</a:t>
            </a:r>
            <a:r>
              <a:rPr lang="ko-KR" altLang="en-US" sz="1400" dirty="0"/>
              <a:t> 이와 같은 기재방법 중 발명을 보호할 수 있는 가장 적절한 수단을 선택하여 </a:t>
            </a:r>
            <a:r>
              <a:rPr lang="ko-KR" altLang="en-US" sz="1400" dirty="0" err="1"/>
              <a:t>청구항을</a:t>
            </a:r>
            <a:r>
              <a:rPr lang="ko-KR" altLang="en-US" sz="1400" dirty="0"/>
              <a:t> 작성할 수 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15652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5"/>
          <p:cNvSpPr>
            <a:spLocks/>
          </p:cNvSpPr>
          <p:nvPr/>
        </p:nvSpPr>
        <p:spPr bwMode="auto">
          <a:xfrm>
            <a:off x="829705" y="3440113"/>
            <a:ext cx="358775" cy="792162"/>
          </a:xfrm>
          <a:prstGeom prst="rightBrace">
            <a:avLst>
              <a:gd name="adj1" fmla="val 18400"/>
              <a:gd name="adj2" fmla="val 50000"/>
            </a:avLst>
          </a:prstGeom>
          <a:noFill/>
          <a:ln w="2857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Rix모던명조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25" name="AutoShape 6"/>
          <p:cNvSpPr>
            <a:spLocks/>
          </p:cNvSpPr>
          <p:nvPr/>
        </p:nvSpPr>
        <p:spPr bwMode="auto">
          <a:xfrm>
            <a:off x="829705" y="4305300"/>
            <a:ext cx="358775" cy="1152525"/>
          </a:xfrm>
          <a:prstGeom prst="rightBrace">
            <a:avLst>
              <a:gd name="adj1" fmla="val 26770"/>
              <a:gd name="adj2" fmla="val 50000"/>
            </a:avLst>
          </a:prstGeom>
          <a:noFill/>
          <a:ln w="28575">
            <a:solidFill>
              <a:srgbClr val="33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Rix모던명조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1186893" y="3678238"/>
            <a:ext cx="327334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Rix모던명조 L" panose="02020603020101020101" pitchFamily="18" charset="-127"/>
                <a:ea typeface="Rix모던고딕 L" panose="02020603020101020101" pitchFamily="18" charset="-127"/>
              </a:rPr>
              <a:t>A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1186893" y="4737100"/>
            <a:ext cx="31771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Rix모던명조 L" panose="02020603020101020101" pitchFamily="18" charset="-127"/>
                <a:ea typeface="Rix모던고딕 L" panose="02020603020101020101" pitchFamily="18" charset="-127"/>
              </a:rPr>
              <a:t>B</a:t>
            </a: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1548844" y="3729038"/>
            <a:ext cx="1008090" cy="1439862"/>
          </a:xfrm>
          <a:prstGeom prst="rightArrow">
            <a:avLst>
              <a:gd name="adj1" fmla="val 79731"/>
              <a:gd name="adj2" fmla="val 2610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400" b="0" dirty="0" err="1">
                <a:solidFill>
                  <a:srgbClr val="000000"/>
                </a:solidFill>
                <a:latin typeface="+mn-ea"/>
              </a:rPr>
              <a:t>청구항</a:t>
            </a:r>
            <a:endParaRPr lang="ko-KR" altLang="en-US" sz="1400" b="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400" b="0" dirty="0">
                <a:solidFill>
                  <a:srgbClr val="000000"/>
                </a:solidFill>
                <a:latin typeface="+mn-ea"/>
              </a:rPr>
              <a:t>기재</a:t>
            </a:r>
            <a:r>
              <a:rPr lang="en-US" altLang="ko-KR" sz="1400" b="0" dirty="0">
                <a:solidFill>
                  <a:srgbClr val="000000"/>
                </a:solidFill>
                <a:latin typeface="+mn-ea"/>
              </a:rPr>
              <a:t>?</a:t>
            </a:r>
          </a:p>
        </p:txBody>
      </p:sp>
      <p:graphicFrame>
        <p:nvGraphicFramePr>
          <p:cNvPr id="30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791751"/>
              </p:ext>
            </p:extLst>
          </p:nvPr>
        </p:nvGraphicFramePr>
        <p:xfrm>
          <a:off x="2678607" y="2751668"/>
          <a:ext cx="4681538" cy="34967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5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Element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Structure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구조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Function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Method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방법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91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청구항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일측에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 결합된 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보드마카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필기수단의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일측에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지지수단이 결합된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보드마카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공정후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공정을 거치는 방법에 의하여 제조된 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보드마카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9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비고</a:t>
                      </a:r>
                      <a:endParaRPr kumimoji="1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Means plus function Claim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기능식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청구항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Product by Process Claim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(PBP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청구항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7612946" y="2484567"/>
            <a:ext cx="0" cy="40517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9046563" y="3643468"/>
            <a:ext cx="1252728" cy="50201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발명의 본질</a:t>
            </a:r>
          </a:p>
        </p:txBody>
      </p:sp>
      <p:sp>
        <p:nvSpPr>
          <p:cNvPr id="53" name="자유형 52"/>
          <p:cNvSpPr/>
          <p:nvPr/>
        </p:nvSpPr>
        <p:spPr>
          <a:xfrm>
            <a:off x="8541750" y="3038603"/>
            <a:ext cx="2233114" cy="1817130"/>
          </a:xfrm>
          <a:custGeom>
            <a:avLst/>
            <a:gdLst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906073 w 2498501"/>
              <a:gd name="connsiteY6" fmla="*/ 2395471 h 2395471"/>
              <a:gd name="connsiteX7" fmla="*/ 837127 w 2498501"/>
              <a:gd name="connsiteY7" fmla="*/ 2395471 h 2395471"/>
              <a:gd name="connsiteX8" fmla="*/ 0 w 2498501"/>
              <a:gd name="connsiteY8" fmla="*/ 1558344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906073 w 2498501"/>
              <a:gd name="connsiteY6" fmla="*/ 2395471 h 2395471"/>
              <a:gd name="connsiteX7" fmla="*/ 732352 w 2498501"/>
              <a:gd name="connsiteY7" fmla="*/ 2384710 h 2395471"/>
              <a:gd name="connsiteX8" fmla="*/ 0 w 2498501"/>
              <a:gd name="connsiteY8" fmla="*/ 1558344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829873 w 2498501"/>
              <a:gd name="connsiteY6" fmla="*/ 2395471 h 2395471"/>
              <a:gd name="connsiteX7" fmla="*/ 732352 w 2498501"/>
              <a:gd name="connsiteY7" fmla="*/ 2384710 h 2395471"/>
              <a:gd name="connsiteX8" fmla="*/ 0 w 2498501"/>
              <a:gd name="connsiteY8" fmla="*/ 1558344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811369 w 2498501"/>
              <a:gd name="connsiteY0" fmla="*/ 12879 h 2395471"/>
              <a:gd name="connsiteX1" fmla="*/ 811369 w 2498501"/>
              <a:gd name="connsiteY1" fmla="*/ 12879 h 2395471"/>
              <a:gd name="connsiteX2" fmla="*/ 965915 w 2498501"/>
              <a:gd name="connsiteY2" fmla="*/ 12879 h 2395471"/>
              <a:gd name="connsiteX3" fmla="*/ 1777284 w 2498501"/>
              <a:gd name="connsiteY3" fmla="*/ 12879 h 2395471"/>
              <a:gd name="connsiteX4" fmla="*/ 2498501 w 2498501"/>
              <a:gd name="connsiteY4" fmla="*/ 734096 h 2395471"/>
              <a:gd name="connsiteX5" fmla="*/ 2498501 w 2498501"/>
              <a:gd name="connsiteY5" fmla="*/ 1803043 h 2395471"/>
              <a:gd name="connsiteX6" fmla="*/ 1829873 w 2498501"/>
              <a:gd name="connsiteY6" fmla="*/ 2395471 h 2395471"/>
              <a:gd name="connsiteX7" fmla="*/ 732352 w 2498501"/>
              <a:gd name="connsiteY7" fmla="*/ 2384710 h 2395471"/>
              <a:gd name="connsiteX8" fmla="*/ 19050 w 2498501"/>
              <a:gd name="connsiteY8" fmla="*/ 1708993 h 2395471"/>
              <a:gd name="connsiteX9" fmla="*/ 0 w 2498501"/>
              <a:gd name="connsiteY9" fmla="*/ 528034 h 2395471"/>
              <a:gd name="connsiteX10" fmla="*/ 862884 w 2498501"/>
              <a:gd name="connsiteY10" fmla="*/ 0 h 2395471"/>
              <a:gd name="connsiteX0" fmla="*/ 792319 w 2479451"/>
              <a:gd name="connsiteY0" fmla="*/ 12879 h 2395471"/>
              <a:gd name="connsiteX1" fmla="*/ 792319 w 2479451"/>
              <a:gd name="connsiteY1" fmla="*/ 12879 h 2395471"/>
              <a:gd name="connsiteX2" fmla="*/ 946865 w 2479451"/>
              <a:gd name="connsiteY2" fmla="*/ 12879 h 2395471"/>
              <a:gd name="connsiteX3" fmla="*/ 1758234 w 2479451"/>
              <a:gd name="connsiteY3" fmla="*/ 12879 h 2395471"/>
              <a:gd name="connsiteX4" fmla="*/ 2479451 w 2479451"/>
              <a:gd name="connsiteY4" fmla="*/ 734096 h 2395471"/>
              <a:gd name="connsiteX5" fmla="*/ 2479451 w 2479451"/>
              <a:gd name="connsiteY5" fmla="*/ 1803043 h 2395471"/>
              <a:gd name="connsiteX6" fmla="*/ 1810823 w 2479451"/>
              <a:gd name="connsiteY6" fmla="*/ 2395471 h 2395471"/>
              <a:gd name="connsiteX7" fmla="*/ 713302 w 2479451"/>
              <a:gd name="connsiteY7" fmla="*/ 2384710 h 2395471"/>
              <a:gd name="connsiteX8" fmla="*/ 0 w 2479451"/>
              <a:gd name="connsiteY8" fmla="*/ 1708993 h 2395471"/>
              <a:gd name="connsiteX9" fmla="*/ 9525 w 2479451"/>
              <a:gd name="connsiteY9" fmla="*/ 657162 h 2395471"/>
              <a:gd name="connsiteX10" fmla="*/ 843834 w 2479451"/>
              <a:gd name="connsiteY10" fmla="*/ 0 h 2395471"/>
              <a:gd name="connsiteX0" fmla="*/ 792319 w 2479451"/>
              <a:gd name="connsiteY0" fmla="*/ 12879 h 2395471"/>
              <a:gd name="connsiteX1" fmla="*/ 792319 w 2479451"/>
              <a:gd name="connsiteY1" fmla="*/ 12879 h 2395471"/>
              <a:gd name="connsiteX2" fmla="*/ 946865 w 2479451"/>
              <a:gd name="connsiteY2" fmla="*/ 12879 h 2395471"/>
              <a:gd name="connsiteX3" fmla="*/ 1758234 w 2479451"/>
              <a:gd name="connsiteY3" fmla="*/ 12879 h 2395471"/>
              <a:gd name="connsiteX4" fmla="*/ 2479451 w 2479451"/>
              <a:gd name="connsiteY4" fmla="*/ 734096 h 2395471"/>
              <a:gd name="connsiteX5" fmla="*/ 2479451 w 2479451"/>
              <a:gd name="connsiteY5" fmla="*/ 1803043 h 2395471"/>
              <a:gd name="connsiteX6" fmla="*/ 1810823 w 2479451"/>
              <a:gd name="connsiteY6" fmla="*/ 2395471 h 2395471"/>
              <a:gd name="connsiteX7" fmla="*/ 713302 w 2479451"/>
              <a:gd name="connsiteY7" fmla="*/ 2384710 h 2395471"/>
              <a:gd name="connsiteX8" fmla="*/ 0 w 2479451"/>
              <a:gd name="connsiteY8" fmla="*/ 1708993 h 2395471"/>
              <a:gd name="connsiteX9" fmla="*/ 9525 w 2479451"/>
              <a:gd name="connsiteY9" fmla="*/ 657162 h 2395471"/>
              <a:gd name="connsiteX10" fmla="*/ 751876 w 2479451"/>
              <a:gd name="connsiteY10" fmla="*/ 29049 h 2395471"/>
              <a:gd name="connsiteX11" fmla="*/ 843834 w 2479451"/>
              <a:gd name="connsiteY11" fmla="*/ 0 h 2395471"/>
              <a:gd name="connsiteX0" fmla="*/ 792319 w 2479451"/>
              <a:gd name="connsiteY0" fmla="*/ 2118 h 2384710"/>
              <a:gd name="connsiteX1" fmla="*/ 792319 w 2479451"/>
              <a:gd name="connsiteY1" fmla="*/ 2118 h 2384710"/>
              <a:gd name="connsiteX2" fmla="*/ 946865 w 2479451"/>
              <a:gd name="connsiteY2" fmla="*/ 2118 h 2384710"/>
              <a:gd name="connsiteX3" fmla="*/ 1758234 w 2479451"/>
              <a:gd name="connsiteY3" fmla="*/ 2118 h 2384710"/>
              <a:gd name="connsiteX4" fmla="*/ 2479451 w 2479451"/>
              <a:gd name="connsiteY4" fmla="*/ 723335 h 2384710"/>
              <a:gd name="connsiteX5" fmla="*/ 2479451 w 2479451"/>
              <a:gd name="connsiteY5" fmla="*/ 1792282 h 2384710"/>
              <a:gd name="connsiteX6" fmla="*/ 1810823 w 2479451"/>
              <a:gd name="connsiteY6" fmla="*/ 2384710 h 2384710"/>
              <a:gd name="connsiteX7" fmla="*/ 713302 w 2479451"/>
              <a:gd name="connsiteY7" fmla="*/ 2373949 h 2384710"/>
              <a:gd name="connsiteX8" fmla="*/ 0 w 2479451"/>
              <a:gd name="connsiteY8" fmla="*/ 1698232 h 2384710"/>
              <a:gd name="connsiteX9" fmla="*/ 9525 w 2479451"/>
              <a:gd name="connsiteY9" fmla="*/ 646401 h 2384710"/>
              <a:gd name="connsiteX10" fmla="*/ 751876 w 2479451"/>
              <a:gd name="connsiteY10" fmla="*/ 18288 h 2384710"/>
              <a:gd name="connsiteX11" fmla="*/ 799384 w 2479451"/>
              <a:gd name="connsiteY11" fmla="*/ 0 h 2384710"/>
              <a:gd name="connsiteX0" fmla="*/ 792319 w 2479451"/>
              <a:gd name="connsiteY0" fmla="*/ 0 h 2382592"/>
              <a:gd name="connsiteX1" fmla="*/ 792319 w 2479451"/>
              <a:gd name="connsiteY1" fmla="*/ 0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67634 w 2479451"/>
              <a:gd name="connsiteY11" fmla="*/ 5056 h 2382592"/>
              <a:gd name="connsiteX0" fmla="*/ 792319 w 2479451"/>
              <a:gd name="connsiteY0" fmla="*/ 5705 h 2388297"/>
              <a:gd name="connsiteX1" fmla="*/ 792319 w 2479451"/>
              <a:gd name="connsiteY1" fmla="*/ 5705 h 2388297"/>
              <a:gd name="connsiteX2" fmla="*/ 946865 w 2479451"/>
              <a:gd name="connsiteY2" fmla="*/ 5705 h 2388297"/>
              <a:gd name="connsiteX3" fmla="*/ 1758234 w 2479451"/>
              <a:gd name="connsiteY3" fmla="*/ 5705 h 2388297"/>
              <a:gd name="connsiteX4" fmla="*/ 2479451 w 2479451"/>
              <a:gd name="connsiteY4" fmla="*/ 726922 h 2388297"/>
              <a:gd name="connsiteX5" fmla="*/ 2479451 w 2479451"/>
              <a:gd name="connsiteY5" fmla="*/ 1795869 h 2388297"/>
              <a:gd name="connsiteX6" fmla="*/ 1810823 w 2479451"/>
              <a:gd name="connsiteY6" fmla="*/ 2388297 h 2388297"/>
              <a:gd name="connsiteX7" fmla="*/ 713302 w 2479451"/>
              <a:gd name="connsiteY7" fmla="*/ 2377536 h 2388297"/>
              <a:gd name="connsiteX8" fmla="*/ 0 w 2479451"/>
              <a:gd name="connsiteY8" fmla="*/ 1701819 h 2388297"/>
              <a:gd name="connsiteX9" fmla="*/ 9525 w 2479451"/>
              <a:gd name="connsiteY9" fmla="*/ 649988 h 2388297"/>
              <a:gd name="connsiteX10" fmla="*/ 751876 w 2479451"/>
              <a:gd name="connsiteY10" fmla="*/ 21875 h 2388297"/>
              <a:gd name="connsiteX11" fmla="*/ 773984 w 2479451"/>
              <a:gd name="connsiteY11" fmla="*/ 0 h 2388297"/>
              <a:gd name="connsiteX0" fmla="*/ 792319 w 2479451"/>
              <a:gd name="connsiteY0" fmla="*/ 0 h 2382592"/>
              <a:gd name="connsiteX1" fmla="*/ 792319 w 2479451"/>
              <a:gd name="connsiteY1" fmla="*/ 0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51759 w 2479451"/>
              <a:gd name="connsiteY11" fmla="*/ 26577 h 2382592"/>
              <a:gd name="connsiteX0" fmla="*/ 792319 w 2479451"/>
              <a:gd name="connsiteY0" fmla="*/ 0 h 2382592"/>
              <a:gd name="connsiteX1" fmla="*/ 792319 w 2479451"/>
              <a:gd name="connsiteY1" fmla="*/ 0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80334 w 2479451"/>
              <a:gd name="connsiteY11" fmla="*/ 5056 h 2382592"/>
              <a:gd name="connsiteX0" fmla="*/ 792319 w 2479451"/>
              <a:gd name="connsiteY0" fmla="*/ 0 h 2382592"/>
              <a:gd name="connsiteX1" fmla="*/ 760569 w 2479451"/>
              <a:gd name="connsiteY1" fmla="*/ 3587 h 2382592"/>
              <a:gd name="connsiteX2" fmla="*/ 946865 w 2479451"/>
              <a:gd name="connsiteY2" fmla="*/ 0 h 2382592"/>
              <a:gd name="connsiteX3" fmla="*/ 1758234 w 2479451"/>
              <a:gd name="connsiteY3" fmla="*/ 0 h 2382592"/>
              <a:gd name="connsiteX4" fmla="*/ 2479451 w 2479451"/>
              <a:gd name="connsiteY4" fmla="*/ 721217 h 2382592"/>
              <a:gd name="connsiteX5" fmla="*/ 2479451 w 2479451"/>
              <a:gd name="connsiteY5" fmla="*/ 1790164 h 2382592"/>
              <a:gd name="connsiteX6" fmla="*/ 1810823 w 2479451"/>
              <a:gd name="connsiteY6" fmla="*/ 2382592 h 2382592"/>
              <a:gd name="connsiteX7" fmla="*/ 713302 w 2479451"/>
              <a:gd name="connsiteY7" fmla="*/ 2371831 h 2382592"/>
              <a:gd name="connsiteX8" fmla="*/ 0 w 2479451"/>
              <a:gd name="connsiteY8" fmla="*/ 1696114 h 2382592"/>
              <a:gd name="connsiteX9" fmla="*/ 9525 w 2479451"/>
              <a:gd name="connsiteY9" fmla="*/ 644283 h 2382592"/>
              <a:gd name="connsiteX10" fmla="*/ 751876 w 2479451"/>
              <a:gd name="connsiteY10" fmla="*/ 16170 h 2382592"/>
              <a:gd name="connsiteX11" fmla="*/ 780334 w 2479451"/>
              <a:gd name="connsiteY11" fmla="*/ 5056 h 2382592"/>
              <a:gd name="connsiteX0" fmla="*/ 792319 w 2479451"/>
              <a:gd name="connsiteY0" fmla="*/ 531 h 2383123"/>
              <a:gd name="connsiteX1" fmla="*/ 770094 w 2479451"/>
              <a:gd name="connsiteY1" fmla="*/ 531 h 2383123"/>
              <a:gd name="connsiteX2" fmla="*/ 946865 w 2479451"/>
              <a:gd name="connsiteY2" fmla="*/ 531 h 2383123"/>
              <a:gd name="connsiteX3" fmla="*/ 1758234 w 2479451"/>
              <a:gd name="connsiteY3" fmla="*/ 531 h 2383123"/>
              <a:gd name="connsiteX4" fmla="*/ 2479451 w 2479451"/>
              <a:gd name="connsiteY4" fmla="*/ 721748 h 2383123"/>
              <a:gd name="connsiteX5" fmla="*/ 2479451 w 2479451"/>
              <a:gd name="connsiteY5" fmla="*/ 1790695 h 2383123"/>
              <a:gd name="connsiteX6" fmla="*/ 1810823 w 2479451"/>
              <a:gd name="connsiteY6" fmla="*/ 2383123 h 2383123"/>
              <a:gd name="connsiteX7" fmla="*/ 713302 w 2479451"/>
              <a:gd name="connsiteY7" fmla="*/ 2372362 h 2383123"/>
              <a:gd name="connsiteX8" fmla="*/ 0 w 2479451"/>
              <a:gd name="connsiteY8" fmla="*/ 1696645 h 2383123"/>
              <a:gd name="connsiteX9" fmla="*/ 9525 w 2479451"/>
              <a:gd name="connsiteY9" fmla="*/ 644814 h 2383123"/>
              <a:gd name="connsiteX10" fmla="*/ 751876 w 2479451"/>
              <a:gd name="connsiteY10" fmla="*/ 16701 h 2383123"/>
              <a:gd name="connsiteX11" fmla="*/ 780334 w 2479451"/>
              <a:gd name="connsiteY11" fmla="*/ 5587 h 238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79451" h="2383123">
                <a:moveTo>
                  <a:pt x="792319" y="531"/>
                </a:moveTo>
                <a:lnTo>
                  <a:pt x="770094" y="531"/>
                </a:lnTo>
                <a:cubicBezTo>
                  <a:pt x="832193" y="-665"/>
                  <a:pt x="782175" y="531"/>
                  <a:pt x="946865" y="531"/>
                </a:cubicBezTo>
                <a:lnTo>
                  <a:pt x="1758234" y="531"/>
                </a:lnTo>
                <a:lnTo>
                  <a:pt x="2479451" y="721748"/>
                </a:lnTo>
                <a:lnTo>
                  <a:pt x="2479451" y="1790695"/>
                </a:lnTo>
                <a:lnTo>
                  <a:pt x="1810823" y="2383123"/>
                </a:lnTo>
                <a:lnTo>
                  <a:pt x="713302" y="2372362"/>
                </a:lnTo>
                <a:lnTo>
                  <a:pt x="0" y="1696645"/>
                </a:lnTo>
                <a:lnTo>
                  <a:pt x="9525" y="644814"/>
                </a:lnTo>
                <a:cubicBezTo>
                  <a:pt x="256975" y="442617"/>
                  <a:pt x="504426" y="218898"/>
                  <a:pt x="751876" y="16701"/>
                </a:cubicBezTo>
                <a:lnTo>
                  <a:pt x="780334" y="5587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/>
          <p:cNvCxnSpPr>
            <a:endCxn id="53" idx="3"/>
          </p:cNvCxnSpPr>
          <p:nvPr/>
        </p:nvCxnSpPr>
        <p:spPr>
          <a:xfrm flipV="1">
            <a:off x="9800520" y="3039008"/>
            <a:ext cx="324781" cy="60446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endCxn id="53" idx="5"/>
          </p:cNvCxnSpPr>
          <p:nvPr/>
        </p:nvCxnSpPr>
        <p:spPr>
          <a:xfrm>
            <a:off x="10212295" y="4018608"/>
            <a:ext cx="562568" cy="38539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53" idx="6"/>
          </p:cNvCxnSpPr>
          <p:nvPr/>
        </p:nvCxnSpPr>
        <p:spPr>
          <a:xfrm>
            <a:off x="9800520" y="4145483"/>
            <a:ext cx="372145" cy="71025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endCxn id="53" idx="7"/>
          </p:cNvCxnSpPr>
          <p:nvPr/>
        </p:nvCxnSpPr>
        <p:spPr>
          <a:xfrm flipH="1">
            <a:off x="9184184" y="4145483"/>
            <a:ext cx="279956" cy="70204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53" idx="8"/>
          </p:cNvCxnSpPr>
          <p:nvPr/>
        </p:nvCxnSpPr>
        <p:spPr>
          <a:xfrm flipH="1">
            <a:off x="8541750" y="4016824"/>
            <a:ext cx="586009" cy="31547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endCxn id="53" idx="9"/>
          </p:cNvCxnSpPr>
          <p:nvPr/>
        </p:nvCxnSpPr>
        <p:spPr>
          <a:xfrm flipH="1" flipV="1">
            <a:off x="8550329" y="3530273"/>
            <a:ext cx="536833" cy="25452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endCxn id="53" idx="11"/>
          </p:cNvCxnSpPr>
          <p:nvPr/>
        </p:nvCxnSpPr>
        <p:spPr>
          <a:xfrm flipH="1" flipV="1">
            <a:off x="9244557" y="3042863"/>
            <a:ext cx="242782" cy="60060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endCxn id="53" idx="4"/>
          </p:cNvCxnSpPr>
          <p:nvPr/>
        </p:nvCxnSpPr>
        <p:spPr>
          <a:xfrm flipV="1">
            <a:off x="10241294" y="3588935"/>
            <a:ext cx="533569" cy="19586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>
            <a:stCxn id="53" idx="8"/>
          </p:cNvCxnSpPr>
          <p:nvPr/>
        </p:nvCxnSpPr>
        <p:spPr>
          <a:xfrm>
            <a:off x="8541750" y="4332295"/>
            <a:ext cx="1107978" cy="224195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>
            <a:endCxn id="53" idx="5"/>
          </p:cNvCxnSpPr>
          <p:nvPr/>
        </p:nvCxnSpPr>
        <p:spPr>
          <a:xfrm flipV="1">
            <a:off x="9649728" y="4404007"/>
            <a:ext cx="1125136" cy="217024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53" idx="7"/>
          </p:cNvCxnSpPr>
          <p:nvPr/>
        </p:nvCxnSpPr>
        <p:spPr>
          <a:xfrm>
            <a:off x="9184184" y="4847529"/>
            <a:ext cx="465543" cy="172672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 flipH="1">
            <a:off x="9649729" y="4855733"/>
            <a:ext cx="522936" cy="171851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9306482" y="5273426"/>
            <a:ext cx="73289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10037615" y="4956855"/>
            <a:ext cx="455964" cy="3210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 flipV="1">
            <a:off x="8872574" y="4996536"/>
            <a:ext cx="423375" cy="2768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 flipV="1">
            <a:off x="9933826" y="5493955"/>
            <a:ext cx="266785" cy="1965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9426604" y="5701200"/>
            <a:ext cx="48717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H="1" flipV="1">
            <a:off x="9127758" y="5493955"/>
            <a:ext cx="289198" cy="2126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10880432" y="3899340"/>
            <a:ext cx="6325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9700532" y="6574250"/>
            <a:ext cx="18124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11205975" y="3899340"/>
            <a:ext cx="0" cy="26749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8551844" y="2413007"/>
            <a:ext cx="0" cy="101582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10782264" y="2413007"/>
            <a:ext cx="0" cy="105515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8551844" y="2668218"/>
            <a:ext cx="222301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10660224" y="4805006"/>
            <a:ext cx="1091503" cy="502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발명의 </a:t>
            </a:r>
            <a:endParaRPr lang="en-US" altLang="ko-KR" sz="140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수직적 </a:t>
            </a:r>
            <a:endParaRPr lang="en-US" altLang="ko-KR" sz="140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확장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4917" y="2814013"/>
            <a:ext cx="498957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용도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8818745" y="2506234"/>
            <a:ext cx="164285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발명의 수평적 확장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4700" y="2822480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형상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863" y="3342214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74863" y="4347169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물질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922" y="4868815"/>
            <a:ext cx="776156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사용방법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0968" y="4877081"/>
            <a:ext cx="776156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제조방법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7575" y="3344110"/>
            <a:ext cx="498957" cy="218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0641" y="4332131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재질</a:t>
            </a:r>
            <a:endParaRPr lang="ko-KR" altLang="en-US" sz="100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cxnSp>
        <p:nvCxnSpPr>
          <p:cNvPr id="51" name="직선 연결선 50"/>
          <p:cNvCxnSpPr>
            <a:stCxn id="53" idx="10"/>
            <a:endCxn id="53" idx="1"/>
          </p:cNvCxnSpPr>
          <p:nvPr/>
        </p:nvCxnSpPr>
        <p:spPr>
          <a:xfrm flipV="1">
            <a:off x="9218926" y="3039008"/>
            <a:ext cx="16408" cy="123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130</a:t>
            </a:fld>
            <a:endParaRPr lang="ko-KR" altLang="en-US"/>
          </a:p>
        </p:txBody>
      </p:sp>
      <p:pic>
        <p:nvPicPr>
          <p:cNvPr id="79" name="Picture 4">
            <a:extLst>
              <a:ext uri="{FF2B5EF4-FFF2-40B4-BE49-F238E27FC236}">
                <a16:creationId xmlns:a16="http://schemas.microsoft.com/office/drawing/2014/main" id="{06B9C185-DD2F-496C-8588-B414FA71F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80418" y="3368675"/>
            <a:ext cx="504825" cy="2190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0C02C0-09C0-DCD7-8FAF-A2654F9E1B75}"/>
              </a:ext>
            </a:extLst>
          </p:cNvPr>
          <p:cNvSpPr txBox="1"/>
          <p:nvPr/>
        </p:nvSpPr>
        <p:spPr>
          <a:xfrm>
            <a:off x="9250666" y="2140350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독립항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8574F-2774-F69B-C002-74BF561A5039}"/>
              </a:ext>
            </a:extLst>
          </p:cNvPr>
          <p:cNvSpPr txBox="1"/>
          <p:nvPr/>
        </p:nvSpPr>
        <p:spPr>
          <a:xfrm>
            <a:off x="10801056" y="541561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종속항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565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8</a:t>
            </a:r>
            <a:r>
              <a:rPr lang="ko-KR" altLang="en-US" dirty="0"/>
              <a:t>항에 따른 시행령 제</a:t>
            </a:r>
            <a:r>
              <a:rPr lang="en-US" altLang="ko-KR" dirty="0"/>
              <a:t>5</a:t>
            </a:r>
            <a:r>
              <a:rPr lang="ko-KR" altLang="en-US" dirty="0"/>
              <a:t>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131</a:t>
            </a:fld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88D0CC0-7D47-4704-9321-806A22471F89}"/>
              </a:ext>
            </a:extLst>
          </p:cNvPr>
          <p:cNvSpPr/>
          <p:nvPr/>
        </p:nvSpPr>
        <p:spPr>
          <a:xfrm>
            <a:off x="259658" y="176118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1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514AAC-B46D-4B6E-9971-7430750ED9C5}"/>
              </a:ext>
            </a:extLst>
          </p:cNvPr>
          <p:cNvSpPr txBox="1"/>
          <p:nvPr/>
        </p:nvSpPr>
        <p:spPr>
          <a:xfrm>
            <a:off x="640512" y="1539532"/>
            <a:ext cx="5455488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법 제</a:t>
            </a:r>
            <a:r>
              <a:rPr lang="en-US" altLang="ko-KR" sz="1100" dirty="0"/>
              <a:t>42</a:t>
            </a:r>
            <a:r>
              <a:rPr lang="ko-KR" altLang="en-US" sz="1100" dirty="0"/>
              <a:t>조제</a:t>
            </a:r>
            <a:r>
              <a:rPr lang="en-US" altLang="ko-KR" sz="1100" dirty="0"/>
              <a:t>8</a:t>
            </a:r>
            <a:r>
              <a:rPr lang="ko-KR" altLang="en-US" sz="1100" dirty="0"/>
              <a:t>항에 따른 청구범위의 청구항</a:t>
            </a:r>
            <a:r>
              <a:rPr lang="en-US" altLang="ko-KR" sz="1100" dirty="0"/>
              <a:t>(</a:t>
            </a:r>
            <a:r>
              <a:rPr lang="ko-KR" altLang="en-US" sz="1100" dirty="0"/>
              <a:t>이하 </a:t>
            </a:r>
            <a:r>
              <a:rPr lang="en-US" altLang="ko-KR" sz="1100" dirty="0"/>
              <a:t>"</a:t>
            </a:r>
            <a:r>
              <a:rPr lang="ko-KR" altLang="en-US" sz="1100" dirty="0"/>
              <a:t>청구항</a:t>
            </a:r>
            <a:r>
              <a:rPr lang="en-US" altLang="ko-KR" sz="1100" dirty="0"/>
              <a:t>"</a:t>
            </a:r>
            <a:r>
              <a:rPr lang="ko-KR" altLang="en-US" sz="1100" dirty="0"/>
              <a:t>이라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을 기재할 때에는 독립청구항</a:t>
            </a:r>
            <a:r>
              <a:rPr lang="en-US" altLang="ko-KR" sz="1100" dirty="0"/>
              <a:t>(</a:t>
            </a:r>
            <a:r>
              <a:rPr lang="ko-KR" altLang="en-US" sz="1100" dirty="0"/>
              <a:t>이하 </a:t>
            </a:r>
            <a:r>
              <a:rPr lang="en-US" altLang="ko-KR" sz="1100" dirty="0"/>
              <a:t>"</a:t>
            </a:r>
            <a:r>
              <a:rPr lang="ko-KR" altLang="en-US" sz="1100" dirty="0" err="1"/>
              <a:t>독립항</a:t>
            </a:r>
            <a:r>
              <a:rPr lang="en-US" altLang="ko-KR" sz="1100" dirty="0"/>
              <a:t>"</a:t>
            </a:r>
            <a:r>
              <a:rPr lang="ko-KR" altLang="en-US" sz="1100" dirty="0"/>
              <a:t>이라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>
                <a:solidFill>
                  <a:srgbClr val="FF0000"/>
                </a:solidFill>
              </a:rPr>
              <a:t>기재하여야 하며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/>
              <a:t>그 독립항을 한정하거나 부가하여 </a:t>
            </a:r>
            <a:r>
              <a:rPr lang="ko-KR" altLang="en-US" sz="1100" dirty="0">
                <a:solidFill>
                  <a:srgbClr val="FF0000"/>
                </a:solidFill>
              </a:rPr>
              <a:t>구체화</a:t>
            </a:r>
            <a:r>
              <a:rPr lang="ko-KR" altLang="en-US" sz="1100" dirty="0"/>
              <a:t>하는 종속청구항</a:t>
            </a:r>
            <a:r>
              <a:rPr lang="en-US" altLang="ko-KR" sz="1100" dirty="0"/>
              <a:t>(</a:t>
            </a:r>
            <a:r>
              <a:rPr lang="ko-KR" altLang="en-US" sz="1100" dirty="0"/>
              <a:t>이하 </a:t>
            </a:r>
            <a:r>
              <a:rPr lang="en-US" altLang="ko-KR" sz="1100" dirty="0"/>
              <a:t>"</a:t>
            </a:r>
            <a:r>
              <a:rPr lang="ko-KR" altLang="en-US" sz="1100" dirty="0" err="1"/>
              <a:t>종속항</a:t>
            </a:r>
            <a:r>
              <a:rPr lang="en-US" altLang="ko-KR" sz="1100" dirty="0"/>
              <a:t>"</a:t>
            </a:r>
            <a:r>
              <a:rPr lang="ko-KR" altLang="en-US" sz="1100" dirty="0"/>
              <a:t>이라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>
                <a:solidFill>
                  <a:srgbClr val="FF0000"/>
                </a:solidFill>
              </a:rPr>
              <a:t>기재할 수 있다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/>
              <a:t>이 경우 필요한 때에는 그 종속항을 한정하거나 부가하여 </a:t>
            </a:r>
            <a:r>
              <a:rPr lang="ko-KR" altLang="en-US" sz="1100" dirty="0">
                <a:solidFill>
                  <a:srgbClr val="FF0000"/>
                </a:solidFill>
              </a:rPr>
              <a:t>구체화</a:t>
            </a:r>
            <a:r>
              <a:rPr lang="ko-KR" altLang="en-US" sz="1100" dirty="0"/>
              <a:t>하는 다른 종속항을 </a:t>
            </a:r>
            <a:r>
              <a:rPr lang="ko-KR" altLang="en-US" sz="1100" dirty="0">
                <a:solidFill>
                  <a:srgbClr val="FF0000"/>
                </a:solidFill>
              </a:rPr>
              <a:t>기재할 수 있다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16216A3-ECBB-4D00-80BD-8FE58E987A4B}"/>
              </a:ext>
            </a:extLst>
          </p:cNvPr>
          <p:cNvSpPr/>
          <p:nvPr/>
        </p:nvSpPr>
        <p:spPr>
          <a:xfrm>
            <a:off x="259658" y="239748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2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2BCF54-CF0F-4EEB-9F56-0FC733AF1C50}"/>
              </a:ext>
            </a:extLst>
          </p:cNvPr>
          <p:cNvSpPr txBox="1"/>
          <p:nvPr/>
        </p:nvSpPr>
        <p:spPr>
          <a:xfrm>
            <a:off x="640512" y="2397480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청구항은 발명의 성질에 따라 </a:t>
            </a:r>
            <a:r>
              <a:rPr lang="ko-KR" altLang="en-US" sz="1100" dirty="0">
                <a:solidFill>
                  <a:srgbClr val="FF0000"/>
                </a:solidFill>
              </a:rPr>
              <a:t>적정한 수</a:t>
            </a:r>
            <a:r>
              <a:rPr lang="ko-KR" altLang="en-US" sz="1100" dirty="0"/>
              <a:t>로 기재하여야 한다</a:t>
            </a:r>
            <a:r>
              <a:rPr lang="en-US" altLang="ko-KR" sz="1100" dirty="0"/>
              <a:t>. 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4689F65-FEF9-40A4-A1A1-7FA4ED5177A6}"/>
              </a:ext>
            </a:extLst>
          </p:cNvPr>
          <p:cNvSpPr/>
          <p:nvPr/>
        </p:nvSpPr>
        <p:spPr>
          <a:xfrm>
            <a:off x="259658" y="2857271"/>
            <a:ext cx="267417" cy="26741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0D6360-1A2D-4BAB-9425-D5C76CFD006D}"/>
              </a:ext>
            </a:extLst>
          </p:cNvPr>
          <p:cNvSpPr txBox="1"/>
          <p:nvPr/>
        </p:nvSpPr>
        <p:spPr>
          <a:xfrm>
            <a:off x="640512" y="2762385"/>
            <a:ext cx="5455488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종속항은 </a:t>
            </a:r>
            <a:r>
              <a:rPr lang="ko-KR" altLang="en-US" sz="1100" dirty="0" err="1"/>
              <a:t>독립항</a:t>
            </a:r>
            <a:r>
              <a:rPr lang="ko-KR" altLang="en-US" sz="1100" dirty="0"/>
              <a:t> 또는 다른 종속항을 한정하거나 부가하여 구체화하는데 </a:t>
            </a:r>
            <a:r>
              <a:rPr lang="ko-KR" altLang="en-US" sz="1100" dirty="0">
                <a:solidFill>
                  <a:srgbClr val="FF0000"/>
                </a:solidFill>
              </a:rPr>
              <a:t>필요한 수</a:t>
            </a:r>
            <a:r>
              <a:rPr lang="ko-KR" altLang="en-US" sz="1100" dirty="0"/>
              <a:t>로 기재하여야 한다</a:t>
            </a:r>
            <a:r>
              <a:rPr lang="en-US" altLang="ko-KR" sz="1100" dirty="0"/>
              <a:t>.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DB13D62-C755-4FF8-9A1F-0F4EF9CD078D}"/>
              </a:ext>
            </a:extLst>
          </p:cNvPr>
          <p:cNvSpPr/>
          <p:nvPr/>
        </p:nvSpPr>
        <p:spPr>
          <a:xfrm>
            <a:off x="259658" y="327574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4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E2AD75-9D10-49EF-8624-6F2BB5C70581}"/>
              </a:ext>
            </a:extLst>
          </p:cNvPr>
          <p:cNvSpPr txBox="1"/>
          <p:nvPr/>
        </p:nvSpPr>
        <p:spPr>
          <a:xfrm>
            <a:off x="640512" y="3275740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다른 청구항을 </a:t>
            </a:r>
            <a:r>
              <a:rPr lang="ko-KR" altLang="en-US" sz="1100" dirty="0">
                <a:solidFill>
                  <a:srgbClr val="FF0000"/>
                </a:solidFill>
              </a:rPr>
              <a:t>인용하는 청구항</a:t>
            </a:r>
            <a:r>
              <a:rPr lang="ko-KR" altLang="en-US" sz="1100" dirty="0"/>
              <a:t>은 인용되는 </a:t>
            </a:r>
            <a:r>
              <a:rPr lang="ko-KR" altLang="en-US" sz="1100" dirty="0">
                <a:solidFill>
                  <a:srgbClr val="FF0000"/>
                </a:solidFill>
              </a:rPr>
              <a:t>항의 번호</a:t>
            </a:r>
            <a:r>
              <a:rPr lang="ko-KR" altLang="en-US" sz="1100" dirty="0"/>
              <a:t>를 적어야 한다</a:t>
            </a:r>
            <a:r>
              <a:rPr lang="en-US" altLang="ko-KR" sz="1100" dirty="0"/>
              <a:t>.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866DB19-DE31-4C4D-866C-E8CFC375A089}"/>
              </a:ext>
            </a:extLst>
          </p:cNvPr>
          <p:cNvSpPr/>
          <p:nvPr/>
        </p:nvSpPr>
        <p:spPr>
          <a:xfrm>
            <a:off x="259658" y="3667979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5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1B6394-A893-4F02-AEF9-B681CF53A26D}"/>
              </a:ext>
            </a:extLst>
          </p:cNvPr>
          <p:cNvSpPr txBox="1"/>
          <p:nvPr/>
        </p:nvSpPr>
        <p:spPr>
          <a:xfrm>
            <a:off x="640512" y="3667979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dirty="0">
                <a:solidFill>
                  <a:srgbClr val="FF0000"/>
                </a:solidFill>
              </a:rPr>
              <a:t>2 </a:t>
            </a:r>
            <a:r>
              <a:rPr lang="ko-KR" altLang="en-US" sz="1100" dirty="0">
                <a:solidFill>
                  <a:srgbClr val="FF0000"/>
                </a:solidFill>
              </a:rPr>
              <a:t>이상의 항을 인용하는 청구항</a:t>
            </a:r>
            <a:r>
              <a:rPr lang="ko-KR" altLang="en-US" sz="1100" dirty="0"/>
              <a:t>은 인용되는 항의 번호를 </a:t>
            </a:r>
            <a:r>
              <a:rPr lang="ko-KR" altLang="en-US" sz="1100" dirty="0">
                <a:solidFill>
                  <a:srgbClr val="FF0000"/>
                </a:solidFill>
              </a:rPr>
              <a:t>택일적</a:t>
            </a:r>
            <a:r>
              <a:rPr lang="ko-KR" altLang="en-US" sz="1100" dirty="0"/>
              <a:t>으로 기재하여야 한다</a:t>
            </a:r>
            <a:r>
              <a:rPr lang="en-US" altLang="ko-KR" sz="1100" dirty="0"/>
              <a:t>.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3033300-6EAE-4B40-A53F-6B33F902F82F}"/>
              </a:ext>
            </a:extLst>
          </p:cNvPr>
          <p:cNvSpPr/>
          <p:nvPr/>
        </p:nvSpPr>
        <p:spPr>
          <a:xfrm>
            <a:off x="259658" y="4311851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6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A6CF38-C999-4913-8738-014A0A8C323F}"/>
              </a:ext>
            </a:extLst>
          </p:cNvPr>
          <p:cNvSpPr txBox="1"/>
          <p:nvPr/>
        </p:nvSpPr>
        <p:spPr>
          <a:xfrm>
            <a:off x="640512" y="4056420"/>
            <a:ext cx="5455488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dirty="0">
                <a:solidFill>
                  <a:srgbClr val="FF0000"/>
                </a:solidFill>
              </a:rPr>
              <a:t>2 </a:t>
            </a:r>
            <a:r>
              <a:rPr lang="ko-KR" altLang="en-US" sz="1100" dirty="0">
                <a:solidFill>
                  <a:srgbClr val="FF0000"/>
                </a:solidFill>
              </a:rPr>
              <a:t>이상의 항을 인용한 청구항</a:t>
            </a:r>
            <a:r>
              <a:rPr lang="ko-KR" altLang="en-US" sz="1100" dirty="0"/>
              <a:t>에서 그 청구항의 인용된 항은 다시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이상의 항을 인용하는 방식을 사용하여서는 아니 된다</a:t>
            </a:r>
            <a:r>
              <a:rPr lang="en-US" altLang="ko-KR" sz="1100" dirty="0"/>
              <a:t>. </a:t>
            </a:r>
            <a:r>
              <a:rPr lang="en-US" altLang="ko-KR" sz="1100" dirty="0">
                <a:solidFill>
                  <a:srgbClr val="FF0000"/>
                </a:solidFill>
              </a:rPr>
              <a:t>2 </a:t>
            </a:r>
            <a:r>
              <a:rPr lang="ko-KR" altLang="en-US" sz="1100" dirty="0">
                <a:solidFill>
                  <a:srgbClr val="FF0000"/>
                </a:solidFill>
              </a:rPr>
              <a:t>이상의 항을 인용한 청구항</a:t>
            </a:r>
            <a:r>
              <a:rPr lang="ko-KR" altLang="en-US" sz="1100" dirty="0"/>
              <a:t>에서 그 청구항의 인용된 항이 다시 하나의 항을 인용한 후에 그 하나의 항이 결과적으로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이상의 항을 인용하는 방식에 대하여도 또한 같다</a:t>
            </a:r>
            <a:r>
              <a:rPr lang="en-US" altLang="ko-KR" sz="1100" dirty="0"/>
              <a:t>.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6E5C684-6E20-41EE-9E08-0ECFDD8A3C56}"/>
              </a:ext>
            </a:extLst>
          </p:cNvPr>
          <p:cNvSpPr/>
          <p:nvPr/>
        </p:nvSpPr>
        <p:spPr>
          <a:xfrm>
            <a:off x="259658" y="4934159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7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4569E2-4315-4F92-A20C-05E9CD1F82D3}"/>
              </a:ext>
            </a:extLst>
          </p:cNvPr>
          <p:cNvSpPr txBox="1"/>
          <p:nvPr/>
        </p:nvSpPr>
        <p:spPr>
          <a:xfrm>
            <a:off x="640512" y="4947099"/>
            <a:ext cx="5455488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인용되는 청구항은 인용하는 청구항보다 </a:t>
            </a:r>
            <a:r>
              <a:rPr lang="ko-KR" altLang="en-US" sz="1100" dirty="0">
                <a:solidFill>
                  <a:srgbClr val="FF0000"/>
                </a:solidFill>
              </a:rPr>
              <a:t>먼저 기재</a:t>
            </a:r>
            <a:r>
              <a:rPr lang="ko-KR" altLang="en-US" sz="1100" dirty="0"/>
              <a:t>하여야 한다</a:t>
            </a:r>
            <a:r>
              <a:rPr lang="en-US" altLang="ko-KR" sz="1100" dirty="0"/>
              <a:t>. 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C79B939-ACB8-468D-8F57-E8CD495AC6A9}"/>
              </a:ext>
            </a:extLst>
          </p:cNvPr>
          <p:cNvSpPr/>
          <p:nvPr/>
        </p:nvSpPr>
        <p:spPr>
          <a:xfrm>
            <a:off x="259658" y="5452950"/>
            <a:ext cx="267417" cy="267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8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FCCDD0-34D7-4EA6-AFC3-83DB9A054A78}"/>
              </a:ext>
            </a:extLst>
          </p:cNvPr>
          <p:cNvSpPr txBox="1"/>
          <p:nvPr/>
        </p:nvSpPr>
        <p:spPr>
          <a:xfrm>
            <a:off x="640512" y="5342428"/>
            <a:ext cx="5455488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각 청구항은 항마다 </a:t>
            </a:r>
            <a:r>
              <a:rPr lang="ko-KR" altLang="en-US" sz="1100" dirty="0">
                <a:solidFill>
                  <a:srgbClr val="FF0000"/>
                </a:solidFill>
              </a:rPr>
              <a:t>행을 바꾸어 기재</a:t>
            </a:r>
            <a:r>
              <a:rPr lang="ko-KR" altLang="en-US" sz="1100" dirty="0"/>
              <a:t>하고</a:t>
            </a:r>
            <a:r>
              <a:rPr lang="en-US" altLang="ko-KR" sz="1100" dirty="0"/>
              <a:t>, </a:t>
            </a:r>
            <a:r>
              <a:rPr lang="ko-KR" altLang="en-US" sz="1100" dirty="0"/>
              <a:t>그 기재하는 순서에 따라 </a:t>
            </a:r>
            <a:r>
              <a:rPr lang="ko-KR" altLang="en-US" sz="1100" dirty="0">
                <a:solidFill>
                  <a:srgbClr val="FF0000"/>
                </a:solidFill>
              </a:rPr>
              <a:t>아라비아숫자로 일련번호를 </a:t>
            </a:r>
            <a:r>
              <a:rPr lang="ko-KR" altLang="en-US" sz="1100" dirty="0"/>
              <a:t>붙여야 한다</a:t>
            </a:r>
            <a:r>
              <a:rPr lang="en-US" altLang="ko-KR" sz="1100" dirty="0"/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A2C8EF-A37F-4A69-8546-FDCA150DAB37}"/>
              </a:ext>
            </a:extLst>
          </p:cNvPr>
          <p:cNvSpPr txBox="1"/>
          <p:nvPr/>
        </p:nvSpPr>
        <p:spPr>
          <a:xfrm>
            <a:off x="6476854" y="991747"/>
            <a:ext cx="5455488" cy="11079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독립항은 필수</a:t>
            </a:r>
            <a:r>
              <a:rPr lang="en-US" altLang="ko-KR" sz="1100" dirty="0"/>
              <a:t>, </a:t>
            </a:r>
            <a:r>
              <a:rPr lang="ko-KR" altLang="en-US" sz="1100" dirty="0"/>
              <a:t>종속항은 임의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독립항은 넓이를 표현하는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모든 실시유형 포섭될 수 있도록 넓게 기재</a:t>
            </a:r>
            <a:r>
              <a:rPr lang="en-US" altLang="ko-KR" sz="1100" dirty="0"/>
              <a:t>(</a:t>
            </a:r>
            <a:r>
              <a:rPr lang="ko-KR" altLang="en-US" sz="1100" dirty="0" err="1"/>
              <a:t>다기재협범위의</a:t>
            </a:r>
            <a:r>
              <a:rPr lang="ko-KR" altLang="en-US" sz="1100" dirty="0"/>
              <a:t> 원칙</a:t>
            </a:r>
            <a:r>
              <a:rPr lang="en-US" altLang="ko-KR" sz="1100" dirty="0"/>
              <a:t>)</a:t>
            </a:r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종속항은 깊이를 표현하는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독자적으로 신규성</a:t>
            </a:r>
            <a:r>
              <a:rPr lang="en-US" altLang="ko-KR" sz="1100" dirty="0"/>
              <a:t>, </a:t>
            </a:r>
            <a:r>
              <a:rPr lang="ko-KR" altLang="en-US" sz="1100" dirty="0"/>
              <a:t>진보성 위반을 극복할 수 있는 구성요소를 기재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종속항은 구체화한 청구항으로서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한정하여 구체화와 부가하여 구체화로 구분됨</a:t>
            </a:r>
            <a:endParaRPr lang="en-US" altLang="ko-KR" sz="1100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6533FE3E-CF2E-4C89-AA04-C92595C79FBB}"/>
              </a:ext>
            </a:extLst>
          </p:cNvPr>
          <p:cNvCxnSpPr>
            <a:stCxn id="39" idx="3"/>
            <a:endCxn id="54" idx="1"/>
          </p:cNvCxnSpPr>
          <p:nvPr/>
        </p:nvCxnSpPr>
        <p:spPr>
          <a:xfrm flipV="1">
            <a:off x="6096000" y="1545745"/>
            <a:ext cx="380854" cy="3785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E7337AE-F9BD-4E7F-AFA1-C47CBE2300F9}"/>
              </a:ext>
            </a:extLst>
          </p:cNvPr>
          <p:cNvSpPr txBox="1"/>
          <p:nvPr/>
        </p:nvSpPr>
        <p:spPr>
          <a:xfrm>
            <a:off x="6476854" y="2128803"/>
            <a:ext cx="5455488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하나의 청구항에 카테고리가 다른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이상의 발명을 기재하거나 청구하는 대상이 </a:t>
            </a:r>
            <a:r>
              <a:rPr lang="en-US" altLang="ko-KR" sz="1100" dirty="0"/>
              <a:t>2 </a:t>
            </a:r>
            <a:r>
              <a:rPr lang="ko-KR" altLang="en-US" sz="1100" dirty="0"/>
              <a:t>이상인 경우와 같이 법 제</a:t>
            </a:r>
            <a:r>
              <a:rPr lang="en-US" altLang="ko-KR" sz="1100" dirty="0"/>
              <a:t>2</a:t>
            </a:r>
            <a:r>
              <a:rPr lang="ko-KR" altLang="en-US" sz="1100" dirty="0"/>
              <a:t>조제</a:t>
            </a:r>
            <a:r>
              <a:rPr lang="en-US" altLang="ko-KR" sz="1100" dirty="0"/>
              <a:t>3</a:t>
            </a:r>
            <a:r>
              <a:rPr lang="ko-KR" altLang="en-US" sz="1100" dirty="0"/>
              <a:t>호에 따라 하나의 실시유형으로 포섭할 수 </a:t>
            </a:r>
            <a:r>
              <a:rPr lang="ko-KR" altLang="en-US" sz="1100" dirty="0">
                <a:solidFill>
                  <a:srgbClr val="FF0000"/>
                </a:solidFill>
              </a:rPr>
              <a:t>없는</a:t>
            </a:r>
            <a:r>
              <a:rPr lang="ko-KR" altLang="en-US" sz="1100" dirty="0"/>
              <a:t> 기재를 하는 경우 시행령 제</a:t>
            </a:r>
            <a:r>
              <a:rPr lang="en-US" altLang="ko-KR" sz="1100" dirty="0"/>
              <a:t>5</a:t>
            </a:r>
            <a:r>
              <a:rPr lang="ko-KR" altLang="en-US" sz="1100" dirty="0"/>
              <a:t>조제</a:t>
            </a:r>
            <a:r>
              <a:rPr lang="en-US" altLang="ko-KR" sz="1100" dirty="0"/>
              <a:t>2</a:t>
            </a:r>
            <a:r>
              <a:rPr lang="ko-KR" altLang="en-US" sz="1100" dirty="0"/>
              <a:t>항 적용</a:t>
            </a:r>
            <a:endParaRPr lang="en-US" altLang="ko-KR" sz="1100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E80ACFB-1B63-4C80-B9D9-2D55D6D48A46}"/>
              </a:ext>
            </a:extLst>
          </p:cNvPr>
          <p:cNvCxnSpPr>
            <a:stCxn id="41" idx="3"/>
            <a:endCxn id="58" idx="1"/>
          </p:cNvCxnSpPr>
          <p:nvPr/>
        </p:nvCxnSpPr>
        <p:spPr>
          <a:xfrm flipV="1">
            <a:off x="6096000" y="2428885"/>
            <a:ext cx="380854" cy="994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5797070-4A5A-480A-8E1A-37204240F166}"/>
              </a:ext>
            </a:extLst>
          </p:cNvPr>
          <p:cNvSpPr txBox="1"/>
          <p:nvPr/>
        </p:nvSpPr>
        <p:spPr>
          <a:xfrm>
            <a:off x="6476854" y="2775275"/>
            <a:ext cx="5455488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발명이 </a:t>
            </a:r>
            <a:r>
              <a:rPr lang="ko-KR" altLang="en-US" sz="1100" dirty="0" err="1"/>
              <a:t>중복기재되어</a:t>
            </a:r>
            <a:r>
              <a:rPr lang="ko-KR" altLang="en-US" sz="1100" dirty="0"/>
              <a:t> 있다고 할지라도 적법하다는 판결</a:t>
            </a:r>
            <a:r>
              <a:rPr lang="en-US" altLang="ko-KR" sz="1100" dirty="0"/>
              <a:t>(94</a:t>
            </a:r>
            <a:r>
              <a:rPr lang="ko-KR" altLang="en-US" sz="1100" dirty="0"/>
              <a:t>후</a:t>
            </a:r>
            <a:r>
              <a:rPr lang="en-US" altLang="ko-KR" sz="1100" dirty="0"/>
              <a:t>1558)</a:t>
            </a:r>
            <a:r>
              <a:rPr lang="ko-KR" altLang="en-US" sz="1100" dirty="0"/>
              <a:t>이 나온 후 </a:t>
            </a:r>
            <a:r>
              <a:rPr lang="en-US" altLang="ko-KR" sz="1100" dirty="0"/>
              <a:t>1999.6.30. </a:t>
            </a:r>
            <a:r>
              <a:rPr lang="ko-KR" altLang="en-US" sz="1100" dirty="0"/>
              <a:t>삭제됨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현재 중복기재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 err="1">
                <a:solidFill>
                  <a:srgbClr val="FF0000"/>
                </a:solidFill>
              </a:rPr>
              <a:t>문언적</a:t>
            </a:r>
            <a:r>
              <a:rPr lang="ko-KR" altLang="en-US" sz="1100" dirty="0">
                <a:solidFill>
                  <a:srgbClr val="FF0000"/>
                </a:solidFill>
              </a:rPr>
              <a:t> 동일의 경우만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/>
              <a:t>된 경우 시행령 제</a:t>
            </a:r>
            <a:r>
              <a:rPr lang="en-US" altLang="ko-KR" sz="1100" dirty="0"/>
              <a:t>5</a:t>
            </a:r>
            <a:r>
              <a:rPr lang="ko-KR" altLang="en-US" sz="1100" dirty="0"/>
              <a:t>조제</a:t>
            </a:r>
            <a:r>
              <a:rPr lang="en-US" altLang="ko-KR" sz="1100" dirty="0"/>
              <a:t>2</a:t>
            </a:r>
            <a:r>
              <a:rPr lang="ko-KR" altLang="en-US" sz="1100" dirty="0"/>
              <a:t>항 위반 적용</a:t>
            </a:r>
            <a:endParaRPr lang="en-US" altLang="ko-KR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782639-BD05-4145-A2F0-407B2602EB34}"/>
              </a:ext>
            </a:extLst>
          </p:cNvPr>
          <p:cNvSpPr txBox="1"/>
          <p:nvPr/>
        </p:nvSpPr>
        <p:spPr>
          <a:xfrm>
            <a:off x="6476854" y="3409870"/>
            <a:ext cx="545548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인용형식이 없으면 </a:t>
            </a:r>
            <a:r>
              <a:rPr lang="ko-KR" altLang="en-US" sz="1100" dirty="0" err="1"/>
              <a:t>독립항</a:t>
            </a:r>
            <a:r>
              <a:rPr lang="en-US" altLang="ko-KR" sz="1100" dirty="0"/>
              <a:t>, </a:t>
            </a:r>
            <a:r>
              <a:rPr lang="ko-KR" altLang="en-US" sz="1100" dirty="0"/>
              <a:t>인용형식이 있으면</a:t>
            </a:r>
            <a:r>
              <a:rPr lang="en-US" altLang="ko-KR" sz="1100" dirty="0"/>
              <a:t>, </a:t>
            </a:r>
            <a:r>
              <a:rPr lang="ko-KR" altLang="en-US" sz="1100" dirty="0"/>
              <a:t>구체화 여부에 따라 </a:t>
            </a:r>
            <a:r>
              <a:rPr lang="ko-KR" altLang="en-US" sz="1100" dirty="0" err="1"/>
              <a:t>독립항</a:t>
            </a:r>
            <a:r>
              <a:rPr lang="en-US" altLang="ko-KR" sz="1100" dirty="0"/>
              <a:t>/</a:t>
            </a:r>
            <a:r>
              <a:rPr lang="ko-KR" altLang="en-US" sz="1100" dirty="0" err="1"/>
              <a:t>종속항</a:t>
            </a:r>
            <a:r>
              <a:rPr lang="ko-KR" altLang="en-US" sz="1100" dirty="0"/>
              <a:t> 구별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ko-KR" altLang="en-US" sz="1100" dirty="0"/>
              <a:t>항의 번호를 구체적으로 적지 않고</a:t>
            </a:r>
            <a:r>
              <a:rPr lang="en-US" altLang="ko-KR" sz="1100" dirty="0"/>
              <a:t>, “</a:t>
            </a:r>
            <a:r>
              <a:rPr lang="ko-KR" altLang="en-US" sz="1100" dirty="0"/>
              <a:t>전술한</a:t>
            </a:r>
            <a:r>
              <a:rPr lang="en-US" altLang="ko-KR" sz="1100" dirty="0"/>
              <a:t>, </a:t>
            </a:r>
            <a:r>
              <a:rPr lang="ko-KR" altLang="en-US" sz="1100" dirty="0"/>
              <a:t>상술한</a:t>
            </a:r>
            <a:r>
              <a:rPr lang="en-US" altLang="ko-KR" sz="1100" dirty="0"/>
              <a:t>” </a:t>
            </a:r>
            <a:r>
              <a:rPr lang="ko-KR" altLang="en-US" sz="1100" dirty="0"/>
              <a:t>등과 같이 적은 경우 위반</a:t>
            </a:r>
            <a:endParaRPr lang="en-US" altLang="ko-KR" sz="11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5F409883-34A5-49C8-A3B0-F44CAD504BC4}"/>
              </a:ext>
            </a:extLst>
          </p:cNvPr>
          <p:cNvCxnSpPr>
            <a:stCxn id="43" idx="3"/>
            <a:endCxn id="62" idx="1"/>
          </p:cNvCxnSpPr>
          <p:nvPr/>
        </p:nvCxnSpPr>
        <p:spPr>
          <a:xfrm>
            <a:off x="6096000" y="2977829"/>
            <a:ext cx="380854" cy="975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6D81A1D-2728-4D68-87BF-BBA20B4F0F7A}"/>
              </a:ext>
            </a:extLst>
          </p:cNvPr>
          <p:cNvCxnSpPr>
            <a:stCxn id="45" idx="3"/>
            <a:endCxn id="63" idx="1"/>
          </p:cNvCxnSpPr>
          <p:nvPr/>
        </p:nvCxnSpPr>
        <p:spPr>
          <a:xfrm>
            <a:off x="6096000" y="3406545"/>
            <a:ext cx="380854" cy="2187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E4362F-4CB5-405C-8A10-9DC47B125FDE}"/>
              </a:ext>
            </a:extLst>
          </p:cNvPr>
          <p:cNvSpPr txBox="1"/>
          <p:nvPr/>
        </p:nvSpPr>
        <p:spPr>
          <a:xfrm>
            <a:off x="6476854" y="3866753"/>
            <a:ext cx="5455488" cy="9387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청구항은 </a:t>
            </a:r>
            <a:r>
              <a:rPr lang="ko-KR" altLang="en-US" sz="1100" dirty="0" err="1"/>
              <a:t>택일적</a:t>
            </a:r>
            <a:r>
              <a:rPr lang="en-US" altLang="ko-KR" sz="1100" dirty="0"/>
              <a:t>(OR)</a:t>
            </a:r>
            <a:r>
              <a:rPr lang="ko-KR" altLang="en-US" sz="1100" dirty="0"/>
              <a:t> 기재를 하여야 하나</a:t>
            </a:r>
            <a:r>
              <a:rPr lang="en-US" altLang="ko-KR" sz="1100" dirty="0"/>
              <a:t>, </a:t>
            </a:r>
            <a:r>
              <a:rPr lang="ko-KR" altLang="en-US" sz="1100" dirty="0"/>
              <a:t>구성요소는 </a:t>
            </a:r>
            <a:r>
              <a:rPr lang="ko-KR" altLang="en-US" sz="1100" dirty="0" err="1"/>
              <a:t>택일적</a:t>
            </a:r>
            <a:r>
              <a:rPr lang="en-US" altLang="ko-KR" sz="1100" dirty="0"/>
              <a:t>(</a:t>
            </a:r>
            <a:r>
              <a:rPr lang="ko-KR" altLang="en-US" sz="1100" dirty="0"/>
              <a:t>병렬적</a:t>
            </a:r>
            <a:r>
              <a:rPr lang="en-US" altLang="ko-KR" sz="1100" dirty="0"/>
              <a:t>)(OR)</a:t>
            </a:r>
            <a:r>
              <a:rPr lang="ko-KR" altLang="en-US" sz="1100" dirty="0"/>
              <a:t> 기재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직렬적</a:t>
            </a:r>
            <a:r>
              <a:rPr lang="en-US" altLang="ko-KR" sz="1100" dirty="0"/>
              <a:t>(AND)</a:t>
            </a:r>
            <a:r>
              <a:rPr lang="ko-KR" altLang="en-US" sz="1100" dirty="0"/>
              <a:t> 기재 모두 가능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en-US" altLang="ko-KR" sz="1100" dirty="0"/>
              <a:t>“</a:t>
            </a:r>
            <a:r>
              <a:rPr lang="ko-KR" altLang="en-US" sz="1100" dirty="0"/>
              <a:t>또는</a:t>
            </a:r>
            <a:r>
              <a:rPr lang="en-US" altLang="ko-KR" sz="1100" dirty="0"/>
              <a:t>(OR)”</a:t>
            </a:r>
            <a:r>
              <a:rPr lang="ko-KR" altLang="en-US" sz="1100" dirty="0"/>
              <a:t>는 </a:t>
            </a:r>
            <a:r>
              <a:rPr lang="ko-KR" altLang="en-US" sz="1100" dirty="0" err="1"/>
              <a:t>택일적</a:t>
            </a:r>
            <a:r>
              <a:rPr lang="ko-KR" altLang="en-US" sz="1100" dirty="0"/>
              <a:t> 기재 만족하나</a:t>
            </a:r>
            <a:r>
              <a:rPr lang="en-US" altLang="ko-KR" sz="1100" dirty="0"/>
              <a:t>, “</a:t>
            </a:r>
            <a:r>
              <a:rPr lang="ko-KR" altLang="en-US" sz="1100" dirty="0"/>
              <a:t>및</a:t>
            </a:r>
            <a:r>
              <a:rPr lang="en-US" altLang="ko-KR" sz="1100" dirty="0"/>
              <a:t>(AND)”,”</a:t>
            </a:r>
            <a:r>
              <a:rPr lang="ko-KR" altLang="en-US" sz="1100" dirty="0"/>
              <a:t>내지</a:t>
            </a:r>
            <a:r>
              <a:rPr lang="en-US" altLang="ko-KR" sz="1100" dirty="0"/>
              <a:t>(THROUGH)”</a:t>
            </a:r>
            <a:r>
              <a:rPr lang="ko-KR" altLang="en-US" sz="1100" dirty="0"/>
              <a:t>는 </a:t>
            </a:r>
            <a:r>
              <a:rPr lang="en-US" altLang="ko-KR" sz="1100" dirty="0"/>
              <a:t>“</a:t>
            </a:r>
            <a:r>
              <a:rPr lang="ko-KR" altLang="en-US" sz="1100" dirty="0"/>
              <a:t>중 어느 하나</a:t>
            </a:r>
            <a:r>
              <a:rPr lang="en-US" altLang="ko-KR" sz="1100" dirty="0"/>
              <a:t>”</a:t>
            </a:r>
            <a:r>
              <a:rPr lang="ko-KR" altLang="en-US" sz="1100" dirty="0"/>
              <a:t>와 결합된 경우 </a:t>
            </a:r>
            <a:r>
              <a:rPr lang="ko-KR" altLang="en-US" sz="1100" dirty="0" err="1"/>
              <a:t>택일적</a:t>
            </a:r>
            <a:r>
              <a:rPr lang="ko-KR" altLang="en-US" sz="1100" dirty="0"/>
              <a:t> 기재 만족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en-US" altLang="ko-KR" sz="1100" dirty="0"/>
              <a:t>“,(COMMA)”</a:t>
            </a:r>
            <a:r>
              <a:rPr lang="ko-KR" altLang="en-US" sz="1100" dirty="0"/>
              <a:t>는</a:t>
            </a:r>
            <a:r>
              <a:rPr lang="en-US" altLang="ko-KR" sz="1100" dirty="0"/>
              <a:t> </a:t>
            </a:r>
            <a:r>
              <a:rPr lang="ko-KR" altLang="en-US" sz="1100" dirty="0"/>
              <a:t>마지막 구분이 </a:t>
            </a:r>
            <a:r>
              <a:rPr lang="en-US" altLang="ko-KR" sz="1100" dirty="0"/>
              <a:t>“</a:t>
            </a:r>
            <a:r>
              <a:rPr lang="ko-KR" altLang="en-US" sz="1100" dirty="0"/>
              <a:t>또는</a:t>
            </a:r>
            <a:r>
              <a:rPr lang="en-US" altLang="ko-KR" sz="1100" dirty="0"/>
              <a:t>(OR)”,’</a:t>
            </a:r>
            <a:r>
              <a:rPr lang="ko-KR" altLang="en-US" sz="1100" dirty="0"/>
              <a:t>및</a:t>
            </a:r>
            <a:r>
              <a:rPr lang="en-US" altLang="ko-KR" sz="1100" dirty="0"/>
              <a:t>(AND)”</a:t>
            </a:r>
            <a:r>
              <a:rPr lang="ko-KR" altLang="en-US" sz="1100" dirty="0"/>
              <a:t>인지 여부에 따라 성질 결정 </a:t>
            </a:r>
            <a:endParaRPr lang="en-US" altLang="ko-KR" sz="1100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3C1D5E28-2CC9-41E5-BC2E-41BDD5A7AF0F}"/>
              </a:ext>
            </a:extLst>
          </p:cNvPr>
          <p:cNvCxnSpPr>
            <a:stCxn id="47" idx="3"/>
            <a:endCxn id="69" idx="1"/>
          </p:cNvCxnSpPr>
          <p:nvPr/>
        </p:nvCxnSpPr>
        <p:spPr>
          <a:xfrm>
            <a:off x="6096000" y="3798784"/>
            <a:ext cx="380854" cy="5373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E056898-48CB-481A-8867-52D1E1BE45FA}"/>
              </a:ext>
            </a:extLst>
          </p:cNvPr>
          <p:cNvSpPr txBox="1"/>
          <p:nvPr/>
        </p:nvSpPr>
        <p:spPr>
          <a:xfrm>
            <a:off x="6476854" y="4874480"/>
            <a:ext cx="545548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 fontAlgn="base">
              <a:buFontTx/>
              <a:buChar char="-"/>
            </a:pPr>
            <a:r>
              <a:rPr lang="ko-KR" altLang="en-US" sz="1100" dirty="0"/>
              <a:t>다중청구항을 다중청구항으로 인용 불가</a:t>
            </a:r>
            <a:endParaRPr lang="en-US" altLang="ko-KR" sz="1100" dirty="0"/>
          </a:p>
          <a:p>
            <a:pPr marL="171450" indent="-171450" fontAlgn="base">
              <a:buFontTx/>
              <a:buChar char="-"/>
            </a:pPr>
            <a:r>
              <a:rPr lang="en-US" altLang="ko-KR" sz="1100" dirty="0"/>
              <a:t>2 </a:t>
            </a:r>
            <a:r>
              <a:rPr lang="ko-KR" altLang="en-US" sz="1100" dirty="0"/>
              <a:t>이상의 항을 인용하지 아니한 청구항은 시행령 제</a:t>
            </a:r>
            <a:r>
              <a:rPr lang="en-US" altLang="ko-KR" sz="1100" dirty="0"/>
              <a:t>5</a:t>
            </a:r>
            <a:r>
              <a:rPr lang="ko-KR" altLang="en-US" sz="1100" dirty="0"/>
              <a:t>조제</a:t>
            </a:r>
            <a:r>
              <a:rPr lang="en-US" altLang="ko-KR" sz="1100" dirty="0"/>
              <a:t>6</a:t>
            </a:r>
            <a:r>
              <a:rPr lang="ko-KR" altLang="en-US" sz="1100" dirty="0"/>
              <a:t>항 위반 아님</a:t>
            </a:r>
            <a:endParaRPr lang="en-US" altLang="ko-KR" sz="1100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88FDE95-BAAB-4F5C-8DBC-F348AF6C3131}"/>
              </a:ext>
            </a:extLst>
          </p:cNvPr>
          <p:cNvCxnSpPr>
            <a:stCxn id="49" idx="3"/>
            <a:endCxn id="73" idx="1"/>
          </p:cNvCxnSpPr>
          <p:nvPr/>
        </p:nvCxnSpPr>
        <p:spPr>
          <a:xfrm>
            <a:off x="6096000" y="4441141"/>
            <a:ext cx="380854" cy="6487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7074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종속항의 필요성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6A2EB-D3D4-E5E8-A940-0994DD9AC6DC}"/>
              </a:ext>
            </a:extLst>
          </p:cNvPr>
          <p:cNvSpPr txBox="1"/>
          <p:nvPr/>
        </p:nvSpPr>
        <p:spPr>
          <a:xfrm>
            <a:off x="77875" y="986046"/>
            <a:ext cx="1193632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300" dirty="0"/>
              <a:t>청구범위의 청구항은 상호 독립되어 있기 때문에 </a:t>
            </a:r>
            <a:r>
              <a:rPr lang="ko-KR" altLang="en-US" sz="1300" dirty="0" err="1"/>
              <a:t>독립항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종속항</a:t>
            </a:r>
            <a:r>
              <a:rPr lang="ko-KR" altLang="en-US" sz="1300" dirty="0"/>
              <a:t> 상관없이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특허요건을 판단하고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등륵후에는</a:t>
            </a:r>
            <a:r>
              <a:rPr lang="ko-KR" altLang="en-US" sz="1300" dirty="0"/>
              <a:t>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침해여부를 판단하는 것이 원칙이다</a:t>
            </a:r>
            <a:r>
              <a:rPr lang="en-US" altLang="ko-KR" sz="1300" dirty="0"/>
              <a:t>. </a:t>
            </a:r>
            <a:r>
              <a:rPr lang="ko-KR" altLang="en-US" sz="1300" dirty="0"/>
              <a:t>그러나 종속항의 보호범위는 독립항을 한정하거나 부가하여 구체화한 청구항이기 때문에 독립항의 보호범위보다 상대적으로 좁다</a:t>
            </a:r>
            <a:r>
              <a:rPr lang="en-US" altLang="ko-KR" sz="1300" dirty="0"/>
              <a:t>. </a:t>
            </a:r>
            <a:r>
              <a:rPr lang="ko-KR" altLang="en-US" sz="1300" dirty="0"/>
              <a:t>따라서 독립항이 특허요건판단에 있어서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아니면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종속항도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아니다</a:t>
            </a:r>
            <a:r>
              <a:rPr lang="en-US" altLang="ko-KR" sz="1300" dirty="0"/>
              <a:t>. </a:t>
            </a:r>
            <a:r>
              <a:rPr lang="ko-KR" altLang="en-US" sz="1300" dirty="0" err="1"/>
              <a:t>등록후</a:t>
            </a:r>
            <a:r>
              <a:rPr lang="ko-KR" altLang="en-US" sz="1300" dirty="0"/>
              <a:t> 침해여부판단에 있어서도 독립항의 침해가 아니면 종속항의 침해도 되지 아니한다</a:t>
            </a:r>
            <a:r>
              <a:rPr lang="en-US" altLang="ko-KR" sz="1300" dirty="0"/>
              <a:t>(</a:t>
            </a:r>
            <a:r>
              <a:rPr lang="ko-KR" altLang="en-US" sz="1300" dirty="0"/>
              <a:t>물론 독립항의 보호범위가 인정되지 아니하고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종속항의 보호범위만 인정되면 독립항의 침해가 아닐지라도 종속항의 침해가 될 수도 있다</a:t>
            </a:r>
            <a:r>
              <a:rPr lang="en-US" altLang="ko-KR" sz="1300" dirty="0"/>
              <a:t>). </a:t>
            </a:r>
            <a:r>
              <a:rPr lang="ko-KR" altLang="en-US" sz="1300" dirty="0"/>
              <a:t>이와 같은 논리라면 표면적으로 살펴보면 종속항의 존재 의의가 없는 것으로 보일 수도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종속항의 가장 중요한 존재 의의는 </a:t>
            </a:r>
            <a:r>
              <a:rPr lang="ko-KR" altLang="en-US" sz="1300" dirty="0">
                <a:highlight>
                  <a:srgbClr val="FFFF00"/>
                </a:highlight>
              </a:rPr>
              <a:t>등록 후 특허의 취소나 무효 가능성을 대비</a:t>
            </a:r>
            <a:r>
              <a:rPr lang="ko-KR" altLang="en-US" sz="1300" dirty="0"/>
              <a:t>할 수 있다는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제</a:t>
            </a:r>
            <a:r>
              <a:rPr lang="en-US" altLang="ko-KR" sz="1300" dirty="0"/>
              <a:t>3</a:t>
            </a:r>
            <a:r>
              <a:rPr lang="ko-KR" altLang="en-US" sz="1300" dirty="0"/>
              <a:t>자가 실시하는 발명이 독립항과 그 종속항의 침해인 경우 독립항이 특허취소신청에 의하여 취소나 특허무효심판에 의하여 무효가 되더라도 종속항이 있다면 권리행사를 할 수 있게 된다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종속항에 의하여 권리행사를 하기 위해서는 종속항에는 독립항을 한정하거나 부가하여 구체화해서 </a:t>
            </a:r>
            <a:r>
              <a:rPr lang="ko-KR" altLang="en-US" sz="1300" dirty="0">
                <a:highlight>
                  <a:srgbClr val="FFFF00"/>
                </a:highlight>
              </a:rPr>
              <a:t>별개의 새로운 발명이라고 부를 수 있는 정도의 구성요소</a:t>
            </a:r>
            <a:r>
              <a:rPr lang="ko-KR" altLang="en-US" sz="1300" dirty="0"/>
              <a:t>를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즉</a:t>
            </a:r>
            <a:r>
              <a:rPr lang="en-US" altLang="ko-KR" sz="1300" dirty="0"/>
              <a:t>, </a:t>
            </a:r>
            <a:r>
              <a:rPr lang="ko-KR" altLang="en-US" sz="1300" dirty="0"/>
              <a:t>심사관이 독립항의 구성요소와 결합하였을 때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등의 특허요건 위반이 아니라고 판단할 만한 구성요소를 종속항에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그렇지 아니한 경우 </a:t>
            </a:r>
            <a:r>
              <a:rPr lang="ko-KR" altLang="en-US" sz="1300" dirty="0">
                <a:solidFill>
                  <a:srgbClr val="FF0000"/>
                </a:solidFill>
              </a:rPr>
              <a:t>독립항의 특허요건 위반이 있으면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종속항도 같이 특허요건 위반이 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이와 같은 종속항을 적는 것은 출원인에게 </a:t>
            </a:r>
            <a:r>
              <a:rPr lang="ko-KR" altLang="en-US" sz="1300" dirty="0" err="1">
                <a:solidFill>
                  <a:srgbClr val="FF0000"/>
                </a:solidFill>
              </a:rPr>
              <a:t>심사청구료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특허료 등 청구항 수에 따라 달라지는 비용 부담만 가중시키는 결과를 초래한다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E971C09-41AB-9728-8F0A-85B9BE2B96EA}"/>
              </a:ext>
            </a:extLst>
          </p:cNvPr>
          <p:cNvCxnSpPr/>
          <p:nvPr/>
        </p:nvCxnSpPr>
        <p:spPr>
          <a:xfrm>
            <a:off x="0" y="287887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B366CD-C0BF-F171-90F5-A74A6D70CCC2}"/>
              </a:ext>
            </a:extLst>
          </p:cNvPr>
          <p:cNvSpPr/>
          <p:nvPr/>
        </p:nvSpPr>
        <p:spPr>
          <a:xfrm>
            <a:off x="111853" y="3046066"/>
            <a:ext cx="8424936" cy="3657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A78A7C0-1DC8-6988-31BD-C207EA2EAA9A}"/>
              </a:ext>
            </a:extLst>
          </p:cNvPr>
          <p:cNvCxnSpPr/>
          <p:nvPr/>
        </p:nvCxnSpPr>
        <p:spPr>
          <a:xfrm>
            <a:off x="399885" y="4048381"/>
            <a:ext cx="7920880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90C550C-A036-87B2-5577-89D2DCA97BC5}"/>
              </a:ext>
            </a:extLst>
          </p:cNvPr>
          <p:cNvSpPr/>
          <p:nvPr/>
        </p:nvSpPr>
        <p:spPr>
          <a:xfrm>
            <a:off x="903941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179CB54-6844-5ACF-FE73-5B7F921E8DF8}"/>
              </a:ext>
            </a:extLst>
          </p:cNvPr>
          <p:cNvSpPr/>
          <p:nvPr/>
        </p:nvSpPr>
        <p:spPr>
          <a:xfrm>
            <a:off x="2992173" y="3951322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88BFF0B-0713-E2CB-7BFC-37F9A335A491}"/>
              </a:ext>
            </a:extLst>
          </p:cNvPr>
          <p:cNvSpPr/>
          <p:nvPr/>
        </p:nvSpPr>
        <p:spPr>
          <a:xfrm>
            <a:off x="504440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82550DD-3310-F099-CF5B-F413FA0D3425}"/>
              </a:ext>
            </a:extLst>
          </p:cNvPr>
          <p:cNvSpPr/>
          <p:nvPr/>
        </p:nvSpPr>
        <p:spPr>
          <a:xfrm>
            <a:off x="5800486" y="3951322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61AA0F-C89B-7CA4-A455-CFF520528212}"/>
              </a:ext>
            </a:extLst>
          </p:cNvPr>
          <p:cNvSpPr txBox="1"/>
          <p:nvPr/>
        </p:nvSpPr>
        <p:spPr>
          <a:xfrm>
            <a:off x="2862849" y="3610497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D64B52-B69B-011A-0268-C7B07261E016}"/>
              </a:ext>
            </a:extLst>
          </p:cNvPr>
          <p:cNvSpPr txBox="1"/>
          <p:nvPr/>
        </p:nvSpPr>
        <p:spPr>
          <a:xfrm>
            <a:off x="4864381" y="3610496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1C479-8A5A-70F6-DC14-683A34C871A2}"/>
              </a:ext>
            </a:extLst>
          </p:cNvPr>
          <p:cNvSpPr txBox="1"/>
          <p:nvPr/>
        </p:nvSpPr>
        <p:spPr>
          <a:xfrm>
            <a:off x="5459496" y="3627366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0F0D60-B769-DAFA-A794-FAABAF6FB6E6}"/>
              </a:ext>
            </a:extLst>
          </p:cNvPr>
          <p:cNvSpPr/>
          <p:nvPr/>
        </p:nvSpPr>
        <p:spPr>
          <a:xfrm>
            <a:off x="350737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폐달을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938457A-6D85-046D-8404-D606BBDBF6B6}"/>
              </a:ext>
            </a:extLst>
          </p:cNvPr>
          <p:cNvSpPr/>
          <p:nvPr/>
        </p:nvSpPr>
        <p:spPr>
          <a:xfrm>
            <a:off x="427666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C9BA31-E5A3-8877-5FEC-9E471B82EA67}"/>
              </a:ext>
            </a:extLst>
          </p:cNvPr>
          <p:cNvSpPr txBox="1"/>
          <p:nvPr/>
        </p:nvSpPr>
        <p:spPr>
          <a:xfrm>
            <a:off x="4144301" y="361049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2663AF-C056-D7CE-AE9C-626C39AAA9C9}"/>
              </a:ext>
            </a:extLst>
          </p:cNvPr>
          <p:cNvSpPr txBox="1"/>
          <p:nvPr/>
        </p:nvSpPr>
        <p:spPr>
          <a:xfrm>
            <a:off x="1622165" y="3616021"/>
            <a:ext cx="64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공지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9724B0D-7EEB-CDE1-5086-288689D87D4D}"/>
              </a:ext>
            </a:extLst>
          </p:cNvPr>
          <p:cNvSpPr/>
          <p:nvPr/>
        </p:nvSpPr>
        <p:spPr>
          <a:xfrm>
            <a:off x="1826533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2F43CA-606C-DC0F-74E8-8DF1AC79B91A}"/>
              </a:ext>
            </a:extLst>
          </p:cNvPr>
          <p:cNvSpPr/>
          <p:nvPr/>
        </p:nvSpPr>
        <p:spPr>
          <a:xfrm>
            <a:off x="3740029" y="4258569"/>
            <a:ext cx="1368152" cy="17641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안장을 더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기어를 더 포함하는 자전거</a:t>
            </a:r>
            <a:r>
              <a:rPr lang="en-US" altLang="ko-KR" sz="1000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123906-FB3D-5265-9EA0-32702514F1EC}"/>
              </a:ext>
            </a:extLst>
          </p:cNvPr>
          <p:cNvSpPr txBox="1"/>
          <p:nvPr/>
        </p:nvSpPr>
        <p:spPr>
          <a:xfrm>
            <a:off x="773747" y="3627366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E3D51F6-D20D-DD01-4D26-EF5BB86F44BB}"/>
              </a:ext>
            </a:extLst>
          </p:cNvPr>
          <p:cNvSpPr/>
          <p:nvPr/>
        </p:nvSpPr>
        <p:spPr>
          <a:xfrm>
            <a:off x="6772593" y="395132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D70028-1E6F-9BF4-A5ED-91B771EF3F82}"/>
              </a:ext>
            </a:extLst>
          </p:cNvPr>
          <p:cNvSpPr txBox="1"/>
          <p:nvPr/>
        </p:nvSpPr>
        <p:spPr>
          <a:xfrm>
            <a:off x="6304541" y="361049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침해소송제기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E18ADB-D654-D6C4-F5D0-645F1299B3D2}"/>
              </a:ext>
            </a:extLst>
          </p:cNvPr>
          <p:cNvSpPr/>
          <p:nvPr/>
        </p:nvSpPr>
        <p:spPr>
          <a:xfrm>
            <a:off x="1480005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안장을 포함하는 자전거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FF1711-F747-4EDE-66B9-9F7DA8931642}"/>
              </a:ext>
            </a:extLst>
          </p:cNvPr>
          <p:cNvSpPr/>
          <p:nvPr/>
        </p:nvSpPr>
        <p:spPr>
          <a:xfrm>
            <a:off x="2607393" y="4258569"/>
            <a:ext cx="1080120" cy="17641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B1772B-C610-6A15-0938-FA89CDE29961}"/>
              </a:ext>
            </a:extLst>
          </p:cNvPr>
          <p:cNvSpPr/>
          <p:nvPr/>
        </p:nvSpPr>
        <p:spPr>
          <a:xfrm>
            <a:off x="5368437" y="4258569"/>
            <a:ext cx="1080120" cy="17641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라이트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 및 기어를 포함하는 자전거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5E6AF4C-7BAF-82BD-E4B5-DB33C645303B}"/>
              </a:ext>
            </a:extLst>
          </p:cNvPr>
          <p:cNvSpPr/>
          <p:nvPr/>
        </p:nvSpPr>
        <p:spPr>
          <a:xfrm>
            <a:off x="7535689" y="395132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37D09D-8473-33FE-1D4C-5425E00E265A}"/>
              </a:ext>
            </a:extLst>
          </p:cNvPr>
          <p:cNvSpPr txBox="1"/>
          <p:nvPr/>
        </p:nvSpPr>
        <p:spPr>
          <a:xfrm>
            <a:off x="7036061" y="421247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무효심판청구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5B1606-B547-6890-87A8-3663EBDC29FC}"/>
              </a:ext>
            </a:extLst>
          </p:cNvPr>
          <p:cNvSpPr txBox="1"/>
          <p:nvPr/>
        </p:nvSpPr>
        <p:spPr>
          <a:xfrm>
            <a:off x="433910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CC1D1F-6E6C-F780-56A2-D92F2DA02A01}"/>
              </a:ext>
            </a:extLst>
          </p:cNvPr>
          <p:cNvSpPr txBox="1"/>
          <p:nvPr/>
        </p:nvSpPr>
        <p:spPr>
          <a:xfrm>
            <a:off x="1407997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B260E5-EABA-EC13-00A6-80F1D5ECBE94}"/>
              </a:ext>
            </a:extLst>
          </p:cNvPr>
          <p:cNvSpPr txBox="1"/>
          <p:nvPr/>
        </p:nvSpPr>
        <p:spPr>
          <a:xfrm>
            <a:off x="2565492" y="3432134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</a:rPr>
              <a:t>제</a:t>
            </a:r>
            <a:r>
              <a:rPr lang="en-US" altLang="ko-KR" sz="1000" dirty="0">
                <a:solidFill>
                  <a:schemeClr val="accent4"/>
                </a:solidFill>
              </a:rPr>
              <a:t>3</a:t>
            </a:r>
            <a:r>
              <a:rPr lang="ko-KR" altLang="en-US" sz="1000" dirty="0">
                <a:solidFill>
                  <a:schemeClr val="accent4"/>
                </a:solidFill>
              </a:rPr>
              <a:t>자 </a:t>
            </a:r>
            <a:r>
              <a:rPr lang="en-US" altLang="ko-KR" sz="1000" dirty="0">
                <a:solidFill>
                  <a:schemeClr val="accent4"/>
                </a:solidFill>
              </a:rPr>
              <a:t>SEARCH)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48835-0822-DF9F-6928-6676E7A96530}"/>
              </a:ext>
            </a:extLst>
          </p:cNvPr>
          <p:cNvSpPr txBox="1"/>
          <p:nvPr/>
        </p:nvSpPr>
        <p:spPr>
          <a:xfrm>
            <a:off x="6581581" y="5136851"/>
            <a:ext cx="1883199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just">
              <a:defRPr/>
            </a:pPr>
            <a:r>
              <a:rPr lang="ko-KR" altLang="en-US" sz="2400" b="1" dirty="0" err="1">
                <a:solidFill>
                  <a:srgbClr val="FF0000"/>
                </a:solidFill>
                <a:cs typeface="맑은 고딕"/>
              </a:rPr>
              <a:t>청구항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 2, 3</a:t>
            </a:r>
            <a:r>
              <a:rPr lang="ko-KR" altLang="en-US" sz="2400" b="1" dirty="0">
                <a:solidFill>
                  <a:srgbClr val="FF0000"/>
                </a:solidFill>
                <a:cs typeface="맑은 고딕"/>
              </a:rPr>
              <a:t>의 가치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?</a:t>
            </a:r>
            <a:endParaRPr lang="ko-KR" altLang="en-US" sz="2400" b="1" dirty="0">
              <a:solidFill>
                <a:srgbClr val="FF0000"/>
              </a:solidFill>
              <a:cs typeface="맑은 고딕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38C9B0F-E203-4668-7195-AEBFAE13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64341"/>
              </p:ext>
            </p:extLst>
          </p:nvPr>
        </p:nvGraphicFramePr>
        <p:xfrm>
          <a:off x="8675198" y="3026456"/>
          <a:ext cx="3347522" cy="3672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6754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출원발명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심사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심판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(1&amp;2&amp;3)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67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en-US" altLang="ko-KR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안장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기어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680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516475" y="5205528"/>
            <a:ext cx="5571066" cy="484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종결부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16475" y="4621328"/>
            <a:ext cx="5571066" cy="484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연결부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16475" y="2810933"/>
            <a:ext cx="5571066" cy="17102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특징부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16475" y="2159000"/>
            <a:ext cx="5571066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전제부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청구항의 구조</a:t>
            </a:r>
            <a:r>
              <a:rPr lang="en-US" altLang="ko-KR" dirty="0"/>
              <a:t>(Claim Structure)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133</a:t>
            </a:fld>
            <a:endParaRPr lang="ko-KR" altLang="en-US"/>
          </a:p>
        </p:txBody>
      </p:sp>
      <p:graphicFrame>
        <p:nvGraphicFramePr>
          <p:cNvPr id="34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359918"/>
              </p:ext>
            </p:extLst>
          </p:nvPr>
        </p:nvGraphicFramePr>
        <p:xfrm>
          <a:off x="7044289" y="1405469"/>
          <a:ext cx="4665126" cy="485217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45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0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형 식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작     성    내     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전제부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기술분야 한정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기술이 적용되는 대상물품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용도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한정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선행기술로 생각하여 기재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6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특징부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본체부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발명의 핵심적 구성요소 기재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보호받으려고 하는 실질적인 구성요소 기재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32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연결부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연결용어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을 포함하는 것을 특징으로 하는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개방형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로 구성된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이루어진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을 특징으로 하는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폐쇄형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로 필수적으로 구성된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이루어진 것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을 특징으로 하는 </a:t>
                      </a: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(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반폐쇄형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6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종결부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o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발명의 카테고리 기재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주로 발명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고안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의 명칭과 동일한 용어 사용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 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종속항은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독립항과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일치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16475" y="1405469"/>
            <a:ext cx="457048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/>
              <a:t>[</a:t>
            </a:r>
            <a:r>
              <a:rPr lang="ko-KR" altLang="en-US" sz="2000" dirty="0" err="1"/>
              <a:t>청구항</a:t>
            </a:r>
            <a:r>
              <a:rPr lang="ko-KR" altLang="en-US" sz="2000" dirty="0"/>
              <a:t> </a:t>
            </a:r>
            <a:r>
              <a:rPr lang="en-US" altLang="ko-KR" sz="2000" dirty="0"/>
              <a:t>1]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…. </a:t>
            </a:r>
            <a:r>
              <a:rPr lang="ko-KR" altLang="en-US" sz="2000" dirty="0"/>
              <a:t>에 있어서</a:t>
            </a:r>
            <a:r>
              <a:rPr lang="en-US" altLang="ko-KR" sz="2000" dirty="0"/>
              <a:t>,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(function)…. A </a:t>
            </a:r>
            <a:r>
              <a:rPr lang="ko-KR" altLang="en-US" sz="2000" dirty="0"/>
              <a:t>수단</a:t>
            </a:r>
            <a:r>
              <a:rPr lang="en-US" altLang="ko-KR" sz="2000" dirty="0"/>
              <a:t>;</a:t>
            </a:r>
          </a:p>
          <a:p>
            <a:pPr>
              <a:lnSpc>
                <a:spcPct val="200000"/>
              </a:lnSpc>
            </a:pPr>
            <a:r>
              <a:rPr lang="en-US" altLang="ko-KR" sz="2000" dirty="0"/>
              <a:t>(function)…. B </a:t>
            </a:r>
            <a:r>
              <a:rPr lang="ko-KR" altLang="en-US" sz="2000" dirty="0"/>
              <a:t>수단</a:t>
            </a:r>
            <a:r>
              <a:rPr lang="en-US" altLang="ko-KR" sz="2000" dirty="0"/>
              <a:t>; </a:t>
            </a:r>
            <a:r>
              <a:rPr lang="ko-KR" altLang="en-US" sz="2000" dirty="0"/>
              <a:t>및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r>
              <a:rPr lang="en-US" altLang="ko-KR" sz="2000" dirty="0"/>
              <a:t>(function)…. C, D </a:t>
            </a:r>
            <a:r>
              <a:rPr lang="ko-KR" altLang="en-US" sz="2000" dirty="0"/>
              <a:t>및 </a:t>
            </a:r>
            <a:r>
              <a:rPr lang="en-US" altLang="ko-KR" sz="2000" dirty="0"/>
              <a:t>E </a:t>
            </a:r>
            <a:r>
              <a:rPr lang="ko-KR" altLang="en-US" sz="2000" dirty="0"/>
              <a:t>중 어느 한 수단</a:t>
            </a:r>
            <a:r>
              <a:rPr lang="en-US" altLang="ko-KR" sz="2000" dirty="0"/>
              <a:t>; </a:t>
            </a:r>
          </a:p>
          <a:p>
            <a:pPr>
              <a:lnSpc>
                <a:spcPct val="200000"/>
              </a:lnSpc>
            </a:pPr>
            <a:r>
              <a:rPr lang="ko-KR" altLang="en-US" sz="2000" dirty="0"/>
              <a:t>을 포함하는 것을 특징으로 하는 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r>
              <a:rPr lang="en-US" altLang="ko-KR" sz="2000" dirty="0"/>
              <a:t>X</a:t>
            </a:r>
            <a:endParaRPr lang="ko-KR" altLang="en-US" sz="2000" dirty="0"/>
          </a:p>
        </p:txBody>
      </p:sp>
      <p:cxnSp>
        <p:nvCxnSpPr>
          <p:cNvPr id="46" name="직선 연결선 45"/>
          <p:cNvCxnSpPr/>
          <p:nvPr/>
        </p:nvCxnSpPr>
        <p:spPr>
          <a:xfrm>
            <a:off x="6478412" y="1754974"/>
            <a:ext cx="0" cy="40517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/>
        </p:nvSpPr>
        <p:spPr>
          <a:xfrm>
            <a:off x="414874" y="2040467"/>
            <a:ext cx="2167467" cy="77046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endCxn id="7" idx="7"/>
          </p:cNvCxnSpPr>
          <p:nvPr/>
        </p:nvCxnSpPr>
        <p:spPr>
          <a:xfrm flipH="1">
            <a:off x="2264923" y="1651000"/>
            <a:ext cx="681485" cy="50229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46408" y="1382443"/>
            <a:ext cx="28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</a:rPr>
              <a:t>젭슨</a:t>
            </a:r>
            <a:r>
              <a:rPr lang="ko-KR" altLang="en-US" dirty="0">
                <a:solidFill>
                  <a:srgbClr val="0070C0"/>
                </a:solidFill>
              </a:rPr>
              <a:t> 청구항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(Jepson Claim)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2125141" y="3850862"/>
            <a:ext cx="2167467" cy="77046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3496741" y="6072977"/>
            <a:ext cx="28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</a:rPr>
              <a:t>마쿠쉬</a:t>
            </a:r>
            <a:r>
              <a:rPr lang="ko-KR" altLang="en-US" dirty="0">
                <a:solidFill>
                  <a:srgbClr val="0070C0"/>
                </a:solidFill>
              </a:rPr>
              <a:t> 청구항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>
                <a:solidFill>
                  <a:srgbClr val="0070C0"/>
                </a:solidFill>
              </a:rPr>
              <a:t>(Markush Claim)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 flipH="1" flipV="1">
            <a:off x="3302008" y="4621328"/>
            <a:ext cx="990600" cy="145164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516475" y="3220838"/>
            <a:ext cx="2370666" cy="77046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64074" y="5971377"/>
            <a:ext cx="28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기능적 표현으로 기재된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en-US" dirty="0">
                <a:solidFill>
                  <a:srgbClr val="0070C0"/>
                </a:solidFill>
              </a:rPr>
              <a:t>청구항</a:t>
            </a:r>
          </a:p>
        </p:txBody>
      </p:sp>
      <p:cxnSp>
        <p:nvCxnSpPr>
          <p:cNvPr id="56" name="직선 화살표 연결선 55"/>
          <p:cNvCxnSpPr/>
          <p:nvPr/>
        </p:nvCxnSpPr>
        <p:spPr>
          <a:xfrm flipV="1">
            <a:off x="1354674" y="3991304"/>
            <a:ext cx="245534" cy="198154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919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젭슨</a:t>
            </a:r>
            <a:r>
              <a:rPr lang="ko-KR" altLang="en-US" sz="2400" dirty="0"/>
              <a:t> 청구항</a:t>
            </a:r>
            <a:r>
              <a:rPr lang="en-US" altLang="ko-KR" sz="2400" dirty="0"/>
              <a:t>, PBP </a:t>
            </a:r>
            <a:r>
              <a:rPr lang="ko-KR" altLang="en-US" sz="2400" dirty="0"/>
              <a:t>청구항</a:t>
            </a:r>
            <a:r>
              <a:rPr lang="en-US" altLang="ko-KR" sz="2400" dirty="0"/>
              <a:t> </a:t>
            </a:r>
            <a:r>
              <a:rPr lang="ko-KR" altLang="en-US" sz="2400" dirty="0"/>
              <a:t>및</a:t>
            </a:r>
            <a:r>
              <a:rPr lang="en-US" altLang="ko-KR" sz="2400" dirty="0"/>
              <a:t> </a:t>
            </a:r>
            <a:r>
              <a:rPr lang="ko-KR" altLang="en-US" sz="2400" dirty="0"/>
              <a:t>기능적 표현 청구항의 비교분석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134</a:t>
            </a:fld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1F1854-F0B3-4FD3-87BB-6829DE340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85750"/>
              </p:ext>
            </p:extLst>
          </p:nvPr>
        </p:nvGraphicFramePr>
        <p:xfrm>
          <a:off x="343929" y="1136821"/>
          <a:ext cx="11504141" cy="537777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48020">
                  <a:extLst>
                    <a:ext uri="{9D8B030D-6E8A-4147-A177-3AD203B41FA5}">
                      <a16:colId xmlns:a16="http://schemas.microsoft.com/office/drawing/2014/main" val="3899561792"/>
                    </a:ext>
                  </a:extLst>
                </a:gridCol>
                <a:gridCol w="4311597">
                  <a:extLst>
                    <a:ext uri="{9D8B030D-6E8A-4147-A177-3AD203B41FA5}">
                      <a16:colId xmlns:a16="http://schemas.microsoft.com/office/drawing/2014/main" val="585898363"/>
                    </a:ext>
                  </a:extLst>
                </a:gridCol>
                <a:gridCol w="2944395">
                  <a:extLst>
                    <a:ext uri="{9D8B030D-6E8A-4147-A177-3AD203B41FA5}">
                      <a16:colId xmlns:a16="http://schemas.microsoft.com/office/drawing/2014/main" val="2189036205"/>
                    </a:ext>
                  </a:extLst>
                </a:gridCol>
                <a:gridCol w="3400129">
                  <a:extLst>
                    <a:ext uri="{9D8B030D-6E8A-4147-A177-3AD203B41FA5}">
                      <a16:colId xmlns:a16="http://schemas.microsoft.com/office/drawing/2014/main" val="3126134941"/>
                    </a:ext>
                  </a:extLst>
                </a:gridCol>
              </a:tblGrid>
              <a:tr h="2894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effectLst/>
                        </a:rPr>
                        <a:t>구분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젭슨 청구항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effectLst/>
                        </a:rPr>
                        <a:t>PBP </a:t>
                      </a:r>
                      <a:r>
                        <a:rPr lang="ko-KR" altLang="en-US" sz="1200" b="1" kern="0" spc="-100">
                          <a:effectLst/>
                        </a:rPr>
                        <a:t>청구항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chemeClr val="tx1"/>
                          </a:solidFill>
                          <a:effectLst/>
                        </a:rPr>
                        <a:t>기능적 표현 청구항</a:t>
                      </a:r>
                      <a:endParaRPr lang="ko-KR" altLang="en-US" sz="1200" b="1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43822"/>
                  </a:ext>
                </a:extLst>
              </a:tr>
              <a:tr h="5298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형태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effectLst/>
                        </a:rPr>
                        <a:t>……</a:t>
                      </a:r>
                      <a:r>
                        <a:rPr lang="ko-KR" altLang="en-US" sz="1200" kern="0" spc="-50">
                          <a:effectLst/>
                        </a:rPr>
                        <a:t>에 있어서</a:t>
                      </a:r>
                      <a:r>
                        <a:rPr lang="en-US" altLang="ko-KR" sz="1200" kern="0" spc="-50">
                          <a:effectLst/>
                        </a:rPr>
                        <a:t>, ~</a:t>
                      </a:r>
                      <a:r>
                        <a:rPr lang="ko-KR" altLang="en-US" sz="1200" kern="0" spc="-50">
                          <a:effectLst/>
                        </a:rPr>
                        <a:t>를 특징으로 하는 ○○발명</a:t>
                      </a:r>
                      <a:endParaRPr lang="ko-KR" altLang="en-US" sz="12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X </a:t>
                      </a:r>
                      <a:r>
                        <a:rPr lang="ko-KR" altLang="en-US" sz="1200" kern="0" spc="-50" dirty="0">
                          <a:effectLst/>
                        </a:rPr>
                        <a:t>단계 후 </a:t>
                      </a:r>
                      <a:r>
                        <a:rPr lang="en-US" altLang="ko-KR" sz="1200" kern="0" spc="-50" dirty="0">
                          <a:effectLst/>
                        </a:rPr>
                        <a:t>Y </a:t>
                      </a:r>
                      <a:r>
                        <a:rPr lang="ko-KR" altLang="en-US" sz="1200" kern="0" spc="-50" dirty="0">
                          <a:effectLst/>
                        </a:rPr>
                        <a:t>단계를 거치는 방법에 의해 제조되는 화합물 </a:t>
                      </a:r>
                      <a:r>
                        <a:rPr lang="en-US" altLang="ko-KR" sz="1200" kern="0" spc="-50" dirty="0">
                          <a:effectLst/>
                        </a:rPr>
                        <a:t>Z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구성요소의 일부 또는 전부가 통상적인 구조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방법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물질 등이 아니라 기능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140" dirty="0">
                          <a:solidFill>
                            <a:schemeClr val="tx1"/>
                          </a:solidFill>
                          <a:effectLst/>
                        </a:rPr>
                        <a:t>성질 등의 기능적 표현으로 기재된 청구항</a:t>
                      </a:r>
                      <a:endParaRPr lang="ko-KR" altLang="en-US" sz="1200" kern="0" spc="-14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2189363391"/>
                  </a:ext>
                </a:extLst>
              </a:tr>
              <a:tr h="10426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필요성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tx1"/>
                          </a:solidFill>
                          <a:effectLst/>
                        </a:rPr>
                        <a:t>소위 개량발명에 있어서 선행기술을 청구항의 전문에 기재하고 선행기술에 대하여 그 발명이 특징으로 하는 개량부분을 특징부에 명확하게 지적하여 독점권이 </a:t>
                      </a:r>
                      <a:r>
                        <a:rPr lang="ko-KR" altLang="en-US" sz="1200" kern="0" spc="-70" dirty="0" err="1">
                          <a:solidFill>
                            <a:schemeClr val="tx1"/>
                          </a:solidFill>
                          <a:effectLst/>
                        </a:rPr>
                        <a:t>허여될</a:t>
                      </a:r>
                      <a:r>
                        <a:rPr lang="ko-KR" altLang="en-US" sz="1200" kern="0" spc="-70" dirty="0">
                          <a:solidFill>
                            <a:schemeClr val="tx1"/>
                          </a:solidFill>
                          <a:effectLst/>
                        </a:rPr>
                        <a:t> 발명의 기술영역을 명백히 하는데 공헌함</a:t>
                      </a:r>
                      <a:endParaRPr lang="ko-KR" altLang="en-US" sz="1200" kern="0" spc="-7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10">
                          <a:effectLst/>
                        </a:rPr>
                        <a:t>물건</a:t>
                      </a:r>
                      <a:r>
                        <a:rPr lang="en-US" altLang="ko-KR" sz="1200" kern="0" spc="-110">
                          <a:effectLst/>
                        </a:rPr>
                        <a:t>(product)</a:t>
                      </a:r>
                      <a:r>
                        <a:rPr lang="ko-KR" altLang="en-US" sz="1200" kern="0" spc="-110">
                          <a:effectLst/>
                        </a:rPr>
                        <a:t>의 구조적 특성을 규명하지 못하여 그것을 제조하는 제법</a:t>
                      </a:r>
                      <a:r>
                        <a:rPr lang="en-US" altLang="ko-KR" sz="1200" kern="0" spc="-110">
                          <a:effectLst/>
                        </a:rPr>
                        <a:t>(process)</a:t>
                      </a:r>
                      <a:r>
                        <a:rPr lang="ko-KR" altLang="en-US" sz="1200" kern="0" spc="-110">
                          <a:effectLst/>
                        </a:rPr>
                        <a:t>을 특정하지 않으면 그 물건도 한정할 수 없는 경우에 이용됨</a:t>
                      </a:r>
                      <a:endParaRPr lang="ko-KR" altLang="en-US" sz="1200" kern="0" spc="-11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발명의 구성요소로 통상적인 구조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물질 등을 명확하게 구체화하는 것이 불필요하거나 그에 대한 적합한 발명 명칭이 존재하지 않은 경우에 이용됨</a:t>
                      </a: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158052828"/>
                  </a:ext>
                </a:extLst>
              </a:tr>
              <a:tr h="13597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요건 판단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20" dirty="0">
                          <a:effectLst/>
                          <a:highlight>
                            <a:srgbClr val="FFFF00"/>
                          </a:highlight>
                        </a:rPr>
                        <a:t>전제부의 구성요소와 특징부의 구성요소의 결합에 의한 전체에 의하여 출원발명</a:t>
                      </a:r>
                      <a:r>
                        <a:rPr lang="ko-KR" altLang="en-US" sz="1200" kern="0" spc="-120" dirty="0">
                          <a:effectLst/>
                        </a:rPr>
                        <a:t>을 특정함</a:t>
                      </a:r>
                      <a:r>
                        <a:rPr lang="en-US" altLang="ko-KR" sz="1200" kern="0" spc="-120" dirty="0">
                          <a:effectLst/>
                        </a:rPr>
                        <a:t>(</a:t>
                      </a:r>
                      <a:r>
                        <a:rPr lang="ko-KR" altLang="en-US" sz="1200" kern="0" spc="-120" dirty="0">
                          <a:effectLst/>
                        </a:rPr>
                        <a:t>다만</a:t>
                      </a:r>
                      <a:r>
                        <a:rPr lang="en-US" altLang="ko-KR" sz="1200" kern="0" spc="-120" dirty="0">
                          <a:effectLst/>
                        </a:rPr>
                        <a:t>, </a:t>
                      </a:r>
                      <a:r>
                        <a:rPr lang="ko-KR" altLang="en-US" sz="1200" kern="0" spc="-70" dirty="0">
                          <a:effectLst/>
                        </a:rPr>
                        <a:t>명세서의 전체적인 기재와 출원 경과를 종합적으로 고려하여 출원인이 일정한 구성요소는 공지기술이라는 취지로 청구범위의 전제부에 기재하였음을 인정할 수 있는 경우</a:t>
                      </a:r>
                      <a:r>
                        <a:rPr lang="en-US" altLang="ko-KR" sz="1200" kern="0" spc="-70" dirty="0">
                          <a:effectLst/>
                        </a:rPr>
                        <a:t>(</a:t>
                      </a:r>
                      <a:r>
                        <a:rPr lang="ko-KR" altLang="en-US" sz="1200" kern="0" spc="-70" dirty="0">
                          <a:effectLst/>
                        </a:rPr>
                        <a:t>공지 자인</a:t>
                      </a:r>
                      <a:r>
                        <a:rPr lang="en-US" altLang="ko-KR" sz="1200" kern="0" spc="-70" dirty="0">
                          <a:effectLst/>
                        </a:rPr>
                        <a:t>)</a:t>
                      </a:r>
                      <a:r>
                        <a:rPr lang="ko-KR" altLang="en-US" sz="1200" kern="0" spc="-70" dirty="0">
                          <a:effectLst/>
                        </a:rPr>
                        <a:t>에는 별도의 증거 없이도 </a:t>
                      </a:r>
                      <a:r>
                        <a:rPr lang="ko-KR" altLang="en-US" sz="1200" kern="0" spc="-70" dirty="0" err="1">
                          <a:effectLst/>
                        </a:rPr>
                        <a:t>전제부</a:t>
                      </a:r>
                      <a:r>
                        <a:rPr lang="ko-KR" altLang="en-US" sz="1200" kern="0" spc="-70" dirty="0">
                          <a:effectLst/>
                        </a:rPr>
                        <a:t> 기재 구성요소를 출원 전 공지된 것이라고 사실상 추정함</a:t>
                      </a:r>
                      <a:r>
                        <a:rPr lang="en-US" altLang="ko-KR" sz="1200" kern="0" spc="-70" dirty="0">
                          <a:effectLst/>
                        </a:rPr>
                        <a:t>)</a:t>
                      </a:r>
                      <a:endParaRPr lang="ko-KR" altLang="en-US" sz="1200" kern="0" spc="-12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물건</a:t>
                      </a:r>
                      <a:r>
                        <a:rPr lang="en-US" altLang="ko-KR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제조방법의 기재가 물건의 구조나 성질에 영향을 준 경우 그 제조방법에 의하여 특정되는 구조나 성질을 가지는 물건</a:t>
                      </a:r>
                      <a:r>
                        <a:rPr lang="en-US" altLang="ko-KR" sz="1200" kern="0" spc="-60" dirty="0">
                          <a:effectLst/>
                          <a:highlight>
                            <a:srgbClr val="FFFF00"/>
                          </a:highlight>
                        </a:rPr>
                        <a:t>) </a:t>
                      </a:r>
                      <a:r>
                        <a:rPr lang="ko-KR" altLang="en-US" sz="1200" kern="0" spc="-60" dirty="0">
                          <a:effectLst/>
                        </a:rPr>
                        <a:t>으로 출원발명을 특정함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60" dirty="0">
                          <a:effectLst/>
                        </a:rPr>
                        <a:t>→ 제조방법에 특허성이 있는지 여부와는 무관</a:t>
                      </a:r>
                      <a:endParaRPr lang="ko-KR" altLang="en-US" sz="12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성질 등을 가지는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모든 발명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출원발명을 특정함</a:t>
                      </a: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963619718"/>
                  </a:ext>
                </a:extLst>
              </a:tr>
              <a:tr h="21560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침해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여부 판단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  <a:highlight>
                            <a:srgbClr val="FFFF00"/>
                          </a:highlight>
                        </a:rPr>
                        <a:t>특허요건 판단과 마찬가지로 전제부의 구성요소와 특징부의 구성요소의 결합에 의한 전체에 의하여 특허발명</a:t>
                      </a:r>
                      <a:r>
                        <a:rPr lang="ko-KR" altLang="en-US" sz="1200" kern="0" spc="-100" dirty="0">
                          <a:effectLst/>
                        </a:rPr>
                        <a:t>을 특정함</a:t>
                      </a:r>
                      <a:r>
                        <a:rPr lang="en-US" altLang="ko-KR" sz="1200" kern="0" spc="-100" dirty="0">
                          <a:effectLst/>
                        </a:rPr>
                        <a:t>. </a:t>
                      </a:r>
                      <a:r>
                        <a:rPr lang="ko-KR" altLang="en-US" sz="1200" kern="0" spc="-100" dirty="0">
                          <a:effectLst/>
                        </a:rPr>
                        <a:t>다만 </a:t>
                      </a:r>
                      <a:r>
                        <a:rPr lang="ko-KR" altLang="en-US" sz="1200" kern="0" spc="-70" dirty="0">
                          <a:effectLst/>
                        </a:rPr>
                        <a:t>출원인이 출원과정에서 선행기술과의 관계에서 신규성 및 진보성 결여의 거절이유를 극복하기 위하여</a:t>
                      </a:r>
                      <a:r>
                        <a:rPr lang="en-US" altLang="ko-KR" sz="1200" kern="0" spc="-70" dirty="0">
                          <a:effectLst/>
                        </a:rPr>
                        <a:t>, </a:t>
                      </a:r>
                      <a:r>
                        <a:rPr lang="ko-KR" altLang="en-US" sz="1200" kern="0" spc="-70" dirty="0">
                          <a:effectLst/>
                        </a:rPr>
                        <a:t>구성요소 중 일부를 전제부로 돌리면서 전제부에 대해서는 권리의 보호범위로 주장하지 않겠다는 의사를 분명히 한 때에는</a:t>
                      </a:r>
                      <a:r>
                        <a:rPr lang="en-US" altLang="ko-KR" sz="1200" kern="0" spc="-70" dirty="0">
                          <a:effectLst/>
                        </a:rPr>
                        <a:t>, </a:t>
                      </a:r>
                      <a:r>
                        <a:rPr lang="ko-KR" altLang="en-US" sz="1200" kern="0" spc="-70" dirty="0">
                          <a:effectLst/>
                        </a:rPr>
                        <a:t>등록 후에 특징부에는 해당하지 않고 전제부에만 해당하는 균등한 구성요소를 포함하는 기술의 실시에 대해서는 자신의 권리를 주장하지 않겠다는 의사로 파악함</a:t>
                      </a:r>
                      <a:endParaRPr lang="ko-KR" alt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30" dirty="0">
                          <a:effectLst/>
                          <a:highlight>
                            <a:srgbClr val="FFFF00"/>
                          </a:highlight>
                        </a:rPr>
                        <a:t>특허요건 판단과 마찬가지로 </a:t>
                      </a:r>
                      <a:r>
                        <a:rPr lang="ko-KR" altLang="en-US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물건</a:t>
                      </a:r>
                      <a:r>
                        <a:rPr lang="en-US" altLang="ko-KR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제조방법의 기재가 물건의 구조나 성질에 영향을 준 경우 그 제조방법에 의하여 특정되는 구조나 성질을 가지는 물건</a:t>
                      </a:r>
                      <a:r>
                        <a:rPr lang="en-US" altLang="ko-KR" sz="1200" kern="0" spc="-90" dirty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r>
                        <a:rPr lang="en-US" altLang="ko-KR" sz="1200" kern="0" spc="-90" dirty="0">
                          <a:effectLst/>
                        </a:rPr>
                        <a:t> </a:t>
                      </a:r>
                      <a:r>
                        <a:rPr lang="ko-KR" altLang="en-US" sz="1200" kern="0" spc="-90" dirty="0">
                          <a:effectLst/>
                        </a:rPr>
                        <a:t>으로 특허발명을 특정함</a:t>
                      </a:r>
                      <a:r>
                        <a:rPr lang="en-US" altLang="ko-KR" sz="1200" kern="0" spc="-90" dirty="0">
                          <a:effectLst/>
                        </a:rPr>
                        <a:t>. </a:t>
                      </a:r>
                      <a:r>
                        <a:rPr lang="ko-KR" altLang="en-US" sz="1200" kern="0" spc="-90" dirty="0">
                          <a:effectLst/>
                        </a:rPr>
                        <a:t>다만</a:t>
                      </a:r>
                      <a:r>
                        <a:rPr lang="en-US" altLang="ko-KR" sz="1200" kern="0" spc="-9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권리범위가 명세서의 전체적인 기재에 의하여 파악되는 발명의 실체에 비추어 지나치게 넓다는 등의 명백히 불합리한 사정이 있는 경우에는 그 권리범위를 청구범위에 기재된 제조방법의 범위 내로 </a:t>
                      </a:r>
                      <a:r>
                        <a:rPr lang="ko-KR" altLang="en-US" sz="1200" kern="0" spc="-80" dirty="0" err="1">
                          <a:effectLst/>
                        </a:rPr>
                        <a:t>한정해석함</a:t>
                      </a:r>
                      <a:endParaRPr lang="ko-KR" altLang="en-US" sz="1200" kern="0" spc="-8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287" marR="50287" marT="13903" marB="13903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청구항 그 자체만으로 특허발명의 기술적 구성의 내용을 알 수 없으므로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기능적 표현에 상응되는 발명의 설명과 도면에 기재된 실시예로 제한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특허발명을 특정함</a:t>
                      </a:r>
                    </a:p>
                  </a:txBody>
                  <a:tcPr marL="50287" marR="50287" marT="13903" marB="13903" anchor="ctr"/>
                </a:tc>
                <a:extLst>
                  <a:ext uri="{0D108BD9-81ED-4DB2-BD59-A6C34878D82A}">
                    <a16:rowId xmlns:a16="http://schemas.microsoft.com/office/drawing/2014/main" val="222427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27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특허요건 판단과 침해 여부 </a:t>
            </a:r>
            <a:r>
              <a:rPr lang="ko-KR" altLang="en-US" dirty="0" err="1">
                <a:solidFill>
                  <a:srgbClr val="525252"/>
                </a:solidFill>
              </a:rPr>
              <a:t>판단시</a:t>
            </a:r>
            <a:r>
              <a:rPr lang="ko-KR" altLang="en-US" dirty="0">
                <a:solidFill>
                  <a:srgbClr val="525252"/>
                </a:solidFill>
              </a:rPr>
              <a:t> 발명의 특정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135</a:t>
            </a:fld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58B4714-2572-7226-F7C4-E1686A3B175E}"/>
              </a:ext>
            </a:extLst>
          </p:cNvPr>
          <p:cNvCxnSpPr/>
          <p:nvPr/>
        </p:nvCxnSpPr>
        <p:spPr>
          <a:xfrm>
            <a:off x="1079612" y="1219200"/>
            <a:ext cx="0" cy="507153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0B51D9-95A6-D472-1048-AE86739C1467}"/>
              </a:ext>
            </a:extLst>
          </p:cNvPr>
          <p:cNvSpPr/>
          <p:nvPr/>
        </p:nvSpPr>
        <p:spPr>
          <a:xfrm>
            <a:off x="381081" y="1378089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3AF3A8-4B33-A6C7-7890-215F54CBBF00}"/>
              </a:ext>
            </a:extLst>
          </p:cNvPr>
          <p:cNvSpPr/>
          <p:nvPr/>
        </p:nvSpPr>
        <p:spPr>
          <a:xfrm>
            <a:off x="381081" y="2522661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C80A9E-E3A1-411A-0567-188B363CCD05}"/>
              </a:ext>
            </a:extLst>
          </p:cNvPr>
          <p:cNvSpPr/>
          <p:nvPr/>
        </p:nvSpPr>
        <p:spPr>
          <a:xfrm>
            <a:off x="381081" y="3894264"/>
            <a:ext cx="1395264" cy="3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FE6085-A64E-9EC5-B553-BA16290407E5}"/>
              </a:ext>
            </a:extLst>
          </p:cNvPr>
          <p:cNvSpPr/>
          <p:nvPr/>
        </p:nvSpPr>
        <p:spPr>
          <a:xfrm>
            <a:off x="381081" y="5265867"/>
            <a:ext cx="1395264" cy="360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제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자 실시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93D7BBD-7859-1487-392B-93CF9D714196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079612" y="47951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CC8FC11-69AD-8B11-F056-02A98381CF31}"/>
              </a:ext>
            </a:extLst>
          </p:cNvPr>
          <p:cNvCxnSpPr/>
          <p:nvPr/>
        </p:nvCxnSpPr>
        <p:spPr>
          <a:xfrm flipV="1">
            <a:off x="5090755" y="1041400"/>
            <a:ext cx="0" cy="53255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07D914F-DB1F-44D2-1E21-1E402B8EB67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79612" y="32444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44F937-225D-266A-0354-9CF9A133DC90}"/>
              </a:ext>
            </a:extLst>
          </p:cNvPr>
          <p:cNvSpPr txBox="1"/>
          <p:nvPr/>
        </p:nvSpPr>
        <p:spPr>
          <a:xfrm>
            <a:off x="1639121" y="2982857"/>
            <a:ext cx="881972" cy="5232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특허요건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9EC1A64-7F54-DA72-1142-79409CD40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858276"/>
              </p:ext>
            </p:extLst>
          </p:nvPr>
        </p:nvGraphicFramePr>
        <p:xfrm>
          <a:off x="5325310" y="2866723"/>
          <a:ext cx="6485598" cy="359227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8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특허요건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보호범위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청구범위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중심의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설명</a:t>
                      </a:r>
                      <a:r>
                        <a:rPr lang="en-US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 가능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544724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공지기술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신규성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진보성 등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1010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출원경과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다만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출원인이 공지되었음을 자인하는 경우 공지된 것으로 추정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18035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특허권하자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특허요건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7310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2D5BD1B-C928-F40C-1CAE-01B574F737A0}"/>
              </a:ext>
            </a:extLst>
          </p:cNvPr>
          <p:cNvSpPr txBox="1"/>
          <p:nvPr/>
        </p:nvSpPr>
        <p:spPr>
          <a:xfrm>
            <a:off x="1639121" y="4533557"/>
            <a:ext cx="881972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보호범위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CB025E-DF1D-4A84-AB5C-24F2169EBCA5}"/>
              </a:ext>
            </a:extLst>
          </p:cNvPr>
          <p:cNvSpPr/>
          <p:nvPr/>
        </p:nvSpPr>
        <p:spPr>
          <a:xfrm>
            <a:off x="2721641" y="2708266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출원발명 특정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F5CFE7-6B9C-40EF-4AF0-FDB6C7DB24BF}"/>
              </a:ext>
            </a:extLst>
          </p:cNvPr>
          <p:cNvSpPr/>
          <p:nvPr/>
        </p:nvSpPr>
        <p:spPr>
          <a:xfrm>
            <a:off x="2721641" y="3081713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 특정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88702F-A331-AF52-C523-BCE8E06BD2E4}"/>
              </a:ext>
            </a:extLst>
          </p:cNvPr>
          <p:cNvSpPr/>
          <p:nvPr/>
        </p:nvSpPr>
        <p:spPr>
          <a:xfrm>
            <a:off x="2721641" y="3477257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동일성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용이성 등 판단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C4E53A-25F1-C0EE-0988-75446D50FE1B}"/>
              </a:ext>
            </a:extLst>
          </p:cNvPr>
          <p:cNvSpPr/>
          <p:nvPr/>
        </p:nvSpPr>
        <p:spPr>
          <a:xfrm>
            <a:off x="2721641" y="4259768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특허발명 특정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77FAEC-F567-D217-18D7-327CFB81835E}"/>
              </a:ext>
            </a:extLst>
          </p:cNvPr>
          <p:cNvSpPr/>
          <p:nvPr/>
        </p:nvSpPr>
        <p:spPr>
          <a:xfrm>
            <a:off x="2721641" y="4633215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확인대상발명 특정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C4C1D4-5AE8-B4D0-5C07-D10E1349FFC5}"/>
              </a:ext>
            </a:extLst>
          </p:cNvPr>
          <p:cNvSpPr/>
          <p:nvPr/>
        </p:nvSpPr>
        <p:spPr>
          <a:xfrm>
            <a:off x="2721641" y="5016402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AER, </a:t>
            </a:r>
            <a:r>
              <a:rPr lang="ko-KR" altLang="en-US" sz="1600" dirty="0" err="1">
                <a:solidFill>
                  <a:schemeClr val="tx1"/>
                </a:solidFill>
              </a:rPr>
              <a:t>균등론</a:t>
            </a:r>
            <a:r>
              <a:rPr lang="ko-KR" altLang="en-US" sz="1600" dirty="0">
                <a:solidFill>
                  <a:schemeClr val="tx1"/>
                </a:solidFill>
              </a:rPr>
              <a:t> 적용 판단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A57237E-2068-3B5F-5022-1410F70A64F5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2521093" y="2858485"/>
            <a:ext cx="200548" cy="3859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D9CB72B6-232C-0DB1-CA8D-832945E0D40A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2521093" y="3231932"/>
            <a:ext cx="200548" cy="12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C3B4FF1-1BD3-E1DA-3410-F81AA8450926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2521093" y="3244467"/>
            <a:ext cx="200548" cy="3830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D9379CD-79BE-1AF9-7EDC-52FB40486868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2521093" y="4409987"/>
            <a:ext cx="200548" cy="3851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9927DE8-6B37-11E6-D082-1AE0F6D16D0D}"/>
              </a:ext>
            </a:extLst>
          </p:cNvPr>
          <p:cNvCxnSpPr>
            <a:stCxn id="20" idx="3"/>
            <a:endCxn id="26" idx="1"/>
          </p:cNvCxnSpPr>
          <p:nvPr/>
        </p:nvCxnSpPr>
        <p:spPr>
          <a:xfrm>
            <a:off x="2521093" y="4795167"/>
            <a:ext cx="200548" cy="371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A3545A3D-7E07-356C-75CC-8E168D577F2F}"/>
              </a:ext>
            </a:extLst>
          </p:cNvPr>
          <p:cNvCxnSpPr>
            <a:stCxn id="20" idx="3"/>
            <a:endCxn id="25" idx="1"/>
          </p:cNvCxnSpPr>
          <p:nvPr/>
        </p:nvCxnSpPr>
        <p:spPr>
          <a:xfrm flipV="1">
            <a:off x="2521093" y="4783434"/>
            <a:ext cx="200548" cy="117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말풍선: 모서리가 둥근 사각형 38">
            <a:extLst>
              <a:ext uri="{FF2B5EF4-FFF2-40B4-BE49-F238E27FC236}">
                <a16:creationId xmlns:a16="http://schemas.microsoft.com/office/drawing/2014/main" id="{CDAA0D92-199C-7D73-7283-56CD0214360A}"/>
              </a:ext>
            </a:extLst>
          </p:cNvPr>
          <p:cNvSpPr/>
          <p:nvPr/>
        </p:nvSpPr>
        <p:spPr>
          <a:xfrm>
            <a:off x="5325309" y="1124325"/>
            <a:ext cx="2557840" cy="1290919"/>
          </a:xfrm>
          <a:prstGeom prst="wedgeRoundRectCallout">
            <a:avLst>
              <a:gd name="adj1" fmla="val 30857"/>
              <a:gd name="adj2" fmla="val 87188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입장만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표시한 의사를 심사관이 임의로 변경하는 것은 타당하지 아니함</a:t>
            </a:r>
          </a:p>
        </p:txBody>
      </p:sp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03BE6E51-BF6D-8561-43CC-C4DCA5E283F1}"/>
              </a:ext>
            </a:extLst>
          </p:cNvPr>
          <p:cNvSpPr/>
          <p:nvPr/>
        </p:nvSpPr>
        <p:spPr>
          <a:xfrm>
            <a:off x="8117702" y="1124325"/>
            <a:ext cx="3892603" cy="1290919"/>
          </a:xfrm>
          <a:prstGeom prst="wedgeRoundRectCallout">
            <a:avLst>
              <a:gd name="adj1" fmla="val 3557"/>
              <a:gd name="adj2" fmla="val 83359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</a:t>
            </a:r>
            <a:r>
              <a:rPr lang="ko-KR" altLang="en-US" sz="1600" dirty="0" err="1">
                <a:solidFill>
                  <a:schemeClr val="bg2">
                    <a:lumMod val="50000"/>
                  </a:schemeClr>
                </a:solidFill>
              </a:rPr>
              <a:t>입장뿐만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아니라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자의 입장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보호할 가치가 없는 사항이나 진실로 발명하지 아니한 부분까지 그 권리를 인정하는 것은 곤란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F9E074DF-8136-B97D-46DE-5F99147B8CE2}"/>
              </a:ext>
            </a:extLst>
          </p:cNvPr>
          <p:cNvSpPr/>
          <p:nvPr/>
        </p:nvSpPr>
        <p:spPr>
          <a:xfrm>
            <a:off x="9699812" y="3702424"/>
            <a:ext cx="1712259" cy="2752164"/>
          </a:xfrm>
          <a:custGeom>
            <a:avLst/>
            <a:gdLst>
              <a:gd name="connsiteX0" fmla="*/ 385482 w 1712259"/>
              <a:gd name="connsiteY0" fmla="*/ 0 h 2752164"/>
              <a:gd name="connsiteX1" fmla="*/ 385482 w 1712259"/>
              <a:gd name="connsiteY1" fmla="*/ 555811 h 2752164"/>
              <a:gd name="connsiteX2" fmla="*/ 0 w 1712259"/>
              <a:gd name="connsiteY2" fmla="*/ 555811 h 2752164"/>
              <a:gd name="connsiteX3" fmla="*/ 0 w 1712259"/>
              <a:gd name="connsiteY3" fmla="*/ 2752164 h 2752164"/>
              <a:gd name="connsiteX4" fmla="*/ 1712259 w 1712259"/>
              <a:gd name="connsiteY4" fmla="*/ 2752164 h 2752164"/>
              <a:gd name="connsiteX5" fmla="*/ 1712259 w 1712259"/>
              <a:gd name="connsiteY5" fmla="*/ 8964 h 2752164"/>
              <a:gd name="connsiteX6" fmla="*/ 385482 w 1712259"/>
              <a:gd name="connsiteY6" fmla="*/ 0 h 275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2259" h="2752164">
                <a:moveTo>
                  <a:pt x="385482" y="0"/>
                </a:moveTo>
                <a:lnTo>
                  <a:pt x="385482" y="555811"/>
                </a:lnTo>
                <a:lnTo>
                  <a:pt x="0" y="555811"/>
                </a:lnTo>
                <a:lnTo>
                  <a:pt x="0" y="2752164"/>
                </a:lnTo>
                <a:lnTo>
                  <a:pt x="1712259" y="2752164"/>
                </a:lnTo>
                <a:lnTo>
                  <a:pt x="1712259" y="8964"/>
                </a:lnTo>
                <a:lnTo>
                  <a:pt x="385482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0C2F59-6A30-7AE0-0F4A-F58278637965}"/>
              </a:ext>
            </a:extLst>
          </p:cNvPr>
          <p:cNvSpPr txBox="1"/>
          <p:nvPr/>
        </p:nvSpPr>
        <p:spPr>
          <a:xfrm>
            <a:off x="10555941" y="883356"/>
            <a:ext cx="922047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9786F3-A522-8BE6-862F-5EB7E8B5095C}"/>
              </a:ext>
            </a:extLst>
          </p:cNvPr>
          <p:cNvSpPr txBox="1"/>
          <p:nvPr/>
        </p:nvSpPr>
        <p:spPr>
          <a:xfrm>
            <a:off x="10094917" y="6287517"/>
            <a:ext cx="922047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</p:spTree>
    <p:extLst>
      <p:ext uri="{BB962C8B-B14F-4D97-AF65-F5344CB8AC3E}">
        <p14:creationId xmlns:p14="http://schemas.microsoft.com/office/powerpoint/2010/main" val="1400620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젭슨</a:t>
            </a:r>
            <a:r>
              <a:rPr lang="ko-KR" altLang="en-US" dirty="0"/>
              <a:t> 청구항의 </a:t>
            </a:r>
            <a:r>
              <a:rPr lang="en-US" altLang="ko-KR" dirty="0"/>
              <a:t>CASE(</a:t>
            </a:r>
            <a:r>
              <a:rPr lang="ko-KR" altLang="en-US" dirty="0"/>
              <a:t>특허요건 판단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136</a:t>
            </a:fld>
            <a:endParaRPr lang="ko-KR" altLang="en-US"/>
          </a:p>
        </p:txBody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3012012" y="3100997"/>
            <a:ext cx="1550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527381" y="2473595"/>
            <a:ext cx="11233248" cy="35283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911424" y="3271519"/>
            <a:ext cx="10561173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1575778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4072056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8883160" y="3174460"/>
            <a:ext cx="241792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10616791" y="3174460"/>
            <a:ext cx="241792" cy="216024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1472203" y="285050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44575" y="2833636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0013" y="2833635"/>
            <a:ext cx="76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거절결정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784573" y="3481707"/>
            <a:ext cx="1824203" cy="2448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r>
              <a:rPr lang="ko-KR" altLang="en-US" sz="1200" dirty="0">
                <a:solidFill>
                  <a:schemeClr val="tx1"/>
                </a:solidFill>
              </a:rPr>
              <a:t>를 포함하는 것을 특징으로 하는 </a:t>
            </a:r>
            <a:r>
              <a:rPr lang="en-US" altLang="ko-KR" sz="1200" dirty="0">
                <a:solidFill>
                  <a:schemeClr val="tx1"/>
                </a:solidFill>
              </a:rPr>
              <a:t>X.</a:t>
            </a: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d</a:t>
            </a:r>
            <a:r>
              <a:rPr lang="ko-KR" altLang="en-US" sz="1200" dirty="0">
                <a:solidFill>
                  <a:schemeClr val="tx1"/>
                </a:solidFill>
              </a:rPr>
              <a:t>를 더 포함하는 것을 특징으로 하는 </a:t>
            </a:r>
            <a:r>
              <a:rPr lang="en-US" altLang="ko-KR" sz="1200" dirty="0">
                <a:solidFill>
                  <a:schemeClr val="tx1"/>
                </a:solidFill>
              </a:rPr>
              <a:t>X.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328856" y="3481707"/>
            <a:ext cx="1824203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r>
              <a:rPr lang="ko-KR" altLang="en-US" sz="1200" dirty="0">
                <a:solidFill>
                  <a:schemeClr val="tx1"/>
                </a:solidFill>
              </a:rPr>
              <a:t>를 포함한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에 있어서</a:t>
            </a:r>
            <a:r>
              <a:rPr lang="en-US" altLang="ko-KR" sz="1200" dirty="0">
                <a:solidFill>
                  <a:schemeClr val="tx1"/>
                </a:solidFill>
              </a:rPr>
              <a:t>, d</a:t>
            </a:r>
            <a:r>
              <a:rPr lang="ko-KR" altLang="en-US" sz="1200" dirty="0">
                <a:solidFill>
                  <a:schemeClr val="tx1"/>
                </a:solidFill>
              </a:rPr>
              <a:t>를 더 포함하는 것을 특징으로 하는 </a:t>
            </a:r>
            <a:r>
              <a:rPr lang="en-US" altLang="ko-KR" sz="1200" dirty="0">
                <a:solidFill>
                  <a:schemeClr val="tx1"/>
                </a:solidFill>
              </a:rPr>
              <a:t>X.</a:t>
            </a: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60" name="타원 59"/>
          <p:cNvSpPr/>
          <p:nvPr/>
        </p:nvSpPr>
        <p:spPr>
          <a:xfrm>
            <a:off x="6072738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5882042" y="2833636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의견서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5329538" y="3481707"/>
            <a:ext cx="1824203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항을 결합하여 하나의 항으로 만들되 </a:t>
            </a:r>
            <a:r>
              <a:rPr lang="ko-KR" altLang="en-US" sz="1200" dirty="0" err="1">
                <a:solidFill>
                  <a:srgbClr val="FF0000"/>
                </a:solidFill>
              </a:rPr>
              <a:t>청구항</a:t>
            </a:r>
            <a:r>
              <a:rPr lang="ko-KR" altLang="en-US" sz="1200" dirty="0">
                <a:solidFill>
                  <a:srgbClr val="FF0000"/>
                </a:solidFill>
              </a:rPr>
              <a:t>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항에 있던 부분을 공지기술로 한정</a:t>
            </a:r>
            <a:r>
              <a:rPr lang="ko-KR" altLang="en-US" sz="1200" dirty="0"/>
              <a:t>하여 </a:t>
            </a:r>
            <a:r>
              <a:rPr lang="ko-KR" altLang="en-US" sz="1200" dirty="0" err="1"/>
              <a:t>전제부로</a:t>
            </a:r>
            <a:r>
              <a:rPr lang="ko-KR" altLang="en-US" sz="1200" dirty="0"/>
              <a:t> 기재하고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있던 부분을 </a:t>
            </a:r>
            <a:r>
              <a:rPr lang="ko-KR" altLang="en-US" sz="1200" dirty="0" err="1"/>
              <a:t>특징부에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기재하였는</a:t>
            </a:r>
            <a:r>
              <a:rPr lang="ko-KR" altLang="en-US" sz="1200" dirty="0"/>
              <a:t> 바 재심사하여 </a:t>
            </a:r>
            <a:r>
              <a:rPr lang="ko-KR" altLang="en-US" sz="1200" dirty="0" err="1"/>
              <a:t>특허결정해달라</a:t>
            </a:r>
            <a:endParaRPr lang="ko-KR" altLang="en-US" sz="1200" dirty="0"/>
          </a:p>
        </p:txBody>
      </p:sp>
      <p:sp>
        <p:nvSpPr>
          <p:cNvPr id="63" name="타원 62"/>
          <p:cNvSpPr/>
          <p:nvPr/>
        </p:nvSpPr>
        <p:spPr>
          <a:xfrm>
            <a:off x="2805901" y="3174460"/>
            <a:ext cx="241792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2094086" y="2739860"/>
            <a:ext cx="1715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(1</a:t>
            </a:r>
            <a:r>
              <a:rPr lang="ko-KR" altLang="en-US" sz="1200" dirty="0"/>
              <a:t>항이 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5" name="직사각형 64"/>
          <p:cNvSpPr/>
          <p:nvPr/>
        </p:nvSpPr>
        <p:spPr>
          <a:xfrm>
            <a:off x="9825586" y="3481707"/>
            <a:ext cx="1824203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실제로는</a:t>
            </a:r>
            <a:r>
              <a:rPr lang="en-US" altLang="ko-KR" sz="1200" dirty="0">
                <a:solidFill>
                  <a:srgbClr val="FF0000"/>
                </a:solidFill>
              </a:rPr>
              <a:t> a, b, c</a:t>
            </a:r>
            <a:r>
              <a:rPr lang="ko-KR" altLang="en-US" sz="1200" dirty="0">
                <a:solidFill>
                  <a:srgbClr val="FF0000"/>
                </a:solidFill>
              </a:rPr>
              <a:t>가 </a:t>
            </a:r>
            <a:r>
              <a:rPr lang="ko-KR" altLang="en-US" sz="1200" dirty="0" err="1">
                <a:solidFill>
                  <a:srgbClr val="FF0000"/>
                </a:solidFill>
              </a:rPr>
              <a:t>공지기술이</a:t>
            </a:r>
            <a:r>
              <a:rPr lang="ko-KR" altLang="en-US" sz="1200" dirty="0">
                <a:solidFill>
                  <a:srgbClr val="FF0000"/>
                </a:solidFill>
              </a:rPr>
              <a:t> 아니고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 출원 당시 아직 공개되지 아니한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선출원발명</a:t>
            </a:r>
            <a:r>
              <a:rPr lang="ko-KR" altLang="en-US" sz="1200" dirty="0">
                <a:solidFill>
                  <a:srgbClr val="FF0000"/>
                </a:solidFill>
              </a:rPr>
              <a:t> 또는 출원인의 회사 내부에만 알려져 있었던 기술이나 착오로 공지된 것으로 잘못 기재하였음이 밝혀짐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9587756" y="3174460"/>
            <a:ext cx="241792" cy="216024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9354725" y="2833636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심판청구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/>
              <a:t>특허요건을 판단할 때 명세서의 전체적인 기재와 출원 경과를 종합적으로 고려하여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일정한 구성요소는 공지기술이라는 취지로 청구범위의 </a:t>
            </a:r>
            <a:r>
              <a:rPr lang="ko-KR" altLang="en-US" sz="1400" dirty="0" err="1"/>
              <a:t>전제부에</a:t>
            </a:r>
            <a:r>
              <a:rPr lang="ko-KR" altLang="en-US" sz="1400" dirty="0"/>
              <a:t> 기재하였음을 인정할 수 있는 경우</a:t>
            </a:r>
            <a:r>
              <a:rPr lang="en-US" altLang="ko-KR" sz="1400" dirty="0"/>
              <a:t>(</a:t>
            </a:r>
            <a:r>
              <a:rPr lang="ko-KR" altLang="en-US" sz="1400" dirty="0"/>
              <a:t>공지 자인</a:t>
            </a:r>
            <a:r>
              <a:rPr lang="en-US" altLang="ko-KR" sz="1400" dirty="0"/>
              <a:t>)</a:t>
            </a:r>
            <a:r>
              <a:rPr lang="ko-KR" altLang="en-US" sz="1400" dirty="0"/>
              <a:t>에는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별도의 증거 없이도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전제부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기재 구성요소를 출원 전 공지된 것이라고 사실상 추정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이러한 추정이 절대적인 것은 아니므로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실제로는 출원 당시 아직 공개되지 아니한 </a:t>
            </a:r>
            <a:r>
              <a:rPr lang="ko-KR" altLang="en-US" sz="1400" dirty="0" err="1"/>
              <a:t>선출원발명이나</a:t>
            </a:r>
            <a:r>
              <a:rPr lang="ko-KR" altLang="en-US" sz="1400" dirty="0"/>
              <a:t> 출원인의 회사 내부에만 알려져 있었던 기술을 착오로 공지된 것으로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잘못 기재하였음이 밝혀지는 경우와 같이 특별한 사정이 있는 때에는 추정이 번복될 수 있다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0" y="194543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7907376" y="3174460"/>
            <a:ext cx="241792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7644229" y="2833635"/>
            <a:ext cx="76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실체심사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216649" y="3481707"/>
            <a:ext cx="1824203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/>
              <a:t>별도의 </a:t>
            </a:r>
            <a:r>
              <a:rPr lang="ko-KR" altLang="en-US" sz="1200" dirty="0" err="1"/>
              <a:t>증거없이도</a:t>
            </a:r>
            <a:r>
              <a:rPr lang="en-US" altLang="ko-KR" sz="1200" dirty="0"/>
              <a:t> a, b, c, d </a:t>
            </a:r>
            <a:r>
              <a:rPr lang="ko-KR" altLang="en-US" sz="1200" dirty="0"/>
              <a:t>중 </a:t>
            </a:r>
            <a:r>
              <a:rPr lang="en-US" altLang="ko-KR" sz="1200" dirty="0"/>
              <a:t>a, b, c</a:t>
            </a:r>
            <a:r>
              <a:rPr lang="ko-KR" altLang="en-US" sz="1200" dirty="0"/>
              <a:t>가 공지된 것으로 추정한 후 심사진행</a:t>
            </a:r>
          </a:p>
        </p:txBody>
      </p:sp>
    </p:spTree>
    <p:extLst>
      <p:ext uri="{BB962C8B-B14F-4D97-AF65-F5344CB8AC3E}">
        <p14:creationId xmlns:p14="http://schemas.microsoft.com/office/powerpoint/2010/main" val="33487847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젭슨</a:t>
            </a:r>
            <a:r>
              <a:rPr lang="ko-KR" altLang="en-US" dirty="0"/>
              <a:t> 청구항의 </a:t>
            </a:r>
            <a:r>
              <a:rPr lang="en-US" altLang="ko-KR" dirty="0"/>
              <a:t>CASE(</a:t>
            </a:r>
            <a:r>
              <a:rPr lang="ko-KR" altLang="en-US" dirty="0"/>
              <a:t>보호범위 판단</a:t>
            </a:r>
            <a:r>
              <a:rPr lang="en-US" altLang="ko-KR" dirty="0"/>
              <a:t>): </a:t>
            </a:r>
            <a:r>
              <a:rPr lang="ko-KR" altLang="en-US" dirty="0"/>
              <a:t>안락의자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3F57A-3C17-F404-8165-FB0DECD18874}"/>
              </a:ext>
            </a:extLst>
          </p:cNvPr>
          <p:cNvSpPr txBox="1"/>
          <p:nvPr/>
        </p:nvSpPr>
        <p:spPr>
          <a:xfrm>
            <a:off x="77875" y="1362569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지식재산처 심사관으로부터 실용신안공고 제</a:t>
            </a:r>
            <a:r>
              <a:rPr lang="en-US" altLang="ko-KR" sz="1400" dirty="0"/>
              <a:t>95-4971</a:t>
            </a:r>
            <a:r>
              <a:rPr lang="ko-KR" altLang="en-US" sz="1400" dirty="0"/>
              <a:t>호 고안 등에 의하여 통상의 기술자가 극히 용이하게 고안할 수 있다는 이유로 거절이유통지를 받고</a:t>
            </a:r>
            <a:r>
              <a:rPr lang="en-US" altLang="ko-KR" sz="1400" dirty="0"/>
              <a:t>, 1998. 7. 22. </a:t>
            </a:r>
            <a:r>
              <a:rPr lang="ko-KR" altLang="en-US" sz="1400" dirty="0"/>
              <a:t>의견서 및 </a:t>
            </a:r>
            <a:r>
              <a:rPr lang="ko-KR" altLang="en-US" sz="1400" dirty="0" err="1"/>
              <a:t>보정서를</a:t>
            </a:r>
            <a:r>
              <a:rPr lang="ko-KR" altLang="en-US" sz="1400" dirty="0"/>
              <a:t> 제출하면서 </a:t>
            </a:r>
            <a:r>
              <a:rPr lang="ko-KR" altLang="en-US" sz="1400" dirty="0">
                <a:highlight>
                  <a:srgbClr val="FFFF00"/>
                </a:highlight>
              </a:rPr>
              <a:t>인용발명에 저촉되는 부분을 공지의 기술로 하여 청구범위를 대폭 축소 한정한다고 주장함</a:t>
            </a:r>
            <a:r>
              <a:rPr lang="ko-KR" altLang="en-US" sz="1400" dirty="0"/>
              <a:t>과 아울러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항과 제</a:t>
            </a:r>
            <a:r>
              <a:rPr lang="en-US" altLang="ko-KR" sz="1400" dirty="0"/>
              <a:t>2</a:t>
            </a:r>
            <a:r>
              <a:rPr lang="ko-KR" altLang="en-US" sz="1400" dirty="0"/>
              <a:t>항을 결합하여 하나의 항으로 만들되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전제부로</a:t>
            </a:r>
            <a:r>
              <a:rPr lang="ko-KR" altLang="en-US" sz="1400" dirty="0"/>
              <a:t> 기재하고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특징부에</a:t>
            </a:r>
            <a:r>
              <a:rPr lang="ko-KR" altLang="en-US" sz="1400" dirty="0"/>
              <a:t> 기재하였는바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그렇다면 출원인 스스로 전제부의 기재사항인 「등받이와 보조받침을 직접 연결하여 연계동작을 하는 연결레버를 안내부가 안내하도록 하는 구성」을 공지의 기술로 한정한 것이라 하겠고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나아가 다시 </a:t>
            </a:r>
            <a:r>
              <a:rPr lang="ko-KR" altLang="en-US" sz="1400" dirty="0" err="1">
                <a:highlight>
                  <a:srgbClr val="FFFF00"/>
                </a:highlight>
              </a:rPr>
              <a:t>특징부에서</a:t>
            </a:r>
            <a:r>
              <a:rPr lang="ko-KR" altLang="en-US" sz="1400" dirty="0">
                <a:highlight>
                  <a:srgbClr val="FFFF00"/>
                </a:highlight>
              </a:rPr>
              <a:t> 위 </a:t>
            </a:r>
            <a:r>
              <a:rPr lang="ko-KR" altLang="en-US" sz="1400" b="1" dirty="0" err="1">
                <a:highlight>
                  <a:srgbClr val="FFFF00"/>
                </a:highlight>
              </a:rPr>
              <a:t>안내부를</a:t>
            </a:r>
            <a:r>
              <a:rPr lang="ko-KR" altLang="en-US" sz="1400" b="1" dirty="0">
                <a:highlight>
                  <a:srgbClr val="FFFF00"/>
                </a:highlight>
              </a:rPr>
              <a:t> 「한 쌍의 롤러」로 한정</a:t>
            </a:r>
            <a:r>
              <a:rPr lang="ko-KR" altLang="en-US" sz="1400" dirty="0">
                <a:highlight>
                  <a:srgbClr val="FFFF00"/>
                </a:highlight>
              </a:rPr>
              <a:t>한 것은 </a:t>
            </a:r>
            <a:r>
              <a:rPr lang="ko-KR" altLang="en-US" sz="1400" dirty="0" err="1">
                <a:highlight>
                  <a:srgbClr val="FFFF00"/>
                </a:highlight>
              </a:rPr>
              <a:t>출원인이</a:t>
            </a:r>
            <a:r>
              <a:rPr lang="ko-KR" altLang="en-US" sz="1400" dirty="0">
                <a:highlight>
                  <a:srgbClr val="FFFF00"/>
                </a:highlight>
              </a:rPr>
              <a:t> 이와 균등관계에 있는 구성에 대해서는 그 권리범위를 주장하지 않겠다는 취지로 볼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결국 </a:t>
            </a:r>
            <a:r>
              <a:rPr lang="ko-KR" altLang="en-US" sz="1400" dirty="0" err="1"/>
              <a:t>출원경과금반언의</a:t>
            </a:r>
            <a:r>
              <a:rPr lang="ko-KR" altLang="en-US" sz="1400" dirty="0"/>
              <a:t> 원칙상 등받이와 보조받침을 직접 연결하여 연계동작을 하는 연결레버를 안내부가 안내하도록 함에 있어서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안내부를</a:t>
            </a:r>
            <a:r>
              <a:rPr lang="ko-KR" altLang="en-US" sz="1400" dirty="0"/>
              <a:t> </a:t>
            </a:r>
            <a:r>
              <a:rPr lang="en-US" altLang="ko-KR" sz="1400" dirty="0"/>
              <a:t>{</a:t>
            </a:r>
            <a:r>
              <a:rPr lang="ko-KR" altLang="en-US" sz="1400" dirty="0"/>
              <a:t>확인대상 고안과 같은</a:t>
            </a:r>
            <a:r>
              <a:rPr lang="en-US" altLang="ko-KR" sz="1400" dirty="0"/>
              <a:t>} </a:t>
            </a:r>
            <a:r>
              <a:rPr lang="ko-KR" altLang="en-US" sz="1400" dirty="0" err="1"/>
              <a:t>슬라이드관으로</a:t>
            </a:r>
            <a:r>
              <a:rPr lang="ko-KR" altLang="en-US" sz="1400" dirty="0"/>
              <a:t> 구성하는 것은 이 사건 등록고안의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의식적으로 그 보호범위로부터 제외한 것으로 봄이 상당하여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 고안의 </a:t>
            </a:r>
            <a:r>
              <a:rPr lang="ko-KR" altLang="en-US" sz="1400" dirty="0" err="1"/>
              <a:t>슬라이드관은</a:t>
            </a:r>
            <a:r>
              <a:rPr lang="ko-KR" altLang="en-US" sz="1400" dirty="0"/>
              <a:t> 이 사건 등록고안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롤러의 </a:t>
            </a:r>
            <a:r>
              <a:rPr lang="ko-KR" altLang="en-US" sz="1400" dirty="0" err="1"/>
              <a:t>균등론이</a:t>
            </a:r>
            <a:r>
              <a:rPr lang="ko-KR" altLang="en-US" sz="1400" dirty="0"/>
              <a:t> 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DE66145-8A82-A69A-8833-AD7659367D3E}"/>
              </a:ext>
            </a:extLst>
          </p:cNvPr>
          <p:cNvCxnSpPr/>
          <p:nvPr/>
        </p:nvCxnSpPr>
        <p:spPr>
          <a:xfrm>
            <a:off x="0" y="318502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A8B645-6494-02D7-2E7A-7092E6209BBE}"/>
              </a:ext>
            </a:extLst>
          </p:cNvPr>
          <p:cNvSpPr/>
          <p:nvPr/>
        </p:nvSpPr>
        <p:spPr>
          <a:xfrm>
            <a:off x="395535" y="3245223"/>
            <a:ext cx="11381597" cy="339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6252B0-3ED4-5658-267C-15141A9E1961}"/>
              </a:ext>
            </a:extLst>
          </p:cNvPr>
          <p:cNvCxnSpPr/>
          <p:nvPr/>
        </p:nvCxnSpPr>
        <p:spPr>
          <a:xfrm>
            <a:off x="683568" y="3914419"/>
            <a:ext cx="10721032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B453716C-1BFD-2456-F4C9-1395A493AE11}"/>
              </a:ext>
            </a:extLst>
          </p:cNvPr>
          <p:cNvSpPr/>
          <p:nvPr/>
        </p:nvSpPr>
        <p:spPr>
          <a:xfrm>
            <a:off x="1475656" y="3817360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131794-B755-3AE1-A718-51AEF6990E19}"/>
              </a:ext>
            </a:extLst>
          </p:cNvPr>
          <p:cNvSpPr/>
          <p:nvPr/>
        </p:nvSpPr>
        <p:spPr>
          <a:xfrm>
            <a:off x="3963671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DA06F30-5629-5303-DEB6-73DBF4F81266}"/>
              </a:ext>
            </a:extLst>
          </p:cNvPr>
          <p:cNvSpPr/>
          <p:nvPr/>
        </p:nvSpPr>
        <p:spPr>
          <a:xfrm>
            <a:off x="648756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0F6C951-FE27-6F95-AB73-7CB573A35DF3}"/>
              </a:ext>
            </a:extLst>
          </p:cNvPr>
          <p:cNvSpPr/>
          <p:nvPr/>
        </p:nvSpPr>
        <p:spPr>
          <a:xfrm>
            <a:off x="7615602" y="381736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C02A9-3F08-EFCF-B6A7-C3FD1B9FC9E6}"/>
              </a:ext>
            </a:extLst>
          </p:cNvPr>
          <p:cNvSpPr txBox="1"/>
          <p:nvPr/>
        </p:nvSpPr>
        <p:spPr>
          <a:xfrm>
            <a:off x="1345462" y="34934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D15F78-AAB2-4567-960D-F5D399FB268F}"/>
              </a:ext>
            </a:extLst>
          </p:cNvPr>
          <p:cNvSpPr txBox="1"/>
          <p:nvPr/>
        </p:nvSpPr>
        <p:spPr>
          <a:xfrm>
            <a:off x="3847299" y="3476535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03A61-398C-EFE8-5D6D-9D7FB36C7482}"/>
              </a:ext>
            </a:extLst>
          </p:cNvPr>
          <p:cNvSpPr txBox="1"/>
          <p:nvPr/>
        </p:nvSpPr>
        <p:spPr>
          <a:xfrm>
            <a:off x="6307541" y="3476534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17FE2-4DE7-6903-E1EE-0BEB41151C2C}"/>
              </a:ext>
            </a:extLst>
          </p:cNvPr>
          <p:cNvSpPr txBox="1"/>
          <p:nvPr/>
        </p:nvSpPr>
        <p:spPr>
          <a:xfrm>
            <a:off x="7274612" y="3493404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A41F34-51B0-20C9-D14F-4D5324EF4E5B}"/>
              </a:ext>
            </a:extLst>
          </p:cNvPr>
          <p:cNvSpPr/>
          <p:nvPr/>
        </p:nvSpPr>
        <p:spPr>
          <a:xfrm>
            <a:off x="899592" y="4124607"/>
            <a:ext cx="1368152" cy="2448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FF6807-BE53-52BE-BD6E-31808F9B6A6D}"/>
              </a:ext>
            </a:extLst>
          </p:cNvPr>
          <p:cNvSpPr/>
          <p:nvPr/>
        </p:nvSpPr>
        <p:spPr>
          <a:xfrm>
            <a:off x="3423611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EA7400B-20D4-AA20-D614-FE937288CD64}"/>
              </a:ext>
            </a:extLst>
          </p:cNvPr>
          <p:cNvSpPr/>
          <p:nvPr/>
        </p:nvSpPr>
        <p:spPr>
          <a:xfrm>
            <a:off x="5641767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05DB69-F543-1B1E-1E7D-D468DAEA6676}"/>
              </a:ext>
            </a:extLst>
          </p:cNvPr>
          <p:cNvSpPr txBox="1"/>
          <p:nvPr/>
        </p:nvSpPr>
        <p:spPr>
          <a:xfrm>
            <a:off x="5427181" y="3476535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의견서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6F893C-3969-3F85-27D1-66002FA3AD33}"/>
              </a:ext>
            </a:extLst>
          </p:cNvPr>
          <p:cNvSpPr/>
          <p:nvPr/>
        </p:nvSpPr>
        <p:spPr>
          <a:xfrm>
            <a:off x="5101707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항을 결합하여 하나의 항으로 만들되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있던 부분을 </a:t>
            </a:r>
            <a:r>
              <a:rPr lang="ko-KR" altLang="en-US" sz="1200" dirty="0">
                <a:solidFill>
                  <a:srgbClr val="FF0000"/>
                </a:solidFill>
              </a:rPr>
              <a:t>공지기술로 한정하여 </a:t>
            </a:r>
            <a:r>
              <a:rPr lang="ko-KR" altLang="en-US" sz="1200" dirty="0" err="1">
                <a:solidFill>
                  <a:srgbClr val="FF0000"/>
                </a:solidFill>
              </a:rPr>
              <a:t>전제부로</a:t>
            </a:r>
            <a:r>
              <a:rPr lang="ko-KR" altLang="en-US" sz="1200" dirty="0">
                <a:solidFill>
                  <a:srgbClr val="FF0000"/>
                </a:solidFill>
              </a:rPr>
              <a:t> 기재</a:t>
            </a:r>
            <a:r>
              <a:rPr lang="ko-KR" altLang="en-US" sz="1200" dirty="0"/>
              <a:t>하고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있던 부분을 </a:t>
            </a:r>
            <a:r>
              <a:rPr lang="ko-KR" altLang="en-US" sz="1200" dirty="0" err="1"/>
              <a:t>특징부에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기재하였는</a:t>
            </a:r>
            <a:r>
              <a:rPr lang="ko-KR" altLang="en-US" sz="1200" dirty="0"/>
              <a:t> 바 재심사하여 </a:t>
            </a:r>
            <a:r>
              <a:rPr lang="ko-KR" altLang="en-US" sz="1200" dirty="0" err="1"/>
              <a:t>특허결정해달라</a:t>
            </a:r>
            <a:endParaRPr lang="ko-KR" altLang="en-US" sz="12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BAD6640-9FA3-1C02-3763-C81C61001583}"/>
              </a:ext>
            </a:extLst>
          </p:cNvPr>
          <p:cNvSpPr/>
          <p:nvPr/>
        </p:nvSpPr>
        <p:spPr>
          <a:xfrm>
            <a:off x="269345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A0D58-0911-BB37-0FFC-4765EA479A84}"/>
              </a:ext>
            </a:extLst>
          </p:cNvPr>
          <p:cNvSpPr txBox="1"/>
          <p:nvPr/>
        </p:nvSpPr>
        <p:spPr>
          <a:xfrm>
            <a:off x="1743602" y="3382759"/>
            <a:ext cx="209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(1</a:t>
            </a:r>
            <a:r>
              <a:rPr lang="ko-KR" altLang="en-US" sz="1200" dirty="0"/>
              <a:t>항이 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44FE1B-D3DB-3B96-B0C1-9A2D4B84D584}"/>
              </a:ext>
            </a:extLst>
          </p:cNvPr>
          <p:cNvSpPr/>
          <p:nvPr/>
        </p:nvSpPr>
        <p:spPr>
          <a:xfrm>
            <a:off x="7039538" y="4124607"/>
            <a:ext cx="1368152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</a:t>
            </a:r>
            <a:r>
              <a:rPr lang="ko-KR" altLang="en-US" sz="1200" dirty="0" err="1">
                <a:solidFill>
                  <a:schemeClr val="tx1"/>
                </a:solidFill>
              </a:rPr>
              <a:t>슬라이드관으로</a:t>
            </a:r>
            <a:r>
              <a:rPr lang="ko-KR" altLang="en-US" sz="1200" dirty="0">
                <a:solidFill>
                  <a:schemeClr val="tx1"/>
                </a:solidFill>
              </a:rPr>
              <a:t> 구성된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55">
            <a:extLst>
              <a:ext uri="{FF2B5EF4-FFF2-40B4-BE49-F238E27FC236}">
                <a16:creationId xmlns:a16="http://schemas.microsoft.com/office/drawing/2014/main" id="{FE62010C-CD8F-9906-FB22-30600E98C114}"/>
              </a:ext>
            </a:extLst>
          </p:cNvPr>
          <p:cNvSpPr/>
          <p:nvPr/>
        </p:nvSpPr>
        <p:spPr bwMode="auto">
          <a:xfrm>
            <a:off x="257975" y="994095"/>
            <a:ext cx="6509882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2002. 6. 14.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2000</a:t>
            </a:r>
            <a:r>
              <a:rPr lang="ko-KR" altLang="en-US" sz="1400" dirty="0"/>
              <a:t>후</a:t>
            </a:r>
            <a:r>
              <a:rPr lang="en-US" altLang="ko-KR" sz="1400" dirty="0"/>
              <a:t>2712 </a:t>
            </a:r>
            <a:r>
              <a:rPr lang="ko-KR" altLang="en-US" sz="1400" dirty="0"/>
              <a:t>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)】: </a:t>
            </a:r>
            <a:r>
              <a:rPr lang="ko-KR" altLang="en-US" sz="1400" dirty="0"/>
              <a:t>안락의자 사건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942A4-2713-0D50-A355-61A18E46A507}"/>
              </a:ext>
            </a:extLst>
          </p:cNvPr>
          <p:cNvSpPr txBox="1"/>
          <p:nvPr/>
        </p:nvSpPr>
        <p:spPr>
          <a:xfrm>
            <a:off x="10703520" y="5291559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출원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 err="1"/>
              <a:t>안내부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50C6445-5086-10ED-F1F6-28AA54C59094}"/>
              </a:ext>
            </a:extLst>
          </p:cNvPr>
          <p:cNvSpPr/>
          <p:nvPr/>
        </p:nvSpPr>
        <p:spPr>
          <a:xfrm>
            <a:off x="8864836" y="4879146"/>
            <a:ext cx="1018227" cy="3693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537D87-E0F5-E557-7E3A-DAD76ED811EE}"/>
              </a:ext>
            </a:extLst>
          </p:cNvPr>
          <p:cNvSpPr/>
          <p:nvPr/>
        </p:nvSpPr>
        <p:spPr>
          <a:xfrm>
            <a:off x="9883063" y="4879146"/>
            <a:ext cx="1204457" cy="36932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슬라이드관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E43529-5581-B7C9-38CE-DB923B5E235A}"/>
              </a:ext>
            </a:extLst>
          </p:cNvPr>
          <p:cNvSpPr txBox="1"/>
          <p:nvPr/>
        </p:nvSpPr>
        <p:spPr>
          <a:xfrm>
            <a:off x="9644077" y="5291559"/>
            <a:ext cx="5084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감축</a:t>
            </a:r>
            <a:endParaRPr lang="en-US" altLang="ko-KR" sz="1400" dirty="0"/>
          </a:p>
          <a:p>
            <a:pPr algn="ctr"/>
            <a:r>
              <a:rPr lang="ko-KR" altLang="en-US" sz="1400" dirty="0"/>
              <a:t>보정</a:t>
            </a:r>
            <a:endParaRPr lang="en-US" altLang="ko-KR" sz="1400" dirty="0"/>
          </a:p>
          <a:p>
            <a:pPr algn="ctr"/>
            <a:endParaRPr lang="ko-KR" altLang="en-US" sz="1400" dirty="0"/>
          </a:p>
        </p:txBody>
      </p:sp>
      <p:pic>
        <p:nvPicPr>
          <p:cNvPr id="30" name="_x318566768" descr="EMB00002d2c0e36">
            <a:extLst>
              <a:ext uri="{FF2B5EF4-FFF2-40B4-BE49-F238E27FC236}">
                <a16:creationId xmlns:a16="http://schemas.microsoft.com/office/drawing/2014/main" id="{64F665B6-A04C-A9FA-638F-930B33FA8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" b="12747"/>
          <a:stretch>
            <a:fillRect/>
          </a:stretch>
        </p:blipFill>
        <p:spPr bwMode="auto">
          <a:xfrm>
            <a:off x="8251640" y="3126978"/>
            <a:ext cx="14652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_x318565808" descr="EMB00002d2c0e37">
            <a:extLst>
              <a:ext uri="{FF2B5EF4-FFF2-40B4-BE49-F238E27FC236}">
                <a16:creationId xmlns:a16="http://schemas.microsoft.com/office/drawing/2014/main" id="{8DB9DBF4-DA37-8382-C8AD-584B88309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" b="16272"/>
          <a:stretch>
            <a:fillRect/>
          </a:stretch>
        </p:blipFill>
        <p:spPr bwMode="auto">
          <a:xfrm>
            <a:off x="9641828" y="3128446"/>
            <a:ext cx="1368425" cy="11382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_x318565248" descr="EMB00002d2c0e38">
            <a:extLst>
              <a:ext uri="{FF2B5EF4-FFF2-40B4-BE49-F238E27FC236}">
                <a16:creationId xmlns:a16="http://schemas.microsoft.com/office/drawing/2014/main" id="{79DED805-DEC7-7433-8EBA-158CCF1F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" b="16331"/>
          <a:stretch>
            <a:fillRect/>
          </a:stretch>
        </p:blipFill>
        <p:spPr bwMode="auto">
          <a:xfrm>
            <a:off x="10900737" y="3125269"/>
            <a:ext cx="11350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B618BC9-6921-BDF7-8C03-09FF81201113}"/>
              </a:ext>
            </a:extLst>
          </p:cNvPr>
          <p:cNvSpPr txBox="1"/>
          <p:nvPr/>
        </p:nvSpPr>
        <p:spPr>
          <a:xfrm>
            <a:off x="8541671" y="426260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롤러방식</a:t>
            </a:r>
            <a:endParaRPr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8BB00C-2CAB-DF04-1AAC-0BAAF2076B68}"/>
              </a:ext>
            </a:extLst>
          </p:cNvPr>
          <p:cNvSpPr txBox="1"/>
          <p:nvPr/>
        </p:nvSpPr>
        <p:spPr>
          <a:xfrm>
            <a:off x="9721504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C04CF5-624B-3ACD-5773-9F007E3B9630}"/>
              </a:ext>
            </a:extLst>
          </p:cNvPr>
          <p:cNvSpPr txBox="1"/>
          <p:nvPr/>
        </p:nvSpPr>
        <p:spPr>
          <a:xfrm>
            <a:off x="10888923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B723D-0423-FF82-4088-6FDDE5735D12}"/>
              </a:ext>
            </a:extLst>
          </p:cNvPr>
          <p:cNvSpPr txBox="1"/>
          <p:nvPr/>
        </p:nvSpPr>
        <p:spPr>
          <a:xfrm>
            <a:off x="10697059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BEFORE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DF99490-ED2A-1A86-9159-D5CF16E0AB91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11095407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A1614E4-A485-DA0C-0334-E3F9386AD1CD}"/>
              </a:ext>
            </a:extLst>
          </p:cNvPr>
          <p:cNvSpPr txBox="1"/>
          <p:nvPr/>
        </p:nvSpPr>
        <p:spPr>
          <a:xfrm>
            <a:off x="9491281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AFTER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830FE4E-73E3-D3E1-1B2F-8FCED89D4A20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9889629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0966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PBP</a:t>
            </a:r>
            <a:r>
              <a:rPr lang="ko-KR" altLang="en-US" dirty="0"/>
              <a:t> 청구항의 </a:t>
            </a:r>
            <a:r>
              <a:rPr lang="en-US" altLang="ko-KR" dirty="0"/>
              <a:t>CASE(</a:t>
            </a:r>
            <a:r>
              <a:rPr lang="ko-KR" altLang="en-US" dirty="0"/>
              <a:t>특허요건 판단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138</a:t>
            </a:fld>
            <a:endParaRPr lang="ko-KR" altLang="en-US"/>
          </a:p>
        </p:txBody>
      </p:sp>
      <p:sp>
        <p:nvSpPr>
          <p:cNvPr id="25" name="직사각형 24"/>
          <p:cNvSpPr/>
          <p:nvPr/>
        </p:nvSpPr>
        <p:spPr bwMode="auto">
          <a:xfrm>
            <a:off x="348791" y="1451189"/>
            <a:ext cx="11519555" cy="2866808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/>
            <a:r>
              <a:rPr lang="en-US" altLang="ko-KR" sz="1200" dirty="0"/>
              <a:t>[1]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2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호는 발명을 ‘물건의 발명’</a:t>
            </a:r>
            <a:r>
              <a:rPr lang="en-US" altLang="ko-KR" sz="1200" dirty="0"/>
              <a:t>, ‘</a:t>
            </a:r>
            <a:r>
              <a:rPr lang="ko-KR" altLang="en-US" sz="1200" dirty="0"/>
              <a:t>방법의 발명’</a:t>
            </a:r>
            <a:r>
              <a:rPr lang="en-US" altLang="ko-KR" sz="1200" dirty="0"/>
              <a:t>, ‘</a:t>
            </a:r>
            <a:r>
              <a:rPr lang="ko-KR" altLang="en-US" sz="1200" dirty="0"/>
              <a:t>물건을 생산하는 방법의 발명’으로 구분하고 있는바</a:t>
            </a:r>
            <a:r>
              <a:rPr lang="en-US" altLang="ko-KR" sz="1200" dirty="0"/>
              <a:t>, </a:t>
            </a:r>
            <a:r>
              <a:rPr lang="ko-KR" altLang="en-US" sz="1200" dirty="0"/>
              <a:t>청구범위가 전체적으로 물건으로 기재되어 있으면서 그 제조방법의 기재를 포함하고 있는 발명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‘제조방법이 기재된 물건발명’이라고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의 경우 제조방법이 기재되어 있다고 하더라도 발명의 대상은 그 제조방법이 아니라 최종적으로 얻어지는 물건 자체이므로 위와 같은 발명의 유형 중 ‘물건의 발명’에 해당한다</a:t>
            </a:r>
            <a:r>
              <a:rPr lang="en-US" altLang="ko-KR" sz="1200" dirty="0"/>
              <a:t>.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물건의 발명에 관한 청구범위는 발명의 대상인 물건의 구성을 특정하는 방식으로 기재되어야 하는 것이므로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물건의 발명의 청구범위에 기재된 제조방법은 최종 생산물인 물건의 구조나 성질 등을 특정하는 하나의 수단으로서 그 의미를 가질 뿐이다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fontAlgn="base"/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[2]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 제조방법이 기재된 물건발명의 특허요건을 판단함에 있어서 그 기술적 구성을 제조방법 자체로 한정하여 파악할 것이 아니라 제조방법의 기재를 포함하여 청구범위의 모든 기재에 의하여 특정되는 구조나 성질 등을 가지는 물건으로 파악하여 출원 전에 공지된 선행기술과 비교하여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신규성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진보성 등이 있는지 여부를 살펴야 한다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fontAlgn="base"/>
            <a:r>
              <a:rPr lang="en-US" altLang="ko-KR" sz="1200" dirty="0"/>
              <a:t>[3] </a:t>
            </a:r>
            <a:r>
              <a:rPr lang="ko-KR" altLang="en-US" sz="1200" dirty="0"/>
              <a:t>한편 생명공학 분야나 고분자</a:t>
            </a:r>
            <a:r>
              <a:rPr lang="en-US" altLang="ko-KR" sz="1200" dirty="0"/>
              <a:t>, </a:t>
            </a:r>
            <a:r>
              <a:rPr lang="ko-KR" altLang="en-US" sz="1200" dirty="0"/>
              <a:t>혼합물</a:t>
            </a:r>
            <a:r>
              <a:rPr lang="en-US" altLang="ko-KR" sz="1200" dirty="0"/>
              <a:t>, </a:t>
            </a:r>
            <a:r>
              <a:rPr lang="ko-KR" altLang="en-US" sz="1200" dirty="0"/>
              <a:t>금속 등의 화학 분야 등에서의 물건의 발명 중에는 어떠한 제조방법에 의하여 얻어진 물건을 구조나 성질 등으로 직접적으로 특정하는 것이 불가능하거나 곤란하여 제조방법에 의해서만 물건을 특정할 수밖에 없는 사정이 있을 수 있지만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사정에 의하여 제조방법이 기재된 물건발명이라고 하더라도 그 본질이 ‘물건의 발명’이라는 점과 청구범위에 기재된 제조방법이 물건의 구조나 성질 등을 특정하는 수단에 불과하다는 점은 마찬가지이므로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발명과 그와 같은 사정은 없지만 제조방법이 기재된 물건발명을 구분하여 그 기재된 제조방법의 의미를 달리 해석할 것은 아니다</a:t>
            </a:r>
            <a:r>
              <a:rPr lang="en-US" altLang="ko-KR" sz="1200" dirty="0"/>
              <a:t>. 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[4] </a:t>
            </a:r>
            <a:r>
              <a:rPr lang="ko-KR" altLang="en-US" sz="1200" dirty="0"/>
              <a:t>이와 달리</a:t>
            </a:r>
            <a:r>
              <a:rPr lang="en-US" altLang="ko-KR" sz="1200" dirty="0"/>
              <a:t>, </a:t>
            </a:r>
            <a:r>
              <a:rPr lang="ko-KR" altLang="en-US" sz="1200" dirty="0"/>
              <a:t>제조방법이 기재된 물건발명을 그 제조방법에 의해서만 물건을 특정할 수밖에 없는 등의 특별한 사정이 있는지 여부로 나누어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특별한 사정이 없는 경우에만 그 제조방법 자체를 고려할 필요가 없이 청구범위의 기재에 의하여 물건으로 특정되는 발명만을 선행기술과 대비하는 방법으로 진보성 유무를 판단해야 한다는 취지로 판시한 대법원 </a:t>
            </a:r>
            <a:r>
              <a:rPr lang="en-US" altLang="ko-KR" sz="1200" dirty="0"/>
              <a:t>2006. 6. 29.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2004</a:t>
            </a:r>
            <a:r>
              <a:rPr lang="ko-KR" altLang="en-US" sz="1200" dirty="0"/>
              <a:t>후</a:t>
            </a:r>
            <a:r>
              <a:rPr lang="en-US" altLang="ko-KR" sz="1200" dirty="0"/>
              <a:t>3416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2007. 5. 11.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후</a:t>
            </a:r>
            <a:r>
              <a:rPr lang="en-US" altLang="ko-KR" sz="1200" dirty="0"/>
              <a:t>449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2007. 9. 20.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2006</a:t>
            </a:r>
            <a:r>
              <a:rPr lang="ko-KR" altLang="en-US" sz="1200" dirty="0"/>
              <a:t>후</a:t>
            </a:r>
            <a:r>
              <a:rPr lang="en-US" altLang="ko-KR" sz="1200" dirty="0"/>
              <a:t>1100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2008. 8. 21.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2006</a:t>
            </a:r>
            <a:r>
              <a:rPr lang="ko-KR" altLang="en-US" sz="1200" dirty="0"/>
              <a:t>후</a:t>
            </a:r>
            <a:r>
              <a:rPr lang="en-US" altLang="ko-KR" sz="1200" dirty="0"/>
              <a:t>3472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2009. 1. 15.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후</a:t>
            </a:r>
            <a:r>
              <a:rPr lang="en-US" altLang="ko-KR" sz="1200" dirty="0"/>
              <a:t>1053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2009. 3. 26.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2006</a:t>
            </a:r>
            <a:r>
              <a:rPr lang="ko-KR" altLang="en-US" sz="1200" dirty="0"/>
              <a:t>후</a:t>
            </a:r>
            <a:r>
              <a:rPr lang="en-US" altLang="ko-KR" sz="1200" dirty="0"/>
              <a:t>3250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2009. 9. 24.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후</a:t>
            </a:r>
            <a:r>
              <a:rPr lang="en-US" altLang="ko-KR" sz="1200" dirty="0"/>
              <a:t>4328 </a:t>
            </a:r>
            <a:r>
              <a:rPr lang="ko-KR" altLang="en-US" sz="1200" dirty="0"/>
              <a:t>판결 등을 비롯한 같은 취지의 판결들은 이 판결의 견해에 배치되는 범위 내에서 모두 변경하기로 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26" name="모서리가 둥근 직사각형 25"/>
          <p:cNvSpPr/>
          <p:nvPr/>
        </p:nvSpPr>
        <p:spPr bwMode="auto">
          <a:xfrm>
            <a:off x="348791" y="1160874"/>
            <a:ext cx="4680521" cy="288032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/>
            <a:r>
              <a:rPr lang="ko-KR" altLang="en-US" sz="1200" dirty="0"/>
              <a:t>대법원 </a:t>
            </a:r>
            <a:r>
              <a:rPr lang="en-US" altLang="ko-KR" sz="1200" dirty="0"/>
              <a:t>2015. 1. 22. </a:t>
            </a:r>
            <a:r>
              <a:rPr lang="ko-KR" altLang="en-US" sz="1200" dirty="0"/>
              <a:t>선고 </a:t>
            </a:r>
            <a:r>
              <a:rPr lang="en-US" altLang="ko-KR" sz="1200" dirty="0"/>
              <a:t>2011</a:t>
            </a:r>
            <a:r>
              <a:rPr lang="ko-KR" altLang="en-US" sz="1200" dirty="0"/>
              <a:t>후</a:t>
            </a:r>
            <a:r>
              <a:rPr lang="en-US" altLang="ko-KR" sz="1200" dirty="0"/>
              <a:t>927 </a:t>
            </a:r>
            <a:r>
              <a:rPr lang="ko-KR" altLang="en-US" sz="1200" dirty="0"/>
              <a:t>판결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  <a:endParaRPr lang="ko-KR" altLang="en-US" sz="1200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375735" y="4453458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8791" y="4521172"/>
            <a:ext cx="11496075" cy="2133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600" dirty="0"/>
              <a:t>원심은</a:t>
            </a:r>
            <a:r>
              <a:rPr lang="en-US" altLang="ko-KR" sz="1600" dirty="0"/>
              <a:t>, </a:t>
            </a:r>
            <a:r>
              <a:rPr lang="ko-KR" altLang="en-US" sz="1600" dirty="0"/>
              <a:t>이 사건 제</a:t>
            </a:r>
            <a:r>
              <a:rPr lang="en-US" altLang="ko-KR" sz="1600" dirty="0"/>
              <a:t>6</a:t>
            </a:r>
            <a:r>
              <a:rPr lang="ko-KR" altLang="en-US" sz="1600" dirty="0"/>
              <a:t>항 발명의 방법에 의하여 제조된 물건인 ‘편광필름’을 그 청구범위로 하여 제조방법이 기재된 물건발명에 해당하는 이 사건 제</a:t>
            </a:r>
            <a:r>
              <a:rPr lang="en-US" altLang="ko-KR" sz="1600" dirty="0"/>
              <a:t>9, 10</a:t>
            </a:r>
            <a:r>
              <a:rPr lang="ko-KR" altLang="en-US" sz="1600" dirty="0"/>
              <a:t>항 발명을 비교대상발명들과 대비함에 있어서</a:t>
            </a:r>
            <a:r>
              <a:rPr lang="en-US" altLang="ko-KR" sz="1600" dirty="0"/>
              <a:t>, </a:t>
            </a:r>
            <a:r>
              <a:rPr lang="ko-KR" altLang="en-US" sz="1600" dirty="0"/>
              <a:t>이 사건 </a:t>
            </a:r>
            <a:r>
              <a:rPr lang="ko-KR" altLang="en-US" sz="1600" dirty="0">
                <a:solidFill>
                  <a:srgbClr val="FF0000"/>
                </a:solidFill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</a:rPr>
              <a:t>6</a:t>
            </a:r>
            <a:r>
              <a:rPr lang="ko-KR" altLang="en-US" sz="1600" dirty="0">
                <a:solidFill>
                  <a:srgbClr val="FF0000"/>
                </a:solidFill>
              </a:rPr>
              <a:t>항 발명의 진보성이 부정되지 않는다고 판단한 다음 곧바로 그에 따라 이 사건 제</a:t>
            </a:r>
            <a:r>
              <a:rPr lang="en-US" altLang="ko-KR" sz="1600" dirty="0">
                <a:solidFill>
                  <a:srgbClr val="FF0000"/>
                </a:solidFill>
              </a:rPr>
              <a:t>9, 10</a:t>
            </a:r>
            <a:r>
              <a:rPr lang="ko-KR" altLang="en-US" sz="1600" dirty="0">
                <a:solidFill>
                  <a:srgbClr val="FF0000"/>
                </a:solidFill>
              </a:rPr>
              <a:t>항 발명의 진보성도 부정되지 않는다고 판단</a:t>
            </a:r>
            <a:r>
              <a:rPr lang="ko-KR" altLang="en-US" sz="1600" dirty="0"/>
              <a:t>하였다</a:t>
            </a:r>
            <a:r>
              <a:rPr lang="en-US" altLang="ko-KR" sz="1600" dirty="0"/>
              <a:t>. </a:t>
            </a:r>
            <a:r>
              <a:rPr lang="ko-KR" altLang="en-US" sz="1600" dirty="0"/>
              <a:t>앞서 본 법리에 비추어 볼 때</a:t>
            </a:r>
            <a:r>
              <a:rPr lang="en-US" altLang="ko-KR" sz="1600" dirty="0"/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제조방법이 기재된 물건발명에 해당하는 이 사건 제</a:t>
            </a:r>
            <a:r>
              <a:rPr lang="en-US" altLang="ko-KR" sz="1600" dirty="0">
                <a:solidFill>
                  <a:srgbClr val="FF0000"/>
                </a:solidFill>
              </a:rPr>
              <a:t>9, 10</a:t>
            </a:r>
            <a:r>
              <a:rPr lang="ko-KR" altLang="en-US" sz="1600" dirty="0">
                <a:solidFill>
                  <a:srgbClr val="FF0000"/>
                </a:solidFill>
              </a:rPr>
              <a:t>항 발명에 관하여는 그 제조방법의 기재를 포함한 청구범위의 모든 기재에 의하여 특정되는 구조나 성질을 가진 물건의 발명만을 비교대상발명들과 대비하여 진보성 유무를 판단</a:t>
            </a:r>
            <a:r>
              <a:rPr lang="ko-KR" altLang="en-US" sz="1600" dirty="0"/>
              <a:t>하였어야 함에도</a:t>
            </a:r>
            <a:r>
              <a:rPr lang="en-US" altLang="ko-KR" sz="1600" dirty="0"/>
              <a:t>, </a:t>
            </a:r>
            <a:r>
              <a:rPr lang="ko-KR" altLang="en-US" sz="1600" dirty="0"/>
              <a:t>원심은 그에 이르지 아니한 채 제조방법에 관한 발명의 진보성이 부정되지 않는다는 이유만으로 곧바로 그 제조방법이 기재된 물건의 발명인 이 사건 제</a:t>
            </a:r>
            <a:r>
              <a:rPr lang="en-US" altLang="ko-KR" sz="1600" dirty="0"/>
              <a:t>9, 10</a:t>
            </a:r>
            <a:r>
              <a:rPr lang="ko-KR" altLang="en-US" sz="1600" dirty="0"/>
              <a:t>항 발명의 진보성도 부정되지 않는다고 판단하였으니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원심판결에는 제조방법이 기재된 물건발명의 진보성 판단에 관한 법리를 오해하여 판결에 영향을 미친 위법이 있다</a:t>
            </a:r>
            <a:r>
              <a:rPr lang="en-US" altLang="ko-KR" sz="1600" dirty="0"/>
              <a:t>.</a:t>
            </a:r>
            <a:r>
              <a:rPr lang="ko-KR" altLang="en-US" sz="1600" dirty="0"/>
              <a:t> 이를 지적하는 상고이유의 주장은 이유가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552379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PBP </a:t>
            </a:r>
            <a:r>
              <a:rPr lang="ko-KR" altLang="en-US"/>
              <a:t>청구항의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139</a:t>
            </a:fld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1079612" y="1219200"/>
            <a:ext cx="0" cy="507153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71739" y="1118621"/>
            <a:ext cx="10274167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물건발명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구성된 외각부로 구성된 연필</a:t>
            </a:r>
            <a:endParaRPr lang="en-US" altLang="ko-KR" sz="1400" dirty="0"/>
          </a:p>
          <a:p>
            <a:r>
              <a:rPr lang="ko-KR" altLang="en-US" sz="1400" dirty="0"/>
              <a:t>방법발명</a:t>
            </a:r>
            <a:r>
              <a:rPr lang="en-US" altLang="ko-KR" sz="1400" dirty="0"/>
              <a:t>: a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b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c</a:t>
            </a:r>
            <a:r>
              <a:rPr lang="ko-KR" altLang="en-US" sz="1400" dirty="0"/>
              <a:t>공정을 거치는 방법에 의해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구성된 외각부로 구성된 연필을 제조하는 방법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0574" y="1378089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80574" y="2741185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출원</a:t>
            </a: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80574" y="4639929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출원</a:t>
            </a: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B14D38-7E08-4D3F-8EC2-709D5B214B5F}"/>
              </a:ext>
            </a:extLst>
          </p:cNvPr>
          <p:cNvSpPr txBox="1"/>
          <p:nvPr/>
        </p:nvSpPr>
        <p:spPr>
          <a:xfrm>
            <a:off x="1671740" y="2560585"/>
            <a:ext cx="10274182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c2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b1</a:t>
            </a:r>
            <a:r>
              <a:rPr lang="ko-KR" altLang="en-US" sz="1400" dirty="0"/>
              <a:t>공정을 거치는 방법에 의해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구성된 외각부로 구성된 연필을 제조하는 방법</a:t>
            </a:r>
            <a:endParaRPr lang="en-US" altLang="ko-KR" sz="1400" dirty="0"/>
          </a:p>
          <a:p>
            <a:r>
              <a:rPr lang="ko-KR" altLang="en-US" sz="1400" dirty="0"/>
              <a:t>청구항</a:t>
            </a:r>
            <a:r>
              <a:rPr lang="en-US" altLang="ko-KR" sz="1400" dirty="0"/>
              <a:t>2: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방법에 의해 제조된 연필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ECC419-609D-40D3-B6AF-B7703513323E}"/>
              </a:ext>
            </a:extLst>
          </p:cNvPr>
          <p:cNvSpPr txBox="1"/>
          <p:nvPr/>
        </p:nvSpPr>
        <p:spPr>
          <a:xfrm>
            <a:off x="1671740" y="4432040"/>
            <a:ext cx="10274182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a1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c3 </a:t>
            </a:r>
            <a:r>
              <a:rPr lang="ko-KR" altLang="en-US" sz="1400" dirty="0" err="1"/>
              <a:t>공정후</a:t>
            </a:r>
            <a:r>
              <a:rPr lang="en-US" altLang="ko-KR" sz="1400" dirty="0"/>
              <a:t>, b2</a:t>
            </a:r>
            <a:r>
              <a:rPr lang="ko-KR" altLang="en-US" sz="1400" dirty="0"/>
              <a:t>공정을 거치는 방법에 의해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흑연연필심과</a:t>
            </a:r>
            <a:r>
              <a:rPr lang="ko-KR" altLang="en-US" sz="1400" dirty="0"/>
              <a:t> 상기 </a:t>
            </a:r>
            <a:r>
              <a:rPr lang="ko-KR" altLang="en-US" sz="1400" dirty="0" err="1"/>
              <a:t>흑연연필심을</a:t>
            </a:r>
            <a:r>
              <a:rPr lang="ko-KR" altLang="en-US" sz="1400" dirty="0"/>
              <a:t> 둘러싸도록 목재로 구성되고</a:t>
            </a:r>
            <a:r>
              <a:rPr lang="en-US" altLang="ko-KR" sz="1400" dirty="0"/>
              <a:t>,</a:t>
            </a:r>
            <a:r>
              <a:rPr lang="ko-KR" altLang="en-US" sz="1400" dirty="0"/>
              <a:t> 형상이 다각형인 외각부로 구성된 연필을 제조하는 방법</a:t>
            </a:r>
            <a:endParaRPr lang="en-US" altLang="ko-KR" sz="1400" dirty="0"/>
          </a:p>
          <a:p>
            <a:r>
              <a:rPr lang="ko-KR" altLang="en-US" sz="1400" dirty="0"/>
              <a:t>청구항</a:t>
            </a:r>
            <a:r>
              <a:rPr lang="en-US" altLang="ko-KR" sz="1400" dirty="0"/>
              <a:t>2: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방법에 의해 제조된 연필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8CD3D-6A83-4E5D-8004-7869E08A189E}"/>
              </a:ext>
            </a:extLst>
          </p:cNvPr>
          <p:cNvSpPr txBox="1"/>
          <p:nvPr/>
        </p:nvSpPr>
        <p:spPr>
          <a:xfrm>
            <a:off x="2139193" y="3378205"/>
            <a:ext cx="8743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</a:t>
            </a:r>
            <a:r>
              <a:rPr lang="en-US" altLang="ko-KR" sz="1400" dirty="0">
                <a:sym typeface="Wingdings" panose="05000000000000000000" pitchFamily="2" charset="2"/>
              </a:rPr>
              <a:t>c2b1</a:t>
            </a:r>
            <a:r>
              <a:rPr lang="ko-KR" altLang="en-US" sz="1400" dirty="0">
                <a:sym typeface="Wingdings" panose="05000000000000000000" pitchFamily="2" charset="2"/>
              </a:rPr>
              <a:t>을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en-US" altLang="ko-KR" sz="1400" dirty="0" err="1">
                <a:sym typeface="Wingdings" panose="05000000000000000000" pitchFamily="2" charset="2"/>
              </a:rPr>
              <a:t>abc</a:t>
            </a:r>
            <a:r>
              <a:rPr lang="ko-KR" altLang="en-US" sz="1400" dirty="0">
                <a:sym typeface="Wingdings" panose="05000000000000000000" pitchFamily="2" charset="2"/>
              </a:rPr>
              <a:t>와 비교하여 동일성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신규성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용이성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진보성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판단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청구항</a:t>
            </a:r>
            <a:r>
              <a:rPr lang="en-US" altLang="ko-KR" sz="1400" dirty="0">
                <a:sym typeface="Wingdings" panose="05000000000000000000" pitchFamily="2" charset="2"/>
              </a:rPr>
              <a:t>2: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목재외각부를</a:t>
            </a:r>
            <a:r>
              <a:rPr lang="ko-KR" altLang="en-US" sz="1400" dirty="0">
                <a:sym typeface="Wingdings" panose="05000000000000000000" pitchFamily="2" charset="2"/>
              </a:rPr>
              <a:t>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목재외각부와</a:t>
            </a:r>
            <a:r>
              <a:rPr lang="ko-KR" altLang="en-US" sz="1400" dirty="0">
                <a:sym typeface="Wingdings" panose="05000000000000000000" pitchFamily="2" charset="2"/>
              </a:rPr>
              <a:t> 동일성이 있어 신규성 위반</a:t>
            </a:r>
            <a:endParaRPr lang="ko-KR" altLang="en-US" sz="14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C6A76E1-A947-4341-BBE2-3FB9629C2790}"/>
              </a:ext>
            </a:extLst>
          </p:cNvPr>
          <p:cNvSpPr/>
          <p:nvPr/>
        </p:nvSpPr>
        <p:spPr>
          <a:xfrm>
            <a:off x="1576852" y="3392535"/>
            <a:ext cx="570445" cy="57044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/>
              <a:t>판단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30306-AEA1-49F0-A73D-57FC24F47163}"/>
              </a:ext>
            </a:extLst>
          </p:cNvPr>
          <p:cNvSpPr txBox="1"/>
          <p:nvPr/>
        </p:nvSpPr>
        <p:spPr>
          <a:xfrm>
            <a:off x="2139193" y="5300820"/>
            <a:ext cx="997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청구항</a:t>
            </a:r>
            <a:r>
              <a:rPr lang="en-US" altLang="ko-KR" sz="1400" dirty="0"/>
              <a:t>1: a1</a:t>
            </a:r>
            <a:r>
              <a:rPr lang="en-US" altLang="ko-KR" sz="1400" dirty="0">
                <a:sym typeface="Wingdings" panose="05000000000000000000" pitchFamily="2" charset="2"/>
              </a:rPr>
              <a:t>c3b2</a:t>
            </a:r>
            <a:r>
              <a:rPr lang="ko-KR" altLang="en-US" sz="1400" dirty="0">
                <a:sym typeface="Wingdings" panose="05000000000000000000" pitchFamily="2" charset="2"/>
              </a:rPr>
              <a:t>를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en-US" altLang="ko-KR" sz="1400" dirty="0" err="1">
                <a:sym typeface="Wingdings" panose="05000000000000000000" pitchFamily="2" charset="2"/>
              </a:rPr>
              <a:t>abc</a:t>
            </a:r>
            <a:r>
              <a:rPr lang="ko-KR" altLang="en-US" sz="1400" dirty="0">
                <a:sym typeface="Wingdings" panose="05000000000000000000" pitchFamily="2" charset="2"/>
              </a:rPr>
              <a:t>와 비교하여 동일성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신규성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용이성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진보성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판단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청구항</a:t>
            </a:r>
            <a:r>
              <a:rPr lang="en-US" altLang="ko-KR" sz="1400" dirty="0">
                <a:sym typeface="Wingdings" panose="05000000000000000000" pitchFamily="2" charset="2"/>
              </a:rPr>
              <a:t>2: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다각형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목재외각부를</a:t>
            </a:r>
            <a:r>
              <a:rPr lang="ko-KR" altLang="en-US" sz="1400" dirty="0">
                <a:sym typeface="Wingdings" panose="05000000000000000000" pitchFamily="2" charset="2"/>
              </a:rPr>
              <a:t> 구성으로 하며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공지기술인 </a:t>
            </a:r>
            <a:r>
              <a:rPr lang="ko-KR" altLang="en-US" sz="1400" dirty="0" err="1">
                <a:sym typeface="Wingdings" panose="05000000000000000000" pitchFamily="2" charset="2"/>
              </a:rPr>
              <a:t>흑연연필심과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 err="1">
                <a:sym typeface="Wingdings" panose="05000000000000000000" pitchFamily="2" charset="2"/>
              </a:rPr>
              <a:t>목재외각부와</a:t>
            </a:r>
            <a:r>
              <a:rPr lang="ko-KR" altLang="en-US" sz="1400" dirty="0">
                <a:sym typeface="Wingdings" panose="05000000000000000000" pitchFamily="2" charset="2"/>
              </a:rPr>
              <a:t> 동일성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신규성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용이성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진보성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판단</a:t>
            </a:r>
            <a:endParaRPr lang="ko-KR" altLang="en-US" sz="1400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53C9913-F433-4643-81DD-4422D1428345}"/>
              </a:ext>
            </a:extLst>
          </p:cNvPr>
          <p:cNvSpPr/>
          <p:nvPr/>
        </p:nvSpPr>
        <p:spPr>
          <a:xfrm>
            <a:off x="1576852" y="5277208"/>
            <a:ext cx="570445" cy="57044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/>
              <a:t>판단</a:t>
            </a:r>
          </a:p>
        </p:txBody>
      </p:sp>
    </p:spTree>
    <p:extLst>
      <p:ext uri="{BB962C8B-B14F-4D97-AF65-F5344CB8AC3E}">
        <p14:creationId xmlns:p14="http://schemas.microsoft.com/office/powerpoint/2010/main" val="28991367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기능적 표현 청구항의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140</a:t>
            </a:fld>
            <a:endParaRPr lang="ko-KR" altLang="en-US"/>
          </a:p>
        </p:txBody>
      </p:sp>
      <p:cxnSp>
        <p:nvCxnSpPr>
          <p:cNvPr id="10" name="직선 연결선 9"/>
          <p:cNvCxnSpPr>
            <a:cxnSpLocks/>
          </p:cNvCxnSpPr>
          <p:nvPr/>
        </p:nvCxnSpPr>
        <p:spPr>
          <a:xfrm>
            <a:off x="380873" y="1984016"/>
            <a:ext cx="643191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933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지우개 결합 연필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0574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962822" y="187162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600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지우개 결합 연필 실시</a:t>
            </a:r>
            <a:endParaRPr lang="en-US" altLang="ko-KR" sz="11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F71079C-7B8A-4681-9D03-4B129C66846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984303" y="1750339"/>
            <a:ext cx="189827" cy="10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5ACD4DF-0F21-4C2F-9F23-1616AD7A6269}"/>
              </a:ext>
            </a:extLst>
          </p:cNvPr>
          <p:cNvSpPr txBox="1"/>
          <p:nvPr/>
        </p:nvSpPr>
        <p:spPr>
          <a:xfrm>
            <a:off x="1886000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0DD68ED-20B7-4DD0-82C5-8C745CA3BF3E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>
          <a:xfrm rot="16200000" flipH="1">
            <a:off x="2351523" y="176219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9ED3B97-7020-459C-AB38-E0A9CB32C2A1}"/>
              </a:ext>
            </a:extLst>
          </p:cNvPr>
          <p:cNvSpPr txBox="1"/>
          <p:nvPr/>
        </p:nvSpPr>
        <p:spPr>
          <a:xfrm>
            <a:off x="3338718" y="104506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5F83471-91AF-4949-A16A-6D8A06B02CB0}"/>
              </a:ext>
            </a:extLst>
          </p:cNvPr>
          <p:cNvSpPr/>
          <p:nvPr/>
        </p:nvSpPr>
        <p:spPr>
          <a:xfrm>
            <a:off x="3411360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10172452-2F30-4A9C-9BD3-3A4B10AE9E81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rot="5400000">
            <a:off x="4330417" y="122431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51D7E9B-F714-42B4-844F-F7E450B53C60}"/>
              </a:ext>
            </a:extLst>
          </p:cNvPr>
          <p:cNvCxnSpPr>
            <a:cxnSpLocks/>
          </p:cNvCxnSpPr>
          <p:nvPr/>
        </p:nvCxnSpPr>
        <p:spPr>
          <a:xfrm>
            <a:off x="380873" y="4359706"/>
            <a:ext cx="1163015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A2F5B07-0AC3-42AB-92EF-680474F3A582}"/>
              </a:ext>
            </a:extLst>
          </p:cNvPr>
          <p:cNvSpPr/>
          <p:nvPr/>
        </p:nvSpPr>
        <p:spPr>
          <a:xfrm>
            <a:off x="1962822" y="424731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2235DC-5F1C-4C18-9200-5EADCC5DCC5A}"/>
              </a:ext>
            </a:extLst>
          </p:cNvPr>
          <p:cNvSpPr txBox="1"/>
          <p:nvPr/>
        </p:nvSpPr>
        <p:spPr>
          <a:xfrm>
            <a:off x="1886000" y="377000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E52E7A17-737A-4876-BA05-7D46A0EAE8E8}"/>
              </a:ext>
            </a:extLst>
          </p:cNvPr>
          <p:cNvCxnSpPr>
            <a:cxnSpLocks/>
            <a:stCxn id="61" idx="2"/>
            <a:endCxn id="58" idx="0"/>
          </p:cNvCxnSpPr>
          <p:nvPr/>
        </p:nvCxnSpPr>
        <p:spPr>
          <a:xfrm rot="16200000" flipH="1">
            <a:off x="2351523" y="413788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85C7D3-2507-463B-A37D-61A27DF553E5}"/>
              </a:ext>
            </a:extLst>
          </p:cNvPr>
          <p:cNvSpPr txBox="1"/>
          <p:nvPr/>
        </p:nvSpPr>
        <p:spPr>
          <a:xfrm>
            <a:off x="3338718" y="342075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B8FBFF0-8D19-4CBA-BDC3-04E70F2D553E}"/>
              </a:ext>
            </a:extLst>
          </p:cNvPr>
          <p:cNvSpPr/>
          <p:nvPr/>
        </p:nvSpPr>
        <p:spPr>
          <a:xfrm>
            <a:off x="3411360" y="422144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F2563F37-D790-4ACA-9D75-6FD661559DFA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 rot="5400000">
            <a:off x="4330417" y="360000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0DB450-0B95-4E37-92A9-2456D908361F}"/>
              </a:ext>
            </a:extLst>
          </p:cNvPr>
          <p:cNvSpPr/>
          <p:nvPr/>
        </p:nvSpPr>
        <p:spPr>
          <a:xfrm>
            <a:off x="5099722" y="4221446"/>
            <a:ext cx="996278" cy="3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663678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4765440-AF7B-4DCA-989F-D2D419A8F54E}"/>
              </a:ext>
            </a:extLst>
          </p:cNvPr>
          <p:cNvSpPr/>
          <p:nvPr/>
        </p:nvSpPr>
        <p:spPr>
          <a:xfrm>
            <a:off x="8190542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7D05164-44B6-4EEF-B173-2C732D8C904C}"/>
              </a:ext>
            </a:extLst>
          </p:cNvPr>
          <p:cNvSpPr/>
          <p:nvPr/>
        </p:nvSpPr>
        <p:spPr>
          <a:xfrm>
            <a:off x="9717406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DF647E0-4DC3-4C85-B1A4-E8A5A880E48E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rot="5400000" flipH="1" flipV="1">
            <a:off x="6876696" y="4445333"/>
            <a:ext cx="299541" cy="42735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1BF306A-C4CD-400A-AA9E-BD2E8E5CA24D}"/>
              </a:ext>
            </a:extLst>
          </p:cNvPr>
          <p:cNvSpPr txBox="1"/>
          <p:nvPr/>
        </p:nvSpPr>
        <p:spPr>
          <a:xfrm>
            <a:off x="8051418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 결합 볼펜</a:t>
            </a:r>
            <a:endParaRPr lang="en-US" altLang="ko-KR" sz="1100" dirty="0"/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60112D89-90A3-419A-93EA-F7BD3B812D83}"/>
              </a:ext>
            </a:extLst>
          </p:cNvPr>
          <p:cNvCxnSpPr>
            <a:cxnSpLocks/>
            <a:stCxn id="99" idx="0"/>
            <a:endCxn id="92" idx="2"/>
          </p:cNvCxnSpPr>
          <p:nvPr/>
        </p:nvCxnSpPr>
        <p:spPr>
          <a:xfrm rot="16200000" flipV="1">
            <a:off x="8617837" y="4658412"/>
            <a:ext cx="299541" cy="119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CCD8D8C-C290-4346-A1C6-E3B2215240AA}"/>
              </a:ext>
            </a:extLst>
          </p:cNvPr>
          <p:cNvSpPr txBox="1"/>
          <p:nvPr/>
        </p:nvSpPr>
        <p:spPr>
          <a:xfrm>
            <a:off x="1006096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</a:t>
            </a:r>
            <a:r>
              <a:rPr lang="en-US" altLang="ko-KR" sz="1100" dirty="0"/>
              <a:t>2</a:t>
            </a:r>
            <a:r>
              <a:rPr lang="ko-KR" altLang="en-US" sz="1100" dirty="0"/>
              <a:t> 결합 볼펜</a:t>
            </a:r>
            <a:endParaRPr lang="en-US" altLang="ko-KR" sz="1100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E80B7CED-7CEE-4CA0-8E22-CCEA3EA47C17}"/>
              </a:ext>
            </a:extLst>
          </p:cNvPr>
          <p:cNvCxnSpPr>
            <a:cxnSpLocks/>
            <a:stCxn id="102" idx="0"/>
            <a:endCxn id="94" idx="2"/>
          </p:cNvCxnSpPr>
          <p:nvPr/>
        </p:nvCxnSpPr>
        <p:spPr>
          <a:xfrm rot="16200000" flipV="1">
            <a:off x="10386040" y="4417073"/>
            <a:ext cx="299541" cy="4838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638376A7-3480-4010-AF20-F3D42A9A9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07858"/>
              </p:ext>
            </p:extLst>
          </p:nvPr>
        </p:nvGraphicFramePr>
        <p:xfrm>
          <a:off x="2047260" y="5398638"/>
          <a:ext cx="7296213" cy="10363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36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7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1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보호범위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결합한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AER, </a:t>
                      </a:r>
                      <a:r>
                        <a:rPr lang="ko-KR" altLang="en-US" sz="1100" dirty="0" err="1"/>
                        <a:t>균등론</a:t>
                      </a:r>
                      <a:r>
                        <a:rPr lang="ko-KR" altLang="en-US" sz="1100" dirty="0"/>
                        <a:t> 의하여 </a:t>
                      </a:r>
                      <a:r>
                        <a:rPr lang="ko-KR" altLang="en-US" sz="1100" dirty="0" err="1"/>
                        <a:t>비침해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</a:t>
                      </a:r>
                      <a:r>
                        <a:rPr lang="ko-KR" altLang="en-US" sz="1100" dirty="0"/>
                        <a:t>에 의한 침해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</a:t>
                      </a:r>
                      <a:r>
                        <a:rPr lang="en-US" altLang="ko-KR" sz="1100" dirty="0"/>
                        <a:t>2 </a:t>
                      </a:r>
                      <a:r>
                        <a:rPr lang="ko-KR" altLang="en-US" sz="1100" dirty="0"/>
                        <a:t>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균등론에</a:t>
                      </a:r>
                      <a:r>
                        <a:rPr lang="ko-KR" altLang="en-US" sz="1100" dirty="0"/>
                        <a:t> 의한 침해△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5407F1DD-0719-45BB-9D19-C2C0F4CBF85C}"/>
              </a:ext>
            </a:extLst>
          </p:cNvPr>
          <p:cNvGraphicFramePr>
            <a:graphicFrameLocks noGrp="1"/>
          </p:cNvGraphicFramePr>
          <p:nvPr/>
        </p:nvGraphicFramePr>
        <p:xfrm>
          <a:off x="7135776" y="1624265"/>
          <a:ext cx="4823603" cy="7778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51529">
                  <a:extLst>
                    <a:ext uri="{9D8B030D-6E8A-4147-A177-3AD203B41FA5}">
                      <a16:colId xmlns:a16="http://schemas.microsoft.com/office/drawing/2014/main" val="3020649315"/>
                    </a:ext>
                  </a:extLst>
                </a:gridCol>
                <a:gridCol w="1088471">
                  <a:extLst>
                    <a:ext uri="{9D8B030D-6E8A-4147-A177-3AD203B41FA5}">
                      <a16:colId xmlns:a16="http://schemas.microsoft.com/office/drawing/2014/main" val="3533084461"/>
                    </a:ext>
                  </a:extLst>
                </a:gridCol>
                <a:gridCol w="1239942">
                  <a:extLst>
                    <a:ext uri="{9D8B030D-6E8A-4147-A177-3AD203B41FA5}">
                      <a16:colId xmlns:a16="http://schemas.microsoft.com/office/drawing/2014/main" val="3299466833"/>
                    </a:ext>
                  </a:extLst>
                </a:gridCol>
                <a:gridCol w="1743661">
                  <a:extLst>
                    <a:ext uri="{9D8B030D-6E8A-4147-A177-3AD203B41FA5}">
                      <a16:colId xmlns:a16="http://schemas.microsoft.com/office/drawing/2014/main" val="1300455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050556"/>
                  </a:ext>
                </a:extLst>
              </a:tr>
              <a:tr h="518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특허요건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소거수단</a:t>
                      </a:r>
                      <a:r>
                        <a:rPr lang="ko-KR" altLang="en-US" sz="1100" baseline="0" dirty="0"/>
                        <a:t> 결합한 필기수단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발명이 상위개념이기 때문에 </a:t>
                      </a:r>
                      <a:r>
                        <a:rPr lang="ko-KR" altLang="en-US" sz="1100" dirty="0" err="1"/>
                        <a:t>신규성</a:t>
                      </a:r>
                      <a:r>
                        <a:rPr lang="ko-KR" altLang="en-US" sz="1100" dirty="0"/>
                        <a:t> 위반</a:t>
                      </a:r>
                      <a:r>
                        <a:rPr lang="en-US" altLang="ko-KR" sz="1100" dirty="0"/>
                        <a:t>*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456176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CB1106B9-5AF4-4B87-8A42-29FB5DF5F541}"/>
              </a:ext>
            </a:extLst>
          </p:cNvPr>
          <p:cNvSpPr txBox="1"/>
          <p:nvPr/>
        </p:nvSpPr>
        <p:spPr>
          <a:xfrm>
            <a:off x="7771010" y="128174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A2C8D1-B19D-41FF-AD27-2BAF030710AA}"/>
              </a:ext>
            </a:extLst>
          </p:cNvPr>
          <p:cNvSpPr txBox="1"/>
          <p:nvPr/>
        </p:nvSpPr>
        <p:spPr>
          <a:xfrm>
            <a:off x="8907896" y="12635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1EA065-10A4-4B0D-9A5D-3B5CAEA8DC92}"/>
              </a:ext>
            </a:extLst>
          </p:cNvPr>
          <p:cNvSpPr txBox="1"/>
          <p:nvPr/>
        </p:nvSpPr>
        <p:spPr>
          <a:xfrm>
            <a:off x="10164940" y="1280449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92F2284-109A-4DA1-8C27-9D831FFD4E78}"/>
              </a:ext>
            </a:extLst>
          </p:cNvPr>
          <p:cNvSpPr txBox="1"/>
          <p:nvPr/>
        </p:nvSpPr>
        <p:spPr>
          <a:xfrm>
            <a:off x="6764906" y="512438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0A5AA45-9ECC-4D75-9CFD-6FDB9102CEBA}"/>
              </a:ext>
            </a:extLst>
          </p:cNvPr>
          <p:cNvSpPr txBox="1"/>
          <p:nvPr/>
        </p:nvSpPr>
        <p:spPr>
          <a:xfrm>
            <a:off x="4827602" y="513702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873AB8-F03B-4559-9016-79B06BA1942A}"/>
              </a:ext>
            </a:extLst>
          </p:cNvPr>
          <p:cNvSpPr txBox="1"/>
          <p:nvPr/>
        </p:nvSpPr>
        <p:spPr>
          <a:xfrm>
            <a:off x="3153283" y="5149672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A7FD405-838A-4508-8135-CE05394F3F22}"/>
              </a:ext>
            </a:extLst>
          </p:cNvPr>
          <p:cNvCxnSpPr/>
          <p:nvPr/>
        </p:nvCxnSpPr>
        <p:spPr>
          <a:xfrm>
            <a:off x="0" y="3027872"/>
            <a:ext cx="1219199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115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복수의 발명을 하나의 출원으로 할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3136895" y="1256529"/>
            <a:ext cx="2015067" cy="37700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100" b="0" dirty="0">
                <a:latin typeface="+mj-ea"/>
                <a:ea typeface="+mj-ea"/>
              </a:rPr>
              <a:t>다수의 발명</a:t>
            </a:r>
            <a:r>
              <a:rPr lang="en-US" altLang="ko-KR" sz="1100" b="0" dirty="0">
                <a:latin typeface="+mj-ea"/>
                <a:ea typeface="+mj-ea"/>
              </a:rPr>
              <a:t>(A, B)</a:t>
            </a:r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auto">
          <a:xfrm>
            <a:off x="2923094" y="2205987"/>
            <a:ext cx="2444786" cy="699278"/>
          </a:xfrm>
          <a:prstGeom prst="flowChartDecision">
            <a:avLst/>
          </a:prstGeom>
          <a:solidFill>
            <a:schemeClr val="accent4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1100" b="0" dirty="0">
                <a:latin typeface="+mj-ea"/>
                <a:ea typeface="+mj-ea"/>
              </a:rPr>
              <a:t>1</a:t>
            </a:r>
            <a:r>
              <a:rPr lang="ko-KR" altLang="en-US" sz="1100" b="0" dirty="0">
                <a:latin typeface="+mj-ea"/>
                <a:ea typeface="+mj-ea"/>
              </a:rPr>
              <a:t>군</a:t>
            </a:r>
          </a:p>
          <a:p>
            <a:pPr algn="ctr"/>
            <a:r>
              <a:rPr lang="en-US" altLang="ko-KR" sz="1100" b="0" dirty="0">
                <a:latin typeface="+mj-ea"/>
                <a:ea typeface="+mj-ea"/>
              </a:rPr>
              <a:t>(</a:t>
            </a:r>
            <a:r>
              <a:rPr lang="ko-KR" altLang="en-US" sz="1100" b="0" dirty="0" err="1">
                <a:latin typeface="+mj-ea"/>
                <a:ea typeface="+mj-ea"/>
              </a:rPr>
              <a:t>독립항</a:t>
            </a:r>
            <a:r>
              <a:rPr lang="ko-KR" altLang="en-US" sz="1100" b="0" dirty="0">
                <a:latin typeface="+mj-ea"/>
                <a:ea typeface="+mj-ea"/>
              </a:rPr>
              <a:t> 기준 판단</a:t>
            </a:r>
            <a:r>
              <a:rPr lang="en-US" altLang="ko-KR" sz="1100" b="0" dirty="0">
                <a:latin typeface="+mj-ea"/>
                <a:ea typeface="+mj-ea"/>
              </a:rPr>
              <a:t>)</a:t>
            </a:r>
          </a:p>
        </p:txBody>
      </p:sp>
      <p:sp>
        <p:nvSpPr>
          <p:cNvPr id="43" name="AutoShape 3"/>
          <p:cNvSpPr>
            <a:spLocks noChangeArrowheads="1"/>
          </p:cNvSpPr>
          <p:nvPr/>
        </p:nvSpPr>
        <p:spPr bwMode="auto">
          <a:xfrm>
            <a:off x="3136895" y="3983340"/>
            <a:ext cx="2015067" cy="37700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하나의 </a:t>
            </a:r>
            <a:r>
              <a:rPr lang="ko-KR" altLang="en-US" sz="1100" b="0" dirty="0">
                <a:latin typeface="+mj-ea"/>
                <a:ea typeface="+mj-ea"/>
              </a:rPr>
              <a:t>출원</a:t>
            </a:r>
            <a:r>
              <a:rPr lang="en-US" altLang="ko-KR" sz="1100" dirty="0">
                <a:latin typeface="+mj-ea"/>
              </a:rPr>
              <a:t> (</a:t>
            </a:r>
            <a:r>
              <a:rPr lang="ko-KR" altLang="en-US" sz="1100" dirty="0">
                <a:latin typeface="+mj-ea"/>
              </a:rPr>
              <a:t>法 </a:t>
            </a:r>
            <a:r>
              <a:rPr lang="en-US" altLang="ko-KR" sz="1100" dirty="0">
                <a:latin typeface="+mj-ea"/>
              </a:rPr>
              <a:t>45</a:t>
            </a:r>
            <a:r>
              <a:rPr lang="ko-KR" altLang="en-US" sz="1100" dirty="0"/>
              <a:t>①</a:t>
            </a:r>
            <a:r>
              <a:rPr lang="ko-KR" altLang="en-US" sz="1100" dirty="0">
                <a:latin typeface="+mj-ea"/>
              </a:rPr>
              <a:t>단서</a:t>
            </a:r>
            <a:r>
              <a:rPr lang="en-US" altLang="ko-KR" sz="1100" dirty="0">
                <a:latin typeface="+mj-ea"/>
              </a:rPr>
              <a:t>)</a:t>
            </a:r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891113" y="3983340"/>
            <a:ext cx="2015067" cy="37700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100" b="0" dirty="0">
                <a:latin typeface="+mj-ea"/>
                <a:ea typeface="+mj-ea"/>
              </a:rPr>
              <a:t>개별출원</a:t>
            </a:r>
            <a:r>
              <a:rPr lang="en-US" altLang="ko-KR" sz="1100" b="0" dirty="0">
                <a:latin typeface="+mj-ea"/>
                <a:ea typeface="+mj-ea"/>
              </a:rPr>
              <a:t>(</a:t>
            </a:r>
            <a:r>
              <a:rPr lang="ko-KR" altLang="en-US" sz="1100" b="0" dirty="0">
                <a:latin typeface="+mj-ea"/>
                <a:ea typeface="+mj-ea"/>
              </a:rPr>
              <a:t>法 </a:t>
            </a:r>
            <a:r>
              <a:rPr lang="en-US" altLang="ko-KR" sz="1100" b="0" dirty="0">
                <a:latin typeface="+mj-ea"/>
                <a:ea typeface="+mj-ea"/>
              </a:rPr>
              <a:t>45</a:t>
            </a:r>
            <a:r>
              <a:rPr lang="ko-KR" altLang="en-US" sz="1100" dirty="0"/>
              <a:t>①</a:t>
            </a:r>
            <a:r>
              <a:rPr lang="ko-KR" altLang="en-US" sz="1100" b="0" dirty="0">
                <a:latin typeface="+mj-ea"/>
                <a:ea typeface="+mj-ea"/>
              </a:rPr>
              <a:t>본문</a:t>
            </a:r>
            <a:r>
              <a:rPr lang="en-US" altLang="ko-KR" sz="1100" b="0" dirty="0">
                <a:latin typeface="+mj-ea"/>
                <a:ea typeface="+mj-ea"/>
              </a:rPr>
              <a:t>)</a:t>
            </a:r>
            <a:endParaRPr lang="ko-KR" altLang="en-US" sz="1100" b="0" dirty="0">
              <a:latin typeface="+mj-ea"/>
              <a:ea typeface="+mj-ea"/>
            </a:endParaRPr>
          </a:p>
        </p:txBody>
      </p:sp>
      <p:cxnSp>
        <p:nvCxnSpPr>
          <p:cNvPr id="46" name="AutoShape 49"/>
          <p:cNvCxnSpPr>
            <a:cxnSpLocks noChangeShapeType="1"/>
            <a:stCxn id="41" idx="2"/>
            <a:endCxn id="42" idx="0"/>
          </p:cNvCxnSpPr>
          <p:nvPr/>
        </p:nvCxnSpPr>
        <p:spPr bwMode="auto">
          <a:xfrm rot="16200000" flipH="1">
            <a:off x="3858730" y="1919230"/>
            <a:ext cx="572456" cy="105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50"/>
          <p:cNvCxnSpPr>
            <a:cxnSpLocks noChangeShapeType="1"/>
            <a:stCxn id="42" idx="2"/>
            <a:endCxn id="43" idx="0"/>
          </p:cNvCxnSpPr>
          <p:nvPr/>
        </p:nvCxnSpPr>
        <p:spPr bwMode="auto">
          <a:xfrm rot="5400000">
            <a:off x="3605921" y="3443773"/>
            <a:ext cx="1078075" cy="105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51"/>
          <p:cNvCxnSpPr>
            <a:cxnSpLocks noChangeShapeType="1"/>
            <a:stCxn id="42" idx="2"/>
            <a:endCxn id="44" idx="0"/>
          </p:cNvCxnSpPr>
          <p:nvPr/>
        </p:nvCxnSpPr>
        <p:spPr bwMode="auto">
          <a:xfrm rot="5400000">
            <a:off x="2483030" y="2320882"/>
            <a:ext cx="1078075" cy="224684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AutoShape 52"/>
          <p:cNvCxnSpPr>
            <a:cxnSpLocks noChangeShapeType="1"/>
            <a:stCxn id="42" idx="1"/>
            <a:endCxn id="44" idx="1"/>
          </p:cNvCxnSpPr>
          <p:nvPr/>
        </p:nvCxnSpPr>
        <p:spPr bwMode="auto">
          <a:xfrm rot="10800000" flipV="1">
            <a:off x="891114" y="2555625"/>
            <a:ext cx="2031981" cy="1616215"/>
          </a:xfrm>
          <a:prstGeom prst="bentConnector3">
            <a:avLst>
              <a:gd name="adj1" fmla="val 111250"/>
            </a:avLst>
          </a:prstGeom>
          <a:noFill/>
          <a:ln w="28575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4269312" y="2837529"/>
            <a:ext cx="413896" cy="26161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>
                <a:solidFill>
                  <a:srgbClr val="808000"/>
                </a:solidFill>
                <a:latin typeface="+mj-ea"/>
                <a:ea typeface="+mj-ea"/>
              </a:rPr>
              <a:t>Yes</a:t>
            </a:r>
          </a:p>
        </p:txBody>
      </p:sp>
      <p:sp>
        <p:nvSpPr>
          <p:cNvPr id="56" name="Text Box 54"/>
          <p:cNvSpPr txBox="1">
            <a:spLocks noChangeArrowheads="1"/>
          </p:cNvSpPr>
          <p:nvPr/>
        </p:nvSpPr>
        <p:spPr bwMode="auto">
          <a:xfrm>
            <a:off x="2573864" y="2571859"/>
            <a:ext cx="362600" cy="26161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 dirty="0">
                <a:solidFill>
                  <a:srgbClr val="808000"/>
                </a:solidFill>
                <a:latin typeface="+mj-ea"/>
                <a:ea typeface="+mj-ea"/>
              </a:rPr>
              <a:t>No</a:t>
            </a:r>
          </a:p>
        </p:txBody>
      </p:sp>
      <p:sp>
        <p:nvSpPr>
          <p:cNvPr id="57" name="Oval 55"/>
          <p:cNvSpPr>
            <a:spLocks noChangeArrowheads="1"/>
          </p:cNvSpPr>
          <p:nvPr/>
        </p:nvSpPr>
        <p:spPr bwMode="auto">
          <a:xfrm>
            <a:off x="3718979" y="3228850"/>
            <a:ext cx="863600" cy="474814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8575" algn="ctr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선택과</a:t>
            </a:r>
          </a:p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집중</a:t>
            </a:r>
          </a:p>
        </p:txBody>
      </p:sp>
      <p:graphicFrame>
        <p:nvGraphicFramePr>
          <p:cNvPr id="78" name="표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912972"/>
              </p:ext>
            </p:extLst>
          </p:nvPr>
        </p:nvGraphicFramePr>
        <p:xfrm>
          <a:off x="643559" y="4566352"/>
          <a:ext cx="5511721" cy="194766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15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5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72000" marR="72000" marT="18000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단일성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군 발명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만족하는 경우</a:t>
                      </a:r>
                    </a:p>
                  </a:txBody>
                  <a:tcPr marL="72000" marR="72000" marT="18000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단일성을 만족하지 아니한 경우</a:t>
                      </a:r>
                    </a:p>
                  </a:txBody>
                  <a:tcPr marL="72000" marR="72000" marT="18000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5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개별 특허출원</a:t>
                      </a: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①본문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①본문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6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특허출원</a:t>
                      </a: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①단서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불가능</a:t>
                      </a:r>
                    </a:p>
                  </a:txBody>
                  <a:tcPr marL="72000" marR="72000" marT="18000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marL="72000" marR="72000" marT="18000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단일성을 만족하는 발명에 대해서는 비용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등록가능성 및 권리행사 측면을 고려하여 개별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특허출원할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것인지 아니면 하나의 특허출원을 할 것인지 선택하여야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" name="모서리가 둥근 사각형 설명선 78"/>
          <p:cNvSpPr/>
          <p:nvPr/>
        </p:nvSpPr>
        <p:spPr>
          <a:xfrm>
            <a:off x="146045" y="1621501"/>
            <a:ext cx="3693263" cy="638473"/>
          </a:xfrm>
          <a:prstGeom prst="wedgeRoundRectCallout">
            <a:avLst>
              <a:gd name="adj1" fmla="val 51912"/>
              <a:gd name="adj2" fmla="val 77433"/>
              <a:gd name="adj3" fmla="val 16667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/>
            <a:r>
              <a:rPr lang="en-US" altLang="ko-KR" sz="1050" dirty="0"/>
              <a:t>1. </a:t>
            </a:r>
            <a:r>
              <a:rPr lang="ko-KR" altLang="en-US" sz="1050" dirty="0" err="1"/>
              <a:t>청구항</a:t>
            </a:r>
            <a:r>
              <a:rPr lang="ko-KR" altLang="en-US" sz="1050" dirty="0"/>
              <a:t> 발명간에 기술적 상호관련성이 있을 것</a:t>
            </a:r>
          </a:p>
          <a:p>
            <a:pPr marL="142875" indent="-142875" fontAlgn="base"/>
            <a:r>
              <a:rPr lang="en-US" altLang="ko-KR" sz="1050" dirty="0"/>
              <a:t>2. </a:t>
            </a:r>
            <a:r>
              <a:rPr lang="ko-KR" altLang="en-US" sz="1050" dirty="0"/>
              <a:t>발명 전체로 보아 선행기술과 비교하여 개선된 기술적 특징이 동일하거나 상응할 것</a:t>
            </a:r>
          </a:p>
        </p:txBody>
      </p:sp>
      <p:cxnSp>
        <p:nvCxnSpPr>
          <p:cNvPr id="80" name="직선 연결선 79"/>
          <p:cNvCxnSpPr/>
          <p:nvPr/>
        </p:nvCxnSpPr>
        <p:spPr>
          <a:xfrm flipV="1">
            <a:off x="6688670" y="1242426"/>
            <a:ext cx="0" cy="53255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/>
          <p:cNvGrpSpPr/>
          <p:nvPr/>
        </p:nvGrpSpPr>
        <p:grpSpPr>
          <a:xfrm>
            <a:off x="7070104" y="1822361"/>
            <a:ext cx="1252636" cy="4153084"/>
            <a:chOff x="6900764" y="1822361"/>
            <a:chExt cx="1252636" cy="4153084"/>
          </a:xfrm>
        </p:grpSpPr>
        <p:sp>
          <p:nvSpPr>
            <p:cNvPr id="83" name="자유형 82"/>
            <p:cNvSpPr/>
            <p:nvPr/>
          </p:nvSpPr>
          <p:spPr>
            <a:xfrm>
              <a:off x="6900764" y="1822361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 err="1"/>
                <a:t>독립항</a:t>
              </a:r>
              <a:r>
                <a:rPr lang="ko-KR" altLang="en-US" sz="1400" kern="1200" dirty="0"/>
                <a:t> 추출</a:t>
              </a: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7357182" y="2624661"/>
              <a:ext cx="339798" cy="283165"/>
            </a:xfrm>
            <a:custGeom>
              <a:avLst/>
              <a:gdLst>
                <a:gd name="connsiteX0" fmla="*/ 0 w 283164"/>
                <a:gd name="connsiteY0" fmla="*/ 67959 h 339797"/>
                <a:gd name="connsiteX1" fmla="*/ 141582 w 283164"/>
                <a:gd name="connsiteY1" fmla="*/ 67959 h 339797"/>
                <a:gd name="connsiteX2" fmla="*/ 141582 w 283164"/>
                <a:gd name="connsiteY2" fmla="*/ 0 h 339797"/>
                <a:gd name="connsiteX3" fmla="*/ 283164 w 283164"/>
                <a:gd name="connsiteY3" fmla="*/ 169899 h 339797"/>
                <a:gd name="connsiteX4" fmla="*/ 141582 w 283164"/>
                <a:gd name="connsiteY4" fmla="*/ 339797 h 339797"/>
                <a:gd name="connsiteX5" fmla="*/ 141582 w 283164"/>
                <a:gd name="connsiteY5" fmla="*/ 271838 h 339797"/>
                <a:gd name="connsiteX6" fmla="*/ 0 w 283164"/>
                <a:gd name="connsiteY6" fmla="*/ 271838 h 339797"/>
                <a:gd name="connsiteX7" fmla="*/ 0 w 283164"/>
                <a:gd name="connsiteY7" fmla="*/ 67959 h 3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164" h="339797">
                  <a:moveTo>
                    <a:pt x="226531" y="1"/>
                  </a:moveTo>
                  <a:lnTo>
                    <a:pt x="226531" y="169899"/>
                  </a:lnTo>
                  <a:lnTo>
                    <a:pt x="283164" y="169899"/>
                  </a:lnTo>
                  <a:lnTo>
                    <a:pt x="141582" y="339796"/>
                  </a:lnTo>
                  <a:lnTo>
                    <a:pt x="0" y="169899"/>
                  </a:lnTo>
                  <a:lnTo>
                    <a:pt x="56633" y="169899"/>
                  </a:lnTo>
                  <a:lnTo>
                    <a:pt x="56633" y="1"/>
                  </a:lnTo>
                  <a:lnTo>
                    <a:pt x="226531" y="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7960" tIns="1" rIns="67959" bIns="84949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100000"/>
                </a:lnSpc>
                <a:spcBef>
                  <a:spcPct val="0"/>
                </a:spcBef>
              </a:pPr>
              <a:endParaRPr lang="ko-KR" altLang="en-US" sz="1100" kern="1200"/>
            </a:p>
          </p:txBody>
        </p:sp>
        <p:sp>
          <p:nvSpPr>
            <p:cNvPr id="85" name="자유형 84"/>
            <p:cNvSpPr/>
            <p:nvPr/>
          </p:nvSpPr>
          <p:spPr>
            <a:xfrm>
              <a:off x="6900764" y="2955020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903533"/>
                <a:satOff val="33333"/>
                <a:lumOff val="-4902"/>
                <a:alphaOff val="0"/>
              </a:schemeClr>
            </a:fillRef>
            <a:effectRef idx="0">
              <a:schemeClr val="accent3">
                <a:hueOff val="903533"/>
                <a:satOff val="33333"/>
                <a:lumOff val="-490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판단횟수</a:t>
              </a:r>
              <a:endParaRPr lang="en-US" altLang="ko-KR" sz="1400" kern="1200" dirty="0"/>
            </a:p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결정</a:t>
              </a:r>
            </a:p>
          </p:txBody>
        </p:sp>
        <p:sp>
          <p:nvSpPr>
            <p:cNvPr id="86" name="자유형 85"/>
            <p:cNvSpPr/>
            <p:nvPr/>
          </p:nvSpPr>
          <p:spPr>
            <a:xfrm>
              <a:off x="7357182" y="3757320"/>
              <a:ext cx="339798" cy="283165"/>
            </a:xfrm>
            <a:custGeom>
              <a:avLst/>
              <a:gdLst>
                <a:gd name="connsiteX0" fmla="*/ 0 w 283164"/>
                <a:gd name="connsiteY0" fmla="*/ 67959 h 339797"/>
                <a:gd name="connsiteX1" fmla="*/ 141582 w 283164"/>
                <a:gd name="connsiteY1" fmla="*/ 67959 h 339797"/>
                <a:gd name="connsiteX2" fmla="*/ 141582 w 283164"/>
                <a:gd name="connsiteY2" fmla="*/ 0 h 339797"/>
                <a:gd name="connsiteX3" fmla="*/ 283164 w 283164"/>
                <a:gd name="connsiteY3" fmla="*/ 169899 h 339797"/>
                <a:gd name="connsiteX4" fmla="*/ 141582 w 283164"/>
                <a:gd name="connsiteY4" fmla="*/ 339797 h 339797"/>
                <a:gd name="connsiteX5" fmla="*/ 141582 w 283164"/>
                <a:gd name="connsiteY5" fmla="*/ 271838 h 339797"/>
                <a:gd name="connsiteX6" fmla="*/ 0 w 283164"/>
                <a:gd name="connsiteY6" fmla="*/ 271838 h 339797"/>
                <a:gd name="connsiteX7" fmla="*/ 0 w 283164"/>
                <a:gd name="connsiteY7" fmla="*/ 67959 h 3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164" h="339797">
                  <a:moveTo>
                    <a:pt x="226531" y="1"/>
                  </a:moveTo>
                  <a:lnTo>
                    <a:pt x="226531" y="169899"/>
                  </a:lnTo>
                  <a:lnTo>
                    <a:pt x="283164" y="169899"/>
                  </a:lnTo>
                  <a:lnTo>
                    <a:pt x="141582" y="339796"/>
                  </a:lnTo>
                  <a:lnTo>
                    <a:pt x="0" y="169899"/>
                  </a:lnTo>
                  <a:lnTo>
                    <a:pt x="56633" y="169899"/>
                  </a:lnTo>
                  <a:lnTo>
                    <a:pt x="56633" y="1"/>
                  </a:lnTo>
                  <a:lnTo>
                    <a:pt x="226531" y="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355300"/>
                <a:satOff val="50000"/>
                <a:lumOff val="-7353"/>
                <a:alphaOff val="0"/>
              </a:schemeClr>
            </a:fillRef>
            <a:effectRef idx="0">
              <a:schemeClr val="accent3">
                <a:hueOff val="1355300"/>
                <a:satOff val="50000"/>
                <a:lumOff val="-735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7960" tIns="1" rIns="67959" bIns="84949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100000"/>
                </a:lnSpc>
                <a:spcBef>
                  <a:spcPct val="0"/>
                </a:spcBef>
              </a:pPr>
              <a:endParaRPr lang="ko-KR" altLang="en-US" sz="1100" kern="1200"/>
            </a:p>
          </p:txBody>
        </p:sp>
        <p:sp>
          <p:nvSpPr>
            <p:cNvPr id="87" name="자유형 86"/>
            <p:cNvSpPr/>
            <p:nvPr/>
          </p:nvSpPr>
          <p:spPr>
            <a:xfrm>
              <a:off x="6900764" y="4087680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807066"/>
                <a:satOff val="66667"/>
                <a:lumOff val="-9804"/>
                <a:alphaOff val="0"/>
              </a:schemeClr>
            </a:fillRef>
            <a:effectRef idx="0">
              <a:schemeClr val="accent3">
                <a:hueOff val="1807066"/>
                <a:satOff val="66667"/>
                <a:lumOff val="-980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시행령 제</a:t>
              </a:r>
              <a:r>
                <a:rPr lang="en-US" altLang="ko-KR" sz="1400" kern="1200" dirty="0"/>
                <a:t>6</a:t>
              </a:r>
              <a:r>
                <a:rPr lang="ko-KR" altLang="en-US" sz="1400" kern="1200" dirty="0"/>
                <a:t>조</a:t>
              </a:r>
              <a:endParaRPr lang="en-US" altLang="ko-KR" sz="1400" kern="1200" dirty="0"/>
            </a:p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판단</a:t>
              </a:r>
            </a:p>
          </p:txBody>
        </p:sp>
        <p:sp>
          <p:nvSpPr>
            <p:cNvPr id="88" name="자유형 87"/>
            <p:cNvSpPr/>
            <p:nvPr/>
          </p:nvSpPr>
          <p:spPr>
            <a:xfrm>
              <a:off x="7357182" y="4889979"/>
              <a:ext cx="339798" cy="283165"/>
            </a:xfrm>
            <a:custGeom>
              <a:avLst/>
              <a:gdLst>
                <a:gd name="connsiteX0" fmla="*/ 0 w 283164"/>
                <a:gd name="connsiteY0" fmla="*/ 67959 h 339797"/>
                <a:gd name="connsiteX1" fmla="*/ 141582 w 283164"/>
                <a:gd name="connsiteY1" fmla="*/ 67959 h 339797"/>
                <a:gd name="connsiteX2" fmla="*/ 141582 w 283164"/>
                <a:gd name="connsiteY2" fmla="*/ 0 h 339797"/>
                <a:gd name="connsiteX3" fmla="*/ 283164 w 283164"/>
                <a:gd name="connsiteY3" fmla="*/ 169899 h 339797"/>
                <a:gd name="connsiteX4" fmla="*/ 141582 w 283164"/>
                <a:gd name="connsiteY4" fmla="*/ 339797 h 339797"/>
                <a:gd name="connsiteX5" fmla="*/ 141582 w 283164"/>
                <a:gd name="connsiteY5" fmla="*/ 271838 h 339797"/>
                <a:gd name="connsiteX6" fmla="*/ 0 w 283164"/>
                <a:gd name="connsiteY6" fmla="*/ 271838 h 339797"/>
                <a:gd name="connsiteX7" fmla="*/ 0 w 283164"/>
                <a:gd name="connsiteY7" fmla="*/ 67959 h 3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164" h="339797">
                  <a:moveTo>
                    <a:pt x="226531" y="1"/>
                  </a:moveTo>
                  <a:lnTo>
                    <a:pt x="226531" y="169899"/>
                  </a:lnTo>
                  <a:lnTo>
                    <a:pt x="283164" y="169899"/>
                  </a:lnTo>
                  <a:lnTo>
                    <a:pt x="141582" y="339796"/>
                  </a:lnTo>
                  <a:lnTo>
                    <a:pt x="0" y="169899"/>
                  </a:lnTo>
                  <a:lnTo>
                    <a:pt x="56633" y="169899"/>
                  </a:lnTo>
                  <a:lnTo>
                    <a:pt x="56633" y="1"/>
                  </a:lnTo>
                  <a:lnTo>
                    <a:pt x="226531" y="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710599"/>
                <a:satOff val="100000"/>
                <a:lumOff val="-14706"/>
                <a:alphaOff val="0"/>
              </a:schemeClr>
            </a:fillRef>
            <a:effectRef idx="0">
              <a:schemeClr val="accent3">
                <a:hueOff val="2710599"/>
                <a:satOff val="100000"/>
                <a:lumOff val="-1470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7960" tIns="1" rIns="67959" bIns="84949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100000"/>
                </a:lnSpc>
                <a:spcBef>
                  <a:spcPct val="0"/>
                </a:spcBef>
              </a:pPr>
              <a:endParaRPr lang="ko-KR" altLang="en-US" sz="1100" kern="1200"/>
            </a:p>
          </p:txBody>
        </p:sp>
        <p:sp>
          <p:nvSpPr>
            <p:cNvPr id="89" name="자유형 88"/>
            <p:cNvSpPr/>
            <p:nvPr/>
          </p:nvSpPr>
          <p:spPr>
            <a:xfrm>
              <a:off x="6900764" y="5220339"/>
              <a:ext cx="1252636" cy="755106"/>
            </a:xfrm>
            <a:custGeom>
              <a:avLst/>
              <a:gdLst>
                <a:gd name="connsiteX0" fmla="*/ 0 w 1252636"/>
                <a:gd name="connsiteY0" fmla="*/ 75511 h 755106"/>
                <a:gd name="connsiteX1" fmla="*/ 75511 w 1252636"/>
                <a:gd name="connsiteY1" fmla="*/ 0 h 755106"/>
                <a:gd name="connsiteX2" fmla="*/ 1177125 w 1252636"/>
                <a:gd name="connsiteY2" fmla="*/ 0 h 755106"/>
                <a:gd name="connsiteX3" fmla="*/ 1252636 w 1252636"/>
                <a:gd name="connsiteY3" fmla="*/ 75511 h 755106"/>
                <a:gd name="connsiteX4" fmla="*/ 1252636 w 1252636"/>
                <a:gd name="connsiteY4" fmla="*/ 679595 h 755106"/>
                <a:gd name="connsiteX5" fmla="*/ 1177125 w 1252636"/>
                <a:gd name="connsiteY5" fmla="*/ 755106 h 755106"/>
                <a:gd name="connsiteX6" fmla="*/ 75511 w 1252636"/>
                <a:gd name="connsiteY6" fmla="*/ 755106 h 755106"/>
                <a:gd name="connsiteX7" fmla="*/ 0 w 1252636"/>
                <a:gd name="connsiteY7" fmla="*/ 679595 h 755106"/>
                <a:gd name="connsiteX8" fmla="*/ 0 w 1252636"/>
                <a:gd name="connsiteY8" fmla="*/ 75511 h 75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636" h="755106">
                  <a:moveTo>
                    <a:pt x="0" y="75511"/>
                  </a:moveTo>
                  <a:cubicBezTo>
                    <a:pt x="0" y="33807"/>
                    <a:pt x="33807" y="0"/>
                    <a:pt x="75511" y="0"/>
                  </a:cubicBezTo>
                  <a:lnTo>
                    <a:pt x="1177125" y="0"/>
                  </a:lnTo>
                  <a:cubicBezTo>
                    <a:pt x="1218829" y="0"/>
                    <a:pt x="1252636" y="33807"/>
                    <a:pt x="1252636" y="75511"/>
                  </a:cubicBezTo>
                  <a:lnTo>
                    <a:pt x="1252636" y="679595"/>
                  </a:lnTo>
                  <a:cubicBezTo>
                    <a:pt x="1252636" y="721299"/>
                    <a:pt x="1218829" y="755106"/>
                    <a:pt x="1177125" y="755106"/>
                  </a:cubicBezTo>
                  <a:lnTo>
                    <a:pt x="75511" y="755106"/>
                  </a:lnTo>
                  <a:cubicBezTo>
                    <a:pt x="33807" y="755106"/>
                    <a:pt x="0" y="721299"/>
                    <a:pt x="0" y="679595"/>
                  </a:cubicBezTo>
                  <a:lnTo>
                    <a:pt x="0" y="755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710599"/>
                <a:satOff val="100000"/>
                <a:lumOff val="-14706"/>
                <a:alphaOff val="0"/>
              </a:schemeClr>
            </a:fillRef>
            <a:effectRef idx="0">
              <a:schemeClr val="accent3">
                <a:hueOff val="2710599"/>
                <a:satOff val="100000"/>
                <a:lumOff val="-1470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456" tIns="75456" rIns="75456" bIns="75456" numCol="1" spcCol="1270" anchor="ctr" anchorCtr="0">
              <a:noAutofit/>
            </a:bodyPr>
            <a:lstStyle/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 dirty="0"/>
                <a:t>모두 만족</a:t>
              </a:r>
              <a:endParaRPr lang="en-US" altLang="ko-KR" sz="1400" kern="1200"/>
            </a:p>
            <a:p>
              <a:pPr lvl="0" algn="ctr" defTabSz="622300" latinLnBrk="1">
                <a:lnSpc>
                  <a:spcPct val="100000"/>
                </a:lnSpc>
                <a:spcBef>
                  <a:spcPct val="0"/>
                </a:spcBef>
              </a:pPr>
              <a:r>
                <a:rPr lang="ko-KR" altLang="en-US" sz="1400" kern="1200"/>
                <a:t>여부</a:t>
              </a:r>
              <a:endParaRPr lang="ko-KR" altLang="en-US" sz="1400" kern="1200" dirty="0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8407407" y="2036710"/>
            <a:ext cx="764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400" dirty="0"/>
              <a:t>N</a:t>
            </a:r>
            <a:r>
              <a:rPr lang="ko-KR" altLang="en-US" sz="1400" dirty="0"/>
              <a:t>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07407" y="3027824"/>
            <a:ext cx="1457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400" dirty="0"/>
              <a:t>N</a:t>
            </a:r>
            <a:r>
              <a:rPr lang="en-US" altLang="ko-KR" sz="2800" dirty="0"/>
              <a:t>C</a:t>
            </a:r>
            <a:r>
              <a:rPr lang="en-US" altLang="ko-KR" sz="1400" dirty="0"/>
              <a:t>2</a:t>
            </a:r>
            <a:r>
              <a:rPr lang="ko-KR" altLang="en-US" sz="1400" dirty="0"/>
              <a:t>번 판단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07407" y="4295956"/>
            <a:ext cx="23599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ko-KR" altLang="en-US" sz="1400" dirty="0" err="1"/>
              <a:t>청구항</a:t>
            </a:r>
            <a:r>
              <a:rPr lang="en-US" altLang="ko-KR" sz="1400" dirty="0"/>
              <a:t>(</a:t>
            </a:r>
            <a:r>
              <a:rPr lang="ko-KR" altLang="en-US" sz="1400" dirty="0"/>
              <a:t>발명</a:t>
            </a:r>
            <a:r>
              <a:rPr lang="en-US" altLang="ko-KR" sz="1400" dirty="0"/>
              <a:t>)</a:t>
            </a:r>
            <a:r>
              <a:rPr lang="ko-KR" altLang="en-US" sz="1400" dirty="0"/>
              <a:t> 단위로 판단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07407" y="5330905"/>
            <a:ext cx="3307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ko-KR" altLang="en-US" sz="1400" dirty="0"/>
              <a:t>모두 만족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45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항본문</a:t>
            </a:r>
            <a:r>
              <a:rPr lang="en-US" altLang="ko-KR" sz="1400" dirty="0"/>
              <a:t>/</a:t>
            </a:r>
            <a:r>
              <a:rPr lang="ko-KR" altLang="en-US" sz="1400" dirty="0"/>
              <a:t>단서 선택</a:t>
            </a:r>
            <a:endParaRPr lang="en-US" altLang="ko-KR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ko-KR" altLang="en-US" sz="1400" dirty="0"/>
              <a:t>그렇지 아니한 경우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45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항본문</a:t>
            </a: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467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심사</a:t>
            </a:r>
            <a:r>
              <a:rPr lang="en-US" altLang="ko-KR" dirty="0"/>
              <a:t>(</a:t>
            </a:r>
            <a:r>
              <a:rPr lang="ko-KR" altLang="en-US" dirty="0"/>
              <a:t>심리</a:t>
            </a:r>
            <a:r>
              <a:rPr lang="en-US" altLang="ko-KR" dirty="0"/>
              <a:t>)</a:t>
            </a:r>
            <a:r>
              <a:rPr lang="ko-KR" altLang="en-US" dirty="0"/>
              <a:t>단위 </a:t>
            </a:r>
            <a:r>
              <a:rPr lang="en-US" altLang="ko-KR" dirty="0"/>
              <a:t>vs </a:t>
            </a:r>
            <a:r>
              <a:rPr lang="ko-KR" altLang="en-US" dirty="0"/>
              <a:t>처리단위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142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35E435C-38FE-4D26-A07A-40B8C4CA6432}"/>
              </a:ext>
            </a:extLst>
          </p:cNvPr>
          <p:cNvSpPr/>
          <p:nvPr/>
        </p:nvSpPr>
        <p:spPr>
          <a:xfrm>
            <a:off x="2355196" y="2809506"/>
            <a:ext cx="1155998" cy="42269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청구범위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88ACC68-9807-4B9C-A122-F3F2A755D832}"/>
              </a:ext>
            </a:extLst>
          </p:cNvPr>
          <p:cNvSpPr/>
          <p:nvPr/>
        </p:nvSpPr>
        <p:spPr>
          <a:xfrm>
            <a:off x="1190478" y="4106173"/>
            <a:ext cx="517585" cy="5175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8C5CD97-CD4B-4F02-8E93-9876D8D572AB}"/>
              </a:ext>
            </a:extLst>
          </p:cNvPr>
          <p:cNvSpPr/>
          <p:nvPr/>
        </p:nvSpPr>
        <p:spPr>
          <a:xfrm>
            <a:off x="3105513" y="4106173"/>
            <a:ext cx="517585" cy="5175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E1CFC09-ED27-485C-952B-03AB61DC8E5B}"/>
              </a:ext>
            </a:extLst>
          </p:cNvPr>
          <p:cNvSpPr/>
          <p:nvPr/>
        </p:nvSpPr>
        <p:spPr>
          <a:xfrm>
            <a:off x="4433949" y="4106173"/>
            <a:ext cx="517585" cy="51758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178EC1E-E49F-484F-9C4D-25ADB63DED42}"/>
              </a:ext>
            </a:extLst>
          </p:cNvPr>
          <p:cNvSpPr/>
          <p:nvPr/>
        </p:nvSpPr>
        <p:spPr>
          <a:xfrm>
            <a:off x="552154" y="5111152"/>
            <a:ext cx="517585" cy="517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2661F49-028C-420B-A6D1-4159C6B3833B}"/>
              </a:ext>
            </a:extLst>
          </p:cNvPr>
          <p:cNvSpPr/>
          <p:nvPr/>
        </p:nvSpPr>
        <p:spPr>
          <a:xfrm>
            <a:off x="1190478" y="5111153"/>
            <a:ext cx="517585" cy="517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abd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AC0B592-1FE4-4952-9D59-63F552712F0C}"/>
              </a:ext>
            </a:extLst>
          </p:cNvPr>
          <p:cNvSpPr/>
          <p:nvPr/>
        </p:nvSpPr>
        <p:spPr>
          <a:xfrm>
            <a:off x="1828802" y="5111153"/>
            <a:ext cx="517585" cy="517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abe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6615C40-8E7B-4F51-A3AF-057A09684DB8}"/>
              </a:ext>
            </a:extLst>
          </p:cNvPr>
          <p:cNvSpPr/>
          <p:nvPr/>
        </p:nvSpPr>
        <p:spPr>
          <a:xfrm>
            <a:off x="2760486" y="5111152"/>
            <a:ext cx="517585" cy="5175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acf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B319350-6E03-4F88-AB40-248347E082B4}"/>
              </a:ext>
            </a:extLst>
          </p:cNvPr>
          <p:cNvSpPr/>
          <p:nvPr/>
        </p:nvSpPr>
        <p:spPr>
          <a:xfrm>
            <a:off x="3398810" y="5111153"/>
            <a:ext cx="517585" cy="5175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acg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2D2C26A-58E7-4F1D-AEAD-B2758A1C0C06}"/>
              </a:ext>
            </a:extLst>
          </p:cNvPr>
          <p:cNvSpPr/>
          <p:nvPr/>
        </p:nvSpPr>
        <p:spPr>
          <a:xfrm>
            <a:off x="4433949" y="5111153"/>
            <a:ext cx="517585" cy="5175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afh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D852A73-519A-440B-A85C-05C0498CD7D7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1754247" y="2927225"/>
            <a:ext cx="873972" cy="14839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E58EFA0-D496-4B60-88C1-143E9128CFA3}"/>
              </a:ext>
            </a:extLst>
          </p:cNvPr>
          <p:cNvCxnSpPr>
            <a:stCxn id="5" idx="2"/>
            <a:endCxn id="34" idx="0"/>
          </p:cNvCxnSpPr>
          <p:nvPr/>
        </p:nvCxnSpPr>
        <p:spPr>
          <a:xfrm rot="16200000" flipH="1">
            <a:off x="3375982" y="2789413"/>
            <a:ext cx="873972" cy="17595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1B11ED31-A33D-4DB6-8BF8-5DAD79C393A0}"/>
              </a:ext>
            </a:extLst>
          </p:cNvPr>
          <p:cNvCxnSpPr>
            <a:stCxn id="5" idx="2"/>
            <a:endCxn id="33" idx="0"/>
          </p:cNvCxnSpPr>
          <p:nvPr/>
        </p:nvCxnSpPr>
        <p:spPr>
          <a:xfrm rot="16200000" flipH="1">
            <a:off x="2711764" y="3453631"/>
            <a:ext cx="873972" cy="4311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FFD78D5-AF16-4404-8F82-984C6037174F}"/>
              </a:ext>
            </a:extLst>
          </p:cNvPr>
          <p:cNvCxnSpPr>
            <a:stCxn id="6" idx="4"/>
          </p:cNvCxnSpPr>
          <p:nvPr/>
        </p:nvCxnSpPr>
        <p:spPr>
          <a:xfrm rot="5400000">
            <a:off x="886412" y="4548293"/>
            <a:ext cx="487394" cy="6383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E4DAE70-D7AF-41BF-B4D7-08169616CD19}"/>
              </a:ext>
            </a:extLst>
          </p:cNvPr>
          <p:cNvCxnSpPr>
            <a:stCxn id="6" idx="4"/>
          </p:cNvCxnSpPr>
          <p:nvPr/>
        </p:nvCxnSpPr>
        <p:spPr>
          <a:xfrm rot="5400000">
            <a:off x="1205574" y="4867455"/>
            <a:ext cx="48739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C13D60B-D590-478B-8122-753B08470C8B}"/>
              </a:ext>
            </a:extLst>
          </p:cNvPr>
          <p:cNvCxnSpPr>
            <a:stCxn id="6" idx="4"/>
          </p:cNvCxnSpPr>
          <p:nvPr/>
        </p:nvCxnSpPr>
        <p:spPr>
          <a:xfrm rot="16200000" flipH="1">
            <a:off x="1524736" y="4548293"/>
            <a:ext cx="487395" cy="6383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7EECD95-3217-43FF-8C95-26E6C3B2564D}"/>
              </a:ext>
            </a:extLst>
          </p:cNvPr>
          <p:cNvCxnSpPr>
            <a:stCxn id="33" idx="4"/>
          </p:cNvCxnSpPr>
          <p:nvPr/>
        </p:nvCxnSpPr>
        <p:spPr>
          <a:xfrm rot="5400000">
            <a:off x="2948096" y="4694942"/>
            <a:ext cx="487394" cy="3450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C5AB6CC2-249D-4AC5-A6AE-2C9E1565FDDB}"/>
              </a:ext>
            </a:extLst>
          </p:cNvPr>
          <p:cNvCxnSpPr>
            <a:stCxn id="33" idx="4"/>
          </p:cNvCxnSpPr>
          <p:nvPr/>
        </p:nvCxnSpPr>
        <p:spPr>
          <a:xfrm rot="16200000" flipH="1">
            <a:off x="3267257" y="4720806"/>
            <a:ext cx="487395" cy="2932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7AB4CBE-9E80-42A6-9E63-9BBEC4C75AB4}"/>
              </a:ext>
            </a:extLst>
          </p:cNvPr>
          <p:cNvCxnSpPr>
            <a:stCxn id="34" idx="4"/>
          </p:cNvCxnSpPr>
          <p:nvPr/>
        </p:nvCxnSpPr>
        <p:spPr>
          <a:xfrm rot="5400000">
            <a:off x="4449045" y="4867455"/>
            <a:ext cx="48739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B8E99E3-D508-4836-9FD1-E2E8563BBDE4}"/>
              </a:ext>
            </a:extLst>
          </p:cNvPr>
          <p:cNvSpPr txBox="1"/>
          <p:nvPr/>
        </p:nvSpPr>
        <p:spPr>
          <a:xfrm>
            <a:off x="552154" y="1375900"/>
            <a:ext cx="4399380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청구범위</a:t>
            </a:r>
            <a:r>
              <a:rPr lang="en-US" altLang="ko-KR" sz="1600" dirty="0"/>
              <a:t>]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ab</a:t>
            </a:r>
            <a:r>
              <a:rPr lang="ko-KR" altLang="en-US" sz="1600" dirty="0"/>
              <a:t>와 </a:t>
            </a:r>
            <a:r>
              <a:rPr lang="en-US" altLang="ko-KR" sz="1600" dirty="0"/>
              <a:t>(c, d </a:t>
            </a:r>
            <a:r>
              <a:rPr lang="ko-KR" altLang="en-US" sz="1600" dirty="0"/>
              <a:t>및 </a:t>
            </a:r>
            <a:r>
              <a:rPr lang="en-US" altLang="ko-KR" sz="1600" dirty="0"/>
              <a:t>e </a:t>
            </a:r>
            <a:r>
              <a:rPr lang="ko-KR" altLang="en-US" sz="1600" dirty="0"/>
              <a:t>중 어느 하나</a:t>
            </a:r>
            <a:r>
              <a:rPr lang="en-US" altLang="ko-KR" sz="1600" dirty="0"/>
              <a:t>) </a:t>
            </a:r>
            <a:r>
              <a:rPr lang="ko-KR" altLang="en-US" sz="1600" dirty="0"/>
              <a:t>로 구성된 </a:t>
            </a:r>
            <a:r>
              <a:rPr lang="en-US" altLang="ko-KR" sz="1600" dirty="0"/>
              <a:t>X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ac</a:t>
            </a:r>
            <a:r>
              <a:rPr lang="ko-KR" altLang="en-US" sz="1600" dirty="0"/>
              <a:t>와 </a:t>
            </a:r>
            <a:r>
              <a:rPr lang="en-US" altLang="ko-KR" sz="1600" dirty="0"/>
              <a:t>(f </a:t>
            </a:r>
            <a:r>
              <a:rPr lang="ko-KR" altLang="en-US" sz="1600" dirty="0"/>
              <a:t>및 </a:t>
            </a:r>
            <a:r>
              <a:rPr lang="en-US" altLang="ko-KR" sz="1600" dirty="0"/>
              <a:t>g </a:t>
            </a:r>
            <a:r>
              <a:rPr lang="ko-KR" altLang="en-US" sz="1600" dirty="0"/>
              <a:t>중 어느 하나</a:t>
            </a:r>
            <a:r>
              <a:rPr lang="en-US" altLang="ko-KR" sz="1600" dirty="0"/>
              <a:t>) </a:t>
            </a:r>
            <a:r>
              <a:rPr lang="ko-KR" altLang="en-US" sz="1600" dirty="0"/>
              <a:t>로 구성된 </a:t>
            </a:r>
            <a:r>
              <a:rPr lang="en-US" altLang="ko-KR" sz="1600" dirty="0"/>
              <a:t>X</a:t>
            </a:r>
          </a:p>
          <a:p>
            <a:pPr marL="342900" indent="-342900">
              <a:buAutoNum type="arabicPeriod"/>
            </a:pPr>
            <a:r>
              <a:rPr lang="en-US" altLang="ko-KR" sz="1600" dirty="0" err="1"/>
              <a:t>afh</a:t>
            </a:r>
            <a:r>
              <a:rPr lang="ko-KR" altLang="en-US" sz="1600" dirty="0"/>
              <a:t>로 구성된 </a:t>
            </a:r>
            <a:r>
              <a:rPr lang="en-US" altLang="ko-KR" sz="1600" dirty="0"/>
              <a:t>X</a:t>
            </a:r>
          </a:p>
        </p:txBody>
      </p:sp>
      <p:sp>
        <p:nvSpPr>
          <p:cNvPr id="31" name="화살표: 왼쪽 30">
            <a:extLst>
              <a:ext uri="{FF2B5EF4-FFF2-40B4-BE49-F238E27FC236}">
                <a16:creationId xmlns:a16="http://schemas.microsoft.com/office/drawing/2014/main" id="{AC72C26C-BF20-440B-8847-632E5A46A2ED}"/>
              </a:ext>
            </a:extLst>
          </p:cNvPr>
          <p:cNvSpPr/>
          <p:nvPr/>
        </p:nvSpPr>
        <p:spPr>
          <a:xfrm>
            <a:off x="5325345" y="5037825"/>
            <a:ext cx="1618169" cy="724618"/>
          </a:xfrm>
          <a:prstGeom prst="leftArrow">
            <a:avLst>
              <a:gd name="adj1" fmla="val 89655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심사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심리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단위</a:t>
            </a:r>
          </a:p>
        </p:txBody>
      </p:sp>
      <p:sp>
        <p:nvSpPr>
          <p:cNvPr id="66" name="화살표: 왼쪽 65">
            <a:extLst>
              <a:ext uri="{FF2B5EF4-FFF2-40B4-BE49-F238E27FC236}">
                <a16:creationId xmlns:a16="http://schemas.microsoft.com/office/drawing/2014/main" id="{7BE585AD-4D47-4442-9C94-EEB298B866FF}"/>
              </a:ext>
            </a:extLst>
          </p:cNvPr>
          <p:cNvSpPr/>
          <p:nvPr/>
        </p:nvSpPr>
        <p:spPr>
          <a:xfrm>
            <a:off x="5325345" y="4002656"/>
            <a:ext cx="1618169" cy="724618"/>
          </a:xfrm>
          <a:prstGeom prst="leftArrow">
            <a:avLst>
              <a:gd name="adj1" fmla="val 89655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 후 </a:t>
            </a:r>
            <a:endParaRPr lang="en-US" altLang="ko-KR" dirty="0"/>
          </a:p>
          <a:p>
            <a:pPr algn="ctr"/>
            <a:r>
              <a:rPr lang="ko-KR" altLang="en-US" dirty="0"/>
              <a:t>처리단위</a:t>
            </a:r>
          </a:p>
        </p:txBody>
      </p:sp>
      <p:sp>
        <p:nvSpPr>
          <p:cNvPr id="67" name="화살표: 왼쪽 66">
            <a:extLst>
              <a:ext uri="{FF2B5EF4-FFF2-40B4-BE49-F238E27FC236}">
                <a16:creationId xmlns:a16="http://schemas.microsoft.com/office/drawing/2014/main" id="{C7084C5F-F548-4A57-899D-19ABC75BA422}"/>
              </a:ext>
            </a:extLst>
          </p:cNvPr>
          <p:cNvSpPr/>
          <p:nvPr/>
        </p:nvSpPr>
        <p:spPr>
          <a:xfrm>
            <a:off x="5325345" y="2658544"/>
            <a:ext cx="1618169" cy="724618"/>
          </a:xfrm>
          <a:prstGeom prst="leftArrow">
            <a:avLst>
              <a:gd name="adj1" fmla="val 89655"/>
              <a:gd name="adj2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 전 </a:t>
            </a:r>
            <a:endParaRPr lang="en-US" altLang="ko-KR" dirty="0"/>
          </a:p>
          <a:p>
            <a:pPr algn="ctr"/>
            <a:r>
              <a:rPr lang="ko-KR" altLang="en-US" dirty="0"/>
              <a:t>처리단위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A377EC-CB8F-4F20-AE96-F0898166BD20}"/>
              </a:ext>
            </a:extLst>
          </p:cNvPr>
          <p:cNvSpPr txBox="1"/>
          <p:nvPr/>
        </p:nvSpPr>
        <p:spPr>
          <a:xfrm>
            <a:off x="7157211" y="4992736"/>
            <a:ext cx="4689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발명 단위로 심사</a:t>
            </a:r>
            <a:r>
              <a:rPr lang="en-US" altLang="ko-KR" sz="1600" dirty="0"/>
              <a:t>(</a:t>
            </a:r>
            <a:r>
              <a:rPr lang="ko-KR" altLang="en-US" sz="1600" dirty="0"/>
              <a:t>심리</a:t>
            </a:r>
            <a:r>
              <a:rPr lang="en-US" altLang="ko-KR" sz="1600" dirty="0"/>
              <a:t>) </a:t>
            </a:r>
            <a:r>
              <a:rPr lang="ko-KR" altLang="en-US" sz="1600" dirty="0"/>
              <a:t>진행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일부 발명에 흠결이 있으면 청구항 전체에 흠결이 있는 것으로 처리</a:t>
            </a:r>
            <a:endParaRPr lang="en-US" altLang="ko-KR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078874-C46C-4687-91DE-45CB560EA4E2}"/>
              </a:ext>
            </a:extLst>
          </p:cNvPr>
          <p:cNvSpPr txBox="1"/>
          <p:nvPr/>
        </p:nvSpPr>
        <p:spPr>
          <a:xfrm>
            <a:off x="7157211" y="4065999"/>
            <a:ext cx="4102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하자 있는 청구항 단위로 일부무효</a:t>
            </a:r>
            <a:r>
              <a:rPr lang="en-US" altLang="ko-KR" sz="1600" dirty="0"/>
              <a:t>/</a:t>
            </a:r>
            <a:r>
              <a:rPr lang="ko-KR" altLang="en-US" sz="1600" dirty="0"/>
              <a:t>일부취소</a:t>
            </a:r>
            <a:endParaRPr lang="en-US" altLang="ko-KR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ECFD1E-2BDD-448D-AA8A-789FE381B0E8}"/>
              </a:ext>
            </a:extLst>
          </p:cNvPr>
          <p:cNvSpPr txBox="1"/>
          <p:nvPr/>
        </p:nvSpPr>
        <p:spPr>
          <a:xfrm>
            <a:off x="7157212" y="2699619"/>
            <a:ext cx="449028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일부 청구항이라도 거절이유가 있으면 출원전체가 거절결정</a:t>
            </a:r>
            <a:r>
              <a:rPr lang="en-US" altLang="ko-KR" sz="1600" dirty="0"/>
              <a:t>(</a:t>
            </a:r>
            <a:r>
              <a:rPr lang="ko-KR" altLang="en-US" sz="1600" dirty="0"/>
              <a:t>출원일체의 원칙</a:t>
            </a:r>
            <a:r>
              <a:rPr lang="en-US" altLang="ko-KR" sz="16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97052-3F8A-7061-7779-A7D34E0052D2}"/>
              </a:ext>
            </a:extLst>
          </p:cNvPr>
          <p:cNvSpPr txBox="1"/>
          <p:nvPr/>
        </p:nvSpPr>
        <p:spPr>
          <a:xfrm>
            <a:off x="7157211" y="5823733"/>
            <a:ext cx="43870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예를 들어</a:t>
            </a:r>
            <a:r>
              <a:rPr lang="en-US" altLang="ko-KR" sz="1400" dirty="0"/>
              <a:t>, A </a:t>
            </a:r>
            <a:r>
              <a:rPr lang="ko-KR" altLang="en-US" sz="1400" dirty="0"/>
              <a:t>발명에 흠결이 있는 경우 </a:t>
            </a:r>
            <a:r>
              <a:rPr lang="en-US" altLang="ko-KR" sz="1400" dirty="0"/>
              <a:t>B, C </a:t>
            </a:r>
            <a:r>
              <a:rPr lang="ko-KR" altLang="en-US" sz="1400" dirty="0"/>
              <a:t>발명에 흠결이 없더라도 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에 흠결이 있는 것으로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0C115-1A1D-00C1-7763-E8831D4689A9}"/>
              </a:ext>
            </a:extLst>
          </p:cNvPr>
          <p:cNvSpPr txBox="1"/>
          <p:nvPr/>
        </p:nvSpPr>
        <p:spPr>
          <a:xfrm>
            <a:off x="7157211" y="3305865"/>
            <a:ext cx="43870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에 흠결이 있는 경우</a:t>
            </a:r>
            <a:r>
              <a:rPr lang="en-US" altLang="ko-KR" sz="1400" dirty="0"/>
              <a:t>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2, 3</a:t>
            </a:r>
            <a:r>
              <a:rPr lang="ko-KR" altLang="en-US" sz="1400" dirty="0"/>
              <a:t>에 흠결이 없더라도 출원 전체를 거절결정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A627E-1570-4710-991D-11A7B0F4A3BB}"/>
              </a:ext>
            </a:extLst>
          </p:cNvPr>
          <p:cNvSpPr txBox="1"/>
          <p:nvPr/>
        </p:nvSpPr>
        <p:spPr>
          <a:xfrm>
            <a:off x="7157211" y="4421718"/>
            <a:ext cx="438708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에 흠결이 있고</a:t>
            </a:r>
            <a:r>
              <a:rPr lang="en-US" altLang="ko-KR" sz="1400" dirty="0"/>
              <a:t>, </a:t>
            </a:r>
            <a:r>
              <a:rPr lang="ko-KR" altLang="en-US" sz="1400" dirty="0"/>
              <a:t>청구항 </a:t>
            </a:r>
            <a:r>
              <a:rPr lang="en-US" altLang="ko-KR" sz="1400" dirty="0"/>
              <a:t>2, 3</a:t>
            </a:r>
            <a:r>
              <a:rPr lang="ko-KR" altLang="en-US" sz="1400" dirty="0"/>
              <a:t>에 흠결이 없는 경우 청구항 </a:t>
            </a:r>
            <a:r>
              <a:rPr lang="en-US" altLang="ko-KR" sz="1400" dirty="0"/>
              <a:t>1</a:t>
            </a:r>
            <a:r>
              <a:rPr lang="ko-KR" altLang="en-US" sz="1400" dirty="0"/>
              <a:t>만 무효</a:t>
            </a:r>
            <a:r>
              <a:rPr lang="en-US" altLang="ko-KR" sz="1400" dirty="0"/>
              <a:t>, </a:t>
            </a:r>
            <a:r>
              <a:rPr lang="ko-KR" altLang="en-US" sz="1400" dirty="0"/>
              <a:t>취소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FBC030-DA7B-B254-6EE3-DEF4DD50D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4497"/>
              </p:ext>
            </p:extLst>
          </p:nvPr>
        </p:nvGraphicFramePr>
        <p:xfrm>
          <a:off x="6293300" y="1221483"/>
          <a:ext cx="5251000" cy="92949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72966">
                  <a:extLst>
                    <a:ext uri="{9D8B030D-6E8A-4147-A177-3AD203B41FA5}">
                      <a16:colId xmlns:a16="http://schemas.microsoft.com/office/drawing/2014/main" val="3599078112"/>
                    </a:ext>
                  </a:extLst>
                </a:gridCol>
                <a:gridCol w="1457217">
                  <a:extLst>
                    <a:ext uri="{9D8B030D-6E8A-4147-A177-3AD203B41FA5}">
                      <a16:colId xmlns:a16="http://schemas.microsoft.com/office/drawing/2014/main" val="3119953685"/>
                    </a:ext>
                  </a:extLst>
                </a:gridCol>
                <a:gridCol w="1828705">
                  <a:extLst>
                    <a:ext uri="{9D8B030D-6E8A-4147-A177-3AD203B41FA5}">
                      <a16:colId xmlns:a16="http://schemas.microsoft.com/office/drawing/2014/main" val="4123206507"/>
                    </a:ext>
                  </a:extLst>
                </a:gridCol>
                <a:gridCol w="1292112">
                  <a:extLst>
                    <a:ext uri="{9D8B030D-6E8A-4147-A177-3AD203B41FA5}">
                      <a16:colId xmlns:a16="http://schemas.microsoft.com/office/drawing/2014/main" val="3355360187"/>
                    </a:ext>
                  </a:extLst>
                </a:gridCol>
              </a:tblGrid>
              <a:tr h="3098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검토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11291"/>
                  </a:ext>
                </a:extLst>
              </a:tr>
              <a:tr h="3098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 전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발명 단위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출원 단위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심사의 무결성 추구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944363395"/>
                  </a:ext>
                </a:extLst>
              </a:tr>
              <a:tr h="3098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 후</a:t>
                      </a:r>
                    </a:p>
                  </a:txBody>
                  <a:tcPr marL="17907" marR="17907" marT="17907" marB="17907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발명 단위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청구항 단위</a:t>
                      </a:r>
                      <a:r>
                        <a:rPr lang="en-US" altLang="ko-KR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일부무효</a:t>
                      </a:r>
                      <a:r>
                        <a:rPr lang="en-US" altLang="ko-KR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kern="0" spc="-50" dirty="0"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</a:rPr>
                        <a:t>특허권자의 보호 추구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542889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0221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/>
              <a:t>장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953688" y="3266569"/>
            <a:ext cx="970795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특허요건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023274" y="1192744"/>
            <a:ext cx="3888432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협의의 특허요건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29)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023274" y="1699283"/>
            <a:ext cx="3888432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선출원주의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36)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023274" y="2366695"/>
            <a:ext cx="3888432" cy="3799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불특허발명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023274" y="2873234"/>
            <a:ext cx="3888432" cy="3799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국방상 필요한 발명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</a:t>
            </a:r>
            <a:r>
              <a:rPr lang="en-US" altLang="ko-KR" sz="1400" dirty="0">
                <a:solidFill>
                  <a:schemeClr val="tx1"/>
                </a:solidFill>
              </a:rPr>
              <a:t> 41, 106)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023274" y="3597336"/>
            <a:ext cx="3888432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출원인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25, 33, 44)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023274" y="4103875"/>
            <a:ext cx="3888432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특허를 받을 수 있는 권리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37, 38)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443121" y="2763176"/>
            <a:ext cx="1385106" cy="82312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없는 발명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43121" y="3969884"/>
            <a:ext cx="1385106" cy="823126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있는 자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3443121" y="1602110"/>
            <a:ext cx="1385106" cy="823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있는 발명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443121" y="5121351"/>
            <a:ext cx="1385106" cy="8231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특허를 받을 수 있는 출원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7023274" y="4628808"/>
            <a:ext cx="3888432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직무발명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발진법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2, 10~19, 58)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023274" y="5342714"/>
            <a:ext cx="3888432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42~42</a:t>
            </a:r>
            <a:r>
              <a:rPr lang="ko-KR" altLang="en-US" sz="1400" dirty="0">
                <a:solidFill>
                  <a:schemeClr val="tx1"/>
                </a:solidFill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</a:rPr>
              <a:t>3, 43)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7023274" y="5867647"/>
            <a:ext cx="3888432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하나의 특허출원의 범위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45)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8" name="꺾인 연결선 77"/>
          <p:cNvCxnSpPr>
            <a:stCxn id="5" idx="3"/>
            <a:endCxn id="50" idx="1"/>
          </p:cNvCxnSpPr>
          <p:nvPr/>
        </p:nvCxnSpPr>
        <p:spPr>
          <a:xfrm flipV="1">
            <a:off x="1924483" y="2013673"/>
            <a:ext cx="1518638" cy="17232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5" idx="3"/>
            <a:endCxn id="63" idx="1"/>
          </p:cNvCxnSpPr>
          <p:nvPr/>
        </p:nvCxnSpPr>
        <p:spPr>
          <a:xfrm>
            <a:off x="1924483" y="3736882"/>
            <a:ext cx="1518638" cy="17960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5" idx="3"/>
            <a:endCxn id="13" idx="1"/>
          </p:cNvCxnSpPr>
          <p:nvPr/>
        </p:nvCxnSpPr>
        <p:spPr>
          <a:xfrm flipV="1">
            <a:off x="1924483" y="3174739"/>
            <a:ext cx="1518638" cy="5621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5" idx="3"/>
            <a:endCxn id="14" idx="1"/>
          </p:cNvCxnSpPr>
          <p:nvPr/>
        </p:nvCxnSpPr>
        <p:spPr>
          <a:xfrm>
            <a:off x="1924483" y="3736882"/>
            <a:ext cx="1518638" cy="6445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50" idx="3"/>
            <a:endCxn id="7" idx="1"/>
          </p:cNvCxnSpPr>
          <p:nvPr/>
        </p:nvCxnSpPr>
        <p:spPr>
          <a:xfrm flipV="1">
            <a:off x="4828227" y="1382696"/>
            <a:ext cx="2195047" cy="6309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stCxn id="50" idx="3"/>
            <a:endCxn id="8" idx="1"/>
          </p:cNvCxnSpPr>
          <p:nvPr/>
        </p:nvCxnSpPr>
        <p:spPr>
          <a:xfrm flipV="1">
            <a:off x="4828227" y="1889235"/>
            <a:ext cx="2195047" cy="1244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stCxn id="13" idx="3"/>
            <a:endCxn id="9" idx="1"/>
          </p:cNvCxnSpPr>
          <p:nvPr/>
        </p:nvCxnSpPr>
        <p:spPr>
          <a:xfrm flipV="1">
            <a:off x="4828227" y="2556647"/>
            <a:ext cx="2195047" cy="618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stCxn id="13" idx="3"/>
            <a:endCxn id="10" idx="1"/>
          </p:cNvCxnSpPr>
          <p:nvPr/>
        </p:nvCxnSpPr>
        <p:spPr>
          <a:xfrm flipV="1">
            <a:off x="4828227" y="3063186"/>
            <a:ext cx="2195047" cy="11155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14" idx="3"/>
            <a:endCxn id="11" idx="1"/>
          </p:cNvCxnSpPr>
          <p:nvPr/>
        </p:nvCxnSpPr>
        <p:spPr>
          <a:xfrm flipV="1">
            <a:off x="4828227" y="3787288"/>
            <a:ext cx="2195047" cy="5941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14" idx="3"/>
            <a:endCxn id="12" idx="1"/>
          </p:cNvCxnSpPr>
          <p:nvPr/>
        </p:nvCxnSpPr>
        <p:spPr>
          <a:xfrm flipV="1">
            <a:off x="4828227" y="4293827"/>
            <a:ext cx="2195047" cy="876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14" idx="3"/>
            <a:endCxn id="74" idx="1"/>
          </p:cNvCxnSpPr>
          <p:nvPr/>
        </p:nvCxnSpPr>
        <p:spPr>
          <a:xfrm>
            <a:off x="4828227" y="4381447"/>
            <a:ext cx="2195047" cy="4373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63" idx="3"/>
            <a:endCxn id="75" idx="1"/>
          </p:cNvCxnSpPr>
          <p:nvPr/>
        </p:nvCxnSpPr>
        <p:spPr>
          <a:xfrm flipV="1">
            <a:off x="4828227" y="5532666"/>
            <a:ext cx="2195047" cy="2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63" idx="3"/>
            <a:endCxn id="76" idx="1"/>
          </p:cNvCxnSpPr>
          <p:nvPr/>
        </p:nvCxnSpPr>
        <p:spPr>
          <a:xfrm>
            <a:off x="4828227" y="5532914"/>
            <a:ext cx="2195047" cy="5246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3507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정리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386174"/>
              </p:ext>
            </p:extLst>
          </p:nvPr>
        </p:nvGraphicFramePr>
        <p:xfrm>
          <a:off x="211671" y="963144"/>
          <a:ext cx="11650133" cy="5640588"/>
        </p:xfrm>
        <a:graphic>
          <a:graphicData uri="http://schemas.openxmlformats.org/drawingml/2006/table">
            <a:tbl>
              <a:tblPr/>
              <a:tblGrid>
                <a:gridCol w="395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3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0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73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899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523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요건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발명의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성립성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29①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산업상 이용가능성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29①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29①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진보성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29②)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29③④)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선출원주의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9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자연법칙을 이용한 기술적 사상의 </a:t>
                      </a:r>
                      <a:r>
                        <a:rPr lang="ko-KR" altLang="en-US" sz="95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창작으로서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고도한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산업에서 실제 실시될 수 있는 발명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발명의 내용이 사회일반에 아직 알려지지 않은 것으로서 객관적 창작성이 있는 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통상의 기술자가 공지기술로부터 쉽게 발명할 수 없는 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특허출원한 발명이 그 특허출원일 전에 특허출원 또는 실용신안등록출원하여 그 특허출원 한 후에 출원공개되거나 등록공고된 다른 출원의 출원서에 최초로 첨부된 명세서 또는 도면에 기재된 발명 또는 고안과 동일성이 있는 경우에는 특허를 받을 수 없도록 선출원의 지위를 부여하는 것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동일한 발명에 대하여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이상의 특허출원이 있는 경우 가장 먼저 출원한 자에게 발명을 허여하는 주의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877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자연법칙 이용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기술적 사상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창작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이용가능성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공연실시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반포된 간행물에 게재</a:t>
                      </a:r>
                    </a:p>
                    <a:p>
                      <a:pPr marL="100330" marR="0" indent="-1003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전기통신회선을 통하여 공중이 이용 가능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이일출원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②③⑥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선출원지위의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인정여부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420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통상의 기술자 입장에서 판단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객체적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대상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 중심으로 명세서ㆍ도면을 참작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공지기술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공지기술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개이상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출원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최ㆍ명ㆍ도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출원의 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청구범위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후출원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청구항마다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특허여부결정은 출원단위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4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원칙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법규정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실무상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출원시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특허출원전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특허출원일전 다른 출원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역일주의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동일자 적용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×)</a:t>
                      </a:r>
                      <a:endParaRPr lang="ko-KR" altLang="en-US" sz="9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특허출원후 다른 출원의 공개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-(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시각주의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정당한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권리자출원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34․35),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분리출원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2②),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국제특허출원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국제주의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국내주의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속지주의 원칙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판단방법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비발명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미완성발명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의료업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경제성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불성립발명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타법과 관계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결과물과 관계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용이성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동일성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273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위반의 효과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실체적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54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발명의 성립성이 문제되는 경우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신규성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상실의 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진보성 상실의 예외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고안의 진보성과 관계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적용의 예외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출원이 국제특허출원인 경우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선출원주의의 보완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선출원주의의 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171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정리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57459"/>
              </p:ext>
            </p:extLst>
          </p:nvPr>
        </p:nvGraphicFramePr>
        <p:xfrm>
          <a:off x="213645" y="997010"/>
          <a:ext cx="11622754" cy="5693263"/>
        </p:xfrm>
        <a:graphic>
          <a:graphicData uri="http://schemas.openxmlformats.org/drawingml/2006/table">
            <a:tbl>
              <a:tblPr/>
              <a:tblGrid>
                <a:gridCol w="37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63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258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258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4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877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요건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불특허발명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출원인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25, 33, 44)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특허출원에 필요한 서류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42-42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특허출원의 범위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6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공공의 질서 또는 선량한 풍속에 어긋나거나 공중의 위생을 해칠 우려가 있는 발명은 특허를 받을 수 없도록 규정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출원인이 되기 위해서는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ⅰ)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일반적인 권리의 주체가 될 수 있는 능력인 권리능력이 있어야 하며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ⅱ)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권리능력이 있는 자라 하더라도 당해발명에 대한 권리의 주체가 될 수 있는 권리적격이 있어야 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가진 자가 그 발명의 공개를 전제로 하여 지식재산처에 대하여 특허를 받고자 하는 의사를 객관적으로 표시하는 행위를 말하며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특허절차는 출원으로부터 시작된다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특허출원으로 할 수 있는 발명의 범위를 말하는 것으로서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발명마다 하나의 특허출원을 원칙으로 하나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총괄적 발명의 개념을 형성하는 일 군의 발명에 대하여 하나의 특허출원으로 할 수 있다</a:t>
                      </a: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9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12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1600" marR="0" indent="-101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공서양속에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위반된 발명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공중의 위생을 해칠 우려가 있는 발명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권리능력자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①내국인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②외국인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권리적격자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①발명자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②승계인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지식재산처직원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④특허를 받을 수 있는 권리의 공유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종류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기재방법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발명 하나의 출원 원칙</a:t>
                      </a:r>
                    </a:p>
                    <a:p>
                      <a:pPr marL="67310" marR="0" indent="-673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군의 발명 하나의 출원 보완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5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심판관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7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객체적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대상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독립항을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청구항마다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특허여부결정은 출원단위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원칙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특허여부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결정시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7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7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지역적 기준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판단방법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심사절차내에서 판단</a:t>
                      </a:r>
                      <a:endParaRPr lang="en-US" altLang="ko-KR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합리적 의심이 드는 경우의 판단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시행령 제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조에 의하여 판단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911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위반의 효과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indent="-952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출원공개의 예외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실체적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실체적 요건 위반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Ⅰ,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절차적 요건 위반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Ⅱ,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⑧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절차적 요건 위반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91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 유예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외국어특허출원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endParaRPr lang="ko-KR" altLang="en-US" sz="9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최소한의 판단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보정에 의한 </a:t>
                      </a:r>
                      <a:r>
                        <a:rPr lang="ko-KR" altLang="en-US" sz="9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청구항</a:t>
                      </a:r>
                      <a:r>
                        <a:rPr lang="ko-KR" altLang="en-US" sz="9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변경의 경우</a:t>
                      </a:r>
                    </a:p>
                  </a:txBody>
                  <a:tcPr marL="47773" marR="47773" marT="23887" marB="2388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95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12681</TotalTime>
  <Words>25671</Words>
  <Application>Microsoft Office PowerPoint</Application>
  <PresentationFormat>와이드스크린</PresentationFormat>
  <Paragraphs>3824</Paragraphs>
  <Slides>97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97</vt:i4>
      </vt:variant>
    </vt:vector>
  </HeadingPairs>
  <TitlesOfParts>
    <vt:vector size="115" baseType="lpstr">
      <vt:lpstr>CourtBT</vt:lpstr>
      <vt:lpstr>Rix모던고딕 M</vt:lpstr>
      <vt:lpstr>Frutiger LT 75 Black</vt:lpstr>
      <vt:lpstr>산돌신문제비 L</vt:lpstr>
      <vt:lpstr>Arial</vt:lpstr>
      <vt:lpstr>Wingdings</vt:lpstr>
      <vt:lpstr>Rix모던명조 B</vt:lpstr>
      <vt:lpstr>맑은 고딕</vt:lpstr>
      <vt:lpstr>Rix모던고딕 EB</vt:lpstr>
      <vt:lpstr>Frutiger LT 65 Bold</vt:lpstr>
      <vt:lpstr>Rix모던명조 L</vt:lpstr>
      <vt:lpstr>Rix모던고딕 L</vt:lpstr>
      <vt:lpstr>Rix커피향 M</vt:lpstr>
      <vt:lpstr>Rix모던고딕 B</vt:lpstr>
      <vt:lpstr>Rix모던명조 M</vt:lpstr>
      <vt:lpstr>Office 테마</vt:lpstr>
      <vt:lpstr>디자인 사용자 지정</vt:lpstr>
      <vt:lpstr>1_Office 테마</vt:lpstr>
      <vt:lpstr>PowerPoint 프레젠테이션</vt:lpstr>
      <vt:lpstr>PowerPoint 프레젠테이션</vt:lpstr>
      <vt:lpstr>참고노트</vt:lpstr>
      <vt:lpstr>참고노트</vt:lpstr>
      <vt:lpstr>참고노트</vt:lpstr>
      <vt:lpstr>제29조제1항본문</vt:lpstr>
      <vt:lpstr>제29조제1항본문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제29조제1항각호</vt:lpstr>
      <vt:lpstr>제29조제2항</vt:lpstr>
      <vt:lpstr>제29조제2항</vt:lpstr>
      <vt:lpstr>제29조제2항</vt:lpstr>
      <vt:lpstr>제29조제2항</vt:lpstr>
      <vt:lpstr>제29조제2항</vt:lpstr>
      <vt:lpstr>참고노트</vt:lpstr>
      <vt:lpstr>제29조제2항</vt:lpstr>
      <vt:lpstr>제29조제2항</vt:lpstr>
      <vt:lpstr>제29조제2항</vt:lpstr>
      <vt:lpstr>제29조제2항</vt:lpstr>
      <vt:lpstr>제29조제2항</vt:lpstr>
      <vt:lpstr>제36조</vt:lpstr>
      <vt:lpstr>제36조</vt:lpstr>
      <vt:lpstr>제36조</vt:lpstr>
      <vt:lpstr>제36조</vt:lpstr>
      <vt:lpstr>참고노트</vt:lpstr>
      <vt:lpstr>제36조</vt:lpstr>
      <vt:lpstr>제29조제3항</vt:lpstr>
      <vt:lpstr>제29조제3항</vt:lpstr>
      <vt:lpstr>제29조제3항</vt:lpstr>
      <vt:lpstr>제29조제3항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제41조, 제106조</vt:lpstr>
      <vt:lpstr>제25조, 제33조, 제44조</vt:lpstr>
      <vt:lpstr>제33조제1항, 제44조</vt:lpstr>
      <vt:lpstr>제33조 제1항</vt:lpstr>
      <vt:lpstr>제33조제1항</vt:lpstr>
      <vt:lpstr>제33조제2항</vt:lpstr>
      <vt:lpstr>제33조제2항</vt:lpstr>
      <vt:lpstr>제33조 제1항</vt:lpstr>
      <vt:lpstr>제37조</vt:lpstr>
      <vt:lpstr>제37조</vt:lpstr>
      <vt:lpstr>제37조</vt:lpstr>
      <vt:lpstr>제37조</vt:lpstr>
      <vt:lpstr>제38조</vt:lpstr>
      <vt:lpstr>제38조 제1항</vt:lpstr>
      <vt:lpstr>제38조 제1항</vt:lpstr>
      <vt:lpstr>직무발명</vt:lpstr>
      <vt:lpstr>직무발명</vt:lpstr>
      <vt:lpstr>직무발명</vt:lpstr>
      <vt:lpstr>직무발명</vt:lpstr>
      <vt:lpstr>직무발명</vt:lpstr>
      <vt:lpstr>직무발명</vt:lpstr>
      <vt:lpstr>직무발명</vt:lpstr>
      <vt:lpstr>직무발명</vt:lpstr>
      <vt:lpstr>직무발명</vt:lpstr>
      <vt:lpstr>제42조, 제42조의2</vt:lpstr>
      <vt:lpstr>제42조, 제42조의2</vt:lpstr>
      <vt:lpstr>제42조의2</vt:lpstr>
      <vt:lpstr>제42조의2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제42조</vt:lpstr>
      <vt:lpstr>제45조</vt:lpstr>
      <vt:lpstr>제45조</vt:lpstr>
      <vt:lpstr>참고노트</vt:lpstr>
      <vt:lpstr>참고노트</vt:lpstr>
      <vt:lpstr>참고노트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573</cp:revision>
  <cp:lastPrinted>2021-12-17T01:38:10Z</cp:lastPrinted>
  <dcterms:created xsi:type="dcterms:W3CDTF">2016-02-25T00:12:49Z</dcterms:created>
  <dcterms:modified xsi:type="dcterms:W3CDTF">2026-06-13T13:04:07Z</dcterms:modified>
</cp:coreProperties>
</file>