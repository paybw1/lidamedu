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bookmarkIdSeed="2">
  <p:sldMasterIdLst>
    <p:sldMasterId id="2147483648" r:id="rId1"/>
  </p:sldMasterIdLst>
  <p:notesMasterIdLst>
    <p:notesMasterId r:id="rId3"/>
  </p:notesMasterIdLst>
  <p:handoutMasterIdLst>
    <p:handoutMasterId r:id="rId4"/>
  </p:handoutMasterIdLst>
  <p:sldIdLst>
    <p:sldId id="961" r:id="rId2"/>
  </p:sldIdLst>
  <p:sldSz cx="12192000" cy="6858000"/>
  <p:notesSz cx="7104063" cy="10234613"/>
  <p:embeddedFontLst>
    <p:embeddedFont>
      <p:font typeface="Frutiger LT 65 Bold" panose="020B0800000000000000" pitchFamily="34" charset="0"/>
      <p:regular r:id="rId5"/>
    </p:embeddedFont>
    <p:embeddedFont>
      <p:font typeface="Frutiger LT 75 Black" panose="02000A03050000020004" pitchFamily="2" charset="0"/>
      <p:regular r:id="rId6"/>
    </p:embeddedFont>
    <p:embeddedFont>
      <p:font typeface="Rix모던명조 B" panose="02020603020101020101" pitchFamily="18" charset="-127"/>
      <p:regular r:id="rId7"/>
    </p:embeddedFont>
    <p:embeddedFont>
      <p:font typeface="맑은 고딕" panose="020B0503020000020004" pitchFamily="50" charset="-127"/>
      <p:regular r:id="rId8"/>
      <p:bold r:id="rId9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7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24" userDrawn="1">
          <p15:clr>
            <a:srgbClr val="A4A3A4"/>
          </p15:clr>
        </p15:guide>
        <p15:guide id="2" pos="2238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ECFF"/>
    <a:srgbClr val="00B0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보통 스타일 1 - 강조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BC89EF96-8CEA-46FF-86C4-4CE0E7609802}" styleName="밝은 스타일 3 - 강조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799B23B-EC83-4686-B30A-512413B5E67A}" styleName="밝은 스타일 3 - 강조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69CF1AB2-1976-4502-BF36-3FF5EA218861}" styleName="보통 스타일 4 - 강조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1FECB4D8-DB02-4DC6-A0A2-4F2EBAE1DC90}" styleName="보통 스타일 1 - 강조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616DA210-FB5B-4158-B5E0-FEB733F419BA}" styleName="밝은 스타일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83972" autoAdjust="0"/>
  </p:normalViewPr>
  <p:slideViewPr>
    <p:cSldViewPr snapToGrid="0">
      <p:cViewPr varScale="1">
        <p:scale>
          <a:sx n="107" d="100"/>
          <a:sy n="107" d="100"/>
        </p:scale>
        <p:origin x="672" y="120"/>
      </p:cViewPr>
      <p:guideLst>
        <p:guide orient="horz" pos="2137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78" d="100"/>
          <a:sy n="78" d="100"/>
        </p:scale>
        <p:origin x="-4002" y="-96"/>
      </p:cViewPr>
      <p:guideLst>
        <p:guide orient="horz" pos="3224"/>
        <p:guide pos="2238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4.fntdata"/><Relationship Id="rId13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font" Target="fonts/font3.fntdata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2.fntdata"/><Relationship Id="rId11" Type="http://schemas.openxmlformats.org/officeDocument/2006/relationships/viewProps" Target="viewProps.xml"/><Relationship Id="rId5" Type="http://schemas.openxmlformats.org/officeDocument/2006/relationships/font" Target="fonts/font1.fntdata"/><Relationship Id="rId10" Type="http://schemas.openxmlformats.org/officeDocument/2006/relationships/presProps" Target="presProps.xml"/><Relationship Id="rId4" Type="http://schemas.openxmlformats.org/officeDocument/2006/relationships/handoutMaster" Target="handoutMasters/handoutMaster1.xml"/><Relationship Id="rId9" Type="http://schemas.openxmlformats.org/officeDocument/2006/relationships/font" Target="fonts/font5.fntdata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1" y="2"/>
            <a:ext cx="3078163" cy="512763"/>
          </a:xfrm>
          <a:prstGeom prst="rect">
            <a:avLst/>
          </a:prstGeom>
        </p:spPr>
        <p:txBody>
          <a:bodyPr vert="horz" lIns="91424" tIns="45712" rIns="91424" bIns="45712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4024313" y="2"/>
            <a:ext cx="3078162" cy="512763"/>
          </a:xfrm>
          <a:prstGeom prst="rect">
            <a:avLst/>
          </a:prstGeom>
        </p:spPr>
        <p:txBody>
          <a:bodyPr vert="horz" lIns="91424" tIns="45712" rIns="91424" bIns="45712" rtlCol="0"/>
          <a:lstStyle>
            <a:lvl1pPr algn="r">
              <a:defRPr sz="1200"/>
            </a:lvl1pPr>
          </a:lstStyle>
          <a:p>
            <a:fld id="{E166825A-ED3C-420C-9327-9C075F47485A}" type="datetimeFigureOut">
              <a:rPr lang="ko-KR" altLang="en-US" smtClean="0"/>
              <a:t>2026-05-12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1" y="9721852"/>
            <a:ext cx="3078163" cy="512763"/>
          </a:xfrm>
          <a:prstGeom prst="rect">
            <a:avLst/>
          </a:prstGeom>
        </p:spPr>
        <p:txBody>
          <a:bodyPr vert="horz" lIns="91424" tIns="45712" rIns="91424" bIns="45712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4024313" y="9721852"/>
            <a:ext cx="3078162" cy="512763"/>
          </a:xfrm>
          <a:prstGeom prst="rect">
            <a:avLst/>
          </a:prstGeom>
        </p:spPr>
        <p:txBody>
          <a:bodyPr vert="horz" lIns="91424" tIns="45712" rIns="91424" bIns="45712" rtlCol="0" anchor="b"/>
          <a:lstStyle>
            <a:lvl1pPr algn="r">
              <a:defRPr sz="1200"/>
            </a:lvl1pPr>
          </a:lstStyle>
          <a:p>
            <a:fld id="{0BFFB8C9-7789-4E6C-9EC5-682E1108732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101327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2"/>
            <a:ext cx="3078428" cy="513508"/>
          </a:xfrm>
          <a:prstGeom prst="rect">
            <a:avLst/>
          </a:prstGeom>
        </p:spPr>
        <p:txBody>
          <a:bodyPr vert="horz" lIns="94641" tIns="47321" rIns="94641" bIns="47321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4023992" y="2"/>
            <a:ext cx="3078428" cy="513508"/>
          </a:xfrm>
          <a:prstGeom prst="rect">
            <a:avLst/>
          </a:prstGeom>
        </p:spPr>
        <p:txBody>
          <a:bodyPr vert="horz" lIns="94641" tIns="47321" rIns="94641" bIns="47321" rtlCol="0"/>
          <a:lstStyle>
            <a:lvl1pPr algn="r">
              <a:defRPr sz="1200"/>
            </a:lvl1pPr>
          </a:lstStyle>
          <a:p>
            <a:fld id="{782597F2-0C3F-472E-942C-F0680216029B}" type="datetimeFigureOut">
              <a:rPr lang="ko-KR" altLang="en-US" smtClean="0"/>
              <a:t>2026-05-12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481013" y="1279525"/>
            <a:ext cx="6142037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641" tIns="47321" rIns="94641" bIns="47321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710407" y="4925410"/>
            <a:ext cx="5683250" cy="4029879"/>
          </a:xfrm>
          <a:prstGeom prst="rect">
            <a:avLst/>
          </a:prstGeom>
        </p:spPr>
        <p:txBody>
          <a:bodyPr vert="horz" lIns="94641" tIns="47321" rIns="94641" bIns="47321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721108"/>
            <a:ext cx="3078428" cy="513507"/>
          </a:xfrm>
          <a:prstGeom prst="rect">
            <a:avLst/>
          </a:prstGeom>
        </p:spPr>
        <p:txBody>
          <a:bodyPr vert="horz" lIns="94641" tIns="47321" rIns="94641" bIns="47321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4023992" y="9721108"/>
            <a:ext cx="3078428" cy="513507"/>
          </a:xfrm>
          <a:prstGeom prst="rect">
            <a:avLst/>
          </a:prstGeom>
        </p:spPr>
        <p:txBody>
          <a:bodyPr vert="horz" lIns="94641" tIns="47321" rIns="94641" bIns="47321" rtlCol="0" anchor="b"/>
          <a:lstStyle>
            <a:lvl1pPr algn="r">
              <a:defRPr sz="1200"/>
            </a:lvl1pPr>
          </a:lstStyle>
          <a:p>
            <a:fld id="{30C005C8-BD53-41EA-B159-BC12A6DFFB7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132745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6A2F39-0AD8-CE52-AE2B-3283277C25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슬라이드 이미지 개체 틀 1">
            <a:extLst>
              <a:ext uri="{FF2B5EF4-FFF2-40B4-BE49-F238E27FC236}">
                <a16:creationId xmlns:a16="http://schemas.microsoft.com/office/drawing/2014/main" id="{9B47ECCC-01CC-0E6E-4471-069DA21329D9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171" name="슬라이드 노트 개체 틀 2">
            <a:extLst>
              <a:ext uri="{FF2B5EF4-FFF2-40B4-BE49-F238E27FC236}">
                <a16:creationId xmlns:a16="http://schemas.microsoft.com/office/drawing/2014/main" id="{6B182E44-2C68-3399-4C94-93DFF9CD6F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7172" name="슬라이드 번호 개체 틀 3">
            <a:extLst>
              <a:ext uri="{FF2B5EF4-FFF2-40B4-BE49-F238E27FC236}">
                <a16:creationId xmlns:a16="http://schemas.microsoft.com/office/drawing/2014/main" id="{AD01253D-EBEB-3C9D-9633-C30DC77C783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69157" indent="-295831"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83319" indent="-236664"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56649" indent="-236664"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129976" indent="-236664"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603304" indent="-236664" algn="ctr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3076632" indent="-236664" algn="ctr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549959" indent="-236664" algn="ctr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4023288" indent="-236664" algn="ctr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fld id="{01DCD4ED-0087-4CE1-89C0-3F6DD7820539}" type="slidenum">
              <a:rPr lang="ko-KR" altLang="en-US" b="0" smtClean="0"/>
              <a:pPr/>
              <a:t>1</a:t>
            </a:fld>
            <a:endParaRPr lang="en-US" altLang="ko-KR" b="0"/>
          </a:p>
        </p:txBody>
      </p:sp>
    </p:spTree>
    <p:extLst>
      <p:ext uri="{BB962C8B-B14F-4D97-AF65-F5344CB8AC3E}">
        <p14:creationId xmlns:p14="http://schemas.microsoft.com/office/powerpoint/2010/main" val="7137636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38666" y="1"/>
            <a:ext cx="11853333" cy="711200"/>
          </a:xfrm>
        </p:spPr>
        <p:txBody>
          <a:bodyPr>
            <a:normAutofit/>
          </a:bodyPr>
          <a:lstStyle>
            <a:lvl1pPr>
              <a:defRPr sz="3600" b="1">
                <a:solidFill>
                  <a:schemeClr val="tx2"/>
                </a:solidFill>
                <a:latin typeface="Rix모던명조 B" pitchFamily="18" charset="-127"/>
                <a:ea typeface="Rix모던명조 B" pitchFamily="18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/>
          <a:lstStyle/>
          <a:p>
            <a:fld id="{F2DC9F7A-CE87-4F2F-B819-ED60230A6616}" type="datetime1">
              <a:rPr lang="ko-KR" altLang="en-US" smtClean="0"/>
              <a:t>2026-05-12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11116733" y="0"/>
            <a:ext cx="1075267" cy="694267"/>
          </a:xfrm>
          <a:prstGeom prst="rect">
            <a:avLst/>
          </a:prstGeom>
        </p:spPr>
        <p:txBody>
          <a:bodyPr/>
          <a:lstStyle/>
          <a:p>
            <a:fld id="{F5C6BE04-1001-4903-9B58-AE34FA26E33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5255544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F2A7F7-198F-4CC5-81DA-04A92B1D0C9E}" type="datetime1">
              <a:rPr lang="ko-KR" altLang="en-US" smtClean="0"/>
              <a:t>2026-05-12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11125200" y="0"/>
            <a:ext cx="1066800" cy="6942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600" b="1" cap="none" spc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tint val="85000"/>
                    <a:satMod val="155000"/>
                  </a:schemeClr>
                </a:solidFill>
                <a:effectLst/>
              </a:defRPr>
            </a:lvl1pPr>
          </a:lstStyle>
          <a:p>
            <a:fld id="{3875FC6C-1516-4DC4-8C58-3090F7D4F003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486344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7F363A-9E7D-D688-D99F-1DB272C911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C98C73FA-66DA-FF81-24BC-29C57C8F6E0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산업재산권법 온라인 구독 플랫폼</a:t>
            </a:r>
            <a:r>
              <a:rPr lang="en-US" altLang="ko-KR" dirty="0">
                <a:solidFill>
                  <a:srgbClr val="44546A"/>
                </a:solidFill>
              </a:rPr>
              <a:t>: </a:t>
            </a:r>
            <a:r>
              <a:rPr lang="ko-KR" altLang="en-US" dirty="0" err="1">
                <a:solidFill>
                  <a:srgbClr val="44546A"/>
                </a:solidFill>
              </a:rPr>
              <a:t>법개정</a:t>
            </a:r>
            <a:r>
              <a:rPr lang="ko-KR" altLang="en-US" dirty="0">
                <a:solidFill>
                  <a:srgbClr val="44546A"/>
                </a:solidFill>
              </a:rPr>
              <a:t> 색인</a:t>
            </a: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7F3E227F-0B6F-7518-DBDE-2BFB0ECD24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C6BE04-1001-4903-9B58-AE34FA26E338}" type="slidenum">
              <a:rPr lang="ko-KR" altLang="en-US" smtClean="0"/>
              <a:t>1</a:t>
            </a:fld>
            <a:endParaRPr lang="ko-KR" altLang="en-US"/>
          </a:p>
        </p:txBody>
      </p:sp>
      <p:graphicFrame>
        <p:nvGraphicFramePr>
          <p:cNvPr id="15" name="표 14">
            <a:extLst>
              <a:ext uri="{FF2B5EF4-FFF2-40B4-BE49-F238E27FC236}">
                <a16:creationId xmlns:a16="http://schemas.microsoft.com/office/drawing/2014/main" id="{1447D3D7-A535-DAD5-4676-7C54A1AB7717}"/>
              </a:ext>
            </a:extLst>
          </p:cNvPr>
          <p:cNvGraphicFramePr>
            <a:graphicFrameLocks noGrp="1"/>
          </p:cNvGraphicFramePr>
          <p:nvPr/>
        </p:nvGraphicFramePr>
        <p:xfrm>
          <a:off x="338666" y="1306023"/>
          <a:ext cx="11491385" cy="1463040"/>
        </p:xfrm>
        <a:graphic>
          <a:graphicData uri="http://schemas.openxmlformats.org/drawingml/2006/table">
            <a:tbl>
              <a:tblPr>
                <a:tableStyleId>{8799B23B-EC83-4686-B30A-512413B5E67A}</a:tableStyleId>
              </a:tblPr>
              <a:tblGrid>
                <a:gridCol w="673466">
                  <a:extLst>
                    <a:ext uri="{9D8B030D-6E8A-4147-A177-3AD203B41FA5}">
                      <a16:colId xmlns:a16="http://schemas.microsoft.com/office/drawing/2014/main" val="2315916390"/>
                    </a:ext>
                  </a:extLst>
                </a:gridCol>
                <a:gridCol w="799705">
                  <a:extLst>
                    <a:ext uri="{9D8B030D-6E8A-4147-A177-3AD203B41FA5}">
                      <a16:colId xmlns:a16="http://schemas.microsoft.com/office/drawing/2014/main" val="240360562"/>
                    </a:ext>
                  </a:extLst>
                </a:gridCol>
                <a:gridCol w="1256732">
                  <a:extLst>
                    <a:ext uri="{9D8B030D-6E8A-4147-A177-3AD203B41FA5}">
                      <a16:colId xmlns:a16="http://schemas.microsoft.com/office/drawing/2014/main" val="675664414"/>
                    </a:ext>
                  </a:extLst>
                </a:gridCol>
                <a:gridCol w="1598798">
                  <a:extLst>
                    <a:ext uri="{9D8B030D-6E8A-4147-A177-3AD203B41FA5}">
                      <a16:colId xmlns:a16="http://schemas.microsoft.com/office/drawing/2014/main" val="2595342609"/>
                    </a:ext>
                  </a:extLst>
                </a:gridCol>
                <a:gridCol w="1166842">
                  <a:extLst>
                    <a:ext uri="{9D8B030D-6E8A-4147-A177-3AD203B41FA5}">
                      <a16:colId xmlns:a16="http://schemas.microsoft.com/office/drawing/2014/main" val="395554478"/>
                    </a:ext>
                  </a:extLst>
                </a:gridCol>
                <a:gridCol w="1166841">
                  <a:extLst>
                    <a:ext uri="{9D8B030D-6E8A-4147-A177-3AD203B41FA5}">
                      <a16:colId xmlns:a16="http://schemas.microsoft.com/office/drawing/2014/main" val="3453731879"/>
                    </a:ext>
                  </a:extLst>
                </a:gridCol>
                <a:gridCol w="964889">
                  <a:extLst>
                    <a:ext uri="{9D8B030D-6E8A-4147-A177-3AD203B41FA5}">
                      <a16:colId xmlns:a16="http://schemas.microsoft.com/office/drawing/2014/main" val="1342974984"/>
                    </a:ext>
                  </a:extLst>
                </a:gridCol>
                <a:gridCol w="1144402">
                  <a:extLst>
                    <a:ext uri="{9D8B030D-6E8A-4147-A177-3AD203B41FA5}">
                      <a16:colId xmlns:a16="http://schemas.microsoft.com/office/drawing/2014/main" val="683021080"/>
                    </a:ext>
                  </a:extLst>
                </a:gridCol>
                <a:gridCol w="1359855">
                  <a:extLst>
                    <a:ext uri="{9D8B030D-6E8A-4147-A177-3AD203B41FA5}">
                      <a16:colId xmlns:a16="http://schemas.microsoft.com/office/drawing/2014/main" val="1298072918"/>
                    </a:ext>
                  </a:extLst>
                </a:gridCol>
                <a:gridCol w="1359855">
                  <a:extLst>
                    <a:ext uri="{9D8B030D-6E8A-4147-A177-3AD203B41FA5}">
                      <a16:colId xmlns:a16="http://schemas.microsoft.com/office/drawing/2014/main" val="29655902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No</a:t>
                      </a:r>
                      <a:endParaRPr lang="ko-KR" altLang="en-US" sz="1000" dirty="0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구분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명칭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법률 등의 번호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/>
                        <a:t>개정일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시행일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개정이유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 err="1"/>
                        <a:t>신구조문대비표</a:t>
                      </a:r>
                      <a:endParaRPr lang="ko-KR" altLang="en-US" sz="1000" dirty="0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개정해설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동영상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71041615"/>
                  </a:ext>
                </a:extLst>
              </a:tr>
              <a:tr h="1434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특허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특허법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법률 제</a:t>
                      </a:r>
                      <a:r>
                        <a:rPr lang="en-US" altLang="ko-KR" sz="1000" dirty="0"/>
                        <a:t>21065</a:t>
                      </a:r>
                      <a:r>
                        <a:rPr lang="ko-KR" altLang="en-US" sz="1000" dirty="0"/>
                        <a:t>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2025.10.1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2025.10.1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O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O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O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20860850"/>
                  </a:ext>
                </a:extLst>
              </a:tr>
              <a:tr h="19856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2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특허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특허법</a:t>
                      </a:r>
                      <a:r>
                        <a:rPr lang="en-US" altLang="ko-KR" sz="1000" dirty="0"/>
                        <a:t> </a:t>
                      </a:r>
                      <a:r>
                        <a:rPr lang="ko-KR" altLang="en-US" sz="1000" dirty="0"/>
                        <a:t>시행령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대통령령 제</a:t>
                      </a:r>
                      <a:r>
                        <a:rPr lang="en-US" altLang="ko-KR" sz="1000" dirty="0"/>
                        <a:t>35809</a:t>
                      </a:r>
                      <a:r>
                        <a:rPr lang="ko-KR" altLang="en-US" sz="1000" dirty="0"/>
                        <a:t>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2025.10.1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2025.10.1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/>
                        <a:t>O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/>
                        <a:t>O</a:t>
                      </a:r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52700482"/>
                  </a:ext>
                </a:extLst>
              </a:tr>
              <a:tr h="1434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3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디자인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특허법 시행규칙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총리령 제</a:t>
                      </a:r>
                      <a:r>
                        <a:rPr lang="en-US" altLang="ko-KR" sz="1000" dirty="0"/>
                        <a:t>2054</a:t>
                      </a:r>
                      <a:r>
                        <a:rPr lang="ko-KR" altLang="en-US" sz="1000" dirty="0"/>
                        <a:t>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2025.10.1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2025.10.1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/>
                        <a:t>O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40437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4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상표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28847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5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디자인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763887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559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사용자 지정 1">
      <a:majorFont>
        <a:latin typeface="Frutiger LT 75 Black"/>
        <a:ea typeface="Rix모던고딕 EB"/>
        <a:cs typeface=""/>
      </a:majorFont>
      <a:minorFont>
        <a:latin typeface="Frutiger LT 65 Bold"/>
        <a:ea typeface="Rix모던고딕 B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>
        <a:ln w="12700">
          <a:solidFill>
            <a:schemeClr val="bg1">
              <a:lumMod val="50000"/>
            </a:schemeClr>
          </a:solidFill>
          <a:headEnd type="none" w="med" len="med"/>
          <a:tailEnd type="none" w="med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22438</TotalTime>
  <Words>60</Words>
  <Application>Microsoft Office PowerPoint</Application>
  <PresentationFormat>와이드스크린</PresentationFormat>
  <Paragraphs>41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7" baseType="lpstr">
      <vt:lpstr>Rix모던명조 B</vt:lpstr>
      <vt:lpstr>Frutiger LT 75 Black</vt:lpstr>
      <vt:lpstr>Arial</vt:lpstr>
      <vt:lpstr>맑은 고딕</vt:lpstr>
      <vt:lpstr>Frutiger LT 65 Bold</vt:lpstr>
      <vt:lpstr>Office 테마</vt:lpstr>
      <vt:lpstr>산업재산권법 온라인 구독 플랫폼: 법개정 색인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(주)INVENSTOR</dc:title>
  <dc:creator>Windows 사용자</dc:creator>
  <cp:lastModifiedBy>병웅 임</cp:lastModifiedBy>
  <cp:revision>1031</cp:revision>
  <cp:lastPrinted>2026-04-13T07:54:15Z</cp:lastPrinted>
  <dcterms:created xsi:type="dcterms:W3CDTF">2016-02-25T00:12:49Z</dcterms:created>
  <dcterms:modified xsi:type="dcterms:W3CDTF">2026-05-12T13:37:48Z</dcterms:modified>
</cp:coreProperties>
</file>